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7"/>
  </p:notesMasterIdLst>
  <p:sldIdLst>
    <p:sldId id="256" r:id="rId2"/>
    <p:sldId id="257" r:id="rId3"/>
    <p:sldId id="318" r:id="rId4"/>
    <p:sldId id="319" r:id="rId5"/>
    <p:sldId id="261" r:id="rId6"/>
    <p:sldId id="396" r:id="rId7"/>
    <p:sldId id="392" r:id="rId8"/>
    <p:sldId id="393" r:id="rId9"/>
    <p:sldId id="394" r:id="rId10"/>
    <p:sldId id="395" r:id="rId11"/>
    <p:sldId id="388" r:id="rId12"/>
    <p:sldId id="375" r:id="rId13"/>
    <p:sldId id="358" r:id="rId14"/>
    <p:sldId id="361" r:id="rId15"/>
    <p:sldId id="372" r:id="rId16"/>
    <p:sldId id="365" r:id="rId17"/>
    <p:sldId id="389" r:id="rId18"/>
    <p:sldId id="403" r:id="rId19"/>
    <p:sldId id="367" r:id="rId20"/>
    <p:sldId id="366" r:id="rId21"/>
    <p:sldId id="377" r:id="rId22"/>
    <p:sldId id="369" r:id="rId23"/>
    <p:sldId id="385" r:id="rId24"/>
    <p:sldId id="404" r:id="rId25"/>
    <p:sldId id="337" r:id="rId26"/>
    <p:sldId id="304" r:id="rId27"/>
    <p:sldId id="405" r:id="rId28"/>
    <p:sldId id="315" r:id="rId29"/>
    <p:sldId id="316" r:id="rId30"/>
    <p:sldId id="402" r:id="rId31"/>
    <p:sldId id="311" r:id="rId32"/>
    <p:sldId id="269" r:id="rId33"/>
    <p:sldId id="338" r:id="rId34"/>
    <p:sldId id="340" r:id="rId35"/>
    <p:sldId id="342" r:id="rId36"/>
    <p:sldId id="399" r:id="rId37"/>
    <p:sldId id="400" r:id="rId38"/>
    <p:sldId id="406" r:id="rId39"/>
    <p:sldId id="378" r:id="rId40"/>
    <p:sldId id="300" r:id="rId41"/>
    <p:sldId id="408" r:id="rId42"/>
    <p:sldId id="409" r:id="rId43"/>
    <p:sldId id="294" r:id="rId44"/>
    <p:sldId id="301" r:id="rId45"/>
    <p:sldId id="327" r:id="rId46"/>
    <p:sldId id="302" r:id="rId47"/>
    <p:sldId id="309" r:id="rId48"/>
    <p:sldId id="293" r:id="rId49"/>
    <p:sldId id="326" r:id="rId50"/>
    <p:sldId id="386" r:id="rId51"/>
    <p:sldId id="379" r:id="rId52"/>
    <p:sldId id="407" r:id="rId53"/>
    <p:sldId id="374" r:id="rId54"/>
    <p:sldId id="262" r:id="rId55"/>
    <p:sldId id="263" r:id="rId5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EC"/>
    <a:srgbClr val="00FF00"/>
    <a:srgbClr val="11C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84988" autoAdjust="0"/>
  </p:normalViewPr>
  <p:slideViewPr>
    <p:cSldViewPr>
      <p:cViewPr varScale="1">
        <p:scale>
          <a:sx n="94" d="100"/>
          <a:sy n="94" d="100"/>
        </p:scale>
        <p:origin x="223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67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27D65E4-678C-0AED-07F5-E97DD8B1DE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749167D-A5A0-AC7F-724F-6A8ACB23407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7DECDB2-06B2-965E-E7A1-9BC438C0D5E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F039458B-53D8-A0FF-0FB0-1FDA83FC888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EB8113A0-BEF4-F940-B4AE-AA4802F670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5554791C-62EC-E739-FA18-8CB0F4C780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A81CBDC-812F-461A-9531-9017391C691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673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https://sourcemaking.com/refactoring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096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dirty="0"/>
              <a:t>To find where the Task is created, how many files do you have to open and 'step into' to follow the logic from </a:t>
            </a:r>
            <a:r>
              <a:rPr lang="en-US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TaskManager</a:t>
            </a:r>
            <a:r>
              <a:rPr lang="en-US" b="1" dirty="0"/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2) You have one line of code to add. Which class file does it go in: </a:t>
            </a:r>
            <a:r>
              <a:rPr lang="en-US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TaskManager</a:t>
            </a:r>
            <a:r>
              <a:rPr lang="en-US" b="1" dirty="0"/>
              <a:t> or </a:t>
            </a:r>
            <a:r>
              <a:rPr lang="en-US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TaskInitializer</a:t>
            </a:r>
            <a:r>
              <a:rPr lang="en-US" b="1" dirty="0"/>
              <a:t>? </a:t>
            </a:r>
            <a:r>
              <a:rPr lang="en-US" dirty="0"/>
              <a:t> the </a:t>
            </a:r>
            <a:r>
              <a:rPr lang="en-US" b="1" dirty="0"/>
              <a:t>Architectural Debate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3) Why are we even debating this? Why is such a simple, 1-line change so confusing?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Surfacing the </a:t>
            </a:r>
            <a:r>
              <a:rPr lang="en-US" b="1" dirty="0"/>
              <a:t>True Symptom</a:t>
            </a:r>
            <a:r>
              <a:rPr lang="en-US" dirty="0"/>
              <a:t> (lack of clear responsibility).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4) What is the real responsibility of </a:t>
            </a:r>
            <a:r>
              <a:rPr lang="en-US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TaskInitializer</a:t>
            </a:r>
            <a:r>
              <a:rPr lang="en-US" b="1" dirty="0"/>
              <a:t>? What value or logic does it actually </a:t>
            </a:r>
            <a:r>
              <a:rPr lang="en-US" b="1" dirty="0" err="1"/>
              <a:t>provide?</a:t>
            </a:r>
            <a:r>
              <a:rPr lang="en-US" dirty="0" err="1"/>
              <a:t>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0582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_________ class is a 'ghost.' It's a short-lived, stateless object that just adds </a:t>
            </a:r>
            <a:r>
              <a:rPr lang="en-US" i="1" dirty="0"/>
              <a:t>noise</a:t>
            </a:r>
            <a:r>
              <a:rPr lang="en-US" dirty="0"/>
              <a:t> and </a:t>
            </a:r>
            <a:r>
              <a:rPr lang="en-US" i="1" dirty="0"/>
              <a:t>confusion</a:t>
            </a:r>
            <a:r>
              <a:rPr lang="en-US" dirty="0"/>
              <a:t>, but no </a:t>
            </a:r>
            <a:r>
              <a:rPr lang="en-US" i="1" dirty="0"/>
              <a:t>value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TaskManager</a:t>
            </a:r>
            <a:r>
              <a:rPr lang="en-US" dirty="0"/>
              <a:t> does everything is the </a:t>
            </a:r>
            <a:r>
              <a:rPr lang="en-US" b="1" dirty="0"/>
              <a:t>simplest, most direct cure</a:t>
            </a:r>
            <a:r>
              <a:rPr lang="en-US" dirty="0"/>
              <a:t> for the Poltergeist. However, it's often too simple for real-world architectures.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367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we refactor and </a:t>
            </a:r>
            <a:r>
              <a:rPr lang="en-US" i="1" dirty="0"/>
              <a:t>remove</a:t>
            </a:r>
            <a:r>
              <a:rPr lang="en-US" dirty="0"/>
              <a:t> the Poltergeist, where does the log statement go? In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TaskManager</a:t>
            </a:r>
            <a:r>
              <a:rPr lang="en-US" dirty="0"/>
              <a:t>, right after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new Task(name)</a:t>
            </a:r>
            <a:r>
              <a:rPr lang="en-US" dirty="0"/>
              <a:t>. It's obvious. It's a 1-second decision. </a:t>
            </a:r>
            <a:r>
              <a:rPr lang="en-US" i="1" dirty="0"/>
              <a:t>That</a:t>
            </a:r>
            <a:r>
              <a:rPr lang="en-US" dirty="0"/>
              <a:t> is good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8067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6FA72AE9-8D0A-DC8B-E8A1-5B50D345A1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AAF06B-4E89-4E55-80D6-12C8267149B4}" type="slidenum">
              <a:rPr lang="en-US" altLang="tr-TR"/>
              <a:pPr/>
              <a:t>13</a:t>
            </a:fld>
            <a:endParaRPr lang="en-US" altLang="tr-TR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EF1191A1-A2B1-BFE7-08C2-CD2999517D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AFF2C2A3-96A4-94F4-8649-B29A4BBEE2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200" dirty="0"/>
              <a:t>their names are often suffixed by _manager or _controller.</a:t>
            </a:r>
          </a:p>
          <a:p>
            <a:pPr eaLnBrk="1" hangingPunct="1"/>
            <a:endParaRPr lang="en-US" altLang="tr-T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533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44BF8EB6-0A63-A238-3510-E870A57581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825294-2EEA-499C-B28D-DA8E977BC0B3}" type="slidenum">
              <a:rPr lang="en-US" altLang="tr-TR"/>
              <a:pPr/>
              <a:t>14</a:t>
            </a:fld>
            <a:endParaRPr lang="en-US" altLang="tr-TR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C73A4B74-A5B8-06A3-0554-7932FEF371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7222FD44-A742-94F1-F121-89D07FCA04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810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474B144-FCF3-5C56-5765-0F033A621A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A87C2B-9E72-4958-B317-0DD0C0ED9C32}" type="slidenum">
              <a:rPr lang="en-US" altLang="tr-TR"/>
              <a:pPr/>
              <a:t>15</a:t>
            </a:fld>
            <a:endParaRPr lang="en-US" altLang="tr-TR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EF20915E-C266-D9D0-6FFC-2C7C6234D8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F82BB13C-F31D-A8BB-6A78-7E0AB7489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072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a new developer, and you see this in the code."</a:t>
            </a:r>
          </a:p>
          <a:p>
            <a:r>
              <a:rPr lang="en-US" b="1" dirty="0"/>
              <a:t>Questions : </a:t>
            </a:r>
            <a:endParaRPr lang="en-US" dirty="0"/>
          </a:p>
          <a:p>
            <a:r>
              <a:rPr lang="en-US" dirty="0"/>
              <a:t>"What do you do? What are your </a:t>
            </a:r>
            <a:r>
              <a:rPr lang="en-US" i="1" dirty="0"/>
              <a:t>real</a:t>
            </a:r>
            <a:r>
              <a:rPr lang="en-US" dirty="0"/>
              <a:t> options?"</a:t>
            </a:r>
          </a:p>
          <a:p>
            <a:r>
              <a:rPr lang="en-US" dirty="0"/>
              <a:t>"Do you delete it and pray?"</a:t>
            </a:r>
          </a:p>
          <a:p>
            <a:r>
              <a:rPr lang="en-US" dirty="0"/>
              <a:t>"Do you ask a senior dev (who also doesn't know)?"</a:t>
            </a:r>
          </a:p>
          <a:p>
            <a:r>
              <a:rPr lang="en-US" dirty="0"/>
              <a:t>"Do you just... ignore it and work around it?"</a:t>
            </a:r>
          </a:p>
          <a:p>
            <a:r>
              <a:rPr lang="en-US" b="1" dirty="0"/>
              <a:t>Result:</a:t>
            </a:r>
            <a:r>
              <a:rPr lang="en-US" dirty="0"/>
              <a:t> "That feeling of paralysis and fear </a:t>
            </a:r>
            <a:r>
              <a:rPr lang="en-US" i="1" dirty="0"/>
              <a:t>is</a:t>
            </a:r>
            <a:r>
              <a:rPr lang="en-US" dirty="0"/>
              <a:t> the problem."</a:t>
            </a:r>
          </a:p>
          <a:p>
            <a:r>
              <a:rPr lang="en-US" dirty="0"/>
              <a:t>---famous phrase: </a:t>
            </a:r>
            <a:r>
              <a:rPr lang="en-US" dirty="0" err="1"/>
              <a:t>dont</a:t>
            </a:r>
            <a:r>
              <a:rPr lang="en-US" dirty="0"/>
              <a:t> delete, not 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7156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B5148B6D-9C59-D957-A571-A956B74BE8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891E15-DA8A-4812-9FDF-5E4AB7A26655}" type="slidenum">
              <a:rPr lang="en-US" altLang="tr-TR"/>
              <a:pPr/>
              <a:t>20</a:t>
            </a:fld>
            <a:endParaRPr lang="en-US" altLang="tr-TR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98E92F4-2450-0F85-3331-22F1D52AB8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2152F720-12B2-1E83-2869-85DE60931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tr-TR">
                <a:latin typeface="Arial" panose="020B0604020202020204" pitchFamily="34" charset="0"/>
              </a:rPr>
              <a:t>Lava-like "flows" of previous developmental versions on the code landscape, now hardened into a immovable, generally useless mass of code which no one can remember much of anything about.</a:t>
            </a:r>
          </a:p>
          <a:p>
            <a:pPr eaLnBrk="1" hangingPunct="1"/>
            <a:endParaRPr lang="en-US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407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EDE2-D7B2-AFD1-452E-1709FBBEA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80AA216-EBA3-FD24-5B57-EA90ACEB7C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891E15-DA8A-4812-9FDF-5E4AB7A26655}" type="slidenum">
              <a:rPr lang="en-US" altLang="tr-TR"/>
              <a:pPr/>
              <a:t>21</a:t>
            </a:fld>
            <a:endParaRPr lang="en-US" altLang="tr-TR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D6A99B5-7F7B-99AB-9FEA-B7B21EB64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0891E5F-F3D2-C297-631F-C4515ABC9D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tr-TR">
                <a:latin typeface="Arial" panose="020B0604020202020204" pitchFamily="34" charset="0"/>
              </a:rPr>
              <a:t>Lava-like "flows" of previous developmental versions on the code landscape, now hardened into a immovable, generally useless mass of code which no one can remember much of anything about.</a:t>
            </a:r>
          </a:p>
          <a:p>
            <a:pPr eaLnBrk="1" hangingPunct="1"/>
            <a:endParaRPr lang="en-US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273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74BC2-286D-CA5E-1B4C-FFC3D685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C8067-B084-3563-058A-4384B0D1F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5D7AA-FCDD-3EF8-D788-8654F32DC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tr-TR" sz="1200" dirty="0"/>
              <a:t>Expensive to analyze, verify and test.</a:t>
            </a:r>
          </a:p>
          <a:p>
            <a:pPr>
              <a:lnSpc>
                <a:spcPct val="110000"/>
              </a:lnSpc>
            </a:pPr>
            <a:r>
              <a:rPr lang="en-US" altLang="tr-TR" sz="1200" dirty="0"/>
              <a:t>Can be expensive to load into memory, wasting important resources and impacting performance</a:t>
            </a:r>
            <a:endParaRPr lang="en-US" altLang="tr-TR" sz="1200" b="1" dirty="0"/>
          </a:p>
          <a:p>
            <a:pPr>
              <a:lnSpc>
                <a:spcPct val="110000"/>
              </a:lnSpc>
            </a:pPr>
            <a:r>
              <a:rPr lang="en-US" altLang="tr-TR" sz="1200" dirty="0"/>
              <a:t>If </a:t>
            </a:r>
            <a:r>
              <a:rPr lang="en-US" altLang="tr-TR" sz="1200" b="1" dirty="0"/>
              <a:t>not removed, the lava flow </a:t>
            </a:r>
            <a:r>
              <a:rPr lang="en-US" altLang="tr-TR" sz="1200" dirty="0"/>
              <a:t>can continue to proliferate as code is reused in other areas</a:t>
            </a:r>
          </a:p>
          <a:p>
            <a:pPr>
              <a:lnSpc>
                <a:spcPct val="110000"/>
              </a:lnSpc>
            </a:pPr>
            <a:r>
              <a:rPr lang="en-US" altLang="tr-TR" sz="1200" dirty="0"/>
              <a:t>If the process that leads to lava flow is not checked, there can be a geometric growth as succeeding developers, to rushed or intimidated to analyze the original flows, continue to produce new, secondary flows as they try to "work around the original ones. </a:t>
            </a:r>
          </a:p>
          <a:p>
            <a:pPr>
              <a:lnSpc>
                <a:spcPct val="110000"/>
              </a:lnSpc>
            </a:pPr>
            <a:r>
              <a:rPr lang="en-US" altLang="tr-TR" sz="1200" dirty="0"/>
              <a:t>As the flows compound and harden, it rapidly becomes impossible to document the code or understand its architecture enough to make improvements.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0CDB5-6ACF-1383-E99D-CE72758EE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4419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"So, what's the </a:t>
            </a:r>
            <a:r>
              <a:rPr lang="en-US" i="1" dirty="0"/>
              <a:t>correct</a:t>
            </a:r>
            <a:r>
              <a:rPr lang="en-US" dirty="0"/>
              <a:t> rate? The spec is missing. I have to guess. Is the logic for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maturity&lt;5</a:t>
            </a:r>
            <a:r>
              <a:rPr lang="en-US" dirty="0"/>
              <a:t> supposed to extend to 10? Or is the logic for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maturity&gt;10</a:t>
            </a:r>
            <a:r>
              <a:rPr lang="en-US" dirty="0"/>
              <a:t> supposed to start at 5?</a:t>
            </a:r>
          </a:p>
          <a:p>
            <a:r>
              <a:rPr lang="en-US" dirty="0"/>
              <a:t>"Let's assume the 'fairly new' rate applies up to 10 years. The 'patch' would be to change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else if(maturity&lt;5)</a:t>
            </a:r>
            <a:r>
              <a:rPr lang="en-US" dirty="0"/>
              <a:t> to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else if(maturity&lt;=10)</a:t>
            </a:r>
            <a:r>
              <a:rPr lang="en-US" dirty="0"/>
              <a:t>.</a:t>
            </a:r>
          </a:p>
          <a:p>
            <a:r>
              <a:rPr lang="en-US" b="1" dirty="0"/>
              <a:t>But wait!</a:t>
            </a:r>
            <a:r>
              <a:rPr lang="en-US" dirty="0"/>
              <a:t> The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&gt;10</a:t>
            </a:r>
            <a:r>
              <a:rPr lang="en-US" dirty="0"/>
              <a:t> check has different logic (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if(stable)</a:t>
            </a:r>
            <a:r>
              <a:rPr lang="en-US" dirty="0"/>
              <a:t>). This implies the 5-10 year range is its own </a:t>
            </a:r>
            <a:r>
              <a:rPr lang="en-US" i="1" dirty="0"/>
              <a:t>thing</a:t>
            </a:r>
            <a:r>
              <a:rPr lang="en-US" dirty="0"/>
              <a:t>. This code is so ambiguous, I'm creating risk no matter what I do.</a:t>
            </a:r>
          </a:p>
          <a:p>
            <a:r>
              <a:rPr lang="en-US" dirty="0"/>
              <a:t>This is the </a:t>
            </a:r>
            <a:r>
              <a:rPr lang="en-US" i="1" dirty="0"/>
              <a:t>real</a:t>
            </a:r>
            <a:r>
              <a:rPr lang="en-US" dirty="0"/>
              <a:t> pain. I can't fix the bug because the code is unreadable and the </a:t>
            </a:r>
            <a:r>
              <a:rPr lang="en-US" i="1" dirty="0"/>
              <a:t>intent</a:t>
            </a:r>
            <a:r>
              <a:rPr lang="en-US" dirty="0"/>
              <a:t> is lost. I'd have to go hunt down a business analyst to even solve this ticket."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7494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 if-else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if-else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chain—is brittle because its structure makes it impossible to isolate changes. The goal of refactoring is to move the logic out of that single monolithic function and into specialized, well-defined objects. 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 Combine: Capture Aggregations and Components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 first step addresses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tight coupling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objects that lack cohesion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Move members to where they belong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When you see a method (like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calculateInterestRate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in the Spaghetti example) constantly retrieving data from a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different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class, it means the processing logic is in the wrong place. We move that logic, or the data it uses, to its rightful "home." This improves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cohesion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pPr rtl="0"/>
            <a:b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2. Generalize: Abstract Superclass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This step addresses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duplication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prepares the system for flexibility.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Make subclass method signatures compatible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Before we can reuse anything, all the similar methods we want to generalize must look the same (have the same name, return type, and parameters).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Add method signatures to the superclass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Create an abstract superclass (e.g.,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RateStrategy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) and define the common interface (e.g., calculate()). This is the foundation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polymorphism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Migrate common code to superclass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Any duplicate helper logic found in the original conditional branches is now pulled up into the superclass to be shared, ensuring we follow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Don't Repeat Yourself (DRY)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principle.</a:t>
            </a:r>
          </a:p>
          <a:p>
            <a:pPr rtl="0"/>
            <a:b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3. Specialize: Simplify Conditionals (The State/Strategy Fix)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This is the final, most powerful step, where the old if-else chain is completely eliminated.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For each condition, make a subclass with matching invariant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This is the key insight. Instead of writing if (maturity &lt; 5), you create a class named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FairlyMatureCustomerRateStrategy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 The condition becomes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name of the class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State and Strategy patterns may help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You then implement the logic inside these new, small classes.</a:t>
            </a:r>
          </a:p>
          <a:p>
            <a:pPr lvl="1"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Strategy Pattern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(Example Refactored-1 ): You inject the correct strategy object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immatureCustomerRateStrategy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) into the client object. The client only calls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rateStrategy.calculate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().</a:t>
            </a:r>
          </a:p>
          <a:p>
            <a:pPr lvl="1" rtl="0"/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State Pattern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(Example Refactored-2 ): The customer object itself has a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state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object (e.g.,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ImmatureCustomer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). The client calls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state.calculateInterestRate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().</a:t>
            </a:r>
          </a:p>
          <a:p>
            <a:pPr rtl="0"/>
            <a:endParaRPr lang="en-U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By specializing the code, you eliminate the massive, brittle if-else chain. When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New Feature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comes along (like the 'Super-Mature' customer), you simply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add one new subclass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—you don't have to touch or risk breaking the existing rate calculation logic.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7559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94077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Bug Fix:</a:t>
            </a:r>
            <a:r>
              <a:rPr lang="en-US" dirty="0"/>
              <a:t> A 'Premium' user is being charged the 'Standard' user fine. Find the bug in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returnBook</a:t>
            </a:r>
            <a:r>
              <a:rPr lang="en-US" dirty="0"/>
              <a:t> and write down the corrected code.</a:t>
            </a:r>
          </a:p>
          <a:p>
            <a:r>
              <a:rPr lang="en-US" b="1" dirty="0"/>
              <a:t>New Feature:</a:t>
            </a:r>
            <a:r>
              <a:rPr lang="en-US" dirty="0"/>
              <a:t> The business wants a new feature: "We need a 'Book Reservation' system."</a:t>
            </a:r>
          </a:p>
          <a:p>
            <a:r>
              <a:rPr lang="en-US" b="1" dirty="0"/>
              <a:t>Discuss: </a:t>
            </a:r>
            <a:r>
              <a:rPr lang="en-US" b="1" i="1" dirty="0"/>
              <a:t>Where</a:t>
            </a:r>
            <a:r>
              <a:rPr lang="en-US" b="1" dirty="0"/>
              <a:t> would your new </a:t>
            </a:r>
            <a:r>
              <a:rPr lang="en-US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reserveBook</a:t>
            </a:r>
            <a:r>
              <a:rPr lang="en-US" b="1" dirty="0"/>
              <a:t> method go? What other methods would you have to </a:t>
            </a:r>
            <a:r>
              <a:rPr lang="en-US" b="1" i="1" dirty="0"/>
              <a:t>change</a:t>
            </a:r>
            <a:r>
              <a:rPr lang="en-US" b="1" dirty="0"/>
              <a:t> to make it work?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6126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 add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reserveBook</a:t>
            </a:r>
            <a:r>
              <a:rPr lang="en-US" dirty="0"/>
              <a:t>, I also have to </a:t>
            </a:r>
            <a:r>
              <a:rPr lang="en-US" b="1" dirty="0"/>
              <a:t>modify </a:t>
            </a:r>
            <a:r>
              <a:rPr lang="en-US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issueBook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issueBook</a:t>
            </a:r>
            <a:r>
              <a:rPr lang="en-US" dirty="0"/>
              <a:t> now has to check if the book is reserved, and if so, if it's reserved by </a:t>
            </a:r>
            <a:r>
              <a:rPr lang="en-US" i="1" dirty="0"/>
              <a:t>this</a:t>
            </a:r>
            <a:r>
              <a:rPr lang="en-US" dirty="0"/>
              <a:t> user.</a:t>
            </a:r>
          </a:p>
          <a:p>
            <a:r>
              <a:rPr lang="en-US" dirty="0"/>
              <a:t>I also have to </a:t>
            </a:r>
            <a:r>
              <a:rPr lang="en-US" b="1" dirty="0"/>
              <a:t>modify </a:t>
            </a:r>
            <a:r>
              <a:rPr lang="en-US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returnBook</a:t>
            </a:r>
            <a:r>
              <a:rPr lang="en-US" dirty="0"/>
              <a:t>. When a book is returned, I have to check if there's a reservation pending and maybe send a notification to the next user in line.</a:t>
            </a:r>
          </a:p>
          <a:p>
            <a:r>
              <a:rPr lang="en-US" dirty="0"/>
              <a:t>I probably have to </a:t>
            </a:r>
            <a:r>
              <a:rPr lang="en-US" b="1" dirty="0"/>
              <a:t>modify </a:t>
            </a:r>
            <a:r>
              <a:rPr lang="en-US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searchCatalog</a:t>
            </a:r>
            <a:r>
              <a:rPr lang="en-US" dirty="0"/>
              <a:t> to show a book's reservation status.</a:t>
            </a:r>
          </a:p>
          <a:p>
            <a:r>
              <a:rPr lang="en-US" dirty="0"/>
              <a:t>----How do I </a:t>
            </a:r>
            <a:r>
              <a:rPr lang="en-US" i="1" dirty="0"/>
              <a:t>test</a:t>
            </a:r>
            <a:r>
              <a:rPr lang="en-US" dirty="0"/>
              <a:t> this fix?</a:t>
            </a:r>
          </a:p>
          <a:p>
            <a:r>
              <a:rPr lang="en-US" dirty="0"/>
              <a:t>To even </a:t>
            </a:r>
            <a:r>
              <a:rPr lang="en-US" i="1" dirty="0"/>
              <a:t>call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returnBook</a:t>
            </a:r>
            <a:r>
              <a:rPr lang="en-US" dirty="0"/>
              <a:t>, I first need an instance of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LibraryControl</a:t>
            </a:r>
            <a:r>
              <a:rPr lang="en-US" dirty="0"/>
              <a:t>.</a:t>
            </a:r>
          </a:p>
          <a:p>
            <a:r>
              <a:rPr lang="en-US" dirty="0"/>
              <a:t>Looking at the constructor, I'll bet it's huge and needs a database connection, a logger, and who knows what else.</a:t>
            </a:r>
          </a:p>
          <a:p>
            <a:r>
              <a:rPr lang="en-US" dirty="0"/>
              <a:t>The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returnBook</a:t>
            </a:r>
            <a:r>
              <a:rPr lang="en-US" dirty="0"/>
              <a:t> method itself calls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getUser</a:t>
            </a:r>
            <a:r>
              <a:rPr lang="en-US" dirty="0"/>
              <a:t> ,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paymentProcessor.chargeFine</a:t>
            </a:r>
            <a:r>
              <a:rPr lang="en-US" dirty="0"/>
              <a:t> , and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notifier.sendFineEmail</a:t>
            </a:r>
            <a:r>
              <a:rPr lang="en-US" dirty="0"/>
              <a:t>.</a:t>
            </a:r>
          </a:p>
          <a:p>
            <a:r>
              <a:rPr lang="en-US" dirty="0"/>
              <a:t>OMG. To write a simple unit test for a one-line bug fix, I have to mock a database, a payment gateway, and an email service.</a:t>
            </a:r>
          </a:p>
          <a:p>
            <a:r>
              <a:rPr lang="en-US" b="1" dirty="0"/>
              <a:t>This is the pain:</a:t>
            </a:r>
            <a:r>
              <a:rPr lang="en-US" dirty="0"/>
              <a:t> The code is completely </a:t>
            </a:r>
            <a:r>
              <a:rPr lang="en-US" b="1" dirty="0"/>
              <a:t>untestable</a:t>
            </a:r>
            <a:r>
              <a:rPr lang="en-US" dirty="0"/>
              <a:t>. The trivial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fine</a:t>
            </a:r>
            <a:r>
              <a:rPr lang="en-US" dirty="0"/>
              <a:t> logic is hopelessly tangled with database calls, payments, and notifications. I can't fix this bug with any confidence that I'm not breaking something else."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413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E1F6D-08B1-C694-6030-67B20B3C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FA2BE-FBB6-B9E1-1C3B-E66BD12C5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7D70A-C57F-778E-6F46-5E81BF2C7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20776-0F5F-0B31-E88A-07BE302AF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0342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1FE45526-AFB8-CF51-7E01-D994F5B8DF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1F2CFD-DEBD-41BD-8698-D62E34E84D74}" type="slidenum">
              <a:rPr lang="en-US" altLang="tr-TR"/>
              <a:pPr/>
              <a:t>43</a:t>
            </a:fld>
            <a:endParaRPr lang="en-US" altLang="tr-TR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7BE19F4-C184-84CE-C072-1DFDD0BB98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16BA27E5-797A-0D2B-9291-CF9AB495EA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tr-TR">
                <a:latin typeface="Arial" panose="020B0604020202020204" pitchFamily="34" charset="0"/>
              </a:rPr>
              <a:t>If there is a base class that is a blob and hundreds of subclasses with little content</a:t>
            </a:r>
          </a:p>
          <a:p>
            <a:pPr lvl="1" eaLnBrk="1" hangingPunct="1"/>
            <a:r>
              <a:rPr lang="en-US" altLang="tr-TR">
                <a:latin typeface="Arial" panose="020B0604020202020204" pitchFamily="34" charset="0"/>
              </a:rPr>
              <a:t>Can be fixed by proper use of delegation, interface inheritance and patterns such as Strategy or Visitor</a:t>
            </a:r>
          </a:p>
          <a:p>
            <a:pPr eaLnBrk="1" hangingPunct="1"/>
            <a:endParaRPr lang="en-US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730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Continuous obsolescence: developers spend more time </a:t>
            </a:r>
            <a:r>
              <a:rPr lang="en-US" b="1" dirty="0"/>
              <a:t>upgrading</a:t>
            </a:r>
            <a:r>
              <a:rPr lang="en-US" dirty="0"/>
              <a:t> existing dependencies than </a:t>
            </a:r>
            <a:r>
              <a:rPr lang="en-US" b="1" dirty="0"/>
              <a:t>developing new features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cure for the Input Kludge remains sound design: robust input validation (checking state before proceeding) and careful handling of concurrency and race conditions using locks, queues, or state machines</a:t>
            </a:r>
          </a:p>
          <a:p>
            <a:r>
              <a:rPr lang="en-US" b="1" dirty="0"/>
              <a:t>Input Kludge</a:t>
            </a:r>
            <a:r>
              <a:rPr lang="en-US" dirty="0"/>
              <a:t> is when the system fails because of a </a:t>
            </a:r>
            <a:r>
              <a:rPr lang="en-US" b="1" dirty="0"/>
              <a:t>bad </a:t>
            </a:r>
            <a:r>
              <a:rPr lang="en-US" b="1" i="1" dirty="0"/>
              <a:t>combination</a:t>
            </a:r>
            <a:r>
              <a:rPr lang="en-US" b="1" dirty="0"/>
              <a:t> of valid features</a:t>
            </a:r>
            <a:r>
              <a:rPr lang="en-US" dirty="0"/>
              <a:t>. It's not the individual input that's wrong, it's the sequence.</a:t>
            </a:r>
          </a:p>
          <a:p>
            <a:r>
              <a:rPr lang="en-US" b="0" dirty="0"/>
              <a:t>example:</a:t>
            </a:r>
          </a:p>
          <a:p>
            <a:r>
              <a:rPr lang="en-US" dirty="0"/>
              <a:t>mobile banking app with two simple features:  </a:t>
            </a:r>
            <a:r>
              <a:rPr lang="en-US" b="1" dirty="0"/>
              <a:t>Transfer Money and </a:t>
            </a:r>
            <a:r>
              <a:rPr lang="en-US" dirty="0"/>
              <a:t> </a:t>
            </a:r>
            <a:r>
              <a:rPr lang="en-US" b="1" dirty="0"/>
              <a:t>Change Password.</a:t>
            </a:r>
            <a:endParaRPr lang="en-US" dirty="0"/>
          </a:p>
          <a:p>
            <a:r>
              <a:rPr lang="en-US" dirty="0"/>
              <a:t>Both features work perfectly on their own.</a:t>
            </a:r>
          </a:p>
          <a:p>
            <a:r>
              <a:rPr lang="en-US" b="1" dirty="0"/>
              <a:t>The Kludge Sequence:</a:t>
            </a:r>
            <a:endParaRPr lang="en-US" dirty="0"/>
          </a:p>
          <a:p>
            <a:r>
              <a:rPr lang="en-US" dirty="0"/>
              <a:t>A user starts a large </a:t>
            </a:r>
            <a:r>
              <a:rPr lang="en-US" b="1" dirty="0"/>
              <a:t>Money Transfer (Feature A)</a:t>
            </a:r>
            <a:r>
              <a:rPr lang="en-US" dirty="0"/>
              <a:t>. The app sends the request to the server, and the transfer is now "pending."</a:t>
            </a:r>
          </a:p>
          <a:p>
            <a:r>
              <a:rPr lang="en-US" dirty="0"/>
              <a:t>While the transaction is still pending, the user quickly goes to settings and </a:t>
            </a:r>
            <a:r>
              <a:rPr lang="en-US" b="1" dirty="0"/>
              <a:t>Changes their Password (Feature B)</a:t>
            </a:r>
            <a:r>
              <a:rPr lang="en-US" dirty="0"/>
              <a:t>.</a:t>
            </a:r>
          </a:p>
          <a:p>
            <a:r>
              <a:rPr lang="en-US" b="1" dirty="0"/>
              <a:t>The Pain</a:t>
            </a:r>
            <a:r>
              <a:rPr lang="en-US" dirty="0"/>
              <a:t> poor design: didn't check the state of the transfer before allowing the password change.</a:t>
            </a:r>
          </a:p>
          <a:p>
            <a:r>
              <a:rPr lang="en-US" dirty="0"/>
              <a:t>When the password changes, the </a:t>
            </a:r>
            <a:r>
              <a:rPr lang="en-US" b="1" dirty="0"/>
              <a:t>old security session is destroyed</a:t>
            </a:r>
            <a:r>
              <a:rPr lang="en-US" dirty="0"/>
              <a:t>.</a:t>
            </a:r>
          </a:p>
          <a:p>
            <a:r>
              <a:rPr lang="en-US" dirty="0"/>
              <a:t>The server then tries to finalize the pending </a:t>
            </a:r>
            <a:r>
              <a:rPr lang="en-US" b="1" dirty="0"/>
              <a:t>Money Transfer</a:t>
            </a:r>
            <a:r>
              <a:rPr lang="en-US" dirty="0"/>
              <a:t>, but it can't find a valid session or user ID.</a:t>
            </a:r>
          </a:p>
          <a:p>
            <a:r>
              <a:rPr lang="en-US" b="1" dirty="0"/>
              <a:t>Result:</a:t>
            </a:r>
            <a:r>
              <a:rPr lang="en-US" dirty="0"/>
              <a:t> The transaction fails, the app crashes, or worse—the system enters an </a:t>
            </a:r>
            <a:r>
              <a:rPr lang="en-US" b="1" dirty="0"/>
              <a:t>unstable state</a:t>
            </a:r>
            <a:r>
              <a:rPr lang="en-US" dirty="0"/>
              <a:t> where the transfer amount is deducted from the source account but never credited to the destination.</a:t>
            </a:r>
          </a:p>
          <a:p>
            <a:r>
              <a:rPr lang="en-US" b="1" dirty="0"/>
              <a:t>Lesson: valid inputs can combine into invalid state</a:t>
            </a:r>
            <a:r>
              <a:rPr lang="en-US" dirty="0"/>
              <a:t>.  design must look beyond individual inputs and enforce rules about </a:t>
            </a:r>
            <a:r>
              <a:rPr lang="en-US" b="1" dirty="0"/>
              <a:t>system state</a:t>
            </a:r>
            <a:r>
              <a:rPr lang="en-US" dirty="0"/>
              <a:t>. </a:t>
            </a:r>
          </a:p>
          <a:p>
            <a:r>
              <a:rPr lang="en-US" dirty="0"/>
              <a:t>"Can the user legally perform action B while action A is currently running?"</a:t>
            </a:r>
          </a:p>
          <a:p>
            <a:r>
              <a:rPr lang="en-US" dirty="0"/>
              <a:t>If the answer is no, you must temporarily disable, queue, or validate against the pending 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CBDC-812F-461A-9531-9017391C691A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541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933B59C-C21A-EFF7-079C-36DC23EE087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812F79E-FF62-E510-396A-C6BFF8246D7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8384749C-74BF-0084-E8B6-9285624CAF2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64DD8CE-944C-179B-CB16-B5BA35313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B05A5323-8585-B6BD-AC93-A049C167C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AA23FA9B-52FD-2B96-5E71-BB72606D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D8D678C9-6F3B-C7A9-1EAA-9699903B1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5143ABB3-F426-2AC8-BB1F-191FB4CAE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7AA1FBF0-4FD8-2BB7-4C49-347E1D331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41C0CB80-437C-A2B0-4899-417F6BFD0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E2510295-A619-5795-3ABE-3DEF02A68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4EEE409E-3190-DDAC-3C95-B847DC50C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D050F70B-926A-5D79-113A-950E4AB98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76D42C04-ABE0-77B6-EA6E-681474BFC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754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54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F73EBD4-CCE7-9750-88B2-4F42B3E6B5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9D7DF7F7-A2C1-53AF-62C8-9F821F0AB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70CF21F3-917C-9218-B2BE-4E927D4358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5C2261-C6FB-4020-BD77-EF397DAB6C1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847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152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5295"/>
            <a:ext cx="8229600" cy="45321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C5D840-B6D3-623A-8343-93C530153A9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E189FA2-29A5-C5CE-0D92-C90FF73CF7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D11495-8493-4FEA-87F0-9D150FCEB1C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1D4348B-EA71-879E-8203-54391C73D5E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7597C-5350-48B6-DCBD-9BF1411017F9}"/>
              </a:ext>
            </a:extLst>
          </p:cNvPr>
          <p:cNvSpPr/>
          <p:nvPr/>
        </p:nvSpPr>
        <p:spPr>
          <a:xfrm>
            <a:off x="457201" y="1235282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AD54EF-3FC5-3272-FE54-D0E3F9534B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C321292-8B6B-0F21-263A-B1B9598BB4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A9DE80-1FE8-4D85-9BD2-6144D7D5447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83AEF31-1D37-5B40-3DEC-C3679BA6A47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40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5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2210"/>
            <a:ext cx="4038600" cy="45951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2210"/>
            <a:ext cx="4038600" cy="45951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0A05A1D-7095-7E52-0847-E1EB13A8AB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73A413-50AA-E10E-D1C4-54AB2929A24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284DC3-0EAE-4FC2-A3E3-26A3C52A12D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DC26CCE-5CF2-05E4-A18F-AF9D89E652A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8178A5-120B-E6E0-32D5-B9979205E616}"/>
              </a:ext>
            </a:extLst>
          </p:cNvPr>
          <p:cNvSpPr/>
          <p:nvPr/>
        </p:nvSpPr>
        <p:spPr>
          <a:xfrm>
            <a:off x="393589" y="1116012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75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96FBAD0-FE05-8FD5-F008-8D91060EE18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3F60B54-4634-BE12-F781-52C02402AE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C31EFC-F6FB-47CF-B931-A26459C1371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DA344AEB-D089-F4D4-7617-091325A689F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1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631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77D71-2F49-0598-EF2D-EBDFDC849CD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6AE2E-7FBB-CFF0-6AB7-FC12419D530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C60D7-DA4C-4CC8-BAEF-4A315D3317D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5F852CBA-CBBB-399C-F561-B565F6D8807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83EA4-DAA1-6A9A-377D-4591821B0A48}"/>
              </a:ext>
            </a:extLst>
          </p:cNvPr>
          <p:cNvSpPr/>
          <p:nvPr/>
        </p:nvSpPr>
        <p:spPr>
          <a:xfrm>
            <a:off x="457201" y="1123969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29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4475522-F225-2F07-54B2-1A858EEC50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3A36220-D3BB-2220-E328-1BDC3ECBD9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ECB20F-B8FB-4154-AD58-475A9409A7F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C69C6519-7D7E-1C39-19BF-6118A091BF0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0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2C61B4-AE33-53ED-41FE-79C0EE9343B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4B1558-DE88-2783-2867-4510C41576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1CE9B-BE6B-4A7C-AAF4-1638AF5A6AB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7726854-7C99-0A3F-EDA6-7BF7556D181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3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913869-D610-825F-F9E5-B607130B6F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017CFA3-154C-A10B-09C3-3B57E49AF1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355F8F-93AE-40E6-84EA-78F514D0BF9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3C3434A0-709E-9E6E-7071-5493364FC1E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0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F0EAA2-82E3-02C6-88F1-73BB7BF717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8EA639E-141C-5355-9BB9-53EDDE3830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3721B3-A89E-40DC-9433-CC1FF887A124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0486604-361D-BDC1-D24E-D3F5D2116CB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54C8D-54CF-CA81-68E7-A81525D4F2D8}"/>
              </a:ext>
            </a:extLst>
          </p:cNvPr>
          <p:cNvSpPr/>
          <p:nvPr/>
        </p:nvSpPr>
        <p:spPr>
          <a:xfrm>
            <a:off x="457201" y="1489722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0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17D27DD-053B-89C8-0CDD-8B6FC2AA33E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E5CC0D-020C-9B72-2432-4E828F0DC8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DC6982-459E-4A06-8D96-4877AE05EF5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9E509658-25AD-20B6-AFBB-7F6CECBCBA9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75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979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67625"/>
            <a:ext cx="4038600" cy="4499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7625"/>
            <a:ext cx="4038600" cy="4499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719EAA-249E-4846-9B33-E1E9151C6F6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8C8794-0110-F974-AD1D-4DCD32757E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1EF891-517F-4531-BAE8-E56DB45D669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1220F6A-C0D2-982C-0CC2-BB2367B1A20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10BF89-6D8F-274F-4F19-5735B86ED250}"/>
              </a:ext>
            </a:extLst>
          </p:cNvPr>
          <p:cNvSpPr/>
          <p:nvPr/>
        </p:nvSpPr>
        <p:spPr>
          <a:xfrm>
            <a:off x="457201" y="1123962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8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839B0420-276A-4BBA-9B8D-2581239FCA9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C6836D65-D844-48C1-BD51-5896174C913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7B1EF891-517F-4531-BAE8-E56DB45D669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EE57E7A-C80A-0755-2089-2C53E3FA96D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B653B317-0A87-4CCC-9571-2F709F322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4A1A39B1-7157-46C7-80EE-A6A6C6068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DFC27E1E-7B31-4EF5-90FB-EAF7F2E3A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85D778C1-1BD5-4A50-8DAF-E49C9C92C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FD8969B2-448C-46E3-BC56-5143A8B3F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B4792188-569F-498A-8387-6928A2C1B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3524B95B-5120-4208-9243-49F80DD33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53832FA5-0898-4881-A7EA-D17A82CD8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20A8BA7D-3BED-4998-AB4F-0059C1465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3CB25864-D50C-C571-C6CD-72975AC55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105057BF-8809-45AA-6DAD-6465C3A20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274448" name="Rectangle 16">
            <a:extLst>
              <a:ext uri="{FF2B5EF4-FFF2-40B4-BE49-F238E27FC236}">
                <a16:creationId xmlns:a16="http://schemas.microsoft.com/office/drawing/2014/main" id="{353943DA-78F6-4B90-86EF-119FC03DFE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c2.com/cgi/wiki?JimCoplien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c2.com/cgi/wiki?AntiPatter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38F6430-941F-F789-F3ED-C17662E3A1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Antipatterns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9DC3788-8F56-88C8-94D4-03AE916529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tr-TR" dirty="0"/>
              <a:t>Negative solutions that leads </a:t>
            </a:r>
            <a:r>
              <a:rPr lang="en-US" altLang="tr-TR" i="1" dirty="0"/>
              <a:t>more</a:t>
            </a:r>
            <a:r>
              <a:rPr lang="en-US" altLang="tr-TR" dirty="0"/>
              <a:t> problems than they are indented to solve</a:t>
            </a:r>
          </a:p>
          <a:p>
            <a:pPr eaLnBrk="1" hangingPunct="1"/>
            <a:endParaRPr lang="tr-TR" altLang="tr-T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5C623-FC09-7795-C28B-4FE20986C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21228" y="808038"/>
            <a:ext cx="4041775" cy="639763"/>
          </a:xfrm>
        </p:spPr>
        <p:txBody>
          <a:bodyPr/>
          <a:lstStyle/>
          <a:p>
            <a:r>
              <a:rPr lang="en-US" altLang="tr-TR" sz="2800" dirty="0"/>
              <a:t>Antipatterns</a:t>
            </a:r>
            <a:endParaRPr lang="en-US" sz="28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6B6660-D062-16AD-0CBE-428103C22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0413" y="808038"/>
            <a:ext cx="4040188" cy="639763"/>
          </a:xfrm>
        </p:spPr>
        <p:txBody>
          <a:bodyPr/>
          <a:lstStyle/>
          <a:p>
            <a:r>
              <a:rPr lang="en-US" altLang="tr-TR" sz="2800" dirty="0"/>
              <a:t>Design patterns</a:t>
            </a:r>
            <a:endParaRPr lang="en-US" sz="2800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9FFC9D2-2F47-A8F3-48B0-057491EF38A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57201" y="1641477"/>
            <a:ext cx="4040188" cy="2168525"/>
          </a:xfrm>
        </p:spPr>
        <p:txBody>
          <a:bodyPr/>
          <a:lstStyle/>
          <a:p>
            <a:pPr eaLnBrk="1" hangingPunct="1"/>
            <a:r>
              <a:rPr lang="en-US" altLang="tr-TR" dirty="0"/>
              <a:t>Time tested </a:t>
            </a:r>
            <a:r>
              <a:rPr lang="en-US" altLang="tr-TR" i="1" dirty="0"/>
              <a:t>solution</a:t>
            </a:r>
            <a:r>
              <a:rPr lang="en-US" altLang="tr-TR" dirty="0"/>
              <a:t> to a recurring problem in a specific context. </a:t>
            </a:r>
          </a:p>
          <a:p>
            <a:pPr eaLnBrk="1" hangingPunct="1"/>
            <a:r>
              <a:rPr lang="en-US" altLang="tr-TR" dirty="0"/>
              <a:t>Benefits exceeds negative consequences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D521D-25CB-D195-3524-2132D0FC7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8" y="1565277"/>
            <a:ext cx="4041775" cy="2320925"/>
          </a:xfrm>
        </p:spPr>
        <p:txBody>
          <a:bodyPr/>
          <a:lstStyle/>
          <a:p>
            <a:r>
              <a:rPr lang="en-US" altLang="en-US" dirty="0"/>
              <a:t>Commonly occurring </a:t>
            </a:r>
            <a:r>
              <a:rPr lang="en-US" altLang="en-US" i="1" dirty="0"/>
              <a:t>solution</a:t>
            </a:r>
            <a:r>
              <a:rPr lang="en-US" altLang="en-US" dirty="0"/>
              <a:t> to a problem that generates bad results   </a:t>
            </a:r>
          </a:p>
          <a:p>
            <a:pPr lvl="1"/>
            <a:r>
              <a:rPr lang="en-US" altLang="tr-TR" dirty="0"/>
              <a:t>Repeated software failures </a:t>
            </a:r>
          </a:p>
          <a:p>
            <a:pPr lvl="1"/>
            <a:r>
              <a:rPr lang="en-US" altLang="tr-TR" dirty="0"/>
              <a:t>common pitfalls to avoid</a:t>
            </a:r>
          </a:p>
          <a:p>
            <a:r>
              <a:rPr lang="en-US" altLang="tr-TR" dirty="0"/>
              <a:t>Negative consequences exceeds benefits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68F4F2-A918-B974-9219-CAB6268BEB1A}"/>
              </a:ext>
            </a:extLst>
          </p:cNvPr>
          <p:cNvSpPr txBox="1">
            <a:spLocks/>
          </p:cNvSpPr>
          <p:nvPr/>
        </p:nvSpPr>
        <p:spPr bwMode="auto">
          <a:xfrm>
            <a:off x="457200" y="4343402"/>
            <a:ext cx="8153400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None/>
              <a:defRPr sz="1800" b="1">
                <a:solidFill>
                  <a:schemeClr val="tx1"/>
                </a:solidFill>
                <a:latin typeface="+mn-lt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800" b="0" kern="0" dirty="0">
                <a:hlinkClick r:id="rId2"/>
              </a:rPr>
              <a:t>Jim Coplien</a:t>
            </a:r>
            <a:r>
              <a:rPr lang="en-US" altLang="en-US" sz="2800" b="0" kern="0" dirty="0"/>
              <a:t>: "an anti-pattern is something that looks like a good idea, but which backfires badly when applied."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64E2B941-7B7F-736E-5149-6AF6D30E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Antipatterns</a:t>
            </a:r>
            <a:endParaRPr lang="tr-TR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613EF676-42D0-8225-ADF1-C9783B1A1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2"/>
            <a:ext cx="8382000" cy="4830763"/>
          </a:xfrm>
        </p:spPr>
        <p:txBody>
          <a:bodyPr/>
          <a:lstStyle/>
          <a:p>
            <a:r>
              <a:rPr lang="en-US" altLang="en-US" u="sng" dirty="0"/>
              <a:t>negative consequences.</a:t>
            </a:r>
          </a:p>
          <a:p>
            <a:pPr lvl="1"/>
            <a:r>
              <a:rPr lang="en-US" altLang="en-US" dirty="0"/>
              <a:t>code harder to read, maintain, test, and extend, ultimately reducing the overall quality </a:t>
            </a:r>
          </a:p>
          <a:p>
            <a:pPr marL="0" indent="0">
              <a:buNone/>
            </a:pPr>
            <a:endParaRPr lang="en-US" altLang="en-US" sz="2800" dirty="0"/>
          </a:p>
          <a:p>
            <a:pPr marL="0" indent="0">
              <a:buNone/>
            </a:pPr>
            <a:r>
              <a:rPr lang="en-US" altLang="en-US" sz="2800" dirty="0"/>
              <a:t>Importance:</a:t>
            </a:r>
          </a:p>
          <a:p>
            <a:r>
              <a:rPr lang="en-US" altLang="en-US" sz="2800" dirty="0"/>
              <a:t>Identifying bad practices can be as valuable as identifying good practices.</a:t>
            </a:r>
          </a:p>
          <a:p>
            <a:pPr lvl="1"/>
            <a:r>
              <a:rPr lang="en-US" altLang="en-US" sz="2400" i="1" dirty="0"/>
              <a:t>“It's not fun documenting the things that most people agree won't work, but it's necessary because many people may not recognize the </a:t>
            </a:r>
            <a:r>
              <a:rPr lang="en-US" altLang="en-US" sz="2400" i="1" dirty="0" err="1">
                <a:hlinkClick r:id="rId2"/>
              </a:rPr>
              <a:t>AntiPattern</a:t>
            </a:r>
            <a:r>
              <a:rPr lang="en-US" altLang="en-US" sz="2400" i="1" dirty="0"/>
              <a:t>.”</a:t>
            </a:r>
            <a:r>
              <a:rPr lang="en-US" altLang="en-US" sz="2400" dirty="0"/>
              <a:t> </a:t>
            </a:r>
            <a:endParaRPr lang="tr-TR" altLang="en-US" sz="2400" dirty="0"/>
          </a:p>
        </p:txBody>
      </p:sp>
      <p:sp>
        <p:nvSpPr>
          <p:cNvPr id="5124" name="TextBox 3">
            <a:extLst>
              <a:ext uri="{FF2B5EF4-FFF2-40B4-BE49-F238E27FC236}">
                <a16:creationId xmlns:a16="http://schemas.microsoft.com/office/drawing/2014/main" id="{2B4DF288-5105-37EF-4BE7-1CD7FFF4A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629400"/>
            <a:ext cx="35830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tr-TR" altLang="en-US" sz="1800"/>
              <a:t>http://c2.com/cgi/wiki?AntiPattern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E6627CC-C1A0-0707-AB8F-6B8BA984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Anti-pattern:  Result of</a:t>
            </a:r>
            <a:endParaRPr lang="tr-T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D5B444-2261-A372-71C1-FBF9F4AF28CB}"/>
              </a:ext>
            </a:extLst>
          </p:cNvPr>
          <p:cNvSpPr/>
          <p:nvPr/>
        </p:nvSpPr>
        <p:spPr bwMode="auto">
          <a:xfrm>
            <a:off x="685800" y="2971800"/>
            <a:ext cx="8077200" cy="1676400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8AF7E874-267F-4F2E-58DD-0AA9E06D7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5"/>
            <a:ext cx="8229600" cy="453210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400" dirty="0"/>
              <a:t>poor design choices, lack of experience, misunderstanding of best practices</a:t>
            </a:r>
          </a:p>
          <a:p>
            <a:pPr>
              <a:spcBef>
                <a:spcPts val="1200"/>
              </a:spcBef>
            </a:pPr>
            <a:r>
              <a:rPr lang="en-US" altLang="en-US" sz="2400" dirty="0"/>
              <a:t>applying a perfectly good pattern in the wrong context.</a:t>
            </a:r>
          </a:p>
          <a:p>
            <a:pPr marL="457189" lvl="1" indent="0">
              <a:spcBef>
                <a:spcPts val="1200"/>
              </a:spcBef>
              <a:buNone/>
            </a:pPr>
            <a:endParaRPr lang="en-US" altLang="en-US" sz="1000" dirty="0"/>
          </a:p>
          <a:p>
            <a:pPr marL="457189" lvl="1" indent="0">
              <a:spcBef>
                <a:spcPts val="1200"/>
              </a:spcBef>
              <a:buNone/>
            </a:pPr>
            <a:r>
              <a:rPr lang="en-US" altLang="en-US" sz="2400" dirty="0"/>
              <a:t>“The resulting code tends to be full of </a:t>
            </a:r>
            <a:r>
              <a:rPr lang="en-US" altLang="en-US" sz="2400" u="sng" dirty="0"/>
              <a:t>factories </a:t>
            </a:r>
            <a:r>
              <a:rPr lang="en-US" altLang="en-US" sz="2400" dirty="0"/>
              <a:t>that only ever return a single thing, that thing being a </a:t>
            </a:r>
            <a:r>
              <a:rPr lang="en-US" altLang="en-US" sz="2400" u="sng" dirty="0"/>
              <a:t>proxy</a:t>
            </a:r>
            <a:r>
              <a:rPr lang="en-US" altLang="en-US" sz="2400" dirty="0"/>
              <a:t> to a delegate that wraps a class that has a method that has the three lines of code you actually want to execute.”</a:t>
            </a:r>
          </a:p>
          <a:p>
            <a:pPr>
              <a:spcBef>
                <a:spcPts val="1200"/>
              </a:spcBef>
            </a:pPr>
            <a:endParaRPr lang="en-US" sz="1000" b="1" dirty="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>
              <a:spcBef>
                <a:spcPts val="1200"/>
              </a:spcBef>
            </a:pPr>
            <a:r>
              <a:rPr lang="en-US" sz="2400" b="1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Our Aim:</a:t>
            </a:r>
            <a:r>
              <a:rPr lang="en-US" sz="2400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diagnose and fix the common failures we will inherit in real-world code.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90B0D56-39DB-A0AF-C6AC-05880123B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Categories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39A24EC-490E-1CE8-3112-B2E7FDB3D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marL="514338" indent="-514338">
              <a:lnSpc>
                <a:spcPct val="90000"/>
              </a:lnSpc>
              <a:buFont typeface="+mj-lt"/>
              <a:buAutoNum type="arabicPeriod"/>
            </a:pPr>
            <a:r>
              <a:rPr lang="en-US" altLang="tr-TR" dirty="0"/>
              <a:t>Software Development antipatterns</a:t>
            </a:r>
          </a:p>
          <a:p>
            <a:pPr marL="914377" lvl="1" indent="-514338">
              <a:lnSpc>
                <a:spcPct val="90000"/>
              </a:lnSpc>
            </a:pPr>
            <a:r>
              <a:rPr lang="en-US" altLang="tr-TR" dirty="0"/>
              <a:t>Bad Coding/design solutions</a:t>
            </a:r>
          </a:p>
          <a:p>
            <a:pPr marL="514338" indent="-514338">
              <a:lnSpc>
                <a:spcPct val="90000"/>
              </a:lnSpc>
              <a:buFont typeface="+mj-lt"/>
              <a:buAutoNum type="arabicPeriod"/>
            </a:pPr>
            <a:r>
              <a:rPr lang="en-US" altLang="tr-TR" dirty="0"/>
              <a:t>Architectural antipatterns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System-level antipatterns. 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Common mistakes in </a:t>
            </a:r>
            <a:r>
              <a:rPr lang="en-US" altLang="en-US" dirty="0"/>
              <a:t>creation, implementation, and management of architecture.</a:t>
            </a:r>
            <a:endParaRPr lang="en-US" altLang="tr-TR" dirty="0"/>
          </a:p>
          <a:p>
            <a:pPr marL="514338" indent="-514338">
              <a:lnSpc>
                <a:spcPct val="90000"/>
              </a:lnSpc>
              <a:buFont typeface="+mj-lt"/>
              <a:buAutoNum type="arabicPeriod"/>
            </a:pPr>
            <a:r>
              <a:rPr lang="en-US" altLang="tr-TR" dirty="0"/>
              <a:t>Project Management antipatterns</a:t>
            </a:r>
          </a:p>
          <a:p>
            <a:pPr eaLnBrk="1" hangingPunct="1">
              <a:lnSpc>
                <a:spcPct val="90000"/>
              </a:lnSpc>
            </a:pPr>
            <a:endParaRPr lang="en-US" altLang="tr-TR" sz="2800" dirty="0"/>
          </a:p>
          <a:p>
            <a:pPr eaLnBrk="1" hangingPunct="1">
              <a:lnSpc>
                <a:spcPct val="90000"/>
              </a:lnSpc>
            </a:pPr>
            <a:endParaRPr lang="en-US" altLang="tr-TR" sz="2800" dirty="0"/>
          </a:p>
          <a:p>
            <a:pPr eaLnBrk="1" hangingPunct="1">
              <a:lnSpc>
                <a:spcPct val="90000"/>
              </a:lnSpc>
            </a:pPr>
            <a:r>
              <a:rPr lang="en-US" altLang="tr-TR" sz="2000" dirty="0"/>
              <a:t>Antipattern web site www.antipatterns.com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6B3B-F452-5995-3852-154F2421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1) Poltergeist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F7EDC-9BAE-DE5E-2E6D-690ED7AD1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242424"/>
                </a:solidFill>
              </a:rPr>
              <a:t>short-lived, stateless objects created to perform simple tasks and then </a:t>
            </a:r>
            <a:r>
              <a:rPr lang="en-US" sz="2800" i="1" dirty="0">
                <a:solidFill>
                  <a:srgbClr val="242424"/>
                </a:solidFill>
              </a:rPr>
              <a:t>discarded.</a:t>
            </a:r>
          </a:p>
          <a:p>
            <a:pPr lvl="1"/>
            <a:r>
              <a:rPr lang="en-US" sz="2400" dirty="0">
                <a:solidFill>
                  <a:srgbClr val="242424"/>
                </a:solidFill>
              </a:rPr>
              <a:t>These objects often serve as intermediaries that add unnecessary complexity to the system.</a:t>
            </a:r>
          </a:p>
          <a:p>
            <a:endParaRPr lang="en-US" sz="2800" dirty="0">
              <a:solidFill>
                <a:srgbClr val="24242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tr-TR" sz="2800" dirty="0"/>
              <a:t>A.k.a. Proliferation of classes</a:t>
            </a:r>
          </a:p>
          <a:p>
            <a:r>
              <a:rPr lang="en-US" altLang="tr-TR" sz="2800" dirty="0"/>
              <a:t>Poltergeists add no significant value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only perform a single action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or pass data between other objects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without maintaining any state or long-term responsibility</a:t>
            </a:r>
          </a:p>
          <a:p>
            <a:pPr marL="0" indent="0">
              <a:buNone/>
            </a:pPr>
            <a:endParaRPr lang="en-US" sz="28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65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8D1727-33A5-A538-507B-F0DA7E8A2901}"/>
              </a:ext>
            </a:extLst>
          </p:cNvPr>
          <p:cNvSpPr txBox="1"/>
          <p:nvPr/>
        </p:nvSpPr>
        <p:spPr>
          <a:xfrm>
            <a:off x="457200" y="408090"/>
            <a:ext cx="5638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TaskInitializer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initializeTask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(String name)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Task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new Task(name);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executor = new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executor.executeTask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(task);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executeTask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(Task task)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task.execute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TaskManager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manageTask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(String name)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TaskInitializer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initializer = new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TaskInitializer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initializer.initializeTask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(name);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6A5F6-1CC5-5FA8-304B-52F4A12C9781}"/>
              </a:ext>
            </a:extLst>
          </p:cNvPr>
          <p:cNvSpPr txBox="1"/>
          <p:nvPr/>
        </p:nvSpPr>
        <p:spPr>
          <a:xfrm>
            <a:off x="3446932" y="5181601"/>
            <a:ext cx="54684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public class Main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static void main(String[]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args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TaskManager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manager = new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TaskManager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manager.manageTask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("Sample Task");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55C5B6-823D-A242-F353-2DE195A2357F}"/>
              </a:ext>
            </a:extLst>
          </p:cNvPr>
          <p:cNvSpPr txBox="1"/>
          <p:nvPr/>
        </p:nvSpPr>
        <p:spPr>
          <a:xfrm>
            <a:off x="5257800" y="1769329"/>
            <a:ext cx="4038600" cy="159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 kern="12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t>Poltergeist:</a:t>
            </a:r>
          </a:p>
          <a:p>
            <a:pPr marL="285744" indent="-285744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kern="12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t>only to perform a single action or pass data between other classes,</a:t>
            </a:r>
          </a:p>
          <a:p>
            <a:pPr marL="285744" indent="-285744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w</a:t>
            </a:r>
            <a:r>
              <a:rPr lang="en-US" kern="12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t>ithout maintaining any state or long-term responsibility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660081-6951-0695-66A9-40D3E7EB071D}"/>
              </a:ext>
            </a:extLst>
          </p:cNvPr>
          <p:cNvSpPr/>
          <p:nvPr/>
        </p:nvSpPr>
        <p:spPr bwMode="auto">
          <a:xfrm>
            <a:off x="5790079" y="17929"/>
            <a:ext cx="3371850" cy="12293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u="sng" dirty="0"/>
              <a:t>Activity</a:t>
            </a:r>
          </a:p>
          <a:p>
            <a:r>
              <a:rPr lang="en-US" dirty="0"/>
              <a:t>AuditLogger.log("Task process started"); before the task process begins.</a:t>
            </a:r>
            <a:endParaRPr kumimoji="0" lang="en-US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2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8FB1-B91C-A217-A186-DEC78267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6009B9-2A19-95A2-A31E-A5E5B22C4905}"/>
              </a:ext>
            </a:extLst>
          </p:cNvPr>
          <p:cNvSpPr txBox="1"/>
          <p:nvPr/>
        </p:nvSpPr>
        <p:spPr>
          <a:xfrm>
            <a:off x="457200" y="408089"/>
            <a:ext cx="5638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strike="sngStrike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TaskInitializer</a:t>
            </a:r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strike="sngStrike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initializeTask</a:t>
            </a:r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(String name) {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Task </a:t>
            </a:r>
            <a:r>
              <a:rPr lang="en-US" strike="sngStrike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</a:t>
            </a:r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new Task(name);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strike="sngStrike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executor = new </a:t>
            </a:r>
            <a:r>
              <a:rPr lang="en-US" strike="sngStrike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strike="sngStrike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executor.executeTask</a:t>
            </a:r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(task);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strike="sngStrike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strike="sngStrike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executeTask</a:t>
            </a:r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(Task task) {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strike="sngStrike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task.execute</a:t>
            </a:r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strike="sngStrike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TaskManager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manageTask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(String name)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Task task=new Task(name);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task.execute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23DC71-E0B6-8796-CC80-5BA00BFAF500}"/>
              </a:ext>
            </a:extLst>
          </p:cNvPr>
          <p:cNvSpPr txBox="1"/>
          <p:nvPr/>
        </p:nvSpPr>
        <p:spPr>
          <a:xfrm>
            <a:off x="3446932" y="5181601"/>
            <a:ext cx="54684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public class Main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static void main(String[]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args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TaskManager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manager = new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TaskManager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manager.manageTask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("Sample Task");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90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8C84C6-BAAE-E64F-D800-92C86DF2F563}"/>
              </a:ext>
            </a:extLst>
          </p:cNvPr>
          <p:cNvSpPr txBox="1"/>
          <p:nvPr/>
        </p:nvSpPr>
        <p:spPr>
          <a:xfrm>
            <a:off x="685800" y="533401"/>
            <a:ext cx="6705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   </a:t>
            </a: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//NOT a poltergeist anymore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private Queue&lt;Task&gt;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taskQueue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new LinkedList&lt;&gt;();</a:t>
            </a:r>
          </a:p>
          <a:p>
            <a:endParaRPr lang="en-US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addTask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(Task task)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taskQueue.add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(task);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endParaRPr lang="en-US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executeTasks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while (!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taskQueue.isEmpty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    Task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taskQueue.poll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task.execute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E1D66-92BD-5F74-5DBB-0D67C976933F}"/>
              </a:ext>
            </a:extLst>
          </p:cNvPr>
          <p:cNvSpPr txBox="1"/>
          <p:nvPr/>
        </p:nvSpPr>
        <p:spPr>
          <a:xfrm>
            <a:off x="3505200" y="5124273"/>
            <a:ext cx="5181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Wingdings" panose="05000000000000000000" pitchFamily="2" charset="2"/>
              <a:buChar char="q"/>
            </a:pPr>
            <a:r>
              <a:rPr lang="en-US" sz="2000" dirty="0"/>
              <a:t>maintains a queue of tasks and has methods to add and execute tasks. </a:t>
            </a: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US" sz="2000" dirty="0"/>
              <a:t> a long-lived object with clear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185351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BAC58-567E-29BE-DB0B-BAA6F0B2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A6B4F1-6550-6E74-2DD9-F12A6E1035A2}"/>
              </a:ext>
            </a:extLst>
          </p:cNvPr>
          <p:cNvSpPr txBox="1"/>
          <p:nvPr/>
        </p:nvSpPr>
        <p:spPr>
          <a:xfrm>
            <a:off x="685800" y="533401"/>
            <a:ext cx="6705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   </a:t>
            </a:r>
            <a:r>
              <a:rPr lang="en-US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//NOT a poltergeist anymore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private Queue&lt;Task&gt;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taskQueue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new LinkedList&lt;&gt;();</a:t>
            </a:r>
          </a:p>
          <a:p>
            <a:endParaRPr lang="en-US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addTask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(Task task)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taskQueue.add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(task);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endParaRPr lang="en-US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executeTasks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while (!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taskQueue.isEmpty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    Task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taskQueue.poll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task.execute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A8E91-F262-E13A-0D82-A5880D661E80}"/>
              </a:ext>
            </a:extLst>
          </p:cNvPr>
          <p:cNvSpPr txBox="1"/>
          <p:nvPr/>
        </p:nvSpPr>
        <p:spPr>
          <a:xfrm>
            <a:off x="3276600" y="3886201"/>
            <a:ext cx="6629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TaskManager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private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executor = new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TaskExecutor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manageTask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(String name)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Task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new Task(name);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executor.addTask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(task);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executeAllTasks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executor.executeTasks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9132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DF7E-4B5F-6A7C-CC96-8D74BA0FA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93316-7F51-15D9-10EF-C8BB76227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800" dirty="0"/>
              <a:t>When designers familiar with </a:t>
            </a:r>
            <a:r>
              <a:rPr lang="en-US" altLang="en-US" sz="2800" i="1" dirty="0"/>
              <a:t>process modeling</a:t>
            </a:r>
            <a:r>
              <a:rPr lang="en-US" altLang="en-US" sz="2800" dirty="0"/>
              <a:t> but new to define architectures</a:t>
            </a:r>
            <a:endParaRPr lang="en-US" sz="2800" dirty="0"/>
          </a:p>
          <a:p>
            <a:pPr>
              <a:spcBef>
                <a:spcPts val="1200"/>
              </a:spcBef>
            </a:pPr>
            <a:r>
              <a:rPr lang="en-US" sz="2800" b="1" dirty="0"/>
              <a:t>Poor object design: </a:t>
            </a:r>
            <a:r>
              <a:rPr lang="en-US" sz="2800" dirty="0"/>
              <a:t>Creating short-lived, stateless objects that only serve to invoke methods in other classes.</a:t>
            </a:r>
          </a:p>
          <a:p>
            <a:pPr>
              <a:spcBef>
                <a:spcPts val="1200"/>
              </a:spcBef>
            </a:pPr>
            <a:r>
              <a:rPr lang="en-US" sz="2800" b="1" dirty="0"/>
              <a:t>Over-engineering:</a:t>
            </a:r>
            <a:r>
              <a:rPr lang="en-US" sz="2800" dirty="0"/>
              <a:t> Anticipating future needs that may never materialize.</a:t>
            </a:r>
          </a:p>
          <a:p>
            <a:pPr>
              <a:spcBef>
                <a:spcPts val="1200"/>
              </a:spcBef>
            </a:pPr>
            <a:r>
              <a:rPr lang="en-US" sz="2800" b="1" dirty="0"/>
              <a:t>Misuse of design patterns:</a:t>
            </a:r>
            <a:r>
              <a:rPr lang="en-US" sz="2800" dirty="0"/>
              <a:t> Applying patterns like</a:t>
            </a:r>
            <a:r>
              <a:rPr lang="en-US" sz="2800" b="1" i="1" dirty="0"/>
              <a:t> Command</a:t>
            </a:r>
            <a:r>
              <a:rPr lang="en-US" sz="2800" dirty="0"/>
              <a:t> or </a:t>
            </a:r>
            <a:r>
              <a:rPr lang="en-US" sz="2800" b="1" i="1" dirty="0"/>
              <a:t>Factory</a:t>
            </a:r>
            <a:r>
              <a:rPr lang="en-US" sz="2800" dirty="0"/>
              <a:t> without a real need.</a:t>
            </a:r>
          </a:p>
        </p:txBody>
      </p:sp>
    </p:spTree>
    <p:extLst>
      <p:ext uri="{BB962C8B-B14F-4D97-AF65-F5344CB8AC3E}">
        <p14:creationId xmlns:p14="http://schemas.microsoft.com/office/powerpoint/2010/main" val="20892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49BC-123C-7922-CAFF-A50A7146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6A871-9C89-5C54-F7F6-4B04D78C9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Proxy vs poltergeist?</a:t>
            </a:r>
          </a:p>
          <a:p>
            <a:pPr lvl="1"/>
            <a:r>
              <a:rPr lang="en-US" dirty="0"/>
              <a:t>Is there an added value?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Façade vs poltergeist?</a:t>
            </a:r>
          </a:p>
          <a:p>
            <a:pPr lvl="1"/>
            <a:r>
              <a:rPr lang="en-US" dirty="0"/>
              <a:t>What is the added value?</a:t>
            </a:r>
          </a:p>
        </p:txBody>
      </p:sp>
    </p:spTree>
    <p:extLst>
      <p:ext uri="{BB962C8B-B14F-4D97-AF65-F5344CB8AC3E}">
        <p14:creationId xmlns:p14="http://schemas.microsoft.com/office/powerpoint/2010/main" val="1890825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82A1F-6CF9-4A97-BED1-19FE2B8F2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762000"/>
            <a:ext cx="3657600" cy="2451624"/>
          </a:xfrm>
          <a:prstGeom prst="rect">
            <a:avLst/>
          </a:prstGeom>
        </p:spPr>
      </p:pic>
      <p:sp>
        <p:nvSpPr>
          <p:cNvPr id="51202" name="Rectangle 2">
            <a:extLst>
              <a:ext uri="{FF2B5EF4-FFF2-40B4-BE49-F238E27FC236}">
                <a16:creationId xmlns:a16="http://schemas.microsoft.com/office/drawing/2014/main" id="{DB61AD32-9A02-900E-B91C-D32AA3B80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Poltergeist: Symptoms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DABF2C2-C52C-EBBE-5A12-CD4572934E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Redundant navigation paths.</a:t>
            </a:r>
          </a:p>
          <a:p>
            <a:pPr>
              <a:defRPr/>
            </a:pPr>
            <a:r>
              <a:rPr lang="en-US" altLang="tr-TR" sz="2800" dirty="0"/>
              <a:t>Spurious classes &amp; associations</a:t>
            </a:r>
          </a:p>
          <a:p>
            <a:pPr lvl="1">
              <a:defRPr/>
            </a:pPr>
            <a:r>
              <a:rPr lang="en-US" sz="2400" dirty="0"/>
              <a:t>Transient associations.</a:t>
            </a:r>
          </a:p>
          <a:p>
            <a:pPr lvl="1">
              <a:defRPr/>
            </a:pPr>
            <a:r>
              <a:rPr lang="en-US" sz="2400" dirty="0"/>
              <a:t>Stateless classes.</a:t>
            </a:r>
          </a:p>
          <a:p>
            <a:pPr>
              <a:defRPr/>
            </a:pPr>
            <a:r>
              <a:rPr lang="en-US" sz="2800" dirty="0"/>
              <a:t>Temporary, short-duration objects and classes.</a:t>
            </a:r>
          </a:p>
          <a:p>
            <a:pPr>
              <a:defRPr/>
            </a:pPr>
            <a:r>
              <a:rPr lang="en-US" altLang="tr-TR" sz="2800" dirty="0"/>
              <a:t>Classes with few responsibilities</a:t>
            </a:r>
            <a:endParaRPr lang="en-US" sz="2800" dirty="0"/>
          </a:p>
          <a:p>
            <a:pPr lvl="1">
              <a:defRPr/>
            </a:pPr>
            <a:r>
              <a:rPr lang="en-US" sz="2400" dirty="0"/>
              <a:t>Single-operation classes that exist only to "seed" or "invoke" other classes through temporary associations.</a:t>
            </a:r>
          </a:p>
          <a:p>
            <a:pPr>
              <a:defRPr/>
            </a:pPr>
            <a:r>
              <a:rPr lang="en-US" sz="2800" dirty="0"/>
              <a:t>Classes with "control-like" operation names such as </a:t>
            </a:r>
            <a:r>
              <a:rPr lang="en-US" sz="2800" dirty="0" err="1"/>
              <a:t>start_process_alpha</a:t>
            </a:r>
            <a:r>
              <a:rPr lang="en-US" sz="2800" dirty="0"/>
              <a:t>.</a:t>
            </a:r>
          </a:p>
          <a:p>
            <a:pPr lvl="2" eaLnBrk="1" hangingPunct="1">
              <a:lnSpc>
                <a:spcPct val="90000"/>
              </a:lnSpc>
              <a:defRPr/>
            </a:pPr>
            <a:endParaRPr lang="en-US" altLang="tr-TR" sz="1600" dirty="0"/>
          </a:p>
        </p:txBody>
      </p:sp>
    </p:spTree>
    <p:extLst>
      <p:ext uri="{BB962C8B-B14F-4D97-AF65-F5344CB8AC3E}">
        <p14:creationId xmlns:p14="http://schemas.microsoft.com/office/powerpoint/2010/main" val="3325287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F75E0D1-8DD0-F44E-71F3-64096D9FF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r-TR"/>
              <a:t>Poltergeist: Consequences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DBD23B4-6930-88BA-3DD0-986C2CA835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Poltergeists clutter software designs, creating unnecessary abstractions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Increases complexity and maintenance costs.</a:t>
            </a:r>
          </a:p>
          <a:p>
            <a:pPr lvl="1">
              <a:lnSpc>
                <a:spcPct val="110000"/>
              </a:lnSpc>
            </a:pPr>
            <a:r>
              <a:rPr lang="en-US" altLang="tr-TR" sz="2000" dirty="0"/>
              <a:t>Excessive complexity,</a:t>
            </a:r>
            <a:r>
              <a:rPr lang="en-US" altLang="en-US" sz="2000" dirty="0"/>
              <a:t> hard to understand, and hard to maintain.</a:t>
            </a:r>
            <a:endParaRPr lang="en-US" altLang="tr-TR" sz="2000" dirty="0"/>
          </a:p>
          <a:p>
            <a:pPr>
              <a:lnSpc>
                <a:spcPct val="110000"/>
              </a:lnSpc>
            </a:pPr>
            <a:r>
              <a:rPr lang="en-US" sz="2400" dirty="0"/>
              <a:t>Makes the system harder to understand and debug.</a:t>
            </a:r>
            <a:endParaRPr lang="en-US" alt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Wastes resources and impacts performance.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They are unnecessary, so they waste resources every time they "appear."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inefficient because they utilize several redundant navigation paths.</a:t>
            </a:r>
          </a:p>
          <a:p>
            <a:pPr eaLnBrk="1" hangingPunct="1">
              <a:lnSpc>
                <a:spcPct val="110000"/>
              </a:lnSpc>
            </a:pPr>
            <a:endParaRPr lang="en-US" altLang="tr-TR" sz="2400" dirty="0"/>
          </a:p>
        </p:txBody>
      </p:sp>
    </p:spTree>
    <p:extLst>
      <p:ext uri="{BB962C8B-B14F-4D97-AF65-F5344CB8AC3E}">
        <p14:creationId xmlns:p14="http://schemas.microsoft.com/office/powerpoint/2010/main" val="2639906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5BD7177-2D3C-3668-46BA-EFF00DC30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Poltergeist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6D68B122-49FC-18A1-9AE3-94C62FC28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2"/>
            <a:ext cx="8534400" cy="4754563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endParaRPr lang="en-US" altLang="tr-TR" sz="2400" dirty="0"/>
          </a:p>
          <a:p>
            <a:pPr>
              <a:lnSpc>
                <a:spcPct val="90000"/>
              </a:lnSpc>
            </a:pPr>
            <a:r>
              <a:rPr lang="en-US" altLang="tr-TR" sz="2800" dirty="0"/>
              <a:t>Poltergeists add no significant value 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r>
              <a:rPr lang="en-US" altLang="tr-TR" sz="2000" dirty="0"/>
              <a:t>perform initialization and not used anymore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only perform a single action or pass data between other objects without maintaining any state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no long-term responsibility</a:t>
            </a:r>
          </a:p>
          <a:p>
            <a:pPr lvl="1">
              <a:lnSpc>
                <a:spcPct val="90000"/>
              </a:lnSpc>
            </a:pPr>
            <a:r>
              <a:rPr lang="en-US" altLang="tr-TR" sz="2000" dirty="0"/>
              <a:t>invoke other objects through temporary associations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14432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8C3D75D-A25D-2CB0-1052-348973E3E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Refactoring Poltergeist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2D1F214-93F3-1905-C4E9-B34D6D7589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tr-TR" dirty="0"/>
              <a:t>Delete them</a:t>
            </a:r>
          </a:p>
          <a:p>
            <a:pPr marL="514338" indent="-514338">
              <a:buFont typeface="+mj-lt"/>
              <a:buAutoNum type="arabicPeriod"/>
              <a:defRPr/>
            </a:pPr>
            <a:r>
              <a:rPr lang="en-US" altLang="tr-TR" dirty="0"/>
              <a:t>Refactor classes with short  lifecycles and no responsibilities</a:t>
            </a:r>
          </a:p>
          <a:p>
            <a:pPr lvl="1" eaLnBrk="1" hangingPunct="1">
              <a:defRPr/>
            </a:pPr>
            <a:r>
              <a:rPr lang="en-US" altLang="tr-TR" dirty="0"/>
              <a:t>Move them into collaborating classes</a:t>
            </a:r>
          </a:p>
          <a:p>
            <a:pPr lvl="1" eaLnBrk="1" hangingPunct="1">
              <a:defRPr/>
            </a:pPr>
            <a:r>
              <a:rPr lang="en-US" altLang="tr-TR" dirty="0"/>
              <a:t>Regroup to form a cohesive class</a:t>
            </a:r>
          </a:p>
          <a:p>
            <a:pPr lvl="1" eaLnBrk="1" hangingPunct="1">
              <a:defRPr/>
            </a:pPr>
            <a:endParaRPr lang="en-US" altLang="tr-TR" dirty="0"/>
          </a:p>
          <a:p>
            <a:pPr marL="514338" indent="-514338">
              <a:buFont typeface="+mj-lt"/>
              <a:buAutoNum type="arabicPeriod"/>
              <a:defRPr/>
            </a:pPr>
            <a:r>
              <a:rPr lang="en-US" altLang="tr-TR" dirty="0"/>
              <a:t>Delete the poltergeist and insert its functionality in the invoked class</a:t>
            </a:r>
          </a:p>
        </p:txBody>
      </p:sp>
    </p:spTree>
    <p:extLst>
      <p:ext uri="{BB962C8B-B14F-4D97-AF65-F5344CB8AC3E}">
        <p14:creationId xmlns:p14="http://schemas.microsoft.com/office/powerpoint/2010/main" val="3631798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F0A0-FE46-5C74-0E08-B954B1B6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avoid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2C5E0-6D56-30D6-4EDB-72AB6D677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47803"/>
            <a:ext cx="8305800" cy="4532109"/>
          </a:xfrm>
        </p:spPr>
        <p:txBody>
          <a:bodyPr/>
          <a:lstStyle/>
          <a:p>
            <a:r>
              <a:rPr lang="en-US" dirty="0"/>
              <a:t>YAGNI Principle:</a:t>
            </a:r>
          </a:p>
          <a:p>
            <a:pPr marL="0" indent="0" algn="ctr">
              <a:buNone/>
            </a:pPr>
            <a:r>
              <a:rPr lang="en-US" dirty="0"/>
              <a:t> "You Aren't </a:t>
            </a:r>
            <a:r>
              <a:rPr lang="en-US" dirty="0" err="1"/>
              <a:t>Gonna</a:t>
            </a:r>
            <a:r>
              <a:rPr lang="en-US" dirty="0"/>
              <a:t> Need It" </a:t>
            </a:r>
          </a:p>
          <a:p>
            <a:pPr lvl="1"/>
            <a:r>
              <a:rPr lang="en-US" dirty="0"/>
              <a:t> don't add complexity for hypothetical future requirements.</a:t>
            </a:r>
          </a:p>
          <a:p>
            <a:pPr lvl="1"/>
            <a:endParaRPr lang="en-US" dirty="0"/>
          </a:p>
          <a:p>
            <a:r>
              <a:rPr lang="en-US" dirty="0"/>
              <a:t>Identify and refactor poltergeist objects early 	</a:t>
            </a:r>
          </a:p>
          <a:p>
            <a:pPr lvl="1"/>
            <a:r>
              <a:rPr lang="en-US" dirty="0"/>
              <a:t>regular code reviews or refactor often</a:t>
            </a:r>
          </a:p>
        </p:txBody>
      </p:sp>
    </p:spTree>
    <p:extLst>
      <p:ext uri="{BB962C8B-B14F-4D97-AF65-F5344CB8AC3E}">
        <p14:creationId xmlns:p14="http://schemas.microsoft.com/office/powerpoint/2010/main" val="2261540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985D6-7811-1FE3-AA55-C81A407C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86DAF-52E9-B5D7-C376-9894FB8AB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9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FA28D1B-1DAA-A88A-6F6C-0DE1ED54F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2) Lava flow </a:t>
            </a:r>
          </a:p>
        </p:txBody>
      </p:sp>
      <p:pic>
        <p:nvPicPr>
          <p:cNvPr id="30723" name="Picture 5" descr="Fig3.gif (30043 bytes)">
            <a:extLst>
              <a:ext uri="{FF2B5EF4-FFF2-40B4-BE49-F238E27FC236}">
                <a16:creationId xmlns:a16="http://schemas.microsoft.com/office/drawing/2014/main" id="{D04B178E-89BC-8E27-6E0E-D3A573ABC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1"/>
            <a:ext cx="8839200" cy="513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AD362E-FD5C-0A71-D36E-67EBF90F7890}"/>
              </a:ext>
            </a:extLst>
          </p:cNvPr>
          <p:cNvSpPr txBox="1"/>
          <p:nvPr/>
        </p:nvSpPr>
        <p:spPr>
          <a:xfrm>
            <a:off x="3047462" y="6395523"/>
            <a:ext cx="609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tr-TR" dirty="0"/>
              <a:t>Painful to cure: not easy to throw away unnecessary parts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86265B-29E5-A3E6-E2F4-4958D9BD67C0}"/>
              </a:ext>
            </a:extLst>
          </p:cNvPr>
          <p:cNvSpPr/>
          <p:nvPr/>
        </p:nvSpPr>
        <p:spPr bwMode="auto">
          <a:xfrm>
            <a:off x="5996940" y="93145"/>
            <a:ext cx="2689860" cy="126313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What do you do when you see this? </a:t>
            </a:r>
          </a:p>
          <a:p>
            <a:r>
              <a:rPr lang="en-US" dirty="0"/>
              <a:t>What are your </a:t>
            </a:r>
            <a:r>
              <a:rPr lang="en-US" i="1" dirty="0"/>
              <a:t>real</a:t>
            </a:r>
            <a:r>
              <a:rPr lang="en-US" dirty="0"/>
              <a:t> options?</a:t>
            </a:r>
          </a:p>
        </p:txBody>
      </p:sp>
    </p:spTree>
    <p:extLst>
      <p:ext uri="{BB962C8B-B14F-4D97-AF65-F5344CB8AC3E}">
        <p14:creationId xmlns:p14="http://schemas.microsoft.com/office/powerpoint/2010/main" val="1611065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EE65F07-2321-03E3-4652-D24547BD5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Lava flow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E0E53B2-0C01-206B-4A0F-F64F716054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371603"/>
            <a:ext cx="8763000" cy="45321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b="1" dirty="0"/>
              <a:t>Lava Flow</a:t>
            </a:r>
            <a:r>
              <a:rPr lang="en-US" sz="2800" dirty="0"/>
              <a:t> antipattern: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/>
              <a:t> Dead code that is too scary to remove</a:t>
            </a:r>
            <a:endParaRPr lang="en-US" altLang="tr-TR" dirty="0"/>
          </a:p>
          <a:p>
            <a:endParaRPr lang="en-US" altLang="tr-TR" sz="1600" dirty="0"/>
          </a:p>
          <a:p>
            <a:r>
              <a:rPr lang="en-US" altLang="tr-TR" sz="2400" dirty="0"/>
              <a:t>Dead code or forgotten design information are frozen in an ever-changing design.</a:t>
            </a:r>
          </a:p>
          <a:p>
            <a:pPr lvl="1"/>
            <a:r>
              <a:rPr lang="en-US" sz="2000" dirty="0"/>
              <a:t>e.g. Legacy code no one dares to touch</a:t>
            </a:r>
          </a:p>
          <a:p>
            <a:pPr lvl="1"/>
            <a:r>
              <a:rPr lang="en-US" sz="2000" dirty="0"/>
              <a:t>e.g. Quick fixes that became permanent</a:t>
            </a:r>
          </a:p>
          <a:p>
            <a:r>
              <a:rPr lang="en-US" altLang="tr-TR" sz="2400" dirty="0"/>
              <a:t>Code becomes expensive to analyze, verify and test.</a:t>
            </a:r>
            <a:endParaRPr lang="en-US" sz="2400" dirty="0"/>
          </a:p>
          <a:p>
            <a:r>
              <a:rPr lang="en-US" sz="2400" b="1" dirty="0"/>
              <a:t>Common Causes:</a:t>
            </a:r>
            <a:endParaRPr lang="en-US" sz="2400" dirty="0"/>
          </a:p>
          <a:p>
            <a:pPr lvl="1"/>
            <a:r>
              <a:rPr lang="en-US" sz="2000" dirty="0"/>
              <a:t>R&amp;D code or "abandoned experiments" left in production.</a:t>
            </a:r>
          </a:p>
          <a:p>
            <a:pPr lvl="1"/>
            <a:r>
              <a:rPr lang="en-US" sz="2000" dirty="0"/>
              <a:t>Lack of code reviews.</a:t>
            </a:r>
          </a:p>
          <a:p>
            <a:pPr lvl="1"/>
            <a:r>
              <a:rPr lang="en-US" sz="2000" dirty="0"/>
              <a:t>Lack of version control </a:t>
            </a:r>
          </a:p>
          <a:p>
            <a:pPr lvl="1"/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altLang="tr-TR" sz="2800" dirty="0"/>
          </a:p>
        </p:txBody>
      </p:sp>
    </p:spTree>
    <p:extLst>
      <p:ext uri="{BB962C8B-B14F-4D97-AF65-F5344CB8AC3E}">
        <p14:creationId xmlns:p14="http://schemas.microsoft.com/office/powerpoint/2010/main" val="2450443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58645-1A8B-043E-DDF3-8E1654D7B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8B46195-B556-E7DD-0E57-CDA71C8A7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Lava flow: Symptoms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290E5D9-BB82-B513-4044-DA2337918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tr-TR" sz="2400" dirty="0"/>
              <a:t>Frequent unjustifiable variables and code fragments </a:t>
            </a:r>
          </a:p>
          <a:p>
            <a:pPr>
              <a:spcBef>
                <a:spcPts val="1200"/>
              </a:spcBef>
            </a:pPr>
            <a:r>
              <a:rPr lang="en-US" altLang="tr-TR" sz="2400" b="1" dirty="0"/>
              <a:t>Code that seem important</a:t>
            </a:r>
            <a:r>
              <a:rPr lang="en-US" altLang="tr-TR" sz="2400" dirty="0"/>
              <a:t>, but no one can really explain what they do or why they exist</a:t>
            </a:r>
          </a:p>
          <a:p>
            <a:pPr>
              <a:spcBef>
                <a:spcPts val="1200"/>
              </a:spcBef>
            </a:pPr>
            <a:r>
              <a:rPr lang="en-US" altLang="tr-TR" sz="2400" dirty="0"/>
              <a:t>Undocumented complex, important-looking classes or segments which don’t clearly relate to the architecture. </a:t>
            </a:r>
          </a:p>
          <a:p>
            <a:pPr>
              <a:spcBef>
                <a:spcPts val="1200"/>
              </a:spcBef>
            </a:pPr>
            <a:r>
              <a:rPr lang="en-US" altLang="tr-TR" sz="2400" b="1" dirty="0"/>
              <a:t>Whole blocks of commented-out code</a:t>
            </a:r>
            <a:r>
              <a:rPr lang="en-US" altLang="tr-TR" sz="2400" dirty="0"/>
              <a:t> with no explanation or documentation 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famous comment: </a:t>
            </a:r>
          </a:p>
          <a:p>
            <a:pPr marL="457189" lvl="1" indent="0"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"// Don't delete this, not sure why it's here but it breaks things."</a:t>
            </a:r>
            <a:endParaRPr lang="en-US" altLang="tr-TR" sz="2000" dirty="0"/>
          </a:p>
          <a:p>
            <a:pPr>
              <a:spcBef>
                <a:spcPts val="1200"/>
              </a:spcBef>
            </a:pPr>
            <a:r>
              <a:rPr lang="en-US" altLang="tr-TR" sz="2400" dirty="0"/>
              <a:t>Unused (dead) code, just left in. Unused, inexplicable or obsolete interfaces </a:t>
            </a:r>
          </a:p>
        </p:txBody>
      </p:sp>
      <p:sp>
        <p:nvSpPr>
          <p:cNvPr id="2" name="Action Button: Go Forward or Next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5C034E7-14BE-28E9-17CD-B385941C671F}"/>
              </a:ext>
            </a:extLst>
          </p:cNvPr>
          <p:cNvSpPr/>
          <p:nvPr/>
        </p:nvSpPr>
        <p:spPr bwMode="auto">
          <a:xfrm>
            <a:off x="7796784" y="394495"/>
            <a:ext cx="1194816" cy="559799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139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57FC3182-A92E-CAA0-9579-E2F0B3E2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Typical causes</a:t>
            </a:r>
            <a:endParaRPr lang="tr-TR" altLang="en-US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A1D70B79-43C0-B8C3-E371-A4094EA89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3"/>
            <a:ext cx="8382000" cy="5141709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R&amp;D code placed into production without thought toward configuration management.</a:t>
            </a:r>
          </a:p>
          <a:p>
            <a:r>
              <a:rPr lang="en-US" altLang="en-US" sz="2400" dirty="0"/>
              <a:t>Uncontrolled distribution of unfinished code. Implementation of several trial approaches toward implementing some functionality.</a:t>
            </a:r>
          </a:p>
          <a:p>
            <a:r>
              <a:rPr lang="en-US" altLang="en-US" sz="2400" dirty="0"/>
              <a:t>Lack of versioning system, configuration management or compliance with process management policies.</a:t>
            </a:r>
            <a:endParaRPr lang="en-US" altLang="en-US" sz="2000" dirty="0"/>
          </a:p>
          <a:p>
            <a:r>
              <a:rPr lang="en-US" altLang="en-US" sz="2400" dirty="0"/>
              <a:t>Lack of architecture, or non-architecture-driven development.</a:t>
            </a:r>
          </a:p>
          <a:p>
            <a:r>
              <a:rPr lang="en-US" altLang="en-US" sz="2400" dirty="0"/>
              <a:t>Architectural scars. </a:t>
            </a:r>
          </a:p>
          <a:p>
            <a:pPr lvl="1"/>
            <a:r>
              <a:rPr lang="en-US" altLang="en-US" sz="1800" dirty="0"/>
              <a:t>Some architectural commitments are found not to work later in the development. The system architecture may be reconfigured, but these inline mistakes are seldom removed. </a:t>
            </a:r>
          </a:p>
          <a:p>
            <a:pPr lvl="1"/>
            <a:r>
              <a:rPr lang="en-US" altLang="en-US" sz="1800" dirty="0"/>
              <a:t>especially hard in a development environments with hundreds of source code individual files </a:t>
            </a:r>
          </a:p>
        </p:txBody>
      </p:sp>
    </p:spTree>
    <p:extLst>
      <p:ext uri="{BB962C8B-B14F-4D97-AF65-F5344CB8AC3E}">
        <p14:creationId xmlns:p14="http://schemas.microsoft.com/office/powerpoint/2010/main" val="611595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B7D22-83A7-5024-2FC0-3C6F0D1C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0C5AD2F-3813-6FB1-85D3-018374AFC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Lava Flow – Consequences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1A433A1B-2F1F-D921-10F7-EB8A8CFE77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1"/>
            <a:ext cx="8610600" cy="5128260"/>
          </a:xfrm>
        </p:spPr>
        <p:txBody>
          <a:bodyPr/>
          <a:lstStyle/>
          <a:p>
            <a:r>
              <a:rPr lang="en-US" sz="2400" dirty="0">
                <a:solidFill>
                  <a:srgbClr val="242424"/>
                </a:solidFill>
                <a:latin typeface="+mj-lt"/>
              </a:rPr>
              <a:t>Increased maintenance costs</a:t>
            </a:r>
          </a:p>
          <a:p>
            <a:r>
              <a:rPr lang="en-US" sz="2400" dirty="0">
                <a:solidFill>
                  <a:srgbClr val="242424"/>
                </a:solidFill>
                <a:latin typeface="+mj-lt"/>
              </a:rPr>
              <a:t>Higher risk of bugs and errors</a:t>
            </a:r>
          </a:p>
          <a:p>
            <a:pPr>
              <a:lnSpc>
                <a:spcPct val="110000"/>
              </a:lnSpc>
            </a:pPr>
            <a:r>
              <a:rPr lang="en-US" altLang="tr-TR" sz="2400" dirty="0">
                <a:latin typeface="+mj-lt"/>
              </a:rPr>
              <a:t>Expensive to analyze, verify and test.</a:t>
            </a:r>
          </a:p>
          <a:p>
            <a:pPr>
              <a:lnSpc>
                <a:spcPct val="110000"/>
              </a:lnSpc>
            </a:pPr>
            <a:r>
              <a:rPr lang="en-US" altLang="tr-TR" sz="2400" dirty="0">
                <a:latin typeface="+mj-lt"/>
              </a:rPr>
              <a:t>Consumes memory and resources, impacting performance.</a:t>
            </a:r>
          </a:p>
          <a:p>
            <a:pPr>
              <a:lnSpc>
                <a:spcPct val="110000"/>
              </a:lnSpc>
            </a:pPr>
            <a:r>
              <a:rPr lang="en-US" altLang="tr-TR" sz="2400" dirty="0">
                <a:latin typeface="+mj-lt"/>
              </a:rPr>
              <a:t>Proliferates </a:t>
            </a:r>
            <a:r>
              <a:rPr lang="en-US" altLang="tr-TR" sz="2400" b="1" dirty="0">
                <a:latin typeface="+mj-lt"/>
              </a:rPr>
              <a:t>if not removed</a:t>
            </a:r>
            <a:r>
              <a:rPr lang="en-US" altLang="tr-TR" sz="2400" dirty="0">
                <a:latin typeface="+mj-lt"/>
              </a:rPr>
              <a:t>, as code is reused.</a:t>
            </a:r>
          </a:p>
          <a:p>
            <a:pPr>
              <a:lnSpc>
                <a:spcPct val="110000"/>
              </a:lnSpc>
            </a:pPr>
            <a:r>
              <a:rPr lang="en-US" altLang="tr-TR" sz="2400" dirty="0">
                <a:latin typeface="+mj-lt"/>
              </a:rPr>
              <a:t>If processes causing to lava flow is not checked, it will lead to geometric growth of issues.</a:t>
            </a:r>
          </a:p>
          <a:p>
            <a:pPr lvl="1">
              <a:lnSpc>
                <a:spcPct val="110000"/>
              </a:lnSpc>
            </a:pPr>
            <a:r>
              <a:rPr lang="en-US" altLang="tr-TR" sz="2000" dirty="0">
                <a:latin typeface="+mj-lt"/>
              </a:rPr>
              <a:t>produce new, secondary flows as they try to "work around the original ones. </a:t>
            </a:r>
          </a:p>
          <a:p>
            <a:pPr>
              <a:lnSpc>
                <a:spcPct val="110000"/>
              </a:lnSpc>
            </a:pPr>
            <a:r>
              <a:rPr lang="en-US" altLang="tr-TR" sz="2400" dirty="0">
                <a:latin typeface="+mj-lt"/>
              </a:rPr>
              <a:t>As the flow hardens, understanding the architecture to  make documentation and improvements becomes impossible.</a:t>
            </a:r>
          </a:p>
        </p:txBody>
      </p:sp>
    </p:spTree>
    <p:extLst>
      <p:ext uri="{BB962C8B-B14F-4D97-AF65-F5344CB8AC3E}">
        <p14:creationId xmlns:p14="http://schemas.microsoft.com/office/powerpoint/2010/main" val="256983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1225-3B0B-53D3-9ACD-A1EC1B2AC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Cure: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EBEA5-EAD0-B2EA-AFF4-7752FDBC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3"/>
            <a:ext cx="8458200" cy="4532109"/>
          </a:xfrm>
        </p:spPr>
        <p:txBody>
          <a:bodyPr/>
          <a:lstStyle/>
          <a:p>
            <a:r>
              <a:rPr lang="en-US" sz="2800" dirty="0"/>
              <a:t>Use versioning and analysis tools.</a:t>
            </a:r>
          </a:p>
          <a:p>
            <a:pPr lvl="1"/>
            <a:r>
              <a:rPr lang="en-US" sz="2400" dirty="0"/>
              <a:t>Version control: git blame will tell who wrote it when</a:t>
            </a:r>
          </a:p>
          <a:p>
            <a:pPr lvl="1"/>
            <a:r>
              <a:rPr lang="en-US" sz="2400" dirty="0"/>
              <a:t>Static analysis to tell if anything still calls this class.</a:t>
            </a:r>
          </a:p>
          <a:p>
            <a:r>
              <a:rPr lang="en-US" sz="2800" b="1" dirty="0"/>
              <a:t>Code reviews</a:t>
            </a:r>
            <a:r>
              <a:rPr lang="en-US" sz="2800" dirty="0"/>
              <a:t>. </a:t>
            </a:r>
          </a:p>
          <a:p>
            <a:pPr lvl="1"/>
            <a:r>
              <a:rPr lang="en-US" sz="2400" dirty="0"/>
              <a:t> stops new Lava Flow from forming.</a:t>
            </a:r>
          </a:p>
          <a:p>
            <a:r>
              <a:rPr lang="en-US" sz="2800" b="1" dirty="0">
                <a:solidFill>
                  <a:srgbClr val="2424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 Refactoring</a:t>
            </a:r>
            <a:r>
              <a:rPr lang="en-US" sz="2800" dirty="0">
                <a:solidFill>
                  <a:srgbClr val="2424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Continuously clean up and refactor code to remove obsolete or unused parts.</a:t>
            </a:r>
          </a:p>
          <a:p>
            <a:r>
              <a:rPr lang="en-US" sz="2800" dirty="0"/>
              <a:t>Left uncured, leads to </a:t>
            </a:r>
            <a:r>
              <a:rPr lang="en-US" sz="2800" b="1" dirty="0"/>
              <a:t>"Boat Anchor "</a:t>
            </a:r>
            <a:r>
              <a:rPr lang="en-US" sz="2800" dirty="0"/>
              <a:t> antipattern</a:t>
            </a:r>
          </a:p>
          <a:p>
            <a:pPr lvl="1"/>
            <a:r>
              <a:rPr lang="en-US" sz="2400" dirty="0"/>
              <a:t>a piece of code that does nothing but hold the project down. </a:t>
            </a:r>
          </a:p>
          <a:p>
            <a:pPr lvl="1"/>
            <a:r>
              <a:rPr lang="en-US" sz="2400" dirty="0"/>
              <a:t>The same cure: </a:t>
            </a:r>
            <a:r>
              <a:rPr lang="en-US" sz="2400" i="1" dirty="0"/>
              <a:t>Have the courage to delete dead code.</a:t>
            </a:r>
          </a:p>
        </p:txBody>
      </p:sp>
    </p:spTree>
    <p:extLst>
      <p:ext uri="{BB962C8B-B14F-4D97-AF65-F5344CB8AC3E}">
        <p14:creationId xmlns:p14="http://schemas.microsoft.com/office/powerpoint/2010/main" val="585395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2">
            <a:extLst>
              <a:ext uri="{FF2B5EF4-FFF2-40B4-BE49-F238E27FC236}">
                <a16:creationId xmlns:a16="http://schemas.microsoft.com/office/drawing/2014/main" id="{6EDF930D-6EDF-9D4A-A77B-9EE9B9CC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Anectodes…</a:t>
            </a:r>
            <a:endParaRPr lang="tr-TR" altLang="en-US"/>
          </a:p>
        </p:txBody>
      </p:sp>
      <p:sp>
        <p:nvSpPr>
          <p:cNvPr id="37891" name="Content Placeholder 3">
            <a:extLst>
              <a:ext uri="{FF2B5EF4-FFF2-40B4-BE49-F238E27FC236}">
                <a16:creationId xmlns:a16="http://schemas.microsoft.com/office/drawing/2014/main" id="{CC212482-9FDE-9EAD-35A1-0439DABA3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"Ugh! What a mess!"</a:t>
            </a:r>
          </a:p>
          <a:p>
            <a:r>
              <a:rPr lang="en-US" altLang="en-US" sz="2800"/>
              <a:t>"You </a:t>
            </a:r>
            <a:r>
              <a:rPr lang="en-US" altLang="en-US" sz="2800" i="1"/>
              <a:t>do</a:t>
            </a:r>
            <a:r>
              <a:rPr lang="en-US" altLang="en-US" sz="2800"/>
              <a:t> realize that the language supports more than one function, right?"</a:t>
            </a:r>
          </a:p>
          <a:p>
            <a:r>
              <a:rPr lang="en-US" altLang="en-US" sz="2800"/>
              <a:t>"It's easier to rewrite this code than to attempt to modify it."</a:t>
            </a:r>
          </a:p>
          <a:p>
            <a:r>
              <a:rPr lang="en-US" altLang="en-US" sz="2800"/>
              <a:t>"Software engineers don't write spaghetti code."</a:t>
            </a:r>
          </a:p>
          <a:p>
            <a:r>
              <a:rPr lang="en-US" altLang="en-US" sz="2800"/>
              <a:t>"The quality of your software structure is an investment for future modification and extension.</a:t>
            </a:r>
          </a:p>
        </p:txBody>
      </p:sp>
    </p:spTree>
    <p:extLst>
      <p:ext uri="{BB962C8B-B14F-4D97-AF65-F5344CB8AC3E}">
        <p14:creationId xmlns:p14="http://schemas.microsoft.com/office/powerpoint/2010/main" val="749623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E0B5E742-F8C9-E44A-7625-24079D1B3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3) Spaghetti design</a:t>
            </a:r>
          </a:p>
        </p:txBody>
      </p:sp>
      <p:pic>
        <p:nvPicPr>
          <p:cNvPr id="36867" name="Picture 6" descr="spaghetti">
            <a:extLst>
              <a:ext uri="{FF2B5EF4-FFF2-40B4-BE49-F238E27FC236}">
                <a16:creationId xmlns:a16="http://schemas.microsoft.com/office/drawing/2014/main" id="{ABB8F448-133D-2829-1FC3-22B8F6CEE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2"/>
            <a:ext cx="7848600" cy="239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8A6476BB-B13D-D24D-A5CA-74E747B7CDA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35293"/>
            <a:ext cx="8610600" cy="87450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tr-TR" sz="2800" kern="0" dirty="0"/>
              <a:t>Unstructured code or design that is hard to maintain</a:t>
            </a:r>
            <a:endParaRPr lang="en-US" altLang="tr-TR" sz="2400" kern="0" dirty="0"/>
          </a:p>
        </p:txBody>
      </p:sp>
    </p:spTree>
    <p:extLst>
      <p:ext uri="{BB962C8B-B14F-4D97-AF65-F5344CB8AC3E}">
        <p14:creationId xmlns:p14="http://schemas.microsoft.com/office/powerpoint/2010/main" val="1284877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BA79-E509-2CD2-5E48-2B616245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 spaghetti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3F791-384B-FEA8-0317-AEE9EB8EB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72210"/>
            <a:ext cx="5029200" cy="4823790"/>
          </a:xfrm>
        </p:spPr>
        <p:txBody>
          <a:bodyPr/>
          <a:lstStyle/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double </a:t>
            </a:r>
            <a:r>
              <a:rPr lang="en-US" sz="1800" dirty="0" err="1">
                <a:solidFill>
                  <a:srgbClr val="333333"/>
                </a:solidFill>
                <a:latin typeface="DM Sans" pitchFamily="2" charset="0"/>
              </a:rPr>
              <a:t>calculateInterestRate</a:t>
            </a: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(){ 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if(maturity==0){  //new customer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   double capital= </a:t>
            </a:r>
            <a:r>
              <a:rPr lang="en-US" sz="1800" dirty="0" err="1">
                <a:solidFill>
                  <a:srgbClr val="333333"/>
                </a:solidFill>
                <a:latin typeface="DM Sans" pitchFamily="2" charset="0"/>
              </a:rPr>
              <a:t>calculateAssets</a:t>
            </a: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()+</a:t>
            </a:r>
            <a:r>
              <a:rPr lang="en-US" sz="1800" dirty="0" err="1">
                <a:solidFill>
                  <a:srgbClr val="333333"/>
                </a:solidFill>
                <a:latin typeface="DM Sans" pitchFamily="2" charset="0"/>
              </a:rPr>
              <a:t>montlyIncome</a:t>
            </a: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;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    return </a:t>
            </a:r>
            <a:r>
              <a:rPr lang="en-US" sz="1800" dirty="0" err="1">
                <a:solidFill>
                  <a:srgbClr val="333333"/>
                </a:solidFill>
                <a:latin typeface="DM Sans" pitchFamily="2" charset="0"/>
              </a:rPr>
              <a:t>riskFactor</a:t>
            </a: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(capital)*1.75;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}else if(maturity&lt;5){  //fairly new customer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  double capital= </a:t>
            </a:r>
            <a:r>
              <a:rPr lang="en-US" sz="1800" dirty="0" err="1">
                <a:solidFill>
                  <a:srgbClr val="333333"/>
                </a:solidFill>
                <a:latin typeface="DM Sans" pitchFamily="2" charset="0"/>
              </a:rPr>
              <a:t>calculateAssets</a:t>
            </a: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()+</a:t>
            </a:r>
            <a:r>
              <a:rPr lang="en-US" sz="1800" dirty="0" err="1">
                <a:solidFill>
                  <a:srgbClr val="333333"/>
                </a:solidFill>
                <a:latin typeface="DM Sans" pitchFamily="2" charset="0"/>
              </a:rPr>
              <a:t>montlyIncome</a:t>
            </a: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;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   return </a:t>
            </a:r>
            <a:r>
              <a:rPr lang="en-US" sz="1800" dirty="0" err="1">
                <a:solidFill>
                  <a:srgbClr val="333333"/>
                </a:solidFill>
                <a:latin typeface="DM Sans" pitchFamily="2" charset="0"/>
              </a:rPr>
              <a:t>riskFactor</a:t>
            </a: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(capital)*0.85;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}else if(maturity&gt;10){ //mature customer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  if(stable) return </a:t>
            </a:r>
            <a:r>
              <a:rPr lang="en-US" sz="1800" dirty="0" err="1">
                <a:solidFill>
                  <a:srgbClr val="333333"/>
                </a:solidFill>
                <a:latin typeface="DM Sans" pitchFamily="2" charset="0"/>
              </a:rPr>
              <a:t>currentInterestRate</a:t>
            </a: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*0.8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  else return </a:t>
            </a:r>
            <a:r>
              <a:rPr lang="en-US" sz="1800" dirty="0" err="1">
                <a:solidFill>
                  <a:srgbClr val="333333"/>
                </a:solidFill>
                <a:latin typeface="DM Sans" pitchFamily="2" charset="0"/>
              </a:rPr>
              <a:t>currentInterestRate</a:t>
            </a: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;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}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  return 0.0;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DM Sans" pitchFamily="2" charset="0"/>
              </a:rPr>
              <a:t>}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67092-D2E5-F6C8-C54B-28ADF81A5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4000" y="1272210"/>
            <a:ext cx="3505200" cy="459519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000" b="1" dirty="0"/>
              <a:t>Bug Report:</a:t>
            </a:r>
            <a:r>
              <a:rPr lang="en-US" sz="2000" dirty="0"/>
              <a:t> A customer with 7 years maturity. Their interest rate is 0.0! </a:t>
            </a:r>
          </a:p>
          <a:p>
            <a:pPr>
              <a:spcBef>
                <a:spcPts val="1200"/>
              </a:spcBef>
            </a:pPr>
            <a:r>
              <a:rPr lang="en-US" sz="2000" b="1" dirty="0"/>
              <a:t>New Feature:</a:t>
            </a:r>
            <a:r>
              <a:rPr lang="en-US" sz="2000" dirty="0"/>
              <a:t> Add a 'Super-Mature' customer type for maturity &gt; 20. Their rate is </a:t>
            </a:r>
            <a:r>
              <a:rPr lang="en-US" sz="2000" dirty="0" err="1"/>
              <a:t>currentInterestRate</a:t>
            </a:r>
            <a:r>
              <a:rPr lang="en-US" sz="2000" dirty="0"/>
              <a:t> * 0.7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 b="1" dirty="0"/>
              <a:t>Questions</a:t>
            </a:r>
            <a:endParaRPr lang="en-US" sz="2000" dirty="0"/>
          </a:p>
          <a:p>
            <a:pPr>
              <a:spcBef>
                <a:spcPts val="1200"/>
              </a:spcBef>
            </a:pPr>
            <a:r>
              <a:rPr lang="en-US" sz="2000" dirty="0"/>
              <a:t>Where is the bug?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Where do you add the `else if` for the new feature?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How "brittle" does this code feel?</a:t>
            </a:r>
          </a:p>
          <a:p>
            <a:pPr marL="0" indent="0">
              <a:spcBef>
                <a:spcPts val="1200"/>
              </a:spcBef>
              <a:buNone/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4B6DC6-0095-4DB5-E683-8DF9141CA194}"/>
              </a:ext>
            </a:extLst>
          </p:cNvPr>
          <p:cNvSpPr/>
          <p:nvPr/>
        </p:nvSpPr>
        <p:spPr bwMode="auto">
          <a:xfrm>
            <a:off x="6696635" y="86963"/>
            <a:ext cx="2438400" cy="100404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Activity: you got two tickets. Resolve them.</a:t>
            </a:r>
          </a:p>
        </p:txBody>
      </p:sp>
    </p:spTree>
    <p:extLst>
      <p:ext uri="{BB962C8B-B14F-4D97-AF65-F5344CB8AC3E}">
        <p14:creationId xmlns:p14="http://schemas.microsoft.com/office/powerpoint/2010/main" val="1001775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129A5B9-D566-3B0A-9D24-9C4D667AE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4000" dirty="0"/>
              <a:t>Complex Conditionals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C315751-01E7-1613-9549-5132B1F2D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7848600" cy="4953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double </a:t>
            </a:r>
            <a:r>
              <a:rPr lang="en-US" altLang="tr-TR" sz="2400" dirty="0" err="1">
                <a:latin typeface="Source code"/>
              </a:rPr>
              <a:t>calculateInterestRate</a:t>
            </a:r>
            <a:r>
              <a:rPr lang="en-US" altLang="tr-TR" sz="2400" dirty="0">
                <a:latin typeface="Source code"/>
              </a:rPr>
              <a:t>(){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  if(maturity==0){  //</a:t>
            </a:r>
            <a:r>
              <a:rPr lang="en-US" altLang="tr-TR" sz="2400" i="1" dirty="0">
                <a:latin typeface="Source code"/>
              </a:rPr>
              <a:t>new customer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      double capital= </a:t>
            </a:r>
            <a:r>
              <a:rPr lang="en-US" altLang="tr-TR" sz="2400" dirty="0" err="1">
                <a:latin typeface="Source code"/>
              </a:rPr>
              <a:t>calculateAssets</a:t>
            </a:r>
            <a:r>
              <a:rPr lang="en-US" altLang="tr-TR" sz="2400" dirty="0">
                <a:latin typeface="Source code"/>
              </a:rPr>
              <a:t>()+</a:t>
            </a:r>
            <a:r>
              <a:rPr lang="en-US" altLang="tr-TR" sz="2400" dirty="0" err="1">
                <a:latin typeface="Source code"/>
              </a:rPr>
              <a:t>montlyIncome</a:t>
            </a:r>
            <a:r>
              <a:rPr lang="en-US" altLang="tr-TR" sz="2400" dirty="0">
                <a:latin typeface="Source code"/>
              </a:rPr>
              <a:t>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      return </a:t>
            </a:r>
            <a:r>
              <a:rPr lang="en-US" altLang="tr-TR" sz="2400" dirty="0" err="1">
                <a:latin typeface="Source code"/>
              </a:rPr>
              <a:t>riskFactor</a:t>
            </a:r>
            <a:r>
              <a:rPr lang="en-US" altLang="tr-TR" sz="2400" dirty="0">
                <a:latin typeface="Source code"/>
              </a:rPr>
              <a:t>(capital)*1.75;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  }else if(maturity&lt;5){  /</a:t>
            </a:r>
            <a:r>
              <a:rPr lang="en-US" altLang="tr-TR" sz="2400" i="1" dirty="0">
                <a:latin typeface="Source code"/>
              </a:rPr>
              <a:t>/fairly new</a:t>
            </a:r>
            <a:r>
              <a:rPr lang="tr-TR" altLang="tr-TR" sz="2400" i="1" dirty="0">
                <a:latin typeface="Source code"/>
              </a:rPr>
              <a:t> </a:t>
            </a:r>
            <a:r>
              <a:rPr lang="tr-TR" altLang="tr-TR" sz="2400" i="1" dirty="0" err="1">
                <a:latin typeface="Source code"/>
              </a:rPr>
              <a:t>customer</a:t>
            </a:r>
            <a:endParaRPr lang="en-US" altLang="tr-TR" sz="2400" i="1" dirty="0">
              <a:latin typeface="Source code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      double capital= </a:t>
            </a:r>
            <a:r>
              <a:rPr lang="en-US" altLang="tr-TR" sz="2400" dirty="0" err="1">
                <a:latin typeface="Source code"/>
              </a:rPr>
              <a:t>calculateAssets</a:t>
            </a:r>
            <a:r>
              <a:rPr lang="en-US" altLang="tr-TR" sz="2400" dirty="0">
                <a:latin typeface="Source code"/>
              </a:rPr>
              <a:t>()+</a:t>
            </a:r>
            <a:r>
              <a:rPr lang="en-US" altLang="tr-TR" sz="2400" dirty="0" err="1">
                <a:latin typeface="Source code"/>
              </a:rPr>
              <a:t>montlyIncome</a:t>
            </a:r>
            <a:r>
              <a:rPr lang="en-US" altLang="tr-TR" sz="2400" dirty="0">
                <a:latin typeface="Source code"/>
              </a:rPr>
              <a:t>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	  return </a:t>
            </a:r>
            <a:r>
              <a:rPr lang="en-US" altLang="tr-TR" sz="2400" dirty="0" err="1">
                <a:latin typeface="Source code"/>
              </a:rPr>
              <a:t>riskFactor</a:t>
            </a:r>
            <a:r>
              <a:rPr lang="en-US" altLang="tr-TR" sz="2400" dirty="0">
                <a:latin typeface="Source code"/>
              </a:rPr>
              <a:t>(capital)*0.85;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  }else if(maturity&gt;10){ </a:t>
            </a:r>
            <a:r>
              <a:rPr lang="en-US" altLang="tr-TR" sz="2400" i="1" dirty="0">
                <a:latin typeface="Source code"/>
              </a:rPr>
              <a:t>//mature customer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	   if(stable) return </a:t>
            </a:r>
            <a:r>
              <a:rPr lang="en-US" altLang="tr-TR" sz="2400" dirty="0" err="1">
                <a:latin typeface="Source code"/>
              </a:rPr>
              <a:t>currentInterestRate</a:t>
            </a:r>
            <a:r>
              <a:rPr lang="en-US" altLang="tr-TR" sz="2400" dirty="0">
                <a:latin typeface="Source code"/>
              </a:rPr>
              <a:t>*0.8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       else return </a:t>
            </a:r>
            <a:r>
              <a:rPr lang="en-US" altLang="tr-TR" sz="2400" dirty="0" err="1">
                <a:latin typeface="Source code"/>
              </a:rPr>
              <a:t>currentInterestRate</a:t>
            </a:r>
            <a:r>
              <a:rPr lang="en-US" altLang="tr-TR" sz="2400" dirty="0">
                <a:latin typeface="Source code"/>
              </a:rPr>
              <a:t>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tr-TR" sz="2400" dirty="0">
                <a:latin typeface="Source code"/>
              </a:rPr>
              <a:t>  }}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67A00-A8DD-ACBE-279A-67B466B6D8B9}"/>
              </a:ext>
            </a:extLst>
          </p:cNvPr>
          <p:cNvSpPr txBox="1">
            <a:spLocks/>
          </p:cNvSpPr>
          <p:nvPr/>
        </p:nvSpPr>
        <p:spPr>
          <a:xfrm>
            <a:off x="5943600" y="318057"/>
            <a:ext cx="3124200" cy="2044143"/>
          </a:xfrm>
          <a:prstGeom prst="rect">
            <a:avLst/>
          </a:prstGeom>
          <a:solidFill>
            <a:srgbClr val="F4F4EC"/>
          </a:solidFill>
          <a:ln>
            <a:solidFill>
              <a:schemeClr val="accent1"/>
            </a:solidFill>
          </a:ln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u="sng" kern="0" dirty="0"/>
              <a:t> Solution: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kern="0" dirty="0"/>
              <a:t>Clean it first, then add or fix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kern="0" dirty="0"/>
              <a:t>applies to all spaghetti code</a:t>
            </a:r>
          </a:p>
        </p:txBody>
      </p:sp>
    </p:spTree>
    <p:extLst>
      <p:ext uri="{BB962C8B-B14F-4D97-AF65-F5344CB8AC3E}">
        <p14:creationId xmlns:p14="http://schemas.microsoft.com/office/powerpoint/2010/main" val="249864366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6EA2D2E5-26A5-A6A3-86D9-D5EC4D30C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Example Refactored-1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D06D89C-5F35-B16E-046C-99C6DBFEE0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0" y="1447800"/>
            <a:ext cx="3657600" cy="7620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tr-TR" sz="1800"/>
              <a:t>double calculateInterestRate(){</a:t>
            </a:r>
          </a:p>
          <a:p>
            <a:pPr eaLnBrk="1" hangingPunct="1">
              <a:buFontTx/>
              <a:buNone/>
            </a:pPr>
            <a:r>
              <a:rPr lang="en-US" altLang="tr-TR" sz="1800"/>
              <a:t>   return rateStrategy.calculate();}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292ED95D-389B-682F-7020-B88285A84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5" y="1789114"/>
            <a:ext cx="2625725" cy="8617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tr-TR" sz="1800" b="1" dirty="0" err="1"/>
              <a:t>BankAccount</a:t>
            </a:r>
            <a:endParaRPr lang="en-US" altLang="tr-TR" sz="1800" b="1" dirty="0"/>
          </a:p>
          <a:p>
            <a:pPr algn="ctr">
              <a:spcBef>
                <a:spcPct val="0"/>
              </a:spcBef>
              <a:buFontTx/>
              <a:buNone/>
            </a:pPr>
            <a:endParaRPr lang="en-US" altLang="tr-TR" sz="1400" b="1" dirty="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tr-TR" sz="1800" dirty="0"/>
              <a:t>+</a:t>
            </a:r>
            <a:r>
              <a:rPr lang="en-US" altLang="tr-TR" sz="1800" dirty="0" err="1"/>
              <a:t>calculateInterestRate</a:t>
            </a:r>
            <a:r>
              <a:rPr lang="en-US" altLang="tr-TR" sz="1800" dirty="0"/>
              <a:t>()</a:t>
            </a:r>
          </a:p>
        </p:txBody>
      </p:sp>
      <p:sp>
        <p:nvSpPr>
          <p:cNvPr id="47109" name="Line 5">
            <a:extLst>
              <a:ext uri="{FF2B5EF4-FFF2-40B4-BE49-F238E27FC236}">
                <a16:creationId xmlns:a16="http://schemas.microsoft.com/office/drawing/2014/main" id="{3D654FA0-D7B5-3DA7-6726-2645E61D6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1336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7110" name="Text Box 6">
            <a:extLst>
              <a:ext uri="{FF2B5EF4-FFF2-40B4-BE49-F238E27FC236}">
                <a16:creationId xmlns:a16="http://schemas.microsoft.com/office/drawing/2014/main" id="{2458C752-96AE-A92A-627A-8B5BD357D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4763" y="3160716"/>
            <a:ext cx="1608133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tr-TR" sz="1800" b="1" i="1"/>
              <a:t>RateStrategy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tr-TR" sz="1800" i="1"/>
              <a:t>+calculate()</a:t>
            </a:r>
          </a:p>
        </p:txBody>
      </p:sp>
      <p:sp>
        <p:nvSpPr>
          <p:cNvPr id="47111" name="Text Box 7">
            <a:extLst>
              <a:ext uri="{FF2B5EF4-FFF2-40B4-BE49-F238E27FC236}">
                <a16:creationId xmlns:a16="http://schemas.microsoft.com/office/drawing/2014/main" id="{91F2BB1E-D068-02CE-799B-5C07FFE1B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2" y="4419603"/>
            <a:ext cx="3724096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b="1"/>
              <a:t>ImmatureCustomerRateStrategy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tr-TR" sz="12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/>
              <a:t>+calculate()</a:t>
            </a:r>
          </a:p>
        </p:txBody>
      </p:sp>
      <p:sp>
        <p:nvSpPr>
          <p:cNvPr id="47112" name="Text Box 8">
            <a:extLst>
              <a:ext uri="{FF2B5EF4-FFF2-40B4-BE49-F238E27FC236}">
                <a16:creationId xmlns:a16="http://schemas.microsoft.com/office/drawing/2014/main" id="{355EC230-1F9A-B645-8937-70E12CBC6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3" y="4419600"/>
            <a:ext cx="4057521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b="1"/>
              <a:t>FairlyMatureCustomerRateStrategy</a:t>
            </a:r>
          </a:p>
        </p:txBody>
      </p:sp>
      <p:sp>
        <p:nvSpPr>
          <p:cNvPr id="47113" name="Text Box 9">
            <a:extLst>
              <a:ext uri="{FF2B5EF4-FFF2-40B4-BE49-F238E27FC236}">
                <a16:creationId xmlns:a16="http://schemas.microsoft.com/office/drawing/2014/main" id="{8BCEBC0A-89D4-23E4-E69B-48014CB8D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3" y="5638801"/>
            <a:ext cx="5327099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/>
              <a:t>calculate(){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/>
              <a:t>  double capital= calculateAssets()+montlyIncome;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/>
              <a:t>  return riskFactor(capital)*1.75;}</a:t>
            </a:r>
          </a:p>
        </p:txBody>
      </p:sp>
      <p:sp>
        <p:nvSpPr>
          <p:cNvPr id="47114" name="Line 10">
            <a:extLst>
              <a:ext uri="{FF2B5EF4-FFF2-40B4-BE49-F238E27FC236}">
                <a16:creationId xmlns:a16="http://schemas.microsoft.com/office/drawing/2014/main" id="{8AC7CD00-9E37-D94C-684E-C21271942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860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Line 11">
            <a:extLst>
              <a:ext uri="{FF2B5EF4-FFF2-40B4-BE49-F238E27FC236}">
                <a16:creationId xmlns:a16="http://schemas.microsoft.com/office/drawing/2014/main" id="{F166A594-C038-2092-1F2A-F57B4531E6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17526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7116" name="AutoShape 12">
            <a:extLst>
              <a:ext uri="{FF2B5EF4-FFF2-40B4-BE49-F238E27FC236}">
                <a16:creationId xmlns:a16="http://schemas.microsoft.com/office/drawing/2014/main" id="{44D997A0-808B-B681-3CF0-CDA35A3095C2}"/>
              </a:ext>
            </a:extLst>
          </p:cNvPr>
          <p:cNvCxnSpPr>
            <a:cxnSpLocks noChangeShapeType="1"/>
            <a:stCxn id="47108" idx="2"/>
            <a:endCxn id="47110" idx="0"/>
          </p:cNvCxnSpPr>
          <p:nvPr/>
        </p:nvCxnSpPr>
        <p:spPr bwMode="auto">
          <a:xfrm rot="16200000" flipH="1">
            <a:off x="3228066" y="1819950"/>
            <a:ext cx="509827" cy="21717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17" name="AutoShape 13">
            <a:extLst>
              <a:ext uri="{FF2B5EF4-FFF2-40B4-BE49-F238E27FC236}">
                <a16:creationId xmlns:a16="http://schemas.microsoft.com/office/drawing/2014/main" id="{3DCAF80F-A83A-A661-2655-52B8A3B19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810000"/>
            <a:ext cx="304800" cy="2286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cxnSp>
        <p:nvCxnSpPr>
          <p:cNvPr id="47118" name="AutoShape 14">
            <a:extLst>
              <a:ext uri="{FF2B5EF4-FFF2-40B4-BE49-F238E27FC236}">
                <a16:creationId xmlns:a16="http://schemas.microsoft.com/office/drawing/2014/main" id="{84092A1A-C715-5481-C20F-59B351D577A6}"/>
              </a:ext>
            </a:extLst>
          </p:cNvPr>
          <p:cNvCxnSpPr>
            <a:cxnSpLocks noChangeShapeType="1"/>
            <a:stCxn id="47117" idx="3"/>
            <a:endCxn id="47111" idx="0"/>
          </p:cNvCxnSpPr>
          <p:nvPr/>
        </p:nvCxnSpPr>
        <p:spPr bwMode="auto">
          <a:xfrm rot="5400000">
            <a:off x="3255124" y="3026526"/>
            <a:ext cx="381002" cy="24051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AutoShape 15">
            <a:extLst>
              <a:ext uri="{FF2B5EF4-FFF2-40B4-BE49-F238E27FC236}">
                <a16:creationId xmlns:a16="http://schemas.microsoft.com/office/drawing/2014/main" id="{734C41A1-67DC-565F-0F2F-AFB5CD47741C}"/>
              </a:ext>
            </a:extLst>
          </p:cNvPr>
          <p:cNvCxnSpPr>
            <a:cxnSpLocks noChangeShapeType="1"/>
            <a:stCxn id="47117" idx="3"/>
            <a:endCxn id="47112" idx="0"/>
          </p:cNvCxnSpPr>
          <p:nvPr/>
        </p:nvCxnSpPr>
        <p:spPr bwMode="auto">
          <a:xfrm rot="16200000" flipH="1">
            <a:off x="5586381" y="3100419"/>
            <a:ext cx="381000" cy="22573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AutoShape 16">
            <a:extLst>
              <a:ext uri="{FF2B5EF4-FFF2-40B4-BE49-F238E27FC236}">
                <a16:creationId xmlns:a16="http://schemas.microsoft.com/office/drawing/2014/main" id="{647D359E-6E3C-481B-2162-6BA3401375DB}"/>
              </a:ext>
            </a:extLst>
          </p:cNvPr>
          <p:cNvCxnSpPr>
            <a:cxnSpLocks noChangeShapeType="1"/>
            <a:stCxn id="47117" idx="3"/>
            <a:endCxn id="47128" idx="1"/>
          </p:cNvCxnSpPr>
          <p:nvPr/>
        </p:nvCxnSpPr>
        <p:spPr bwMode="auto">
          <a:xfrm rot="16200000" flipH="1">
            <a:off x="4365367" y="4321433"/>
            <a:ext cx="1403866" cy="838201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1" name="Line 17">
            <a:extLst>
              <a:ext uri="{FF2B5EF4-FFF2-40B4-BE49-F238E27FC236}">
                <a16:creationId xmlns:a16="http://schemas.microsoft.com/office/drawing/2014/main" id="{99CB1B99-B8AD-E1F8-1072-1EFB2C7ABD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51054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2" name="Line 18">
            <a:extLst>
              <a:ext uri="{FF2B5EF4-FFF2-40B4-BE49-F238E27FC236}">
                <a16:creationId xmlns:a16="http://schemas.microsoft.com/office/drawing/2014/main" id="{CF629A36-7CCA-6AF3-5833-3E8243DF8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48006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3" name="Line 19">
            <a:extLst>
              <a:ext uri="{FF2B5EF4-FFF2-40B4-BE49-F238E27FC236}">
                <a16:creationId xmlns:a16="http://schemas.microsoft.com/office/drawing/2014/main" id="{79929575-D2E5-D60D-9B51-973B5AC6E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48768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4" name="Rectangle 20">
            <a:extLst>
              <a:ext uri="{FF2B5EF4-FFF2-40B4-BE49-F238E27FC236}">
                <a16:creationId xmlns:a16="http://schemas.microsoft.com/office/drawing/2014/main" id="{8B273D21-4A1C-F75F-8901-364AF2284764}"/>
              </a:ext>
            </a:extLst>
          </p:cNvPr>
          <p:cNvSpPr>
            <a:spLocks noChangeArrowheads="1"/>
          </p:cNvSpPr>
          <p:nvPr/>
        </p:nvSpPr>
        <p:spPr bwMode="auto">
          <a:xfrm rot="-2243630">
            <a:off x="5410200" y="5486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47125" name="Line 21">
            <a:extLst>
              <a:ext uri="{FF2B5EF4-FFF2-40B4-BE49-F238E27FC236}">
                <a16:creationId xmlns:a16="http://schemas.microsoft.com/office/drawing/2014/main" id="{B78A214B-E278-214F-66CD-5557E12E6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638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6" name="Line 22">
            <a:extLst>
              <a:ext uri="{FF2B5EF4-FFF2-40B4-BE49-F238E27FC236}">
                <a16:creationId xmlns:a16="http://schemas.microsoft.com/office/drawing/2014/main" id="{82277E1C-E285-E8BF-9D33-4138BD45D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638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7" name="Line 23">
            <a:extLst>
              <a:ext uri="{FF2B5EF4-FFF2-40B4-BE49-F238E27FC236}">
                <a16:creationId xmlns:a16="http://schemas.microsoft.com/office/drawing/2014/main" id="{D45129F7-FF9D-F223-6A96-BA1F2580A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867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8" name="Text Box 24">
            <a:extLst>
              <a:ext uri="{FF2B5EF4-FFF2-40B4-BE49-F238E27FC236}">
                <a16:creationId xmlns:a16="http://schemas.microsoft.com/office/drawing/2014/main" id="{D78EC970-413C-513F-00AB-412B3AE6C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1" y="5257800"/>
            <a:ext cx="3441968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b="1"/>
              <a:t>MatureCustomerRateStratgey</a:t>
            </a:r>
          </a:p>
        </p:txBody>
      </p:sp>
      <p:sp>
        <p:nvSpPr>
          <p:cNvPr id="47129" name="Rectangle 25">
            <a:extLst>
              <a:ext uri="{FF2B5EF4-FFF2-40B4-BE49-F238E27FC236}">
                <a16:creationId xmlns:a16="http://schemas.microsoft.com/office/drawing/2014/main" id="{149CBDFA-412E-125B-D580-79EE0207C8B9}"/>
              </a:ext>
            </a:extLst>
          </p:cNvPr>
          <p:cNvSpPr>
            <a:spLocks noChangeArrowheads="1"/>
          </p:cNvSpPr>
          <p:nvPr/>
        </p:nvSpPr>
        <p:spPr bwMode="auto">
          <a:xfrm rot="-2243630">
            <a:off x="8534400" y="1295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47130" name="Line 26">
            <a:extLst>
              <a:ext uri="{FF2B5EF4-FFF2-40B4-BE49-F238E27FC236}">
                <a16:creationId xmlns:a16="http://schemas.microsoft.com/office/drawing/2014/main" id="{AB0F45D9-B7D7-C10B-1171-1F05C9F2E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447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1" name="Line 27">
            <a:extLst>
              <a:ext uri="{FF2B5EF4-FFF2-40B4-BE49-F238E27FC236}">
                <a16:creationId xmlns:a16="http://schemas.microsoft.com/office/drawing/2014/main" id="{B4401907-4307-4363-4E99-6781422B7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447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2" name="Line 28">
            <a:extLst>
              <a:ext uri="{FF2B5EF4-FFF2-40B4-BE49-F238E27FC236}">
                <a16:creationId xmlns:a16="http://schemas.microsoft.com/office/drawing/2014/main" id="{E5DF1A1D-CFFA-7572-D7A0-BC1CCC0AA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760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D9CE-5588-788B-37F6-8741BD82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668E917C-21A9-3203-65B6-F5127FF28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Example Refactored -2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C6DE3B9-7B51-314F-5E9A-A59438FCB3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19601" y="1447802"/>
            <a:ext cx="4267200" cy="813139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tr-TR" sz="1800" dirty="0"/>
              <a:t>double </a:t>
            </a:r>
            <a:r>
              <a:rPr lang="en-US" altLang="tr-TR" sz="1800" dirty="0" err="1"/>
              <a:t>calculateInterestRate</a:t>
            </a:r>
            <a:r>
              <a:rPr lang="en-US" altLang="tr-TR" sz="1800" dirty="0"/>
              <a:t>(){</a:t>
            </a:r>
          </a:p>
          <a:p>
            <a:pPr eaLnBrk="1" hangingPunct="1">
              <a:buFontTx/>
              <a:buNone/>
            </a:pPr>
            <a:r>
              <a:rPr lang="en-US" altLang="tr-TR" sz="1800" dirty="0"/>
              <a:t>   return </a:t>
            </a:r>
            <a:r>
              <a:rPr lang="en-US" altLang="tr-TR" sz="1800" dirty="0" err="1"/>
              <a:t>state.calculateInterestRate</a:t>
            </a:r>
            <a:r>
              <a:rPr lang="en-US" altLang="tr-TR" sz="1800" dirty="0"/>
              <a:t>();}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C5DCEF24-9B1F-3A81-A691-EDDC1C767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5" y="1789114"/>
            <a:ext cx="2625725" cy="8617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tr-TR" sz="1800" b="1" dirty="0" err="1"/>
              <a:t>BankAccount</a:t>
            </a:r>
            <a:endParaRPr lang="en-US" altLang="tr-TR" sz="1800" b="1" dirty="0"/>
          </a:p>
          <a:p>
            <a:pPr algn="ctr">
              <a:spcBef>
                <a:spcPct val="0"/>
              </a:spcBef>
              <a:buFontTx/>
              <a:buNone/>
            </a:pPr>
            <a:endParaRPr lang="en-US" altLang="tr-TR" sz="1400" b="1" dirty="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tr-TR" sz="1800" dirty="0"/>
              <a:t>+</a:t>
            </a:r>
            <a:r>
              <a:rPr lang="en-US" altLang="tr-TR" sz="1800" dirty="0" err="1"/>
              <a:t>calculateInterestRate</a:t>
            </a:r>
            <a:r>
              <a:rPr lang="en-US" altLang="tr-TR" sz="1800" dirty="0"/>
              <a:t>()</a:t>
            </a:r>
          </a:p>
        </p:txBody>
      </p:sp>
      <p:sp>
        <p:nvSpPr>
          <p:cNvPr id="47109" name="Line 5">
            <a:extLst>
              <a:ext uri="{FF2B5EF4-FFF2-40B4-BE49-F238E27FC236}">
                <a16:creationId xmlns:a16="http://schemas.microsoft.com/office/drawing/2014/main" id="{C5BED171-B595-3A88-4D83-6BF954B5D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1336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7110" name="Text Box 6">
            <a:extLst>
              <a:ext uri="{FF2B5EF4-FFF2-40B4-BE49-F238E27FC236}">
                <a16:creationId xmlns:a16="http://schemas.microsoft.com/office/drawing/2014/main" id="{C1A82303-B829-1FF2-22AE-E090F7D61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595" y="3160716"/>
            <a:ext cx="2640466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tr-TR" sz="1800" b="1" i="1" dirty="0" err="1"/>
              <a:t>CustomerState</a:t>
            </a:r>
            <a:endParaRPr lang="en-US" altLang="tr-TR" sz="1800" b="1" i="1" dirty="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tr-TR" sz="1800" i="1" dirty="0"/>
              <a:t>+</a:t>
            </a:r>
            <a:r>
              <a:rPr lang="en-US" altLang="tr-TR" sz="1800" i="1" dirty="0" err="1"/>
              <a:t>calculateInterestRate</a:t>
            </a:r>
            <a:r>
              <a:rPr lang="en-US" altLang="tr-TR" sz="1800" i="1" dirty="0"/>
              <a:t>()</a:t>
            </a:r>
          </a:p>
        </p:txBody>
      </p:sp>
      <p:sp>
        <p:nvSpPr>
          <p:cNvPr id="47111" name="Text Box 7">
            <a:extLst>
              <a:ext uri="{FF2B5EF4-FFF2-40B4-BE49-F238E27FC236}">
                <a16:creationId xmlns:a16="http://schemas.microsoft.com/office/drawing/2014/main" id="{193A9CB2-78F8-895E-25EC-E13C9FC0C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419603"/>
            <a:ext cx="2640466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b="1" dirty="0" err="1"/>
              <a:t>ImmatureCustomer</a:t>
            </a:r>
            <a:endParaRPr lang="en-US" altLang="tr-TR" sz="1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tr-TR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/>
              <a:t>+</a:t>
            </a:r>
            <a:r>
              <a:rPr lang="en-US" altLang="tr-TR" sz="1800" dirty="0" err="1"/>
              <a:t>calculateInterestRate</a:t>
            </a:r>
            <a:r>
              <a:rPr lang="en-US" altLang="tr-TR" sz="1800" dirty="0"/>
              <a:t>()</a:t>
            </a:r>
          </a:p>
        </p:txBody>
      </p:sp>
      <p:sp>
        <p:nvSpPr>
          <p:cNvPr id="47112" name="Text Box 8">
            <a:extLst>
              <a:ext uri="{FF2B5EF4-FFF2-40B4-BE49-F238E27FC236}">
                <a16:creationId xmlns:a16="http://schemas.microsoft.com/office/drawing/2014/main" id="{C56FA016-5F63-2AE9-786B-E6DBBE210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0"/>
            <a:ext cx="2634054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b="1" dirty="0" err="1"/>
              <a:t>FairlyMatureCustomer</a:t>
            </a:r>
            <a:endParaRPr lang="en-US" altLang="tr-TR" sz="1800" b="1" dirty="0"/>
          </a:p>
        </p:txBody>
      </p:sp>
      <p:sp>
        <p:nvSpPr>
          <p:cNvPr id="47113" name="Text Box 9">
            <a:extLst>
              <a:ext uri="{FF2B5EF4-FFF2-40B4-BE49-F238E27FC236}">
                <a16:creationId xmlns:a16="http://schemas.microsoft.com/office/drawing/2014/main" id="{BD1DF348-E17E-3FB0-BB6D-86D59C30C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3" y="5638801"/>
            <a:ext cx="5327099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/>
              <a:t>calculate(){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/>
              <a:t>  double capital= calculateAssets()+montlyIncome;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/>
              <a:t>  return riskFactor(capital)*1.75;}</a:t>
            </a:r>
          </a:p>
        </p:txBody>
      </p:sp>
      <p:sp>
        <p:nvSpPr>
          <p:cNvPr id="47114" name="Line 10">
            <a:extLst>
              <a:ext uri="{FF2B5EF4-FFF2-40B4-BE49-F238E27FC236}">
                <a16:creationId xmlns:a16="http://schemas.microsoft.com/office/drawing/2014/main" id="{FE9D2E69-3F1D-E513-B497-BB4347BD1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860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Line 11">
            <a:extLst>
              <a:ext uri="{FF2B5EF4-FFF2-40B4-BE49-F238E27FC236}">
                <a16:creationId xmlns:a16="http://schemas.microsoft.com/office/drawing/2014/main" id="{0102726D-4358-310C-09B5-198B5577DC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3" y="1821717"/>
            <a:ext cx="738189" cy="54048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7116" name="AutoShape 12">
            <a:extLst>
              <a:ext uri="{FF2B5EF4-FFF2-40B4-BE49-F238E27FC236}">
                <a16:creationId xmlns:a16="http://schemas.microsoft.com/office/drawing/2014/main" id="{85A4FC0C-2F78-FA5F-4132-1C1FD4D49DDC}"/>
              </a:ext>
            </a:extLst>
          </p:cNvPr>
          <p:cNvCxnSpPr>
            <a:cxnSpLocks noChangeShapeType="1"/>
            <a:stCxn id="47108" idx="2"/>
            <a:endCxn id="47110" idx="0"/>
          </p:cNvCxnSpPr>
          <p:nvPr/>
        </p:nvCxnSpPr>
        <p:spPr bwMode="auto">
          <a:xfrm rot="16200000" flipH="1">
            <a:off x="3228065" y="1819951"/>
            <a:ext cx="509827" cy="217170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17" name="AutoShape 13">
            <a:extLst>
              <a:ext uri="{FF2B5EF4-FFF2-40B4-BE49-F238E27FC236}">
                <a16:creationId xmlns:a16="http://schemas.microsoft.com/office/drawing/2014/main" id="{6671FDC9-16EA-8DD9-EB5A-07F80AE6F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810000"/>
            <a:ext cx="304800" cy="2286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cxnSp>
        <p:nvCxnSpPr>
          <p:cNvPr id="47118" name="AutoShape 14">
            <a:extLst>
              <a:ext uri="{FF2B5EF4-FFF2-40B4-BE49-F238E27FC236}">
                <a16:creationId xmlns:a16="http://schemas.microsoft.com/office/drawing/2014/main" id="{C509876C-FDE9-FC8D-6FA6-0105044542D7}"/>
              </a:ext>
            </a:extLst>
          </p:cNvPr>
          <p:cNvCxnSpPr>
            <a:cxnSpLocks noChangeShapeType="1"/>
            <a:stCxn id="47117" idx="3"/>
            <a:endCxn id="47111" idx="0"/>
          </p:cNvCxnSpPr>
          <p:nvPr/>
        </p:nvCxnSpPr>
        <p:spPr bwMode="auto">
          <a:xfrm rot="5400000">
            <a:off x="2984216" y="2755619"/>
            <a:ext cx="381002" cy="294696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AutoShape 15">
            <a:extLst>
              <a:ext uri="{FF2B5EF4-FFF2-40B4-BE49-F238E27FC236}">
                <a16:creationId xmlns:a16="http://schemas.microsoft.com/office/drawing/2014/main" id="{668C5605-1E52-F886-247A-5F8617762F17}"/>
              </a:ext>
            </a:extLst>
          </p:cNvPr>
          <p:cNvCxnSpPr>
            <a:cxnSpLocks noChangeShapeType="1"/>
            <a:stCxn id="47117" idx="3"/>
            <a:endCxn id="47112" idx="0"/>
          </p:cNvCxnSpPr>
          <p:nvPr/>
        </p:nvCxnSpPr>
        <p:spPr bwMode="auto">
          <a:xfrm rot="16200000" flipH="1">
            <a:off x="5230514" y="3456286"/>
            <a:ext cx="381000" cy="154562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AutoShape 16">
            <a:extLst>
              <a:ext uri="{FF2B5EF4-FFF2-40B4-BE49-F238E27FC236}">
                <a16:creationId xmlns:a16="http://schemas.microsoft.com/office/drawing/2014/main" id="{76A37908-46FD-2FF8-A258-A6DFA1F45E58}"/>
              </a:ext>
            </a:extLst>
          </p:cNvPr>
          <p:cNvCxnSpPr>
            <a:cxnSpLocks noChangeShapeType="1"/>
            <a:stCxn id="47117" idx="3"/>
            <a:endCxn id="47128" idx="1"/>
          </p:cNvCxnSpPr>
          <p:nvPr/>
        </p:nvCxnSpPr>
        <p:spPr bwMode="auto">
          <a:xfrm rot="16200000" flipH="1">
            <a:off x="4365368" y="4321432"/>
            <a:ext cx="1403866" cy="83820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1" name="Line 17">
            <a:extLst>
              <a:ext uri="{FF2B5EF4-FFF2-40B4-BE49-F238E27FC236}">
                <a16:creationId xmlns:a16="http://schemas.microsoft.com/office/drawing/2014/main" id="{B15C848B-E4BC-F32F-1382-3DDFBB2E71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51054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2" name="Line 18">
            <a:extLst>
              <a:ext uri="{FF2B5EF4-FFF2-40B4-BE49-F238E27FC236}">
                <a16:creationId xmlns:a16="http://schemas.microsoft.com/office/drawing/2014/main" id="{FD54860D-444B-DBA9-F8BC-81D2AF387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1" y="4800602"/>
            <a:ext cx="2640467" cy="71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3" name="Line 19">
            <a:extLst>
              <a:ext uri="{FF2B5EF4-FFF2-40B4-BE49-F238E27FC236}">
                <a16:creationId xmlns:a16="http://schemas.microsoft.com/office/drawing/2014/main" id="{D8DF1C96-809F-0AA0-24B8-2F634368C4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1" y="4876802"/>
            <a:ext cx="264046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4" name="Rectangle 20">
            <a:extLst>
              <a:ext uri="{FF2B5EF4-FFF2-40B4-BE49-F238E27FC236}">
                <a16:creationId xmlns:a16="http://schemas.microsoft.com/office/drawing/2014/main" id="{B103D71E-2D6D-11DE-3137-710E76B251A9}"/>
              </a:ext>
            </a:extLst>
          </p:cNvPr>
          <p:cNvSpPr>
            <a:spLocks noChangeArrowheads="1"/>
          </p:cNvSpPr>
          <p:nvPr/>
        </p:nvSpPr>
        <p:spPr bwMode="auto">
          <a:xfrm rot="-2243630">
            <a:off x="5410200" y="5486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47125" name="Line 21">
            <a:extLst>
              <a:ext uri="{FF2B5EF4-FFF2-40B4-BE49-F238E27FC236}">
                <a16:creationId xmlns:a16="http://schemas.microsoft.com/office/drawing/2014/main" id="{92C6D416-AA01-973B-CFA2-7F541C6BF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638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6" name="Line 22">
            <a:extLst>
              <a:ext uri="{FF2B5EF4-FFF2-40B4-BE49-F238E27FC236}">
                <a16:creationId xmlns:a16="http://schemas.microsoft.com/office/drawing/2014/main" id="{D360A00B-7467-1003-E9F4-2D43D734F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638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7" name="Line 23">
            <a:extLst>
              <a:ext uri="{FF2B5EF4-FFF2-40B4-BE49-F238E27FC236}">
                <a16:creationId xmlns:a16="http://schemas.microsoft.com/office/drawing/2014/main" id="{97B65281-500A-823F-11E9-497E792D2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867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8" name="Text Box 24">
            <a:extLst>
              <a:ext uri="{FF2B5EF4-FFF2-40B4-BE49-F238E27FC236}">
                <a16:creationId xmlns:a16="http://schemas.microsoft.com/office/drawing/2014/main" id="{5A2A820D-3AEC-6CB5-2553-B568862BA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3" y="5257800"/>
            <a:ext cx="2018501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b="1" dirty="0" err="1"/>
              <a:t>MatureCustomer</a:t>
            </a:r>
            <a:endParaRPr lang="en-US" altLang="tr-TR" sz="1800" b="1" dirty="0"/>
          </a:p>
        </p:txBody>
      </p:sp>
      <p:sp>
        <p:nvSpPr>
          <p:cNvPr id="47129" name="Rectangle 25">
            <a:extLst>
              <a:ext uri="{FF2B5EF4-FFF2-40B4-BE49-F238E27FC236}">
                <a16:creationId xmlns:a16="http://schemas.microsoft.com/office/drawing/2014/main" id="{935C0333-3C01-2165-E930-756CD5567663}"/>
              </a:ext>
            </a:extLst>
          </p:cNvPr>
          <p:cNvSpPr>
            <a:spLocks noChangeArrowheads="1"/>
          </p:cNvSpPr>
          <p:nvPr/>
        </p:nvSpPr>
        <p:spPr bwMode="auto">
          <a:xfrm rot="-2243630">
            <a:off x="8534400" y="1295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47130" name="Line 26">
            <a:extLst>
              <a:ext uri="{FF2B5EF4-FFF2-40B4-BE49-F238E27FC236}">
                <a16:creationId xmlns:a16="http://schemas.microsoft.com/office/drawing/2014/main" id="{23E1C2EE-349D-B460-61C0-E85EA4FD1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447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1" name="Line 27">
            <a:extLst>
              <a:ext uri="{FF2B5EF4-FFF2-40B4-BE49-F238E27FC236}">
                <a16:creationId xmlns:a16="http://schemas.microsoft.com/office/drawing/2014/main" id="{3DCDF91B-6220-EC87-8ECA-90225AA8C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447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2" name="Line 28">
            <a:extLst>
              <a:ext uri="{FF2B5EF4-FFF2-40B4-BE49-F238E27FC236}">
                <a16:creationId xmlns:a16="http://schemas.microsoft.com/office/drawing/2014/main" id="{717F9E99-694C-1227-0018-9DAEEAADD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5889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96BA7BE-C3CC-8961-9DFB-1A6EB584A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Refactoring Spaghetti code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CF38C5F-5CBA-CDB6-B26D-EDAA62E50A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6868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Combine: capture aggregations and components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Move members to where they belong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Generalize: Abstract Superclass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Make subclass method signatures compatible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Add method signatures to the superclass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Migrate common code to superclass</a:t>
            </a:r>
          </a:p>
          <a:p>
            <a:pPr>
              <a:lnSpc>
                <a:spcPct val="90000"/>
              </a:lnSpc>
              <a:defRPr/>
            </a:pPr>
            <a:r>
              <a:rPr lang="en-US" sz="2800" b="1" dirty="0"/>
              <a:t>Specialize: simplify conditionals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/>
              <a:t>For each condition, make a subclass with matching invariant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/>
              <a:t>State and Strategy patterns may help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/>
              <a:t>Command pattern?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2400" dirty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</a:endParaRPr>
          </a:p>
        </p:txBody>
      </p:sp>
    </p:spTree>
    <p:extLst>
      <p:ext uri="{BB962C8B-B14F-4D97-AF65-F5344CB8AC3E}">
        <p14:creationId xmlns:p14="http://schemas.microsoft.com/office/powerpoint/2010/main" val="1672155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BBAE7DB-68A6-082B-C566-C2D5FC71C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Spaghetti code: Symptoms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D5C6839-5AF9-39FC-5950-48B2873015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tr-TR" sz="2800"/>
              <a:t>Many object methods with no attribute</a:t>
            </a:r>
          </a:p>
          <a:p>
            <a:pPr eaLnBrk="1" hangingPunct="1"/>
            <a:r>
              <a:rPr lang="en-US" altLang="tr-TR" sz="2800"/>
              <a:t>Tight coupling between many classes</a:t>
            </a:r>
          </a:p>
          <a:p>
            <a:pPr eaLnBrk="1" hangingPunct="1"/>
            <a:r>
              <a:rPr lang="en-US" altLang="tr-TR" sz="2800"/>
              <a:t>Suspicious class or global variables</a:t>
            </a:r>
          </a:p>
          <a:p>
            <a:pPr eaLnBrk="1" hangingPunct="1"/>
            <a:r>
              <a:rPr lang="en-US" altLang="tr-TR" sz="2800"/>
              <a:t>Methods use global variables to perform computations</a:t>
            </a:r>
          </a:p>
          <a:p>
            <a:pPr eaLnBrk="1" hangingPunct="1"/>
            <a:r>
              <a:rPr lang="en-US" altLang="tr-TR" sz="2800"/>
              <a:t>Unforeseen relationships between objects</a:t>
            </a:r>
          </a:p>
          <a:p>
            <a:pPr eaLnBrk="1" hangingPunct="1"/>
            <a:r>
              <a:rPr lang="en-US" altLang="tr-TR" sz="2800"/>
              <a:t>Inheritance cannot be used to extend the system</a:t>
            </a:r>
          </a:p>
          <a:p>
            <a:pPr eaLnBrk="1" hangingPunct="1"/>
            <a:r>
              <a:rPr lang="en-US" altLang="tr-TR" sz="2800"/>
              <a:t>Polymorphism is not effective</a:t>
            </a:r>
          </a:p>
        </p:txBody>
      </p:sp>
    </p:spTree>
    <p:extLst>
      <p:ext uri="{BB962C8B-B14F-4D97-AF65-F5344CB8AC3E}">
        <p14:creationId xmlns:p14="http://schemas.microsoft.com/office/powerpoint/2010/main" val="2523004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23E1080E-633B-F764-8A62-7F86620F7C6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533402"/>
            <a:ext cx="8229600" cy="4525963"/>
          </a:xfrm>
        </p:spPr>
        <p:txBody>
          <a:bodyPr/>
          <a:lstStyle/>
          <a:p>
            <a:r>
              <a:rPr lang="en-US" altLang="en-US" sz="2400" dirty="0"/>
              <a:t>Very difficult to reuse</a:t>
            </a:r>
          </a:p>
          <a:p>
            <a:r>
              <a:rPr lang="en-US" altLang="en-US" sz="2400" dirty="0"/>
              <a:t>Methods are very process-oriented; frequently, in fact, objects are named as processes.</a:t>
            </a:r>
          </a:p>
          <a:p>
            <a:r>
              <a:rPr lang="en-US" altLang="en-US" sz="2400" dirty="0"/>
              <a:t>The flow of execution is dictated by object implementation, not by the clients of the objects.</a:t>
            </a:r>
          </a:p>
          <a:p>
            <a:r>
              <a:rPr lang="en-US" altLang="en-US" sz="2400" dirty="0"/>
              <a:t>Minimal relationships exist between objects.</a:t>
            </a:r>
          </a:p>
          <a:p>
            <a:r>
              <a:rPr lang="en-US" altLang="en-US" sz="2400" dirty="0"/>
              <a:t>Many object methods have no parameters and utilize class or global variables for processing.</a:t>
            </a:r>
          </a:p>
          <a:p>
            <a:r>
              <a:rPr lang="en-US" altLang="en-US" sz="2400" dirty="0"/>
              <a:t>Benefits of object orientation are lost</a:t>
            </a:r>
          </a:p>
          <a:p>
            <a:pPr lvl="1"/>
            <a:r>
              <a:rPr lang="en-US" altLang="en-US" sz="2000" dirty="0"/>
              <a:t> inheritance is not used to extend the system</a:t>
            </a:r>
          </a:p>
          <a:p>
            <a:pPr lvl="1"/>
            <a:r>
              <a:rPr lang="en-US" altLang="en-US" sz="2000" dirty="0"/>
              <a:t>polymorphism is not used.</a:t>
            </a:r>
          </a:p>
          <a:p>
            <a:r>
              <a:rPr lang="en-US" altLang="en-US" sz="2400" dirty="0"/>
              <a:t>Follow-on maintenance efforts contribute to the problem.</a:t>
            </a:r>
          </a:p>
          <a:p>
            <a:r>
              <a:rPr lang="en-US" altLang="en-US" sz="2400" dirty="0"/>
              <a:t>Software quickly reaches a point of diminishing returns; </a:t>
            </a:r>
          </a:p>
          <a:p>
            <a:pPr lvl="1"/>
            <a:r>
              <a:rPr lang="en-US" altLang="en-US" sz="2000" dirty="0"/>
              <a:t>the effort involved in maintaining an existing code base is greater than the cost of developing a new solution from the ground up.</a:t>
            </a:r>
          </a:p>
          <a:p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634420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9D054F75-3D76-BFE9-FF46-C52CE983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Resolving Spaghetti</a:t>
            </a:r>
            <a:endParaRPr lang="tr-TR" altLang="en-US" dirty="0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BDC29064-2D40-1255-FB8B-265A147E7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best way to resolve the Spaghetti Code </a:t>
            </a:r>
            <a:r>
              <a:rPr lang="en-US" altLang="en-US" dirty="0" err="1"/>
              <a:t>AntiPattern</a:t>
            </a:r>
            <a:r>
              <a:rPr lang="en-US" altLang="en-US" dirty="0"/>
              <a:t> is through prevention</a:t>
            </a:r>
          </a:p>
          <a:p>
            <a:pPr lvl="1"/>
            <a:r>
              <a:rPr lang="en-US" altLang="en-US" dirty="0"/>
              <a:t>Think before act</a:t>
            </a:r>
          </a:p>
          <a:p>
            <a:endParaRPr lang="en-US" altLang="en-US" dirty="0"/>
          </a:p>
          <a:p>
            <a:r>
              <a:rPr lang="en-US" altLang="en-US" sz="2400" dirty="0"/>
              <a:t>If the code base is unmaintainable and reengineering is not an option, </a:t>
            </a:r>
            <a:r>
              <a:rPr lang="en-US" altLang="en-US" sz="2400" i="1" dirty="0"/>
              <a:t>avoid compounding</a:t>
            </a:r>
            <a:r>
              <a:rPr lang="en-US" altLang="en-US" sz="2400" dirty="0"/>
              <a:t> the problem.</a:t>
            </a:r>
          </a:p>
          <a:p>
            <a:pPr marL="457189" indent="-457189">
              <a:buFont typeface="+mj-lt"/>
              <a:buAutoNum type="arabicPeriod"/>
            </a:pPr>
            <a:r>
              <a:rPr lang="en-US" altLang="en-US" sz="2400" dirty="0"/>
              <a:t>When adding new features, do not simply add code in the same style. </a:t>
            </a:r>
          </a:p>
          <a:p>
            <a:pPr marL="457189" indent="-457189">
              <a:buFont typeface="+mj-lt"/>
              <a:buAutoNum type="arabicPeriod"/>
            </a:pPr>
            <a:r>
              <a:rPr lang="en-US" altLang="en-US" sz="2400" dirty="0"/>
              <a:t>Instead, clean up the code first, then add the new feature.</a:t>
            </a:r>
          </a:p>
        </p:txBody>
      </p:sp>
    </p:spTree>
    <p:extLst>
      <p:ext uri="{BB962C8B-B14F-4D97-AF65-F5344CB8AC3E}">
        <p14:creationId xmlns:p14="http://schemas.microsoft.com/office/powerpoint/2010/main" val="560494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48DCD4C1-9C70-5489-9E07-C484D5F9D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6200"/>
            <a:ext cx="9144000" cy="1371600"/>
          </a:xfrm>
        </p:spPr>
        <p:txBody>
          <a:bodyPr/>
          <a:lstStyle/>
          <a:p>
            <a:r>
              <a:rPr lang="en-US" altLang="en-US" dirty="0"/>
              <a:t>suggestions of low-level refactoring</a:t>
            </a:r>
            <a:endParaRPr lang="tr-TR" altLang="en-US" dirty="0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EC78D0BC-AD7F-4020-8B38-32221A33F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no direct member variable use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other classes</a:t>
            </a:r>
          </a:p>
          <a:p>
            <a:r>
              <a:rPr lang="en-US" altLang="en-US" sz="2400" dirty="0"/>
              <a:t>Convert a code segment into a function that can be reused in future maintenance and refactoring efforts. </a:t>
            </a:r>
          </a:p>
          <a:p>
            <a:r>
              <a:rPr lang="en-US" altLang="en-US" sz="2400" dirty="0"/>
              <a:t>Reorder function arguments to achieve greater consistency throughout the code base. </a:t>
            </a:r>
          </a:p>
          <a:p>
            <a:pPr lvl="1"/>
            <a:r>
              <a:rPr lang="en-US" altLang="en-US" sz="2000" dirty="0"/>
              <a:t>Even consistently bad Spaghetti Code is easier to maintain than inconsistent Spaghetti Code.</a:t>
            </a:r>
          </a:p>
          <a:p>
            <a:r>
              <a:rPr lang="en-US" altLang="en-US" sz="2400" dirty="0"/>
              <a:t>Remove portions of the code that may become, or are already, inaccessible. </a:t>
            </a:r>
          </a:p>
          <a:p>
            <a:r>
              <a:rPr lang="en-US" altLang="en-US" sz="2400" dirty="0"/>
              <a:t>Rename classes, functions, or data types to conform to an enterprise or industry standard and/or maintainable entity. </a:t>
            </a:r>
          </a:p>
          <a:p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31729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A303B-15E7-D221-3CF9-016D6B23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58FB895-5EA0-C8FF-99B7-699E285A7C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4000"/>
              <a:t>Spaghetti code/Design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C31FE1B-80EE-D2EC-2FC0-468BD47E6F8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04800" y="1336994"/>
            <a:ext cx="4038600" cy="459519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Causes: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Quick demo code that became operational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Lack of modular design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continuous, unplanned changes and poor coding practices, quick fixes. 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Poor separation of concern                      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no SOLID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tr-TR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4E6078-A99C-AA82-BD8A-23432988A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272212"/>
            <a:ext cx="4419600" cy="459519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Consequences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Most of maintenance time spent on </a:t>
            </a:r>
            <a:r>
              <a:rPr lang="en-US" altLang="tr-TR" b="1" dirty="0"/>
              <a:t>rediscovery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Undocumented source code that cannot be extended or modified without extreme difficulty due to its structure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Difficult to understand and debug.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Hard to reuse and test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Increases risk of bugs and errors.</a:t>
            </a:r>
          </a:p>
        </p:txBody>
      </p:sp>
    </p:spTree>
    <p:extLst>
      <p:ext uri="{BB962C8B-B14F-4D97-AF65-F5344CB8AC3E}">
        <p14:creationId xmlns:p14="http://schemas.microsoft.com/office/powerpoint/2010/main" val="2835575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B81B-5489-2853-9700-002EA340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13CFD-34A3-C791-72E5-D45F614E8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86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5">
            <a:extLst>
              <a:ext uri="{FF2B5EF4-FFF2-40B4-BE49-F238E27FC236}">
                <a16:creationId xmlns:a16="http://schemas.microsoft.com/office/drawing/2014/main" id="{742D1C4E-8ABC-DF28-46B7-162899334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Blob (God Class)</a:t>
            </a:r>
          </a:p>
        </p:txBody>
      </p:sp>
      <p:sp>
        <p:nvSpPr>
          <p:cNvPr id="16387" name="AutoShape 4">
            <a:extLst>
              <a:ext uri="{FF2B5EF4-FFF2-40B4-BE49-F238E27FC236}">
                <a16:creationId xmlns:a16="http://schemas.microsoft.com/office/drawing/2014/main" id="{CBB369D0-3314-B528-6346-F7791377C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5" y="2534636"/>
            <a:ext cx="2447925" cy="935037"/>
          </a:xfrm>
          <a:prstGeom prst="roundRect">
            <a:avLst>
              <a:gd name="adj" fmla="val 16667"/>
            </a:avLst>
          </a:prstGeom>
          <a:solidFill>
            <a:srgbClr val="DD9C97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ahoma" panose="020B0604030504040204" pitchFamily="34" charset="0"/>
              </a:rPr>
              <a:t>Everything Else</a:t>
            </a:r>
          </a:p>
        </p:txBody>
      </p:sp>
      <p:sp>
        <p:nvSpPr>
          <p:cNvPr id="16388" name="AutoShape 5">
            <a:extLst>
              <a:ext uri="{FF2B5EF4-FFF2-40B4-BE49-F238E27FC236}">
                <a16:creationId xmlns:a16="http://schemas.microsoft.com/office/drawing/2014/main" id="{E13FC4CB-32B2-D79F-439E-8508752E3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1" y="1454340"/>
            <a:ext cx="1079500" cy="863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 dirty="0">
                <a:latin typeface="Tahoma" panose="020B0604030504040204" pitchFamily="34" charset="0"/>
              </a:rPr>
              <a:t>Simple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 dirty="0">
                <a:latin typeface="Tahoma" panose="020B0604030504040204" pitchFamily="34" charset="0"/>
              </a:rPr>
              <a:t>Class A</a:t>
            </a:r>
          </a:p>
        </p:txBody>
      </p:sp>
      <p:sp>
        <p:nvSpPr>
          <p:cNvPr id="16389" name="AutoShape 6">
            <a:extLst>
              <a:ext uri="{FF2B5EF4-FFF2-40B4-BE49-F238E27FC236}">
                <a16:creationId xmlns:a16="http://schemas.microsoft.com/office/drawing/2014/main" id="{D78F7DA3-E22A-6989-C688-6BB4C82AE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423" y="1447800"/>
            <a:ext cx="1079500" cy="863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ahoma" panose="020B0604030504040204" pitchFamily="34" charset="0"/>
              </a:rPr>
              <a:t>Simple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ahoma" panose="020B0604030504040204" pitchFamily="34" charset="0"/>
              </a:rPr>
              <a:t>Class B</a:t>
            </a:r>
          </a:p>
        </p:txBody>
      </p:sp>
      <p:sp>
        <p:nvSpPr>
          <p:cNvPr id="16390" name="AutoShape 7">
            <a:extLst>
              <a:ext uri="{FF2B5EF4-FFF2-40B4-BE49-F238E27FC236}">
                <a16:creationId xmlns:a16="http://schemas.microsoft.com/office/drawing/2014/main" id="{10751BB6-88E1-EC37-EF7D-0635FFAE0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1" y="3830034"/>
            <a:ext cx="1079500" cy="863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ahoma" panose="020B0604030504040204" pitchFamily="34" charset="0"/>
              </a:rPr>
              <a:t>Simple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ahoma" panose="020B0604030504040204" pitchFamily="34" charset="0"/>
              </a:rPr>
              <a:t>Class C</a:t>
            </a:r>
          </a:p>
        </p:txBody>
      </p:sp>
      <p:sp>
        <p:nvSpPr>
          <p:cNvPr id="16391" name="AutoShape 8">
            <a:extLst>
              <a:ext uri="{FF2B5EF4-FFF2-40B4-BE49-F238E27FC236}">
                <a16:creationId xmlns:a16="http://schemas.microsoft.com/office/drawing/2014/main" id="{DAEBF945-56C9-2787-CB8F-85B11AC38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9" y="4334859"/>
            <a:ext cx="1079500" cy="863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ahoma" panose="020B0604030504040204" pitchFamily="34" charset="0"/>
              </a:rPr>
              <a:t>Simple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ahoma" panose="020B0604030504040204" pitchFamily="34" charset="0"/>
              </a:rPr>
              <a:t>Class D</a:t>
            </a:r>
          </a:p>
        </p:txBody>
      </p:sp>
      <p:sp>
        <p:nvSpPr>
          <p:cNvPr id="16392" name="AutoShape 9">
            <a:extLst>
              <a:ext uri="{FF2B5EF4-FFF2-40B4-BE49-F238E27FC236}">
                <a16:creationId xmlns:a16="http://schemas.microsoft.com/office/drawing/2014/main" id="{59C99C4E-7FEA-A9BD-595A-1B8A9731D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9" y="3830034"/>
            <a:ext cx="1079500" cy="863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ahoma" panose="020B0604030504040204" pitchFamily="34" charset="0"/>
              </a:rPr>
              <a:t>Simple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ahoma" panose="020B0604030504040204" pitchFamily="34" charset="0"/>
              </a:rPr>
              <a:t>Class E</a:t>
            </a:r>
          </a:p>
        </p:txBody>
      </p:sp>
      <p:sp>
        <p:nvSpPr>
          <p:cNvPr id="16393" name="Line 10">
            <a:extLst>
              <a:ext uri="{FF2B5EF4-FFF2-40B4-BE49-F238E27FC236}">
                <a16:creationId xmlns:a16="http://schemas.microsoft.com/office/drawing/2014/main" id="{21D2716D-CCE7-AD60-F1F9-C51D78724A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4" y="2317940"/>
            <a:ext cx="431801" cy="21669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94" name="Line 11">
            <a:extLst>
              <a:ext uri="{FF2B5EF4-FFF2-40B4-BE49-F238E27FC236}">
                <a16:creationId xmlns:a16="http://schemas.microsoft.com/office/drawing/2014/main" id="{9D735666-C334-0D29-D332-974ECD5F29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8264" y="3469673"/>
            <a:ext cx="360363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95" name="Line 12">
            <a:extLst>
              <a:ext uri="{FF2B5EF4-FFF2-40B4-BE49-F238E27FC236}">
                <a16:creationId xmlns:a16="http://schemas.microsoft.com/office/drawing/2014/main" id="{C1C58B31-F21D-7C83-68BF-AE7DC987D3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67628" y="3469673"/>
            <a:ext cx="288925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96" name="Line 13">
            <a:extLst>
              <a:ext uri="{FF2B5EF4-FFF2-40B4-BE49-F238E27FC236}">
                <a16:creationId xmlns:a16="http://schemas.microsoft.com/office/drawing/2014/main" id="{4D68C8AE-1806-8E00-F65B-34DA9498A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8125" y="3469672"/>
            <a:ext cx="0" cy="865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97" name="Line 14">
            <a:extLst>
              <a:ext uri="{FF2B5EF4-FFF2-40B4-BE49-F238E27FC236}">
                <a16:creationId xmlns:a16="http://schemas.microsoft.com/office/drawing/2014/main" id="{22906048-E7A2-1636-7AF3-9479E966A4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1" y="2174272"/>
            <a:ext cx="369572" cy="36036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98" name="Rectangle 1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03C4B4E-3373-B0FB-6316-9CCF4234A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78" y="1431231"/>
            <a:ext cx="3332800" cy="237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one class monopolizes the processing, other classes primarily encapsulate data </a:t>
            </a:r>
          </a:p>
          <a:p>
            <a:pPr eaLnBrk="1" hangingPunct="1"/>
            <a:endParaRPr lang="en-US" altLang="en-US" sz="2400" dirty="0"/>
          </a:p>
        </p:txBody>
      </p:sp>
      <p:pic>
        <p:nvPicPr>
          <p:cNvPr id="1028" name="Picture 4" descr="a gold ring with the words &quot; one ring to rule them all &quot; on it">
            <a:extLst>
              <a:ext uri="{FF2B5EF4-FFF2-40B4-BE49-F238E27FC236}">
                <a16:creationId xmlns:a16="http://schemas.microsoft.com/office/drawing/2014/main" id="{43567997-C148-C7FA-199A-9CED23402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09999"/>
            <a:ext cx="2513013" cy="266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B9B2FE-9DE6-9C50-8608-DC15E00BE208}"/>
              </a:ext>
            </a:extLst>
          </p:cNvPr>
          <p:cNvSpPr txBox="1"/>
          <p:nvPr/>
        </p:nvSpPr>
        <p:spPr>
          <a:xfrm>
            <a:off x="4419601" y="6095999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procedural design disguised in objects and OOP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D29988-9345-12E4-A9AE-47BFE13F2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Blob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CCDFE-C1D1-B041-3272-05B5A7DB1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900"/>
              </a:spcBef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Overly Complex Class: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Handles multiple unrelated tasks.</a:t>
            </a:r>
          </a:p>
          <a:p>
            <a:pPr>
              <a:spcBef>
                <a:spcPts val="900"/>
              </a:spcBef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High Coupling: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Interacts with many other classes.</a:t>
            </a:r>
          </a:p>
          <a:p>
            <a:pPr>
              <a:spcBef>
                <a:spcPts val="900"/>
              </a:spcBef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Difficult to Maintain: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Hard to understand and modify.</a:t>
            </a:r>
          </a:p>
          <a:p>
            <a:pPr>
              <a:spcBef>
                <a:spcPts val="900"/>
              </a:spcBef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Single Point of Failure: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Changes can have widespread impact.</a:t>
            </a:r>
          </a:p>
          <a:p>
            <a:pPr>
              <a:spcBef>
                <a:spcPts val="900"/>
              </a:spcBef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11111"/>
                </a:solidFill>
                <a:latin typeface="-apple-system"/>
              </a:rPr>
              <a:t>cohesion? coupling? SRP?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0454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423078E-31B7-7339-4DE2-6A0EB54563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Blob Example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E97F0B5-C6D4-4C64-D2BC-22B0F7EDF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9" y="1150942"/>
            <a:ext cx="3433763" cy="5438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tr-TR" altLang="tr-TR" sz="1800" dirty="0">
              <a:latin typeface="Tahoma" panose="020B0604030504040204" pitchFamily="34" charset="0"/>
            </a:endParaRP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F3EF724B-A686-B5A6-5C67-F54F37905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2" y="1274763"/>
            <a:ext cx="16094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LibraryControl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B3073397-16B0-ED11-AC5E-3C87A712F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9" y="2066926"/>
            <a:ext cx="2601674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doInventory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checkOut</a:t>
            </a:r>
            <a:r>
              <a:rPr lang="en-US" altLang="tr-TR" sz="1800" dirty="0"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checkIn</a:t>
            </a:r>
            <a:r>
              <a:rPr lang="en-US" altLang="tr-TR" sz="1800" dirty="0"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printCatalog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sortCatalog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searchCatalog</a:t>
            </a:r>
            <a:r>
              <a:rPr lang="en-US" altLang="tr-TR" sz="1800" dirty="0">
                <a:latin typeface="Tahoma" panose="020B0604030504040204" pitchFamily="34" charset="0"/>
              </a:rPr>
              <a:t>(param)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editItem</a:t>
            </a:r>
            <a:r>
              <a:rPr lang="en-US" altLang="tr-TR" sz="1800" dirty="0"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findItem</a:t>
            </a:r>
            <a:r>
              <a:rPr lang="en-US" altLang="tr-TR" sz="1800" dirty="0"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+print()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listCatalogs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issueLibraryCard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activateCatalogs</a:t>
            </a:r>
            <a:r>
              <a:rPr lang="en-US" altLang="tr-TR" sz="1800" dirty="0">
                <a:latin typeface="Tahoma" panose="020B0604030504040204" pitchFamily="34" charset="0"/>
              </a:rPr>
              <a:t>(..)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calculateLateFine</a:t>
            </a:r>
            <a:r>
              <a:rPr lang="en-US" altLang="tr-TR" sz="1800" dirty="0">
                <a:latin typeface="Tahoma" panose="020B0604030504040204" pitchFamily="34" charset="0"/>
              </a:rPr>
              <a:t>(…)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returnBook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……..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E60352F4-3BF1-31F4-CBC2-1B8C8446B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216" y="6380165"/>
            <a:ext cx="29417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400">
                <a:latin typeface="Tahoma" panose="020B0604030504040204" pitchFamily="34" charset="0"/>
              </a:rPr>
              <a:t>From http://www.antipatterns.com</a:t>
            </a:r>
          </a:p>
        </p:txBody>
      </p:sp>
      <p:sp>
        <p:nvSpPr>
          <p:cNvPr id="22535" name="Rectangle 10">
            <a:extLst>
              <a:ext uri="{FF2B5EF4-FFF2-40B4-BE49-F238E27FC236}">
                <a16:creationId xmlns:a16="http://schemas.microsoft.com/office/drawing/2014/main" id="{EA5E07BF-F6E3-1A2B-939A-A9796B196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8" y="4572001"/>
            <a:ext cx="1400175" cy="1466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22536" name="Text Box 11">
            <a:extLst>
              <a:ext uri="{FF2B5EF4-FFF2-40B4-BE49-F238E27FC236}">
                <a16:creationId xmlns:a16="http://schemas.microsoft.com/office/drawing/2014/main" id="{66D5A314-DAD6-89C4-7410-7469876EE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716" y="4660901"/>
            <a:ext cx="9492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Catalog</a:t>
            </a:r>
          </a:p>
        </p:txBody>
      </p:sp>
      <p:sp>
        <p:nvSpPr>
          <p:cNvPr id="22537" name="Text Box 12">
            <a:extLst>
              <a:ext uri="{FF2B5EF4-FFF2-40B4-BE49-F238E27FC236}">
                <a16:creationId xmlns:a16="http://schemas.microsoft.com/office/drawing/2014/main" id="{C87E567C-E109-4EBA-C883-B0EEF4691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089" y="5038725"/>
            <a:ext cx="1211550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-topic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-inventory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….</a:t>
            </a:r>
          </a:p>
        </p:txBody>
      </p:sp>
      <p:sp>
        <p:nvSpPr>
          <p:cNvPr id="22538" name="Line 13">
            <a:extLst>
              <a:ext uri="{FF2B5EF4-FFF2-40B4-BE49-F238E27FC236}">
                <a16:creationId xmlns:a16="http://schemas.microsoft.com/office/drawing/2014/main" id="{DE654D6F-59E9-C641-1C27-7D805FCBB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3101" y="5000625"/>
            <a:ext cx="139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Line 14">
            <a:extLst>
              <a:ext uri="{FF2B5EF4-FFF2-40B4-BE49-F238E27FC236}">
                <a16:creationId xmlns:a16="http://schemas.microsoft.com/office/drawing/2014/main" id="{18D149FB-61F5-5A1C-BB20-38A0089EA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801" y="5915025"/>
            <a:ext cx="139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15">
            <a:extLst>
              <a:ext uri="{FF2B5EF4-FFF2-40B4-BE49-F238E27FC236}">
                <a16:creationId xmlns:a16="http://schemas.microsoft.com/office/drawing/2014/main" id="{93B9EB97-6E17-0BBE-9F90-353A8CCCD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191" y="1747839"/>
            <a:ext cx="3482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Line 16">
            <a:extLst>
              <a:ext uri="{FF2B5EF4-FFF2-40B4-BE49-F238E27FC236}">
                <a16:creationId xmlns:a16="http://schemas.microsoft.com/office/drawing/2014/main" id="{3CC348B7-F174-633F-59C7-8B82807C8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3" y="1868488"/>
            <a:ext cx="3482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542" name="Group 5">
            <a:extLst>
              <a:ext uri="{FF2B5EF4-FFF2-40B4-BE49-F238E27FC236}">
                <a16:creationId xmlns:a16="http://schemas.microsoft.com/office/drawing/2014/main" id="{943C1D7F-A50C-1823-3FC8-68A2741BEA61}"/>
              </a:ext>
            </a:extLst>
          </p:cNvPr>
          <p:cNvGrpSpPr>
            <a:grpSpLocks/>
          </p:cNvGrpSpPr>
          <p:nvPr/>
        </p:nvGrpSpPr>
        <p:grpSpPr bwMode="auto">
          <a:xfrm>
            <a:off x="7543804" y="2738438"/>
            <a:ext cx="1385889" cy="1466851"/>
            <a:chOff x="5702300" y="1922463"/>
            <a:chExt cx="1385888" cy="146685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2552" name="Rectangle 7">
              <a:extLst>
                <a:ext uri="{FF2B5EF4-FFF2-40B4-BE49-F238E27FC236}">
                  <a16:creationId xmlns:a16="http://schemas.microsoft.com/office/drawing/2014/main" id="{DC147DE1-52C5-19A7-3A6D-FEDE54DF2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300" y="1922463"/>
              <a:ext cx="1344613" cy="14668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tr-TR" altLang="tr-TR" sz="1800"/>
            </a:p>
          </p:txBody>
        </p:sp>
        <p:sp>
          <p:nvSpPr>
            <p:cNvPr id="22553" name="Text Box 8">
              <a:extLst>
                <a:ext uri="{FF2B5EF4-FFF2-40B4-BE49-F238E27FC236}">
                  <a16:creationId xmlns:a16="http://schemas.microsoft.com/office/drawing/2014/main" id="{57BB2003-DA3B-E3EC-F87B-38AA8577C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0439" y="1944688"/>
              <a:ext cx="867031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 dirty="0">
                  <a:latin typeface="Tahoma" panose="020B0604030504040204" pitchFamily="34" charset="0"/>
                </a:rPr>
                <a:t>Person</a:t>
              </a:r>
            </a:p>
          </p:txBody>
        </p:sp>
        <p:sp>
          <p:nvSpPr>
            <p:cNvPr id="22554" name="Text Box 9">
              <a:extLst>
                <a:ext uri="{FF2B5EF4-FFF2-40B4-BE49-F238E27FC236}">
                  <a16:creationId xmlns:a16="http://schemas.microsoft.com/office/drawing/2014/main" id="{5A4B7F26-3D88-F2BF-881E-E57A92D9B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1525" y="2403475"/>
              <a:ext cx="527709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-….</a:t>
              </a:r>
            </a:p>
          </p:txBody>
        </p:sp>
        <p:sp>
          <p:nvSpPr>
            <p:cNvPr id="22555" name="Line 17">
              <a:extLst>
                <a:ext uri="{FF2B5EF4-FFF2-40B4-BE49-F238E27FC236}">
                  <a16:creationId xmlns:a16="http://schemas.microsoft.com/office/drawing/2014/main" id="{079E7EFC-F66A-AB80-2279-EB48CDF8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2312988"/>
              <a:ext cx="133191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Line 18">
              <a:extLst>
                <a:ext uri="{FF2B5EF4-FFF2-40B4-BE49-F238E27FC236}">
                  <a16:creationId xmlns:a16="http://schemas.microsoft.com/office/drawing/2014/main" id="{5CD23576-5C58-E010-3969-ABD03BCF3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275" y="3268663"/>
              <a:ext cx="133191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2543" name="Straight Connector 2">
            <a:extLst>
              <a:ext uri="{FF2B5EF4-FFF2-40B4-BE49-F238E27FC236}">
                <a16:creationId xmlns:a16="http://schemas.microsoft.com/office/drawing/2014/main" id="{F121FE9F-2C0A-2013-1C79-A4B7A1DA744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67166" y="2514600"/>
            <a:ext cx="1735137" cy="1412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Straight Connector 22">
            <a:extLst>
              <a:ext uri="{FF2B5EF4-FFF2-40B4-BE49-F238E27FC236}">
                <a16:creationId xmlns:a16="http://schemas.microsoft.com/office/drawing/2014/main" id="{767EE59F-3AD7-3BD1-D995-0A20915B512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08426" y="4697416"/>
            <a:ext cx="1735139" cy="1412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2545" name="Group 25">
            <a:extLst>
              <a:ext uri="{FF2B5EF4-FFF2-40B4-BE49-F238E27FC236}">
                <a16:creationId xmlns:a16="http://schemas.microsoft.com/office/drawing/2014/main" id="{85B30FE4-7EC0-765D-C113-983D1CFA6793}"/>
              </a:ext>
            </a:extLst>
          </p:cNvPr>
          <p:cNvGrpSpPr>
            <a:grpSpLocks/>
          </p:cNvGrpSpPr>
          <p:nvPr/>
        </p:nvGrpSpPr>
        <p:grpSpPr bwMode="auto">
          <a:xfrm>
            <a:off x="5854702" y="2074864"/>
            <a:ext cx="1385888" cy="1466851"/>
            <a:chOff x="5702300" y="1922463"/>
            <a:chExt cx="1385888" cy="146685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2547" name="Rectangle 7">
              <a:extLst>
                <a:ext uri="{FF2B5EF4-FFF2-40B4-BE49-F238E27FC236}">
                  <a16:creationId xmlns:a16="http://schemas.microsoft.com/office/drawing/2014/main" id="{F1A8A6A8-099F-AEEB-1F98-7B6803586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300" y="1922463"/>
              <a:ext cx="1344613" cy="14668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tr-TR" altLang="tr-TR" sz="1800"/>
            </a:p>
          </p:txBody>
        </p:sp>
        <p:sp>
          <p:nvSpPr>
            <p:cNvPr id="22548" name="Text Box 8">
              <a:extLst>
                <a:ext uri="{FF2B5EF4-FFF2-40B4-BE49-F238E27FC236}">
                  <a16:creationId xmlns:a16="http://schemas.microsoft.com/office/drawing/2014/main" id="{085E6277-67FE-868B-FD3B-688E3BF2C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0439" y="1944688"/>
              <a:ext cx="663964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Item</a:t>
              </a:r>
            </a:p>
          </p:txBody>
        </p:sp>
        <p:sp>
          <p:nvSpPr>
            <p:cNvPr id="22549" name="Text Box 9">
              <a:extLst>
                <a:ext uri="{FF2B5EF4-FFF2-40B4-BE49-F238E27FC236}">
                  <a16:creationId xmlns:a16="http://schemas.microsoft.com/office/drawing/2014/main" id="{03BA07E1-69ED-7DBF-57C2-B78BCAF39A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1525" y="2403475"/>
              <a:ext cx="929613" cy="92332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-title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-author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….</a:t>
              </a:r>
            </a:p>
          </p:txBody>
        </p:sp>
        <p:sp>
          <p:nvSpPr>
            <p:cNvPr id="22550" name="Line 17">
              <a:extLst>
                <a:ext uri="{FF2B5EF4-FFF2-40B4-BE49-F238E27FC236}">
                  <a16:creationId xmlns:a16="http://schemas.microsoft.com/office/drawing/2014/main" id="{C6DDB51C-3560-0189-83A8-34F14E65E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2312988"/>
              <a:ext cx="133191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18">
              <a:extLst>
                <a:ext uri="{FF2B5EF4-FFF2-40B4-BE49-F238E27FC236}">
                  <a16:creationId xmlns:a16="http://schemas.microsoft.com/office/drawing/2014/main" id="{0281A79E-A2DA-CD4F-1996-C3E10D419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275" y="3268663"/>
              <a:ext cx="133191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2546" name="Straight Connector 7">
            <a:extLst>
              <a:ext uri="{FF2B5EF4-FFF2-40B4-BE49-F238E27FC236}">
                <a16:creationId xmlns:a16="http://schemas.microsoft.com/office/drawing/2014/main" id="{D5F02CCA-E392-6697-58AC-A7383FDF5CD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40178" y="3589342"/>
            <a:ext cx="3603625" cy="4460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ADC8394-0EA1-3CA5-E07C-A489D7CADD7C}"/>
              </a:ext>
            </a:extLst>
          </p:cNvPr>
          <p:cNvSpPr/>
          <p:nvPr/>
        </p:nvSpPr>
        <p:spPr bwMode="auto">
          <a:xfrm>
            <a:off x="5339428" y="303730"/>
            <a:ext cx="3728372" cy="17701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Bug Fix:</a:t>
            </a:r>
            <a:r>
              <a:rPr lang="en-US" dirty="0"/>
              <a:t> A 'Premium' user is being charged the 'Standard' user fine. Find the bug in </a:t>
            </a:r>
            <a:r>
              <a:rPr lang="en-US" dirty="0" err="1">
                <a:latin typeface="Arial" charset="0"/>
              </a:rPr>
              <a:t>returnBook</a:t>
            </a:r>
            <a:r>
              <a:rPr lang="en-US" dirty="0">
                <a:latin typeface="Arial" charset="0"/>
              </a:rPr>
              <a:t>(?)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New Feature:</a:t>
            </a:r>
            <a:r>
              <a:rPr lang="en-US" dirty="0"/>
              <a:t> We need a 'Book Reservation’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C29A5-D360-BC43-96A0-BEDFFD0ED2A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381000"/>
            <a:ext cx="9067800" cy="453231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public class </a:t>
            </a:r>
            <a:r>
              <a:rPr lang="en-US" sz="1800" dirty="0" err="1"/>
              <a:t>LibraryControl</a:t>
            </a:r>
            <a:r>
              <a:rPr lang="en-US" sz="1800" dirty="0"/>
              <a:t> { //15 </a:t>
            </a:r>
            <a:r>
              <a:rPr lang="en-US" sz="1800" dirty="0" err="1"/>
              <a:t>atttributes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public </a:t>
            </a:r>
            <a:r>
              <a:rPr lang="en-US" sz="1800" dirty="0" err="1"/>
              <a:t>LibraryControl</a:t>
            </a:r>
            <a:r>
              <a:rPr lang="en-US" sz="1800" dirty="0"/>
              <a:t>(){…}  //...a huge constructor that initializes everything...</a:t>
            </a:r>
          </a:p>
          <a:p>
            <a:pPr marL="0" indent="0">
              <a:buNone/>
            </a:pPr>
            <a:r>
              <a:rPr lang="en-US" sz="1800" dirty="0"/>
              <a:t>    //….methods for user management: book registration, inventory, etc. ...</a:t>
            </a:r>
          </a:p>
          <a:p>
            <a:pPr marL="0" indent="0">
              <a:buNone/>
            </a:pPr>
            <a:r>
              <a:rPr lang="en-US" sz="1800" dirty="0"/>
              <a:t>    public void </a:t>
            </a:r>
            <a:r>
              <a:rPr lang="en-US" sz="1800" dirty="0" err="1"/>
              <a:t>issueBook</a:t>
            </a:r>
            <a:r>
              <a:rPr lang="en-US" sz="1800" dirty="0"/>
              <a:t>(int </a:t>
            </a:r>
            <a:r>
              <a:rPr lang="en-US" sz="1800" dirty="0" err="1"/>
              <a:t>userID</a:t>
            </a:r>
            <a:r>
              <a:rPr lang="en-US" sz="1800" dirty="0"/>
              <a:t>, int </a:t>
            </a:r>
            <a:r>
              <a:rPr lang="en-US" sz="1800" dirty="0" err="1"/>
              <a:t>bookID</a:t>
            </a:r>
            <a:r>
              <a:rPr lang="en-US" sz="1800" dirty="0"/>
              <a:t>) {   // ... </a:t>
            </a:r>
            <a:r>
              <a:rPr lang="en-US" sz="1800" dirty="0">
                <a:solidFill>
                  <a:srgbClr val="002060"/>
                </a:solidFill>
              </a:rPr>
              <a:t>50 lines of code</a:t>
            </a:r>
            <a:r>
              <a:rPr lang="en-US" sz="1800" dirty="0"/>
              <a:t> ...</a:t>
            </a:r>
          </a:p>
          <a:p>
            <a:pPr marL="0" indent="0">
              <a:buNone/>
            </a:pPr>
            <a:r>
              <a:rPr lang="en-US" sz="1800" dirty="0"/>
              <a:t>        // ... logic to check user status, book availability ...</a:t>
            </a:r>
          </a:p>
          <a:p>
            <a:pPr marL="0" indent="0">
              <a:buNone/>
            </a:pPr>
            <a:r>
              <a:rPr lang="en-US" sz="1800" dirty="0"/>
              <a:t>        // ... logic to update database and send email notification ...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    public void </a:t>
            </a:r>
            <a:r>
              <a:rPr lang="en-US" sz="1800" dirty="0" err="1"/>
              <a:t>returnBook</a:t>
            </a:r>
            <a:r>
              <a:rPr lang="en-US" sz="1800" dirty="0"/>
              <a:t>(int </a:t>
            </a:r>
            <a:r>
              <a:rPr lang="en-US" sz="1800" dirty="0" err="1"/>
              <a:t>userID</a:t>
            </a:r>
            <a:r>
              <a:rPr lang="en-US" sz="1800" dirty="0"/>
              <a:t>, int </a:t>
            </a:r>
            <a:r>
              <a:rPr lang="en-US" sz="1800" dirty="0" err="1"/>
              <a:t>bookID</a:t>
            </a:r>
            <a:r>
              <a:rPr lang="en-US" sz="1800" dirty="0"/>
              <a:t>) {    // ...</a:t>
            </a:r>
            <a:r>
              <a:rPr lang="en-US" sz="1800" b="1" dirty="0">
                <a:solidFill>
                  <a:srgbClr val="002060"/>
                </a:solidFill>
              </a:rPr>
              <a:t> 60 lines of code </a:t>
            </a:r>
            <a:r>
              <a:rPr lang="en-US" sz="1800" dirty="0"/>
              <a:t>...</a:t>
            </a:r>
          </a:p>
          <a:p>
            <a:pPr marL="0" indent="0">
              <a:buNone/>
            </a:pPr>
            <a:r>
              <a:rPr lang="en-US" sz="1800" dirty="0"/>
              <a:t>         if (</a:t>
            </a:r>
            <a:r>
              <a:rPr lang="en-US" sz="1800" dirty="0" err="1"/>
              <a:t>isOverdue</a:t>
            </a:r>
            <a:r>
              <a:rPr lang="en-US" sz="1800" dirty="0"/>
              <a:t>(</a:t>
            </a:r>
            <a:r>
              <a:rPr lang="en-US" sz="1800" dirty="0" err="1"/>
              <a:t>bookID</a:t>
            </a:r>
            <a:r>
              <a:rPr lang="en-US" sz="1800" dirty="0"/>
              <a:t>)) {      // ... logic to check if late ...</a:t>
            </a:r>
          </a:p>
          <a:p>
            <a:pPr marL="0" indent="0">
              <a:buNone/>
            </a:pPr>
            <a:r>
              <a:rPr lang="en-US" sz="1800" dirty="0"/>
              <a:t>            double fine = 0;         </a:t>
            </a:r>
          </a:p>
          <a:p>
            <a:pPr marL="0" indent="0">
              <a:buNone/>
            </a:pPr>
            <a:r>
              <a:rPr lang="en-US" sz="1800" dirty="0"/>
              <a:t>            if (</a:t>
            </a:r>
            <a:r>
              <a:rPr lang="en-US" sz="1800" dirty="0" err="1"/>
              <a:t>getUser</a:t>
            </a:r>
            <a:r>
              <a:rPr lang="en-US" sz="1800" dirty="0"/>
              <a:t>(</a:t>
            </a:r>
            <a:r>
              <a:rPr lang="en-US" sz="1800" dirty="0" err="1"/>
              <a:t>userID</a:t>
            </a:r>
            <a:r>
              <a:rPr lang="en-US" sz="1800" dirty="0"/>
              <a:t>).</a:t>
            </a:r>
            <a:r>
              <a:rPr lang="en-US" sz="1800" dirty="0" err="1"/>
              <a:t>isPremiumMember</a:t>
            </a:r>
            <a:r>
              <a:rPr lang="en-US" sz="1800" dirty="0"/>
              <a:t>())  fine = 2.50;   </a:t>
            </a:r>
          </a:p>
          <a:p>
            <a:pPr marL="0" indent="0">
              <a:buNone/>
            </a:pPr>
            <a:r>
              <a:rPr lang="en-US" sz="1800" dirty="0"/>
              <a:t>            else  fine = 2.50</a:t>
            </a:r>
          </a:p>
          <a:p>
            <a:pPr marL="0" indent="0">
              <a:buNone/>
            </a:pPr>
            <a:r>
              <a:rPr lang="en-US" sz="1800" dirty="0"/>
              <a:t>            // ... more logic ...</a:t>
            </a:r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paymentProcessor.chargeFine</a:t>
            </a:r>
            <a:r>
              <a:rPr lang="en-US" sz="1800" dirty="0"/>
              <a:t>(</a:t>
            </a:r>
            <a:r>
              <a:rPr lang="en-US" sz="1800" dirty="0" err="1"/>
              <a:t>userID</a:t>
            </a:r>
            <a:r>
              <a:rPr lang="en-US" sz="1800" dirty="0"/>
              <a:t>, fine);</a:t>
            </a:r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notifier.sendFineEmail</a:t>
            </a:r>
            <a:r>
              <a:rPr lang="en-US" sz="1800" dirty="0"/>
              <a:t>(</a:t>
            </a:r>
            <a:r>
              <a:rPr lang="en-US" sz="1800" dirty="0" err="1"/>
              <a:t>userID</a:t>
            </a:r>
            <a:r>
              <a:rPr lang="en-US" sz="1800" dirty="0"/>
              <a:t>, fine);</a:t>
            </a:r>
          </a:p>
          <a:p>
            <a:pPr marL="0" indent="0">
              <a:buNone/>
            </a:pPr>
            <a:r>
              <a:rPr lang="en-US" sz="1800" dirty="0"/>
              <a:t>        } //…logic to update the database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    public void </a:t>
            </a:r>
            <a:r>
              <a:rPr lang="en-US" sz="1800" dirty="0" err="1"/>
              <a:t>generateOverdueReport</a:t>
            </a:r>
            <a:r>
              <a:rPr lang="en-US" sz="1800" dirty="0"/>
              <a:t>(String </a:t>
            </a:r>
            <a:r>
              <a:rPr lang="en-US" sz="1800" dirty="0" err="1"/>
              <a:t>reportType</a:t>
            </a:r>
            <a:r>
              <a:rPr lang="en-US" sz="1800" dirty="0"/>
              <a:t>) {        // ... </a:t>
            </a:r>
            <a:r>
              <a:rPr lang="en-US" sz="1800" dirty="0">
                <a:solidFill>
                  <a:srgbClr val="002060"/>
                </a:solidFill>
              </a:rPr>
              <a:t>80 lines of code</a:t>
            </a:r>
            <a:r>
              <a:rPr lang="en-US" sz="1800" dirty="0"/>
              <a:t> ...</a:t>
            </a:r>
          </a:p>
          <a:p>
            <a:pPr marL="0" indent="0">
              <a:buNone/>
            </a:pPr>
            <a:r>
              <a:rPr lang="en-US" sz="1800" dirty="0"/>
              <a:t>        // ... complex database query ... // ... logic to format and email report to managers ..    }}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EFBBD-6545-CA81-87EB-5A6A00F041C3}"/>
              </a:ext>
            </a:extLst>
          </p:cNvPr>
          <p:cNvSpPr/>
          <p:nvPr/>
        </p:nvSpPr>
        <p:spPr bwMode="auto">
          <a:xfrm>
            <a:off x="6629400" y="3200400"/>
            <a:ext cx="2540000" cy="2514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Bug Fix:</a:t>
            </a:r>
            <a:r>
              <a:rPr lang="en-US" dirty="0"/>
              <a:t> A 'Premium' user is being charged the 'Standard' user fine. Find the bug in </a:t>
            </a:r>
            <a:r>
              <a:rPr lang="en-US" dirty="0" err="1">
                <a:latin typeface="Arial" charset="0"/>
              </a:rPr>
              <a:t>returnBook</a:t>
            </a:r>
            <a:r>
              <a:rPr lang="en-US" dirty="0">
                <a:latin typeface="Arial" charset="0"/>
              </a:rPr>
              <a:t>(?)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New Feature:</a:t>
            </a:r>
            <a:r>
              <a:rPr lang="en-US" dirty="0"/>
              <a:t> We need a 'Book Reservation’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0708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3EC3A-B16F-DAD5-CD14-935483A0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BB38D0D-F3A4-7231-0CE3-D7D1EB9377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Blob Example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D2E101E-8417-6547-F520-7BD547993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9" y="1150942"/>
            <a:ext cx="3433763" cy="5438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tr-TR" altLang="tr-TR" sz="1800" dirty="0">
              <a:latin typeface="Tahoma" panose="020B0604030504040204" pitchFamily="34" charset="0"/>
            </a:endParaRP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B353DC6D-5AC5-3A74-EA05-5AE405989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2" y="1274763"/>
            <a:ext cx="16094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LibraryControl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DBA8F0C-5F86-140E-C169-2090E3313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9" y="2066926"/>
            <a:ext cx="2601674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doInventory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checkOut</a:t>
            </a:r>
            <a:r>
              <a:rPr lang="en-US" altLang="tr-TR" sz="1800" dirty="0"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checkIn</a:t>
            </a:r>
            <a:r>
              <a:rPr lang="en-US" altLang="tr-TR" sz="1800" dirty="0"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printCatalog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sortCatalog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searchCatalog</a:t>
            </a:r>
            <a:r>
              <a:rPr lang="en-US" altLang="tr-TR" sz="1800" dirty="0">
                <a:latin typeface="Tahoma" panose="020B0604030504040204" pitchFamily="34" charset="0"/>
              </a:rPr>
              <a:t>(param)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editItem</a:t>
            </a:r>
            <a:r>
              <a:rPr lang="en-US" altLang="tr-TR" sz="1800" dirty="0"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findItem</a:t>
            </a:r>
            <a:r>
              <a:rPr lang="en-US" altLang="tr-TR" sz="1800" dirty="0"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+print()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listCatalogs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issueLibraryCard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activateCatalogs</a:t>
            </a:r>
            <a:r>
              <a:rPr lang="en-US" altLang="tr-TR" sz="1800" dirty="0">
                <a:latin typeface="Tahoma" panose="020B0604030504040204" pitchFamily="34" charset="0"/>
              </a:rPr>
              <a:t>(..)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calculateLateFine</a:t>
            </a:r>
            <a:r>
              <a:rPr lang="en-US" altLang="tr-TR" sz="1800" dirty="0">
                <a:latin typeface="Tahoma" panose="020B0604030504040204" pitchFamily="34" charset="0"/>
              </a:rPr>
              <a:t>(…)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……..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372E5313-BF8B-DDA3-123E-560D76014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216" y="6380165"/>
            <a:ext cx="29417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400">
                <a:latin typeface="Tahoma" panose="020B0604030504040204" pitchFamily="34" charset="0"/>
              </a:rPr>
              <a:t>From http://www.antipatterns.com</a:t>
            </a:r>
          </a:p>
        </p:txBody>
      </p:sp>
      <p:sp>
        <p:nvSpPr>
          <p:cNvPr id="22535" name="Rectangle 10">
            <a:extLst>
              <a:ext uri="{FF2B5EF4-FFF2-40B4-BE49-F238E27FC236}">
                <a16:creationId xmlns:a16="http://schemas.microsoft.com/office/drawing/2014/main" id="{94FE7E37-3138-872C-44C2-070EE1C6A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8" y="4572001"/>
            <a:ext cx="1400175" cy="1466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22536" name="Text Box 11">
            <a:extLst>
              <a:ext uri="{FF2B5EF4-FFF2-40B4-BE49-F238E27FC236}">
                <a16:creationId xmlns:a16="http://schemas.microsoft.com/office/drawing/2014/main" id="{DB9D92C4-2444-CFAD-000C-F6867DCD9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716" y="4660901"/>
            <a:ext cx="9492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Catalog</a:t>
            </a:r>
          </a:p>
        </p:txBody>
      </p:sp>
      <p:sp>
        <p:nvSpPr>
          <p:cNvPr id="22537" name="Text Box 12">
            <a:extLst>
              <a:ext uri="{FF2B5EF4-FFF2-40B4-BE49-F238E27FC236}">
                <a16:creationId xmlns:a16="http://schemas.microsoft.com/office/drawing/2014/main" id="{7A45597A-2DDC-6938-B922-66BBB5C28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089" y="5038725"/>
            <a:ext cx="1211550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-topic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-inventory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….</a:t>
            </a:r>
          </a:p>
        </p:txBody>
      </p:sp>
      <p:sp>
        <p:nvSpPr>
          <p:cNvPr id="22538" name="Line 13">
            <a:extLst>
              <a:ext uri="{FF2B5EF4-FFF2-40B4-BE49-F238E27FC236}">
                <a16:creationId xmlns:a16="http://schemas.microsoft.com/office/drawing/2014/main" id="{31631A06-20EB-76DC-3978-A48B43BDF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3101" y="5000625"/>
            <a:ext cx="139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Line 14">
            <a:extLst>
              <a:ext uri="{FF2B5EF4-FFF2-40B4-BE49-F238E27FC236}">
                <a16:creationId xmlns:a16="http://schemas.microsoft.com/office/drawing/2014/main" id="{5223B26F-4AE5-EFDF-BB19-68C68A293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801" y="5915025"/>
            <a:ext cx="139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15">
            <a:extLst>
              <a:ext uri="{FF2B5EF4-FFF2-40B4-BE49-F238E27FC236}">
                <a16:creationId xmlns:a16="http://schemas.microsoft.com/office/drawing/2014/main" id="{D79299F6-72A4-1BD2-ECBE-05AB16504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191" y="1747839"/>
            <a:ext cx="3482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Line 16">
            <a:extLst>
              <a:ext uri="{FF2B5EF4-FFF2-40B4-BE49-F238E27FC236}">
                <a16:creationId xmlns:a16="http://schemas.microsoft.com/office/drawing/2014/main" id="{E1752613-100D-3F27-78E3-04615C4137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3" y="1868488"/>
            <a:ext cx="3482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542" name="Group 5">
            <a:extLst>
              <a:ext uri="{FF2B5EF4-FFF2-40B4-BE49-F238E27FC236}">
                <a16:creationId xmlns:a16="http://schemas.microsoft.com/office/drawing/2014/main" id="{47677553-1FB7-2FA1-6E7C-7ED2AC9945F1}"/>
              </a:ext>
            </a:extLst>
          </p:cNvPr>
          <p:cNvGrpSpPr>
            <a:grpSpLocks/>
          </p:cNvGrpSpPr>
          <p:nvPr/>
        </p:nvGrpSpPr>
        <p:grpSpPr bwMode="auto">
          <a:xfrm>
            <a:off x="7543804" y="2738438"/>
            <a:ext cx="1385889" cy="1466851"/>
            <a:chOff x="5702300" y="1922463"/>
            <a:chExt cx="1385888" cy="146685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2552" name="Rectangle 7">
              <a:extLst>
                <a:ext uri="{FF2B5EF4-FFF2-40B4-BE49-F238E27FC236}">
                  <a16:creationId xmlns:a16="http://schemas.microsoft.com/office/drawing/2014/main" id="{6BBF8D7A-7B7C-AF9C-7E74-9DB1CF1EE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300" y="1922463"/>
              <a:ext cx="1344613" cy="14668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tr-TR" altLang="tr-TR" sz="1800"/>
            </a:p>
          </p:txBody>
        </p:sp>
        <p:sp>
          <p:nvSpPr>
            <p:cNvPr id="22553" name="Text Box 8">
              <a:extLst>
                <a:ext uri="{FF2B5EF4-FFF2-40B4-BE49-F238E27FC236}">
                  <a16:creationId xmlns:a16="http://schemas.microsoft.com/office/drawing/2014/main" id="{C2E8B7F9-90B4-A2C1-382D-7812B5593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0439" y="1944688"/>
              <a:ext cx="867031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 dirty="0">
                  <a:latin typeface="Tahoma" panose="020B0604030504040204" pitchFamily="34" charset="0"/>
                </a:rPr>
                <a:t>Person</a:t>
              </a:r>
            </a:p>
          </p:txBody>
        </p:sp>
        <p:sp>
          <p:nvSpPr>
            <p:cNvPr id="22554" name="Text Box 9">
              <a:extLst>
                <a:ext uri="{FF2B5EF4-FFF2-40B4-BE49-F238E27FC236}">
                  <a16:creationId xmlns:a16="http://schemas.microsoft.com/office/drawing/2014/main" id="{706E3E22-0E3F-A29D-2BD4-6B28394F2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1525" y="2403475"/>
              <a:ext cx="527709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-….</a:t>
              </a:r>
            </a:p>
          </p:txBody>
        </p:sp>
        <p:sp>
          <p:nvSpPr>
            <p:cNvPr id="22555" name="Line 17">
              <a:extLst>
                <a:ext uri="{FF2B5EF4-FFF2-40B4-BE49-F238E27FC236}">
                  <a16:creationId xmlns:a16="http://schemas.microsoft.com/office/drawing/2014/main" id="{E0AD64ED-55F6-D5CB-F7BE-59D1FAF2F6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2312988"/>
              <a:ext cx="133191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Line 18">
              <a:extLst>
                <a:ext uri="{FF2B5EF4-FFF2-40B4-BE49-F238E27FC236}">
                  <a16:creationId xmlns:a16="http://schemas.microsoft.com/office/drawing/2014/main" id="{F6D9F523-C5EB-EDDF-136C-CEDF76E8E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275" y="3268663"/>
              <a:ext cx="133191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2543" name="Straight Connector 2">
            <a:extLst>
              <a:ext uri="{FF2B5EF4-FFF2-40B4-BE49-F238E27FC236}">
                <a16:creationId xmlns:a16="http://schemas.microsoft.com/office/drawing/2014/main" id="{413BE652-3944-F774-4244-3DE1FEDDBFA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67166" y="2514600"/>
            <a:ext cx="1735137" cy="1412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Straight Connector 22">
            <a:extLst>
              <a:ext uri="{FF2B5EF4-FFF2-40B4-BE49-F238E27FC236}">
                <a16:creationId xmlns:a16="http://schemas.microsoft.com/office/drawing/2014/main" id="{FE20FE39-A34A-EC87-F1F3-CF1DBF50058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08426" y="4697416"/>
            <a:ext cx="1735139" cy="1412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2545" name="Group 25">
            <a:extLst>
              <a:ext uri="{FF2B5EF4-FFF2-40B4-BE49-F238E27FC236}">
                <a16:creationId xmlns:a16="http://schemas.microsoft.com/office/drawing/2014/main" id="{91F0013B-AE70-9EB0-B9E0-B531EF33F8DB}"/>
              </a:ext>
            </a:extLst>
          </p:cNvPr>
          <p:cNvGrpSpPr>
            <a:grpSpLocks/>
          </p:cNvGrpSpPr>
          <p:nvPr/>
        </p:nvGrpSpPr>
        <p:grpSpPr bwMode="auto">
          <a:xfrm>
            <a:off x="5854702" y="2074864"/>
            <a:ext cx="1385888" cy="1466851"/>
            <a:chOff x="5702300" y="1922463"/>
            <a:chExt cx="1385888" cy="146685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2547" name="Rectangle 7">
              <a:extLst>
                <a:ext uri="{FF2B5EF4-FFF2-40B4-BE49-F238E27FC236}">
                  <a16:creationId xmlns:a16="http://schemas.microsoft.com/office/drawing/2014/main" id="{6F94F438-65BB-9F00-88CF-C0344FB53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300" y="1922463"/>
              <a:ext cx="1344613" cy="14668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tr-TR" altLang="tr-TR" sz="1800"/>
            </a:p>
          </p:txBody>
        </p:sp>
        <p:sp>
          <p:nvSpPr>
            <p:cNvPr id="22548" name="Text Box 8">
              <a:extLst>
                <a:ext uri="{FF2B5EF4-FFF2-40B4-BE49-F238E27FC236}">
                  <a16:creationId xmlns:a16="http://schemas.microsoft.com/office/drawing/2014/main" id="{F0487718-DD05-FFF1-4D33-8C66C2BE7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0439" y="1944688"/>
              <a:ext cx="663964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Item</a:t>
              </a:r>
            </a:p>
          </p:txBody>
        </p:sp>
        <p:sp>
          <p:nvSpPr>
            <p:cNvPr id="22549" name="Text Box 9">
              <a:extLst>
                <a:ext uri="{FF2B5EF4-FFF2-40B4-BE49-F238E27FC236}">
                  <a16:creationId xmlns:a16="http://schemas.microsoft.com/office/drawing/2014/main" id="{50453835-7907-8DC5-F67A-583492527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1525" y="2403475"/>
              <a:ext cx="929613" cy="92332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-title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-author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tr-TR" sz="1800">
                  <a:latin typeface="Tahoma" panose="020B0604030504040204" pitchFamily="34" charset="0"/>
                </a:rPr>
                <a:t>….</a:t>
              </a:r>
            </a:p>
          </p:txBody>
        </p:sp>
        <p:sp>
          <p:nvSpPr>
            <p:cNvPr id="22550" name="Line 17">
              <a:extLst>
                <a:ext uri="{FF2B5EF4-FFF2-40B4-BE49-F238E27FC236}">
                  <a16:creationId xmlns:a16="http://schemas.microsoft.com/office/drawing/2014/main" id="{BDB5A108-A778-A278-F13F-E085FECD2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2312988"/>
              <a:ext cx="133191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18">
              <a:extLst>
                <a:ext uri="{FF2B5EF4-FFF2-40B4-BE49-F238E27FC236}">
                  <a16:creationId xmlns:a16="http://schemas.microsoft.com/office/drawing/2014/main" id="{6B63E405-94F5-25DC-B8ED-830C77737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275" y="3268663"/>
              <a:ext cx="133191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2546" name="Straight Connector 7">
            <a:extLst>
              <a:ext uri="{FF2B5EF4-FFF2-40B4-BE49-F238E27FC236}">
                <a16:creationId xmlns:a16="http://schemas.microsoft.com/office/drawing/2014/main" id="{A19E7F64-77ED-8F47-A1E2-DFC2EE29790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40178" y="3589342"/>
            <a:ext cx="3603625" cy="4460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75CF324-8BB7-124B-07DC-6E7FE9BCFE8B}"/>
              </a:ext>
            </a:extLst>
          </p:cNvPr>
          <p:cNvSpPr/>
          <p:nvPr/>
        </p:nvSpPr>
        <p:spPr bwMode="auto">
          <a:xfrm>
            <a:off x="5867401" y="-46831"/>
            <a:ext cx="3062292" cy="147806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charset="0"/>
              </a:rPr>
              <a:t>Fix Blob before adding new code.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the </a:t>
            </a:r>
            <a:r>
              <a:rPr lang="en-US" i="1" dirty="0"/>
              <a:t>different jobs</a:t>
            </a:r>
            <a:r>
              <a:rPr lang="en-US" dirty="0"/>
              <a:t> </a:t>
            </a:r>
            <a:r>
              <a:rPr lang="en-US" dirty="0" err="1"/>
              <a:t>LibraryControl</a:t>
            </a:r>
            <a:r>
              <a:rPr lang="en-US" dirty="0"/>
              <a:t> is trying to do all at once?</a:t>
            </a:r>
          </a:p>
        </p:txBody>
      </p:sp>
    </p:spTree>
    <p:extLst>
      <p:ext uri="{BB962C8B-B14F-4D97-AF65-F5344CB8AC3E}">
        <p14:creationId xmlns:p14="http://schemas.microsoft.com/office/powerpoint/2010/main" val="25130754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F44D1CA-47C1-2620-105A-D8535D524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Refactoring Blob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D04A7D8-0BF5-7158-5A27-155DF2613E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tr-TR" dirty="0"/>
              <a:t>Break down into smaller focused classes</a:t>
            </a:r>
          </a:p>
          <a:p>
            <a:pPr lvl="1"/>
            <a:r>
              <a:rPr lang="en-US" altLang="tr-TR" dirty="0"/>
              <a:t>Each class should handle one responsibility</a:t>
            </a:r>
          </a:p>
          <a:p>
            <a:pPr eaLnBrk="1" hangingPunct="1"/>
            <a:r>
              <a:rPr lang="en-US" altLang="tr-TR" dirty="0"/>
              <a:t>Distribute the responsibility and isolate the effect of changes</a:t>
            </a:r>
          </a:p>
          <a:p>
            <a:pPr lvl="1" eaLnBrk="1" hangingPunct="1"/>
            <a:r>
              <a:rPr lang="en-US" altLang="tr-TR" dirty="0"/>
              <a:t>Categorize related attributes and operations</a:t>
            </a:r>
          </a:p>
          <a:p>
            <a:pPr lvl="2" eaLnBrk="1" hangingPunct="1"/>
            <a:r>
              <a:rPr lang="en-US" altLang="tr-TR" dirty="0"/>
              <a:t>Consider cohesion</a:t>
            </a:r>
          </a:p>
          <a:p>
            <a:pPr lvl="1" eaLnBrk="1" hangingPunct="1"/>
            <a:r>
              <a:rPr lang="en-US" altLang="tr-TR" dirty="0"/>
              <a:t>Find natural hosts for these collections and migrate these code there</a:t>
            </a:r>
          </a:p>
          <a:p>
            <a:pPr lvl="1" eaLnBrk="1" hangingPunct="1"/>
            <a:r>
              <a:rPr lang="en-US" altLang="tr-TR" dirty="0"/>
              <a:t>Extract methods, subclasses, abstract classes</a:t>
            </a:r>
          </a:p>
          <a:p>
            <a:pPr lvl="1" eaLnBrk="1" hangingPunct="1"/>
            <a:r>
              <a:rPr lang="en-US" altLang="tr-TR" dirty="0"/>
              <a:t>Correct the associations/dependencies</a:t>
            </a:r>
          </a:p>
        </p:txBody>
      </p:sp>
    </p:spTree>
    <p:extLst>
      <p:ext uri="{BB962C8B-B14F-4D97-AF65-F5344CB8AC3E}">
        <p14:creationId xmlns:p14="http://schemas.microsoft.com/office/powerpoint/2010/main" val="25834187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6FB40E8-23E7-0951-5A73-26A76ED9A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1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tr-TR" dirty="0"/>
              <a:t>Breaking down the Blob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B2D0302-809B-76AA-9884-EA41AB96A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17" y="1125075"/>
            <a:ext cx="3433763" cy="54387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tr-TR" altLang="tr-TR" sz="1800">
              <a:latin typeface="Tahoma" panose="020B0604030504040204" pitchFamily="34" charset="0"/>
            </a:endParaRP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58B00CEA-C923-3EC8-A0C1-1F17EA512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2" y="1274763"/>
            <a:ext cx="16094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>
                <a:latin typeface="Tahoma" panose="020B0604030504040204" pitchFamily="34" charset="0"/>
              </a:rPr>
              <a:t>LibraryControl</a:t>
            </a:r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DF2719BA-4BDD-1A56-DF1A-F26672CD6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9" y="2066926"/>
            <a:ext cx="2601674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solidFill>
                  <a:srgbClr val="00FF00"/>
                </a:solidFill>
                <a:latin typeface="Tahoma" panose="020B0604030504040204" pitchFamily="34" charset="0"/>
              </a:rPr>
              <a:t>doInventory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solidFill>
                  <a:srgbClr val="00FF00"/>
                </a:solidFill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solidFill>
                  <a:srgbClr val="00FF00"/>
                </a:solidFill>
                <a:latin typeface="Tahoma" panose="020B0604030504040204" pitchFamily="34" charset="0"/>
              </a:rPr>
              <a:t>checkOut</a:t>
            </a:r>
            <a:r>
              <a:rPr lang="en-US" altLang="tr-TR" sz="1800" dirty="0">
                <a:solidFill>
                  <a:srgbClr val="00FF00"/>
                </a:solidFill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solidFill>
                  <a:srgbClr val="00FF00"/>
                </a:solidFill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solidFill>
                  <a:srgbClr val="00FF00"/>
                </a:solidFill>
                <a:latin typeface="Tahoma" panose="020B0604030504040204" pitchFamily="34" charset="0"/>
              </a:rPr>
              <a:t>checkIn</a:t>
            </a:r>
            <a:r>
              <a:rPr lang="en-US" altLang="tr-TR" sz="1800" dirty="0">
                <a:solidFill>
                  <a:srgbClr val="00FF00"/>
                </a:solidFill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printCatalog</a:t>
            </a: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sortCatalog</a:t>
            </a: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searchCatalog</a:t>
            </a: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(param)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solidFill>
                  <a:schemeClr val="tx2"/>
                </a:solidFill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solidFill>
                  <a:schemeClr val="tx2"/>
                </a:solidFill>
                <a:latin typeface="Tahoma" panose="020B0604030504040204" pitchFamily="34" charset="0"/>
              </a:rPr>
              <a:t>editItem</a:t>
            </a:r>
            <a:r>
              <a:rPr lang="en-US" altLang="tr-TR" sz="1800" dirty="0">
                <a:solidFill>
                  <a:schemeClr val="tx2"/>
                </a:solidFill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findItem</a:t>
            </a:r>
            <a:r>
              <a:rPr lang="en-US" altLang="tr-TR" sz="1800" dirty="0">
                <a:latin typeface="Tahoma" panose="020B0604030504040204" pitchFamily="34" charset="0"/>
              </a:rPr>
              <a:t>(item)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+print()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listCatalogs</a:t>
            </a: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issueLibraryCard</a:t>
            </a:r>
            <a:r>
              <a:rPr lang="en-US" altLang="tr-TR" sz="1800" dirty="0">
                <a:latin typeface="Tahoma" panose="020B0604030504040204" pitchFamily="34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archiveCatalogs</a:t>
            </a:r>
            <a:r>
              <a:rPr lang="en-US" altLang="tr-TR" sz="1800" dirty="0">
                <a:solidFill>
                  <a:srgbClr val="000000"/>
                </a:solidFill>
                <a:latin typeface="Tahoma" panose="020B0604030504040204" pitchFamily="34" charset="0"/>
              </a:rPr>
              <a:t>(..)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+</a:t>
            </a:r>
            <a:r>
              <a:rPr lang="en-US" altLang="tr-TR" sz="1800" dirty="0" err="1">
                <a:latin typeface="Tahoma" panose="020B0604030504040204" pitchFamily="34" charset="0"/>
              </a:rPr>
              <a:t>calculateLateFine</a:t>
            </a:r>
            <a:r>
              <a:rPr lang="en-US" altLang="tr-TR" sz="1800" dirty="0">
                <a:latin typeface="Tahoma" panose="020B0604030504040204" pitchFamily="34" charset="0"/>
              </a:rPr>
              <a:t>(…)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……..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7CF5141F-1349-7E01-73DC-0A85D140E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216" y="6380165"/>
            <a:ext cx="29417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400">
                <a:latin typeface="Tahoma" panose="020B0604030504040204" pitchFamily="34" charset="0"/>
              </a:rPr>
              <a:t>From http://www.antipatterns.com</a:t>
            </a: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FFE81457-D0CE-52E1-EF3F-C30C072A6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303" y="1922464"/>
            <a:ext cx="1344613" cy="14668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 dirty="0"/>
          </a:p>
        </p:txBody>
      </p:sp>
      <p:sp>
        <p:nvSpPr>
          <p:cNvPr id="23560" name="Text Box 8">
            <a:extLst>
              <a:ext uri="{FF2B5EF4-FFF2-40B4-BE49-F238E27FC236}">
                <a16:creationId xmlns:a16="http://schemas.microsoft.com/office/drawing/2014/main" id="{41E26521-CE0C-0FD4-3E0E-3DC0D10B1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256" y="1942861"/>
            <a:ext cx="11607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Inventory</a:t>
            </a:r>
          </a:p>
        </p:txBody>
      </p: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1F512657-BCEC-A793-67AB-A7C0F430E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483" y="3678238"/>
            <a:ext cx="1400175" cy="14668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23563" name="Text Box 11">
            <a:extLst>
              <a:ext uri="{FF2B5EF4-FFF2-40B4-BE49-F238E27FC236}">
                <a16:creationId xmlns:a16="http://schemas.microsoft.com/office/drawing/2014/main" id="{B3E2CC55-DA77-5776-E155-A53FCCBA8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878" y="3979865"/>
            <a:ext cx="9492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>
                <a:latin typeface="Tahoma" panose="020B0604030504040204" pitchFamily="34" charset="0"/>
              </a:rPr>
              <a:t>Catalog</a:t>
            </a:r>
          </a:p>
        </p:txBody>
      </p:sp>
      <p:sp>
        <p:nvSpPr>
          <p:cNvPr id="23565" name="AutoShape 13">
            <a:extLst>
              <a:ext uri="{FF2B5EF4-FFF2-40B4-BE49-F238E27FC236}">
                <a16:creationId xmlns:a16="http://schemas.microsoft.com/office/drawing/2014/main" id="{5269F4E9-0106-591B-0B15-E26B429FC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741" y="2209801"/>
            <a:ext cx="2541587" cy="469900"/>
          </a:xfrm>
          <a:prstGeom prst="rightArrow">
            <a:avLst>
              <a:gd name="adj1" fmla="val 50000"/>
              <a:gd name="adj2" fmla="val 135220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23566" name="AutoShape 14">
            <a:extLst>
              <a:ext uri="{FF2B5EF4-FFF2-40B4-BE49-F238E27FC236}">
                <a16:creationId xmlns:a16="http://schemas.microsoft.com/office/drawing/2014/main" id="{53D7868F-972A-EA7E-3738-BB24040CA4A4}"/>
              </a:ext>
            </a:extLst>
          </p:cNvPr>
          <p:cNvSpPr>
            <a:spLocks noChangeArrowheads="1"/>
          </p:cNvSpPr>
          <p:nvPr/>
        </p:nvSpPr>
        <p:spPr bwMode="auto">
          <a:xfrm rot="996358" flipV="1">
            <a:off x="2751323" y="5149134"/>
            <a:ext cx="2733943" cy="392948"/>
          </a:xfrm>
          <a:prstGeom prst="rightArrow">
            <a:avLst>
              <a:gd name="adj1" fmla="val 50000"/>
              <a:gd name="adj2" fmla="val 63182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23567" name="AutoShape 15">
            <a:extLst>
              <a:ext uri="{FF2B5EF4-FFF2-40B4-BE49-F238E27FC236}">
                <a16:creationId xmlns:a16="http://schemas.microsoft.com/office/drawing/2014/main" id="{61DE265B-C2E4-0340-CE46-1FF3FAD3FAE2}"/>
              </a:ext>
            </a:extLst>
          </p:cNvPr>
          <p:cNvSpPr>
            <a:spLocks noChangeArrowheads="1"/>
          </p:cNvSpPr>
          <p:nvPr/>
        </p:nvSpPr>
        <p:spPr bwMode="auto">
          <a:xfrm rot="1216846">
            <a:off x="2673804" y="3256895"/>
            <a:ext cx="2584520" cy="336551"/>
          </a:xfrm>
          <a:prstGeom prst="rightArrow">
            <a:avLst>
              <a:gd name="adj1" fmla="val 66943"/>
              <a:gd name="adj2" fmla="val 192571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23568" name="AutoShape 16">
            <a:extLst>
              <a:ext uri="{FF2B5EF4-FFF2-40B4-BE49-F238E27FC236}">
                <a16:creationId xmlns:a16="http://schemas.microsoft.com/office/drawing/2014/main" id="{63E1D43B-FA55-10B4-6B5D-9784A20D5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8" y="3962402"/>
            <a:ext cx="2784475" cy="336551"/>
          </a:xfrm>
          <a:prstGeom prst="rightArrow">
            <a:avLst>
              <a:gd name="adj1" fmla="val 50000"/>
              <a:gd name="adj2" fmla="val 20684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23569" name="AutoShape 17">
            <a:extLst>
              <a:ext uri="{FF2B5EF4-FFF2-40B4-BE49-F238E27FC236}">
                <a16:creationId xmlns:a16="http://schemas.microsoft.com/office/drawing/2014/main" id="{9328FC14-33F2-7FB9-D09A-8537BDFB0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3" y="4387851"/>
            <a:ext cx="2420937" cy="336551"/>
          </a:xfrm>
          <a:prstGeom prst="rightArrow">
            <a:avLst>
              <a:gd name="adj1" fmla="val 50000"/>
              <a:gd name="adj2" fmla="val 153198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23570" name="Line 18">
            <a:extLst>
              <a:ext uri="{FF2B5EF4-FFF2-40B4-BE49-F238E27FC236}">
                <a16:creationId xmlns:a16="http://schemas.microsoft.com/office/drawing/2014/main" id="{542A718E-40E1-9927-AD92-29A4ECA13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6" y="1720851"/>
            <a:ext cx="3375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1" name="Line 19">
            <a:extLst>
              <a:ext uri="{FF2B5EF4-FFF2-40B4-BE49-F238E27FC236}">
                <a16:creationId xmlns:a16="http://schemas.microsoft.com/office/drawing/2014/main" id="{29E0B497-29AD-A8F1-B583-DFFE0A4D97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91" y="2026024"/>
            <a:ext cx="3375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2" name="Line 20">
            <a:extLst>
              <a:ext uri="{FF2B5EF4-FFF2-40B4-BE49-F238E27FC236}">
                <a16:creationId xmlns:a16="http://schemas.microsoft.com/office/drawing/2014/main" id="{162C2BAE-9EC1-DA8E-F108-241BEB7DF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3038" y="4335464"/>
            <a:ext cx="139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3" name="Line 21">
            <a:extLst>
              <a:ext uri="{FF2B5EF4-FFF2-40B4-BE49-F238E27FC236}">
                <a16:creationId xmlns:a16="http://schemas.microsoft.com/office/drawing/2014/main" id="{29569CDF-4164-9D63-E17F-F00602870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1" y="2366963"/>
            <a:ext cx="135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4" name="Line 22">
            <a:extLst>
              <a:ext uri="{FF2B5EF4-FFF2-40B4-BE49-F238E27FC236}">
                <a16:creationId xmlns:a16="http://schemas.microsoft.com/office/drawing/2014/main" id="{0FC7C26D-F398-8176-0B47-8588DE9DC0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9289" y="3241675"/>
            <a:ext cx="135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6" name="TextBox 1">
            <a:extLst>
              <a:ext uri="{FF2B5EF4-FFF2-40B4-BE49-F238E27FC236}">
                <a16:creationId xmlns:a16="http://schemas.microsoft.com/office/drawing/2014/main" id="{25825ACF-4F6E-5F1F-3592-594C8B138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451" y="1350964"/>
            <a:ext cx="2159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Find natural homes</a:t>
            </a:r>
            <a:endParaRPr lang="tr-TR" altLang="en-US" sz="1800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72B5589D-1801-43A9-3325-5B5E09C66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357818"/>
            <a:ext cx="1524000" cy="56673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800" dirty="0" err="1"/>
              <a:t>UserService</a:t>
            </a:r>
            <a:endParaRPr lang="tr-TR" altLang="tr-TR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26002BF2-6307-D3C9-4457-ABD4C11A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altLang="en-US"/>
          </a:p>
        </p:txBody>
      </p:sp>
      <p:pic>
        <p:nvPicPr>
          <p:cNvPr id="24579" name="Picture 4" descr="http://sourcemaking.com/files/v2/content/antipatterns/Blob2%20-%206-2x.png">
            <a:extLst>
              <a:ext uri="{FF2B5EF4-FFF2-40B4-BE49-F238E27FC236}">
                <a16:creationId xmlns:a16="http://schemas.microsoft.com/office/drawing/2014/main" id="{33E0ECB1-6CA0-DAD6-A6EA-A57004695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305800" cy="544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AF69F9FD-1C25-F69F-1C19-CACA00E02B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Breaking down into classes</a:t>
            </a:r>
          </a:p>
        </p:txBody>
      </p:sp>
      <p:pic>
        <p:nvPicPr>
          <p:cNvPr id="25603" name="Picture 6" descr="extractClass">
            <a:extLst>
              <a:ext uri="{FF2B5EF4-FFF2-40B4-BE49-F238E27FC236}">
                <a16:creationId xmlns:a16="http://schemas.microsoft.com/office/drawing/2014/main" id="{502541DB-A6FF-0009-9C70-BECEDA154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2"/>
            <a:ext cx="8382000" cy="170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1">
            <a:extLst>
              <a:ext uri="{FF2B5EF4-FFF2-40B4-BE49-F238E27FC236}">
                <a16:creationId xmlns:a16="http://schemas.microsoft.com/office/drawing/2014/main" id="{FB98DDC6-ABD4-B537-0771-553ADA57E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1" y="5334000"/>
            <a:ext cx="7019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If after moving to natural homes the blob is still huge, break it down</a:t>
            </a:r>
            <a:endParaRPr lang="tr-TR" altLang="en-US"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992A5F5-B4C1-E497-D275-B033BD9BB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Mediator vs Blob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CE4DED7-2151-E53E-C958-668D24D34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tr-TR" sz="2800" dirty="0"/>
              <a:t>Be careful with Mediator pattern.</a:t>
            </a:r>
          </a:p>
          <a:p>
            <a:pPr lvl="1" eaLnBrk="1" hangingPunct="1"/>
            <a:r>
              <a:rPr lang="en-US" altLang="tr-TR" sz="2400" dirty="0"/>
              <a:t>Mediator can become a Blob</a:t>
            </a:r>
          </a:p>
          <a:p>
            <a:pPr lvl="1" eaLnBrk="1" hangingPunct="1"/>
            <a:r>
              <a:rPr lang="en-US" altLang="tr-TR" sz="2400" dirty="0"/>
              <a:t>If the implementation gone wrong, consider Observer </a:t>
            </a:r>
          </a:p>
          <a:p>
            <a:pPr lvl="2"/>
            <a:r>
              <a:rPr lang="en-US" altLang="tr-TR" sz="2000" dirty="0"/>
              <a:t>Pro: Colleagues notify other colleagues; often easier to make reusable Subjects/Observers.</a:t>
            </a:r>
          </a:p>
          <a:p>
            <a:pPr lvl="2"/>
            <a:r>
              <a:rPr lang="en-US" altLang="tr-TR" sz="2000" dirty="0"/>
              <a:t>Con: In N-to-N dependencies, Observer creates a web of cascading, untraceable updates.</a:t>
            </a:r>
          </a:p>
          <a:p>
            <a:pPr lvl="1"/>
            <a:r>
              <a:rPr lang="en-US" sz="2400" dirty="0"/>
              <a:t>Safety-Critical Systems (like aircraft/control tower), the decentralized, non-deterministic nature of the Observer pattern is dangerous</a:t>
            </a:r>
          </a:p>
          <a:p>
            <a:endParaRPr lang="en-US" altLang="tr-TR" sz="2800" dirty="0"/>
          </a:p>
        </p:txBody>
      </p:sp>
    </p:spTree>
    <p:extLst>
      <p:ext uri="{BB962C8B-B14F-4D97-AF65-F5344CB8AC3E}">
        <p14:creationId xmlns:p14="http://schemas.microsoft.com/office/powerpoint/2010/main" val="39106032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25D2A28-0FDF-13DE-684C-20E973160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The Blob: Symptoms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0AA567D-353E-FCE9-E68C-97A08B7BDD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458200" cy="5334000"/>
          </a:xfrm>
        </p:spPr>
        <p:txBody>
          <a:bodyPr/>
          <a:lstStyle/>
          <a:p>
            <a:pPr eaLnBrk="1" hangingPunct="1"/>
            <a:r>
              <a:rPr lang="en-US" altLang="tr-TR" sz="2400" dirty="0"/>
              <a:t>Single class with many attributes and operations </a:t>
            </a:r>
          </a:p>
          <a:p>
            <a:pPr lvl="1" eaLnBrk="1" hangingPunct="1"/>
            <a:r>
              <a:rPr lang="en-US" altLang="tr-TR" sz="2000" dirty="0"/>
              <a:t>Is there Cohesion?</a:t>
            </a:r>
          </a:p>
          <a:p>
            <a:pPr lvl="1" eaLnBrk="1" hangingPunct="1"/>
            <a:r>
              <a:rPr lang="en-US" altLang="en-US" sz="2000" dirty="0"/>
              <a:t>A class with 60 or more attributes and operations usually indicates the presence of the Blob</a:t>
            </a:r>
            <a:endParaRPr lang="en-US" altLang="tr-TR" sz="1600" dirty="0"/>
          </a:p>
          <a:p>
            <a:pPr eaLnBrk="1" hangingPunct="1"/>
            <a:r>
              <a:rPr lang="en-US" altLang="tr-TR" sz="2400" dirty="0"/>
              <a:t>Controller class with simple, data-object classes </a:t>
            </a:r>
          </a:p>
          <a:p>
            <a:pPr lvl="1" eaLnBrk="1" hangingPunct="1"/>
            <a:r>
              <a:rPr lang="en-US" altLang="tr-TR" sz="2000" dirty="0"/>
              <a:t>Be careful with Mediator</a:t>
            </a:r>
          </a:p>
          <a:p>
            <a:pPr lvl="1" eaLnBrk="1" hangingPunct="1"/>
            <a:r>
              <a:rPr lang="en-US" altLang="tr-TR" sz="2000" dirty="0"/>
              <a:t>Procedural design implemented in OOP</a:t>
            </a:r>
          </a:p>
          <a:p>
            <a:pPr eaLnBrk="1" hangingPunct="1"/>
            <a:r>
              <a:rPr lang="en-US" altLang="en-US" sz="2400" dirty="0"/>
              <a:t>A disparate collection of unrelated attributes and operations encapsulated in a single class. </a:t>
            </a:r>
          </a:p>
          <a:p>
            <a:pPr eaLnBrk="1" hangingPunct="1"/>
            <a:r>
              <a:rPr lang="en-US" altLang="en-US" sz="2400" dirty="0"/>
              <a:t>single class nearly encapsulates the applications entire functionality, like a procedural main program.</a:t>
            </a:r>
          </a:p>
          <a:p>
            <a:pPr lvl="1" eaLnBrk="1" hangingPunct="1"/>
            <a:r>
              <a:rPr lang="en-US" altLang="en-US" sz="2000" dirty="0"/>
              <a:t> A program main loop inside the Blob class associated with relatively passive data objects</a:t>
            </a:r>
          </a:p>
        </p:txBody>
      </p:sp>
    </p:spTree>
    <p:extLst>
      <p:ext uri="{BB962C8B-B14F-4D97-AF65-F5344CB8AC3E}">
        <p14:creationId xmlns:p14="http://schemas.microsoft.com/office/powerpoint/2010/main" val="19116679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80C1EA6-AF2C-732A-899B-B096D8B1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Negative impact</a:t>
            </a:r>
            <a:endParaRPr lang="tr-TR" altLang="en-US" dirty="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ABB76976-36FF-5DA2-04C6-7AF4D0040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tr-TR" sz="2800" dirty="0"/>
              <a:t>OO advantage is lost</a:t>
            </a:r>
          </a:p>
          <a:p>
            <a:r>
              <a:rPr lang="en-US" altLang="tr-TR" sz="2800" dirty="0"/>
              <a:t>Hard to maintain and extend.</a:t>
            </a:r>
          </a:p>
          <a:p>
            <a:pPr lvl="1" eaLnBrk="1" hangingPunct="1"/>
            <a:r>
              <a:rPr lang="en-US" altLang="en-US" sz="2400" dirty="0"/>
              <a:t>Blob limits the ability to modify the system without affecting the functionality of other encapsulated objects.</a:t>
            </a:r>
          </a:p>
          <a:p>
            <a:pPr lvl="1" eaLnBrk="1" hangingPunct="1"/>
            <a:r>
              <a:rPr lang="en-US" altLang="en-US" sz="2400" dirty="0"/>
              <a:t>Modifications to other objects in the system are also likely to have impact on the Blob's software.</a:t>
            </a:r>
          </a:p>
          <a:p>
            <a:pPr eaLnBrk="1" hangingPunct="1"/>
            <a:r>
              <a:rPr lang="en-US" altLang="tr-TR" sz="2800" dirty="0"/>
              <a:t>Difficult to understand, reuse, and test.</a:t>
            </a:r>
          </a:p>
          <a:p>
            <a:pPr eaLnBrk="1" hangingPunct="1"/>
            <a:r>
              <a:rPr lang="en-US" altLang="tr-TR" sz="2800" dirty="0"/>
              <a:t>Increases risk of bugs.</a:t>
            </a:r>
          </a:p>
          <a:p>
            <a:pPr eaLnBrk="1" hangingPunct="1"/>
            <a:r>
              <a:rPr lang="en-US" altLang="tr-TR" sz="2800" dirty="0"/>
              <a:t>Expensive to load</a:t>
            </a:r>
          </a:p>
          <a:p>
            <a:pPr lvl="1"/>
            <a:r>
              <a:rPr lang="en-US" altLang="en-US" sz="2000" dirty="0"/>
              <a:t>The Blob Class may be expensive to load into memory, using excessive resources, even for simple operations.</a:t>
            </a:r>
          </a:p>
        </p:txBody>
      </p:sp>
    </p:spTree>
    <p:extLst>
      <p:ext uri="{BB962C8B-B14F-4D97-AF65-F5344CB8AC3E}">
        <p14:creationId xmlns:p14="http://schemas.microsoft.com/office/powerpoint/2010/main" val="1050290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4030-15CE-DEB3-E498-ADA7E6D3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955E7-DF3A-E190-C3A5-E51368EF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Violation of Single Responsibility Principle:</a:t>
            </a:r>
          </a:p>
          <a:p>
            <a:pPr lvl="1"/>
            <a:r>
              <a:rPr lang="en-US" dirty="0"/>
              <a:t>One class takes on too many responsibilities.</a:t>
            </a:r>
          </a:p>
          <a:p>
            <a:r>
              <a:rPr lang="en-US" dirty="0"/>
              <a:t>Lack of modular design: </a:t>
            </a:r>
          </a:p>
          <a:p>
            <a:pPr lvl="1"/>
            <a:r>
              <a:rPr lang="en-US" dirty="0"/>
              <a:t>Functions and responsibilities are not properly separated.</a:t>
            </a:r>
          </a:p>
          <a:p>
            <a:r>
              <a:rPr lang="en-US" dirty="0"/>
              <a:t>Pressure to deliver quickly:</a:t>
            </a:r>
          </a:p>
          <a:p>
            <a:pPr lvl="1"/>
            <a:r>
              <a:rPr lang="en-US" dirty="0"/>
              <a:t> Leads to adding more functionality to existing classes instead of creating new ones.</a:t>
            </a:r>
          </a:p>
        </p:txBody>
      </p:sp>
    </p:spTree>
    <p:extLst>
      <p:ext uri="{BB962C8B-B14F-4D97-AF65-F5344CB8AC3E}">
        <p14:creationId xmlns:p14="http://schemas.microsoft.com/office/powerpoint/2010/main" val="6948744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F0FB-D923-0D3D-8D3C-5261285A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1109A-8E00-EEA6-9473-B460C485F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Complex, error-prone, and unmanageable code.</a:t>
            </a:r>
          </a:p>
          <a:p>
            <a:r>
              <a:rPr lang="en-US" dirty="0"/>
              <a:t>Refactor into smaller, focused classes improves maintainability, testability, and readability.</a:t>
            </a:r>
          </a:p>
          <a:p>
            <a:r>
              <a:rPr lang="en-US" dirty="0"/>
              <a:t>Adhering to the Single Responsibility Principle is key to avoiding the Blob anti-pattern.</a:t>
            </a:r>
          </a:p>
        </p:txBody>
      </p:sp>
    </p:spTree>
    <p:extLst>
      <p:ext uri="{BB962C8B-B14F-4D97-AF65-F5344CB8AC3E}">
        <p14:creationId xmlns:p14="http://schemas.microsoft.com/office/powerpoint/2010/main" val="28981602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817515B-E2FE-0426-8FBA-CBA9956B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Related Antipatterns</a:t>
            </a:r>
            <a:endParaRPr lang="tr-TR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E6EF7118-4422-D476-9DDA-60147B3C1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Blob is often accompanied by unnecessary code</a:t>
            </a:r>
          </a:p>
          <a:p>
            <a:pPr lvl="1"/>
            <a:r>
              <a:rPr lang="en-US" altLang="en-US" dirty="0"/>
              <a:t>making it hard to differentiate between the useful functionality of the Blob Class and no-longer-used code </a:t>
            </a:r>
          </a:p>
          <a:p>
            <a:pPr lvl="1"/>
            <a:r>
              <a:rPr lang="en-US" altLang="en-US" dirty="0"/>
              <a:t>Lava Flow </a:t>
            </a:r>
          </a:p>
          <a:p>
            <a:pPr lvl="1"/>
            <a:r>
              <a:rPr lang="en-US" altLang="en-US" dirty="0"/>
              <a:t>spaghetti code</a:t>
            </a:r>
          </a:p>
          <a:p>
            <a:pPr lvl="1"/>
            <a:r>
              <a:rPr lang="en-US" altLang="en-US" dirty="0"/>
              <a:t>poltergeist</a:t>
            </a:r>
          </a:p>
          <a:p>
            <a:pPr lvl="1"/>
            <a:endParaRPr lang="en-US" altLang="en-US" dirty="0"/>
          </a:p>
          <a:p>
            <a:endParaRPr lang="tr-TR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AC94DA-C047-F69A-E185-4523E703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1445"/>
            <a:ext cx="8229600" cy="1371600"/>
          </a:xfrm>
        </p:spPr>
        <p:txBody>
          <a:bodyPr/>
          <a:lstStyle/>
          <a:p>
            <a:r>
              <a:rPr lang="en-US" dirty="0"/>
              <a:t>SW Development Antipatterns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D64DA6-0FE6-624B-5419-ED450119DC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Blob</a:t>
            </a:r>
          </a:p>
          <a:p>
            <a:r>
              <a:rPr lang="en-US" dirty="0"/>
              <a:t>Lava flow</a:t>
            </a:r>
          </a:p>
          <a:p>
            <a:r>
              <a:rPr lang="en-US" dirty="0"/>
              <a:t>Functional decomposition</a:t>
            </a:r>
          </a:p>
          <a:p>
            <a:r>
              <a:rPr lang="en-US" dirty="0"/>
              <a:t>Poltergeist</a:t>
            </a:r>
          </a:p>
          <a:p>
            <a:r>
              <a:rPr lang="en-US" dirty="0"/>
              <a:t>Golden hammer</a:t>
            </a:r>
          </a:p>
          <a:p>
            <a:r>
              <a:rPr lang="en-US" dirty="0"/>
              <a:t>Spaghetti code</a:t>
            </a:r>
          </a:p>
          <a:p>
            <a:r>
              <a:rPr lang="en-US" dirty="0"/>
              <a:t>Cut and paste 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699E7-2305-448E-A92C-A1F076FFDC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Mini antipatterns</a:t>
            </a:r>
          </a:p>
          <a:p>
            <a:r>
              <a:rPr lang="en-US" dirty="0"/>
              <a:t>Boat anchor</a:t>
            </a:r>
          </a:p>
          <a:p>
            <a:r>
              <a:rPr lang="en-US" dirty="0"/>
              <a:t>Input kludge</a:t>
            </a:r>
          </a:p>
          <a:p>
            <a:r>
              <a:rPr lang="en-US" dirty="0"/>
              <a:t>Magic Numbers</a:t>
            </a:r>
          </a:p>
          <a:p>
            <a:r>
              <a:rPr lang="en-US" dirty="0"/>
              <a:t>Continuous obsolescence</a:t>
            </a:r>
          </a:p>
          <a:p>
            <a:r>
              <a:rPr lang="en-US" dirty="0"/>
              <a:t>Premature optimization</a:t>
            </a:r>
          </a:p>
        </p:txBody>
      </p:sp>
    </p:spTree>
    <p:extLst>
      <p:ext uri="{BB962C8B-B14F-4D97-AF65-F5344CB8AC3E}">
        <p14:creationId xmlns:p14="http://schemas.microsoft.com/office/powerpoint/2010/main" val="10796707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15F9BA1-356A-F830-7586-29DD6EEE9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Development Antipatterns(1)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187DB2A-4415-7963-854C-781D4E8258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r-TR" sz="2800" dirty="0"/>
              <a:t>Blob (God Class)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400" dirty="0"/>
              <a:t>One big class with too many responsibilities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sz="2800" dirty="0"/>
              <a:t>Proliferation of classes (Poltergeist)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400" dirty="0"/>
              <a:t>Small classes with short life cycles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sz="2800" dirty="0"/>
              <a:t>Spaghetti 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400" dirty="0"/>
              <a:t>Ad-hoc code structure that is hard to extend and modify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sz="2800" dirty="0"/>
              <a:t>Lava flow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400" dirty="0"/>
              <a:t>Dead code or forgotten design information that are frozen and no one understands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sz="2800" dirty="0"/>
              <a:t>Cut and paste programming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400" dirty="0"/>
              <a:t>Duplication of code, leads to many errors like duplicates errors</a:t>
            </a:r>
          </a:p>
        </p:txBody>
      </p:sp>
    </p:spTree>
    <p:extLst>
      <p:ext uri="{BB962C8B-B14F-4D97-AF65-F5344CB8AC3E}">
        <p14:creationId xmlns:p14="http://schemas.microsoft.com/office/powerpoint/2010/main" val="17426873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87D8981-EF28-2EC1-8AF9-5273A446D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tr-TR"/>
              <a:t>Development Antipatterns (2)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49799B3-12FB-F4F2-44F6-DC4ACF13F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5410200"/>
          </a:xfrm>
        </p:spPr>
        <p:txBody>
          <a:bodyPr/>
          <a:lstStyle/>
          <a:p>
            <a:pPr eaLnBrk="1" hangingPunct="1"/>
            <a:r>
              <a:rPr lang="en-US" altLang="tr-TR" sz="2800" dirty="0"/>
              <a:t>Golden hammer</a:t>
            </a:r>
          </a:p>
          <a:p>
            <a:pPr lvl="1" eaLnBrk="1" hangingPunct="1"/>
            <a:r>
              <a:rPr lang="en-US" altLang="tr-TR" sz="2400" dirty="0"/>
              <a:t>Belief that a particular technology solves everything </a:t>
            </a:r>
          </a:p>
          <a:p>
            <a:pPr lvl="2" eaLnBrk="1" hangingPunct="1"/>
            <a:r>
              <a:rPr lang="en-US" altLang="tr-TR" sz="2000" dirty="0"/>
              <a:t>Misapplication of a favored tool or concept</a:t>
            </a:r>
          </a:p>
          <a:p>
            <a:pPr lvl="2" eaLnBrk="1" hangingPunct="1"/>
            <a:r>
              <a:rPr lang="en-US" altLang="tr-TR" sz="2000" dirty="0"/>
              <a:t>Gained high level of confidence on a solution, then every problem </a:t>
            </a:r>
            <a:r>
              <a:rPr lang="en-US" altLang="en-US" sz="2000" dirty="0"/>
              <a:t>is viewed as something that is best solved with it</a:t>
            </a:r>
            <a:endParaRPr lang="en-US" altLang="tr-TR" sz="2000" dirty="0"/>
          </a:p>
          <a:p>
            <a:pPr eaLnBrk="1" hangingPunct="1"/>
            <a:r>
              <a:rPr lang="en-US" altLang="tr-TR" sz="2800" dirty="0"/>
              <a:t>Mini antipatterns</a:t>
            </a:r>
          </a:p>
          <a:p>
            <a:pPr lvl="1" eaLnBrk="1" hangingPunct="1"/>
            <a:r>
              <a:rPr lang="en-US" altLang="tr-TR" sz="2400" dirty="0"/>
              <a:t>Input kludge</a:t>
            </a:r>
          </a:p>
          <a:p>
            <a:pPr lvl="2" eaLnBrk="1" hangingPunct="1"/>
            <a:r>
              <a:rPr lang="en-US" altLang="tr-TR" sz="2000" dirty="0"/>
              <a:t>unexpected combinations of user-accessible features crashes your system –race conditions on concurrent input; validation;</a:t>
            </a:r>
          </a:p>
          <a:p>
            <a:pPr lvl="1" eaLnBrk="1" hangingPunct="1"/>
            <a:r>
              <a:rPr lang="en-US" altLang="tr-TR" sz="2400" dirty="0"/>
              <a:t>Boat anchor</a:t>
            </a:r>
          </a:p>
          <a:p>
            <a:pPr lvl="2" eaLnBrk="1" hangingPunct="1"/>
            <a:r>
              <a:rPr lang="en-US" altLang="tr-TR" sz="2000" dirty="0"/>
              <a:t>Keeping something that is no longer used in the current system</a:t>
            </a:r>
          </a:p>
          <a:p>
            <a:pPr lvl="1"/>
            <a:r>
              <a:rPr lang="en-US" altLang="tr-TR" sz="2400" dirty="0"/>
              <a:t>Magic Number</a:t>
            </a:r>
          </a:p>
          <a:p>
            <a:pPr lvl="2"/>
            <a:r>
              <a:rPr lang="en-US" altLang="tr-TR" sz="2000" dirty="0"/>
              <a:t>unexplained numerical values in code instead of named constants</a:t>
            </a:r>
          </a:p>
        </p:txBody>
      </p:sp>
    </p:spTree>
    <p:extLst>
      <p:ext uri="{BB962C8B-B14F-4D97-AF65-F5344CB8AC3E}">
        <p14:creationId xmlns:p14="http://schemas.microsoft.com/office/powerpoint/2010/main" val="120747987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393727C7-4C0B-4C8A-960B-21573C88EF42}" vid="{72BF777F-C220-4904-8C2B-017C5ED9CE6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3687</TotalTime>
  <Words>5453</Words>
  <Application>Microsoft Office PowerPoint</Application>
  <PresentationFormat>On-screen Show (4:3)</PresentationFormat>
  <Paragraphs>686</Paragraphs>
  <Slides>55</Slides>
  <Notes>20</Notes>
  <HiddenSlides>7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5" baseType="lpstr">
      <vt:lpstr>-apple-system</vt:lpstr>
      <vt:lpstr>Arial</vt:lpstr>
      <vt:lpstr>Arial Black</vt:lpstr>
      <vt:lpstr>Calibri</vt:lpstr>
      <vt:lpstr>DM Sans</vt:lpstr>
      <vt:lpstr>Source code</vt:lpstr>
      <vt:lpstr>Tahoma</vt:lpstr>
      <vt:lpstr>Times New Roman</vt:lpstr>
      <vt:lpstr>Wingdings</vt:lpstr>
      <vt:lpstr>Theme1</vt:lpstr>
      <vt:lpstr>Antipatterns</vt:lpstr>
      <vt:lpstr>PowerPoint Presentation</vt:lpstr>
      <vt:lpstr>Antipatterns</vt:lpstr>
      <vt:lpstr>Anti-pattern:  Result of</vt:lpstr>
      <vt:lpstr>Categories</vt:lpstr>
      <vt:lpstr>1) Poltergeist</vt:lpstr>
      <vt:lpstr>PowerPoint Presentation</vt:lpstr>
      <vt:lpstr>PowerPoint Presentation</vt:lpstr>
      <vt:lpstr>PowerPoint Presentation</vt:lpstr>
      <vt:lpstr>PowerPoint Presentation</vt:lpstr>
      <vt:lpstr>Causes</vt:lpstr>
      <vt:lpstr>Question </vt:lpstr>
      <vt:lpstr>Poltergeist: Symptoms</vt:lpstr>
      <vt:lpstr>Poltergeist: Consequences</vt:lpstr>
      <vt:lpstr>Poltergeist</vt:lpstr>
      <vt:lpstr>Refactoring Poltergeist</vt:lpstr>
      <vt:lpstr>How to avoid</vt:lpstr>
      <vt:lpstr>PowerPoint Presentation</vt:lpstr>
      <vt:lpstr>2) Lava flow </vt:lpstr>
      <vt:lpstr>Lava flow</vt:lpstr>
      <vt:lpstr>Lava flow: Symptoms</vt:lpstr>
      <vt:lpstr>Typical causes</vt:lpstr>
      <vt:lpstr>Lava Flow – Consequences</vt:lpstr>
      <vt:lpstr>Cure: prevention</vt:lpstr>
      <vt:lpstr>Anectodes…</vt:lpstr>
      <vt:lpstr>3) Spaghetti design</vt:lpstr>
      <vt:lpstr>working with a spaghetti</vt:lpstr>
      <vt:lpstr>Complex Conditionals</vt:lpstr>
      <vt:lpstr>Example Refactored-1</vt:lpstr>
      <vt:lpstr>Example Refactored -2</vt:lpstr>
      <vt:lpstr>Refactoring Spaghetti code</vt:lpstr>
      <vt:lpstr>Spaghetti code: Symptoms</vt:lpstr>
      <vt:lpstr>PowerPoint Presentation</vt:lpstr>
      <vt:lpstr>Resolving Spaghetti</vt:lpstr>
      <vt:lpstr>suggestions of low-level refactoring</vt:lpstr>
      <vt:lpstr>Spaghetti code/Design</vt:lpstr>
      <vt:lpstr>PowerPoint Presentation</vt:lpstr>
      <vt:lpstr>Blob (God Class)</vt:lpstr>
      <vt:lpstr>Characteristics of Blob</vt:lpstr>
      <vt:lpstr>Blob Example</vt:lpstr>
      <vt:lpstr>PowerPoint Presentation</vt:lpstr>
      <vt:lpstr>Blob Example</vt:lpstr>
      <vt:lpstr>Refactoring Blob</vt:lpstr>
      <vt:lpstr>Breaking down the Blob</vt:lpstr>
      <vt:lpstr>PowerPoint Presentation</vt:lpstr>
      <vt:lpstr>Breaking down into classes</vt:lpstr>
      <vt:lpstr>Mediator vs Blob</vt:lpstr>
      <vt:lpstr>The Blob: Symptoms</vt:lpstr>
      <vt:lpstr>Negative impact</vt:lpstr>
      <vt:lpstr>Causes</vt:lpstr>
      <vt:lpstr>Blob…</vt:lpstr>
      <vt:lpstr>Related Antipatterns</vt:lpstr>
      <vt:lpstr>SW Development Antipatterns</vt:lpstr>
      <vt:lpstr>Development Antipatterns(1)</vt:lpstr>
      <vt:lpstr>Development Antipatterns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</dc:creator>
  <cp:lastModifiedBy>Aysu Betin Can</cp:lastModifiedBy>
  <cp:revision>206</cp:revision>
  <cp:lastPrinted>1601-01-01T00:00:00Z</cp:lastPrinted>
  <dcterms:created xsi:type="dcterms:W3CDTF">1601-01-01T00:00:00Z</dcterms:created>
  <dcterms:modified xsi:type="dcterms:W3CDTF">2025-11-17T21:41:13Z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