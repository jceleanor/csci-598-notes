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1"/>
  </p:notesMasterIdLst>
  <p:handoutMasterIdLst>
    <p:handoutMasterId r:id="rId72"/>
  </p:handoutMasterIdLst>
  <p:sldIdLst>
    <p:sldId id="256" r:id="rId2"/>
    <p:sldId id="356" r:id="rId3"/>
    <p:sldId id="427" r:id="rId4"/>
    <p:sldId id="366" r:id="rId5"/>
    <p:sldId id="478" r:id="rId6"/>
    <p:sldId id="500" r:id="rId7"/>
    <p:sldId id="501" r:id="rId8"/>
    <p:sldId id="407" r:id="rId9"/>
    <p:sldId id="383" r:id="rId10"/>
    <p:sldId id="477" r:id="rId11"/>
    <p:sldId id="502" r:id="rId12"/>
    <p:sldId id="365" r:id="rId13"/>
    <p:sldId id="410" r:id="rId14"/>
    <p:sldId id="268" r:id="rId15"/>
    <p:sldId id="503" r:id="rId16"/>
    <p:sldId id="507" r:id="rId17"/>
    <p:sldId id="411" r:id="rId18"/>
    <p:sldId id="412" r:id="rId19"/>
    <p:sldId id="380" r:id="rId20"/>
    <p:sldId id="504" r:id="rId21"/>
    <p:sldId id="506" r:id="rId22"/>
    <p:sldId id="508" r:id="rId23"/>
    <p:sldId id="493" r:id="rId24"/>
    <p:sldId id="431" r:id="rId25"/>
    <p:sldId id="509" r:id="rId26"/>
    <p:sldId id="487" r:id="rId27"/>
    <p:sldId id="496" r:id="rId28"/>
    <p:sldId id="494" r:id="rId29"/>
    <p:sldId id="272" r:id="rId30"/>
    <p:sldId id="382" r:id="rId31"/>
    <p:sldId id="498" r:id="rId32"/>
    <p:sldId id="489" r:id="rId33"/>
    <p:sldId id="518" r:id="rId34"/>
    <p:sldId id="488" r:id="rId35"/>
    <p:sldId id="273" r:id="rId36"/>
    <p:sldId id="499" r:id="rId37"/>
    <p:sldId id="497" r:id="rId38"/>
    <p:sldId id="432" r:id="rId39"/>
    <p:sldId id="482" r:id="rId40"/>
    <p:sldId id="483" r:id="rId41"/>
    <p:sldId id="480" r:id="rId42"/>
    <p:sldId id="481" r:id="rId43"/>
    <p:sldId id="434" r:id="rId44"/>
    <p:sldId id="435" r:id="rId45"/>
    <p:sldId id="269" r:id="rId46"/>
    <p:sldId id="429" r:id="rId47"/>
    <p:sldId id="430" r:id="rId48"/>
    <p:sldId id="408" r:id="rId49"/>
    <p:sldId id="474" r:id="rId50"/>
    <p:sldId id="490" r:id="rId51"/>
    <p:sldId id="438" r:id="rId52"/>
    <p:sldId id="378" r:id="rId53"/>
    <p:sldId id="385" r:id="rId54"/>
    <p:sldId id="278" r:id="rId55"/>
    <p:sldId id="279" r:id="rId56"/>
    <p:sldId id="277" r:id="rId57"/>
    <p:sldId id="514" r:id="rId58"/>
    <p:sldId id="387" r:id="rId59"/>
    <p:sldId id="388" r:id="rId60"/>
    <p:sldId id="413" r:id="rId61"/>
    <p:sldId id="515" r:id="rId62"/>
    <p:sldId id="422" r:id="rId63"/>
    <p:sldId id="355" r:id="rId64"/>
    <p:sldId id="516" r:id="rId65"/>
    <p:sldId id="519" r:id="rId66"/>
    <p:sldId id="280" r:id="rId67"/>
    <p:sldId id="511" r:id="rId68"/>
    <p:sldId id="414" r:id="rId69"/>
    <p:sldId id="512" r:id="rId7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571" autoAdjust="0"/>
  </p:normalViewPr>
  <p:slideViewPr>
    <p:cSldViewPr snapToGrid="0">
      <p:cViewPr varScale="1">
        <p:scale>
          <a:sx n="97" d="100"/>
          <a:sy n="97" d="100"/>
        </p:scale>
        <p:origin x="200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80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5FA77D18-0892-5B61-264F-9C4ECD6D1A0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31075" name="Rectangle 3">
            <a:extLst>
              <a:ext uri="{FF2B5EF4-FFF2-40B4-BE49-F238E27FC236}">
                <a16:creationId xmlns:a16="http://schemas.microsoft.com/office/drawing/2014/main" id="{3C1BD1E2-291E-5682-8860-FC53ECB5D66B}"/>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131076" name="Rectangle 4">
            <a:extLst>
              <a:ext uri="{FF2B5EF4-FFF2-40B4-BE49-F238E27FC236}">
                <a16:creationId xmlns:a16="http://schemas.microsoft.com/office/drawing/2014/main" id="{624DCE09-CB4D-D6F3-5863-87FA5D954814}"/>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31077" name="Rectangle 5">
            <a:extLst>
              <a:ext uri="{FF2B5EF4-FFF2-40B4-BE49-F238E27FC236}">
                <a16:creationId xmlns:a16="http://schemas.microsoft.com/office/drawing/2014/main" id="{35B66E8F-0909-979A-F274-2423910A8434}"/>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2F35FB0-96E0-49E1-9C4A-36254F85B625}" type="slidenum">
              <a:rPr lang="en-US" altLang="tr-TR"/>
              <a:pPr>
                <a:defRPr/>
              </a:pPr>
              <a:t>‹#›</a:t>
            </a:fld>
            <a:endParaRPr lang="en-US" altLang="tr-T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C7FF654-0889-4776-56E7-97F093989EE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32771" name="Rectangle 3">
            <a:extLst>
              <a:ext uri="{FF2B5EF4-FFF2-40B4-BE49-F238E27FC236}">
                <a16:creationId xmlns:a16="http://schemas.microsoft.com/office/drawing/2014/main" id="{8523760C-F26F-13B3-D88D-BC18872866C7}"/>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8196" name="Rectangle 4">
            <a:extLst>
              <a:ext uri="{FF2B5EF4-FFF2-40B4-BE49-F238E27FC236}">
                <a16:creationId xmlns:a16="http://schemas.microsoft.com/office/drawing/2014/main" id="{9BFE0315-FEBA-5AD5-F994-4A88D2AA79D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a:extLst>
              <a:ext uri="{FF2B5EF4-FFF2-40B4-BE49-F238E27FC236}">
                <a16:creationId xmlns:a16="http://schemas.microsoft.com/office/drawing/2014/main" id="{EE63AA5E-5442-2817-4C09-C176ED679729}"/>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4" name="Rectangle 6">
            <a:extLst>
              <a:ext uri="{FF2B5EF4-FFF2-40B4-BE49-F238E27FC236}">
                <a16:creationId xmlns:a16="http://schemas.microsoft.com/office/drawing/2014/main" id="{D16EFD3B-0A77-7F69-6EE6-B46B4B81C77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32775" name="Rectangle 7">
            <a:extLst>
              <a:ext uri="{FF2B5EF4-FFF2-40B4-BE49-F238E27FC236}">
                <a16:creationId xmlns:a16="http://schemas.microsoft.com/office/drawing/2014/main" id="{A3A29D97-4D6C-CCFB-26EE-23A5A606C9D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B08CFCE-7C42-4B8E-AB1B-57AEC6E09966}" type="slidenum">
              <a:rPr lang="en-US" altLang="tr-TR"/>
              <a:pPr>
                <a:defRPr/>
              </a:pPr>
              <a:t>‹#›</a:t>
            </a:fld>
            <a:endParaRPr lang="en-US" altLang="tr-T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D6575373-B3BF-2DFC-46A1-48616B6A81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3E407BF-582D-47A8-A9AF-76DE955BE9E9}" type="slidenum">
              <a:rPr lang="en-US" altLang="tr-TR" smtClean="0"/>
              <a:pPr>
                <a:spcBef>
                  <a:spcPct val="0"/>
                </a:spcBef>
              </a:pPr>
              <a:t>14</a:t>
            </a:fld>
            <a:endParaRPr lang="en-US" altLang="tr-TR"/>
          </a:p>
        </p:txBody>
      </p:sp>
      <p:sp>
        <p:nvSpPr>
          <p:cNvPr id="43011" name="Rectangle 2">
            <a:extLst>
              <a:ext uri="{FF2B5EF4-FFF2-40B4-BE49-F238E27FC236}">
                <a16:creationId xmlns:a16="http://schemas.microsoft.com/office/drawing/2014/main" id="{4A1516B5-0543-186E-A92E-D9A3005B3712}"/>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6339642-E45A-748D-5AFC-67C4DCD6D6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dirty="0">
                <a:latin typeface="Arial" panose="020B0604020202020204" pitchFamily="34" charset="0"/>
              </a:rPr>
              <a:t>flexibility: paste command associated with </a:t>
            </a:r>
            <a:r>
              <a:rPr lang="en-US" altLang="tr-TR" dirty="0" err="1">
                <a:latin typeface="Arial" panose="020B0604020202020204" pitchFamily="34" charset="0"/>
              </a:rPr>
              <a:t>menuitem</a:t>
            </a:r>
            <a:r>
              <a:rPr lang="en-US" altLang="tr-TR" dirty="0">
                <a:latin typeface="Arial" panose="020B0604020202020204" pitchFamily="34" charset="0"/>
              </a:rPr>
              <a:t> and button</a:t>
            </a:r>
            <a:endParaRPr lang="en-GB" altLang="tr-TR"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D6575373-B3BF-2DFC-46A1-48616B6A81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3E407BF-582D-47A8-A9AF-76DE955BE9E9}" type="slidenum">
              <a:rPr lang="en-US" altLang="tr-TR" smtClean="0"/>
              <a:pPr>
                <a:spcBef>
                  <a:spcPct val="0"/>
                </a:spcBef>
              </a:pPr>
              <a:t>15</a:t>
            </a:fld>
            <a:endParaRPr lang="en-US" altLang="tr-TR"/>
          </a:p>
        </p:txBody>
      </p:sp>
      <p:sp>
        <p:nvSpPr>
          <p:cNvPr id="43011" name="Rectangle 2">
            <a:extLst>
              <a:ext uri="{FF2B5EF4-FFF2-40B4-BE49-F238E27FC236}">
                <a16:creationId xmlns:a16="http://schemas.microsoft.com/office/drawing/2014/main" id="{4A1516B5-0543-186E-A92E-D9A3005B3712}"/>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6339642-E45A-748D-5AFC-67C4DCD6D6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dirty="0">
                <a:latin typeface="Arial" panose="020B0604020202020204" pitchFamily="34" charset="0"/>
              </a:rPr>
              <a:t>flexibility: paste command associated with </a:t>
            </a:r>
            <a:r>
              <a:rPr lang="en-US" altLang="tr-TR" dirty="0" err="1">
                <a:latin typeface="Arial" panose="020B0604020202020204" pitchFamily="34" charset="0"/>
              </a:rPr>
              <a:t>menuitem</a:t>
            </a:r>
            <a:r>
              <a:rPr lang="en-US" altLang="tr-TR" dirty="0">
                <a:latin typeface="Arial" panose="020B0604020202020204" pitchFamily="34" charset="0"/>
              </a:rPr>
              <a:t> and button</a:t>
            </a:r>
            <a:endParaRPr lang="en-GB" altLang="tr-TR" dirty="0">
              <a:latin typeface="Arial" panose="020B0604020202020204" pitchFamily="34" charset="0"/>
            </a:endParaRPr>
          </a:p>
        </p:txBody>
      </p:sp>
    </p:spTree>
    <p:extLst>
      <p:ext uri="{BB962C8B-B14F-4D97-AF65-F5344CB8AC3E}">
        <p14:creationId xmlns:p14="http://schemas.microsoft.com/office/powerpoint/2010/main" val="785241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dispatching with commands – we will see examples in refactoring</a:t>
            </a:r>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19</a:t>
            </a:fld>
            <a:endParaRPr lang="en-US" altLang="tr-TR"/>
          </a:p>
        </p:txBody>
      </p:sp>
    </p:spTree>
    <p:extLst>
      <p:ext uri="{BB962C8B-B14F-4D97-AF65-F5344CB8AC3E}">
        <p14:creationId xmlns:p14="http://schemas.microsoft.com/office/powerpoint/2010/main" val="3796267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https://gameprogrammingpatterns.com/command.html</a:t>
            </a:r>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27</a:t>
            </a:fld>
            <a:endParaRPr lang="en-US" altLang="tr-TR"/>
          </a:p>
        </p:txBody>
      </p:sp>
    </p:spTree>
    <p:extLst>
      <p:ext uri="{BB962C8B-B14F-4D97-AF65-F5344CB8AC3E}">
        <p14:creationId xmlns:p14="http://schemas.microsoft.com/office/powerpoint/2010/main" val="4111612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90000"/>
              </a:lnSpc>
            </a:pPr>
            <a:r>
              <a:rPr lang="en-US" altLang="tr-TR" dirty="0"/>
              <a:t>Undo: traversing backward through the list and call undo() of commands</a:t>
            </a:r>
          </a:p>
          <a:p>
            <a:pPr lvl="1">
              <a:lnSpc>
                <a:spcPct val="90000"/>
              </a:lnSpc>
            </a:pPr>
            <a:r>
              <a:rPr lang="en-US" altLang="tr-TR" dirty="0"/>
              <a:t>Redo: traversing forward and execute() of commands re-executes them.</a:t>
            </a:r>
          </a:p>
          <a:p>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29</a:t>
            </a:fld>
            <a:endParaRPr lang="en-US" altLang="tr-TR"/>
          </a:p>
        </p:txBody>
      </p:sp>
    </p:spTree>
    <p:extLst>
      <p:ext uri="{BB962C8B-B14F-4D97-AF65-F5344CB8AC3E}">
        <p14:creationId xmlns:p14="http://schemas.microsoft.com/office/powerpoint/2010/main" val="2505926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31</a:t>
            </a:fld>
            <a:endParaRPr lang="en-US" altLang="tr-TR"/>
          </a:p>
        </p:txBody>
      </p:sp>
    </p:spTree>
    <p:extLst>
      <p:ext uri="{BB962C8B-B14F-4D97-AF65-F5344CB8AC3E}">
        <p14:creationId xmlns:p14="http://schemas.microsoft.com/office/powerpoint/2010/main" val="1583630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Undo(int index), </a:t>
            </a:r>
            <a:r>
              <a:rPr lang="en-US" dirty="0" err="1"/>
              <a:t>redu</a:t>
            </a:r>
            <a:r>
              <a:rPr lang="en-US" dirty="0"/>
              <a:t>(int index). Invoke stays the same</a:t>
            </a:r>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32</a:t>
            </a:fld>
            <a:endParaRPr lang="en-US" altLang="tr-TR"/>
          </a:p>
        </p:txBody>
      </p:sp>
    </p:spTree>
    <p:extLst>
      <p:ext uri="{BB962C8B-B14F-4D97-AF65-F5344CB8AC3E}">
        <p14:creationId xmlns:p14="http://schemas.microsoft.com/office/powerpoint/2010/main" val="1460215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38</a:t>
            </a:fld>
            <a:endParaRPr lang="en-US" altLang="tr-TR"/>
          </a:p>
        </p:txBody>
      </p:sp>
    </p:spTree>
    <p:extLst>
      <p:ext uri="{BB962C8B-B14F-4D97-AF65-F5344CB8AC3E}">
        <p14:creationId xmlns:p14="http://schemas.microsoft.com/office/powerpoint/2010/main" val="2037536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41</a:t>
            </a:fld>
            <a:endParaRPr lang="en-US" altLang="tr-TR"/>
          </a:p>
        </p:txBody>
      </p:sp>
    </p:spTree>
    <p:extLst>
      <p:ext uri="{BB962C8B-B14F-4D97-AF65-F5344CB8AC3E}">
        <p14:creationId xmlns:p14="http://schemas.microsoft.com/office/powerpoint/2010/main" val="3618734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Functors can have state, function pointers cannot</a:t>
            </a:r>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42</a:t>
            </a:fld>
            <a:endParaRPr lang="en-US" altLang="tr-TR"/>
          </a:p>
        </p:txBody>
      </p:sp>
    </p:spTree>
    <p:extLst>
      <p:ext uri="{BB962C8B-B14F-4D97-AF65-F5344CB8AC3E}">
        <p14:creationId xmlns:p14="http://schemas.microsoft.com/office/powerpoint/2010/main" val="1471582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Invoker says </a:t>
            </a:r>
            <a:r>
              <a:rPr lang="en-US" dirty="0" err="1"/>
              <a:t>cmd.execute</a:t>
            </a:r>
            <a:r>
              <a:rPr lang="en-US" dirty="0"/>
              <a:t>();</a:t>
            </a:r>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43</a:t>
            </a:fld>
            <a:endParaRPr lang="en-US" altLang="tr-TR"/>
          </a:p>
        </p:txBody>
      </p:sp>
    </p:spTree>
    <p:extLst>
      <p:ext uri="{BB962C8B-B14F-4D97-AF65-F5344CB8AC3E}">
        <p14:creationId xmlns:p14="http://schemas.microsoft.com/office/powerpoint/2010/main" val="3615082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tr-TR" dirty="0"/>
              <a:t>Promote undo or rollback to full object status.</a:t>
            </a:r>
          </a:p>
          <a:p>
            <a:r>
              <a:rPr lang="en-US" altLang="tr-TR" dirty="0"/>
              <a:t>A magic cookie that encapsulates a "check point" capability.</a:t>
            </a:r>
          </a:p>
          <a:p>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54</a:t>
            </a:fld>
            <a:endParaRPr lang="en-US" altLang="tr-TR"/>
          </a:p>
        </p:txBody>
      </p:sp>
    </p:spTree>
    <p:extLst>
      <p:ext uri="{BB962C8B-B14F-4D97-AF65-F5344CB8AC3E}">
        <p14:creationId xmlns:p14="http://schemas.microsoft.com/office/powerpoint/2010/main" val="2510825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D10AC421-916C-A440-3A8D-86A999076F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F246E23-6B1B-4ADC-8B4F-526FBF0FB73F}" type="slidenum">
              <a:rPr lang="en-US" altLang="tr-TR" smtClean="0"/>
              <a:pPr>
                <a:spcBef>
                  <a:spcPct val="0"/>
                </a:spcBef>
              </a:pPr>
              <a:t>55</a:t>
            </a:fld>
            <a:endParaRPr lang="en-US" altLang="tr-TR"/>
          </a:p>
        </p:txBody>
      </p:sp>
      <p:sp>
        <p:nvSpPr>
          <p:cNvPr id="62467" name="Rectangle 2">
            <a:extLst>
              <a:ext uri="{FF2B5EF4-FFF2-40B4-BE49-F238E27FC236}">
                <a16:creationId xmlns:a16="http://schemas.microsoft.com/office/drawing/2014/main" id="{514E0AA2-C87F-F1A1-D96D-A943CF2E68D3}"/>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AD8359D5-A396-6B12-B768-D8E758C9A3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Arial" panose="020B0604020202020204" pitchFamily="34" charset="0"/>
              </a:rPr>
              <a:t>C++ use friend</a:t>
            </a:r>
          </a:p>
          <a:p>
            <a:pPr eaLnBrk="1" hangingPunct="1"/>
            <a:r>
              <a:rPr lang="en-US" altLang="tr-TR">
                <a:latin typeface="Arial" panose="020B0604020202020204" pitchFamily="34" charset="0"/>
              </a:rPr>
              <a:t>Java: clone or serialize</a:t>
            </a:r>
          </a:p>
        </p:txBody>
      </p:sp>
    </p:spTree>
    <p:extLst>
      <p:ext uri="{BB962C8B-B14F-4D97-AF65-F5344CB8AC3E}">
        <p14:creationId xmlns:p14="http://schemas.microsoft.com/office/powerpoint/2010/main" val="3901448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tr-TR" dirty="0"/>
          </a:p>
          <a:p>
            <a:pPr lvl="1"/>
            <a:r>
              <a:rPr lang="en-US" altLang="tr-TR" dirty="0"/>
              <a:t>Memento as inner class of Originator</a:t>
            </a:r>
          </a:p>
          <a:p>
            <a:pPr lvl="1"/>
            <a:r>
              <a:rPr lang="en-US" altLang="tr-TR" dirty="0"/>
              <a:t>Originator returns type </a:t>
            </a:r>
            <a:r>
              <a:rPr lang="en-US" altLang="tr-TR" dirty="0">
                <a:latin typeface="Courier New" panose="02070309020205020404" pitchFamily="49" charset="0"/>
              </a:rPr>
              <a:t>Object </a:t>
            </a:r>
            <a:r>
              <a:rPr lang="en-US" altLang="tr-TR" dirty="0"/>
              <a:t>as memento</a:t>
            </a:r>
            <a:endParaRPr lang="en-GB" altLang="tr-TR" dirty="0"/>
          </a:p>
          <a:p>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59</a:t>
            </a:fld>
            <a:endParaRPr lang="en-US" altLang="tr-TR"/>
          </a:p>
        </p:txBody>
      </p:sp>
    </p:spTree>
    <p:extLst>
      <p:ext uri="{BB962C8B-B14F-4D97-AF65-F5344CB8AC3E}">
        <p14:creationId xmlns:p14="http://schemas.microsoft.com/office/powerpoint/2010/main" val="3650478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tr-TR" altLang="tr-TR" sz="1200" dirty="0" err="1">
                <a:latin typeface="Source Sans Pro" panose="020B0503030403020204" pitchFamily="34" charset="0"/>
                <a:ea typeface="Source Sans Pro" panose="020B0503030403020204" pitchFamily="34" charset="0"/>
              </a:rPr>
              <a:t>class</a:t>
            </a:r>
            <a:r>
              <a:rPr lang="tr-TR" altLang="tr-TR" sz="1200" dirty="0">
                <a:latin typeface="Source Sans Pro" panose="020B0503030403020204" pitchFamily="34" charset="0"/>
                <a:ea typeface="Source Sans Pro" panose="020B0503030403020204" pitchFamily="34" charset="0"/>
              </a:rPr>
              <a:t> </a:t>
            </a:r>
            <a:r>
              <a:rPr lang="tr-TR" altLang="tr-TR" sz="1200" dirty="0" err="1">
                <a:latin typeface="Source Sans Pro" panose="020B0503030403020204" pitchFamily="34" charset="0"/>
                <a:ea typeface="Source Sans Pro" panose="020B0503030403020204" pitchFamily="34" charset="0"/>
              </a:rPr>
              <a:t>Originator</a:t>
            </a:r>
            <a:r>
              <a:rPr lang="tr-TR" altLang="tr-TR" sz="1200" dirty="0">
                <a:latin typeface="Source Sans Pro" panose="020B0503030403020204" pitchFamily="34" charset="0"/>
                <a:ea typeface="Source Sans Pro" panose="020B0503030403020204" pitchFamily="34" charset="0"/>
              </a:rPr>
              <a:t> {</a:t>
            </a:r>
          </a:p>
          <a:p>
            <a:pPr marL="0" indent="0">
              <a:buNone/>
            </a:pPr>
            <a:r>
              <a:rPr lang="tr-TR" altLang="tr-TR" sz="1200" dirty="0">
                <a:latin typeface="Source Sans Pro" panose="020B0503030403020204" pitchFamily="34" charset="0"/>
                <a:ea typeface="Source Sans Pro" panose="020B0503030403020204" pitchFamily="34" charset="0"/>
              </a:rPr>
              <a:t>    </a:t>
            </a:r>
            <a:r>
              <a:rPr lang="tr-TR" altLang="tr-TR" sz="1200" dirty="0" err="1">
                <a:latin typeface="Source Sans Pro" panose="020B0503030403020204" pitchFamily="34" charset="0"/>
                <a:ea typeface="Source Sans Pro" panose="020B0503030403020204" pitchFamily="34" charset="0"/>
              </a:rPr>
              <a:t>public</a:t>
            </a:r>
            <a:r>
              <a:rPr lang="tr-TR" altLang="tr-TR" sz="1200" dirty="0">
                <a:latin typeface="Source Sans Pro" panose="020B0503030403020204" pitchFamily="34" charset="0"/>
                <a:ea typeface="Source Sans Pro" panose="020B0503030403020204" pitchFamily="34" charset="0"/>
              </a:rPr>
              <a:t>:</a:t>
            </a:r>
          </a:p>
          <a:p>
            <a:pPr marL="0" indent="0">
              <a:buNone/>
            </a:pPr>
            <a:r>
              <a:rPr lang="tr-TR" altLang="tr-TR" sz="1200" dirty="0">
                <a:latin typeface="Source Sans Pro" panose="020B0503030403020204" pitchFamily="34" charset="0"/>
                <a:ea typeface="Source Sans Pro" panose="020B0503030403020204" pitchFamily="34" charset="0"/>
              </a:rPr>
              <a:t>        </a:t>
            </a:r>
            <a:r>
              <a:rPr lang="tr-TR" altLang="tr-TR" sz="1200" dirty="0" err="1">
                <a:latin typeface="Source Sans Pro" panose="020B0503030403020204" pitchFamily="34" charset="0"/>
                <a:ea typeface="Source Sans Pro" panose="020B0503030403020204" pitchFamily="34" charset="0"/>
              </a:rPr>
              <a:t>Memento</a:t>
            </a:r>
            <a:r>
              <a:rPr lang="tr-TR" altLang="tr-TR" sz="1200" dirty="0">
                <a:latin typeface="Source Sans Pro" panose="020B0503030403020204" pitchFamily="34" charset="0"/>
                <a:ea typeface="Source Sans Pro" panose="020B0503030403020204" pitchFamily="34" charset="0"/>
              </a:rPr>
              <a:t>* </a:t>
            </a:r>
            <a:r>
              <a:rPr lang="tr-TR" altLang="tr-TR" sz="1200" dirty="0" err="1">
                <a:latin typeface="Source Sans Pro" panose="020B0503030403020204" pitchFamily="34" charset="0"/>
                <a:ea typeface="Source Sans Pro" panose="020B0503030403020204" pitchFamily="34" charset="0"/>
              </a:rPr>
              <a:t>CreateMemento</a:t>
            </a:r>
            <a:r>
              <a:rPr lang="tr-TR" altLang="tr-TR" sz="1200" dirty="0">
                <a:latin typeface="Source Sans Pro" panose="020B0503030403020204" pitchFamily="34" charset="0"/>
                <a:ea typeface="Source Sans Pro" panose="020B0503030403020204" pitchFamily="34" charset="0"/>
              </a:rPr>
              <a:t>();</a:t>
            </a:r>
          </a:p>
          <a:p>
            <a:pPr marL="0" indent="0">
              <a:buNone/>
            </a:pPr>
            <a:r>
              <a:rPr lang="tr-TR" altLang="tr-TR" sz="1200" dirty="0">
                <a:latin typeface="Source Sans Pro" panose="020B0503030403020204" pitchFamily="34" charset="0"/>
                <a:ea typeface="Source Sans Pro" panose="020B0503030403020204" pitchFamily="34" charset="0"/>
              </a:rPr>
              <a:t>        </a:t>
            </a:r>
            <a:r>
              <a:rPr lang="tr-TR" altLang="tr-TR" sz="1200" dirty="0" err="1">
                <a:latin typeface="Source Sans Pro" panose="020B0503030403020204" pitchFamily="34" charset="0"/>
                <a:ea typeface="Source Sans Pro" panose="020B0503030403020204" pitchFamily="34" charset="0"/>
              </a:rPr>
              <a:t>void</a:t>
            </a:r>
            <a:r>
              <a:rPr lang="tr-TR" altLang="tr-TR" sz="1200" dirty="0">
                <a:latin typeface="Source Sans Pro" panose="020B0503030403020204" pitchFamily="34" charset="0"/>
                <a:ea typeface="Source Sans Pro" panose="020B0503030403020204" pitchFamily="34" charset="0"/>
              </a:rPr>
              <a:t> </a:t>
            </a:r>
            <a:r>
              <a:rPr lang="tr-TR" altLang="tr-TR" sz="1200" dirty="0" err="1">
                <a:latin typeface="Source Sans Pro" panose="020B0503030403020204" pitchFamily="34" charset="0"/>
                <a:ea typeface="Source Sans Pro" panose="020B0503030403020204" pitchFamily="34" charset="0"/>
              </a:rPr>
              <a:t>SetMemento</a:t>
            </a:r>
            <a:r>
              <a:rPr lang="tr-TR" altLang="tr-TR" sz="1200" dirty="0">
                <a:latin typeface="Source Sans Pro" panose="020B0503030403020204" pitchFamily="34" charset="0"/>
                <a:ea typeface="Source Sans Pro" panose="020B0503030403020204" pitchFamily="34" charset="0"/>
              </a:rPr>
              <a:t>(</a:t>
            </a:r>
            <a:r>
              <a:rPr lang="tr-TR" altLang="tr-TR" sz="1200" dirty="0" err="1">
                <a:latin typeface="Source Sans Pro" panose="020B0503030403020204" pitchFamily="34" charset="0"/>
                <a:ea typeface="Source Sans Pro" panose="020B0503030403020204" pitchFamily="34" charset="0"/>
              </a:rPr>
              <a:t>const</a:t>
            </a:r>
            <a:r>
              <a:rPr lang="tr-TR" altLang="tr-TR" sz="1200" dirty="0">
                <a:latin typeface="Source Sans Pro" panose="020B0503030403020204" pitchFamily="34" charset="0"/>
                <a:ea typeface="Source Sans Pro" panose="020B0503030403020204" pitchFamily="34" charset="0"/>
              </a:rPr>
              <a:t> </a:t>
            </a:r>
            <a:r>
              <a:rPr lang="tr-TR" altLang="tr-TR" sz="1200" dirty="0" err="1">
                <a:latin typeface="Source Sans Pro" panose="020B0503030403020204" pitchFamily="34" charset="0"/>
                <a:ea typeface="Source Sans Pro" panose="020B0503030403020204" pitchFamily="34" charset="0"/>
              </a:rPr>
              <a:t>Memento</a:t>
            </a:r>
            <a:r>
              <a:rPr lang="tr-TR" altLang="tr-TR" sz="1200" dirty="0">
                <a:latin typeface="Source Sans Pro" panose="020B0503030403020204" pitchFamily="34" charset="0"/>
                <a:ea typeface="Source Sans Pro" panose="020B0503030403020204" pitchFamily="34" charset="0"/>
              </a:rPr>
              <a:t>*);</a:t>
            </a:r>
          </a:p>
          <a:p>
            <a:pPr marL="0" indent="0">
              <a:buNone/>
            </a:pPr>
            <a:r>
              <a:rPr lang="tr-TR" altLang="tr-TR" sz="1200" dirty="0">
                <a:latin typeface="Source Sans Pro" panose="020B0503030403020204" pitchFamily="34" charset="0"/>
                <a:ea typeface="Source Sans Pro" panose="020B0503030403020204" pitchFamily="34" charset="0"/>
              </a:rPr>
              <a:t>        // ...</a:t>
            </a:r>
          </a:p>
          <a:p>
            <a:pPr marL="0" indent="0">
              <a:buNone/>
            </a:pPr>
            <a:r>
              <a:rPr lang="tr-TR" altLang="tr-TR" sz="1200" dirty="0">
                <a:latin typeface="Source Sans Pro" panose="020B0503030403020204" pitchFamily="34" charset="0"/>
                <a:ea typeface="Source Sans Pro" panose="020B0503030403020204" pitchFamily="34" charset="0"/>
              </a:rPr>
              <a:t>    </a:t>
            </a:r>
            <a:r>
              <a:rPr lang="tr-TR" altLang="tr-TR" sz="1200" dirty="0" err="1">
                <a:latin typeface="Source Sans Pro" panose="020B0503030403020204" pitchFamily="34" charset="0"/>
                <a:ea typeface="Source Sans Pro" panose="020B0503030403020204" pitchFamily="34" charset="0"/>
              </a:rPr>
              <a:t>private</a:t>
            </a:r>
            <a:r>
              <a:rPr lang="tr-TR" altLang="tr-TR" sz="1200" dirty="0">
                <a:latin typeface="Source Sans Pro" panose="020B0503030403020204" pitchFamily="34" charset="0"/>
                <a:ea typeface="Source Sans Pro" panose="020B0503030403020204" pitchFamily="34" charset="0"/>
              </a:rPr>
              <a:t>:</a:t>
            </a:r>
          </a:p>
          <a:p>
            <a:pPr marL="0" indent="0">
              <a:buNone/>
            </a:pPr>
            <a:r>
              <a:rPr lang="tr-TR" altLang="tr-TR" sz="1200" dirty="0">
                <a:latin typeface="Source Sans Pro" panose="020B0503030403020204" pitchFamily="34" charset="0"/>
                <a:ea typeface="Source Sans Pro" panose="020B0503030403020204" pitchFamily="34" charset="0"/>
              </a:rPr>
              <a:t>        </a:t>
            </a:r>
            <a:r>
              <a:rPr lang="tr-TR" altLang="tr-TR" sz="1200" dirty="0" err="1">
                <a:latin typeface="Source Sans Pro" panose="020B0503030403020204" pitchFamily="34" charset="0"/>
                <a:ea typeface="Source Sans Pro" panose="020B0503030403020204" pitchFamily="34" charset="0"/>
              </a:rPr>
              <a:t>State</a:t>
            </a:r>
            <a:r>
              <a:rPr lang="tr-TR" altLang="tr-TR" sz="1200" dirty="0">
                <a:latin typeface="Source Sans Pro" panose="020B0503030403020204" pitchFamily="34" charset="0"/>
                <a:ea typeface="Source Sans Pro" panose="020B0503030403020204" pitchFamily="34" charset="0"/>
              </a:rPr>
              <a:t>* _</a:t>
            </a:r>
            <a:r>
              <a:rPr lang="tr-TR" altLang="tr-TR" sz="1200" dirty="0" err="1">
                <a:latin typeface="Source Sans Pro" panose="020B0503030403020204" pitchFamily="34" charset="0"/>
                <a:ea typeface="Source Sans Pro" panose="020B0503030403020204" pitchFamily="34" charset="0"/>
              </a:rPr>
              <a:t>state</a:t>
            </a:r>
            <a:r>
              <a:rPr lang="tr-TR" altLang="tr-TR" sz="1200" dirty="0">
                <a:latin typeface="Source Sans Pro" panose="020B0503030403020204" pitchFamily="34" charset="0"/>
                <a:ea typeface="Source Sans Pro" panose="020B0503030403020204" pitchFamily="34" charset="0"/>
              </a:rPr>
              <a:t>;      // </a:t>
            </a:r>
            <a:r>
              <a:rPr lang="tr-TR" altLang="tr-TR" sz="1200" dirty="0" err="1">
                <a:latin typeface="Source Sans Pro" panose="020B0503030403020204" pitchFamily="34" charset="0"/>
                <a:ea typeface="Source Sans Pro" panose="020B0503030403020204" pitchFamily="34" charset="0"/>
              </a:rPr>
              <a:t>internal</a:t>
            </a:r>
            <a:r>
              <a:rPr lang="tr-TR" altLang="tr-TR" sz="1200" dirty="0">
                <a:latin typeface="Source Sans Pro" panose="020B0503030403020204" pitchFamily="34" charset="0"/>
                <a:ea typeface="Source Sans Pro" panose="020B0503030403020204" pitchFamily="34" charset="0"/>
              </a:rPr>
              <a:t> data </a:t>
            </a:r>
            <a:r>
              <a:rPr lang="tr-TR" altLang="tr-TR" sz="1200" dirty="0" err="1">
                <a:latin typeface="Source Sans Pro" panose="020B0503030403020204" pitchFamily="34" charset="0"/>
                <a:ea typeface="Source Sans Pro" panose="020B0503030403020204" pitchFamily="34" charset="0"/>
              </a:rPr>
              <a:t>structures</a:t>
            </a:r>
            <a:endParaRPr lang="tr-TR" altLang="tr-TR" sz="1200" dirty="0">
              <a:latin typeface="Source Sans Pro" panose="020B0503030403020204" pitchFamily="34" charset="0"/>
              <a:ea typeface="Source Sans Pro" panose="020B0503030403020204" pitchFamily="34" charset="0"/>
            </a:endParaRPr>
          </a:p>
          <a:p>
            <a:pPr marL="0" indent="0">
              <a:buNone/>
            </a:pPr>
            <a:r>
              <a:rPr lang="tr-TR" altLang="tr-TR" sz="1200" dirty="0">
                <a:latin typeface="Source Sans Pro" panose="020B0503030403020204" pitchFamily="34" charset="0"/>
                <a:ea typeface="Source Sans Pro" panose="020B0503030403020204" pitchFamily="34" charset="0"/>
              </a:rPr>
              <a:t>        // ...</a:t>
            </a:r>
          </a:p>
          <a:p>
            <a:pPr marL="0" indent="0">
              <a:buNone/>
            </a:pPr>
            <a:r>
              <a:rPr lang="tr-TR" altLang="tr-TR" sz="1200" dirty="0">
                <a:latin typeface="Source Sans Pro" panose="020B0503030403020204" pitchFamily="34" charset="0"/>
                <a:ea typeface="Source Sans Pro" panose="020B0503030403020204" pitchFamily="34" charset="0"/>
              </a:rPr>
              <a:t>    };</a:t>
            </a:r>
          </a:p>
          <a:p>
            <a:pPr marL="0" indent="0">
              <a:buNone/>
            </a:pPr>
            <a:r>
              <a:rPr lang="tr-TR" altLang="tr-TR" sz="1200" dirty="0">
                <a:latin typeface="Source Sans Pro" panose="020B0503030403020204" pitchFamily="34" charset="0"/>
                <a:ea typeface="Source Sans Pro" panose="020B0503030403020204" pitchFamily="34" charset="0"/>
              </a:rPr>
              <a:t>    </a:t>
            </a:r>
          </a:p>
          <a:p>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60</a:t>
            </a:fld>
            <a:endParaRPr lang="en-US" altLang="tr-TR"/>
          </a:p>
        </p:txBody>
      </p:sp>
    </p:spTree>
    <p:extLst>
      <p:ext uri="{BB962C8B-B14F-4D97-AF65-F5344CB8AC3E}">
        <p14:creationId xmlns:p14="http://schemas.microsoft.com/office/powerpoint/2010/main" val="1939571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1" dirty="0">
                <a:solidFill>
                  <a:srgbClr val="000000"/>
                </a:solidFill>
                <a:effectLst/>
                <a:latin typeface="Times New Roman" panose="02020603050405020304" pitchFamily="18" charset="0"/>
              </a:rPr>
              <a:t>Preserving encapsulation boundaries.</a:t>
            </a:r>
            <a:r>
              <a:rPr lang="en-US" b="0" i="0" dirty="0">
                <a:solidFill>
                  <a:srgbClr val="000000"/>
                </a:solidFill>
                <a:effectLst/>
                <a:latin typeface="Times New Roman" panose="02020603050405020304" pitchFamily="18" charset="0"/>
              </a:rPr>
              <a:t> Memento avoids exposing information that only an originator should manage but that must be stored nevertheless outside the originator. The pattern shields other objects from potentially complex Originator internals, thereby preserving encapsulation boundaries.</a:t>
            </a:r>
          </a:p>
          <a:p>
            <a:pPr algn="l">
              <a:buFont typeface="+mj-lt"/>
              <a:buAutoNum type="arabicPeriod"/>
            </a:pPr>
            <a:r>
              <a:rPr lang="en-US" b="0" i="1" dirty="0">
                <a:solidFill>
                  <a:srgbClr val="000000"/>
                </a:solidFill>
                <a:effectLst/>
                <a:latin typeface="Times New Roman" panose="02020603050405020304" pitchFamily="18" charset="0"/>
              </a:rPr>
              <a:t>It simplifies Originator.</a:t>
            </a:r>
            <a:r>
              <a:rPr lang="en-US" b="0" i="0" dirty="0">
                <a:solidFill>
                  <a:srgbClr val="000000"/>
                </a:solidFill>
                <a:effectLst/>
                <a:latin typeface="Times New Roman" panose="02020603050405020304" pitchFamily="18" charset="0"/>
              </a:rPr>
              <a:t> In other encapsulation-preserving designs, Originator keeps the versions of internal state that clients have requested. That puts all the storage management burden on Originator. Having clients manage the state they ask for simplifies Originator and keeps clients from having to notify originators when they're done.</a:t>
            </a:r>
          </a:p>
          <a:p>
            <a:pPr algn="l">
              <a:buFont typeface="+mj-lt"/>
              <a:buAutoNum type="arabicPeriod"/>
            </a:pPr>
            <a:r>
              <a:rPr lang="en-US" b="0" i="1" dirty="0">
                <a:solidFill>
                  <a:srgbClr val="000000"/>
                </a:solidFill>
                <a:effectLst/>
                <a:latin typeface="Times New Roman" panose="02020603050405020304" pitchFamily="18" charset="0"/>
              </a:rPr>
              <a:t>Using mementos might be expensive.</a:t>
            </a:r>
            <a:r>
              <a:rPr lang="en-US" b="0" i="0" dirty="0">
                <a:solidFill>
                  <a:srgbClr val="000000"/>
                </a:solidFill>
                <a:effectLst/>
                <a:latin typeface="Times New Roman" panose="02020603050405020304" pitchFamily="18" charset="0"/>
              </a:rPr>
              <a:t> Mementos might incur considerable overhead if Originator must copy large amounts of information to store in the memento or if clients create and return mementos to the originator often enough. Unless encapsulating and restoring Originator state is cheap, the pattern might not be appropriate. </a:t>
            </a:r>
          </a:p>
          <a:p>
            <a:pPr algn="l">
              <a:buFont typeface="+mj-lt"/>
              <a:buAutoNum type="arabicPeriod"/>
            </a:pPr>
            <a:r>
              <a:rPr lang="en-US" b="0" i="1" dirty="0">
                <a:solidFill>
                  <a:srgbClr val="000000"/>
                </a:solidFill>
                <a:effectLst/>
                <a:latin typeface="Times New Roman" panose="02020603050405020304" pitchFamily="18" charset="0"/>
              </a:rPr>
              <a:t>Defining narrow and wide interfaces.</a:t>
            </a:r>
            <a:r>
              <a:rPr lang="en-US" b="0" i="0" dirty="0">
                <a:solidFill>
                  <a:srgbClr val="000000"/>
                </a:solidFill>
                <a:effectLst/>
                <a:latin typeface="Times New Roman" panose="02020603050405020304" pitchFamily="18" charset="0"/>
              </a:rPr>
              <a:t> It may be difficult in some languages to ensure that only the originator can access the memento's state.</a:t>
            </a:r>
          </a:p>
          <a:p>
            <a:pPr algn="l">
              <a:buFont typeface="+mj-lt"/>
              <a:buAutoNum type="arabicPeriod"/>
            </a:pPr>
            <a:r>
              <a:rPr lang="en-US" b="0" i="1" dirty="0">
                <a:solidFill>
                  <a:srgbClr val="000000"/>
                </a:solidFill>
                <a:effectLst/>
                <a:latin typeface="Times New Roman" panose="02020603050405020304" pitchFamily="18" charset="0"/>
              </a:rPr>
              <a:t>Hidden costs in caring for mementos.</a:t>
            </a:r>
            <a:r>
              <a:rPr lang="en-US" b="0" i="0" dirty="0">
                <a:solidFill>
                  <a:srgbClr val="000000"/>
                </a:solidFill>
                <a:effectLst/>
                <a:latin typeface="Times New Roman" panose="02020603050405020304" pitchFamily="18" charset="0"/>
              </a:rPr>
              <a:t> A caretaker is responsible for deleting the mementos it cares for. However, the caretaker has no idea how much state is in the memento. Hence an otherwise lightweight caretaker might incur large storage costs when it stores mementos.</a:t>
            </a:r>
          </a:p>
          <a:p>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66</a:t>
            </a:fld>
            <a:endParaRPr lang="en-US" altLang="tr-TR"/>
          </a:p>
        </p:txBody>
      </p:sp>
    </p:spTree>
    <p:extLst>
      <p:ext uri="{BB962C8B-B14F-4D97-AF65-F5344CB8AC3E}">
        <p14:creationId xmlns:p14="http://schemas.microsoft.com/office/powerpoint/2010/main" val="4052056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altLang="tr-TR" sz="1200" dirty="0"/>
              <a:t>Polymorphism is important to Command, but not to Memento because its interface is so narrow that a memento can only be passed as a value.</a:t>
            </a:r>
          </a:p>
          <a:p>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68</a:t>
            </a:fld>
            <a:endParaRPr lang="en-US" altLang="tr-TR"/>
          </a:p>
        </p:txBody>
      </p:sp>
    </p:spTree>
    <p:extLst>
      <p:ext uri="{BB962C8B-B14F-4D97-AF65-F5344CB8AC3E}">
        <p14:creationId xmlns:p14="http://schemas.microsoft.com/office/powerpoint/2010/main" val="4099339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2ACC812-E6A3-F537-766D-91B6AC3917D3}"/>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AB2CFD04-CFC4-D75D-BB4A-48A79B323970}"/>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tr-TR" altLang="tr-TR" sz="2400">
                <a:latin typeface="Times New Roman" pitchFamily="18" charset="0"/>
              </a:endParaRPr>
            </a:p>
          </p:txBody>
        </p:sp>
        <p:sp>
          <p:nvSpPr>
            <p:cNvPr id="4" name="Rectangle 4">
              <a:extLst>
                <a:ext uri="{FF2B5EF4-FFF2-40B4-BE49-F238E27FC236}">
                  <a16:creationId xmlns:a16="http://schemas.microsoft.com/office/drawing/2014/main" id="{3A71D8F8-95F9-7086-E839-181574C7FAAA}"/>
                </a:ext>
              </a:extLst>
            </p:cNvPr>
            <p:cNvSpPr>
              <a:spLocks noChangeArrowheads="1"/>
            </p:cNvSpPr>
            <p:nvPr/>
          </p:nvSpPr>
          <p:spPr bwMode="hidden">
            <a:xfrm>
              <a:off x="1081" y="1065"/>
              <a:ext cx="4679" cy="1596"/>
            </a:xfrm>
            <a:prstGeom prst="rect">
              <a:avLst/>
            </a:prstGeom>
            <a:solidFill>
              <a:schemeClr val="bg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grpSp>
          <p:nvGrpSpPr>
            <p:cNvPr id="5" name="Group 5">
              <a:extLst>
                <a:ext uri="{FF2B5EF4-FFF2-40B4-BE49-F238E27FC236}">
                  <a16:creationId xmlns:a16="http://schemas.microsoft.com/office/drawing/2014/main" id="{FC30AA1C-40E8-8F63-D7F5-5A0DE7D07E33}"/>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6BA6BF3C-C8A4-E86E-1BF0-C19836E7217F}"/>
                  </a:ext>
                </a:extLst>
              </p:cNvPr>
              <p:cNvSpPr>
                <a:spLocks noChangeArrowheads="1"/>
              </p:cNvSpPr>
              <p:nvPr/>
            </p:nvSpPr>
            <p:spPr bwMode="auto">
              <a:xfrm>
                <a:off x="361" y="2257"/>
                <a:ext cx="363" cy="404"/>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7" name="Rectangle 7">
                <a:extLst>
                  <a:ext uri="{FF2B5EF4-FFF2-40B4-BE49-F238E27FC236}">
                    <a16:creationId xmlns:a16="http://schemas.microsoft.com/office/drawing/2014/main" id="{A0021004-C3B9-5A28-4BA6-0003CC1F7DCF}"/>
                  </a:ext>
                </a:extLst>
              </p:cNvPr>
              <p:cNvSpPr>
                <a:spLocks noChangeArrowheads="1"/>
              </p:cNvSpPr>
              <p:nvPr/>
            </p:nvSpPr>
            <p:spPr bwMode="auto">
              <a:xfrm>
                <a:off x="1081" y="1065"/>
                <a:ext cx="362" cy="405"/>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8" name="Rectangle 8">
                <a:extLst>
                  <a:ext uri="{FF2B5EF4-FFF2-40B4-BE49-F238E27FC236}">
                    <a16:creationId xmlns:a16="http://schemas.microsoft.com/office/drawing/2014/main" id="{16F14E4A-D184-7025-E9F4-A87A778E3735}"/>
                  </a:ext>
                </a:extLst>
              </p:cNvPr>
              <p:cNvSpPr>
                <a:spLocks noChangeArrowheads="1"/>
              </p:cNvSpPr>
              <p:nvPr/>
            </p:nvSpPr>
            <p:spPr bwMode="auto">
              <a:xfrm>
                <a:off x="1437" y="672"/>
                <a:ext cx="369" cy="400"/>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9" name="Rectangle 9">
                <a:extLst>
                  <a:ext uri="{FF2B5EF4-FFF2-40B4-BE49-F238E27FC236}">
                    <a16:creationId xmlns:a16="http://schemas.microsoft.com/office/drawing/2014/main" id="{9EFD3C06-F841-073D-6BF8-4CCED3643200}"/>
                  </a:ext>
                </a:extLst>
              </p:cNvPr>
              <p:cNvSpPr>
                <a:spLocks noChangeArrowheads="1"/>
              </p:cNvSpPr>
              <p:nvPr/>
            </p:nvSpPr>
            <p:spPr bwMode="auto">
              <a:xfrm>
                <a:off x="719" y="2257"/>
                <a:ext cx="368" cy="404"/>
              </a:xfrm>
              <a:prstGeom prst="rect">
                <a:avLst/>
              </a:prstGeom>
              <a:solidFill>
                <a:schemeClr val="bg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 name="Rectangle 10">
                <a:extLst>
                  <a:ext uri="{FF2B5EF4-FFF2-40B4-BE49-F238E27FC236}">
                    <a16:creationId xmlns:a16="http://schemas.microsoft.com/office/drawing/2014/main" id="{2875D25D-6C27-0DD4-F837-8161EB7D5F3D}"/>
                  </a:ext>
                </a:extLst>
              </p:cNvPr>
              <p:cNvSpPr>
                <a:spLocks noChangeArrowheads="1"/>
              </p:cNvSpPr>
              <p:nvPr/>
            </p:nvSpPr>
            <p:spPr bwMode="auto">
              <a:xfrm>
                <a:off x="1437" y="1065"/>
                <a:ext cx="369" cy="405"/>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1" name="Rectangle 11">
                <a:extLst>
                  <a:ext uri="{FF2B5EF4-FFF2-40B4-BE49-F238E27FC236}">
                    <a16:creationId xmlns:a16="http://schemas.microsoft.com/office/drawing/2014/main" id="{54E92B0E-912B-5B5C-E976-7C4CFE70CD57}"/>
                  </a:ext>
                </a:extLst>
              </p:cNvPr>
              <p:cNvSpPr>
                <a:spLocks noChangeArrowheads="1"/>
              </p:cNvSpPr>
              <p:nvPr/>
            </p:nvSpPr>
            <p:spPr bwMode="auto">
              <a:xfrm>
                <a:off x="719" y="1464"/>
                <a:ext cx="368" cy="399"/>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2" name="Rectangle 12">
                <a:extLst>
                  <a:ext uri="{FF2B5EF4-FFF2-40B4-BE49-F238E27FC236}">
                    <a16:creationId xmlns:a16="http://schemas.microsoft.com/office/drawing/2014/main" id="{EC9BC013-1C93-5DE5-3B7B-D5E2C4BF260F}"/>
                  </a:ext>
                </a:extLst>
              </p:cNvPr>
              <p:cNvSpPr>
                <a:spLocks noChangeArrowheads="1"/>
              </p:cNvSpPr>
              <p:nvPr/>
            </p:nvSpPr>
            <p:spPr bwMode="auto">
              <a:xfrm>
                <a:off x="0" y="1464"/>
                <a:ext cx="367" cy="399"/>
              </a:xfrm>
              <a:prstGeom prst="rect">
                <a:avLst/>
              </a:prstGeom>
              <a:solidFill>
                <a:schemeClr val="bg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3" name="Rectangle 13">
                <a:extLst>
                  <a:ext uri="{FF2B5EF4-FFF2-40B4-BE49-F238E27FC236}">
                    <a16:creationId xmlns:a16="http://schemas.microsoft.com/office/drawing/2014/main" id="{C459E508-283D-86E1-FECF-F70AA22C8063}"/>
                  </a:ext>
                </a:extLst>
              </p:cNvPr>
              <p:cNvSpPr>
                <a:spLocks noChangeArrowheads="1"/>
              </p:cNvSpPr>
              <p:nvPr/>
            </p:nvSpPr>
            <p:spPr bwMode="auto">
              <a:xfrm>
                <a:off x="1081" y="1464"/>
                <a:ext cx="362" cy="399"/>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4" name="Rectangle 14">
                <a:extLst>
                  <a:ext uri="{FF2B5EF4-FFF2-40B4-BE49-F238E27FC236}">
                    <a16:creationId xmlns:a16="http://schemas.microsoft.com/office/drawing/2014/main" id="{6561F87F-8262-B000-ED93-48DE4657D0CE}"/>
                  </a:ext>
                </a:extLst>
              </p:cNvPr>
              <p:cNvSpPr>
                <a:spLocks noChangeArrowheads="1"/>
              </p:cNvSpPr>
              <p:nvPr/>
            </p:nvSpPr>
            <p:spPr bwMode="auto">
              <a:xfrm>
                <a:off x="361" y="1857"/>
                <a:ext cx="363" cy="406"/>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5" name="Rectangle 15">
                <a:extLst>
                  <a:ext uri="{FF2B5EF4-FFF2-40B4-BE49-F238E27FC236}">
                    <a16:creationId xmlns:a16="http://schemas.microsoft.com/office/drawing/2014/main" id="{7750DFF8-42F7-A4DE-76A5-7CCF29A9CDBB}"/>
                  </a:ext>
                </a:extLst>
              </p:cNvPr>
              <p:cNvSpPr>
                <a:spLocks noChangeArrowheads="1"/>
              </p:cNvSpPr>
              <p:nvPr/>
            </p:nvSpPr>
            <p:spPr bwMode="auto">
              <a:xfrm>
                <a:off x="719" y="1857"/>
                <a:ext cx="368" cy="406"/>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grpSp>
      </p:grpSp>
      <p:sp>
        <p:nvSpPr>
          <p:cNvPr id="2754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p>
        </p:txBody>
      </p:sp>
      <p:sp>
        <p:nvSpPr>
          <p:cNvPr id="27547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p>
        </p:txBody>
      </p:sp>
      <p:sp>
        <p:nvSpPr>
          <p:cNvPr id="16" name="Rectangle 16">
            <a:extLst>
              <a:ext uri="{FF2B5EF4-FFF2-40B4-BE49-F238E27FC236}">
                <a16:creationId xmlns:a16="http://schemas.microsoft.com/office/drawing/2014/main" id="{172F7C9D-AE00-B3EE-BA85-833AB1068967}"/>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7" name="Rectangle 17">
            <a:extLst>
              <a:ext uri="{FF2B5EF4-FFF2-40B4-BE49-F238E27FC236}">
                <a16:creationId xmlns:a16="http://schemas.microsoft.com/office/drawing/2014/main" id="{AAFBBBE7-789D-0A76-DC28-0806EA965EC9}"/>
              </a:ext>
            </a:extLst>
          </p:cNvPr>
          <p:cNvSpPr>
            <a:spLocks noGrp="1" noChangeArrowheads="1"/>
          </p:cNvSpPr>
          <p:nvPr>
            <p:ph type="ftr" sz="quarter" idx="11"/>
          </p:nvPr>
        </p:nvSpPr>
        <p:spPr/>
        <p:txBody>
          <a:bodyPr/>
          <a:lstStyle>
            <a:lvl1pPr>
              <a:defRPr/>
            </a:lvl1pPr>
          </a:lstStyle>
          <a:p>
            <a:pPr>
              <a:defRPr/>
            </a:pPr>
            <a:endParaRPr lang="en-US"/>
          </a:p>
        </p:txBody>
      </p:sp>
      <p:sp>
        <p:nvSpPr>
          <p:cNvPr id="18" name="Rectangle 18">
            <a:extLst>
              <a:ext uri="{FF2B5EF4-FFF2-40B4-BE49-F238E27FC236}">
                <a16:creationId xmlns:a16="http://schemas.microsoft.com/office/drawing/2014/main" id="{9CAD7C87-BB0D-8DF4-CA55-9B96BCFA66F7}"/>
              </a:ext>
            </a:extLst>
          </p:cNvPr>
          <p:cNvSpPr>
            <a:spLocks noGrp="1" noChangeArrowheads="1"/>
          </p:cNvSpPr>
          <p:nvPr>
            <p:ph type="sldNum" sz="quarter" idx="12"/>
          </p:nvPr>
        </p:nvSpPr>
        <p:spPr/>
        <p:txBody>
          <a:bodyPr/>
          <a:lstStyle>
            <a:lvl1pPr>
              <a:defRPr smtClean="0"/>
            </a:lvl1pPr>
          </a:lstStyle>
          <a:p>
            <a:pPr>
              <a:defRPr/>
            </a:pPr>
            <a:fld id="{813B042A-F4E5-4D86-B645-C01E56C1D181}" type="slidenum">
              <a:rPr lang="en-US" altLang="tr-TR"/>
              <a:pPr>
                <a:defRPr/>
              </a:pPr>
              <a:t>‹#›</a:t>
            </a:fld>
            <a:endParaRPr lang="en-US" altLang="tr-TR"/>
          </a:p>
        </p:txBody>
      </p:sp>
    </p:spTree>
    <p:extLst>
      <p:ext uri="{BB962C8B-B14F-4D97-AF65-F5344CB8AC3E}">
        <p14:creationId xmlns:p14="http://schemas.microsoft.com/office/powerpoint/2010/main" val="981070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6DD7733-852C-92BC-922F-60EF7E1647CB}"/>
              </a:ext>
            </a:extLst>
          </p:cNvPr>
          <p:cNvSpPr/>
          <p:nvPr/>
        </p:nvSpPr>
        <p:spPr>
          <a:xfrm>
            <a:off x="457200" y="1235075"/>
            <a:ext cx="8370888"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139152"/>
            <a:ext cx="8229600" cy="1371600"/>
          </a:xfrm>
        </p:spPr>
        <p:txBody>
          <a:bodyPr/>
          <a:lstStyle/>
          <a:p>
            <a:r>
              <a:rPr lang="en-US"/>
              <a:t>Click to edit Master title style</a:t>
            </a:r>
          </a:p>
        </p:txBody>
      </p:sp>
      <p:sp>
        <p:nvSpPr>
          <p:cNvPr id="3" name="Content Placeholder 2"/>
          <p:cNvSpPr>
            <a:spLocks noGrp="1"/>
          </p:cNvSpPr>
          <p:nvPr>
            <p:ph idx="1"/>
          </p:nvPr>
        </p:nvSpPr>
        <p:spPr>
          <a:xfrm>
            <a:off x="457200" y="1335291"/>
            <a:ext cx="8229600" cy="45321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a:extLst>
              <a:ext uri="{FF2B5EF4-FFF2-40B4-BE49-F238E27FC236}">
                <a16:creationId xmlns:a16="http://schemas.microsoft.com/office/drawing/2014/main" id="{3C9A8D47-491A-4369-BE42-AB0567157634}"/>
              </a:ext>
            </a:extLst>
          </p:cNvPr>
          <p:cNvSpPr>
            <a:spLocks noGrp="1" noChangeArrowheads="1"/>
          </p:cNvSpPr>
          <p:nvPr>
            <p:ph type="ftr" sz="quarter" idx="10"/>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BD5C673C-5EC1-9165-C79F-650D34B3B4FE}"/>
              </a:ext>
            </a:extLst>
          </p:cNvPr>
          <p:cNvSpPr>
            <a:spLocks noGrp="1" noChangeArrowheads="1"/>
          </p:cNvSpPr>
          <p:nvPr>
            <p:ph type="sldNum" sz="quarter" idx="11"/>
          </p:nvPr>
        </p:nvSpPr>
        <p:spPr/>
        <p:txBody>
          <a:bodyPr/>
          <a:lstStyle>
            <a:lvl1pPr>
              <a:defRPr smtClean="0"/>
            </a:lvl1pPr>
          </a:lstStyle>
          <a:p>
            <a:pPr>
              <a:defRPr/>
            </a:pPr>
            <a:fld id="{529840DE-A67D-4E40-BA13-C5E853E6D78E}" type="slidenum">
              <a:rPr lang="en-US" altLang="tr-TR"/>
              <a:pPr>
                <a:defRPr/>
              </a:pPr>
              <a:t>‹#›</a:t>
            </a:fld>
            <a:endParaRPr lang="en-US" altLang="tr-TR"/>
          </a:p>
        </p:txBody>
      </p:sp>
      <p:sp>
        <p:nvSpPr>
          <p:cNvPr id="7" name="Rectangle 16">
            <a:extLst>
              <a:ext uri="{FF2B5EF4-FFF2-40B4-BE49-F238E27FC236}">
                <a16:creationId xmlns:a16="http://schemas.microsoft.com/office/drawing/2014/main" id="{6EB908BB-27EF-208C-6CD2-8E6A2F96AD0B}"/>
              </a:ext>
            </a:extLst>
          </p:cNvPr>
          <p:cNvSpPr>
            <a:spLocks noGrp="1" noChangeArrowheads="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3259037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AAA1A2F3-5345-D9C7-26AA-0C6859EC055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DC0EB629-B3FB-EB76-A23B-41B7AC9B0FE4}"/>
              </a:ext>
            </a:extLst>
          </p:cNvPr>
          <p:cNvSpPr>
            <a:spLocks noGrp="1" noChangeArrowheads="1"/>
          </p:cNvSpPr>
          <p:nvPr>
            <p:ph type="sldNum" sz="quarter" idx="11"/>
          </p:nvPr>
        </p:nvSpPr>
        <p:spPr>
          <a:ln/>
        </p:spPr>
        <p:txBody>
          <a:bodyPr/>
          <a:lstStyle>
            <a:lvl1pPr>
              <a:defRPr/>
            </a:lvl1pPr>
          </a:lstStyle>
          <a:p>
            <a:pPr>
              <a:defRPr/>
            </a:pPr>
            <a:fld id="{8D669AC4-5060-482C-96CE-1CF5026D193E}" type="slidenum">
              <a:rPr lang="en-US" altLang="tr-TR"/>
              <a:pPr>
                <a:defRPr/>
              </a:pPr>
              <a:t>‹#›</a:t>
            </a:fld>
            <a:endParaRPr lang="en-US" altLang="tr-TR"/>
          </a:p>
        </p:txBody>
      </p:sp>
      <p:sp>
        <p:nvSpPr>
          <p:cNvPr id="6" name="Rectangle 16">
            <a:extLst>
              <a:ext uri="{FF2B5EF4-FFF2-40B4-BE49-F238E27FC236}">
                <a16:creationId xmlns:a16="http://schemas.microsoft.com/office/drawing/2014/main" id="{45643CE4-A98F-13EC-8202-3310DB81940E}"/>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065763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66BB2-CF77-8B18-8401-FA324CDF71AA}"/>
              </a:ext>
            </a:extLst>
          </p:cNvPr>
          <p:cNvSpPr/>
          <p:nvPr/>
        </p:nvSpPr>
        <p:spPr>
          <a:xfrm>
            <a:off x="393700" y="1116013"/>
            <a:ext cx="8370888" cy="100012"/>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91445"/>
            <a:ext cx="8229600" cy="1371600"/>
          </a:xfrm>
        </p:spPr>
        <p:txBody>
          <a:bodyPr/>
          <a:lstStyle/>
          <a:p>
            <a:r>
              <a:rPr lang="en-US"/>
              <a:t>Click to edit Master title style</a:t>
            </a:r>
          </a:p>
        </p:txBody>
      </p:sp>
      <p:sp>
        <p:nvSpPr>
          <p:cNvPr id="3" name="Content Placeholder 2"/>
          <p:cNvSpPr>
            <a:spLocks noGrp="1"/>
          </p:cNvSpPr>
          <p:nvPr>
            <p:ph sz="half" idx="1"/>
          </p:nvPr>
        </p:nvSpPr>
        <p:spPr>
          <a:xfrm>
            <a:off x="457200" y="1272209"/>
            <a:ext cx="4038600" cy="45951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72209"/>
            <a:ext cx="4038600" cy="45951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a:extLst>
              <a:ext uri="{FF2B5EF4-FFF2-40B4-BE49-F238E27FC236}">
                <a16:creationId xmlns:a16="http://schemas.microsoft.com/office/drawing/2014/main" id="{D9E4BD1E-95EB-BB54-AA8E-296A2081F7CA}"/>
              </a:ext>
            </a:extLst>
          </p:cNvPr>
          <p:cNvSpPr>
            <a:spLocks noGrp="1" noChangeArrowheads="1"/>
          </p:cNvSpPr>
          <p:nvPr>
            <p:ph type="ftr" sz="quarter" idx="10"/>
          </p:nvPr>
        </p:nvSpPr>
        <p:spPr/>
        <p:txBody>
          <a:bodyPr/>
          <a:lstStyle>
            <a:lvl1pPr>
              <a:defRPr/>
            </a:lvl1pPr>
          </a:lstStyle>
          <a:p>
            <a:pPr>
              <a:defRPr/>
            </a:pPr>
            <a:endParaRPr lang="en-US"/>
          </a:p>
        </p:txBody>
      </p:sp>
      <p:sp>
        <p:nvSpPr>
          <p:cNvPr id="7" name="Slide Number Placeholder 3">
            <a:extLst>
              <a:ext uri="{FF2B5EF4-FFF2-40B4-BE49-F238E27FC236}">
                <a16:creationId xmlns:a16="http://schemas.microsoft.com/office/drawing/2014/main" id="{450EB016-8AA7-453E-57AC-55CEEE525D02}"/>
              </a:ext>
            </a:extLst>
          </p:cNvPr>
          <p:cNvSpPr>
            <a:spLocks noGrp="1" noChangeArrowheads="1"/>
          </p:cNvSpPr>
          <p:nvPr>
            <p:ph type="sldNum" sz="quarter" idx="11"/>
          </p:nvPr>
        </p:nvSpPr>
        <p:spPr/>
        <p:txBody>
          <a:bodyPr/>
          <a:lstStyle>
            <a:lvl1pPr>
              <a:defRPr smtClean="0"/>
            </a:lvl1pPr>
          </a:lstStyle>
          <a:p>
            <a:pPr>
              <a:defRPr/>
            </a:pPr>
            <a:fld id="{4C6F9F7C-E561-4045-ACEE-0EB637E0E84A}" type="slidenum">
              <a:rPr lang="en-US" altLang="tr-TR"/>
              <a:pPr>
                <a:defRPr/>
              </a:pPr>
              <a:t>‹#›</a:t>
            </a:fld>
            <a:endParaRPr lang="en-US" altLang="tr-TR"/>
          </a:p>
        </p:txBody>
      </p:sp>
      <p:sp>
        <p:nvSpPr>
          <p:cNvPr id="8" name="Rectangle 16">
            <a:extLst>
              <a:ext uri="{FF2B5EF4-FFF2-40B4-BE49-F238E27FC236}">
                <a16:creationId xmlns:a16="http://schemas.microsoft.com/office/drawing/2014/main" id="{6070191A-A913-C285-2968-C1106E9D4635}"/>
              </a:ext>
            </a:extLst>
          </p:cNvPr>
          <p:cNvSpPr>
            <a:spLocks noGrp="1" noChangeArrowheads="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3183707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20E974AA-75A1-A5D0-6D81-4D9A375B90F1}"/>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3">
            <a:extLst>
              <a:ext uri="{FF2B5EF4-FFF2-40B4-BE49-F238E27FC236}">
                <a16:creationId xmlns:a16="http://schemas.microsoft.com/office/drawing/2014/main" id="{34C2EFE4-A7AE-7F3B-ADEC-D6AD6D02174B}"/>
              </a:ext>
            </a:extLst>
          </p:cNvPr>
          <p:cNvSpPr>
            <a:spLocks noGrp="1" noChangeArrowheads="1"/>
          </p:cNvSpPr>
          <p:nvPr>
            <p:ph type="sldNum" sz="quarter" idx="11"/>
          </p:nvPr>
        </p:nvSpPr>
        <p:spPr>
          <a:ln/>
        </p:spPr>
        <p:txBody>
          <a:bodyPr/>
          <a:lstStyle>
            <a:lvl1pPr>
              <a:defRPr/>
            </a:lvl1pPr>
          </a:lstStyle>
          <a:p>
            <a:pPr>
              <a:defRPr/>
            </a:pPr>
            <a:fld id="{54F269E4-03CD-46C9-8666-730B96D1824A}" type="slidenum">
              <a:rPr lang="en-US" altLang="tr-TR"/>
              <a:pPr>
                <a:defRPr/>
              </a:pPr>
              <a:t>‹#›</a:t>
            </a:fld>
            <a:endParaRPr lang="en-US" altLang="tr-TR"/>
          </a:p>
        </p:txBody>
      </p:sp>
      <p:sp>
        <p:nvSpPr>
          <p:cNvPr id="9" name="Rectangle 16">
            <a:extLst>
              <a:ext uri="{FF2B5EF4-FFF2-40B4-BE49-F238E27FC236}">
                <a16:creationId xmlns:a16="http://schemas.microsoft.com/office/drawing/2014/main" id="{7CCE5202-89D9-1E41-B14F-07DEFF3A78EE}"/>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135856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60361E-38C4-847A-7AD4-24683D77314D}"/>
              </a:ext>
            </a:extLst>
          </p:cNvPr>
          <p:cNvSpPr/>
          <p:nvPr/>
        </p:nvSpPr>
        <p:spPr>
          <a:xfrm>
            <a:off x="457200" y="1123950"/>
            <a:ext cx="8370888"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59631"/>
            <a:ext cx="8229600" cy="1371600"/>
          </a:xfrm>
        </p:spPr>
        <p:txBody>
          <a:bodyPr/>
          <a:lstStyle/>
          <a:p>
            <a:r>
              <a:rPr lang="en-US"/>
              <a:t>Click to edit Master title style</a:t>
            </a:r>
          </a:p>
        </p:txBody>
      </p:sp>
      <p:sp>
        <p:nvSpPr>
          <p:cNvPr id="4" name="Footer Placeholder 2">
            <a:extLst>
              <a:ext uri="{FF2B5EF4-FFF2-40B4-BE49-F238E27FC236}">
                <a16:creationId xmlns:a16="http://schemas.microsoft.com/office/drawing/2014/main" id="{671C188A-4AAE-864F-CEFE-247B66BBA626}"/>
              </a:ext>
            </a:extLst>
          </p:cNvPr>
          <p:cNvSpPr>
            <a:spLocks noGrp="1" noChangeArrowheads="1"/>
          </p:cNvSpPr>
          <p:nvPr>
            <p:ph type="ftr" sz="quarter" idx="10"/>
          </p:nvPr>
        </p:nvSpPr>
        <p:spPr/>
        <p:txBody>
          <a:bodyPr/>
          <a:lstStyle>
            <a:lvl1pPr>
              <a:defRPr/>
            </a:lvl1pPr>
          </a:lstStyle>
          <a:p>
            <a:pPr>
              <a:defRPr/>
            </a:pPr>
            <a:endParaRPr lang="en-US"/>
          </a:p>
        </p:txBody>
      </p:sp>
      <p:sp>
        <p:nvSpPr>
          <p:cNvPr id="5" name="Slide Number Placeholder 3">
            <a:extLst>
              <a:ext uri="{FF2B5EF4-FFF2-40B4-BE49-F238E27FC236}">
                <a16:creationId xmlns:a16="http://schemas.microsoft.com/office/drawing/2014/main" id="{74231C9F-429D-991A-B7A3-AB7C7B67AA69}"/>
              </a:ext>
            </a:extLst>
          </p:cNvPr>
          <p:cNvSpPr>
            <a:spLocks noGrp="1" noChangeArrowheads="1"/>
          </p:cNvSpPr>
          <p:nvPr>
            <p:ph type="sldNum" sz="quarter" idx="11"/>
          </p:nvPr>
        </p:nvSpPr>
        <p:spPr/>
        <p:txBody>
          <a:bodyPr/>
          <a:lstStyle>
            <a:lvl1pPr>
              <a:defRPr smtClean="0"/>
            </a:lvl1pPr>
          </a:lstStyle>
          <a:p>
            <a:pPr>
              <a:defRPr/>
            </a:pPr>
            <a:fld id="{011C38E1-B2AA-41BA-93D2-F82E9617F596}" type="slidenum">
              <a:rPr lang="en-US" altLang="tr-TR"/>
              <a:pPr>
                <a:defRPr/>
              </a:pPr>
              <a:t>‹#›</a:t>
            </a:fld>
            <a:endParaRPr lang="en-US" altLang="tr-TR"/>
          </a:p>
        </p:txBody>
      </p:sp>
      <p:sp>
        <p:nvSpPr>
          <p:cNvPr id="6" name="Rectangle 16">
            <a:extLst>
              <a:ext uri="{FF2B5EF4-FFF2-40B4-BE49-F238E27FC236}">
                <a16:creationId xmlns:a16="http://schemas.microsoft.com/office/drawing/2014/main" id="{BD74F90F-183C-8350-E86C-82F6ABF45394}"/>
              </a:ext>
            </a:extLst>
          </p:cNvPr>
          <p:cNvSpPr>
            <a:spLocks noGrp="1" noChangeArrowheads="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81701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392A09A-E7E4-C50F-1A81-7EBE881A555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3">
            <a:extLst>
              <a:ext uri="{FF2B5EF4-FFF2-40B4-BE49-F238E27FC236}">
                <a16:creationId xmlns:a16="http://schemas.microsoft.com/office/drawing/2014/main" id="{D0FBCF97-2008-B41E-A88B-86EC1492C57F}"/>
              </a:ext>
            </a:extLst>
          </p:cNvPr>
          <p:cNvSpPr>
            <a:spLocks noGrp="1" noChangeArrowheads="1"/>
          </p:cNvSpPr>
          <p:nvPr>
            <p:ph type="sldNum" sz="quarter" idx="11"/>
          </p:nvPr>
        </p:nvSpPr>
        <p:spPr>
          <a:ln/>
        </p:spPr>
        <p:txBody>
          <a:bodyPr/>
          <a:lstStyle>
            <a:lvl1pPr>
              <a:defRPr/>
            </a:lvl1pPr>
          </a:lstStyle>
          <a:p>
            <a:pPr>
              <a:defRPr/>
            </a:pPr>
            <a:fld id="{1D64B018-911A-4099-BDBD-CBFA09EEDB20}" type="slidenum">
              <a:rPr lang="en-US" altLang="tr-TR"/>
              <a:pPr>
                <a:defRPr/>
              </a:pPr>
              <a:t>‹#›</a:t>
            </a:fld>
            <a:endParaRPr lang="en-US" altLang="tr-TR"/>
          </a:p>
        </p:txBody>
      </p:sp>
      <p:sp>
        <p:nvSpPr>
          <p:cNvPr id="4" name="Rectangle 16">
            <a:extLst>
              <a:ext uri="{FF2B5EF4-FFF2-40B4-BE49-F238E27FC236}">
                <a16:creationId xmlns:a16="http://schemas.microsoft.com/office/drawing/2014/main" id="{7F9EABB1-55D9-E141-1EA7-196862B0E801}"/>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500722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3EB1099A-C7AA-3118-C903-B4E3D322B07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E5CEC0B5-096A-D9B4-5B36-22A19C0FBC31}"/>
              </a:ext>
            </a:extLst>
          </p:cNvPr>
          <p:cNvSpPr>
            <a:spLocks noGrp="1" noChangeArrowheads="1"/>
          </p:cNvSpPr>
          <p:nvPr>
            <p:ph type="sldNum" sz="quarter" idx="11"/>
          </p:nvPr>
        </p:nvSpPr>
        <p:spPr>
          <a:ln/>
        </p:spPr>
        <p:txBody>
          <a:bodyPr/>
          <a:lstStyle>
            <a:lvl1pPr>
              <a:defRPr/>
            </a:lvl1pPr>
          </a:lstStyle>
          <a:p>
            <a:pPr>
              <a:defRPr/>
            </a:pPr>
            <a:fld id="{284087DB-5530-4571-8176-0D6FEABD4252}" type="slidenum">
              <a:rPr lang="en-US" altLang="tr-TR"/>
              <a:pPr>
                <a:defRPr/>
              </a:pPr>
              <a:t>‹#›</a:t>
            </a:fld>
            <a:endParaRPr lang="en-US" altLang="tr-TR"/>
          </a:p>
        </p:txBody>
      </p:sp>
      <p:sp>
        <p:nvSpPr>
          <p:cNvPr id="7" name="Rectangle 16">
            <a:extLst>
              <a:ext uri="{FF2B5EF4-FFF2-40B4-BE49-F238E27FC236}">
                <a16:creationId xmlns:a16="http://schemas.microsoft.com/office/drawing/2014/main" id="{6B9F22C4-4C8C-027E-26EB-FB34BBA75294}"/>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77745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AFFCA84C-7543-1EE5-C574-8A92A79CB9C0}"/>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34C2A70B-09C8-0FAA-481E-E2AF12BF4C98}"/>
              </a:ext>
            </a:extLst>
          </p:cNvPr>
          <p:cNvSpPr>
            <a:spLocks noGrp="1" noChangeArrowheads="1"/>
          </p:cNvSpPr>
          <p:nvPr>
            <p:ph type="sldNum" sz="quarter" idx="11"/>
          </p:nvPr>
        </p:nvSpPr>
        <p:spPr>
          <a:ln/>
        </p:spPr>
        <p:txBody>
          <a:bodyPr/>
          <a:lstStyle>
            <a:lvl1pPr>
              <a:defRPr/>
            </a:lvl1pPr>
          </a:lstStyle>
          <a:p>
            <a:pPr>
              <a:defRPr/>
            </a:pPr>
            <a:fld id="{793E6941-A6B1-461E-9982-26EDE722CB33}" type="slidenum">
              <a:rPr lang="en-US" altLang="tr-TR"/>
              <a:pPr>
                <a:defRPr/>
              </a:pPr>
              <a:t>‹#›</a:t>
            </a:fld>
            <a:endParaRPr lang="en-US" altLang="tr-TR"/>
          </a:p>
        </p:txBody>
      </p:sp>
      <p:sp>
        <p:nvSpPr>
          <p:cNvPr id="7" name="Rectangle 16">
            <a:extLst>
              <a:ext uri="{FF2B5EF4-FFF2-40B4-BE49-F238E27FC236}">
                <a16:creationId xmlns:a16="http://schemas.microsoft.com/office/drawing/2014/main" id="{2103E49D-030E-CACA-D046-6DC4301AADC8}"/>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95018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52C7B3-E7BD-A1E3-6C62-8CEC2A28D484}"/>
              </a:ext>
            </a:extLst>
          </p:cNvPr>
          <p:cNvSpPr/>
          <p:nvPr/>
        </p:nvSpPr>
        <p:spPr>
          <a:xfrm>
            <a:off x="457200" y="1489075"/>
            <a:ext cx="8370888"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a:extLst>
              <a:ext uri="{FF2B5EF4-FFF2-40B4-BE49-F238E27FC236}">
                <a16:creationId xmlns:a16="http://schemas.microsoft.com/office/drawing/2014/main" id="{6A9537C4-EDB5-DDBB-105E-DCBC8AA99789}"/>
              </a:ext>
            </a:extLst>
          </p:cNvPr>
          <p:cNvSpPr>
            <a:spLocks noGrp="1" noChangeArrowheads="1"/>
          </p:cNvSpPr>
          <p:nvPr>
            <p:ph type="ftr" sz="quarter" idx="10"/>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021EA027-83BA-E9BC-9240-F3400B5D799C}"/>
              </a:ext>
            </a:extLst>
          </p:cNvPr>
          <p:cNvSpPr>
            <a:spLocks noGrp="1" noChangeArrowheads="1"/>
          </p:cNvSpPr>
          <p:nvPr>
            <p:ph type="sldNum" sz="quarter" idx="11"/>
          </p:nvPr>
        </p:nvSpPr>
        <p:spPr/>
        <p:txBody>
          <a:bodyPr/>
          <a:lstStyle>
            <a:lvl1pPr>
              <a:defRPr smtClean="0"/>
            </a:lvl1pPr>
          </a:lstStyle>
          <a:p>
            <a:pPr>
              <a:defRPr/>
            </a:pPr>
            <a:fld id="{0D604189-6F24-4C3F-B0BE-C62A79864CC9}" type="slidenum">
              <a:rPr lang="en-US" altLang="tr-TR"/>
              <a:pPr>
                <a:defRPr/>
              </a:pPr>
              <a:t>‹#›</a:t>
            </a:fld>
            <a:endParaRPr lang="en-US" altLang="tr-TR"/>
          </a:p>
        </p:txBody>
      </p:sp>
      <p:sp>
        <p:nvSpPr>
          <p:cNvPr id="7" name="Rectangle 16">
            <a:extLst>
              <a:ext uri="{FF2B5EF4-FFF2-40B4-BE49-F238E27FC236}">
                <a16:creationId xmlns:a16="http://schemas.microsoft.com/office/drawing/2014/main" id="{18347297-B689-B93D-BB51-D5B46743B457}"/>
              </a:ext>
            </a:extLst>
          </p:cNvPr>
          <p:cNvSpPr>
            <a:spLocks noGrp="1" noChangeArrowheads="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2085127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482BDC04-5561-9D03-C305-9623B21F3C6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9C2DBA47-2BBF-DB5D-4A1B-33A82D0ACFEA}"/>
              </a:ext>
            </a:extLst>
          </p:cNvPr>
          <p:cNvSpPr>
            <a:spLocks noGrp="1" noChangeArrowheads="1"/>
          </p:cNvSpPr>
          <p:nvPr>
            <p:ph type="sldNum" sz="quarter" idx="11"/>
          </p:nvPr>
        </p:nvSpPr>
        <p:spPr>
          <a:ln/>
        </p:spPr>
        <p:txBody>
          <a:bodyPr/>
          <a:lstStyle>
            <a:lvl1pPr>
              <a:defRPr/>
            </a:lvl1pPr>
          </a:lstStyle>
          <a:p>
            <a:pPr>
              <a:defRPr/>
            </a:pPr>
            <a:fld id="{95E18697-3FCF-4BAB-A531-2024048492CE}" type="slidenum">
              <a:rPr lang="en-US" altLang="tr-TR"/>
              <a:pPr>
                <a:defRPr/>
              </a:pPr>
              <a:t>‹#›</a:t>
            </a:fld>
            <a:endParaRPr lang="en-US" altLang="tr-TR"/>
          </a:p>
        </p:txBody>
      </p:sp>
      <p:sp>
        <p:nvSpPr>
          <p:cNvPr id="6" name="Rectangle 16">
            <a:extLst>
              <a:ext uri="{FF2B5EF4-FFF2-40B4-BE49-F238E27FC236}">
                <a16:creationId xmlns:a16="http://schemas.microsoft.com/office/drawing/2014/main" id="{5746D6A6-CAEA-C289-4A90-048A2F5A1421}"/>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52995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7F56314-DF2C-82A1-1AFC-F4EAFDCE042D}"/>
              </a:ext>
            </a:extLst>
          </p:cNvPr>
          <p:cNvSpPr/>
          <p:nvPr/>
        </p:nvSpPr>
        <p:spPr>
          <a:xfrm>
            <a:off x="457200" y="1123950"/>
            <a:ext cx="8370888"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3979"/>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367621"/>
            <a:ext cx="4038600" cy="44997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67621"/>
            <a:ext cx="4038600" cy="44997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a:extLst>
              <a:ext uri="{FF2B5EF4-FFF2-40B4-BE49-F238E27FC236}">
                <a16:creationId xmlns:a16="http://schemas.microsoft.com/office/drawing/2014/main" id="{F756EB44-B029-7A22-66F1-23F413695579}"/>
              </a:ext>
            </a:extLst>
          </p:cNvPr>
          <p:cNvSpPr>
            <a:spLocks noGrp="1" noChangeArrowheads="1"/>
          </p:cNvSpPr>
          <p:nvPr>
            <p:ph type="ftr" sz="quarter" idx="10"/>
          </p:nvPr>
        </p:nvSpPr>
        <p:spPr/>
        <p:txBody>
          <a:bodyPr/>
          <a:lstStyle>
            <a:lvl1pPr>
              <a:defRPr/>
            </a:lvl1pPr>
          </a:lstStyle>
          <a:p>
            <a:pPr>
              <a:defRPr/>
            </a:pPr>
            <a:endParaRPr lang="en-US"/>
          </a:p>
        </p:txBody>
      </p:sp>
      <p:sp>
        <p:nvSpPr>
          <p:cNvPr id="7" name="Slide Number Placeholder 3">
            <a:extLst>
              <a:ext uri="{FF2B5EF4-FFF2-40B4-BE49-F238E27FC236}">
                <a16:creationId xmlns:a16="http://schemas.microsoft.com/office/drawing/2014/main" id="{CFE7E670-4590-47F1-785B-5A5C18265B94}"/>
              </a:ext>
            </a:extLst>
          </p:cNvPr>
          <p:cNvSpPr>
            <a:spLocks noGrp="1" noChangeArrowheads="1"/>
          </p:cNvSpPr>
          <p:nvPr>
            <p:ph type="sldNum" sz="quarter" idx="11"/>
          </p:nvPr>
        </p:nvSpPr>
        <p:spPr/>
        <p:txBody>
          <a:bodyPr/>
          <a:lstStyle>
            <a:lvl1pPr>
              <a:defRPr smtClean="0"/>
            </a:lvl1pPr>
          </a:lstStyle>
          <a:p>
            <a:pPr>
              <a:defRPr/>
            </a:pPr>
            <a:fld id="{6BA55B81-A655-4BAB-BD96-18C923AA694D}" type="slidenum">
              <a:rPr lang="en-US" altLang="tr-TR"/>
              <a:pPr>
                <a:defRPr/>
              </a:pPr>
              <a:t>‹#›</a:t>
            </a:fld>
            <a:endParaRPr lang="en-US" altLang="tr-TR"/>
          </a:p>
        </p:txBody>
      </p:sp>
      <p:sp>
        <p:nvSpPr>
          <p:cNvPr id="8" name="Rectangle 16">
            <a:extLst>
              <a:ext uri="{FF2B5EF4-FFF2-40B4-BE49-F238E27FC236}">
                <a16:creationId xmlns:a16="http://schemas.microsoft.com/office/drawing/2014/main" id="{D75EB231-B568-2E76-9F0C-8A479ACC1C5F}"/>
              </a:ext>
            </a:extLst>
          </p:cNvPr>
          <p:cNvSpPr>
            <a:spLocks noGrp="1" noChangeArrowheads="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270299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39BB9F28-945C-438F-C5CD-D2954C4578D2}"/>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274435" name="Rectangle 3">
            <a:extLst>
              <a:ext uri="{FF2B5EF4-FFF2-40B4-BE49-F238E27FC236}">
                <a16:creationId xmlns:a16="http://schemas.microsoft.com/office/drawing/2014/main" id="{8459194D-D696-44B5-CACC-380181A4E46D}"/>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Black" panose="020B0A04020102020204" pitchFamily="34" charset="0"/>
              </a:defRPr>
            </a:lvl1pPr>
          </a:lstStyle>
          <a:p>
            <a:pPr>
              <a:defRPr/>
            </a:pPr>
            <a:fld id="{7E21D756-AE7C-485E-9545-698C463D8985}" type="slidenum">
              <a:rPr lang="en-US" altLang="tr-TR"/>
              <a:pPr>
                <a:defRPr/>
              </a:pPr>
              <a:t>‹#›</a:t>
            </a:fld>
            <a:endParaRPr lang="en-US" altLang="tr-TR"/>
          </a:p>
        </p:txBody>
      </p:sp>
      <p:grpSp>
        <p:nvGrpSpPr>
          <p:cNvPr id="1028" name="Group 4">
            <a:extLst>
              <a:ext uri="{FF2B5EF4-FFF2-40B4-BE49-F238E27FC236}">
                <a16:creationId xmlns:a16="http://schemas.microsoft.com/office/drawing/2014/main" id="{81E2958B-9901-7E98-CB13-B4B63BC0DD48}"/>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58A94916-F065-625A-6047-72EB9529FB90}"/>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tr-TR" altLang="tr-TR" sz="2400">
                <a:latin typeface="Times New Roman" pitchFamily="18" charset="0"/>
              </a:endParaRPr>
            </a:p>
          </p:txBody>
        </p:sp>
        <p:sp>
          <p:nvSpPr>
            <p:cNvPr id="1033" name="Rectangle 6">
              <a:extLst>
                <a:ext uri="{FF2B5EF4-FFF2-40B4-BE49-F238E27FC236}">
                  <a16:creationId xmlns:a16="http://schemas.microsoft.com/office/drawing/2014/main" id="{D0CE4105-E179-42B8-6682-ACF17A46CDFE}"/>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34" name="Rectangle 7">
              <a:extLst>
                <a:ext uri="{FF2B5EF4-FFF2-40B4-BE49-F238E27FC236}">
                  <a16:creationId xmlns:a16="http://schemas.microsoft.com/office/drawing/2014/main" id="{B7C16E50-2CD8-2AF2-3157-58B872820CA2}"/>
                </a:ext>
              </a:extLst>
            </p:cNvPr>
            <p:cNvSpPr>
              <a:spLocks noChangeArrowheads="1"/>
            </p:cNvSpPr>
            <p:nvPr/>
          </p:nvSpPr>
          <p:spPr bwMode="auto">
            <a:xfrm>
              <a:off x="258" y="85"/>
              <a:ext cx="87" cy="89"/>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5" name="Rectangle 8">
              <a:extLst>
                <a:ext uri="{FF2B5EF4-FFF2-40B4-BE49-F238E27FC236}">
                  <a16:creationId xmlns:a16="http://schemas.microsoft.com/office/drawing/2014/main" id="{9C14E426-BABB-21FA-685E-8418C36F692C}"/>
                </a:ext>
              </a:extLst>
            </p:cNvPr>
            <p:cNvSpPr>
              <a:spLocks noChangeArrowheads="1"/>
            </p:cNvSpPr>
            <p:nvPr/>
          </p:nvSpPr>
          <p:spPr bwMode="auto">
            <a:xfrm>
              <a:off x="345" y="0"/>
              <a:ext cx="88" cy="87"/>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6" name="Rectangle 9">
              <a:extLst>
                <a:ext uri="{FF2B5EF4-FFF2-40B4-BE49-F238E27FC236}">
                  <a16:creationId xmlns:a16="http://schemas.microsoft.com/office/drawing/2014/main" id="{13BAFBB1-9569-708E-E7A9-FCA309E8078F}"/>
                </a:ext>
              </a:extLst>
            </p:cNvPr>
            <p:cNvSpPr>
              <a:spLocks noChangeArrowheads="1"/>
            </p:cNvSpPr>
            <p:nvPr/>
          </p:nvSpPr>
          <p:spPr bwMode="auto">
            <a:xfrm>
              <a:off x="345" y="85"/>
              <a:ext cx="88" cy="89"/>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sp>
          <p:nvSpPr>
            <p:cNvPr id="1037" name="Rectangle 10">
              <a:extLst>
                <a:ext uri="{FF2B5EF4-FFF2-40B4-BE49-F238E27FC236}">
                  <a16:creationId xmlns:a16="http://schemas.microsoft.com/office/drawing/2014/main" id="{38545ED2-E774-3FB7-19D4-D6A774E55D37}"/>
                </a:ext>
              </a:extLst>
            </p:cNvPr>
            <p:cNvSpPr>
              <a:spLocks noChangeArrowheads="1"/>
            </p:cNvSpPr>
            <p:nvPr/>
          </p:nvSpPr>
          <p:spPr bwMode="auto">
            <a:xfrm>
              <a:off x="173" y="173"/>
              <a:ext cx="86" cy="87"/>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8" name="Rectangle 11">
              <a:extLst>
                <a:ext uri="{FF2B5EF4-FFF2-40B4-BE49-F238E27FC236}">
                  <a16:creationId xmlns:a16="http://schemas.microsoft.com/office/drawing/2014/main" id="{FDF9FE7F-401F-6D83-5EF8-FBABCB986DBF}"/>
                </a:ext>
              </a:extLst>
            </p:cNvPr>
            <p:cNvSpPr>
              <a:spLocks noChangeArrowheads="1"/>
            </p:cNvSpPr>
            <p:nvPr/>
          </p:nvSpPr>
          <p:spPr bwMode="auto">
            <a:xfrm>
              <a:off x="83" y="86"/>
              <a:ext cx="89" cy="87"/>
            </a:xfrm>
            <a:prstGeom prst="rect">
              <a:avLst/>
            </a:prstGeom>
            <a:solidFill>
              <a:schemeClr val="bg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39" name="Rectangle 12">
              <a:extLst>
                <a:ext uri="{FF2B5EF4-FFF2-40B4-BE49-F238E27FC236}">
                  <a16:creationId xmlns:a16="http://schemas.microsoft.com/office/drawing/2014/main" id="{F108C02D-E081-6DF9-CB28-F26F3EAAF36D}"/>
                </a:ext>
              </a:extLst>
            </p:cNvPr>
            <p:cNvSpPr>
              <a:spLocks noChangeArrowheads="1"/>
            </p:cNvSpPr>
            <p:nvPr/>
          </p:nvSpPr>
          <p:spPr bwMode="auto">
            <a:xfrm>
              <a:off x="258" y="171"/>
              <a:ext cx="87" cy="87"/>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sp>
          <p:nvSpPr>
            <p:cNvPr id="1040" name="Rectangle 13">
              <a:extLst>
                <a:ext uri="{FF2B5EF4-FFF2-40B4-BE49-F238E27FC236}">
                  <a16:creationId xmlns:a16="http://schemas.microsoft.com/office/drawing/2014/main" id="{D71CA5C5-2D03-2A46-B6B9-F72D0240ABA6}"/>
                </a:ext>
              </a:extLst>
            </p:cNvPr>
            <p:cNvSpPr>
              <a:spLocks noChangeArrowheads="1"/>
            </p:cNvSpPr>
            <p:nvPr/>
          </p:nvSpPr>
          <p:spPr bwMode="auto">
            <a:xfrm>
              <a:off x="173" y="258"/>
              <a:ext cx="86" cy="86"/>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grpSp>
      <p:sp>
        <p:nvSpPr>
          <p:cNvPr id="1029" name="Rectangle 14">
            <a:extLst>
              <a:ext uri="{FF2B5EF4-FFF2-40B4-BE49-F238E27FC236}">
                <a16:creationId xmlns:a16="http://schemas.microsoft.com/office/drawing/2014/main" id="{B0121BDF-D996-F2B8-62F8-7F7E6752939D}"/>
              </a:ext>
            </a:extLst>
          </p:cNvPr>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tr-TR"/>
              <a:t>Click to edit Master title style</a:t>
            </a:r>
          </a:p>
        </p:txBody>
      </p:sp>
      <p:sp>
        <p:nvSpPr>
          <p:cNvPr id="1030" name="Rectangle 15">
            <a:extLst>
              <a:ext uri="{FF2B5EF4-FFF2-40B4-BE49-F238E27FC236}">
                <a16:creationId xmlns:a16="http://schemas.microsoft.com/office/drawing/2014/main" id="{10E44C49-E72C-A738-A293-94E952E5D084}"/>
              </a:ext>
            </a:extLst>
          </p:cNvPr>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274448" name="Rectangle 16">
            <a:extLst>
              <a:ext uri="{FF2B5EF4-FFF2-40B4-BE49-F238E27FC236}">
                <a16:creationId xmlns:a16="http://schemas.microsoft.com/office/drawing/2014/main" id="{286A7D12-9551-CAE1-BD88-C43ADA4E9E65}"/>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79" r:id="rId3"/>
    <p:sldLayoutId id="2147483687" r:id="rId4"/>
    <p:sldLayoutId id="2147483680" r:id="rId5"/>
    <p:sldLayoutId id="2147483688" r:id="rId6"/>
    <p:sldLayoutId id="2147483681" r:id="rId7"/>
    <p:sldLayoutId id="2147483682" r:id="rId8"/>
    <p:sldLayoutId id="2147483683" r:id="rId9"/>
    <p:sldLayoutId id="2147483689" r:id="rId10"/>
    <p:sldLayoutId id="2147483684" r:id="rId11"/>
    <p:sldLayoutId id="2147483690" r:id="rId12"/>
  </p:sldLayoutIdLst>
  <p:txStyles>
    <p:titleStyle>
      <a:lvl1pPr algn="l" rtl="0" fontAlgn="base">
        <a:spcBef>
          <a:spcPct val="0"/>
        </a:spcBef>
        <a:spcAft>
          <a:spcPct val="0"/>
        </a:spcAft>
        <a:defRPr sz="4400">
          <a:solidFill>
            <a:schemeClr val="tx1"/>
          </a:solidFill>
          <a:latin typeface="+mj-lt"/>
          <a:ea typeface="+mj-ea"/>
          <a:cs typeface="+mj-cs"/>
        </a:defRPr>
      </a:lvl1pPr>
      <a:lvl2pPr algn="l" rtl="0" fontAlgn="base">
        <a:spcBef>
          <a:spcPct val="0"/>
        </a:spcBef>
        <a:spcAft>
          <a:spcPct val="0"/>
        </a:spcAft>
        <a:defRPr sz="4400">
          <a:solidFill>
            <a:schemeClr val="tx1"/>
          </a:solidFill>
          <a:latin typeface="Arial" charset="0"/>
        </a:defRPr>
      </a:lvl2pPr>
      <a:lvl3pPr algn="l" rtl="0" fontAlgn="base">
        <a:spcBef>
          <a:spcPct val="0"/>
        </a:spcBef>
        <a:spcAft>
          <a:spcPct val="0"/>
        </a:spcAft>
        <a:defRPr sz="4400">
          <a:solidFill>
            <a:schemeClr val="tx1"/>
          </a:solidFill>
          <a:latin typeface="Arial" charset="0"/>
        </a:defRPr>
      </a:lvl3pPr>
      <a:lvl4pPr algn="l" rtl="0" fontAlgn="base">
        <a:spcBef>
          <a:spcPct val="0"/>
        </a:spcBef>
        <a:spcAft>
          <a:spcPct val="0"/>
        </a:spcAft>
        <a:defRPr sz="4400">
          <a:solidFill>
            <a:schemeClr val="tx1"/>
          </a:solidFill>
          <a:latin typeface="Arial" charset="0"/>
        </a:defRPr>
      </a:lvl4pPr>
      <a:lvl5pPr algn="l" rtl="0" fontAlgn="base">
        <a:spcBef>
          <a:spcPct val="0"/>
        </a:spcBef>
        <a:spcAft>
          <a:spcPct val="0"/>
        </a:spcAft>
        <a:defRPr sz="4400">
          <a:solidFill>
            <a:schemeClr val="tx1"/>
          </a:solidFill>
          <a:latin typeface="Arial" charset="0"/>
        </a:defRPr>
      </a:lvl5pPr>
      <a:lvl6pPr marL="457200" algn="l" rtl="0" eaLnBrk="1" fontAlgn="base" hangingPunct="1">
        <a:spcBef>
          <a:spcPct val="0"/>
        </a:spcBef>
        <a:spcAft>
          <a:spcPct val="0"/>
        </a:spcAft>
        <a:defRPr sz="4400">
          <a:solidFill>
            <a:schemeClr val="tx1"/>
          </a:solidFill>
          <a:latin typeface="Arial" charset="0"/>
        </a:defRPr>
      </a:lvl6pPr>
      <a:lvl7pPr marL="914400" algn="l" rtl="0" eaLnBrk="1" fontAlgn="base" hangingPunct="1">
        <a:spcBef>
          <a:spcPct val="0"/>
        </a:spcBef>
        <a:spcAft>
          <a:spcPct val="0"/>
        </a:spcAft>
        <a:defRPr sz="4400">
          <a:solidFill>
            <a:schemeClr val="tx1"/>
          </a:solidFill>
          <a:latin typeface="Arial" charset="0"/>
        </a:defRPr>
      </a:lvl7pPr>
      <a:lvl8pPr marL="1371600" algn="l" rtl="0" eaLnBrk="1" fontAlgn="base" hangingPunct="1">
        <a:spcBef>
          <a:spcPct val="0"/>
        </a:spcBef>
        <a:spcAft>
          <a:spcPct val="0"/>
        </a:spcAft>
        <a:defRPr sz="4400">
          <a:solidFill>
            <a:schemeClr val="tx1"/>
          </a:solidFill>
          <a:latin typeface="Arial" charset="0"/>
        </a:defRPr>
      </a:lvl8pPr>
      <a:lvl9pPr marL="1828800" algn="l" rtl="0" eaLnBrk="1" fontAlgn="base" hangingPunct="1">
        <a:spcBef>
          <a:spcPct val="0"/>
        </a:spcBef>
        <a:spcAft>
          <a:spcPct val="0"/>
        </a:spcAft>
        <a:defRPr sz="4400">
          <a:solidFill>
            <a:schemeClr val="tx1"/>
          </a:solidFill>
          <a:latin typeface="Arial" charset="0"/>
        </a:defRPr>
      </a:lvl9pPr>
    </p:titleStyle>
    <p:body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2.xml"/><Relationship Id="rId5" Type="http://schemas.openxmlformats.org/officeDocument/2006/relationships/image" Target="../media/image8.gif"/><Relationship Id="rId4" Type="http://schemas.openxmlformats.org/officeDocument/2006/relationships/image" Target="../media/image7.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A2185F2-23A9-1BAC-5D82-34226EAAF5A3}"/>
              </a:ext>
            </a:extLst>
          </p:cNvPr>
          <p:cNvSpPr>
            <a:spLocks noGrp="1" noChangeArrowheads="1"/>
          </p:cNvSpPr>
          <p:nvPr>
            <p:ph type="ctrTitle"/>
          </p:nvPr>
        </p:nvSpPr>
        <p:spPr/>
        <p:txBody>
          <a:bodyPr/>
          <a:lstStyle/>
          <a:p>
            <a:r>
              <a:rPr lang="en-US" altLang="tr-TR"/>
              <a:t>Behavioral Patterns</a:t>
            </a:r>
          </a:p>
        </p:txBody>
      </p:sp>
      <p:sp>
        <p:nvSpPr>
          <p:cNvPr id="2" name="Subtitle 1">
            <a:extLst>
              <a:ext uri="{FF2B5EF4-FFF2-40B4-BE49-F238E27FC236}">
                <a16:creationId xmlns:a16="http://schemas.microsoft.com/office/drawing/2014/main" id="{983BF9E3-BC8F-1ADE-0FDB-F0DAE55F5714}"/>
              </a:ext>
            </a:extLst>
          </p:cNvPr>
          <p:cNvSpPr>
            <a:spLocks noGrp="1"/>
          </p:cNvSpPr>
          <p:nvPr>
            <p:ph type="subTitle" idx="1"/>
          </p:nvPr>
        </p:nvSpPr>
        <p:spPr/>
        <p:txBody>
          <a:bodyPr/>
          <a:lstStyle/>
          <a:p>
            <a:r>
              <a:rPr lang="en-US" dirty="0"/>
              <a:t>Command</a:t>
            </a:r>
          </a:p>
          <a:p>
            <a:r>
              <a:rPr lang="en-US" dirty="0"/>
              <a:t>Memento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F3139B0-3234-9DC3-33A8-EED9E06EF515}"/>
              </a:ext>
            </a:extLst>
          </p:cNvPr>
          <p:cNvSpPr>
            <a:spLocks noGrp="1" noChangeArrowheads="1"/>
          </p:cNvSpPr>
          <p:nvPr>
            <p:ph type="title"/>
          </p:nvPr>
        </p:nvSpPr>
        <p:spPr>
          <a:xfrm>
            <a:off x="457200" y="139700"/>
            <a:ext cx="8229600" cy="1371600"/>
          </a:xfrm>
        </p:spPr>
        <p:txBody>
          <a:bodyPr/>
          <a:lstStyle/>
          <a:p>
            <a:r>
              <a:rPr lang="en-US" altLang="tr-TR" dirty="0"/>
              <a:t>We will discuss</a:t>
            </a:r>
            <a:endParaRPr lang="en-GB" altLang="tr-TR" dirty="0"/>
          </a:p>
        </p:txBody>
      </p:sp>
      <p:sp>
        <p:nvSpPr>
          <p:cNvPr id="13315" name="Rectangle 3">
            <a:extLst>
              <a:ext uri="{FF2B5EF4-FFF2-40B4-BE49-F238E27FC236}">
                <a16:creationId xmlns:a16="http://schemas.microsoft.com/office/drawing/2014/main" id="{32113889-3464-4D06-D23B-F729A52A14F2}"/>
              </a:ext>
            </a:extLst>
          </p:cNvPr>
          <p:cNvSpPr>
            <a:spLocks noGrp="1" noChangeArrowheads="1"/>
          </p:cNvSpPr>
          <p:nvPr>
            <p:ph idx="1"/>
          </p:nvPr>
        </p:nvSpPr>
        <p:spPr>
          <a:xfrm>
            <a:off x="457200" y="1335088"/>
            <a:ext cx="8229600" cy="4532312"/>
          </a:xfrm>
        </p:spPr>
        <p:txBody>
          <a:bodyPr/>
          <a:lstStyle/>
          <a:p>
            <a:pPr marL="609600" indent="-609600">
              <a:lnSpc>
                <a:spcPct val="80000"/>
              </a:lnSpc>
              <a:buFont typeface="Wingdings" panose="05000000000000000000" pitchFamily="2" charset="2"/>
              <a:buChar char="q"/>
            </a:pPr>
            <a:r>
              <a:rPr lang="en-US" altLang="tr-TR" sz="2800" dirty="0"/>
              <a:t>Separating request generator and request handler</a:t>
            </a:r>
          </a:p>
          <a:p>
            <a:pPr marL="990600" lvl="1" indent="-533400">
              <a:lnSpc>
                <a:spcPct val="80000"/>
              </a:lnSpc>
              <a:buFontTx/>
              <a:buAutoNum type="arabicPeriod"/>
            </a:pPr>
            <a:r>
              <a:rPr lang="en-US" altLang="tr-TR" sz="2400" dirty="0"/>
              <a:t>What to do when you want to give more than one object a chance to handle a request</a:t>
            </a:r>
          </a:p>
          <a:p>
            <a:pPr marL="1371600" lvl="2" indent="-457200">
              <a:lnSpc>
                <a:spcPct val="80000"/>
              </a:lnSpc>
              <a:buFontTx/>
              <a:buChar char="–"/>
            </a:pPr>
            <a:r>
              <a:rPr lang="en-US" altLang="tr-TR" sz="2000" dirty="0"/>
              <a:t>Observer</a:t>
            </a:r>
          </a:p>
          <a:p>
            <a:pPr marL="1371600" lvl="2" indent="-457200">
              <a:lnSpc>
                <a:spcPct val="80000"/>
              </a:lnSpc>
              <a:buFontTx/>
              <a:buChar char="–"/>
            </a:pPr>
            <a:r>
              <a:rPr lang="en-US" altLang="tr-TR" sz="2000" dirty="0"/>
              <a:t>Chain of Responsibility</a:t>
            </a:r>
          </a:p>
          <a:p>
            <a:pPr marL="990600" lvl="1" indent="-533400">
              <a:lnSpc>
                <a:spcPct val="80000"/>
              </a:lnSpc>
              <a:buFontTx/>
              <a:buAutoNum type="arabicPeriod"/>
            </a:pPr>
            <a:r>
              <a:rPr lang="en-US" altLang="tr-TR" sz="2400" dirty="0"/>
              <a:t>Encapsulate method invocation</a:t>
            </a:r>
          </a:p>
          <a:p>
            <a:pPr marL="1371600" lvl="2" indent="-457200">
              <a:lnSpc>
                <a:spcPct val="80000"/>
              </a:lnSpc>
              <a:buFontTx/>
              <a:buChar char="–"/>
            </a:pPr>
            <a:r>
              <a:rPr lang="en-US" altLang="tr-TR" sz="2000" dirty="0"/>
              <a:t>Command pattern</a:t>
            </a:r>
          </a:p>
          <a:p>
            <a:pPr marL="609600" indent="-609600">
              <a:lnSpc>
                <a:spcPct val="80000"/>
              </a:lnSpc>
              <a:buFont typeface="Wingdings" panose="05000000000000000000" pitchFamily="2" charset="2"/>
              <a:buChar char="q"/>
            </a:pPr>
            <a:r>
              <a:rPr lang="en-US" altLang="tr-TR" sz="2800" dirty="0"/>
              <a:t>Without exposing internal representation </a:t>
            </a:r>
          </a:p>
          <a:p>
            <a:pPr marL="990600" lvl="1" indent="-533400">
              <a:lnSpc>
                <a:spcPct val="80000"/>
              </a:lnSpc>
              <a:buFontTx/>
              <a:buAutoNum type="arabicPeriod"/>
            </a:pPr>
            <a:r>
              <a:rPr lang="en-US" altLang="tr-TR" sz="2400" dirty="0"/>
              <a:t>of an object, save/restore the state of it</a:t>
            </a:r>
          </a:p>
          <a:p>
            <a:pPr marL="1371600" lvl="2" indent="-457200">
              <a:lnSpc>
                <a:spcPct val="80000"/>
              </a:lnSpc>
              <a:buFontTx/>
              <a:buChar char="–"/>
            </a:pPr>
            <a:r>
              <a:rPr lang="en-US" altLang="tr-TR" sz="2000" dirty="0"/>
              <a:t>Memento</a:t>
            </a:r>
          </a:p>
          <a:p>
            <a:pPr marL="990600" lvl="1" indent="-533400">
              <a:lnSpc>
                <a:spcPct val="80000"/>
              </a:lnSpc>
              <a:buFontTx/>
              <a:buAutoNum type="arabicPeriod"/>
            </a:pPr>
            <a:r>
              <a:rPr lang="en-US" altLang="tr-TR" sz="2400" dirty="0"/>
              <a:t>of an aggregate object, access the elements of it sequentially </a:t>
            </a:r>
          </a:p>
          <a:p>
            <a:pPr marL="1371600" lvl="2" indent="-457200">
              <a:lnSpc>
                <a:spcPct val="80000"/>
              </a:lnSpc>
              <a:buFontTx/>
              <a:buChar char="–"/>
            </a:pPr>
            <a:r>
              <a:rPr lang="en-US" altLang="tr-TR" sz="2000" dirty="0"/>
              <a:t>Iterator</a:t>
            </a:r>
            <a:endParaRPr lang="en-GB" altLang="tr-T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2E02A-73D0-C89F-F0DB-E098AAABE15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84C2FD0-3A9D-65B1-A510-B97A0806117D}"/>
              </a:ext>
            </a:extLst>
          </p:cNvPr>
          <p:cNvSpPr>
            <a:spLocks noGrp="1"/>
          </p:cNvSpPr>
          <p:nvPr>
            <p:ph idx="1"/>
          </p:nvPr>
        </p:nvSpPr>
        <p:spPr/>
        <p:txBody>
          <a:bodyPr/>
          <a:lstStyle/>
          <a:p>
            <a:r>
              <a:rPr lang="en-US" altLang="tr-TR" dirty="0"/>
              <a:t>Decoupling sender and receiver of a request </a:t>
            </a:r>
          </a:p>
          <a:p>
            <a:pPr lvl="1"/>
            <a:r>
              <a:rPr lang="en-US" altLang="tr-TR" dirty="0"/>
              <a:t>Observer </a:t>
            </a:r>
          </a:p>
          <a:p>
            <a:pPr lvl="1"/>
            <a:r>
              <a:rPr lang="en-US" altLang="tr-TR" dirty="0"/>
              <a:t>Command  -- Today</a:t>
            </a:r>
          </a:p>
          <a:p>
            <a:pPr lvl="1"/>
            <a:r>
              <a:rPr lang="en-US" altLang="tr-TR" dirty="0"/>
              <a:t>Chain of responsibility</a:t>
            </a:r>
          </a:p>
          <a:p>
            <a:pPr lvl="1"/>
            <a:r>
              <a:rPr lang="en-US" altLang="tr-TR" dirty="0"/>
              <a:t>Mediator</a:t>
            </a:r>
          </a:p>
          <a:p>
            <a:pPr marL="457200" lvl="1" indent="0">
              <a:buNone/>
            </a:pPr>
            <a:endParaRPr lang="en-US" altLang="tr-TR" dirty="0"/>
          </a:p>
          <a:p>
            <a:endParaRPr lang="en-US" dirty="0"/>
          </a:p>
        </p:txBody>
      </p:sp>
      <p:pic>
        <p:nvPicPr>
          <p:cNvPr id="5" name="Graphic 4" descr="Checkmark with solid fill">
            <a:extLst>
              <a:ext uri="{FF2B5EF4-FFF2-40B4-BE49-F238E27FC236}">
                <a16:creationId xmlns:a16="http://schemas.microsoft.com/office/drawing/2014/main" id="{2FC7A8C6-28BF-D117-4134-A859FA6BB0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03754" y="2261419"/>
            <a:ext cx="700548" cy="700548"/>
          </a:xfrm>
          <a:prstGeom prst="rect">
            <a:avLst/>
          </a:prstGeom>
        </p:spPr>
      </p:pic>
    </p:spTree>
    <p:extLst>
      <p:ext uri="{BB962C8B-B14F-4D97-AF65-F5344CB8AC3E}">
        <p14:creationId xmlns:p14="http://schemas.microsoft.com/office/powerpoint/2010/main" val="1993148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B5D792-B9C1-3D5D-92B1-DB523821D55E}"/>
              </a:ext>
            </a:extLst>
          </p:cNvPr>
          <p:cNvSpPr>
            <a:spLocks noGrp="1"/>
          </p:cNvSpPr>
          <p:nvPr>
            <p:ph type="title"/>
          </p:nvPr>
        </p:nvSpPr>
        <p:spPr/>
        <p:txBody>
          <a:bodyPr/>
          <a:lstStyle/>
          <a:p>
            <a:pPr lvl="1"/>
            <a:r>
              <a:rPr lang="en-US" altLang="tr-TR" dirty="0"/>
              <a:t>COMMAND</a:t>
            </a:r>
            <a:br>
              <a:rPr lang="en-US" altLang="tr-TR" dirty="0"/>
            </a:br>
            <a:r>
              <a:rPr lang="en-US" altLang="tr-TR" sz="2800" dirty="0"/>
              <a:t>Turning a method invocation into an object</a:t>
            </a:r>
            <a:br>
              <a:rPr lang="en-GB" altLang="tr-TR" sz="2800" dirty="0"/>
            </a:br>
            <a:endParaRPr lang="en-US" dirty="0"/>
          </a:p>
        </p:txBody>
      </p:sp>
      <p:sp>
        <p:nvSpPr>
          <p:cNvPr id="4" name="Text Placeholder 3">
            <a:extLst>
              <a:ext uri="{FF2B5EF4-FFF2-40B4-BE49-F238E27FC236}">
                <a16:creationId xmlns:a16="http://schemas.microsoft.com/office/drawing/2014/main" id="{BA32A17E-B3AD-74D3-C534-D5255BF0FD2D}"/>
              </a:ext>
            </a:extLst>
          </p:cNvPr>
          <p:cNvSpPr>
            <a:spLocks noGrp="1"/>
          </p:cNvSpPr>
          <p:nvPr>
            <p:ph type="body" idx="1"/>
          </p:nvPr>
        </p:nvSpPr>
        <p:spPr/>
        <p:txBody>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54BB3-E70D-4E9D-E7D8-CC73567335E1}"/>
              </a:ext>
            </a:extLst>
          </p:cNvPr>
          <p:cNvSpPr>
            <a:spLocks noGrp="1"/>
          </p:cNvSpPr>
          <p:nvPr>
            <p:ph type="title"/>
          </p:nvPr>
        </p:nvSpPr>
        <p:spPr/>
        <p:txBody>
          <a:bodyPr/>
          <a:lstStyle/>
          <a:p>
            <a:r>
              <a:rPr lang="en-US" dirty="0"/>
              <a:t>Motivation Example</a:t>
            </a:r>
          </a:p>
        </p:txBody>
      </p:sp>
      <p:sp>
        <p:nvSpPr>
          <p:cNvPr id="3" name="Content Placeholder 2">
            <a:extLst>
              <a:ext uri="{FF2B5EF4-FFF2-40B4-BE49-F238E27FC236}">
                <a16:creationId xmlns:a16="http://schemas.microsoft.com/office/drawing/2014/main" id="{9DE9CC49-BD98-DC1C-2C75-D6FA50821896}"/>
              </a:ext>
            </a:extLst>
          </p:cNvPr>
          <p:cNvSpPr>
            <a:spLocks noGrp="1"/>
          </p:cNvSpPr>
          <p:nvPr>
            <p:ph idx="1"/>
          </p:nvPr>
        </p:nvSpPr>
        <p:spPr/>
        <p:txBody>
          <a:bodyPr/>
          <a:lstStyle/>
          <a:p>
            <a:r>
              <a:rPr lang="en-US" dirty="0"/>
              <a:t>Editor with Buttons, Menu, Shortcut Keys</a:t>
            </a:r>
          </a:p>
          <a:p>
            <a:r>
              <a:rPr lang="en-US" dirty="0"/>
              <a:t>Req1: I want to save document with</a:t>
            </a:r>
          </a:p>
          <a:p>
            <a:pPr lvl="1"/>
            <a:r>
              <a:rPr lang="en-US" dirty="0"/>
              <a:t>Button click</a:t>
            </a:r>
          </a:p>
          <a:p>
            <a:pPr lvl="1"/>
            <a:r>
              <a:rPr lang="en-US" dirty="0"/>
              <a:t>Selecting a </a:t>
            </a:r>
            <a:r>
              <a:rPr lang="en-US" dirty="0" err="1"/>
              <a:t>MenuItem</a:t>
            </a:r>
            <a:endParaRPr lang="en-US" dirty="0"/>
          </a:p>
          <a:p>
            <a:pPr lvl="1"/>
            <a:r>
              <a:rPr lang="en-US" dirty="0"/>
              <a:t>Using a shortcut CTLR+S</a:t>
            </a:r>
          </a:p>
          <a:p>
            <a:r>
              <a:rPr lang="en-US" dirty="0"/>
              <a:t>Req2: I want to open and print a document with a Button instance, </a:t>
            </a:r>
            <a:r>
              <a:rPr lang="en-US" dirty="0" err="1"/>
              <a:t>MenuItem</a:t>
            </a:r>
            <a:r>
              <a:rPr lang="en-US" dirty="0"/>
              <a:t>, and shortcuts</a:t>
            </a:r>
          </a:p>
        </p:txBody>
      </p:sp>
    </p:spTree>
    <p:extLst>
      <p:ext uri="{BB962C8B-B14F-4D97-AF65-F5344CB8AC3E}">
        <p14:creationId xmlns:p14="http://schemas.microsoft.com/office/powerpoint/2010/main" val="134735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54BB3-E70D-4E9D-E7D8-CC73567335E1}"/>
              </a:ext>
            </a:extLst>
          </p:cNvPr>
          <p:cNvSpPr>
            <a:spLocks noGrp="1"/>
          </p:cNvSpPr>
          <p:nvPr>
            <p:ph type="title"/>
          </p:nvPr>
        </p:nvSpPr>
        <p:spPr/>
        <p:txBody>
          <a:bodyPr/>
          <a:lstStyle/>
          <a:p>
            <a:r>
              <a:rPr lang="en-US" dirty="0"/>
              <a:t>Motivation Example</a:t>
            </a:r>
          </a:p>
        </p:txBody>
      </p:sp>
      <p:sp>
        <p:nvSpPr>
          <p:cNvPr id="3" name="Content Placeholder 2">
            <a:extLst>
              <a:ext uri="{FF2B5EF4-FFF2-40B4-BE49-F238E27FC236}">
                <a16:creationId xmlns:a16="http://schemas.microsoft.com/office/drawing/2014/main" id="{9DE9CC49-BD98-DC1C-2C75-D6FA50821896}"/>
              </a:ext>
            </a:extLst>
          </p:cNvPr>
          <p:cNvSpPr>
            <a:spLocks noGrp="1"/>
          </p:cNvSpPr>
          <p:nvPr>
            <p:ph idx="1"/>
          </p:nvPr>
        </p:nvSpPr>
        <p:spPr/>
        <p:txBody>
          <a:bodyPr/>
          <a:lstStyle/>
          <a:p>
            <a:r>
              <a:rPr lang="en-US" dirty="0"/>
              <a:t>Editor with Buttons, Menu, Shortcut Keys</a:t>
            </a:r>
          </a:p>
          <a:p>
            <a:r>
              <a:rPr lang="en-US" dirty="0"/>
              <a:t>Req1: I want to save document with</a:t>
            </a:r>
          </a:p>
          <a:p>
            <a:pPr lvl="1"/>
            <a:r>
              <a:rPr lang="en-US" dirty="0"/>
              <a:t>Button click</a:t>
            </a:r>
          </a:p>
          <a:p>
            <a:pPr lvl="1"/>
            <a:r>
              <a:rPr lang="en-US" dirty="0"/>
              <a:t>Selecting a </a:t>
            </a:r>
            <a:r>
              <a:rPr lang="en-US" dirty="0" err="1"/>
              <a:t>MenuItem</a:t>
            </a:r>
            <a:endParaRPr lang="en-US" dirty="0"/>
          </a:p>
          <a:p>
            <a:pPr lvl="1"/>
            <a:r>
              <a:rPr lang="en-US" dirty="0"/>
              <a:t>Using a shortcut CTLR+S</a:t>
            </a:r>
          </a:p>
          <a:p>
            <a:r>
              <a:rPr lang="en-US" dirty="0"/>
              <a:t>Attemp1: </a:t>
            </a:r>
          </a:p>
          <a:p>
            <a:pPr lvl="1"/>
            <a:r>
              <a:rPr lang="en-US" dirty="0"/>
              <a:t>Hard code the request in all three classes </a:t>
            </a:r>
          </a:p>
          <a:p>
            <a:pPr marL="0" indent="0">
              <a:buNone/>
            </a:pPr>
            <a:r>
              <a:rPr lang="en-US" dirty="0"/>
              <a:t>    Button::</a:t>
            </a:r>
            <a:r>
              <a:rPr lang="en-US" dirty="0" err="1"/>
              <a:t>onClick</a:t>
            </a:r>
            <a:r>
              <a:rPr lang="en-US" dirty="0"/>
              <a:t>(){ </a:t>
            </a:r>
            <a:r>
              <a:rPr lang="en-US" dirty="0" err="1"/>
              <a:t>document.save</a:t>
            </a:r>
            <a:r>
              <a:rPr lang="en-US" dirty="0"/>
              <a:t>();}</a:t>
            </a:r>
          </a:p>
        </p:txBody>
      </p:sp>
    </p:spTree>
    <p:extLst>
      <p:ext uri="{BB962C8B-B14F-4D97-AF65-F5344CB8AC3E}">
        <p14:creationId xmlns:p14="http://schemas.microsoft.com/office/powerpoint/2010/main" val="703016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54BB3-E70D-4E9D-E7D8-CC73567335E1}"/>
              </a:ext>
            </a:extLst>
          </p:cNvPr>
          <p:cNvSpPr>
            <a:spLocks noGrp="1"/>
          </p:cNvSpPr>
          <p:nvPr>
            <p:ph type="title"/>
          </p:nvPr>
        </p:nvSpPr>
        <p:spPr/>
        <p:txBody>
          <a:bodyPr/>
          <a:lstStyle/>
          <a:p>
            <a:r>
              <a:rPr lang="en-US" dirty="0"/>
              <a:t>Motivation Example</a:t>
            </a:r>
          </a:p>
        </p:txBody>
      </p:sp>
      <p:sp>
        <p:nvSpPr>
          <p:cNvPr id="3" name="Content Placeholder 2">
            <a:extLst>
              <a:ext uri="{FF2B5EF4-FFF2-40B4-BE49-F238E27FC236}">
                <a16:creationId xmlns:a16="http://schemas.microsoft.com/office/drawing/2014/main" id="{9DE9CC49-BD98-DC1C-2C75-D6FA50821896}"/>
              </a:ext>
            </a:extLst>
          </p:cNvPr>
          <p:cNvSpPr>
            <a:spLocks noGrp="1"/>
          </p:cNvSpPr>
          <p:nvPr>
            <p:ph idx="1"/>
          </p:nvPr>
        </p:nvSpPr>
        <p:spPr/>
        <p:txBody>
          <a:bodyPr/>
          <a:lstStyle/>
          <a:p>
            <a:r>
              <a:rPr lang="en-US" dirty="0"/>
              <a:t>Editor with Buttons, Menu, Shortcut Keys</a:t>
            </a:r>
          </a:p>
          <a:p>
            <a:r>
              <a:rPr lang="en-US" dirty="0"/>
              <a:t>Req2: I want to open and print a document with a Button instance, </a:t>
            </a:r>
            <a:r>
              <a:rPr lang="en-US" dirty="0" err="1"/>
              <a:t>MenuItem</a:t>
            </a:r>
            <a:r>
              <a:rPr lang="en-US" dirty="0"/>
              <a:t>, and shortcuts</a:t>
            </a:r>
          </a:p>
          <a:p>
            <a:pPr lvl="1"/>
            <a:r>
              <a:rPr lang="en-US" dirty="0"/>
              <a:t>Attempt1 hard coded the request in all three classes </a:t>
            </a:r>
          </a:p>
          <a:p>
            <a:pPr marL="0" indent="0">
              <a:buNone/>
            </a:pPr>
            <a:r>
              <a:rPr lang="en-US" dirty="0"/>
              <a:t>    Button::</a:t>
            </a:r>
            <a:r>
              <a:rPr lang="en-US" dirty="0" err="1"/>
              <a:t>onClick</a:t>
            </a:r>
            <a:r>
              <a:rPr lang="en-US" dirty="0"/>
              <a:t>(){ </a:t>
            </a:r>
            <a:r>
              <a:rPr lang="en-US" dirty="0" err="1"/>
              <a:t>document.save</a:t>
            </a:r>
            <a:r>
              <a:rPr lang="en-US" dirty="0"/>
              <a:t>();}</a:t>
            </a:r>
          </a:p>
          <a:p>
            <a:pPr lvl="1"/>
            <a:r>
              <a:rPr lang="en-US" dirty="0"/>
              <a:t>Subclassing? </a:t>
            </a:r>
          </a:p>
          <a:p>
            <a:pPr lvl="2"/>
            <a:r>
              <a:rPr lang="en-US" dirty="0" err="1"/>
              <a:t>SaveButton</a:t>
            </a:r>
            <a:r>
              <a:rPr lang="en-US" dirty="0"/>
              <a:t>, </a:t>
            </a:r>
            <a:r>
              <a:rPr lang="en-US" dirty="0" err="1"/>
              <a:t>OpenButton</a:t>
            </a:r>
            <a:r>
              <a:rPr lang="en-US" dirty="0"/>
              <a:t>, </a:t>
            </a:r>
            <a:r>
              <a:rPr lang="en-US" dirty="0" err="1"/>
              <a:t>PrintButton</a:t>
            </a:r>
            <a:endParaRPr lang="en-US" dirty="0"/>
          </a:p>
          <a:p>
            <a:pPr lvl="2"/>
            <a:r>
              <a:rPr lang="en-US" dirty="0" err="1"/>
              <a:t>SaveMenuIte</a:t>
            </a:r>
            <a:r>
              <a:rPr lang="en-US" dirty="0"/>
              <a:t>, </a:t>
            </a:r>
            <a:r>
              <a:rPr lang="en-US" dirty="0" err="1"/>
              <a:t>OpenMenuItem</a:t>
            </a:r>
            <a:r>
              <a:rPr lang="en-US" dirty="0"/>
              <a:t>, </a:t>
            </a:r>
            <a:r>
              <a:rPr lang="en-US" dirty="0" err="1"/>
              <a:t>PrintMenuItem</a:t>
            </a:r>
            <a:r>
              <a:rPr lang="en-US" dirty="0"/>
              <a:t> </a:t>
            </a:r>
          </a:p>
        </p:txBody>
      </p:sp>
    </p:spTree>
    <p:extLst>
      <p:ext uri="{BB962C8B-B14F-4D97-AF65-F5344CB8AC3E}">
        <p14:creationId xmlns:p14="http://schemas.microsoft.com/office/powerpoint/2010/main" val="1648708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FB734687-231B-EBE4-42E8-419EF05EAD21}"/>
              </a:ext>
            </a:extLst>
          </p:cNvPr>
          <p:cNvSpPr>
            <a:spLocks noGrp="1" noChangeArrowheads="1"/>
          </p:cNvSpPr>
          <p:nvPr>
            <p:ph type="title"/>
          </p:nvPr>
        </p:nvSpPr>
        <p:spPr>
          <a:xfrm>
            <a:off x="367145" y="148936"/>
            <a:ext cx="8926945" cy="1371600"/>
          </a:xfrm>
        </p:spPr>
        <p:txBody>
          <a:bodyPr/>
          <a:lstStyle/>
          <a:p>
            <a:r>
              <a:rPr lang="en-US" altLang="tr-TR" dirty="0"/>
              <a:t>The Problem</a:t>
            </a:r>
          </a:p>
        </p:txBody>
      </p:sp>
      <p:sp>
        <p:nvSpPr>
          <p:cNvPr id="35843" name="Content Placeholder 2">
            <a:extLst>
              <a:ext uri="{FF2B5EF4-FFF2-40B4-BE49-F238E27FC236}">
                <a16:creationId xmlns:a16="http://schemas.microsoft.com/office/drawing/2014/main" id="{CCA3FD6C-0AAD-F119-96B5-A98499853F66}"/>
              </a:ext>
            </a:extLst>
          </p:cNvPr>
          <p:cNvSpPr>
            <a:spLocks noGrp="1" noChangeArrowheads="1"/>
          </p:cNvSpPr>
          <p:nvPr>
            <p:ph idx="1"/>
          </p:nvPr>
        </p:nvSpPr>
        <p:spPr>
          <a:xfrm>
            <a:off x="457200" y="1335088"/>
            <a:ext cx="8229600" cy="4532312"/>
          </a:xfrm>
        </p:spPr>
        <p:txBody>
          <a:bodyPr/>
          <a:lstStyle/>
          <a:p>
            <a:pPr>
              <a:spcAft>
                <a:spcPts val="600"/>
              </a:spcAft>
            </a:pPr>
            <a:r>
              <a:rPr lang="en-US" altLang="tr-TR" dirty="0"/>
              <a:t>Problem: Different </a:t>
            </a:r>
            <a:r>
              <a:rPr lang="en-US" altLang="tr-TR" b="1" dirty="0"/>
              <a:t>Invokers</a:t>
            </a:r>
            <a:r>
              <a:rPr lang="en-US" altLang="tr-TR" dirty="0"/>
              <a:t> need to issue requests to objects without knowing anything about </a:t>
            </a:r>
            <a:r>
              <a:rPr lang="en-US" altLang="tr-TR" b="1" dirty="0"/>
              <a:t>the operation </a:t>
            </a:r>
            <a:r>
              <a:rPr lang="en-US" altLang="tr-TR" dirty="0"/>
              <a:t>being requested or </a:t>
            </a:r>
            <a:r>
              <a:rPr lang="en-US" altLang="tr-TR" b="1" dirty="0"/>
              <a:t>the receiver</a:t>
            </a:r>
            <a:r>
              <a:rPr lang="en-US" altLang="tr-TR" dirty="0"/>
              <a:t> of the request.</a:t>
            </a:r>
          </a:p>
          <a:p>
            <a:r>
              <a:rPr lang="en-US" altLang="tr-TR" dirty="0"/>
              <a:t>Invokers: </a:t>
            </a:r>
          </a:p>
          <a:p>
            <a:pPr lvl="1"/>
            <a:r>
              <a:rPr lang="en-US" altLang="tr-TR" dirty="0"/>
              <a:t>Button</a:t>
            </a:r>
          </a:p>
          <a:p>
            <a:pPr lvl="1"/>
            <a:r>
              <a:rPr lang="en-US" altLang="tr-TR" dirty="0" err="1"/>
              <a:t>MenuItem</a:t>
            </a:r>
            <a:endParaRPr lang="en-US" altLang="tr-TR" dirty="0"/>
          </a:p>
          <a:p>
            <a:pPr lvl="1"/>
            <a:r>
              <a:rPr lang="en-US" altLang="tr-TR" dirty="0" err="1"/>
              <a:t>ShortcutKey</a:t>
            </a:r>
            <a:endParaRPr lang="en-US" altLang="tr-TR" dirty="0"/>
          </a:p>
          <a:p>
            <a:pPr lvl="1"/>
            <a:endParaRPr lang="en-US" altLang="tr-TR" dirty="0"/>
          </a:p>
          <a:p>
            <a:pPr lvl="1"/>
            <a:r>
              <a:rPr lang="en-US" altLang="tr-TR" dirty="0"/>
              <a:t>Subclassing leads to 9 </a:t>
            </a:r>
            <a:r>
              <a:rPr lang="en-US" altLang="tr-TR" dirty="0" err="1"/>
              <a:t>sublasses</a:t>
            </a:r>
            <a:endParaRPr lang="en-US" altLang="tr-TR" dirty="0"/>
          </a:p>
          <a:p>
            <a:endParaRPr lang="en-US" altLang="tr-TR" dirty="0"/>
          </a:p>
        </p:txBody>
      </p:sp>
      <p:sp>
        <p:nvSpPr>
          <p:cNvPr id="2" name="TextBox 1">
            <a:extLst>
              <a:ext uri="{FF2B5EF4-FFF2-40B4-BE49-F238E27FC236}">
                <a16:creationId xmlns:a16="http://schemas.microsoft.com/office/drawing/2014/main" id="{F340963A-92B9-89CF-F60F-2F0833C40DB3}"/>
              </a:ext>
            </a:extLst>
          </p:cNvPr>
          <p:cNvSpPr txBox="1"/>
          <p:nvPr/>
        </p:nvSpPr>
        <p:spPr>
          <a:xfrm>
            <a:off x="4034546" y="3454432"/>
            <a:ext cx="5176417" cy="2412968"/>
          </a:xfrm>
          <a:prstGeom prst="rect">
            <a:avLst/>
          </a:prstGeom>
          <a:noFill/>
        </p:spPr>
        <p:txBody>
          <a:bodyPr wrap="none" rtlCol="0">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Char char="n"/>
              <a:tabLst/>
              <a:defRPr/>
            </a:pPr>
            <a:r>
              <a:rPr kumimoji="0" lang="en-US" altLang="tr-TR" sz="3200" b="0" i="0" u="none" strike="noStrike" kern="0" cap="none" spc="0" normalizeH="0" baseline="0" noProof="0" dirty="0">
                <a:ln>
                  <a:noFill/>
                </a:ln>
                <a:solidFill>
                  <a:srgbClr val="000000"/>
                </a:solidFill>
                <a:effectLst/>
                <a:uLnTx/>
                <a:uFillTx/>
                <a:latin typeface="Arial"/>
                <a:ea typeface="+mn-ea"/>
                <a:cs typeface="+mn-cs"/>
              </a:rPr>
              <a:t>Operation and Receivers:</a:t>
            </a:r>
          </a:p>
          <a:p>
            <a:pPr marL="742950" marR="0" lvl="1" indent="-285750" algn="l" defTabSz="914400" rtl="0" eaLnBrk="1" fontAlgn="base" latinLnBrk="0" hangingPunct="1">
              <a:lnSpc>
                <a:spcPct val="100000"/>
              </a:lnSpc>
              <a:spcBef>
                <a:spcPct val="20000"/>
              </a:spcBef>
              <a:spcAft>
                <a:spcPct val="0"/>
              </a:spcAft>
              <a:buClr>
                <a:srgbClr val="9999CC"/>
              </a:buClr>
              <a:buSzPct val="80000"/>
              <a:buFont typeface="Wingdings" panose="05000000000000000000" pitchFamily="2" charset="2"/>
              <a:buChar char="¨"/>
              <a:tabLst/>
              <a:defRPr/>
            </a:pPr>
            <a:r>
              <a:rPr kumimoji="0" lang="en-US" altLang="tr-TR" sz="2800" b="0" i="0" u="none" strike="noStrike" kern="0" cap="none" spc="0" normalizeH="0" baseline="0" noProof="0" dirty="0" err="1">
                <a:ln>
                  <a:noFill/>
                </a:ln>
                <a:solidFill>
                  <a:srgbClr val="000000"/>
                </a:solidFill>
                <a:effectLst/>
                <a:uLnTx/>
                <a:uFillTx/>
                <a:latin typeface="Arial"/>
              </a:rPr>
              <a:t>Document.save</a:t>
            </a:r>
            <a:r>
              <a:rPr kumimoji="0" lang="en-US" altLang="tr-TR" sz="2800" b="0" i="0" u="none" strike="noStrike" kern="0" cap="none" spc="0" normalizeH="0" baseline="0" noProof="0" dirty="0">
                <a:ln>
                  <a:noFill/>
                </a:ln>
                <a:solidFill>
                  <a:srgbClr val="000000"/>
                </a:solidFill>
                <a:effectLst/>
                <a:uLnTx/>
                <a:uFillTx/>
                <a:latin typeface="Arial"/>
              </a:rPr>
              <a:t>();</a:t>
            </a:r>
          </a:p>
          <a:p>
            <a:pPr marL="742950" marR="0" lvl="1" indent="-285750" algn="l" defTabSz="914400" rtl="0" eaLnBrk="1" fontAlgn="base" latinLnBrk="0" hangingPunct="1">
              <a:lnSpc>
                <a:spcPct val="100000"/>
              </a:lnSpc>
              <a:spcBef>
                <a:spcPct val="20000"/>
              </a:spcBef>
              <a:spcAft>
                <a:spcPct val="0"/>
              </a:spcAft>
              <a:buClr>
                <a:srgbClr val="9999CC"/>
              </a:buClr>
              <a:buSzPct val="80000"/>
              <a:buFont typeface="Wingdings" panose="05000000000000000000" pitchFamily="2" charset="2"/>
              <a:buChar char="¨"/>
              <a:tabLst/>
              <a:defRPr/>
            </a:pPr>
            <a:r>
              <a:rPr kumimoji="0" lang="en-US" altLang="tr-TR" sz="2800" b="0" i="0" u="none" strike="noStrike" kern="0" cap="none" spc="0" normalizeH="0" baseline="0" noProof="0" dirty="0" err="1">
                <a:ln>
                  <a:noFill/>
                </a:ln>
                <a:solidFill>
                  <a:srgbClr val="000000"/>
                </a:solidFill>
                <a:effectLst/>
                <a:uLnTx/>
                <a:uFillTx/>
                <a:latin typeface="Arial"/>
              </a:rPr>
              <a:t>Document.open</a:t>
            </a:r>
            <a:r>
              <a:rPr kumimoji="0" lang="en-US" altLang="tr-TR" sz="2800" b="0" i="0" u="none" strike="noStrike" kern="0" cap="none" spc="0" normalizeH="0" baseline="0" noProof="0" dirty="0">
                <a:ln>
                  <a:noFill/>
                </a:ln>
                <a:solidFill>
                  <a:srgbClr val="000000"/>
                </a:solidFill>
                <a:effectLst/>
                <a:uLnTx/>
                <a:uFillTx/>
                <a:latin typeface="Arial"/>
              </a:rPr>
              <a:t>(); </a:t>
            </a:r>
          </a:p>
          <a:p>
            <a:pPr marL="742950" marR="0" lvl="1" indent="-285750" algn="l" defTabSz="914400" rtl="0" eaLnBrk="1" fontAlgn="base" latinLnBrk="0" hangingPunct="1">
              <a:lnSpc>
                <a:spcPct val="100000"/>
              </a:lnSpc>
              <a:spcBef>
                <a:spcPct val="20000"/>
              </a:spcBef>
              <a:spcAft>
                <a:spcPct val="0"/>
              </a:spcAft>
              <a:buClr>
                <a:srgbClr val="9999CC"/>
              </a:buClr>
              <a:buSzPct val="80000"/>
              <a:buFont typeface="Wingdings" panose="05000000000000000000" pitchFamily="2" charset="2"/>
              <a:buChar char="¨"/>
              <a:tabLst/>
              <a:defRPr/>
            </a:pPr>
            <a:r>
              <a:rPr kumimoji="0" lang="en-US" altLang="tr-TR" sz="2800" b="0" i="0" u="none" strike="noStrike" kern="0" cap="none" spc="0" normalizeH="0" baseline="0" noProof="0" dirty="0" err="1">
                <a:ln>
                  <a:noFill/>
                </a:ln>
                <a:solidFill>
                  <a:srgbClr val="000000"/>
                </a:solidFill>
                <a:effectLst/>
                <a:uLnTx/>
                <a:uFillTx/>
                <a:latin typeface="Arial"/>
              </a:rPr>
              <a:t>Document.print</a:t>
            </a:r>
            <a:r>
              <a:rPr kumimoji="0" lang="en-US" altLang="tr-TR" sz="2800" b="0" i="0" u="none" strike="noStrike" kern="0" cap="none" spc="0" normalizeH="0" baseline="0" noProof="0" dirty="0">
                <a:ln>
                  <a:noFill/>
                </a:ln>
                <a:solidFill>
                  <a:srgbClr val="000000"/>
                </a:solidFill>
                <a:effectLst/>
                <a:uLnTx/>
                <a:uFillTx/>
                <a:latin typeface="Arial"/>
              </a:rPr>
              <a:t>();</a:t>
            </a:r>
          </a:p>
          <a:p>
            <a:endParaRPr lang="en-US" dirty="0"/>
          </a:p>
        </p:txBody>
      </p:sp>
      <p:cxnSp>
        <p:nvCxnSpPr>
          <p:cNvPr id="4" name="Straight Arrow Connector 3">
            <a:extLst>
              <a:ext uri="{FF2B5EF4-FFF2-40B4-BE49-F238E27FC236}">
                <a16:creationId xmlns:a16="http://schemas.microsoft.com/office/drawing/2014/main" id="{EFE74033-54EA-A7E2-2C5E-F78BEECEFE9C}"/>
              </a:ext>
            </a:extLst>
          </p:cNvPr>
          <p:cNvCxnSpPr/>
          <p:nvPr/>
        </p:nvCxnSpPr>
        <p:spPr bwMode="auto">
          <a:xfrm>
            <a:off x="2604655" y="4285673"/>
            <a:ext cx="181956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 name="Straight Arrow Connector 4">
            <a:extLst>
              <a:ext uri="{FF2B5EF4-FFF2-40B4-BE49-F238E27FC236}">
                <a16:creationId xmlns:a16="http://schemas.microsoft.com/office/drawing/2014/main" id="{CC117E8A-2B0A-B395-04D1-04B93E4BF9A1}"/>
              </a:ext>
            </a:extLst>
          </p:cNvPr>
          <p:cNvCxnSpPr>
            <a:cxnSpLocks/>
          </p:cNvCxnSpPr>
          <p:nvPr/>
        </p:nvCxnSpPr>
        <p:spPr bwMode="auto">
          <a:xfrm>
            <a:off x="2604655" y="4368800"/>
            <a:ext cx="1819563" cy="508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 name="Straight Arrow Connector 7">
            <a:extLst>
              <a:ext uri="{FF2B5EF4-FFF2-40B4-BE49-F238E27FC236}">
                <a16:creationId xmlns:a16="http://schemas.microsoft.com/office/drawing/2014/main" id="{02D3753F-35A5-B7FF-B01A-66F08C02A8DF}"/>
              </a:ext>
            </a:extLst>
          </p:cNvPr>
          <p:cNvCxnSpPr>
            <a:cxnSpLocks/>
          </p:cNvCxnSpPr>
          <p:nvPr/>
        </p:nvCxnSpPr>
        <p:spPr bwMode="auto">
          <a:xfrm>
            <a:off x="2604655" y="4438073"/>
            <a:ext cx="1819563" cy="88207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1126114-804C-A8F4-7456-78A9E1CE0C2B}"/>
              </a:ext>
            </a:extLst>
          </p:cNvPr>
          <p:cNvSpPr>
            <a:spLocks noGrp="1" noChangeArrowheads="1"/>
          </p:cNvSpPr>
          <p:nvPr>
            <p:ph type="title"/>
          </p:nvPr>
        </p:nvSpPr>
        <p:spPr>
          <a:xfrm>
            <a:off x="457200" y="139700"/>
            <a:ext cx="8229600" cy="1371600"/>
          </a:xfrm>
        </p:spPr>
        <p:txBody>
          <a:bodyPr/>
          <a:lstStyle/>
          <a:p>
            <a:r>
              <a:rPr lang="en-US" altLang="tr-TR"/>
              <a:t>Command Pattern</a:t>
            </a:r>
            <a:endParaRPr lang="en-GB" altLang="tr-TR"/>
          </a:p>
        </p:txBody>
      </p:sp>
      <p:sp>
        <p:nvSpPr>
          <p:cNvPr id="37891" name="Rectangle 3">
            <a:extLst>
              <a:ext uri="{FF2B5EF4-FFF2-40B4-BE49-F238E27FC236}">
                <a16:creationId xmlns:a16="http://schemas.microsoft.com/office/drawing/2014/main" id="{BE2BFD15-9558-7F2C-E448-A79031916D51}"/>
              </a:ext>
            </a:extLst>
          </p:cNvPr>
          <p:cNvSpPr>
            <a:spLocks noGrp="1" noChangeArrowheads="1"/>
          </p:cNvSpPr>
          <p:nvPr>
            <p:ph idx="1"/>
          </p:nvPr>
        </p:nvSpPr>
        <p:spPr>
          <a:xfrm>
            <a:off x="457200" y="1335088"/>
            <a:ext cx="8229600" cy="4532312"/>
          </a:xfrm>
        </p:spPr>
        <p:txBody>
          <a:bodyPr/>
          <a:lstStyle/>
          <a:p>
            <a:pPr>
              <a:lnSpc>
                <a:spcPct val="110000"/>
              </a:lnSpc>
            </a:pPr>
            <a:r>
              <a:rPr lang="en-US" altLang="tr-TR" b="1" dirty="0"/>
              <a:t>Intent</a:t>
            </a:r>
          </a:p>
          <a:p>
            <a:pPr lvl="1">
              <a:lnSpc>
                <a:spcPct val="110000"/>
              </a:lnSpc>
            </a:pPr>
            <a:r>
              <a:rPr lang="en-US" altLang="tr-TR" dirty="0"/>
              <a:t>Encapsulate a </a:t>
            </a:r>
            <a:r>
              <a:rPr lang="en-US" altLang="tr-TR" b="1" dirty="0"/>
              <a:t>request</a:t>
            </a:r>
            <a:r>
              <a:rPr lang="en-US" altLang="tr-TR" dirty="0"/>
              <a:t> as an </a:t>
            </a:r>
            <a:r>
              <a:rPr lang="en-US" altLang="tr-TR" b="1" dirty="0"/>
              <a:t>object</a:t>
            </a:r>
            <a:r>
              <a:rPr lang="en-US" altLang="tr-TR" dirty="0"/>
              <a:t>, thereby letting you parameterize clients with different requests, queue or log requests, and support undoable operations</a:t>
            </a:r>
          </a:p>
          <a:p>
            <a:pPr lvl="1">
              <a:lnSpc>
                <a:spcPct val="110000"/>
              </a:lnSpc>
            </a:pPr>
            <a:endParaRPr lang="en-US" altLang="tr-TR" dirty="0"/>
          </a:p>
          <a:p>
            <a:pPr lvl="1">
              <a:lnSpc>
                <a:spcPct val="110000"/>
              </a:lnSpc>
            </a:pPr>
            <a:r>
              <a:rPr lang="en-US" altLang="tr-TR" i="1" dirty="0"/>
              <a:t>Convert an operation into an object</a:t>
            </a:r>
          </a:p>
          <a:p>
            <a:pPr lvl="2">
              <a:lnSpc>
                <a:spcPct val="110000"/>
              </a:lnSpc>
            </a:pPr>
            <a:r>
              <a:rPr lang="en-US" altLang="tr-TR" dirty="0"/>
              <a:t>an object can be stored, passed, staged, shared, loaded in a table, ….</a:t>
            </a:r>
            <a:endParaRPr lang="en-US" altLang="tr-TR" i="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1126114-804C-A8F4-7456-78A9E1CE0C2B}"/>
              </a:ext>
            </a:extLst>
          </p:cNvPr>
          <p:cNvSpPr>
            <a:spLocks noGrp="1" noChangeArrowheads="1"/>
          </p:cNvSpPr>
          <p:nvPr>
            <p:ph type="title"/>
          </p:nvPr>
        </p:nvSpPr>
        <p:spPr>
          <a:xfrm>
            <a:off x="457200" y="139700"/>
            <a:ext cx="8229600" cy="1371600"/>
          </a:xfrm>
        </p:spPr>
        <p:txBody>
          <a:bodyPr/>
          <a:lstStyle/>
          <a:p>
            <a:r>
              <a:rPr lang="en-US" altLang="tr-TR"/>
              <a:t>Command Pattern</a:t>
            </a:r>
            <a:endParaRPr lang="en-GB" altLang="tr-TR"/>
          </a:p>
        </p:txBody>
      </p:sp>
      <p:sp>
        <p:nvSpPr>
          <p:cNvPr id="37891" name="Rectangle 3">
            <a:extLst>
              <a:ext uri="{FF2B5EF4-FFF2-40B4-BE49-F238E27FC236}">
                <a16:creationId xmlns:a16="http://schemas.microsoft.com/office/drawing/2014/main" id="{BE2BFD15-9558-7F2C-E448-A79031916D51}"/>
              </a:ext>
            </a:extLst>
          </p:cNvPr>
          <p:cNvSpPr>
            <a:spLocks noGrp="1" noChangeArrowheads="1"/>
          </p:cNvSpPr>
          <p:nvPr>
            <p:ph idx="1"/>
          </p:nvPr>
        </p:nvSpPr>
        <p:spPr>
          <a:xfrm>
            <a:off x="457200" y="1335088"/>
            <a:ext cx="8362336" cy="4532312"/>
          </a:xfrm>
        </p:spPr>
        <p:txBody>
          <a:bodyPr/>
          <a:lstStyle/>
          <a:p>
            <a:pPr>
              <a:lnSpc>
                <a:spcPct val="110000"/>
              </a:lnSpc>
            </a:pPr>
            <a:r>
              <a:rPr lang="en-US" altLang="tr-TR" sz="2800" dirty="0"/>
              <a:t>Command pattern turns the request itself into an </a:t>
            </a:r>
            <a:r>
              <a:rPr lang="en-US" altLang="tr-TR" sz="2800" b="1" dirty="0"/>
              <a:t>object</a:t>
            </a:r>
            <a:endParaRPr lang="en-US" altLang="tr-TR" sz="2400" dirty="0"/>
          </a:p>
          <a:p>
            <a:pPr>
              <a:lnSpc>
                <a:spcPct val="110000"/>
              </a:lnSpc>
            </a:pPr>
            <a:r>
              <a:rPr lang="en-US" altLang="tr-TR" sz="2800" dirty="0"/>
              <a:t>Each concrete Command class specifies a </a:t>
            </a:r>
            <a:r>
              <a:rPr lang="en-US" altLang="tr-TR" sz="2800" b="1" dirty="0"/>
              <a:t>receiver-action</a:t>
            </a:r>
            <a:r>
              <a:rPr lang="en-US" altLang="tr-TR" sz="2800" dirty="0"/>
              <a:t> pair by storing the </a:t>
            </a:r>
            <a:r>
              <a:rPr lang="en-US" altLang="tr-TR" sz="2800" i="1" dirty="0"/>
              <a:t>Receiver</a:t>
            </a:r>
            <a:r>
              <a:rPr lang="en-US" altLang="tr-TR" sz="2800" dirty="0"/>
              <a:t> as an instance variable </a:t>
            </a:r>
          </a:p>
          <a:p>
            <a:pPr lvl="1">
              <a:lnSpc>
                <a:spcPct val="110000"/>
              </a:lnSpc>
            </a:pPr>
            <a:r>
              <a:rPr lang="en-US" altLang="tr-TR" sz="2400" i="1" dirty="0" err="1">
                <a:latin typeface="Source Sans Pro" panose="020B0503030403020204" pitchFamily="34" charset="0"/>
                <a:ea typeface="Source Sans Pro" panose="020B0503030403020204" pitchFamily="34" charset="0"/>
              </a:rPr>
              <a:t>callee</a:t>
            </a:r>
            <a:r>
              <a:rPr lang="en-US" altLang="tr-TR" sz="2400" dirty="0" err="1">
                <a:latin typeface="Source Sans Pro" panose="020B0503030403020204" pitchFamily="34" charset="0"/>
                <a:ea typeface="Source Sans Pro" panose="020B0503030403020204" pitchFamily="34" charset="0"/>
              </a:rPr>
              <a:t>.</a:t>
            </a:r>
            <a:r>
              <a:rPr lang="en-US" altLang="tr-TR" sz="2400" b="1" dirty="0" err="1">
                <a:latin typeface="Source Sans Pro" panose="020B0503030403020204" pitchFamily="34" charset="0"/>
                <a:ea typeface="Source Sans Pro" panose="020B0503030403020204" pitchFamily="34" charset="0"/>
              </a:rPr>
              <a:t>action</a:t>
            </a:r>
            <a:r>
              <a:rPr lang="en-US" altLang="tr-TR" sz="2400" dirty="0">
                <a:latin typeface="Source Sans Pro" panose="020B0503030403020204" pitchFamily="34" charset="0"/>
                <a:ea typeface="Source Sans Pro" panose="020B0503030403020204" pitchFamily="34" charset="0"/>
              </a:rPr>
              <a:t>(); </a:t>
            </a:r>
            <a:r>
              <a:rPr lang="en-US" altLang="tr-TR" sz="2400" dirty="0"/>
              <a:t>becomes an object</a:t>
            </a:r>
          </a:p>
          <a:p>
            <a:pPr marL="57150" indent="0">
              <a:lnSpc>
                <a:spcPct val="110000"/>
              </a:lnSpc>
              <a:buNone/>
            </a:pPr>
            <a:r>
              <a:rPr lang="en-US" altLang="tr-TR" sz="2400" dirty="0">
                <a:solidFill>
                  <a:schemeClr val="bg2"/>
                </a:solidFill>
                <a:latin typeface="Source Sans Pro" panose="020B0503030403020204" pitchFamily="34" charset="0"/>
                <a:ea typeface="Source Sans Pro" panose="020B0503030403020204" pitchFamily="34" charset="0"/>
              </a:rPr>
              <a:t>class Command{ </a:t>
            </a:r>
          </a:p>
          <a:p>
            <a:pPr marL="57150" indent="0">
              <a:lnSpc>
                <a:spcPct val="110000"/>
              </a:lnSpc>
              <a:buNone/>
            </a:pPr>
            <a:r>
              <a:rPr lang="en-US" altLang="tr-TR" sz="2400" dirty="0">
                <a:solidFill>
                  <a:schemeClr val="bg2"/>
                </a:solidFill>
                <a:latin typeface="Source Sans Pro" panose="020B0503030403020204" pitchFamily="34" charset="0"/>
                <a:ea typeface="Source Sans Pro" panose="020B0503030403020204" pitchFamily="34" charset="0"/>
              </a:rPr>
              <a:t>               private </a:t>
            </a:r>
            <a:r>
              <a:rPr lang="en-US" altLang="tr-TR" sz="2400" i="1" dirty="0">
                <a:solidFill>
                  <a:schemeClr val="bg2"/>
                </a:solidFill>
                <a:latin typeface="Source Sans Pro" panose="020B0503030403020204" pitchFamily="34" charset="0"/>
                <a:ea typeface="Source Sans Pro" panose="020B0503030403020204" pitchFamily="34" charset="0"/>
              </a:rPr>
              <a:t>Receiver</a:t>
            </a:r>
            <a:r>
              <a:rPr lang="en-US" altLang="tr-TR" sz="2400" dirty="0">
                <a:solidFill>
                  <a:schemeClr val="bg2"/>
                </a:solidFill>
                <a:latin typeface="Source Sans Pro" panose="020B0503030403020204" pitchFamily="34" charset="0"/>
                <a:ea typeface="Source Sans Pro" panose="020B0503030403020204" pitchFamily="34" charset="0"/>
              </a:rPr>
              <a:t> </a:t>
            </a:r>
            <a:r>
              <a:rPr lang="en-US" altLang="tr-TR" sz="2400" i="1" dirty="0">
                <a:solidFill>
                  <a:schemeClr val="bg2"/>
                </a:solidFill>
                <a:latin typeface="Source Sans Pro" panose="020B0503030403020204" pitchFamily="34" charset="0"/>
                <a:ea typeface="Source Sans Pro" panose="020B0503030403020204" pitchFamily="34" charset="0"/>
              </a:rPr>
              <a:t>callee</a:t>
            </a:r>
            <a:r>
              <a:rPr lang="en-US" altLang="tr-TR" sz="2400" dirty="0">
                <a:solidFill>
                  <a:schemeClr val="bg2"/>
                </a:solidFill>
                <a:latin typeface="Source Sans Pro" panose="020B0503030403020204" pitchFamily="34" charset="0"/>
                <a:ea typeface="Source Sans Pro" panose="020B0503030403020204" pitchFamily="34" charset="0"/>
              </a:rPr>
              <a:t>; </a:t>
            </a:r>
          </a:p>
          <a:p>
            <a:pPr marL="57150" indent="0">
              <a:lnSpc>
                <a:spcPct val="110000"/>
              </a:lnSpc>
              <a:buNone/>
            </a:pPr>
            <a:r>
              <a:rPr lang="en-US" altLang="tr-TR" sz="2400" dirty="0">
                <a:solidFill>
                  <a:schemeClr val="bg2"/>
                </a:solidFill>
                <a:latin typeface="Source Sans Pro" panose="020B0503030403020204" pitchFamily="34" charset="0"/>
                <a:ea typeface="Source Sans Pro" panose="020B0503030403020204" pitchFamily="34" charset="0"/>
              </a:rPr>
              <a:t>               public void execute(){ </a:t>
            </a:r>
            <a:r>
              <a:rPr lang="en-US" altLang="tr-TR" sz="2400" i="1" dirty="0" err="1">
                <a:solidFill>
                  <a:schemeClr val="bg2"/>
                </a:solidFill>
                <a:latin typeface="Source Sans Pro" panose="020B0503030403020204" pitchFamily="34" charset="0"/>
                <a:ea typeface="Source Sans Pro" panose="020B0503030403020204" pitchFamily="34" charset="0"/>
              </a:rPr>
              <a:t>callee</a:t>
            </a:r>
            <a:r>
              <a:rPr lang="en-US" altLang="tr-TR" sz="2400" dirty="0" err="1">
                <a:solidFill>
                  <a:schemeClr val="bg2"/>
                </a:solidFill>
                <a:latin typeface="Source Sans Pro" panose="020B0503030403020204" pitchFamily="34" charset="0"/>
                <a:ea typeface="Source Sans Pro" panose="020B0503030403020204" pitchFamily="34" charset="0"/>
              </a:rPr>
              <a:t>.</a:t>
            </a:r>
            <a:r>
              <a:rPr lang="en-US" altLang="tr-TR" sz="2400" b="1" dirty="0" err="1">
                <a:solidFill>
                  <a:schemeClr val="bg2"/>
                </a:solidFill>
                <a:latin typeface="Source Sans Pro" panose="020B0503030403020204" pitchFamily="34" charset="0"/>
                <a:ea typeface="Source Sans Pro" panose="020B0503030403020204" pitchFamily="34" charset="0"/>
              </a:rPr>
              <a:t>action</a:t>
            </a:r>
            <a:r>
              <a:rPr lang="en-US" altLang="tr-TR" sz="2400" dirty="0">
                <a:solidFill>
                  <a:schemeClr val="bg2"/>
                </a:solidFill>
                <a:latin typeface="Source Sans Pro" panose="020B0503030403020204" pitchFamily="34" charset="0"/>
                <a:ea typeface="Source Sans Pro" panose="020B0503030403020204" pitchFamily="34" charset="0"/>
              </a:rPr>
              <a:t>();}</a:t>
            </a:r>
          </a:p>
          <a:p>
            <a:pPr marL="57150" indent="0">
              <a:lnSpc>
                <a:spcPct val="110000"/>
              </a:lnSpc>
              <a:buNone/>
            </a:pPr>
            <a:r>
              <a:rPr lang="en-US" altLang="tr-TR" sz="2400" dirty="0">
                <a:solidFill>
                  <a:schemeClr val="bg2"/>
                </a:solidFill>
                <a:latin typeface="Source Sans Pro" panose="020B0503030403020204" pitchFamily="34" charset="0"/>
                <a:ea typeface="Source Sans Pro" panose="020B0503030403020204" pitchFamily="34" charset="0"/>
              </a:rPr>
              <a:t> }</a:t>
            </a:r>
          </a:p>
        </p:txBody>
      </p:sp>
    </p:spTree>
    <p:extLst>
      <p:ext uri="{BB962C8B-B14F-4D97-AF65-F5344CB8AC3E}">
        <p14:creationId xmlns:p14="http://schemas.microsoft.com/office/powerpoint/2010/main" val="3813079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FB734687-231B-EBE4-42E8-419EF05EAD21}"/>
              </a:ext>
            </a:extLst>
          </p:cNvPr>
          <p:cNvSpPr>
            <a:spLocks noGrp="1" noChangeArrowheads="1"/>
          </p:cNvSpPr>
          <p:nvPr>
            <p:ph type="title"/>
          </p:nvPr>
        </p:nvSpPr>
        <p:spPr>
          <a:xfrm>
            <a:off x="367145" y="148936"/>
            <a:ext cx="8926945" cy="1371600"/>
          </a:xfrm>
        </p:spPr>
        <p:txBody>
          <a:bodyPr/>
          <a:lstStyle/>
          <a:p>
            <a:r>
              <a:rPr lang="en-US" altLang="tr-TR" sz="4000" dirty="0"/>
              <a:t>Compose invokers with Commands</a:t>
            </a:r>
          </a:p>
        </p:txBody>
      </p:sp>
      <p:sp>
        <p:nvSpPr>
          <p:cNvPr id="35843" name="Content Placeholder 2">
            <a:extLst>
              <a:ext uri="{FF2B5EF4-FFF2-40B4-BE49-F238E27FC236}">
                <a16:creationId xmlns:a16="http://schemas.microsoft.com/office/drawing/2014/main" id="{CCA3FD6C-0AAD-F119-96B5-A98499853F66}"/>
              </a:ext>
            </a:extLst>
          </p:cNvPr>
          <p:cNvSpPr>
            <a:spLocks noGrp="1" noChangeArrowheads="1"/>
          </p:cNvSpPr>
          <p:nvPr>
            <p:ph idx="1"/>
          </p:nvPr>
        </p:nvSpPr>
        <p:spPr>
          <a:xfrm>
            <a:off x="457200" y="1335088"/>
            <a:ext cx="8229600" cy="4532312"/>
          </a:xfrm>
        </p:spPr>
        <p:txBody>
          <a:bodyPr/>
          <a:lstStyle/>
          <a:p>
            <a:r>
              <a:rPr lang="en-US" altLang="tr-TR" dirty="0"/>
              <a:t>Invokers: </a:t>
            </a:r>
          </a:p>
          <a:p>
            <a:pPr lvl="1"/>
            <a:r>
              <a:rPr lang="en-US" altLang="tr-TR" dirty="0"/>
              <a:t>Button</a:t>
            </a:r>
          </a:p>
          <a:p>
            <a:pPr lvl="1"/>
            <a:r>
              <a:rPr lang="en-US" altLang="tr-TR" dirty="0" err="1"/>
              <a:t>MenuItem</a:t>
            </a:r>
            <a:endParaRPr lang="en-US" altLang="tr-TR" dirty="0"/>
          </a:p>
          <a:p>
            <a:pPr lvl="1"/>
            <a:r>
              <a:rPr lang="en-US" altLang="tr-TR" dirty="0" err="1"/>
              <a:t>ShortcutKey</a:t>
            </a:r>
            <a:endParaRPr lang="en-US" altLang="tr-TR" dirty="0"/>
          </a:p>
          <a:p>
            <a:endParaRPr lang="en-US" altLang="tr-TR" dirty="0"/>
          </a:p>
        </p:txBody>
      </p:sp>
      <p:sp>
        <p:nvSpPr>
          <p:cNvPr id="2" name="TextBox 1">
            <a:extLst>
              <a:ext uri="{FF2B5EF4-FFF2-40B4-BE49-F238E27FC236}">
                <a16:creationId xmlns:a16="http://schemas.microsoft.com/office/drawing/2014/main" id="{F340963A-92B9-89CF-F60F-2F0833C40DB3}"/>
              </a:ext>
            </a:extLst>
          </p:cNvPr>
          <p:cNvSpPr txBox="1"/>
          <p:nvPr/>
        </p:nvSpPr>
        <p:spPr>
          <a:xfrm>
            <a:off x="4034546" y="1309688"/>
            <a:ext cx="5176417" cy="2412968"/>
          </a:xfrm>
          <a:prstGeom prst="rect">
            <a:avLst/>
          </a:prstGeom>
          <a:noFill/>
        </p:spPr>
        <p:txBody>
          <a:bodyPr wrap="none" rtlCol="0">
            <a:spAutoFit/>
          </a:bodyPr>
          <a:lstStyle/>
          <a:p>
            <a:pPr marL="342900" marR="0" lvl="0" indent="-34290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Char char="n"/>
              <a:tabLst/>
              <a:defRPr/>
            </a:pPr>
            <a:r>
              <a:rPr kumimoji="0" lang="en-US" altLang="tr-TR" sz="3200" b="0" i="0" u="none" strike="noStrike" kern="0" cap="none" spc="0" normalizeH="0" baseline="0" noProof="0" dirty="0">
                <a:ln>
                  <a:noFill/>
                </a:ln>
                <a:solidFill>
                  <a:srgbClr val="000000"/>
                </a:solidFill>
                <a:effectLst/>
                <a:uLnTx/>
                <a:uFillTx/>
                <a:latin typeface="Arial"/>
                <a:ea typeface="+mn-ea"/>
                <a:cs typeface="+mn-cs"/>
              </a:rPr>
              <a:t>Operation and Receivers:</a:t>
            </a:r>
          </a:p>
          <a:p>
            <a:pPr marL="742950" marR="0" lvl="1" indent="-285750" algn="l" defTabSz="914400" rtl="0" eaLnBrk="1" fontAlgn="base" latinLnBrk="0" hangingPunct="1">
              <a:lnSpc>
                <a:spcPct val="100000"/>
              </a:lnSpc>
              <a:spcBef>
                <a:spcPct val="20000"/>
              </a:spcBef>
              <a:spcAft>
                <a:spcPct val="0"/>
              </a:spcAft>
              <a:buClr>
                <a:srgbClr val="9999CC"/>
              </a:buClr>
              <a:buSzPct val="80000"/>
              <a:buFont typeface="Wingdings" panose="05000000000000000000" pitchFamily="2" charset="2"/>
              <a:buChar char="¨"/>
              <a:tabLst/>
              <a:defRPr/>
            </a:pPr>
            <a:r>
              <a:rPr kumimoji="0" lang="en-US" altLang="tr-TR" sz="2800" b="0" i="0" u="none" strike="noStrike" kern="0" cap="none" spc="0" normalizeH="0" baseline="0" noProof="0" dirty="0" err="1">
                <a:ln>
                  <a:noFill/>
                </a:ln>
                <a:solidFill>
                  <a:srgbClr val="000000"/>
                </a:solidFill>
                <a:effectLst/>
                <a:uLnTx/>
                <a:uFillTx/>
                <a:latin typeface="Arial"/>
              </a:rPr>
              <a:t>Document.save</a:t>
            </a:r>
            <a:r>
              <a:rPr kumimoji="0" lang="en-US" altLang="tr-TR" sz="2800" b="0" i="0" u="none" strike="noStrike" kern="0" cap="none" spc="0" normalizeH="0" baseline="0" noProof="0" dirty="0">
                <a:ln>
                  <a:noFill/>
                </a:ln>
                <a:solidFill>
                  <a:srgbClr val="000000"/>
                </a:solidFill>
                <a:effectLst/>
                <a:uLnTx/>
                <a:uFillTx/>
                <a:latin typeface="Arial"/>
              </a:rPr>
              <a:t>();</a:t>
            </a:r>
          </a:p>
          <a:p>
            <a:pPr marL="742950" marR="0" lvl="1" indent="-285750" algn="l" defTabSz="914400" rtl="0" eaLnBrk="1" fontAlgn="base" latinLnBrk="0" hangingPunct="1">
              <a:lnSpc>
                <a:spcPct val="100000"/>
              </a:lnSpc>
              <a:spcBef>
                <a:spcPct val="20000"/>
              </a:spcBef>
              <a:spcAft>
                <a:spcPct val="0"/>
              </a:spcAft>
              <a:buClr>
                <a:srgbClr val="9999CC"/>
              </a:buClr>
              <a:buSzPct val="80000"/>
              <a:buFont typeface="Wingdings" panose="05000000000000000000" pitchFamily="2" charset="2"/>
              <a:buChar char="¨"/>
              <a:tabLst/>
              <a:defRPr/>
            </a:pPr>
            <a:r>
              <a:rPr kumimoji="0" lang="en-US" altLang="tr-TR" sz="2800" b="0" i="0" u="none" strike="noStrike" kern="0" cap="none" spc="0" normalizeH="0" baseline="0" noProof="0" dirty="0" err="1">
                <a:ln>
                  <a:noFill/>
                </a:ln>
                <a:solidFill>
                  <a:srgbClr val="000000"/>
                </a:solidFill>
                <a:effectLst/>
                <a:uLnTx/>
                <a:uFillTx/>
                <a:latin typeface="Arial"/>
              </a:rPr>
              <a:t>Document.open</a:t>
            </a:r>
            <a:r>
              <a:rPr kumimoji="0" lang="en-US" altLang="tr-TR" sz="2800" b="0" i="0" u="none" strike="noStrike" kern="0" cap="none" spc="0" normalizeH="0" baseline="0" noProof="0" dirty="0">
                <a:ln>
                  <a:noFill/>
                </a:ln>
                <a:solidFill>
                  <a:srgbClr val="000000"/>
                </a:solidFill>
                <a:effectLst/>
                <a:uLnTx/>
                <a:uFillTx/>
                <a:latin typeface="Arial"/>
              </a:rPr>
              <a:t>(); </a:t>
            </a:r>
          </a:p>
          <a:p>
            <a:pPr marL="742950" marR="0" lvl="1" indent="-285750" algn="l" defTabSz="914400" rtl="0" eaLnBrk="1" fontAlgn="base" latinLnBrk="0" hangingPunct="1">
              <a:lnSpc>
                <a:spcPct val="100000"/>
              </a:lnSpc>
              <a:spcBef>
                <a:spcPct val="20000"/>
              </a:spcBef>
              <a:spcAft>
                <a:spcPct val="0"/>
              </a:spcAft>
              <a:buClr>
                <a:srgbClr val="9999CC"/>
              </a:buClr>
              <a:buSzPct val="80000"/>
              <a:buFont typeface="Wingdings" panose="05000000000000000000" pitchFamily="2" charset="2"/>
              <a:buChar char="¨"/>
              <a:tabLst/>
              <a:defRPr/>
            </a:pPr>
            <a:r>
              <a:rPr kumimoji="0" lang="en-US" altLang="tr-TR" sz="2800" b="0" i="0" u="none" strike="noStrike" kern="0" cap="none" spc="0" normalizeH="0" baseline="0" noProof="0" dirty="0" err="1">
                <a:ln>
                  <a:noFill/>
                </a:ln>
                <a:solidFill>
                  <a:srgbClr val="000000"/>
                </a:solidFill>
                <a:effectLst/>
                <a:uLnTx/>
                <a:uFillTx/>
                <a:latin typeface="Arial"/>
              </a:rPr>
              <a:t>Document.print</a:t>
            </a:r>
            <a:r>
              <a:rPr kumimoji="0" lang="en-US" altLang="tr-TR" sz="2800" b="0" i="0" u="none" strike="noStrike" kern="0" cap="none" spc="0" normalizeH="0" baseline="0" noProof="0" dirty="0">
                <a:ln>
                  <a:noFill/>
                </a:ln>
                <a:solidFill>
                  <a:srgbClr val="000000"/>
                </a:solidFill>
                <a:effectLst/>
                <a:uLnTx/>
                <a:uFillTx/>
                <a:latin typeface="Arial"/>
              </a:rPr>
              <a:t>();</a:t>
            </a:r>
          </a:p>
          <a:p>
            <a:endParaRPr lang="en-US" dirty="0"/>
          </a:p>
        </p:txBody>
      </p:sp>
      <p:sp>
        <p:nvSpPr>
          <p:cNvPr id="3" name="Rectangle: Rounded Corners 2">
            <a:extLst>
              <a:ext uri="{FF2B5EF4-FFF2-40B4-BE49-F238E27FC236}">
                <a16:creationId xmlns:a16="http://schemas.microsoft.com/office/drawing/2014/main" id="{9D32EB6B-1BA9-AC43-7BF9-D900B0E68E0D}"/>
              </a:ext>
            </a:extLst>
          </p:cNvPr>
          <p:cNvSpPr/>
          <p:nvPr/>
        </p:nvSpPr>
        <p:spPr bwMode="auto">
          <a:xfrm>
            <a:off x="5486400" y="3851564"/>
            <a:ext cx="2503055" cy="745517"/>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a:t>
            </a:r>
            <a:r>
              <a:rPr kumimoji="0" lang="en-US" sz="1800" b="0" i="0" u="none" strike="noStrike" cap="none" normalizeH="0" baseline="0" dirty="0" err="1">
                <a:ln>
                  <a:noFill/>
                </a:ln>
                <a:solidFill>
                  <a:schemeClr val="tx1"/>
                </a:solidFill>
                <a:effectLst/>
                <a:latin typeface="Arial" charset="0"/>
              </a:rPr>
              <a:t>SaveCommand</a:t>
            </a:r>
            <a:endParaRPr kumimoji="0" lang="en-US" sz="1800" b="0" i="0" u="none" strike="noStrike" cap="none" normalizeH="0" baseline="0" dirty="0">
              <a:ln>
                <a:noFill/>
              </a:ln>
              <a:solidFill>
                <a:schemeClr val="tx1"/>
              </a:solidFill>
              <a:effectLst/>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execute(){</a:t>
            </a:r>
            <a:r>
              <a:rPr lang="en-US" dirty="0" err="1">
                <a:latin typeface="Arial" charset="0"/>
              </a:rPr>
              <a:t>doc.save</a:t>
            </a:r>
            <a:r>
              <a:rPr lang="en-US" dirty="0">
                <a:latin typeface="Arial" charset="0"/>
              </a:rPr>
              <a:t>();}</a:t>
            </a:r>
            <a:endParaRPr kumimoji="0" lang="en-US" sz="1800" b="0" i="0" u="none" strike="noStrike" cap="none" normalizeH="0" baseline="0" dirty="0">
              <a:ln>
                <a:noFill/>
              </a:ln>
              <a:solidFill>
                <a:schemeClr val="tx1"/>
              </a:solidFill>
              <a:effectLst/>
              <a:latin typeface="Arial" charset="0"/>
            </a:endParaRPr>
          </a:p>
        </p:txBody>
      </p:sp>
      <p:sp>
        <p:nvSpPr>
          <p:cNvPr id="6" name="Rectangle: Rounded Corners 5">
            <a:extLst>
              <a:ext uri="{FF2B5EF4-FFF2-40B4-BE49-F238E27FC236}">
                <a16:creationId xmlns:a16="http://schemas.microsoft.com/office/drawing/2014/main" id="{53DED2B4-06C5-B9C4-8C57-17B5DE8F468A}"/>
              </a:ext>
            </a:extLst>
          </p:cNvPr>
          <p:cNvSpPr/>
          <p:nvPr/>
        </p:nvSpPr>
        <p:spPr bwMode="auto">
          <a:xfrm>
            <a:off x="5486400" y="5878946"/>
            <a:ext cx="2503055" cy="745517"/>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a:t>
            </a:r>
            <a:r>
              <a:rPr kumimoji="0" lang="en-US" sz="1800" b="0" i="0" u="none" strike="noStrike" cap="none" normalizeH="0" baseline="0" dirty="0" err="1">
                <a:ln>
                  <a:noFill/>
                </a:ln>
                <a:solidFill>
                  <a:schemeClr val="tx1"/>
                </a:solidFill>
                <a:effectLst/>
                <a:latin typeface="Arial" charset="0"/>
              </a:rPr>
              <a:t>PrintCommand</a:t>
            </a:r>
            <a:endParaRPr kumimoji="0" lang="en-US" sz="1800" b="0" i="0" u="none" strike="noStrike" cap="none" normalizeH="0" baseline="0" dirty="0">
              <a:ln>
                <a:noFill/>
              </a:ln>
              <a:solidFill>
                <a:schemeClr val="tx1"/>
              </a:solidFill>
              <a:effectLst/>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execute(){</a:t>
            </a:r>
            <a:r>
              <a:rPr lang="en-US" dirty="0" err="1">
                <a:latin typeface="Arial" charset="0"/>
              </a:rPr>
              <a:t>doc.print</a:t>
            </a:r>
            <a:r>
              <a:rPr lang="en-US" dirty="0">
                <a:latin typeface="Arial" charset="0"/>
              </a:rPr>
              <a:t>();}</a:t>
            </a:r>
            <a:endParaRPr kumimoji="0" lang="en-US" sz="1800" b="0" i="0" u="none" strike="noStrike" cap="none" normalizeH="0" baseline="0" dirty="0">
              <a:ln>
                <a:noFill/>
              </a:ln>
              <a:solidFill>
                <a:schemeClr val="tx1"/>
              </a:solidFill>
              <a:effectLst/>
              <a:latin typeface="Arial" charset="0"/>
            </a:endParaRPr>
          </a:p>
        </p:txBody>
      </p:sp>
      <p:sp>
        <p:nvSpPr>
          <p:cNvPr id="7" name="Rectangle: Rounded Corners 6">
            <a:extLst>
              <a:ext uri="{FF2B5EF4-FFF2-40B4-BE49-F238E27FC236}">
                <a16:creationId xmlns:a16="http://schemas.microsoft.com/office/drawing/2014/main" id="{582F7212-C30A-F4A4-8437-DF90DED71EA4}"/>
              </a:ext>
            </a:extLst>
          </p:cNvPr>
          <p:cNvSpPr/>
          <p:nvPr/>
        </p:nvSpPr>
        <p:spPr bwMode="auto">
          <a:xfrm>
            <a:off x="5486400" y="4938986"/>
            <a:ext cx="2586182" cy="745517"/>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a:t>
            </a:r>
            <a:r>
              <a:rPr lang="en-US" dirty="0" err="1">
                <a:latin typeface="Arial" charset="0"/>
              </a:rPr>
              <a:t>Open</a:t>
            </a:r>
            <a:r>
              <a:rPr kumimoji="0" lang="en-US" sz="1800" b="0" i="0" u="none" strike="noStrike" cap="none" normalizeH="0" baseline="0" dirty="0" err="1">
                <a:ln>
                  <a:noFill/>
                </a:ln>
                <a:solidFill>
                  <a:schemeClr val="tx1"/>
                </a:solidFill>
                <a:effectLst/>
                <a:latin typeface="Arial" charset="0"/>
              </a:rPr>
              <a:t>Command</a:t>
            </a:r>
            <a:endParaRPr kumimoji="0" lang="en-US" sz="1800" b="0" i="0" u="none" strike="noStrike" cap="none" normalizeH="0" baseline="0" dirty="0">
              <a:ln>
                <a:noFill/>
              </a:ln>
              <a:solidFill>
                <a:schemeClr val="tx1"/>
              </a:solidFill>
              <a:effectLst/>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execute(){</a:t>
            </a:r>
            <a:r>
              <a:rPr lang="en-US" dirty="0" err="1">
                <a:latin typeface="Arial" charset="0"/>
              </a:rPr>
              <a:t>doc.open</a:t>
            </a:r>
            <a:r>
              <a:rPr lang="en-US" dirty="0">
                <a:latin typeface="Arial" charset="0"/>
              </a:rPr>
              <a:t>();}</a:t>
            </a:r>
            <a:endParaRPr kumimoji="0" lang="en-US" sz="1800" b="0" i="0" u="none" strike="noStrike" cap="none" normalizeH="0" baseline="0" dirty="0">
              <a:ln>
                <a:noFill/>
              </a:ln>
              <a:solidFill>
                <a:schemeClr val="tx1"/>
              </a:solidFill>
              <a:effectLst/>
              <a:latin typeface="Arial" charset="0"/>
            </a:endParaRPr>
          </a:p>
        </p:txBody>
      </p:sp>
      <p:sp>
        <p:nvSpPr>
          <p:cNvPr id="9" name="Rectangle: Rounded Corners 8">
            <a:extLst>
              <a:ext uri="{FF2B5EF4-FFF2-40B4-BE49-F238E27FC236}">
                <a16:creationId xmlns:a16="http://schemas.microsoft.com/office/drawing/2014/main" id="{091E6922-8B48-25DA-9E36-DA72D9769720}"/>
              </a:ext>
            </a:extLst>
          </p:cNvPr>
          <p:cNvSpPr/>
          <p:nvPr/>
        </p:nvSpPr>
        <p:spPr bwMode="auto">
          <a:xfrm>
            <a:off x="762565" y="3511426"/>
            <a:ext cx="1385454" cy="460855"/>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b1:Button</a:t>
            </a:r>
            <a:endParaRPr kumimoji="0" lang="en-US" sz="1800" b="0" i="0" u="none" strike="noStrike" cap="none" normalizeH="0" baseline="0" dirty="0">
              <a:ln>
                <a:noFill/>
              </a:ln>
              <a:solidFill>
                <a:schemeClr val="tx1"/>
              </a:solidFill>
              <a:effectLst/>
              <a:latin typeface="Arial" charset="0"/>
            </a:endParaRPr>
          </a:p>
        </p:txBody>
      </p:sp>
      <p:sp>
        <p:nvSpPr>
          <p:cNvPr id="10" name="Rectangle: Rounded Corners 9">
            <a:extLst>
              <a:ext uri="{FF2B5EF4-FFF2-40B4-BE49-F238E27FC236}">
                <a16:creationId xmlns:a16="http://schemas.microsoft.com/office/drawing/2014/main" id="{74301226-4A28-BEF5-63F0-ABBE34786A5A}"/>
              </a:ext>
            </a:extLst>
          </p:cNvPr>
          <p:cNvSpPr/>
          <p:nvPr/>
        </p:nvSpPr>
        <p:spPr bwMode="auto">
          <a:xfrm>
            <a:off x="1297709" y="5930226"/>
            <a:ext cx="1385454" cy="460855"/>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b3:Button</a:t>
            </a:r>
            <a:endParaRPr kumimoji="0" lang="en-US" sz="1800" b="0" i="0" u="none" strike="noStrike" cap="none" normalizeH="0" baseline="0" dirty="0">
              <a:ln>
                <a:noFill/>
              </a:ln>
              <a:solidFill>
                <a:schemeClr val="tx1"/>
              </a:solidFill>
              <a:effectLst/>
              <a:latin typeface="Arial" charset="0"/>
            </a:endParaRPr>
          </a:p>
        </p:txBody>
      </p:sp>
      <p:sp>
        <p:nvSpPr>
          <p:cNvPr id="11" name="Rectangle: Rounded Corners 10">
            <a:extLst>
              <a:ext uri="{FF2B5EF4-FFF2-40B4-BE49-F238E27FC236}">
                <a16:creationId xmlns:a16="http://schemas.microsoft.com/office/drawing/2014/main" id="{A4FDC0AF-FD29-B042-68DF-43F33A16157D}"/>
              </a:ext>
            </a:extLst>
          </p:cNvPr>
          <p:cNvSpPr/>
          <p:nvPr/>
        </p:nvSpPr>
        <p:spPr bwMode="auto">
          <a:xfrm>
            <a:off x="1126837" y="4796788"/>
            <a:ext cx="1385454" cy="460855"/>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b2:Button</a:t>
            </a:r>
            <a:endParaRPr kumimoji="0" lang="en-US" sz="1800" b="0" i="0" u="none" strike="noStrike" cap="none" normalizeH="0" baseline="0" dirty="0">
              <a:ln>
                <a:noFill/>
              </a:ln>
              <a:solidFill>
                <a:schemeClr val="tx1"/>
              </a:solidFill>
              <a:effectLst/>
              <a:latin typeface="Arial" charset="0"/>
            </a:endParaRPr>
          </a:p>
        </p:txBody>
      </p:sp>
      <p:cxnSp>
        <p:nvCxnSpPr>
          <p:cNvPr id="13" name="Straight Arrow Connector 12">
            <a:extLst>
              <a:ext uri="{FF2B5EF4-FFF2-40B4-BE49-F238E27FC236}">
                <a16:creationId xmlns:a16="http://schemas.microsoft.com/office/drawing/2014/main" id="{BB86E3AE-BE08-9AA5-D642-B37C679284C0}"/>
              </a:ext>
            </a:extLst>
          </p:cNvPr>
          <p:cNvCxnSpPr>
            <a:stCxn id="9" idx="3"/>
            <a:endCxn id="3" idx="1"/>
          </p:cNvCxnSpPr>
          <p:nvPr/>
        </p:nvCxnSpPr>
        <p:spPr bwMode="auto">
          <a:xfrm>
            <a:off x="2148019" y="3741854"/>
            <a:ext cx="3338381" cy="482469"/>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4" name="Straight Arrow Connector 13">
            <a:extLst>
              <a:ext uri="{FF2B5EF4-FFF2-40B4-BE49-F238E27FC236}">
                <a16:creationId xmlns:a16="http://schemas.microsoft.com/office/drawing/2014/main" id="{D32349E8-B58F-4C98-CA7C-A1A08A103E36}"/>
              </a:ext>
            </a:extLst>
          </p:cNvPr>
          <p:cNvCxnSpPr>
            <a:cxnSpLocks/>
            <a:stCxn id="10" idx="3"/>
            <a:endCxn id="6" idx="1"/>
          </p:cNvCxnSpPr>
          <p:nvPr/>
        </p:nvCxnSpPr>
        <p:spPr bwMode="auto">
          <a:xfrm>
            <a:off x="2683163" y="6160654"/>
            <a:ext cx="2803237" cy="9105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5" name="Straight Arrow Connector 14">
            <a:extLst>
              <a:ext uri="{FF2B5EF4-FFF2-40B4-BE49-F238E27FC236}">
                <a16:creationId xmlns:a16="http://schemas.microsoft.com/office/drawing/2014/main" id="{C586A706-9A3A-B72D-EE58-3EE60D2FDA98}"/>
              </a:ext>
            </a:extLst>
          </p:cNvPr>
          <p:cNvCxnSpPr>
            <a:cxnSpLocks/>
            <a:stCxn id="11" idx="3"/>
            <a:endCxn id="7" idx="1"/>
          </p:cNvCxnSpPr>
          <p:nvPr/>
        </p:nvCxnSpPr>
        <p:spPr bwMode="auto">
          <a:xfrm>
            <a:off x="2512291" y="5027216"/>
            <a:ext cx="2974109" cy="284529"/>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0" name="Rectangle: Rounded Corners 19">
            <a:extLst>
              <a:ext uri="{FF2B5EF4-FFF2-40B4-BE49-F238E27FC236}">
                <a16:creationId xmlns:a16="http://schemas.microsoft.com/office/drawing/2014/main" id="{208CE57E-16B3-5ECE-8824-20644029B03D}"/>
              </a:ext>
            </a:extLst>
          </p:cNvPr>
          <p:cNvSpPr/>
          <p:nvPr/>
        </p:nvSpPr>
        <p:spPr bwMode="auto">
          <a:xfrm>
            <a:off x="767183" y="4156457"/>
            <a:ext cx="1893454" cy="460855"/>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mi1:MenuItem</a:t>
            </a:r>
            <a:endParaRPr kumimoji="0" lang="en-US" sz="1800" b="0" i="0" u="none" strike="noStrike" cap="none" normalizeH="0" baseline="0" dirty="0">
              <a:ln>
                <a:noFill/>
              </a:ln>
              <a:solidFill>
                <a:schemeClr val="tx1"/>
              </a:solidFill>
              <a:effectLst/>
              <a:latin typeface="Arial" charset="0"/>
            </a:endParaRPr>
          </a:p>
        </p:txBody>
      </p:sp>
      <p:sp>
        <p:nvSpPr>
          <p:cNvPr id="21" name="Rectangle: Rounded Corners 20">
            <a:extLst>
              <a:ext uri="{FF2B5EF4-FFF2-40B4-BE49-F238E27FC236}">
                <a16:creationId xmlns:a16="http://schemas.microsoft.com/office/drawing/2014/main" id="{1BD54993-C8FE-CDB3-A1AD-D695EAE2169F}"/>
              </a:ext>
            </a:extLst>
          </p:cNvPr>
          <p:cNvSpPr/>
          <p:nvPr/>
        </p:nvSpPr>
        <p:spPr bwMode="auto">
          <a:xfrm>
            <a:off x="646546" y="5309795"/>
            <a:ext cx="1893454" cy="460855"/>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mi2:MenuItem</a:t>
            </a:r>
            <a:endParaRPr kumimoji="0" lang="en-US" sz="1800" b="0" i="0" u="none" strike="noStrike" cap="none" normalizeH="0" baseline="0" dirty="0">
              <a:ln>
                <a:noFill/>
              </a:ln>
              <a:solidFill>
                <a:schemeClr val="tx1"/>
              </a:solidFill>
              <a:effectLst/>
              <a:latin typeface="Arial" charset="0"/>
            </a:endParaRPr>
          </a:p>
        </p:txBody>
      </p:sp>
      <p:sp>
        <p:nvSpPr>
          <p:cNvPr id="22" name="Rectangle: Rounded Corners 21">
            <a:extLst>
              <a:ext uri="{FF2B5EF4-FFF2-40B4-BE49-F238E27FC236}">
                <a16:creationId xmlns:a16="http://schemas.microsoft.com/office/drawing/2014/main" id="{FE0883D1-BB1D-7524-42BA-D1B3931B5F7F}"/>
              </a:ext>
            </a:extLst>
          </p:cNvPr>
          <p:cNvSpPr/>
          <p:nvPr/>
        </p:nvSpPr>
        <p:spPr bwMode="auto">
          <a:xfrm>
            <a:off x="1306946" y="6376475"/>
            <a:ext cx="1893454" cy="460855"/>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mi3:MenuItem</a:t>
            </a:r>
            <a:endParaRPr kumimoji="0" lang="en-US" sz="1800" b="0" i="0" u="none" strike="noStrike" cap="none" normalizeH="0" baseline="0" dirty="0">
              <a:ln>
                <a:noFill/>
              </a:ln>
              <a:solidFill>
                <a:schemeClr val="tx1"/>
              </a:solidFill>
              <a:effectLst/>
              <a:latin typeface="Arial" charset="0"/>
            </a:endParaRPr>
          </a:p>
        </p:txBody>
      </p:sp>
      <p:cxnSp>
        <p:nvCxnSpPr>
          <p:cNvPr id="24" name="Straight Arrow Connector 23">
            <a:extLst>
              <a:ext uri="{FF2B5EF4-FFF2-40B4-BE49-F238E27FC236}">
                <a16:creationId xmlns:a16="http://schemas.microsoft.com/office/drawing/2014/main" id="{1298FF59-0852-FEF9-1541-6343026E0B18}"/>
              </a:ext>
            </a:extLst>
          </p:cNvPr>
          <p:cNvCxnSpPr>
            <a:cxnSpLocks/>
            <a:stCxn id="20" idx="3"/>
            <a:endCxn id="3" idx="1"/>
          </p:cNvCxnSpPr>
          <p:nvPr/>
        </p:nvCxnSpPr>
        <p:spPr bwMode="auto">
          <a:xfrm flipV="1">
            <a:off x="2660637" y="4224323"/>
            <a:ext cx="2825763" cy="16256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8" name="Straight Arrow Connector 27">
            <a:extLst>
              <a:ext uri="{FF2B5EF4-FFF2-40B4-BE49-F238E27FC236}">
                <a16:creationId xmlns:a16="http://schemas.microsoft.com/office/drawing/2014/main" id="{5C19AAF8-0F83-15A4-4FE2-310C44D5B580}"/>
              </a:ext>
            </a:extLst>
          </p:cNvPr>
          <p:cNvCxnSpPr>
            <a:cxnSpLocks/>
            <a:stCxn id="21" idx="3"/>
            <a:endCxn id="7" idx="1"/>
          </p:cNvCxnSpPr>
          <p:nvPr/>
        </p:nvCxnSpPr>
        <p:spPr bwMode="auto">
          <a:xfrm flipV="1">
            <a:off x="2540000" y="5311745"/>
            <a:ext cx="2946400" cy="22847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9" name="Straight Arrow Connector 28">
            <a:extLst>
              <a:ext uri="{FF2B5EF4-FFF2-40B4-BE49-F238E27FC236}">
                <a16:creationId xmlns:a16="http://schemas.microsoft.com/office/drawing/2014/main" id="{1E76C4E9-42BA-A6E9-C60B-72D7CEC1F17E}"/>
              </a:ext>
            </a:extLst>
          </p:cNvPr>
          <p:cNvCxnSpPr>
            <a:cxnSpLocks/>
            <a:stCxn id="22" idx="3"/>
            <a:endCxn id="6" idx="1"/>
          </p:cNvCxnSpPr>
          <p:nvPr/>
        </p:nvCxnSpPr>
        <p:spPr bwMode="auto">
          <a:xfrm flipV="1">
            <a:off x="3200400" y="6251705"/>
            <a:ext cx="2286000" cy="35519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217634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F5105C0-6FDF-DF92-0BDF-4CB4030EAFEE}"/>
              </a:ext>
            </a:extLst>
          </p:cNvPr>
          <p:cNvSpPr>
            <a:spLocks noGrp="1" noChangeArrowheads="1"/>
          </p:cNvSpPr>
          <p:nvPr>
            <p:ph type="title"/>
          </p:nvPr>
        </p:nvSpPr>
        <p:spPr>
          <a:xfrm>
            <a:off x="457200" y="60325"/>
            <a:ext cx="8229600" cy="1371600"/>
          </a:xfrm>
        </p:spPr>
        <p:txBody>
          <a:bodyPr/>
          <a:lstStyle/>
          <a:p>
            <a:r>
              <a:rPr lang="en-US" altLang="tr-TR" dirty="0"/>
              <a:t>Structure – Command Pattern</a:t>
            </a:r>
            <a:endParaRPr lang="en-GB" altLang="tr-TR" dirty="0"/>
          </a:p>
        </p:txBody>
      </p:sp>
      <p:sp>
        <p:nvSpPr>
          <p:cNvPr id="38915" name="Rectangle 4">
            <a:extLst>
              <a:ext uri="{FF2B5EF4-FFF2-40B4-BE49-F238E27FC236}">
                <a16:creationId xmlns:a16="http://schemas.microsoft.com/office/drawing/2014/main" id="{EC46481E-CED1-BB24-0F81-2F5AD5560941}"/>
              </a:ext>
            </a:extLst>
          </p:cNvPr>
          <p:cNvSpPr>
            <a:spLocks noChangeArrowheads="1"/>
          </p:cNvSpPr>
          <p:nvPr/>
        </p:nvSpPr>
        <p:spPr bwMode="auto">
          <a:xfrm>
            <a:off x="684213" y="2060575"/>
            <a:ext cx="1584325"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a:t>Client</a:t>
            </a:r>
            <a:endParaRPr lang="en-GB" altLang="tr-TR" sz="1800"/>
          </a:p>
        </p:txBody>
      </p:sp>
      <p:sp>
        <p:nvSpPr>
          <p:cNvPr id="38916" name="Rectangle 6">
            <a:extLst>
              <a:ext uri="{FF2B5EF4-FFF2-40B4-BE49-F238E27FC236}">
                <a16:creationId xmlns:a16="http://schemas.microsoft.com/office/drawing/2014/main" id="{A493E421-5688-F2F8-09D1-EC6195E99BFF}"/>
              </a:ext>
            </a:extLst>
          </p:cNvPr>
          <p:cNvSpPr>
            <a:spLocks noChangeArrowheads="1"/>
          </p:cNvSpPr>
          <p:nvPr/>
        </p:nvSpPr>
        <p:spPr bwMode="auto">
          <a:xfrm>
            <a:off x="3348038" y="2060575"/>
            <a:ext cx="1295400" cy="431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a:t>Invoker</a:t>
            </a:r>
            <a:endParaRPr lang="en-GB" altLang="tr-TR" sz="1800"/>
          </a:p>
        </p:txBody>
      </p:sp>
      <p:grpSp>
        <p:nvGrpSpPr>
          <p:cNvPr id="38917" name="Group 12">
            <a:extLst>
              <a:ext uri="{FF2B5EF4-FFF2-40B4-BE49-F238E27FC236}">
                <a16:creationId xmlns:a16="http://schemas.microsoft.com/office/drawing/2014/main" id="{4C88A145-9DC6-3DE4-7B1D-26074183C407}"/>
              </a:ext>
            </a:extLst>
          </p:cNvPr>
          <p:cNvGrpSpPr>
            <a:grpSpLocks/>
          </p:cNvGrpSpPr>
          <p:nvPr/>
        </p:nvGrpSpPr>
        <p:grpSpPr bwMode="auto">
          <a:xfrm>
            <a:off x="1187450" y="3573463"/>
            <a:ext cx="1368425" cy="863600"/>
            <a:chOff x="748" y="2251"/>
            <a:chExt cx="862" cy="408"/>
          </a:xfrm>
        </p:grpSpPr>
        <p:sp>
          <p:nvSpPr>
            <p:cNvPr id="38936" name="Rectangle 8">
              <a:extLst>
                <a:ext uri="{FF2B5EF4-FFF2-40B4-BE49-F238E27FC236}">
                  <a16:creationId xmlns:a16="http://schemas.microsoft.com/office/drawing/2014/main" id="{95647B0B-2B5C-9886-0D26-7C622DF2DD89}"/>
                </a:ext>
              </a:extLst>
            </p:cNvPr>
            <p:cNvSpPr>
              <a:spLocks noChangeArrowheads="1"/>
            </p:cNvSpPr>
            <p:nvPr/>
          </p:nvSpPr>
          <p:spPr bwMode="auto">
            <a:xfrm>
              <a:off x="748" y="2251"/>
              <a:ext cx="862" cy="40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a:t>Receiver</a:t>
              </a:r>
            </a:p>
            <a:p>
              <a:pPr algn="ctr" eaLnBrk="1" hangingPunct="1">
                <a:spcBef>
                  <a:spcPct val="0"/>
                </a:spcBef>
                <a:buClrTx/>
                <a:buSzTx/>
                <a:buFontTx/>
                <a:buNone/>
              </a:pPr>
              <a:endParaRPr lang="en-US" altLang="tr-TR" sz="900"/>
            </a:p>
            <a:p>
              <a:pPr algn="ctr" eaLnBrk="1" hangingPunct="1">
                <a:spcBef>
                  <a:spcPct val="0"/>
                </a:spcBef>
                <a:buClrTx/>
                <a:buSzTx/>
                <a:buFontTx/>
                <a:buNone/>
              </a:pPr>
              <a:r>
                <a:rPr lang="en-US" altLang="tr-TR" sz="1800"/>
                <a:t>action()</a:t>
              </a:r>
              <a:endParaRPr lang="en-GB" altLang="tr-TR" sz="1800"/>
            </a:p>
          </p:txBody>
        </p:sp>
        <p:sp>
          <p:nvSpPr>
            <p:cNvPr id="38937" name="Line 10">
              <a:extLst>
                <a:ext uri="{FF2B5EF4-FFF2-40B4-BE49-F238E27FC236}">
                  <a16:creationId xmlns:a16="http://schemas.microsoft.com/office/drawing/2014/main" id="{6185C7A2-B3BA-9159-29AD-93AFFC145508}"/>
                </a:ext>
              </a:extLst>
            </p:cNvPr>
            <p:cNvSpPr>
              <a:spLocks noChangeShapeType="1"/>
            </p:cNvSpPr>
            <p:nvPr/>
          </p:nvSpPr>
          <p:spPr bwMode="auto">
            <a:xfrm>
              <a:off x="748" y="2432"/>
              <a:ext cx="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8" name="Line 11">
              <a:extLst>
                <a:ext uri="{FF2B5EF4-FFF2-40B4-BE49-F238E27FC236}">
                  <a16:creationId xmlns:a16="http://schemas.microsoft.com/office/drawing/2014/main" id="{842C14AA-C5E4-B299-B53D-2E30FEC4A1A4}"/>
                </a:ext>
              </a:extLst>
            </p:cNvPr>
            <p:cNvSpPr>
              <a:spLocks noChangeShapeType="1"/>
            </p:cNvSpPr>
            <p:nvPr/>
          </p:nvSpPr>
          <p:spPr bwMode="auto">
            <a:xfrm>
              <a:off x="748" y="2478"/>
              <a:ext cx="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918" name="Group 24">
            <a:extLst>
              <a:ext uri="{FF2B5EF4-FFF2-40B4-BE49-F238E27FC236}">
                <a16:creationId xmlns:a16="http://schemas.microsoft.com/office/drawing/2014/main" id="{9B36DC07-A7E2-1604-96DA-3D9DA5457D4C}"/>
              </a:ext>
            </a:extLst>
          </p:cNvPr>
          <p:cNvGrpSpPr>
            <a:grpSpLocks/>
          </p:cNvGrpSpPr>
          <p:nvPr/>
        </p:nvGrpSpPr>
        <p:grpSpPr bwMode="auto">
          <a:xfrm>
            <a:off x="3995738" y="4508500"/>
            <a:ext cx="2376487" cy="1223963"/>
            <a:chOff x="2517" y="2840"/>
            <a:chExt cx="1497" cy="771"/>
          </a:xfrm>
        </p:grpSpPr>
        <p:sp>
          <p:nvSpPr>
            <p:cNvPr id="38933" name="Rectangle 17">
              <a:extLst>
                <a:ext uri="{FF2B5EF4-FFF2-40B4-BE49-F238E27FC236}">
                  <a16:creationId xmlns:a16="http://schemas.microsoft.com/office/drawing/2014/main" id="{A4D60144-C118-7858-316D-03F3EF628C39}"/>
                </a:ext>
              </a:extLst>
            </p:cNvPr>
            <p:cNvSpPr>
              <a:spLocks noChangeArrowheads="1"/>
            </p:cNvSpPr>
            <p:nvPr/>
          </p:nvSpPr>
          <p:spPr bwMode="auto">
            <a:xfrm>
              <a:off x="2517" y="2840"/>
              <a:ext cx="1497" cy="771"/>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ConcreteCommand</a:t>
              </a:r>
            </a:p>
            <a:p>
              <a:pPr eaLnBrk="1" hangingPunct="1">
                <a:spcBef>
                  <a:spcPct val="0"/>
                </a:spcBef>
                <a:buClrTx/>
                <a:buSzTx/>
                <a:buFontTx/>
                <a:buNone/>
              </a:pPr>
              <a:r>
                <a:rPr lang="en-US" altLang="tr-TR" sz="1800"/>
                <a:t>-Receiver receiver</a:t>
              </a:r>
              <a:endParaRPr lang="en-US" altLang="tr-TR" sz="900"/>
            </a:p>
            <a:p>
              <a:pPr eaLnBrk="1" hangingPunct="1">
                <a:spcBef>
                  <a:spcPct val="0"/>
                </a:spcBef>
                <a:buClrTx/>
                <a:buSzTx/>
                <a:buFontTx/>
                <a:buNone/>
              </a:pPr>
              <a:r>
                <a:rPr lang="en-US" altLang="tr-TR" sz="1800"/>
                <a:t>+execute()</a:t>
              </a:r>
              <a:endParaRPr lang="en-GB" altLang="tr-TR" sz="1800"/>
            </a:p>
          </p:txBody>
        </p:sp>
        <p:sp>
          <p:nvSpPr>
            <p:cNvPr id="38934" name="Line 18">
              <a:extLst>
                <a:ext uri="{FF2B5EF4-FFF2-40B4-BE49-F238E27FC236}">
                  <a16:creationId xmlns:a16="http://schemas.microsoft.com/office/drawing/2014/main" id="{77FF92B6-6E5A-8C49-7700-C2CE3E866AC3}"/>
                </a:ext>
              </a:extLst>
            </p:cNvPr>
            <p:cNvSpPr>
              <a:spLocks noChangeShapeType="1"/>
            </p:cNvSpPr>
            <p:nvPr/>
          </p:nvSpPr>
          <p:spPr bwMode="auto">
            <a:xfrm>
              <a:off x="2517" y="3137"/>
              <a:ext cx="149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5" name="Line 19">
              <a:extLst>
                <a:ext uri="{FF2B5EF4-FFF2-40B4-BE49-F238E27FC236}">
                  <a16:creationId xmlns:a16="http://schemas.microsoft.com/office/drawing/2014/main" id="{3B82671F-98B2-79FF-4C62-FDAB86604683}"/>
                </a:ext>
              </a:extLst>
            </p:cNvPr>
            <p:cNvSpPr>
              <a:spLocks noChangeShapeType="1"/>
            </p:cNvSpPr>
            <p:nvPr/>
          </p:nvSpPr>
          <p:spPr bwMode="auto">
            <a:xfrm>
              <a:off x="2517" y="3318"/>
              <a:ext cx="149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919" name="Group 20">
            <a:extLst>
              <a:ext uri="{FF2B5EF4-FFF2-40B4-BE49-F238E27FC236}">
                <a16:creationId xmlns:a16="http://schemas.microsoft.com/office/drawing/2014/main" id="{027AFD04-3355-13AC-5E92-8F1C8B96BF4F}"/>
              </a:ext>
            </a:extLst>
          </p:cNvPr>
          <p:cNvGrpSpPr>
            <a:grpSpLocks/>
          </p:cNvGrpSpPr>
          <p:nvPr/>
        </p:nvGrpSpPr>
        <p:grpSpPr bwMode="auto">
          <a:xfrm>
            <a:off x="5795963" y="2133600"/>
            <a:ext cx="1368425" cy="863600"/>
            <a:chOff x="748" y="2251"/>
            <a:chExt cx="862" cy="408"/>
          </a:xfrm>
        </p:grpSpPr>
        <p:sp>
          <p:nvSpPr>
            <p:cNvPr id="38930" name="Rectangle 21">
              <a:extLst>
                <a:ext uri="{FF2B5EF4-FFF2-40B4-BE49-F238E27FC236}">
                  <a16:creationId xmlns:a16="http://schemas.microsoft.com/office/drawing/2014/main" id="{B8F5B87B-74DE-D9A3-BE45-2CA0DE6FDDF3}"/>
                </a:ext>
              </a:extLst>
            </p:cNvPr>
            <p:cNvSpPr>
              <a:spLocks noChangeArrowheads="1"/>
            </p:cNvSpPr>
            <p:nvPr/>
          </p:nvSpPr>
          <p:spPr bwMode="auto">
            <a:xfrm>
              <a:off x="748" y="2251"/>
              <a:ext cx="862" cy="40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i="1"/>
                <a:t>Command</a:t>
              </a:r>
            </a:p>
            <a:p>
              <a:pPr algn="ctr" eaLnBrk="1" hangingPunct="1">
                <a:spcBef>
                  <a:spcPct val="0"/>
                </a:spcBef>
                <a:buClrTx/>
                <a:buSzTx/>
                <a:buFontTx/>
                <a:buNone/>
              </a:pPr>
              <a:endParaRPr lang="en-US" altLang="tr-TR" sz="900" i="1"/>
            </a:p>
            <a:p>
              <a:pPr algn="ctr" eaLnBrk="1" hangingPunct="1">
                <a:spcBef>
                  <a:spcPct val="0"/>
                </a:spcBef>
                <a:buClrTx/>
                <a:buSzTx/>
                <a:buFontTx/>
                <a:buNone/>
              </a:pPr>
              <a:r>
                <a:rPr lang="en-US" altLang="tr-TR" sz="1800" i="1"/>
                <a:t>execute()</a:t>
              </a:r>
              <a:endParaRPr lang="en-GB" altLang="tr-TR" sz="1800" i="1"/>
            </a:p>
          </p:txBody>
        </p:sp>
        <p:sp>
          <p:nvSpPr>
            <p:cNvPr id="38931" name="Line 22">
              <a:extLst>
                <a:ext uri="{FF2B5EF4-FFF2-40B4-BE49-F238E27FC236}">
                  <a16:creationId xmlns:a16="http://schemas.microsoft.com/office/drawing/2014/main" id="{75C9CB1F-D814-3ECE-862B-1524CA17F598}"/>
                </a:ext>
              </a:extLst>
            </p:cNvPr>
            <p:cNvSpPr>
              <a:spLocks noChangeShapeType="1"/>
            </p:cNvSpPr>
            <p:nvPr/>
          </p:nvSpPr>
          <p:spPr bwMode="auto">
            <a:xfrm>
              <a:off x="748" y="2432"/>
              <a:ext cx="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2" name="Line 23">
              <a:extLst>
                <a:ext uri="{FF2B5EF4-FFF2-40B4-BE49-F238E27FC236}">
                  <a16:creationId xmlns:a16="http://schemas.microsoft.com/office/drawing/2014/main" id="{600891A9-8625-698A-A1EF-533E45292E5E}"/>
                </a:ext>
              </a:extLst>
            </p:cNvPr>
            <p:cNvSpPr>
              <a:spLocks noChangeShapeType="1"/>
            </p:cNvSpPr>
            <p:nvPr/>
          </p:nvSpPr>
          <p:spPr bwMode="auto">
            <a:xfrm>
              <a:off x="748" y="2478"/>
              <a:ext cx="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8920" name="AutoShape 25">
            <a:extLst>
              <a:ext uri="{FF2B5EF4-FFF2-40B4-BE49-F238E27FC236}">
                <a16:creationId xmlns:a16="http://schemas.microsoft.com/office/drawing/2014/main" id="{0C96D8C6-C065-391E-0F29-3A88AA8C42D2}"/>
              </a:ext>
            </a:extLst>
          </p:cNvPr>
          <p:cNvSpPr>
            <a:spLocks noChangeArrowheads="1"/>
          </p:cNvSpPr>
          <p:nvPr/>
        </p:nvSpPr>
        <p:spPr bwMode="auto">
          <a:xfrm>
            <a:off x="6372225" y="2997200"/>
            <a:ext cx="287338" cy="287338"/>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cxnSp>
        <p:nvCxnSpPr>
          <p:cNvPr id="38921" name="AutoShape 26">
            <a:extLst>
              <a:ext uri="{FF2B5EF4-FFF2-40B4-BE49-F238E27FC236}">
                <a16:creationId xmlns:a16="http://schemas.microsoft.com/office/drawing/2014/main" id="{27F92301-F618-BA51-CB88-82B6B640D0FD}"/>
              </a:ext>
            </a:extLst>
          </p:cNvPr>
          <p:cNvCxnSpPr>
            <a:cxnSpLocks noChangeShapeType="1"/>
            <a:stCxn id="38920" idx="3"/>
            <a:endCxn id="38933" idx="0"/>
          </p:cNvCxnSpPr>
          <p:nvPr/>
        </p:nvCxnSpPr>
        <p:spPr bwMode="auto">
          <a:xfrm rot="5400000">
            <a:off x="5238751" y="3230562"/>
            <a:ext cx="1223962" cy="1331913"/>
          </a:xfrm>
          <a:prstGeom prst="bentConnector3">
            <a:avLst>
              <a:gd name="adj1" fmla="val 49935"/>
            </a:avLst>
          </a:prstGeom>
          <a:noFill/>
          <a:ln w="9525">
            <a:solidFill>
              <a:schemeClr val="tx1"/>
            </a:solidFill>
            <a:prstDash val="lgDash"/>
            <a:miter lim="800000"/>
            <a:headEnd/>
            <a:tailEnd/>
          </a:ln>
          <a:extLst>
            <a:ext uri="{909E8E84-426E-40DD-AFC4-6F175D3DCCD1}">
              <a14:hiddenFill xmlns:a14="http://schemas.microsoft.com/office/drawing/2010/main">
                <a:noFill/>
              </a14:hiddenFill>
            </a:ext>
          </a:extLst>
        </p:spPr>
      </p:cxnSp>
      <p:sp>
        <p:nvSpPr>
          <p:cNvPr id="38922" name="AutoShape 27">
            <a:extLst>
              <a:ext uri="{FF2B5EF4-FFF2-40B4-BE49-F238E27FC236}">
                <a16:creationId xmlns:a16="http://schemas.microsoft.com/office/drawing/2014/main" id="{532E1D7B-DC9A-1BD9-D798-12509A224745}"/>
              </a:ext>
            </a:extLst>
          </p:cNvPr>
          <p:cNvSpPr>
            <a:spLocks noChangeArrowheads="1"/>
          </p:cNvSpPr>
          <p:nvPr/>
        </p:nvSpPr>
        <p:spPr bwMode="auto">
          <a:xfrm>
            <a:off x="4643438" y="2205038"/>
            <a:ext cx="288925" cy="2159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38923" name="Line 28">
            <a:extLst>
              <a:ext uri="{FF2B5EF4-FFF2-40B4-BE49-F238E27FC236}">
                <a16:creationId xmlns:a16="http://schemas.microsoft.com/office/drawing/2014/main" id="{E811CC0B-D89D-8415-11DE-3433ACC51034}"/>
              </a:ext>
            </a:extLst>
          </p:cNvPr>
          <p:cNvSpPr>
            <a:spLocks noChangeShapeType="1"/>
          </p:cNvSpPr>
          <p:nvPr/>
        </p:nvSpPr>
        <p:spPr bwMode="auto">
          <a:xfrm>
            <a:off x="4919663" y="2311400"/>
            <a:ext cx="86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4" name="Line 29">
            <a:extLst>
              <a:ext uri="{FF2B5EF4-FFF2-40B4-BE49-F238E27FC236}">
                <a16:creationId xmlns:a16="http://schemas.microsoft.com/office/drawing/2014/main" id="{5D2E1BB6-4AC7-745A-F00E-6E93A33DC412}"/>
              </a:ext>
            </a:extLst>
          </p:cNvPr>
          <p:cNvSpPr>
            <a:spLocks noChangeShapeType="1"/>
          </p:cNvSpPr>
          <p:nvPr/>
        </p:nvSpPr>
        <p:spPr bwMode="auto">
          <a:xfrm flipH="1" flipV="1">
            <a:off x="2551113" y="4391025"/>
            <a:ext cx="1455737" cy="24130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38925" name="Line 30">
            <a:extLst>
              <a:ext uri="{FF2B5EF4-FFF2-40B4-BE49-F238E27FC236}">
                <a16:creationId xmlns:a16="http://schemas.microsoft.com/office/drawing/2014/main" id="{A31F37F6-8CA4-FDCD-DE72-9ACF0EB1237D}"/>
              </a:ext>
            </a:extLst>
          </p:cNvPr>
          <p:cNvSpPr>
            <a:spLocks noChangeShapeType="1"/>
          </p:cNvSpPr>
          <p:nvPr/>
        </p:nvSpPr>
        <p:spPr bwMode="auto">
          <a:xfrm>
            <a:off x="1757363" y="2586038"/>
            <a:ext cx="0" cy="987425"/>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cxnSp>
        <p:nvCxnSpPr>
          <p:cNvPr id="38926" name="AutoShape 31">
            <a:extLst>
              <a:ext uri="{FF2B5EF4-FFF2-40B4-BE49-F238E27FC236}">
                <a16:creationId xmlns:a16="http://schemas.microsoft.com/office/drawing/2014/main" id="{1862143A-ABBE-8FF9-AC58-3C1FC0E14BA4}"/>
              </a:ext>
            </a:extLst>
          </p:cNvPr>
          <p:cNvCxnSpPr>
            <a:cxnSpLocks noChangeShapeType="1"/>
            <a:stCxn id="38915" idx="1"/>
            <a:endCxn id="38933" idx="1"/>
          </p:cNvCxnSpPr>
          <p:nvPr/>
        </p:nvCxnSpPr>
        <p:spPr bwMode="auto">
          <a:xfrm rot="10800000" flipH="1" flipV="1">
            <a:off x="684213" y="2312988"/>
            <a:ext cx="3311525" cy="2808287"/>
          </a:xfrm>
          <a:prstGeom prst="bentConnector3">
            <a:avLst>
              <a:gd name="adj1" fmla="val -6903"/>
            </a:avLst>
          </a:prstGeom>
          <a:noFill/>
          <a:ln w="9525">
            <a:solidFill>
              <a:schemeClr val="tx1"/>
            </a:solidFill>
            <a:prstDash val="dash"/>
            <a:miter lim="800000"/>
            <a:headEnd/>
            <a:tailEnd type="arrow" w="med" len="med"/>
          </a:ln>
          <a:extLst>
            <a:ext uri="{909E8E84-426E-40DD-AFC4-6F175D3DCCD1}">
              <a14:hiddenFill xmlns:a14="http://schemas.microsoft.com/office/drawing/2010/main">
                <a:noFill/>
              </a14:hiddenFill>
            </a:ext>
          </a:extLst>
        </p:spPr>
      </p:cxnSp>
      <p:sp>
        <p:nvSpPr>
          <p:cNvPr id="38927" name="Text Box 32">
            <a:extLst>
              <a:ext uri="{FF2B5EF4-FFF2-40B4-BE49-F238E27FC236}">
                <a16:creationId xmlns:a16="http://schemas.microsoft.com/office/drawing/2014/main" id="{025EE906-FEAB-2C49-9108-F75EDF04738C}"/>
              </a:ext>
            </a:extLst>
          </p:cNvPr>
          <p:cNvSpPr txBox="1">
            <a:spLocks noChangeArrowheads="1"/>
          </p:cNvSpPr>
          <p:nvPr/>
        </p:nvSpPr>
        <p:spPr bwMode="auto">
          <a:xfrm>
            <a:off x="6765925" y="5662613"/>
            <a:ext cx="19800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a:t>
            </a:r>
            <a:r>
              <a:rPr lang="en-US" altLang="tr-TR" sz="1800" dirty="0" err="1"/>
              <a:t>receiver.action</a:t>
            </a:r>
            <a:r>
              <a:rPr lang="en-US" altLang="tr-TR" sz="1800" dirty="0"/>
              <a:t>()}</a:t>
            </a:r>
            <a:endParaRPr lang="en-GB" altLang="tr-TR" sz="1800" dirty="0"/>
          </a:p>
        </p:txBody>
      </p:sp>
      <p:sp>
        <p:nvSpPr>
          <p:cNvPr id="38928" name="Line 33">
            <a:extLst>
              <a:ext uri="{FF2B5EF4-FFF2-40B4-BE49-F238E27FC236}">
                <a16:creationId xmlns:a16="http://schemas.microsoft.com/office/drawing/2014/main" id="{75737D83-EC99-71DE-91C3-338C19DE4D0B}"/>
              </a:ext>
            </a:extLst>
          </p:cNvPr>
          <p:cNvSpPr>
            <a:spLocks noChangeShapeType="1"/>
          </p:cNvSpPr>
          <p:nvPr/>
        </p:nvSpPr>
        <p:spPr bwMode="auto">
          <a:xfrm>
            <a:off x="5197475" y="5426075"/>
            <a:ext cx="1684338" cy="3603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8929" name="Text Box 34">
            <a:extLst>
              <a:ext uri="{FF2B5EF4-FFF2-40B4-BE49-F238E27FC236}">
                <a16:creationId xmlns:a16="http://schemas.microsoft.com/office/drawing/2014/main" id="{3A4DA883-6297-32EB-1FDF-39CADAFB40B5}"/>
              </a:ext>
            </a:extLst>
          </p:cNvPr>
          <p:cNvSpPr txBox="1">
            <a:spLocks noChangeArrowheads="1"/>
          </p:cNvSpPr>
          <p:nvPr/>
        </p:nvSpPr>
        <p:spPr bwMode="auto">
          <a:xfrm>
            <a:off x="149225" y="6096000"/>
            <a:ext cx="6826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A concrete command has an instance of the receiver of the action</a:t>
            </a:r>
          </a:p>
          <a:p>
            <a:pPr lvl="1" eaLnBrk="1" hangingPunct="1">
              <a:spcBef>
                <a:spcPct val="0"/>
              </a:spcBef>
              <a:buClrTx/>
              <a:buSzTx/>
              <a:buFontTx/>
              <a:buNone/>
            </a:pPr>
            <a:r>
              <a:rPr lang="en-US" altLang="tr-TR" sz="1800"/>
              <a:t>and an execute method that invokes the receiver’s operation</a:t>
            </a:r>
            <a:endParaRPr lang="en-GB" altLang="tr-TR" sz="1800"/>
          </a:p>
        </p:txBody>
      </p:sp>
      <p:sp>
        <p:nvSpPr>
          <p:cNvPr id="2" name="TextBox 1">
            <a:extLst>
              <a:ext uri="{FF2B5EF4-FFF2-40B4-BE49-F238E27FC236}">
                <a16:creationId xmlns:a16="http://schemas.microsoft.com/office/drawing/2014/main" id="{FFF0D5CA-9392-A8D0-68C1-17448D9C87CB}"/>
              </a:ext>
            </a:extLst>
          </p:cNvPr>
          <p:cNvSpPr txBox="1"/>
          <p:nvPr/>
        </p:nvSpPr>
        <p:spPr>
          <a:xfrm>
            <a:off x="7564582" y="1431925"/>
            <a:ext cx="1518364" cy="369332"/>
          </a:xfrm>
          <a:prstGeom prst="rect">
            <a:avLst/>
          </a:prstGeom>
          <a:noFill/>
        </p:spPr>
        <p:txBody>
          <a:bodyPr wrap="none" rtlCol="0">
            <a:spAutoFit/>
          </a:bodyPr>
          <a:lstStyle/>
          <a:p>
            <a:r>
              <a:rPr lang="en-US" dirty="0">
                <a:solidFill>
                  <a:srgbClr val="C00000"/>
                </a:solidFill>
              </a:rPr>
              <a:t>Participants?</a:t>
            </a:r>
          </a:p>
        </p:txBody>
      </p:sp>
      <p:sp>
        <p:nvSpPr>
          <p:cNvPr id="3" name="TextBox 2">
            <a:extLst>
              <a:ext uri="{FF2B5EF4-FFF2-40B4-BE49-F238E27FC236}">
                <a16:creationId xmlns:a16="http://schemas.microsoft.com/office/drawing/2014/main" id="{0FE4972B-9F1A-85C8-0883-1F744F266A78}"/>
              </a:ext>
            </a:extLst>
          </p:cNvPr>
          <p:cNvSpPr txBox="1"/>
          <p:nvPr/>
        </p:nvSpPr>
        <p:spPr>
          <a:xfrm>
            <a:off x="786581" y="5267325"/>
            <a:ext cx="1188146" cy="307777"/>
          </a:xfrm>
          <a:prstGeom prst="rect">
            <a:avLst/>
          </a:prstGeom>
          <a:noFill/>
        </p:spPr>
        <p:txBody>
          <a:bodyPr wrap="none" rtlCol="0">
            <a:spAutoFit/>
          </a:bodyPr>
          <a:lstStyle/>
          <a:p>
            <a:r>
              <a:rPr lang="en-US" sz="1400" dirty="0"/>
              <a:t>&lt;&lt;creates&gt;&gt;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288A9666-6C5D-1B1E-9F25-0F393CEBFAA9}"/>
              </a:ext>
            </a:extLst>
          </p:cNvPr>
          <p:cNvSpPr>
            <a:spLocks noGrp="1" noChangeArrowheads="1"/>
          </p:cNvSpPr>
          <p:nvPr>
            <p:ph type="title"/>
          </p:nvPr>
        </p:nvSpPr>
        <p:spPr>
          <a:xfrm>
            <a:off x="457200" y="60325"/>
            <a:ext cx="8229600" cy="1371600"/>
          </a:xfrm>
        </p:spPr>
        <p:txBody>
          <a:bodyPr/>
          <a:lstStyle/>
          <a:p>
            <a:r>
              <a:rPr lang="en-US" altLang="tr-TR" dirty="0"/>
              <a:t>Structure – Command Pattern</a:t>
            </a:r>
            <a:endParaRPr lang="tr-TR" altLang="tr-TR" dirty="0"/>
          </a:p>
        </p:txBody>
      </p:sp>
      <p:pic>
        <p:nvPicPr>
          <p:cNvPr id="39939" name="Picture 2">
            <a:extLst>
              <a:ext uri="{FF2B5EF4-FFF2-40B4-BE49-F238E27FC236}">
                <a16:creationId xmlns:a16="http://schemas.microsoft.com/office/drawing/2014/main" id="{EA2A8221-862E-D742-1D84-4087BEFBA8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816" y="1701799"/>
            <a:ext cx="7815455" cy="32104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9EA06A1-CB9C-6CDA-D00C-596996B5D6B1}"/>
              </a:ext>
            </a:extLst>
          </p:cNvPr>
          <p:cNvSpPr>
            <a:spLocks noGrp="1" noChangeArrowheads="1"/>
          </p:cNvSpPr>
          <p:nvPr>
            <p:ph type="title"/>
          </p:nvPr>
        </p:nvSpPr>
        <p:spPr>
          <a:xfrm>
            <a:off x="457200" y="60325"/>
            <a:ext cx="8229600" cy="1371600"/>
          </a:xfrm>
        </p:spPr>
        <p:txBody>
          <a:bodyPr/>
          <a:lstStyle/>
          <a:p>
            <a:r>
              <a:rPr lang="en-US" altLang="tr-TR" dirty="0"/>
              <a:t>Sequence Diagram – </a:t>
            </a:r>
            <a:r>
              <a:rPr lang="en-US" altLang="tr-TR" sz="3600" dirty="0"/>
              <a:t>Save Button</a:t>
            </a:r>
            <a:endParaRPr lang="en-US" altLang="tr-TR" dirty="0"/>
          </a:p>
        </p:txBody>
      </p:sp>
      <p:sp>
        <p:nvSpPr>
          <p:cNvPr id="41987" name="Text Box 3">
            <a:extLst>
              <a:ext uri="{FF2B5EF4-FFF2-40B4-BE49-F238E27FC236}">
                <a16:creationId xmlns:a16="http://schemas.microsoft.com/office/drawing/2014/main" id="{6AFC1760-F8FF-8818-23F9-80B1C3D638A7}"/>
              </a:ext>
            </a:extLst>
          </p:cNvPr>
          <p:cNvSpPr txBox="1">
            <a:spLocks noChangeArrowheads="1"/>
          </p:cNvSpPr>
          <p:nvPr/>
        </p:nvSpPr>
        <p:spPr bwMode="auto">
          <a:xfrm>
            <a:off x="5367338" y="3638550"/>
            <a:ext cx="2012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storeCommand(c)</a:t>
            </a:r>
          </a:p>
        </p:txBody>
      </p:sp>
      <p:sp>
        <p:nvSpPr>
          <p:cNvPr id="41988" name="Text Box 4">
            <a:extLst>
              <a:ext uri="{FF2B5EF4-FFF2-40B4-BE49-F238E27FC236}">
                <a16:creationId xmlns:a16="http://schemas.microsoft.com/office/drawing/2014/main" id="{0AE5AD40-4657-17B7-F39D-100E9C7BCEBF}"/>
              </a:ext>
            </a:extLst>
          </p:cNvPr>
          <p:cNvSpPr txBox="1">
            <a:spLocks noChangeArrowheads="1"/>
          </p:cNvSpPr>
          <p:nvPr/>
        </p:nvSpPr>
        <p:spPr bwMode="auto">
          <a:xfrm>
            <a:off x="3203575" y="2852738"/>
            <a:ext cx="13516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create(doc)</a:t>
            </a:r>
          </a:p>
        </p:txBody>
      </p:sp>
      <p:sp>
        <p:nvSpPr>
          <p:cNvPr id="41989" name="Rectangle 5">
            <a:extLst>
              <a:ext uri="{FF2B5EF4-FFF2-40B4-BE49-F238E27FC236}">
                <a16:creationId xmlns:a16="http://schemas.microsoft.com/office/drawing/2014/main" id="{5DB9AA57-D250-BDA5-7779-B32F457E9234}"/>
              </a:ext>
            </a:extLst>
          </p:cNvPr>
          <p:cNvSpPr>
            <a:spLocks noChangeArrowheads="1"/>
          </p:cNvSpPr>
          <p:nvPr/>
        </p:nvSpPr>
        <p:spPr bwMode="auto">
          <a:xfrm>
            <a:off x="611188" y="1773238"/>
            <a:ext cx="1679575" cy="3921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doc:Document</a:t>
            </a:r>
          </a:p>
        </p:txBody>
      </p:sp>
      <p:sp>
        <p:nvSpPr>
          <p:cNvPr id="41990" name="Rectangle 7">
            <a:extLst>
              <a:ext uri="{FF2B5EF4-FFF2-40B4-BE49-F238E27FC236}">
                <a16:creationId xmlns:a16="http://schemas.microsoft.com/office/drawing/2014/main" id="{5E6B5B47-722B-EDE1-FB9F-52A61E6FABF8}"/>
              </a:ext>
            </a:extLst>
          </p:cNvPr>
          <p:cNvSpPr>
            <a:spLocks noChangeArrowheads="1"/>
          </p:cNvSpPr>
          <p:nvPr/>
        </p:nvSpPr>
        <p:spPr bwMode="auto">
          <a:xfrm>
            <a:off x="2700338" y="1773238"/>
            <a:ext cx="1081087" cy="4048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e:Editor</a:t>
            </a:r>
          </a:p>
        </p:txBody>
      </p:sp>
      <p:sp>
        <p:nvSpPr>
          <p:cNvPr id="41991" name="Line 8">
            <a:extLst>
              <a:ext uri="{FF2B5EF4-FFF2-40B4-BE49-F238E27FC236}">
                <a16:creationId xmlns:a16="http://schemas.microsoft.com/office/drawing/2014/main" id="{266FC594-532A-A6E1-17BD-9BE4B490CC2F}"/>
              </a:ext>
            </a:extLst>
          </p:cNvPr>
          <p:cNvSpPr>
            <a:spLocks noChangeShapeType="1"/>
          </p:cNvSpPr>
          <p:nvPr/>
        </p:nvSpPr>
        <p:spPr bwMode="auto">
          <a:xfrm>
            <a:off x="1403350" y="2205038"/>
            <a:ext cx="0" cy="3311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2" name="Rectangle 9">
            <a:extLst>
              <a:ext uri="{FF2B5EF4-FFF2-40B4-BE49-F238E27FC236}">
                <a16:creationId xmlns:a16="http://schemas.microsoft.com/office/drawing/2014/main" id="{F4D08FC6-441E-E44A-66BE-20AD5F6CCC55}"/>
              </a:ext>
            </a:extLst>
          </p:cNvPr>
          <p:cNvSpPr>
            <a:spLocks noChangeArrowheads="1"/>
          </p:cNvSpPr>
          <p:nvPr/>
        </p:nvSpPr>
        <p:spPr bwMode="auto">
          <a:xfrm>
            <a:off x="6516688" y="1773238"/>
            <a:ext cx="1370012" cy="3921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b:Button</a:t>
            </a:r>
          </a:p>
        </p:txBody>
      </p:sp>
      <p:sp>
        <p:nvSpPr>
          <p:cNvPr id="41993" name="Line 14">
            <a:extLst>
              <a:ext uri="{FF2B5EF4-FFF2-40B4-BE49-F238E27FC236}">
                <a16:creationId xmlns:a16="http://schemas.microsoft.com/office/drawing/2014/main" id="{311EF67E-D066-854D-23D1-EB582C875151}"/>
              </a:ext>
            </a:extLst>
          </p:cNvPr>
          <p:cNvSpPr>
            <a:spLocks noChangeShapeType="1"/>
          </p:cNvSpPr>
          <p:nvPr/>
        </p:nvSpPr>
        <p:spPr bwMode="auto">
          <a:xfrm>
            <a:off x="3276600" y="3644900"/>
            <a:ext cx="4103688"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1994" name="Line 15">
            <a:extLst>
              <a:ext uri="{FF2B5EF4-FFF2-40B4-BE49-F238E27FC236}">
                <a16:creationId xmlns:a16="http://schemas.microsoft.com/office/drawing/2014/main" id="{4CFCFCDB-DC58-C2BF-AD9D-9DF4B7800D54}"/>
              </a:ext>
            </a:extLst>
          </p:cNvPr>
          <p:cNvSpPr>
            <a:spLocks noChangeShapeType="1"/>
          </p:cNvSpPr>
          <p:nvPr/>
        </p:nvSpPr>
        <p:spPr bwMode="auto">
          <a:xfrm>
            <a:off x="3276600" y="2852738"/>
            <a:ext cx="1944688"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1995" name="Rectangle 16">
            <a:extLst>
              <a:ext uri="{FF2B5EF4-FFF2-40B4-BE49-F238E27FC236}">
                <a16:creationId xmlns:a16="http://schemas.microsoft.com/office/drawing/2014/main" id="{FC5ECD96-1594-42B2-084F-9B9FF2FFF305}"/>
              </a:ext>
            </a:extLst>
          </p:cNvPr>
          <p:cNvSpPr>
            <a:spLocks noChangeArrowheads="1"/>
          </p:cNvSpPr>
          <p:nvPr/>
        </p:nvSpPr>
        <p:spPr bwMode="auto">
          <a:xfrm>
            <a:off x="4411663" y="2241550"/>
            <a:ext cx="1812925" cy="39528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dirty="0"/>
              <a:t>c:SaveCommand</a:t>
            </a:r>
          </a:p>
        </p:txBody>
      </p:sp>
      <p:sp>
        <p:nvSpPr>
          <p:cNvPr id="41996" name="Line 19">
            <a:extLst>
              <a:ext uri="{FF2B5EF4-FFF2-40B4-BE49-F238E27FC236}">
                <a16:creationId xmlns:a16="http://schemas.microsoft.com/office/drawing/2014/main" id="{64D4240B-C263-ECC3-75DC-F6FA0F54869E}"/>
              </a:ext>
            </a:extLst>
          </p:cNvPr>
          <p:cNvSpPr>
            <a:spLocks noChangeShapeType="1"/>
          </p:cNvSpPr>
          <p:nvPr/>
        </p:nvSpPr>
        <p:spPr bwMode="auto">
          <a:xfrm>
            <a:off x="7524750" y="2205038"/>
            <a:ext cx="0" cy="3311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7" name="Line 17">
            <a:extLst>
              <a:ext uri="{FF2B5EF4-FFF2-40B4-BE49-F238E27FC236}">
                <a16:creationId xmlns:a16="http://schemas.microsoft.com/office/drawing/2014/main" id="{B61F0D10-FC18-6C6A-7481-D353C2C2D328}"/>
              </a:ext>
            </a:extLst>
          </p:cNvPr>
          <p:cNvSpPr>
            <a:spLocks noChangeShapeType="1"/>
          </p:cNvSpPr>
          <p:nvPr/>
        </p:nvSpPr>
        <p:spPr bwMode="auto">
          <a:xfrm>
            <a:off x="3132138" y="2205038"/>
            <a:ext cx="0" cy="3311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8" name="Line 18">
            <a:extLst>
              <a:ext uri="{FF2B5EF4-FFF2-40B4-BE49-F238E27FC236}">
                <a16:creationId xmlns:a16="http://schemas.microsoft.com/office/drawing/2014/main" id="{C87A223B-7F85-4E28-FF4B-6DE4C8876C62}"/>
              </a:ext>
            </a:extLst>
          </p:cNvPr>
          <p:cNvSpPr>
            <a:spLocks noChangeShapeType="1"/>
          </p:cNvSpPr>
          <p:nvPr/>
        </p:nvSpPr>
        <p:spPr bwMode="auto">
          <a:xfrm>
            <a:off x="5364163" y="2636838"/>
            <a:ext cx="0" cy="2952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9" name="Rectangle 13">
            <a:extLst>
              <a:ext uri="{FF2B5EF4-FFF2-40B4-BE49-F238E27FC236}">
                <a16:creationId xmlns:a16="http://schemas.microsoft.com/office/drawing/2014/main" id="{3F616861-A8BD-601E-EAF7-632563E884E4}"/>
              </a:ext>
            </a:extLst>
          </p:cNvPr>
          <p:cNvSpPr>
            <a:spLocks noChangeArrowheads="1"/>
          </p:cNvSpPr>
          <p:nvPr/>
        </p:nvSpPr>
        <p:spPr bwMode="auto">
          <a:xfrm>
            <a:off x="5219700" y="2708275"/>
            <a:ext cx="288925" cy="71278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00" name="Rectangle 11">
            <a:extLst>
              <a:ext uri="{FF2B5EF4-FFF2-40B4-BE49-F238E27FC236}">
                <a16:creationId xmlns:a16="http://schemas.microsoft.com/office/drawing/2014/main" id="{08C2C0D4-11B7-EAC6-AE9B-078E027B50D8}"/>
              </a:ext>
            </a:extLst>
          </p:cNvPr>
          <p:cNvSpPr>
            <a:spLocks noChangeArrowheads="1"/>
          </p:cNvSpPr>
          <p:nvPr/>
        </p:nvSpPr>
        <p:spPr bwMode="auto">
          <a:xfrm>
            <a:off x="2987675" y="2565400"/>
            <a:ext cx="288925" cy="15367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01" name="Rectangle 20">
            <a:extLst>
              <a:ext uri="{FF2B5EF4-FFF2-40B4-BE49-F238E27FC236}">
                <a16:creationId xmlns:a16="http://schemas.microsoft.com/office/drawing/2014/main" id="{906EBFD8-C530-57CC-5C8B-C1C0D55C0010}"/>
              </a:ext>
            </a:extLst>
          </p:cNvPr>
          <p:cNvSpPr>
            <a:spLocks noChangeArrowheads="1"/>
          </p:cNvSpPr>
          <p:nvPr/>
        </p:nvSpPr>
        <p:spPr bwMode="auto">
          <a:xfrm>
            <a:off x="7380288" y="3508375"/>
            <a:ext cx="225425" cy="468313"/>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02" name="Text Box 21">
            <a:extLst>
              <a:ext uri="{FF2B5EF4-FFF2-40B4-BE49-F238E27FC236}">
                <a16:creationId xmlns:a16="http://schemas.microsoft.com/office/drawing/2014/main" id="{2D04F0E6-BAB8-3E5B-04CE-A78563CFD35F}"/>
              </a:ext>
            </a:extLst>
          </p:cNvPr>
          <p:cNvSpPr txBox="1">
            <a:spLocks noChangeArrowheads="1"/>
          </p:cNvSpPr>
          <p:nvPr/>
        </p:nvSpPr>
        <p:spPr bwMode="auto">
          <a:xfrm>
            <a:off x="7835900" y="4748213"/>
            <a:ext cx="6334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click</a:t>
            </a:r>
          </a:p>
        </p:txBody>
      </p:sp>
      <p:sp>
        <p:nvSpPr>
          <p:cNvPr id="42003" name="Line 22">
            <a:extLst>
              <a:ext uri="{FF2B5EF4-FFF2-40B4-BE49-F238E27FC236}">
                <a16:creationId xmlns:a16="http://schemas.microsoft.com/office/drawing/2014/main" id="{306A9E81-AE14-DDDF-E073-B0A57CED656D}"/>
              </a:ext>
            </a:extLst>
          </p:cNvPr>
          <p:cNvSpPr>
            <a:spLocks noChangeShapeType="1"/>
          </p:cNvSpPr>
          <p:nvPr/>
        </p:nvSpPr>
        <p:spPr bwMode="auto">
          <a:xfrm flipH="1">
            <a:off x="5492750" y="4689475"/>
            <a:ext cx="187325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2004" name="Rectangle 23">
            <a:extLst>
              <a:ext uri="{FF2B5EF4-FFF2-40B4-BE49-F238E27FC236}">
                <a16:creationId xmlns:a16="http://schemas.microsoft.com/office/drawing/2014/main" id="{1FDBC7C8-931B-C4C3-CE80-82042024BB80}"/>
              </a:ext>
            </a:extLst>
          </p:cNvPr>
          <p:cNvSpPr>
            <a:spLocks noChangeArrowheads="1"/>
          </p:cNvSpPr>
          <p:nvPr/>
        </p:nvSpPr>
        <p:spPr bwMode="auto">
          <a:xfrm>
            <a:off x="5192713" y="4635500"/>
            <a:ext cx="288925" cy="71278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05" name="Rectangle 24">
            <a:extLst>
              <a:ext uri="{FF2B5EF4-FFF2-40B4-BE49-F238E27FC236}">
                <a16:creationId xmlns:a16="http://schemas.microsoft.com/office/drawing/2014/main" id="{27F1F758-67BE-AEFE-7247-E532D91118A7}"/>
              </a:ext>
            </a:extLst>
          </p:cNvPr>
          <p:cNvSpPr>
            <a:spLocks noChangeArrowheads="1"/>
          </p:cNvSpPr>
          <p:nvPr/>
        </p:nvSpPr>
        <p:spPr bwMode="auto">
          <a:xfrm>
            <a:off x="1217613" y="4697413"/>
            <a:ext cx="288925" cy="712787"/>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06" name="Line 25">
            <a:extLst>
              <a:ext uri="{FF2B5EF4-FFF2-40B4-BE49-F238E27FC236}">
                <a16:creationId xmlns:a16="http://schemas.microsoft.com/office/drawing/2014/main" id="{D3146AB5-E5FB-B174-CDEA-AC9D09C3B40B}"/>
              </a:ext>
            </a:extLst>
          </p:cNvPr>
          <p:cNvSpPr>
            <a:spLocks noChangeShapeType="1"/>
          </p:cNvSpPr>
          <p:nvPr/>
        </p:nvSpPr>
        <p:spPr bwMode="auto">
          <a:xfrm flipH="1">
            <a:off x="1465263" y="4840288"/>
            <a:ext cx="3671887"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2007" name="Text Box 26">
            <a:extLst>
              <a:ext uri="{FF2B5EF4-FFF2-40B4-BE49-F238E27FC236}">
                <a16:creationId xmlns:a16="http://schemas.microsoft.com/office/drawing/2014/main" id="{84A0DFB9-0876-E245-4678-73C655A48B61}"/>
              </a:ext>
            </a:extLst>
          </p:cNvPr>
          <p:cNvSpPr txBox="1">
            <a:spLocks noChangeArrowheads="1"/>
          </p:cNvSpPr>
          <p:nvPr/>
        </p:nvSpPr>
        <p:spPr bwMode="auto">
          <a:xfrm>
            <a:off x="1492850" y="4512747"/>
            <a:ext cx="8258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save()</a:t>
            </a:r>
          </a:p>
        </p:txBody>
      </p:sp>
      <p:sp>
        <p:nvSpPr>
          <p:cNvPr id="42008" name="Text Box 29">
            <a:extLst>
              <a:ext uri="{FF2B5EF4-FFF2-40B4-BE49-F238E27FC236}">
                <a16:creationId xmlns:a16="http://schemas.microsoft.com/office/drawing/2014/main" id="{6A82A54A-CC1A-811A-56CB-7834A051959D}"/>
              </a:ext>
            </a:extLst>
          </p:cNvPr>
          <p:cNvSpPr txBox="1">
            <a:spLocks noChangeArrowheads="1"/>
          </p:cNvSpPr>
          <p:nvPr/>
        </p:nvSpPr>
        <p:spPr bwMode="auto">
          <a:xfrm>
            <a:off x="82550" y="1223964"/>
            <a:ext cx="996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receiver</a:t>
            </a:r>
          </a:p>
        </p:txBody>
      </p:sp>
      <p:sp>
        <p:nvSpPr>
          <p:cNvPr id="42009" name="Line 30">
            <a:extLst>
              <a:ext uri="{FF2B5EF4-FFF2-40B4-BE49-F238E27FC236}">
                <a16:creationId xmlns:a16="http://schemas.microsoft.com/office/drawing/2014/main" id="{B67EFC27-A89A-F7D3-6054-42D7C439CEA5}"/>
              </a:ext>
            </a:extLst>
          </p:cNvPr>
          <p:cNvSpPr>
            <a:spLocks noChangeShapeType="1"/>
          </p:cNvSpPr>
          <p:nvPr/>
        </p:nvSpPr>
        <p:spPr bwMode="auto">
          <a:xfrm>
            <a:off x="1079500" y="1447800"/>
            <a:ext cx="179388" cy="32543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10" name="Text Box 31">
            <a:extLst>
              <a:ext uri="{FF2B5EF4-FFF2-40B4-BE49-F238E27FC236}">
                <a16:creationId xmlns:a16="http://schemas.microsoft.com/office/drawing/2014/main" id="{048E6063-3D2C-32C9-C95F-B4ECB866E594}"/>
              </a:ext>
            </a:extLst>
          </p:cNvPr>
          <p:cNvSpPr txBox="1">
            <a:spLocks noChangeArrowheads="1"/>
          </p:cNvSpPr>
          <p:nvPr/>
        </p:nvSpPr>
        <p:spPr bwMode="auto">
          <a:xfrm>
            <a:off x="8008938" y="1342230"/>
            <a:ext cx="920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invoker</a:t>
            </a:r>
          </a:p>
        </p:txBody>
      </p:sp>
      <p:sp>
        <p:nvSpPr>
          <p:cNvPr id="42011" name="Line 32">
            <a:extLst>
              <a:ext uri="{FF2B5EF4-FFF2-40B4-BE49-F238E27FC236}">
                <a16:creationId xmlns:a16="http://schemas.microsoft.com/office/drawing/2014/main" id="{729E78D6-6039-5291-2815-4D3CB387C317}"/>
              </a:ext>
            </a:extLst>
          </p:cNvPr>
          <p:cNvSpPr>
            <a:spLocks noChangeShapeType="1"/>
          </p:cNvSpPr>
          <p:nvPr/>
        </p:nvSpPr>
        <p:spPr bwMode="auto">
          <a:xfrm flipH="1">
            <a:off x="7596188" y="1576387"/>
            <a:ext cx="412750" cy="2682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12" name="Rectangle 20">
            <a:extLst>
              <a:ext uri="{FF2B5EF4-FFF2-40B4-BE49-F238E27FC236}">
                <a16:creationId xmlns:a16="http://schemas.microsoft.com/office/drawing/2014/main" id="{3B1628B8-E664-564B-68EA-00E8D1518219}"/>
              </a:ext>
            </a:extLst>
          </p:cNvPr>
          <p:cNvSpPr>
            <a:spLocks noChangeArrowheads="1"/>
          </p:cNvSpPr>
          <p:nvPr/>
        </p:nvSpPr>
        <p:spPr bwMode="auto">
          <a:xfrm>
            <a:off x="7380288" y="4478338"/>
            <a:ext cx="225425" cy="46831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13" name="Line 22">
            <a:extLst>
              <a:ext uri="{FF2B5EF4-FFF2-40B4-BE49-F238E27FC236}">
                <a16:creationId xmlns:a16="http://schemas.microsoft.com/office/drawing/2014/main" id="{3EE7CA7D-1F15-2C4A-F25A-ECBD056DD5D8}"/>
              </a:ext>
            </a:extLst>
          </p:cNvPr>
          <p:cNvSpPr>
            <a:spLocks noChangeShapeType="1"/>
          </p:cNvSpPr>
          <p:nvPr/>
        </p:nvSpPr>
        <p:spPr bwMode="auto">
          <a:xfrm flipH="1" flipV="1">
            <a:off x="7593013" y="4654550"/>
            <a:ext cx="1023937"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2014" name="Text Box 21">
            <a:extLst>
              <a:ext uri="{FF2B5EF4-FFF2-40B4-BE49-F238E27FC236}">
                <a16:creationId xmlns:a16="http://schemas.microsoft.com/office/drawing/2014/main" id="{87931D55-FEFA-7427-4549-CDFA271180DE}"/>
              </a:ext>
            </a:extLst>
          </p:cNvPr>
          <p:cNvSpPr txBox="1">
            <a:spLocks noChangeArrowheads="1"/>
          </p:cNvSpPr>
          <p:nvPr/>
        </p:nvSpPr>
        <p:spPr bwMode="auto">
          <a:xfrm>
            <a:off x="5675313" y="4872038"/>
            <a:ext cx="1136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execute()</a:t>
            </a:r>
          </a:p>
        </p:txBody>
      </p:sp>
      <p:cxnSp>
        <p:nvCxnSpPr>
          <p:cNvPr id="32" name="31 Düz Bağlayıcı">
            <a:extLst>
              <a:ext uri="{FF2B5EF4-FFF2-40B4-BE49-F238E27FC236}">
                <a16:creationId xmlns:a16="http://schemas.microsoft.com/office/drawing/2014/main" id="{E85E6E5C-EEE6-CA0B-EB99-CA9F729FA430}"/>
              </a:ext>
            </a:extLst>
          </p:cNvPr>
          <p:cNvCxnSpPr/>
          <p:nvPr/>
        </p:nvCxnSpPr>
        <p:spPr>
          <a:xfrm rot="10800000" flipV="1">
            <a:off x="7397750" y="4017963"/>
            <a:ext cx="292100" cy="222250"/>
          </a:xfrm>
          <a:prstGeom prst="line">
            <a:avLst/>
          </a:prstGeom>
        </p:spPr>
        <p:style>
          <a:lnRef idx="1">
            <a:schemeClr val="dk1"/>
          </a:lnRef>
          <a:fillRef idx="0">
            <a:schemeClr val="dk1"/>
          </a:fillRef>
          <a:effectRef idx="0">
            <a:schemeClr val="dk1"/>
          </a:effectRef>
          <a:fontRef idx="minor">
            <a:schemeClr val="tx1"/>
          </a:fontRef>
        </p:style>
      </p:cxnSp>
      <p:cxnSp>
        <p:nvCxnSpPr>
          <p:cNvPr id="33" name="32 Düz Bağlayıcı">
            <a:extLst>
              <a:ext uri="{FF2B5EF4-FFF2-40B4-BE49-F238E27FC236}">
                <a16:creationId xmlns:a16="http://schemas.microsoft.com/office/drawing/2014/main" id="{9FC6EE0A-49CE-4F20-037F-365C94426DD8}"/>
              </a:ext>
            </a:extLst>
          </p:cNvPr>
          <p:cNvCxnSpPr/>
          <p:nvPr/>
        </p:nvCxnSpPr>
        <p:spPr>
          <a:xfrm rot="10800000" flipV="1">
            <a:off x="7440613" y="4059238"/>
            <a:ext cx="290512" cy="222250"/>
          </a:xfrm>
          <a:prstGeom prst="line">
            <a:avLst/>
          </a:prstGeom>
        </p:spPr>
        <p:style>
          <a:lnRef idx="1">
            <a:schemeClr val="dk1"/>
          </a:lnRef>
          <a:fillRef idx="0">
            <a:schemeClr val="dk1"/>
          </a:fillRef>
          <a:effectRef idx="0">
            <a:schemeClr val="dk1"/>
          </a:effectRef>
          <a:fontRef idx="minor">
            <a:schemeClr val="tx1"/>
          </a:fontRef>
        </p:style>
      </p:cxnSp>
      <p:cxnSp>
        <p:nvCxnSpPr>
          <p:cNvPr id="34" name="33 Düz Bağlayıcı">
            <a:extLst>
              <a:ext uri="{FF2B5EF4-FFF2-40B4-BE49-F238E27FC236}">
                <a16:creationId xmlns:a16="http://schemas.microsoft.com/office/drawing/2014/main" id="{18927A44-C69D-276C-93FE-50C435EFC7E8}"/>
              </a:ext>
            </a:extLst>
          </p:cNvPr>
          <p:cNvCxnSpPr/>
          <p:nvPr/>
        </p:nvCxnSpPr>
        <p:spPr>
          <a:xfrm rot="10800000" flipV="1">
            <a:off x="5167313" y="4073525"/>
            <a:ext cx="292100" cy="220663"/>
          </a:xfrm>
          <a:prstGeom prst="line">
            <a:avLst/>
          </a:prstGeom>
        </p:spPr>
        <p:style>
          <a:lnRef idx="1">
            <a:schemeClr val="dk1"/>
          </a:lnRef>
          <a:fillRef idx="0">
            <a:schemeClr val="dk1"/>
          </a:fillRef>
          <a:effectRef idx="0">
            <a:schemeClr val="dk1"/>
          </a:effectRef>
          <a:fontRef idx="minor">
            <a:schemeClr val="tx1"/>
          </a:fontRef>
        </p:style>
      </p:cxnSp>
      <p:cxnSp>
        <p:nvCxnSpPr>
          <p:cNvPr id="35" name="34 Düz Bağlayıcı">
            <a:extLst>
              <a:ext uri="{FF2B5EF4-FFF2-40B4-BE49-F238E27FC236}">
                <a16:creationId xmlns:a16="http://schemas.microsoft.com/office/drawing/2014/main" id="{483641E0-4F14-5791-7E2E-0835D41337D7}"/>
              </a:ext>
            </a:extLst>
          </p:cNvPr>
          <p:cNvCxnSpPr/>
          <p:nvPr/>
        </p:nvCxnSpPr>
        <p:spPr>
          <a:xfrm rot="10800000" flipV="1">
            <a:off x="5208588" y="4114800"/>
            <a:ext cx="292100" cy="222250"/>
          </a:xfrm>
          <a:prstGeom prst="line">
            <a:avLst/>
          </a:prstGeom>
        </p:spPr>
        <p:style>
          <a:lnRef idx="1">
            <a:schemeClr val="dk1"/>
          </a:lnRef>
          <a:fillRef idx="0">
            <a:schemeClr val="dk1"/>
          </a:fillRef>
          <a:effectRef idx="0">
            <a:schemeClr val="dk1"/>
          </a:effectRef>
          <a:fontRef idx="minor">
            <a:schemeClr val="tx1"/>
          </a:fontRef>
        </p:style>
      </p:cxnSp>
      <p:cxnSp>
        <p:nvCxnSpPr>
          <p:cNvPr id="36" name="35 Düz Bağlayıcı">
            <a:extLst>
              <a:ext uri="{FF2B5EF4-FFF2-40B4-BE49-F238E27FC236}">
                <a16:creationId xmlns:a16="http://schemas.microsoft.com/office/drawing/2014/main" id="{3C79BA5A-DFD6-68B5-DF5C-BF9907704A28}"/>
              </a:ext>
            </a:extLst>
          </p:cNvPr>
          <p:cNvCxnSpPr/>
          <p:nvPr/>
        </p:nvCxnSpPr>
        <p:spPr>
          <a:xfrm rot="10800000" flipV="1">
            <a:off x="2992438" y="4184650"/>
            <a:ext cx="290512" cy="220663"/>
          </a:xfrm>
          <a:prstGeom prst="line">
            <a:avLst/>
          </a:prstGeom>
        </p:spPr>
        <p:style>
          <a:lnRef idx="1">
            <a:schemeClr val="dk1"/>
          </a:lnRef>
          <a:fillRef idx="0">
            <a:schemeClr val="dk1"/>
          </a:fillRef>
          <a:effectRef idx="0">
            <a:schemeClr val="dk1"/>
          </a:effectRef>
          <a:fontRef idx="minor">
            <a:schemeClr val="tx1"/>
          </a:fontRef>
        </p:style>
      </p:cxnSp>
      <p:cxnSp>
        <p:nvCxnSpPr>
          <p:cNvPr id="37" name="36 Düz Bağlayıcı">
            <a:extLst>
              <a:ext uri="{FF2B5EF4-FFF2-40B4-BE49-F238E27FC236}">
                <a16:creationId xmlns:a16="http://schemas.microsoft.com/office/drawing/2014/main" id="{EDCB66B0-175E-F789-2BD8-FBDF08262879}"/>
              </a:ext>
            </a:extLst>
          </p:cNvPr>
          <p:cNvCxnSpPr/>
          <p:nvPr/>
        </p:nvCxnSpPr>
        <p:spPr>
          <a:xfrm rot="10800000" flipV="1">
            <a:off x="3033713" y="4225925"/>
            <a:ext cx="292100" cy="220663"/>
          </a:xfrm>
          <a:prstGeom prst="line">
            <a:avLst/>
          </a:prstGeom>
        </p:spPr>
        <p:style>
          <a:lnRef idx="1">
            <a:schemeClr val="dk1"/>
          </a:lnRef>
          <a:fillRef idx="0">
            <a:schemeClr val="dk1"/>
          </a:fillRef>
          <a:effectRef idx="0">
            <a:schemeClr val="dk1"/>
          </a:effectRef>
          <a:fontRef idx="minor">
            <a:schemeClr val="tx1"/>
          </a:fontRef>
        </p:style>
      </p:cxnSp>
      <p:cxnSp>
        <p:nvCxnSpPr>
          <p:cNvPr id="38" name="37 Düz Bağlayıcı">
            <a:extLst>
              <a:ext uri="{FF2B5EF4-FFF2-40B4-BE49-F238E27FC236}">
                <a16:creationId xmlns:a16="http://schemas.microsoft.com/office/drawing/2014/main" id="{D37CFD5E-EB45-3763-1342-E8F9ADBC15A1}"/>
              </a:ext>
            </a:extLst>
          </p:cNvPr>
          <p:cNvCxnSpPr/>
          <p:nvPr/>
        </p:nvCxnSpPr>
        <p:spPr>
          <a:xfrm rot="10800000" flipV="1">
            <a:off x="1260475" y="4225925"/>
            <a:ext cx="290513" cy="220663"/>
          </a:xfrm>
          <a:prstGeom prst="line">
            <a:avLst/>
          </a:prstGeom>
        </p:spPr>
        <p:style>
          <a:lnRef idx="1">
            <a:schemeClr val="dk1"/>
          </a:lnRef>
          <a:fillRef idx="0">
            <a:schemeClr val="dk1"/>
          </a:fillRef>
          <a:effectRef idx="0">
            <a:schemeClr val="dk1"/>
          </a:effectRef>
          <a:fontRef idx="minor">
            <a:schemeClr val="tx1"/>
          </a:fontRef>
        </p:style>
      </p:cxnSp>
      <p:cxnSp>
        <p:nvCxnSpPr>
          <p:cNvPr id="39" name="38 Düz Bağlayıcı">
            <a:extLst>
              <a:ext uri="{FF2B5EF4-FFF2-40B4-BE49-F238E27FC236}">
                <a16:creationId xmlns:a16="http://schemas.microsoft.com/office/drawing/2014/main" id="{90C872D1-3FAE-C710-B076-A9547118DD5D}"/>
              </a:ext>
            </a:extLst>
          </p:cNvPr>
          <p:cNvCxnSpPr/>
          <p:nvPr/>
        </p:nvCxnSpPr>
        <p:spPr>
          <a:xfrm rot="10800000" flipV="1">
            <a:off x="1301750" y="4267200"/>
            <a:ext cx="292100" cy="22225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9EA06A1-CB9C-6CDA-D00C-596996B5D6B1}"/>
              </a:ext>
            </a:extLst>
          </p:cNvPr>
          <p:cNvSpPr>
            <a:spLocks noGrp="1" noChangeArrowheads="1"/>
          </p:cNvSpPr>
          <p:nvPr>
            <p:ph type="title"/>
          </p:nvPr>
        </p:nvSpPr>
        <p:spPr>
          <a:xfrm>
            <a:off x="457200" y="60325"/>
            <a:ext cx="8229600" cy="1371600"/>
          </a:xfrm>
        </p:spPr>
        <p:txBody>
          <a:bodyPr/>
          <a:lstStyle/>
          <a:p>
            <a:r>
              <a:rPr lang="en-US" altLang="tr-TR" dirty="0"/>
              <a:t>Sequence Diagram --Copy</a:t>
            </a:r>
          </a:p>
        </p:txBody>
      </p:sp>
      <p:sp>
        <p:nvSpPr>
          <p:cNvPr id="41987" name="Text Box 3">
            <a:extLst>
              <a:ext uri="{FF2B5EF4-FFF2-40B4-BE49-F238E27FC236}">
                <a16:creationId xmlns:a16="http://schemas.microsoft.com/office/drawing/2014/main" id="{6AFC1760-F8FF-8818-23F9-80B1C3D638A7}"/>
              </a:ext>
            </a:extLst>
          </p:cNvPr>
          <p:cNvSpPr txBox="1">
            <a:spLocks noChangeArrowheads="1"/>
          </p:cNvSpPr>
          <p:nvPr/>
        </p:nvSpPr>
        <p:spPr bwMode="auto">
          <a:xfrm>
            <a:off x="5367338" y="3638550"/>
            <a:ext cx="2012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storeCommand(c)</a:t>
            </a:r>
          </a:p>
        </p:txBody>
      </p:sp>
      <p:sp>
        <p:nvSpPr>
          <p:cNvPr id="41988" name="Text Box 4">
            <a:extLst>
              <a:ext uri="{FF2B5EF4-FFF2-40B4-BE49-F238E27FC236}">
                <a16:creationId xmlns:a16="http://schemas.microsoft.com/office/drawing/2014/main" id="{0AE5AD40-4657-17B7-F39D-100E9C7BCEBF}"/>
              </a:ext>
            </a:extLst>
          </p:cNvPr>
          <p:cNvSpPr txBox="1">
            <a:spLocks noChangeArrowheads="1"/>
          </p:cNvSpPr>
          <p:nvPr/>
        </p:nvSpPr>
        <p:spPr bwMode="auto">
          <a:xfrm>
            <a:off x="3203575" y="2852738"/>
            <a:ext cx="133882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create(doc,</a:t>
            </a:r>
          </a:p>
          <a:p>
            <a:pPr eaLnBrk="1" hangingPunct="1">
              <a:spcBef>
                <a:spcPct val="0"/>
              </a:spcBef>
              <a:buClrTx/>
              <a:buSzTx/>
              <a:buFontTx/>
              <a:buNone/>
            </a:pPr>
            <a:r>
              <a:rPr lang="en-US" altLang="tr-TR" sz="1800" dirty="0"/>
              <a:t> </a:t>
            </a:r>
            <a:r>
              <a:rPr lang="en-US" altLang="tr-TR" sz="1800" dirty="0" err="1"/>
              <a:t>start,text</a:t>
            </a:r>
            <a:r>
              <a:rPr lang="en-US" altLang="tr-TR" sz="1800" dirty="0"/>
              <a:t>)</a:t>
            </a:r>
          </a:p>
        </p:txBody>
      </p:sp>
      <p:sp>
        <p:nvSpPr>
          <p:cNvPr id="41989" name="Rectangle 5">
            <a:extLst>
              <a:ext uri="{FF2B5EF4-FFF2-40B4-BE49-F238E27FC236}">
                <a16:creationId xmlns:a16="http://schemas.microsoft.com/office/drawing/2014/main" id="{5DB9AA57-D250-BDA5-7779-B32F457E9234}"/>
              </a:ext>
            </a:extLst>
          </p:cNvPr>
          <p:cNvSpPr>
            <a:spLocks noChangeArrowheads="1"/>
          </p:cNvSpPr>
          <p:nvPr/>
        </p:nvSpPr>
        <p:spPr bwMode="auto">
          <a:xfrm>
            <a:off x="611188" y="1773238"/>
            <a:ext cx="1679575" cy="3921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doc:Document</a:t>
            </a:r>
          </a:p>
        </p:txBody>
      </p:sp>
      <p:sp>
        <p:nvSpPr>
          <p:cNvPr id="41990" name="Rectangle 7">
            <a:extLst>
              <a:ext uri="{FF2B5EF4-FFF2-40B4-BE49-F238E27FC236}">
                <a16:creationId xmlns:a16="http://schemas.microsoft.com/office/drawing/2014/main" id="{5E6B5B47-722B-EDE1-FB9F-52A61E6FABF8}"/>
              </a:ext>
            </a:extLst>
          </p:cNvPr>
          <p:cNvSpPr>
            <a:spLocks noChangeArrowheads="1"/>
          </p:cNvSpPr>
          <p:nvPr/>
        </p:nvSpPr>
        <p:spPr bwMode="auto">
          <a:xfrm>
            <a:off x="2700338" y="1773238"/>
            <a:ext cx="1081087" cy="4048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e:Editor</a:t>
            </a:r>
          </a:p>
        </p:txBody>
      </p:sp>
      <p:sp>
        <p:nvSpPr>
          <p:cNvPr id="41991" name="Line 8">
            <a:extLst>
              <a:ext uri="{FF2B5EF4-FFF2-40B4-BE49-F238E27FC236}">
                <a16:creationId xmlns:a16="http://schemas.microsoft.com/office/drawing/2014/main" id="{266FC594-532A-A6E1-17BD-9BE4B490CC2F}"/>
              </a:ext>
            </a:extLst>
          </p:cNvPr>
          <p:cNvSpPr>
            <a:spLocks noChangeShapeType="1"/>
          </p:cNvSpPr>
          <p:nvPr/>
        </p:nvSpPr>
        <p:spPr bwMode="auto">
          <a:xfrm>
            <a:off x="1403350" y="2205038"/>
            <a:ext cx="0" cy="3311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2" name="Rectangle 9">
            <a:extLst>
              <a:ext uri="{FF2B5EF4-FFF2-40B4-BE49-F238E27FC236}">
                <a16:creationId xmlns:a16="http://schemas.microsoft.com/office/drawing/2014/main" id="{F4D08FC6-441E-E44A-66BE-20AD5F6CCC55}"/>
              </a:ext>
            </a:extLst>
          </p:cNvPr>
          <p:cNvSpPr>
            <a:spLocks noChangeArrowheads="1"/>
          </p:cNvSpPr>
          <p:nvPr/>
        </p:nvSpPr>
        <p:spPr bwMode="auto">
          <a:xfrm>
            <a:off x="6516688" y="1773238"/>
            <a:ext cx="1370012" cy="3921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b:Button</a:t>
            </a:r>
          </a:p>
        </p:txBody>
      </p:sp>
      <p:sp>
        <p:nvSpPr>
          <p:cNvPr id="41993" name="Line 14">
            <a:extLst>
              <a:ext uri="{FF2B5EF4-FFF2-40B4-BE49-F238E27FC236}">
                <a16:creationId xmlns:a16="http://schemas.microsoft.com/office/drawing/2014/main" id="{311EF67E-D066-854D-23D1-EB582C875151}"/>
              </a:ext>
            </a:extLst>
          </p:cNvPr>
          <p:cNvSpPr>
            <a:spLocks noChangeShapeType="1"/>
          </p:cNvSpPr>
          <p:nvPr/>
        </p:nvSpPr>
        <p:spPr bwMode="auto">
          <a:xfrm>
            <a:off x="3276600" y="3644900"/>
            <a:ext cx="4103688"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1994" name="Line 15">
            <a:extLst>
              <a:ext uri="{FF2B5EF4-FFF2-40B4-BE49-F238E27FC236}">
                <a16:creationId xmlns:a16="http://schemas.microsoft.com/office/drawing/2014/main" id="{4CFCFCDB-DC58-C2BF-AD9D-9DF4B7800D54}"/>
              </a:ext>
            </a:extLst>
          </p:cNvPr>
          <p:cNvSpPr>
            <a:spLocks noChangeShapeType="1"/>
          </p:cNvSpPr>
          <p:nvPr/>
        </p:nvSpPr>
        <p:spPr bwMode="auto">
          <a:xfrm>
            <a:off x="3276600" y="2852738"/>
            <a:ext cx="1944688"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1995" name="Rectangle 16">
            <a:extLst>
              <a:ext uri="{FF2B5EF4-FFF2-40B4-BE49-F238E27FC236}">
                <a16:creationId xmlns:a16="http://schemas.microsoft.com/office/drawing/2014/main" id="{FC5ECD96-1594-42B2-084F-9B9FF2FFF305}"/>
              </a:ext>
            </a:extLst>
          </p:cNvPr>
          <p:cNvSpPr>
            <a:spLocks noChangeArrowheads="1"/>
          </p:cNvSpPr>
          <p:nvPr/>
        </p:nvSpPr>
        <p:spPr bwMode="auto">
          <a:xfrm>
            <a:off x="4411663" y="2241550"/>
            <a:ext cx="1812925" cy="39528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c:CopyCommand</a:t>
            </a:r>
          </a:p>
        </p:txBody>
      </p:sp>
      <p:sp>
        <p:nvSpPr>
          <p:cNvPr id="41996" name="Line 19">
            <a:extLst>
              <a:ext uri="{FF2B5EF4-FFF2-40B4-BE49-F238E27FC236}">
                <a16:creationId xmlns:a16="http://schemas.microsoft.com/office/drawing/2014/main" id="{64D4240B-C263-ECC3-75DC-F6FA0F54869E}"/>
              </a:ext>
            </a:extLst>
          </p:cNvPr>
          <p:cNvSpPr>
            <a:spLocks noChangeShapeType="1"/>
          </p:cNvSpPr>
          <p:nvPr/>
        </p:nvSpPr>
        <p:spPr bwMode="auto">
          <a:xfrm>
            <a:off x="7524750" y="2205038"/>
            <a:ext cx="0" cy="3311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7" name="Line 17">
            <a:extLst>
              <a:ext uri="{FF2B5EF4-FFF2-40B4-BE49-F238E27FC236}">
                <a16:creationId xmlns:a16="http://schemas.microsoft.com/office/drawing/2014/main" id="{B61F0D10-FC18-6C6A-7481-D353C2C2D328}"/>
              </a:ext>
            </a:extLst>
          </p:cNvPr>
          <p:cNvSpPr>
            <a:spLocks noChangeShapeType="1"/>
          </p:cNvSpPr>
          <p:nvPr/>
        </p:nvSpPr>
        <p:spPr bwMode="auto">
          <a:xfrm>
            <a:off x="3132138" y="2205038"/>
            <a:ext cx="0" cy="3311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8" name="Line 18">
            <a:extLst>
              <a:ext uri="{FF2B5EF4-FFF2-40B4-BE49-F238E27FC236}">
                <a16:creationId xmlns:a16="http://schemas.microsoft.com/office/drawing/2014/main" id="{C87A223B-7F85-4E28-FF4B-6DE4C8876C62}"/>
              </a:ext>
            </a:extLst>
          </p:cNvPr>
          <p:cNvSpPr>
            <a:spLocks noChangeShapeType="1"/>
          </p:cNvSpPr>
          <p:nvPr/>
        </p:nvSpPr>
        <p:spPr bwMode="auto">
          <a:xfrm>
            <a:off x="5364163" y="2636838"/>
            <a:ext cx="0" cy="2952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9" name="Rectangle 13">
            <a:extLst>
              <a:ext uri="{FF2B5EF4-FFF2-40B4-BE49-F238E27FC236}">
                <a16:creationId xmlns:a16="http://schemas.microsoft.com/office/drawing/2014/main" id="{3F616861-A8BD-601E-EAF7-632563E884E4}"/>
              </a:ext>
            </a:extLst>
          </p:cNvPr>
          <p:cNvSpPr>
            <a:spLocks noChangeArrowheads="1"/>
          </p:cNvSpPr>
          <p:nvPr/>
        </p:nvSpPr>
        <p:spPr bwMode="auto">
          <a:xfrm>
            <a:off x="5219700" y="2708275"/>
            <a:ext cx="288925" cy="71278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00" name="Rectangle 11">
            <a:extLst>
              <a:ext uri="{FF2B5EF4-FFF2-40B4-BE49-F238E27FC236}">
                <a16:creationId xmlns:a16="http://schemas.microsoft.com/office/drawing/2014/main" id="{08C2C0D4-11B7-EAC6-AE9B-078E027B50D8}"/>
              </a:ext>
            </a:extLst>
          </p:cNvPr>
          <p:cNvSpPr>
            <a:spLocks noChangeArrowheads="1"/>
          </p:cNvSpPr>
          <p:nvPr/>
        </p:nvSpPr>
        <p:spPr bwMode="auto">
          <a:xfrm>
            <a:off x="2987675" y="2565400"/>
            <a:ext cx="288925" cy="15367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01" name="Rectangle 20">
            <a:extLst>
              <a:ext uri="{FF2B5EF4-FFF2-40B4-BE49-F238E27FC236}">
                <a16:creationId xmlns:a16="http://schemas.microsoft.com/office/drawing/2014/main" id="{906EBFD8-C530-57CC-5C8B-C1C0D55C0010}"/>
              </a:ext>
            </a:extLst>
          </p:cNvPr>
          <p:cNvSpPr>
            <a:spLocks noChangeArrowheads="1"/>
          </p:cNvSpPr>
          <p:nvPr/>
        </p:nvSpPr>
        <p:spPr bwMode="auto">
          <a:xfrm>
            <a:off x="7380288" y="3508375"/>
            <a:ext cx="225425" cy="468313"/>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02" name="Text Box 21">
            <a:extLst>
              <a:ext uri="{FF2B5EF4-FFF2-40B4-BE49-F238E27FC236}">
                <a16:creationId xmlns:a16="http://schemas.microsoft.com/office/drawing/2014/main" id="{2D04F0E6-BAB8-3E5B-04CE-A78563CFD35F}"/>
              </a:ext>
            </a:extLst>
          </p:cNvPr>
          <p:cNvSpPr txBox="1">
            <a:spLocks noChangeArrowheads="1"/>
          </p:cNvSpPr>
          <p:nvPr/>
        </p:nvSpPr>
        <p:spPr bwMode="auto">
          <a:xfrm>
            <a:off x="7835900" y="4748213"/>
            <a:ext cx="6334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click</a:t>
            </a:r>
          </a:p>
        </p:txBody>
      </p:sp>
      <p:sp>
        <p:nvSpPr>
          <p:cNvPr id="42003" name="Line 22">
            <a:extLst>
              <a:ext uri="{FF2B5EF4-FFF2-40B4-BE49-F238E27FC236}">
                <a16:creationId xmlns:a16="http://schemas.microsoft.com/office/drawing/2014/main" id="{306A9E81-AE14-DDDF-E073-B0A57CED656D}"/>
              </a:ext>
            </a:extLst>
          </p:cNvPr>
          <p:cNvSpPr>
            <a:spLocks noChangeShapeType="1"/>
          </p:cNvSpPr>
          <p:nvPr/>
        </p:nvSpPr>
        <p:spPr bwMode="auto">
          <a:xfrm flipH="1">
            <a:off x="5492750" y="4689475"/>
            <a:ext cx="187325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2004" name="Rectangle 23">
            <a:extLst>
              <a:ext uri="{FF2B5EF4-FFF2-40B4-BE49-F238E27FC236}">
                <a16:creationId xmlns:a16="http://schemas.microsoft.com/office/drawing/2014/main" id="{1FDBC7C8-931B-C4C3-CE80-82042024BB80}"/>
              </a:ext>
            </a:extLst>
          </p:cNvPr>
          <p:cNvSpPr>
            <a:spLocks noChangeArrowheads="1"/>
          </p:cNvSpPr>
          <p:nvPr/>
        </p:nvSpPr>
        <p:spPr bwMode="auto">
          <a:xfrm>
            <a:off x="5192713" y="4635500"/>
            <a:ext cx="288925" cy="71278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05" name="Rectangle 24">
            <a:extLst>
              <a:ext uri="{FF2B5EF4-FFF2-40B4-BE49-F238E27FC236}">
                <a16:creationId xmlns:a16="http://schemas.microsoft.com/office/drawing/2014/main" id="{27F1F758-67BE-AEFE-7247-E532D91118A7}"/>
              </a:ext>
            </a:extLst>
          </p:cNvPr>
          <p:cNvSpPr>
            <a:spLocks noChangeArrowheads="1"/>
          </p:cNvSpPr>
          <p:nvPr/>
        </p:nvSpPr>
        <p:spPr bwMode="auto">
          <a:xfrm>
            <a:off x="1217613" y="4697413"/>
            <a:ext cx="288925" cy="712787"/>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06" name="Line 25">
            <a:extLst>
              <a:ext uri="{FF2B5EF4-FFF2-40B4-BE49-F238E27FC236}">
                <a16:creationId xmlns:a16="http://schemas.microsoft.com/office/drawing/2014/main" id="{D3146AB5-E5FB-B174-CDEA-AC9D09C3B40B}"/>
              </a:ext>
            </a:extLst>
          </p:cNvPr>
          <p:cNvSpPr>
            <a:spLocks noChangeShapeType="1"/>
          </p:cNvSpPr>
          <p:nvPr/>
        </p:nvSpPr>
        <p:spPr bwMode="auto">
          <a:xfrm flipH="1">
            <a:off x="1465263" y="4840288"/>
            <a:ext cx="3671887"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2007" name="Text Box 26">
            <a:extLst>
              <a:ext uri="{FF2B5EF4-FFF2-40B4-BE49-F238E27FC236}">
                <a16:creationId xmlns:a16="http://schemas.microsoft.com/office/drawing/2014/main" id="{84A0DFB9-0876-E245-4678-73C655A48B61}"/>
              </a:ext>
            </a:extLst>
          </p:cNvPr>
          <p:cNvSpPr txBox="1">
            <a:spLocks noChangeArrowheads="1"/>
          </p:cNvSpPr>
          <p:nvPr/>
        </p:nvSpPr>
        <p:spPr bwMode="auto">
          <a:xfrm>
            <a:off x="1492850" y="4512747"/>
            <a:ext cx="1710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copy(</a:t>
            </a:r>
            <a:r>
              <a:rPr lang="en-US" altLang="tr-TR" sz="1800" dirty="0" err="1"/>
              <a:t>start,text</a:t>
            </a:r>
            <a:r>
              <a:rPr lang="en-US" altLang="tr-TR" sz="1800" dirty="0"/>
              <a:t>)</a:t>
            </a:r>
          </a:p>
        </p:txBody>
      </p:sp>
      <p:sp>
        <p:nvSpPr>
          <p:cNvPr id="42008" name="Text Box 29">
            <a:extLst>
              <a:ext uri="{FF2B5EF4-FFF2-40B4-BE49-F238E27FC236}">
                <a16:creationId xmlns:a16="http://schemas.microsoft.com/office/drawing/2014/main" id="{6A82A54A-CC1A-811A-56CB-7834A051959D}"/>
              </a:ext>
            </a:extLst>
          </p:cNvPr>
          <p:cNvSpPr txBox="1">
            <a:spLocks noChangeArrowheads="1"/>
          </p:cNvSpPr>
          <p:nvPr/>
        </p:nvSpPr>
        <p:spPr bwMode="auto">
          <a:xfrm>
            <a:off x="82550" y="1223964"/>
            <a:ext cx="996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receiver</a:t>
            </a:r>
          </a:p>
        </p:txBody>
      </p:sp>
      <p:sp>
        <p:nvSpPr>
          <p:cNvPr id="42009" name="Line 30">
            <a:extLst>
              <a:ext uri="{FF2B5EF4-FFF2-40B4-BE49-F238E27FC236}">
                <a16:creationId xmlns:a16="http://schemas.microsoft.com/office/drawing/2014/main" id="{B67EFC27-A89A-F7D3-6054-42D7C439CEA5}"/>
              </a:ext>
            </a:extLst>
          </p:cNvPr>
          <p:cNvSpPr>
            <a:spLocks noChangeShapeType="1"/>
          </p:cNvSpPr>
          <p:nvPr/>
        </p:nvSpPr>
        <p:spPr bwMode="auto">
          <a:xfrm>
            <a:off x="1079500" y="1447800"/>
            <a:ext cx="179388" cy="32543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10" name="Text Box 31">
            <a:extLst>
              <a:ext uri="{FF2B5EF4-FFF2-40B4-BE49-F238E27FC236}">
                <a16:creationId xmlns:a16="http://schemas.microsoft.com/office/drawing/2014/main" id="{048E6063-3D2C-32C9-C95F-B4ECB866E594}"/>
              </a:ext>
            </a:extLst>
          </p:cNvPr>
          <p:cNvSpPr txBox="1">
            <a:spLocks noChangeArrowheads="1"/>
          </p:cNvSpPr>
          <p:nvPr/>
        </p:nvSpPr>
        <p:spPr bwMode="auto">
          <a:xfrm>
            <a:off x="8008938" y="1342230"/>
            <a:ext cx="920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invoker</a:t>
            </a:r>
          </a:p>
        </p:txBody>
      </p:sp>
      <p:sp>
        <p:nvSpPr>
          <p:cNvPr id="42011" name="Line 32">
            <a:extLst>
              <a:ext uri="{FF2B5EF4-FFF2-40B4-BE49-F238E27FC236}">
                <a16:creationId xmlns:a16="http://schemas.microsoft.com/office/drawing/2014/main" id="{729E78D6-6039-5291-2815-4D3CB387C317}"/>
              </a:ext>
            </a:extLst>
          </p:cNvPr>
          <p:cNvSpPr>
            <a:spLocks noChangeShapeType="1"/>
          </p:cNvSpPr>
          <p:nvPr/>
        </p:nvSpPr>
        <p:spPr bwMode="auto">
          <a:xfrm flipH="1">
            <a:off x="7596188" y="1576387"/>
            <a:ext cx="412750" cy="2682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12" name="Rectangle 20">
            <a:extLst>
              <a:ext uri="{FF2B5EF4-FFF2-40B4-BE49-F238E27FC236}">
                <a16:creationId xmlns:a16="http://schemas.microsoft.com/office/drawing/2014/main" id="{3B1628B8-E664-564B-68EA-00E8D1518219}"/>
              </a:ext>
            </a:extLst>
          </p:cNvPr>
          <p:cNvSpPr>
            <a:spLocks noChangeArrowheads="1"/>
          </p:cNvSpPr>
          <p:nvPr/>
        </p:nvSpPr>
        <p:spPr bwMode="auto">
          <a:xfrm>
            <a:off x="7380288" y="4478338"/>
            <a:ext cx="225425" cy="46831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42013" name="Line 22">
            <a:extLst>
              <a:ext uri="{FF2B5EF4-FFF2-40B4-BE49-F238E27FC236}">
                <a16:creationId xmlns:a16="http://schemas.microsoft.com/office/drawing/2014/main" id="{3EE7CA7D-1F15-2C4A-F25A-ECBD056DD5D8}"/>
              </a:ext>
            </a:extLst>
          </p:cNvPr>
          <p:cNvSpPr>
            <a:spLocks noChangeShapeType="1"/>
          </p:cNvSpPr>
          <p:nvPr/>
        </p:nvSpPr>
        <p:spPr bwMode="auto">
          <a:xfrm flipH="1" flipV="1">
            <a:off x="7593013" y="4654550"/>
            <a:ext cx="1023937"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42014" name="Text Box 21">
            <a:extLst>
              <a:ext uri="{FF2B5EF4-FFF2-40B4-BE49-F238E27FC236}">
                <a16:creationId xmlns:a16="http://schemas.microsoft.com/office/drawing/2014/main" id="{87931D55-FEFA-7427-4549-CDFA271180DE}"/>
              </a:ext>
            </a:extLst>
          </p:cNvPr>
          <p:cNvSpPr txBox="1">
            <a:spLocks noChangeArrowheads="1"/>
          </p:cNvSpPr>
          <p:nvPr/>
        </p:nvSpPr>
        <p:spPr bwMode="auto">
          <a:xfrm>
            <a:off x="5675313" y="4872038"/>
            <a:ext cx="1136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execute()</a:t>
            </a:r>
          </a:p>
        </p:txBody>
      </p:sp>
      <p:cxnSp>
        <p:nvCxnSpPr>
          <p:cNvPr id="32" name="31 Düz Bağlayıcı">
            <a:extLst>
              <a:ext uri="{FF2B5EF4-FFF2-40B4-BE49-F238E27FC236}">
                <a16:creationId xmlns:a16="http://schemas.microsoft.com/office/drawing/2014/main" id="{E85E6E5C-EEE6-CA0B-EB99-CA9F729FA430}"/>
              </a:ext>
            </a:extLst>
          </p:cNvPr>
          <p:cNvCxnSpPr/>
          <p:nvPr/>
        </p:nvCxnSpPr>
        <p:spPr>
          <a:xfrm rot="10800000" flipV="1">
            <a:off x="7397750" y="4017963"/>
            <a:ext cx="292100" cy="222250"/>
          </a:xfrm>
          <a:prstGeom prst="line">
            <a:avLst/>
          </a:prstGeom>
        </p:spPr>
        <p:style>
          <a:lnRef idx="1">
            <a:schemeClr val="dk1"/>
          </a:lnRef>
          <a:fillRef idx="0">
            <a:schemeClr val="dk1"/>
          </a:fillRef>
          <a:effectRef idx="0">
            <a:schemeClr val="dk1"/>
          </a:effectRef>
          <a:fontRef idx="minor">
            <a:schemeClr val="tx1"/>
          </a:fontRef>
        </p:style>
      </p:cxnSp>
      <p:cxnSp>
        <p:nvCxnSpPr>
          <p:cNvPr id="33" name="32 Düz Bağlayıcı">
            <a:extLst>
              <a:ext uri="{FF2B5EF4-FFF2-40B4-BE49-F238E27FC236}">
                <a16:creationId xmlns:a16="http://schemas.microsoft.com/office/drawing/2014/main" id="{9FC6EE0A-49CE-4F20-037F-365C94426DD8}"/>
              </a:ext>
            </a:extLst>
          </p:cNvPr>
          <p:cNvCxnSpPr/>
          <p:nvPr/>
        </p:nvCxnSpPr>
        <p:spPr>
          <a:xfrm rot="10800000" flipV="1">
            <a:off x="7440613" y="4059238"/>
            <a:ext cx="290512" cy="222250"/>
          </a:xfrm>
          <a:prstGeom prst="line">
            <a:avLst/>
          </a:prstGeom>
        </p:spPr>
        <p:style>
          <a:lnRef idx="1">
            <a:schemeClr val="dk1"/>
          </a:lnRef>
          <a:fillRef idx="0">
            <a:schemeClr val="dk1"/>
          </a:fillRef>
          <a:effectRef idx="0">
            <a:schemeClr val="dk1"/>
          </a:effectRef>
          <a:fontRef idx="minor">
            <a:schemeClr val="tx1"/>
          </a:fontRef>
        </p:style>
      </p:cxnSp>
      <p:cxnSp>
        <p:nvCxnSpPr>
          <p:cNvPr id="34" name="33 Düz Bağlayıcı">
            <a:extLst>
              <a:ext uri="{FF2B5EF4-FFF2-40B4-BE49-F238E27FC236}">
                <a16:creationId xmlns:a16="http://schemas.microsoft.com/office/drawing/2014/main" id="{18927A44-C69D-276C-93FE-50C435EFC7E8}"/>
              </a:ext>
            </a:extLst>
          </p:cNvPr>
          <p:cNvCxnSpPr/>
          <p:nvPr/>
        </p:nvCxnSpPr>
        <p:spPr>
          <a:xfrm rot="10800000" flipV="1">
            <a:off x="5167313" y="4073525"/>
            <a:ext cx="292100" cy="220663"/>
          </a:xfrm>
          <a:prstGeom prst="line">
            <a:avLst/>
          </a:prstGeom>
        </p:spPr>
        <p:style>
          <a:lnRef idx="1">
            <a:schemeClr val="dk1"/>
          </a:lnRef>
          <a:fillRef idx="0">
            <a:schemeClr val="dk1"/>
          </a:fillRef>
          <a:effectRef idx="0">
            <a:schemeClr val="dk1"/>
          </a:effectRef>
          <a:fontRef idx="minor">
            <a:schemeClr val="tx1"/>
          </a:fontRef>
        </p:style>
      </p:cxnSp>
      <p:cxnSp>
        <p:nvCxnSpPr>
          <p:cNvPr id="35" name="34 Düz Bağlayıcı">
            <a:extLst>
              <a:ext uri="{FF2B5EF4-FFF2-40B4-BE49-F238E27FC236}">
                <a16:creationId xmlns:a16="http://schemas.microsoft.com/office/drawing/2014/main" id="{483641E0-4F14-5791-7E2E-0835D41337D7}"/>
              </a:ext>
            </a:extLst>
          </p:cNvPr>
          <p:cNvCxnSpPr/>
          <p:nvPr/>
        </p:nvCxnSpPr>
        <p:spPr>
          <a:xfrm rot="10800000" flipV="1">
            <a:off x="5208588" y="4114800"/>
            <a:ext cx="292100" cy="222250"/>
          </a:xfrm>
          <a:prstGeom prst="line">
            <a:avLst/>
          </a:prstGeom>
        </p:spPr>
        <p:style>
          <a:lnRef idx="1">
            <a:schemeClr val="dk1"/>
          </a:lnRef>
          <a:fillRef idx="0">
            <a:schemeClr val="dk1"/>
          </a:fillRef>
          <a:effectRef idx="0">
            <a:schemeClr val="dk1"/>
          </a:effectRef>
          <a:fontRef idx="minor">
            <a:schemeClr val="tx1"/>
          </a:fontRef>
        </p:style>
      </p:cxnSp>
      <p:cxnSp>
        <p:nvCxnSpPr>
          <p:cNvPr id="36" name="35 Düz Bağlayıcı">
            <a:extLst>
              <a:ext uri="{FF2B5EF4-FFF2-40B4-BE49-F238E27FC236}">
                <a16:creationId xmlns:a16="http://schemas.microsoft.com/office/drawing/2014/main" id="{3C79BA5A-DFD6-68B5-DF5C-BF9907704A28}"/>
              </a:ext>
            </a:extLst>
          </p:cNvPr>
          <p:cNvCxnSpPr/>
          <p:nvPr/>
        </p:nvCxnSpPr>
        <p:spPr>
          <a:xfrm rot="10800000" flipV="1">
            <a:off x="2992438" y="4184650"/>
            <a:ext cx="290512" cy="220663"/>
          </a:xfrm>
          <a:prstGeom prst="line">
            <a:avLst/>
          </a:prstGeom>
        </p:spPr>
        <p:style>
          <a:lnRef idx="1">
            <a:schemeClr val="dk1"/>
          </a:lnRef>
          <a:fillRef idx="0">
            <a:schemeClr val="dk1"/>
          </a:fillRef>
          <a:effectRef idx="0">
            <a:schemeClr val="dk1"/>
          </a:effectRef>
          <a:fontRef idx="minor">
            <a:schemeClr val="tx1"/>
          </a:fontRef>
        </p:style>
      </p:cxnSp>
      <p:cxnSp>
        <p:nvCxnSpPr>
          <p:cNvPr id="37" name="36 Düz Bağlayıcı">
            <a:extLst>
              <a:ext uri="{FF2B5EF4-FFF2-40B4-BE49-F238E27FC236}">
                <a16:creationId xmlns:a16="http://schemas.microsoft.com/office/drawing/2014/main" id="{EDCB66B0-175E-F789-2BD8-FBDF08262879}"/>
              </a:ext>
            </a:extLst>
          </p:cNvPr>
          <p:cNvCxnSpPr/>
          <p:nvPr/>
        </p:nvCxnSpPr>
        <p:spPr>
          <a:xfrm rot="10800000" flipV="1">
            <a:off x="3033713" y="4225925"/>
            <a:ext cx="292100" cy="220663"/>
          </a:xfrm>
          <a:prstGeom prst="line">
            <a:avLst/>
          </a:prstGeom>
        </p:spPr>
        <p:style>
          <a:lnRef idx="1">
            <a:schemeClr val="dk1"/>
          </a:lnRef>
          <a:fillRef idx="0">
            <a:schemeClr val="dk1"/>
          </a:fillRef>
          <a:effectRef idx="0">
            <a:schemeClr val="dk1"/>
          </a:effectRef>
          <a:fontRef idx="minor">
            <a:schemeClr val="tx1"/>
          </a:fontRef>
        </p:style>
      </p:cxnSp>
      <p:cxnSp>
        <p:nvCxnSpPr>
          <p:cNvPr id="38" name="37 Düz Bağlayıcı">
            <a:extLst>
              <a:ext uri="{FF2B5EF4-FFF2-40B4-BE49-F238E27FC236}">
                <a16:creationId xmlns:a16="http://schemas.microsoft.com/office/drawing/2014/main" id="{D37CFD5E-EB45-3763-1342-E8F9ADBC15A1}"/>
              </a:ext>
            </a:extLst>
          </p:cNvPr>
          <p:cNvCxnSpPr/>
          <p:nvPr/>
        </p:nvCxnSpPr>
        <p:spPr>
          <a:xfrm rot="10800000" flipV="1">
            <a:off x="1260475" y="4225925"/>
            <a:ext cx="290513" cy="220663"/>
          </a:xfrm>
          <a:prstGeom prst="line">
            <a:avLst/>
          </a:prstGeom>
        </p:spPr>
        <p:style>
          <a:lnRef idx="1">
            <a:schemeClr val="dk1"/>
          </a:lnRef>
          <a:fillRef idx="0">
            <a:schemeClr val="dk1"/>
          </a:fillRef>
          <a:effectRef idx="0">
            <a:schemeClr val="dk1"/>
          </a:effectRef>
          <a:fontRef idx="minor">
            <a:schemeClr val="tx1"/>
          </a:fontRef>
        </p:style>
      </p:cxnSp>
      <p:cxnSp>
        <p:nvCxnSpPr>
          <p:cNvPr id="39" name="38 Düz Bağlayıcı">
            <a:extLst>
              <a:ext uri="{FF2B5EF4-FFF2-40B4-BE49-F238E27FC236}">
                <a16:creationId xmlns:a16="http://schemas.microsoft.com/office/drawing/2014/main" id="{90C872D1-3FAE-C710-B076-A9547118DD5D}"/>
              </a:ext>
            </a:extLst>
          </p:cNvPr>
          <p:cNvCxnSpPr/>
          <p:nvPr/>
        </p:nvCxnSpPr>
        <p:spPr>
          <a:xfrm rot="10800000" flipV="1">
            <a:off x="1301750" y="4267200"/>
            <a:ext cx="292100" cy="222250"/>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CA6C4A84-D1F4-4E4A-39CD-81BFE1FD476F}"/>
              </a:ext>
            </a:extLst>
          </p:cNvPr>
          <p:cNvSpPr txBox="1"/>
          <p:nvPr/>
        </p:nvSpPr>
        <p:spPr>
          <a:xfrm>
            <a:off x="692150" y="5929746"/>
            <a:ext cx="8182689" cy="369332"/>
          </a:xfrm>
          <a:prstGeom prst="rect">
            <a:avLst/>
          </a:prstGeom>
          <a:noFill/>
        </p:spPr>
        <p:txBody>
          <a:bodyPr wrap="none" rtlCol="0">
            <a:spAutoFit/>
          </a:bodyPr>
          <a:lstStyle/>
          <a:p>
            <a:r>
              <a:rPr lang="en-US" dirty="0"/>
              <a:t>We can also encapsulate an operation with parameters as a Command object </a:t>
            </a:r>
          </a:p>
        </p:txBody>
      </p:sp>
    </p:spTree>
    <p:extLst>
      <p:ext uri="{BB962C8B-B14F-4D97-AF65-F5344CB8AC3E}">
        <p14:creationId xmlns:p14="http://schemas.microsoft.com/office/powerpoint/2010/main" val="1440370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EB5A96-9FAB-D7C6-A0CA-682F47D5524C}"/>
              </a:ext>
            </a:extLst>
          </p:cNvPr>
          <p:cNvSpPr>
            <a:spLocks noGrp="1"/>
          </p:cNvSpPr>
          <p:nvPr>
            <p:ph type="title"/>
          </p:nvPr>
        </p:nvSpPr>
        <p:spPr>
          <a:xfrm>
            <a:off x="457200" y="139152"/>
            <a:ext cx="8575964" cy="1371600"/>
          </a:xfrm>
        </p:spPr>
        <p:txBody>
          <a:bodyPr/>
          <a:lstStyle/>
          <a:p>
            <a:r>
              <a:rPr lang="en-US" sz="4000" dirty="0"/>
              <a:t>Configuring Invoker with Commands</a:t>
            </a:r>
          </a:p>
        </p:txBody>
      </p:sp>
      <p:sp>
        <p:nvSpPr>
          <p:cNvPr id="4" name="Content Placeholder 3">
            <a:extLst>
              <a:ext uri="{FF2B5EF4-FFF2-40B4-BE49-F238E27FC236}">
                <a16:creationId xmlns:a16="http://schemas.microsoft.com/office/drawing/2014/main" id="{999D14CF-50F3-F958-C089-E62772E12C7D}"/>
              </a:ext>
            </a:extLst>
          </p:cNvPr>
          <p:cNvSpPr>
            <a:spLocks noGrp="1"/>
          </p:cNvSpPr>
          <p:nvPr>
            <p:ph idx="1"/>
          </p:nvPr>
        </p:nvSpPr>
        <p:spPr>
          <a:xfrm>
            <a:off x="457200" y="2807855"/>
            <a:ext cx="8229600" cy="3059545"/>
          </a:xfrm>
        </p:spPr>
        <p:txBody>
          <a:bodyPr/>
          <a:lstStyle/>
          <a:p>
            <a:pPr>
              <a:spcBef>
                <a:spcPts val="600"/>
              </a:spcBef>
              <a:spcAft>
                <a:spcPts val="600"/>
              </a:spcAft>
            </a:pPr>
            <a:r>
              <a:rPr lang="en-US" sz="2800" b="0" i="0" dirty="0">
                <a:solidFill>
                  <a:srgbClr val="000000"/>
                </a:solidFill>
                <a:effectLst/>
                <a:latin typeface="+mj-lt"/>
              </a:rPr>
              <a:t>You can express such parameterization in a procedural language with a </a:t>
            </a:r>
            <a:r>
              <a:rPr lang="en-US" sz="2800" b="1" i="0" dirty="0">
                <a:solidFill>
                  <a:srgbClr val="000000"/>
                </a:solidFill>
                <a:effectLst/>
                <a:latin typeface="+mj-lt"/>
              </a:rPr>
              <a:t>callback</a:t>
            </a:r>
            <a:r>
              <a:rPr lang="en-US" sz="2800" b="0" i="0" dirty="0">
                <a:solidFill>
                  <a:srgbClr val="000000"/>
                </a:solidFill>
                <a:effectLst/>
                <a:latin typeface="+mj-lt"/>
              </a:rPr>
              <a:t> function,</a:t>
            </a:r>
          </a:p>
          <a:p>
            <a:pPr lvl="1">
              <a:spcBef>
                <a:spcPts val="600"/>
              </a:spcBef>
              <a:spcAft>
                <a:spcPts val="600"/>
              </a:spcAft>
            </a:pPr>
            <a:r>
              <a:rPr lang="en-US" sz="2400" b="0" i="0" dirty="0">
                <a:solidFill>
                  <a:srgbClr val="000000"/>
                </a:solidFill>
                <a:effectLst/>
                <a:latin typeface="+mj-lt"/>
              </a:rPr>
              <a:t> callback: a function that is registered somewhere to be called at a later point. </a:t>
            </a:r>
          </a:p>
          <a:p>
            <a:pPr>
              <a:spcBef>
                <a:spcPts val="600"/>
              </a:spcBef>
              <a:spcAft>
                <a:spcPts val="600"/>
              </a:spcAft>
            </a:pPr>
            <a:r>
              <a:rPr lang="en-US" sz="2800" b="0" i="0" dirty="0">
                <a:solidFill>
                  <a:srgbClr val="000000"/>
                </a:solidFill>
                <a:effectLst/>
                <a:latin typeface="+mj-lt"/>
              </a:rPr>
              <a:t>Commands are an object-oriented replacement for callbacks.</a:t>
            </a:r>
          </a:p>
        </p:txBody>
      </p:sp>
      <p:sp>
        <p:nvSpPr>
          <p:cNvPr id="5" name="Rectangle: Rounded Corners 4">
            <a:extLst>
              <a:ext uri="{FF2B5EF4-FFF2-40B4-BE49-F238E27FC236}">
                <a16:creationId xmlns:a16="http://schemas.microsoft.com/office/drawing/2014/main" id="{BEDB59DF-BD5D-1BAB-4E93-261061332AED}"/>
              </a:ext>
            </a:extLst>
          </p:cNvPr>
          <p:cNvSpPr/>
          <p:nvPr/>
        </p:nvSpPr>
        <p:spPr bwMode="auto">
          <a:xfrm>
            <a:off x="5551054" y="1850890"/>
            <a:ext cx="2503055" cy="745517"/>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a:t>
            </a:r>
            <a:r>
              <a:rPr kumimoji="0" lang="en-US" sz="1800" b="0" i="0" u="none" strike="noStrike" cap="none" normalizeH="0" baseline="0" dirty="0" err="1">
                <a:ln>
                  <a:noFill/>
                </a:ln>
                <a:solidFill>
                  <a:schemeClr val="tx1"/>
                </a:solidFill>
                <a:effectLst/>
                <a:latin typeface="Arial" charset="0"/>
              </a:rPr>
              <a:t>SaveCommand</a:t>
            </a:r>
            <a:endParaRPr kumimoji="0" lang="en-US" sz="1800" b="0" i="0" u="none" strike="noStrike" cap="none" normalizeH="0" baseline="0" dirty="0">
              <a:ln>
                <a:noFill/>
              </a:ln>
              <a:solidFill>
                <a:schemeClr val="tx1"/>
              </a:solidFill>
              <a:effectLst/>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execute(){</a:t>
            </a:r>
            <a:r>
              <a:rPr lang="en-US" dirty="0" err="1">
                <a:latin typeface="Arial" charset="0"/>
              </a:rPr>
              <a:t>doc.save</a:t>
            </a:r>
            <a:r>
              <a:rPr lang="en-US" dirty="0">
                <a:latin typeface="Arial" charset="0"/>
              </a:rPr>
              <a:t>();}</a:t>
            </a:r>
            <a:endParaRPr kumimoji="0" lang="en-US" sz="1800" b="0" i="0" u="none" strike="noStrike" cap="none" normalizeH="0" baseline="0" dirty="0">
              <a:ln>
                <a:noFill/>
              </a:ln>
              <a:solidFill>
                <a:schemeClr val="tx1"/>
              </a:solidFill>
              <a:effectLst/>
              <a:latin typeface="Arial" charset="0"/>
            </a:endParaRPr>
          </a:p>
        </p:txBody>
      </p:sp>
      <p:sp>
        <p:nvSpPr>
          <p:cNvPr id="6" name="Rectangle: Rounded Corners 5">
            <a:extLst>
              <a:ext uri="{FF2B5EF4-FFF2-40B4-BE49-F238E27FC236}">
                <a16:creationId xmlns:a16="http://schemas.microsoft.com/office/drawing/2014/main" id="{6927ACB8-2B71-9DFC-8D5E-E8C4182C1132}"/>
              </a:ext>
            </a:extLst>
          </p:cNvPr>
          <p:cNvSpPr/>
          <p:nvPr/>
        </p:nvSpPr>
        <p:spPr bwMode="auto">
          <a:xfrm>
            <a:off x="827219" y="1510752"/>
            <a:ext cx="1385454" cy="460855"/>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b1:Button</a:t>
            </a:r>
            <a:endParaRPr kumimoji="0" lang="en-US" sz="1800" b="0" i="0" u="none" strike="noStrike" cap="none" normalizeH="0" baseline="0" dirty="0">
              <a:ln>
                <a:noFill/>
              </a:ln>
              <a:solidFill>
                <a:schemeClr val="tx1"/>
              </a:solidFill>
              <a:effectLst/>
              <a:latin typeface="Arial" charset="0"/>
            </a:endParaRPr>
          </a:p>
        </p:txBody>
      </p:sp>
      <p:cxnSp>
        <p:nvCxnSpPr>
          <p:cNvPr id="7" name="Straight Arrow Connector 6">
            <a:extLst>
              <a:ext uri="{FF2B5EF4-FFF2-40B4-BE49-F238E27FC236}">
                <a16:creationId xmlns:a16="http://schemas.microsoft.com/office/drawing/2014/main" id="{ED3DB6E1-F266-DC50-E343-E2B62BEAD6DC}"/>
              </a:ext>
            </a:extLst>
          </p:cNvPr>
          <p:cNvCxnSpPr>
            <a:stCxn id="6" idx="3"/>
            <a:endCxn id="5" idx="1"/>
          </p:cNvCxnSpPr>
          <p:nvPr/>
        </p:nvCxnSpPr>
        <p:spPr bwMode="auto">
          <a:xfrm>
            <a:off x="2212673" y="1741180"/>
            <a:ext cx="3338381" cy="482469"/>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Rectangle: Rounded Corners 7">
            <a:extLst>
              <a:ext uri="{FF2B5EF4-FFF2-40B4-BE49-F238E27FC236}">
                <a16:creationId xmlns:a16="http://schemas.microsoft.com/office/drawing/2014/main" id="{0F83227A-8021-7591-AAD6-E9A2D43C5734}"/>
              </a:ext>
            </a:extLst>
          </p:cNvPr>
          <p:cNvSpPr/>
          <p:nvPr/>
        </p:nvSpPr>
        <p:spPr bwMode="auto">
          <a:xfrm>
            <a:off x="831837" y="2155783"/>
            <a:ext cx="1893454" cy="460855"/>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mi1:MenuItem</a:t>
            </a:r>
            <a:endParaRPr kumimoji="0" lang="en-US" sz="1800" b="0" i="0" u="none" strike="noStrike" cap="none" normalizeH="0" baseline="0" dirty="0">
              <a:ln>
                <a:noFill/>
              </a:ln>
              <a:solidFill>
                <a:schemeClr val="tx1"/>
              </a:solidFill>
              <a:effectLst/>
              <a:latin typeface="Arial" charset="0"/>
            </a:endParaRPr>
          </a:p>
        </p:txBody>
      </p:sp>
      <p:cxnSp>
        <p:nvCxnSpPr>
          <p:cNvPr id="9" name="Straight Arrow Connector 8">
            <a:extLst>
              <a:ext uri="{FF2B5EF4-FFF2-40B4-BE49-F238E27FC236}">
                <a16:creationId xmlns:a16="http://schemas.microsoft.com/office/drawing/2014/main" id="{C14D8E02-8F90-6989-A65E-836A2E151449}"/>
              </a:ext>
            </a:extLst>
          </p:cNvPr>
          <p:cNvCxnSpPr>
            <a:cxnSpLocks/>
            <a:stCxn id="8" idx="3"/>
            <a:endCxn id="5" idx="1"/>
          </p:cNvCxnSpPr>
          <p:nvPr/>
        </p:nvCxnSpPr>
        <p:spPr bwMode="auto">
          <a:xfrm flipV="1">
            <a:off x="2725291" y="2223649"/>
            <a:ext cx="2825763" cy="16256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852115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F6A1069E-2312-93CA-6BA6-0A2186A9ABE3}"/>
              </a:ext>
            </a:extLst>
          </p:cNvPr>
          <p:cNvSpPr>
            <a:spLocks noGrp="1" noChangeArrowheads="1"/>
          </p:cNvSpPr>
          <p:nvPr>
            <p:ph type="title"/>
          </p:nvPr>
        </p:nvSpPr>
        <p:spPr>
          <a:xfrm>
            <a:off x="457200" y="139700"/>
            <a:ext cx="8229600" cy="1371600"/>
          </a:xfrm>
        </p:spPr>
        <p:txBody>
          <a:bodyPr/>
          <a:lstStyle/>
          <a:p>
            <a:r>
              <a:rPr lang="en-US" altLang="tr-TR" dirty="0"/>
              <a:t>Exercise : Task Schedular</a:t>
            </a:r>
            <a:endParaRPr lang="tr-TR" altLang="tr-TR" dirty="0"/>
          </a:p>
        </p:txBody>
      </p:sp>
      <p:sp>
        <p:nvSpPr>
          <p:cNvPr id="45059" name="Content Placeholder 2">
            <a:extLst>
              <a:ext uri="{FF2B5EF4-FFF2-40B4-BE49-F238E27FC236}">
                <a16:creationId xmlns:a16="http://schemas.microsoft.com/office/drawing/2014/main" id="{4263A110-6EDD-EFFA-650F-81D50E9F1C55}"/>
              </a:ext>
            </a:extLst>
          </p:cNvPr>
          <p:cNvSpPr>
            <a:spLocks noGrp="1" noChangeArrowheads="1"/>
          </p:cNvSpPr>
          <p:nvPr>
            <p:ph idx="1"/>
          </p:nvPr>
        </p:nvSpPr>
        <p:spPr>
          <a:xfrm>
            <a:off x="457199" y="1335088"/>
            <a:ext cx="8411497" cy="4532312"/>
          </a:xfrm>
        </p:spPr>
        <p:txBody>
          <a:bodyPr/>
          <a:lstStyle/>
          <a:p>
            <a:r>
              <a:rPr lang="en-US" altLang="tr-TR" sz="2800" dirty="0"/>
              <a:t>We want to write a class that can periodically execute one or more methods of various objects. </a:t>
            </a:r>
          </a:p>
          <a:p>
            <a:pPr lvl="1"/>
            <a:r>
              <a:rPr lang="en-US" altLang="tr-TR" sz="2400" dirty="0"/>
              <a:t>Example: we want to run a backup operation every hour and a disk status operation every ten minutes. </a:t>
            </a:r>
          </a:p>
          <a:p>
            <a:r>
              <a:rPr lang="en-US" altLang="tr-TR" sz="2800" dirty="0"/>
              <a:t>But we do not want the class to know the details of these operations or the objects that provide them. </a:t>
            </a:r>
          </a:p>
          <a:p>
            <a:r>
              <a:rPr lang="en-US" altLang="tr-TR" sz="2800" dirty="0"/>
              <a:t>We want to </a:t>
            </a:r>
            <a:r>
              <a:rPr lang="en-US" altLang="tr-TR" sz="2800" b="1" dirty="0"/>
              <a:t>decouple</a:t>
            </a:r>
            <a:r>
              <a:rPr lang="en-US" altLang="tr-TR" sz="2800" dirty="0"/>
              <a:t> the class that </a:t>
            </a:r>
            <a:r>
              <a:rPr lang="en-US" altLang="tr-TR" sz="2800" b="1" dirty="0"/>
              <a:t>schedules</a:t>
            </a:r>
            <a:r>
              <a:rPr lang="en-US" altLang="tr-TR" sz="2800" dirty="0"/>
              <a:t> the execution of these methods with the classes that </a:t>
            </a:r>
            <a:r>
              <a:rPr lang="en-US" altLang="tr-TR" sz="2800" b="1" dirty="0"/>
              <a:t>actually do</a:t>
            </a:r>
            <a:r>
              <a:rPr lang="en-US" altLang="tr-TR" sz="2800" dirty="0"/>
              <a:t> the behavior we want to execute.</a:t>
            </a:r>
          </a:p>
          <a:p>
            <a:endParaRPr lang="en-US" altLang="tr-TR" sz="2800" dirty="0"/>
          </a:p>
          <a:p>
            <a:pPr marL="0" indent="0">
              <a:buNone/>
            </a:pPr>
            <a:r>
              <a:rPr lang="en-US" altLang="tr-TR" sz="2800" dirty="0"/>
              <a:t>Draw a class diagram</a:t>
            </a:r>
            <a:endParaRPr lang="tr-TR" altLang="tr-TR" sz="2800" dirty="0"/>
          </a:p>
        </p:txBody>
      </p:sp>
    </p:spTree>
    <p:extLst>
      <p:ext uri="{BB962C8B-B14F-4D97-AF65-F5344CB8AC3E}">
        <p14:creationId xmlns:p14="http://schemas.microsoft.com/office/powerpoint/2010/main" val="1285264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D47B0-9F86-5132-BA82-081B62A1A4E1}"/>
              </a:ext>
            </a:extLst>
          </p:cNvPr>
          <p:cNvSpPr>
            <a:spLocks noGrp="1"/>
          </p:cNvSpPr>
          <p:nvPr>
            <p:ph type="title"/>
          </p:nvPr>
        </p:nvSpPr>
        <p:spPr/>
        <p:txBody>
          <a:bodyPr/>
          <a:lstStyle/>
          <a:p>
            <a:r>
              <a:rPr lang="en-US" dirty="0"/>
              <a:t>Exercise: Class diagram</a:t>
            </a:r>
          </a:p>
        </p:txBody>
      </p:sp>
      <p:pic>
        <p:nvPicPr>
          <p:cNvPr id="46082" name="Picture 2">
            <a:extLst>
              <a:ext uri="{FF2B5EF4-FFF2-40B4-BE49-F238E27FC236}">
                <a16:creationId xmlns:a16="http://schemas.microsoft.com/office/drawing/2014/main" id="{F2B19215-15EA-7CF5-FC5A-7EA5BC528A20}"/>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457200" y="2008982"/>
            <a:ext cx="8229600" cy="246221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083" name="TextBox 3">
            <a:extLst>
              <a:ext uri="{FF2B5EF4-FFF2-40B4-BE49-F238E27FC236}">
                <a16:creationId xmlns:a16="http://schemas.microsoft.com/office/drawing/2014/main" id="{726A5781-B47D-AE73-5697-F623CED6C684}"/>
              </a:ext>
            </a:extLst>
          </p:cNvPr>
          <p:cNvSpPr txBox="1">
            <a:spLocks noChangeArrowheads="1"/>
          </p:cNvSpPr>
          <p:nvPr/>
        </p:nvSpPr>
        <p:spPr bwMode="auto">
          <a:xfrm>
            <a:off x="839788" y="5322888"/>
            <a:ext cx="255711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public interface Task {</a:t>
            </a:r>
          </a:p>
          <a:p>
            <a:pPr eaLnBrk="1" hangingPunct="1">
              <a:spcBef>
                <a:spcPct val="0"/>
              </a:spcBef>
              <a:buClrTx/>
              <a:buSzTx/>
              <a:buFontTx/>
              <a:buNone/>
            </a:pPr>
            <a:r>
              <a:rPr lang="en-US" altLang="tr-TR" sz="1800" dirty="0"/>
              <a:t>   public void execute();</a:t>
            </a:r>
          </a:p>
          <a:p>
            <a:pPr eaLnBrk="1" hangingPunct="1">
              <a:spcBef>
                <a:spcPct val="0"/>
              </a:spcBef>
              <a:buClrTx/>
              <a:buSzTx/>
              <a:buFontTx/>
              <a:buNone/>
            </a:pPr>
            <a:r>
              <a:rPr lang="en-US" altLang="tr-TR" sz="1800" dirty="0"/>
              <a:t>}</a:t>
            </a:r>
            <a:endParaRPr lang="tr-TR" altLang="tr-TR" sz="1800" dirty="0"/>
          </a:p>
        </p:txBody>
      </p:sp>
      <p:sp>
        <p:nvSpPr>
          <p:cNvPr id="46084" name="TextBox 4">
            <a:extLst>
              <a:ext uri="{FF2B5EF4-FFF2-40B4-BE49-F238E27FC236}">
                <a16:creationId xmlns:a16="http://schemas.microsoft.com/office/drawing/2014/main" id="{B3BBF77A-EBE4-FAF6-8162-950BF1DC0953}"/>
              </a:ext>
            </a:extLst>
          </p:cNvPr>
          <p:cNvSpPr txBox="1">
            <a:spLocks noChangeArrowheads="1"/>
          </p:cNvSpPr>
          <p:nvPr/>
        </p:nvSpPr>
        <p:spPr bwMode="auto">
          <a:xfrm>
            <a:off x="5837238" y="2946400"/>
            <a:ext cx="1303337"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execute()</a:t>
            </a:r>
            <a:endParaRPr lang="tr-TR" altLang="tr-TR" sz="1800"/>
          </a:p>
        </p:txBody>
      </p:sp>
      <p:sp>
        <p:nvSpPr>
          <p:cNvPr id="3" name="Rectangle 2">
            <a:extLst>
              <a:ext uri="{FF2B5EF4-FFF2-40B4-BE49-F238E27FC236}">
                <a16:creationId xmlns:a16="http://schemas.microsoft.com/office/drawing/2014/main" id="{AF64468D-C2C4-DB78-9CF9-AD9521EC8DF0}"/>
              </a:ext>
            </a:extLst>
          </p:cNvPr>
          <p:cNvSpPr/>
          <p:nvPr/>
        </p:nvSpPr>
        <p:spPr bwMode="auto">
          <a:xfrm>
            <a:off x="5837238" y="4975123"/>
            <a:ext cx="1851588" cy="1091380"/>
          </a:xfrm>
          <a:prstGeom prst="rect">
            <a:avLst/>
          </a:prstGeom>
          <a:ln>
            <a:headEnd type="none" w="med" len="med"/>
            <a:tailEnd type="triangl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Disk</a:t>
            </a:r>
          </a:p>
          <a:p>
            <a:pPr marL="0" marR="0" indent="0" algn="l" defTabSz="914400" rtl="0" eaLnBrk="0" fontAlgn="base" latinLnBrk="0" hangingPunct="0">
              <a:lnSpc>
                <a:spcPct val="100000"/>
              </a:lnSpc>
              <a:spcBef>
                <a:spcPct val="0"/>
              </a:spcBef>
              <a:spcAft>
                <a:spcPct val="0"/>
              </a:spcAft>
              <a:buClrTx/>
              <a:buSzTx/>
              <a:buFontTx/>
              <a:buNone/>
              <a:tabLst/>
            </a:pPr>
            <a:r>
              <a:rPr lang="en-US" dirty="0">
                <a:solidFill>
                  <a:schemeClr val="tx1"/>
                </a:solidFill>
                <a:latin typeface="Arial" charset="0"/>
              </a:rPr>
              <a:t>+backup()</a:t>
            </a:r>
          </a:p>
          <a:p>
            <a:pPr marL="0" marR="0" indent="0" algn="l" defTabSz="914400" rtl="0" eaLnBrk="0" fontAlgn="base" latinLnBrk="0" hangingPunct="0">
              <a:lnSpc>
                <a:spcPct val="100000"/>
              </a:lnSpc>
              <a:spcBef>
                <a:spcPct val="0"/>
              </a:spcBef>
              <a:spcAft>
                <a:spcPct val="0"/>
              </a:spcAft>
              <a:buClrTx/>
              <a:buSzTx/>
              <a:buFontTx/>
              <a:buNone/>
              <a:tabLst/>
            </a:pPr>
            <a:r>
              <a:rPr lang="en-US" dirty="0">
                <a:solidFill>
                  <a:schemeClr val="tx1"/>
                </a:solidFill>
                <a:latin typeface="Arial" charset="0"/>
              </a:rPr>
              <a:t>+</a:t>
            </a:r>
            <a:r>
              <a:rPr lang="en-US" dirty="0" err="1">
                <a:solidFill>
                  <a:schemeClr val="tx1"/>
                </a:solidFill>
                <a:latin typeface="Arial" charset="0"/>
              </a:rPr>
              <a:t>checkstatus</a:t>
            </a:r>
            <a:r>
              <a:rPr lang="en-US" dirty="0">
                <a:solidFill>
                  <a:schemeClr val="tx1"/>
                </a:solidFill>
                <a:latin typeface="Arial" charset="0"/>
              </a:rPr>
              <a:t>()</a:t>
            </a:r>
          </a:p>
        </p:txBody>
      </p:sp>
      <p:cxnSp>
        <p:nvCxnSpPr>
          <p:cNvPr id="5" name="Straight Arrow Connector 4">
            <a:extLst>
              <a:ext uri="{FF2B5EF4-FFF2-40B4-BE49-F238E27FC236}">
                <a16:creationId xmlns:a16="http://schemas.microsoft.com/office/drawing/2014/main" id="{D1D4C2E4-6250-9BFB-6757-DC6A98BD891E}"/>
              </a:ext>
            </a:extLst>
          </p:cNvPr>
          <p:cNvCxnSpPr/>
          <p:nvPr/>
        </p:nvCxnSpPr>
        <p:spPr bwMode="auto">
          <a:xfrm>
            <a:off x="5456903" y="4395019"/>
            <a:ext cx="609600" cy="49161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6" name="Straight Arrow Connector 5">
            <a:extLst>
              <a:ext uri="{FF2B5EF4-FFF2-40B4-BE49-F238E27FC236}">
                <a16:creationId xmlns:a16="http://schemas.microsoft.com/office/drawing/2014/main" id="{304A0925-63F1-58DB-D7EF-7DE54543DA2A}"/>
              </a:ext>
            </a:extLst>
          </p:cNvPr>
          <p:cNvCxnSpPr>
            <a:cxnSpLocks/>
          </p:cNvCxnSpPr>
          <p:nvPr/>
        </p:nvCxnSpPr>
        <p:spPr bwMode="auto">
          <a:xfrm flipH="1">
            <a:off x="6828503" y="4395019"/>
            <a:ext cx="427703" cy="49161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3875493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D067212-D92C-86A7-71F6-23BCD6245523}"/>
              </a:ext>
            </a:extLst>
          </p:cNvPr>
          <p:cNvSpPr>
            <a:spLocks noGrp="1" noChangeArrowheads="1"/>
          </p:cNvSpPr>
          <p:nvPr>
            <p:ph type="title"/>
          </p:nvPr>
        </p:nvSpPr>
        <p:spPr>
          <a:xfrm>
            <a:off x="457200" y="139700"/>
            <a:ext cx="8229600" cy="1371600"/>
          </a:xfrm>
        </p:spPr>
        <p:txBody>
          <a:bodyPr/>
          <a:lstStyle/>
          <a:p>
            <a:r>
              <a:rPr lang="en-US" altLang="tr-TR" dirty="0"/>
              <a:t>Command Pattern </a:t>
            </a:r>
            <a:endParaRPr lang="en-GB" altLang="tr-TR" dirty="0"/>
          </a:p>
        </p:txBody>
      </p:sp>
      <p:sp>
        <p:nvSpPr>
          <p:cNvPr id="34819" name="Rectangle 3">
            <a:extLst>
              <a:ext uri="{FF2B5EF4-FFF2-40B4-BE49-F238E27FC236}">
                <a16:creationId xmlns:a16="http://schemas.microsoft.com/office/drawing/2014/main" id="{77EA0798-EC06-59C1-4DC5-379A3359EA42}"/>
              </a:ext>
            </a:extLst>
          </p:cNvPr>
          <p:cNvSpPr>
            <a:spLocks noGrp="1" noChangeArrowheads="1"/>
          </p:cNvSpPr>
          <p:nvPr>
            <p:ph idx="1"/>
          </p:nvPr>
        </p:nvSpPr>
        <p:spPr>
          <a:xfrm>
            <a:off x="457200" y="1344325"/>
            <a:ext cx="8229600" cy="4532312"/>
          </a:xfrm>
        </p:spPr>
        <p:txBody>
          <a:bodyPr/>
          <a:lstStyle/>
          <a:p>
            <a:r>
              <a:rPr lang="en-US" altLang="tr-TR" sz="2800" dirty="0"/>
              <a:t>Can do fancy things </a:t>
            </a:r>
          </a:p>
          <a:p>
            <a:pPr lvl="1"/>
            <a:r>
              <a:rPr lang="en-US" altLang="tr-TR" sz="2400" dirty="0"/>
              <a:t>Attach a method call to an object at runtime</a:t>
            </a:r>
          </a:p>
          <a:p>
            <a:pPr lvl="1"/>
            <a:r>
              <a:rPr lang="en-US" altLang="tr-TR" sz="2400" dirty="0"/>
              <a:t>Logging the requests</a:t>
            </a:r>
          </a:p>
          <a:p>
            <a:pPr lvl="1"/>
            <a:r>
              <a:rPr lang="en-US" altLang="tr-TR" sz="2400" dirty="0"/>
              <a:t>Queuing the requests</a:t>
            </a:r>
          </a:p>
          <a:p>
            <a:pPr lvl="1"/>
            <a:r>
              <a:rPr lang="en-US" altLang="tr-TR" sz="2400" dirty="0"/>
              <a:t>Deferring the execution of the request</a:t>
            </a:r>
          </a:p>
          <a:p>
            <a:pPr lvl="1"/>
            <a:r>
              <a:rPr lang="en-US" altLang="tr-TR" sz="2400" dirty="0"/>
              <a:t>Package the request and send it to another process</a:t>
            </a:r>
          </a:p>
          <a:p>
            <a:pPr lvl="1"/>
            <a:r>
              <a:rPr lang="en-US" altLang="tr-TR" sz="2400" dirty="0"/>
              <a:t>Undo the request</a:t>
            </a:r>
          </a:p>
          <a:p>
            <a:pPr lvl="1"/>
            <a:r>
              <a:rPr lang="en-US" altLang="tr-TR" sz="2400" dirty="0"/>
              <a:t>Reuse a command </a:t>
            </a:r>
          </a:p>
          <a:p>
            <a:pPr lvl="2"/>
            <a:r>
              <a:rPr lang="en-US" altLang="tr-TR" sz="2000" dirty="0"/>
              <a:t>multiple invokers, macro-commands</a:t>
            </a:r>
          </a:p>
          <a:p>
            <a:r>
              <a:rPr lang="en-US" altLang="tr-TR" sz="2800" dirty="0"/>
              <a:t>Cannot do these easily if the client directly calls the receiver of the request</a:t>
            </a:r>
          </a:p>
          <a:p>
            <a:pPr lvl="1"/>
            <a:r>
              <a:rPr lang="en-US" altLang="tr-TR" sz="2000" dirty="0"/>
              <a:t> Invoker::foo(){</a:t>
            </a:r>
            <a:r>
              <a:rPr lang="en-US" altLang="tr-TR" sz="2000" dirty="0" err="1"/>
              <a:t>receiver.request</a:t>
            </a:r>
            <a:r>
              <a:rPr lang="en-US" altLang="tr-TR" sz="2000" dirty="0"/>
              <a:t>();} cannot do these</a:t>
            </a:r>
          </a:p>
        </p:txBody>
      </p:sp>
    </p:spTree>
    <p:extLst>
      <p:ext uri="{BB962C8B-B14F-4D97-AF65-F5344CB8AC3E}">
        <p14:creationId xmlns:p14="http://schemas.microsoft.com/office/powerpoint/2010/main" val="3589489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01C44-B621-0203-0AF2-788D04EBE54A}"/>
              </a:ext>
            </a:extLst>
          </p:cNvPr>
          <p:cNvSpPr>
            <a:spLocks noGrp="1"/>
          </p:cNvSpPr>
          <p:nvPr>
            <p:ph type="title"/>
          </p:nvPr>
        </p:nvSpPr>
        <p:spPr/>
        <p:txBody>
          <a:bodyPr/>
          <a:lstStyle/>
          <a:p>
            <a:r>
              <a:rPr lang="en-US" dirty="0"/>
              <a:t>Applicability –when..</a:t>
            </a:r>
          </a:p>
        </p:txBody>
      </p:sp>
      <p:sp>
        <p:nvSpPr>
          <p:cNvPr id="3" name="Content Placeholder 2">
            <a:extLst>
              <a:ext uri="{FF2B5EF4-FFF2-40B4-BE49-F238E27FC236}">
                <a16:creationId xmlns:a16="http://schemas.microsoft.com/office/drawing/2014/main" id="{066E11E5-8ED1-215F-5054-DEB0ECB70DC4}"/>
              </a:ext>
            </a:extLst>
          </p:cNvPr>
          <p:cNvSpPr>
            <a:spLocks noGrp="1"/>
          </p:cNvSpPr>
          <p:nvPr>
            <p:ph idx="1"/>
          </p:nvPr>
        </p:nvSpPr>
        <p:spPr>
          <a:xfrm>
            <a:off x="457199" y="1335291"/>
            <a:ext cx="8446655" cy="4532109"/>
          </a:xfrm>
        </p:spPr>
        <p:txBody>
          <a:bodyPr/>
          <a:lstStyle/>
          <a:p>
            <a:r>
              <a:rPr lang="en-US" sz="2800" dirty="0">
                <a:solidFill>
                  <a:srgbClr val="000000"/>
                </a:solidFill>
                <a:latin typeface="+mj-lt"/>
              </a:rPr>
              <a:t>Need to parametrize objects with actions </a:t>
            </a:r>
          </a:p>
          <a:p>
            <a:r>
              <a:rPr lang="en-US" sz="2800" b="0" i="0" dirty="0">
                <a:solidFill>
                  <a:srgbClr val="000000"/>
                </a:solidFill>
                <a:effectLst/>
                <a:latin typeface="+mj-lt"/>
              </a:rPr>
              <a:t>Need to specify, queue, and execute requests at different times. </a:t>
            </a:r>
          </a:p>
          <a:p>
            <a:pPr lvl="1"/>
            <a:r>
              <a:rPr lang="en-US" sz="2400" b="0" i="1" dirty="0">
                <a:solidFill>
                  <a:srgbClr val="000000"/>
                </a:solidFill>
                <a:effectLst/>
                <a:latin typeface="+mj-lt"/>
              </a:rPr>
              <a:t>Since a Command object can have a lifetime independent of the original request. </a:t>
            </a:r>
          </a:p>
          <a:p>
            <a:pPr lvl="1"/>
            <a:r>
              <a:rPr lang="en-US" altLang="tr-TR" sz="2400" dirty="0">
                <a:latin typeface="+mj-lt"/>
              </a:rPr>
              <a:t>Queuing the requests</a:t>
            </a:r>
          </a:p>
          <a:p>
            <a:pPr lvl="1"/>
            <a:r>
              <a:rPr lang="en-US" altLang="tr-TR" sz="2400" dirty="0">
                <a:latin typeface="+mj-lt"/>
              </a:rPr>
              <a:t>Deferring the execution of the request</a:t>
            </a:r>
          </a:p>
          <a:p>
            <a:pPr lvl="1"/>
            <a:r>
              <a:rPr lang="en-US" altLang="tr-TR" sz="2400" dirty="0">
                <a:latin typeface="+mj-lt"/>
              </a:rPr>
              <a:t>Package the request and send it to another process</a:t>
            </a:r>
          </a:p>
          <a:p>
            <a:pPr lvl="2"/>
            <a:r>
              <a:rPr lang="en-US" sz="2000" b="0" i="0" dirty="0">
                <a:solidFill>
                  <a:srgbClr val="000000"/>
                </a:solidFill>
                <a:effectLst/>
                <a:latin typeface="+mj-lt"/>
              </a:rPr>
              <a:t>If the receiver of a request can be represented in an address space-independent way, then you can transfer a command object for the request to a different process and fulfill the request there.</a:t>
            </a:r>
            <a:endParaRPr lang="en-US" sz="2000" dirty="0">
              <a:latin typeface="+mj-lt"/>
            </a:endParaRPr>
          </a:p>
        </p:txBody>
      </p:sp>
    </p:spTree>
    <p:extLst>
      <p:ext uri="{BB962C8B-B14F-4D97-AF65-F5344CB8AC3E}">
        <p14:creationId xmlns:p14="http://schemas.microsoft.com/office/powerpoint/2010/main" val="3919071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1CD71-5A2A-C6BB-ACF0-E96FC7C7FA11}"/>
              </a:ext>
            </a:extLst>
          </p:cNvPr>
          <p:cNvSpPr>
            <a:spLocks noGrp="1"/>
          </p:cNvSpPr>
          <p:nvPr>
            <p:ph type="title"/>
          </p:nvPr>
        </p:nvSpPr>
        <p:spPr/>
        <p:txBody>
          <a:bodyPr/>
          <a:lstStyle/>
          <a:p>
            <a:r>
              <a:rPr lang="en-US" dirty="0"/>
              <a:t>Applicability –when..</a:t>
            </a:r>
          </a:p>
        </p:txBody>
      </p:sp>
      <p:sp>
        <p:nvSpPr>
          <p:cNvPr id="3" name="Content Placeholder 2">
            <a:extLst>
              <a:ext uri="{FF2B5EF4-FFF2-40B4-BE49-F238E27FC236}">
                <a16:creationId xmlns:a16="http://schemas.microsoft.com/office/drawing/2014/main" id="{0976EF16-19D7-163D-B9E4-EF355B3DB03D}"/>
              </a:ext>
            </a:extLst>
          </p:cNvPr>
          <p:cNvSpPr>
            <a:spLocks noGrp="1"/>
          </p:cNvSpPr>
          <p:nvPr>
            <p:ph idx="1"/>
          </p:nvPr>
        </p:nvSpPr>
        <p:spPr/>
        <p:txBody>
          <a:bodyPr/>
          <a:lstStyle/>
          <a:p>
            <a:r>
              <a:rPr lang="en-US" altLang="tr-TR" sz="3200" dirty="0">
                <a:latin typeface="+mj-lt"/>
              </a:rPr>
              <a:t>Need to </a:t>
            </a:r>
            <a:r>
              <a:rPr lang="en-US" altLang="tr-TR" dirty="0">
                <a:latin typeface="+mj-lt"/>
              </a:rPr>
              <a:t>support l</a:t>
            </a:r>
            <a:r>
              <a:rPr lang="en-US" altLang="tr-TR" sz="3200" dirty="0">
                <a:latin typeface="+mj-lt"/>
              </a:rPr>
              <a:t>ogging the requests</a:t>
            </a:r>
          </a:p>
          <a:p>
            <a:pPr lvl="1"/>
            <a:r>
              <a:rPr lang="en-US" b="0" i="0" dirty="0">
                <a:solidFill>
                  <a:srgbClr val="000000"/>
                </a:solidFill>
                <a:effectLst/>
                <a:latin typeface="+mj-lt"/>
              </a:rPr>
              <a:t>Log them so that they can be reapplied in case of a system crash. </a:t>
            </a:r>
          </a:p>
          <a:p>
            <a:pPr lvl="2"/>
            <a:r>
              <a:rPr lang="en-US" b="0" i="0" dirty="0">
                <a:solidFill>
                  <a:srgbClr val="000000"/>
                </a:solidFill>
                <a:effectLst/>
                <a:latin typeface="+mj-lt"/>
              </a:rPr>
              <a:t>By augmenting the Command interface with load and store operations, you can keep a persistent log of changes. </a:t>
            </a:r>
          </a:p>
          <a:p>
            <a:pPr lvl="2"/>
            <a:r>
              <a:rPr lang="en-US" b="0" i="0" dirty="0">
                <a:solidFill>
                  <a:srgbClr val="000000"/>
                </a:solidFill>
                <a:effectLst/>
                <a:latin typeface="+mj-lt"/>
              </a:rPr>
              <a:t>Recovering from a crash involves reloading logged commands from disk and re-executing them with execute() operation.</a:t>
            </a:r>
            <a:endParaRPr lang="en-US" dirty="0"/>
          </a:p>
        </p:txBody>
      </p:sp>
    </p:spTree>
    <p:extLst>
      <p:ext uri="{BB962C8B-B14F-4D97-AF65-F5344CB8AC3E}">
        <p14:creationId xmlns:p14="http://schemas.microsoft.com/office/powerpoint/2010/main" val="3006331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2CD95-47D9-EDD6-778E-B0DADB12174C}"/>
              </a:ext>
            </a:extLst>
          </p:cNvPr>
          <p:cNvSpPr>
            <a:spLocks noGrp="1"/>
          </p:cNvSpPr>
          <p:nvPr>
            <p:ph type="title"/>
          </p:nvPr>
        </p:nvSpPr>
        <p:spPr/>
        <p:txBody>
          <a:bodyPr/>
          <a:lstStyle/>
          <a:p>
            <a:r>
              <a:rPr lang="en-US" dirty="0"/>
              <a:t>Applicability –when..</a:t>
            </a:r>
          </a:p>
        </p:txBody>
      </p:sp>
      <p:sp>
        <p:nvSpPr>
          <p:cNvPr id="3" name="Content Placeholder 2">
            <a:extLst>
              <a:ext uri="{FF2B5EF4-FFF2-40B4-BE49-F238E27FC236}">
                <a16:creationId xmlns:a16="http://schemas.microsoft.com/office/drawing/2014/main" id="{C9531AFD-2EF0-4D1B-C56B-66B72CD16B3B}"/>
              </a:ext>
            </a:extLst>
          </p:cNvPr>
          <p:cNvSpPr>
            <a:spLocks noGrp="1"/>
          </p:cNvSpPr>
          <p:nvPr>
            <p:ph idx="1"/>
          </p:nvPr>
        </p:nvSpPr>
        <p:spPr/>
        <p:txBody>
          <a:bodyPr/>
          <a:lstStyle/>
          <a:p>
            <a:r>
              <a:rPr lang="en-US" dirty="0">
                <a:solidFill>
                  <a:srgbClr val="000000"/>
                </a:solidFill>
                <a:latin typeface="+mj-lt"/>
              </a:rPr>
              <a:t>Need to support transactions</a:t>
            </a:r>
          </a:p>
          <a:p>
            <a:pPr lvl="1"/>
            <a:r>
              <a:rPr lang="en-US" dirty="0">
                <a:solidFill>
                  <a:srgbClr val="000000"/>
                </a:solidFill>
                <a:latin typeface="+mj-lt"/>
              </a:rPr>
              <a:t>Transactions consists of series operations as a single logical work of unit.</a:t>
            </a:r>
          </a:p>
          <a:p>
            <a:pPr lvl="1"/>
            <a:r>
              <a:rPr lang="en-US" altLang="tr-TR" dirty="0"/>
              <a:t>A Macro-Command consisting of multiple commands (Composite)</a:t>
            </a:r>
          </a:p>
          <a:p>
            <a:pPr lvl="2"/>
            <a:r>
              <a:rPr lang="en-US" altLang="tr-TR" dirty="0"/>
              <a:t>Sequencing of commands</a:t>
            </a:r>
          </a:p>
          <a:p>
            <a:pPr lvl="2"/>
            <a:r>
              <a:rPr lang="en-US" b="0" i="0" dirty="0">
                <a:solidFill>
                  <a:srgbClr val="000000"/>
                </a:solidFill>
                <a:effectLst/>
                <a:latin typeface="+mj-lt"/>
              </a:rPr>
              <a:t>Same interface as Command</a:t>
            </a:r>
          </a:p>
          <a:p>
            <a:pPr lvl="2"/>
            <a:r>
              <a:rPr lang="en-US" b="0" i="0" dirty="0">
                <a:solidFill>
                  <a:srgbClr val="000000"/>
                </a:solidFill>
                <a:effectLst/>
                <a:latin typeface="+mj-lt"/>
              </a:rPr>
              <a:t>easy to extend the system with new transactions.</a:t>
            </a:r>
          </a:p>
          <a:p>
            <a:pPr lvl="2"/>
            <a:endParaRPr lang="en-US" altLang="tr-TR" dirty="0"/>
          </a:p>
          <a:p>
            <a:pPr lvl="1"/>
            <a:endParaRPr lang="en-US" b="0" i="0" dirty="0">
              <a:solidFill>
                <a:srgbClr val="000000"/>
              </a:solidFill>
              <a:effectLst/>
              <a:latin typeface="+mj-lt"/>
            </a:endParaRPr>
          </a:p>
        </p:txBody>
      </p:sp>
    </p:spTree>
    <p:extLst>
      <p:ext uri="{BB962C8B-B14F-4D97-AF65-F5344CB8AC3E}">
        <p14:creationId xmlns:p14="http://schemas.microsoft.com/office/powerpoint/2010/main" val="28378114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C4B8C-BFED-0AF5-D5F0-F1CBC934AAF0}"/>
              </a:ext>
            </a:extLst>
          </p:cNvPr>
          <p:cNvSpPr>
            <a:spLocks noGrp="1"/>
          </p:cNvSpPr>
          <p:nvPr>
            <p:ph type="title"/>
          </p:nvPr>
        </p:nvSpPr>
        <p:spPr>
          <a:xfrm>
            <a:off x="457200" y="139152"/>
            <a:ext cx="8686800" cy="1371600"/>
          </a:xfrm>
        </p:spPr>
        <p:txBody>
          <a:bodyPr/>
          <a:lstStyle/>
          <a:p>
            <a:r>
              <a:rPr lang="en-US" dirty="0"/>
              <a:t>Macro Command Implementation</a:t>
            </a:r>
          </a:p>
        </p:txBody>
      </p:sp>
      <p:sp>
        <p:nvSpPr>
          <p:cNvPr id="3" name="Content Placeholder 2">
            <a:extLst>
              <a:ext uri="{FF2B5EF4-FFF2-40B4-BE49-F238E27FC236}">
                <a16:creationId xmlns:a16="http://schemas.microsoft.com/office/drawing/2014/main" id="{2E47F6B8-9B0B-A029-042D-9C8F85DBC311}"/>
              </a:ext>
            </a:extLst>
          </p:cNvPr>
          <p:cNvSpPr>
            <a:spLocks noGrp="1"/>
          </p:cNvSpPr>
          <p:nvPr>
            <p:ph idx="1"/>
          </p:nvPr>
        </p:nvSpPr>
        <p:spPr/>
        <p:txBody>
          <a:bodyPr/>
          <a:lstStyle/>
          <a:p>
            <a:pPr marL="0" indent="0">
              <a:buNone/>
            </a:pPr>
            <a:r>
              <a:rPr lang="en-US" sz="2200" dirty="0">
                <a:latin typeface="Source Sans Pro" panose="020B0503030403020204" pitchFamily="34" charset="0"/>
                <a:ea typeface="Source Sans Pro" panose="020B0503030403020204" pitchFamily="34" charset="0"/>
              </a:rPr>
              <a:t>class </a:t>
            </a:r>
            <a:r>
              <a:rPr lang="en-US" sz="2200" dirty="0" err="1">
                <a:latin typeface="Source Sans Pro" panose="020B0503030403020204" pitchFamily="34" charset="0"/>
                <a:ea typeface="Source Sans Pro" panose="020B0503030403020204" pitchFamily="34" charset="0"/>
              </a:rPr>
              <a:t>MacroCommand</a:t>
            </a:r>
            <a:r>
              <a:rPr lang="en-US" sz="2200" dirty="0">
                <a:latin typeface="Source Sans Pro" panose="020B0503030403020204" pitchFamily="34" charset="0"/>
                <a:ea typeface="Source Sans Pro" panose="020B0503030403020204" pitchFamily="34" charset="0"/>
              </a:rPr>
              <a:t> : public Command {</a:t>
            </a:r>
          </a:p>
          <a:p>
            <a:pPr marL="0" indent="0">
              <a:buNone/>
            </a:pPr>
            <a:r>
              <a:rPr lang="en-US" sz="2200" dirty="0">
                <a:latin typeface="Source Sans Pro" panose="020B0503030403020204" pitchFamily="34" charset="0"/>
                <a:ea typeface="Source Sans Pro" panose="020B0503030403020204" pitchFamily="34" charset="0"/>
              </a:rPr>
              <a:t>   public:</a:t>
            </a:r>
          </a:p>
          <a:p>
            <a:pPr marL="0" indent="0">
              <a:buNone/>
            </a:pPr>
            <a:r>
              <a:rPr lang="en-US" sz="2200" dirty="0">
                <a:latin typeface="Source Sans Pro" panose="020B0503030403020204" pitchFamily="34" charset="0"/>
                <a:ea typeface="Source Sans Pro" panose="020B0503030403020204" pitchFamily="34" charset="0"/>
              </a:rPr>
              <a:t>     virtual void add(Command*);  </a:t>
            </a:r>
          </a:p>
          <a:p>
            <a:pPr marL="0" indent="0">
              <a:buNone/>
            </a:pPr>
            <a:r>
              <a:rPr lang="en-US" sz="2200" dirty="0">
                <a:latin typeface="Source Sans Pro" panose="020B0503030403020204" pitchFamily="34" charset="0"/>
                <a:ea typeface="Source Sans Pro" panose="020B0503030403020204" pitchFamily="34" charset="0"/>
              </a:rPr>
              <a:t>      virtual void remove(Command*);</a:t>
            </a:r>
          </a:p>
          <a:p>
            <a:pPr marL="0" indent="0">
              <a:buNone/>
            </a:pPr>
            <a:r>
              <a:rPr lang="en-US" sz="2200" dirty="0">
                <a:latin typeface="Source Sans Pro" panose="020B0503030403020204" pitchFamily="34" charset="0"/>
                <a:ea typeface="Source Sans Pro" panose="020B0503030403020204" pitchFamily="34" charset="0"/>
              </a:rPr>
              <a:t>      virtual void execute();</a:t>
            </a:r>
          </a:p>
          <a:p>
            <a:pPr marL="0" indent="0">
              <a:buNone/>
            </a:pPr>
            <a:r>
              <a:rPr lang="en-US" sz="1800" dirty="0">
                <a:latin typeface="Source Sans Pro" panose="020B0503030403020204" pitchFamily="34" charset="0"/>
                <a:ea typeface="Source Sans Pro" panose="020B0503030403020204" pitchFamily="34" charset="0"/>
              </a:rPr>
              <a:t>         //…constructors, destructor</a:t>
            </a:r>
          </a:p>
          <a:p>
            <a:pPr marL="0" indent="0">
              <a:buNone/>
            </a:pPr>
            <a:r>
              <a:rPr lang="en-US" sz="2200" dirty="0">
                <a:latin typeface="Source Sans Pro" panose="020B0503030403020204" pitchFamily="34" charset="0"/>
                <a:ea typeface="Source Sans Pro" panose="020B0503030403020204" pitchFamily="34" charset="0"/>
              </a:rPr>
              <a:t> private:</a:t>
            </a:r>
          </a:p>
          <a:p>
            <a:pPr marL="0" indent="0">
              <a:buNone/>
            </a:pPr>
            <a:r>
              <a:rPr lang="en-US" sz="2200" dirty="0">
                <a:latin typeface="Source Sans Pro" panose="020B0503030403020204" pitchFamily="34" charset="0"/>
                <a:ea typeface="Source Sans Pro" panose="020B0503030403020204" pitchFamily="34" charset="0"/>
              </a:rPr>
              <a:t>     List&lt;Command*&gt;* </a:t>
            </a:r>
            <a:r>
              <a:rPr lang="en-US" sz="2200" dirty="0" err="1">
                <a:latin typeface="Source Sans Pro" panose="020B0503030403020204" pitchFamily="34" charset="0"/>
                <a:ea typeface="Source Sans Pro" panose="020B0503030403020204" pitchFamily="34" charset="0"/>
              </a:rPr>
              <a:t>cmds</a:t>
            </a:r>
            <a:r>
              <a:rPr lang="en-US" sz="2200" dirty="0">
                <a:latin typeface="Source Sans Pro" panose="020B0503030403020204" pitchFamily="34" charset="0"/>
                <a:ea typeface="Source Sans Pro" panose="020B0503030403020204" pitchFamily="34" charset="0"/>
              </a:rPr>
              <a:t>;</a:t>
            </a:r>
          </a:p>
          <a:p>
            <a:pPr marL="0" indent="0">
              <a:buNone/>
            </a:pPr>
            <a:r>
              <a:rPr lang="en-US" sz="2200" dirty="0">
                <a:latin typeface="Source Sans Pro" panose="020B0503030403020204" pitchFamily="34" charset="0"/>
                <a:ea typeface="Source Sans Pro" panose="020B0503030403020204" pitchFamily="34" charset="0"/>
              </a:rPr>
              <a:t>};</a:t>
            </a:r>
          </a:p>
          <a:p>
            <a:pPr marL="0" indent="0">
              <a:buNone/>
            </a:pPr>
            <a:r>
              <a:rPr lang="en-US" sz="2200" dirty="0">
                <a:latin typeface="Source Sans Pro" panose="020B0503030403020204" pitchFamily="34" charset="0"/>
                <a:ea typeface="Source Sans Pro" panose="020B0503030403020204" pitchFamily="34" charset="0"/>
              </a:rPr>
              <a:t>void </a:t>
            </a:r>
            <a:r>
              <a:rPr lang="en-US" sz="2200" dirty="0" err="1">
                <a:latin typeface="Source Sans Pro" panose="020B0503030403020204" pitchFamily="34" charset="0"/>
                <a:ea typeface="Source Sans Pro" panose="020B0503030403020204" pitchFamily="34" charset="0"/>
              </a:rPr>
              <a:t>MacroCommand</a:t>
            </a:r>
            <a:r>
              <a:rPr lang="en-US" sz="2200" dirty="0">
                <a:latin typeface="Source Sans Pro" panose="020B0503030403020204" pitchFamily="34" charset="0"/>
                <a:ea typeface="Source Sans Pro" panose="020B0503030403020204" pitchFamily="34" charset="0"/>
              </a:rPr>
              <a:t>::</a:t>
            </a:r>
            <a:r>
              <a:rPr lang="en-US" sz="2200" b="1" dirty="0">
                <a:latin typeface="Source Sans Pro" panose="020B0503030403020204" pitchFamily="34" charset="0"/>
                <a:ea typeface="Source Sans Pro" panose="020B0503030403020204" pitchFamily="34" charset="0"/>
              </a:rPr>
              <a:t>execute</a:t>
            </a:r>
            <a:r>
              <a:rPr lang="en-US" sz="2200" dirty="0">
                <a:latin typeface="Source Sans Pro" panose="020B0503030403020204" pitchFamily="34" charset="0"/>
                <a:ea typeface="Source Sans Pro" panose="020B0503030403020204" pitchFamily="34" charset="0"/>
              </a:rPr>
              <a:t> () {</a:t>
            </a:r>
          </a:p>
          <a:p>
            <a:pPr marL="0" indent="0">
              <a:buNone/>
            </a:pPr>
            <a:r>
              <a:rPr lang="en-US" sz="2200" dirty="0">
                <a:latin typeface="Source Sans Pro" panose="020B0503030403020204" pitchFamily="34" charset="0"/>
                <a:ea typeface="Source Sans Pro" panose="020B0503030403020204" pitchFamily="34" charset="0"/>
              </a:rPr>
              <a:t>   </a:t>
            </a:r>
            <a:r>
              <a:rPr lang="en-US" sz="2200" b="1" dirty="0">
                <a:latin typeface="Source Sans Pro" panose="020B0503030403020204" pitchFamily="34" charset="0"/>
                <a:ea typeface="Source Sans Pro" panose="020B0503030403020204" pitchFamily="34" charset="0"/>
              </a:rPr>
              <a:t>for (const auto &amp;</a:t>
            </a:r>
            <a:r>
              <a:rPr lang="en-US" sz="2200" b="1" dirty="0" err="1">
                <a:latin typeface="Source Sans Pro" panose="020B0503030403020204" pitchFamily="34" charset="0"/>
                <a:ea typeface="Source Sans Pro" panose="020B0503030403020204" pitchFamily="34" charset="0"/>
              </a:rPr>
              <a:t>cmd</a:t>
            </a:r>
            <a:r>
              <a:rPr lang="en-US" sz="2200" b="1" dirty="0">
                <a:latin typeface="Source Sans Pro" panose="020B0503030403020204" pitchFamily="34" charset="0"/>
                <a:ea typeface="Source Sans Pro" panose="020B0503030403020204" pitchFamily="34" charset="0"/>
              </a:rPr>
              <a:t>: *</a:t>
            </a:r>
            <a:r>
              <a:rPr lang="en-US" sz="2200" b="1" dirty="0" err="1">
                <a:latin typeface="Source Sans Pro" panose="020B0503030403020204" pitchFamily="34" charset="0"/>
                <a:ea typeface="Source Sans Pro" panose="020B0503030403020204" pitchFamily="34" charset="0"/>
              </a:rPr>
              <a:t>cmds</a:t>
            </a:r>
            <a:r>
              <a:rPr lang="en-US" sz="2200" b="1" dirty="0">
                <a:latin typeface="Source Sans Pro" panose="020B0503030403020204" pitchFamily="34" charset="0"/>
                <a:ea typeface="Source Sans Pro" panose="020B0503030403020204" pitchFamily="34" charset="0"/>
              </a:rPr>
              <a:t>)     </a:t>
            </a:r>
            <a:r>
              <a:rPr lang="en-US" sz="2200" b="1" dirty="0" err="1">
                <a:latin typeface="Source Sans Pro" panose="020B0503030403020204" pitchFamily="34" charset="0"/>
                <a:ea typeface="Source Sans Pro" panose="020B0503030403020204" pitchFamily="34" charset="0"/>
              </a:rPr>
              <a:t>cmd</a:t>
            </a:r>
            <a:r>
              <a:rPr lang="en-US" sz="2200" b="1" dirty="0">
                <a:latin typeface="Source Sans Pro" panose="020B0503030403020204" pitchFamily="34" charset="0"/>
                <a:ea typeface="Source Sans Pro" panose="020B0503030403020204" pitchFamily="34" charset="0"/>
              </a:rPr>
              <a:t>-&gt;execute();</a:t>
            </a:r>
          </a:p>
          <a:p>
            <a:pPr marL="0" indent="0">
              <a:buNone/>
            </a:pPr>
            <a:r>
              <a:rPr lang="en-US" sz="2200" dirty="0">
                <a:latin typeface="Source Sans Pro" panose="020B0503030403020204" pitchFamily="34" charset="0"/>
                <a:ea typeface="Source Sans Pro" panose="020B0503030403020204" pitchFamily="34" charset="0"/>
              </a:rPr>
              <a:t> }</a:t>
            </a:r>
          </a:p>
        </p:txBody>
      </p:sp>
      <p:sp>
        <p:nvSpPr>
          <p:cNvPr id="4" name="TextBox 3">
            <a:extLst>
              <a:ext uri="{FF2B5EF4-FFF2-40B4-BE49-F238E27FC236}">
                <a16:creationId xmlns:a16="http://schemas.microsoft.com/office/drawing/2014/main" id="{FA0B395F-4336-AACB-57C7-B78C8442A9F6}"/>
              </a:ext>
            </a:extLst>
          </p:cNvPr>
          <p:cNvSpPr txBox="1"/>
          <p:nvPr/>
        </p:nvSpPr>
        <p:spPr>
          <a:xfrm>
            <a:off x="7079226" y="2163097"/>
            <a:ext cx="620683" cy="369332"/>
          </a:xfrm>
          <a:prstGeom prst="rect">
            <a:avLst/>
          </a:prstGeom>
          <a:noFill/>
        </p:spPr>
        <p:txBody>
          <a:bodyPr wrap="none" rtlCol="0">
            <a:spAutoFit/>
          </a:bodyPr>
          <a:lstStyle/>
          <a:p>
            <a:r>
              <a:rPr lang="en-US" dirty="0">
                <a:solidFill>
                  <a:srgbClr val="7030A0"/>
                </a:solidFill>
              </a:rPr>
              <a:t>C++</a:t>
            </a:r>
          </a:p>
        </p:txBody>
      </p:sp>
    </p:spTree>
    <p:extLst>
      <p:ext uri="{BB962C8B-B14F-4D97-AF65-F5344CB8AC3E}">
        <p14:creationId xmlns:p14="http://schemas.microsoft.com/office/powerpoint/2010/main" val="979090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BBE9C-B3C8-E817-A01E-846612E31DE0}"/>
              </a:ext>
            </a:extLst>
          </p:cNvPr>
          <p:cNvSpPr>
            <a:spLocks noGrp="1"/>
          </p:cNvSpPr>
          <p:nvPr>
            <p:ph type="title"/>
          </p:nvPr>
        </p:nvSpPr>
        <p:spPr>
          <a:xfrm>
            <a:off x="457200" y="139152"/>
            <a:ext cx="8686800" cy="1371600"/>
          </a:xfrm>
        </p:spPr>
        <p:txBody>
          <a:bodyPr/>
          <a:lstStyle/>
          <a:p>
            <a:r>
              <a:rPr lang="en-US" dirty="0"/>
              <a:t>Macro Command Implementation</a:t>
            </a:r>
          </a:p>
        </p:txBody>
      </p:sp>
      <p:sp>
        <p:nvSpPr>
          <p:cNvPr id="3" name="Content Placeholder 2">
            <a:extLst>
              <a:ext uri="{FF2B5EF4-FFF2-40B4-BE49-F238E27FC236}">
                <a16:creationId xmlns:a16="http://schemas.microsoft.com/office/drawing/2014/main" id="{B6774C56-783B-7FA7-C304-797AFCBF0E13}"/>
              </a:ext>
            </a:extLst>
          </p:cNvPr>
          <p:cNvSpPr>
            <a:spLocks noGrp="1"/>
          </p:cNvSpPr>
          <p:nvPr>
            <p:ph idx="1"/>
          </p:nvPr>
        </p:nvSpPr>
        <p:spPr/>
        <p:txBody>
          <a:bodyPr/>
          <a:lstStyle/>
          <a:p>
            <a:pPr marL="0" indent="0">
              <a:buNone/>
            </a:pPr>
            <a:r>
              <a:rPr lang="en-US" sz="2400" dirty="0">
                <a:latin typeface="Source Sans Pro" panose="020B0503030403020204" pitchFamily="34" charset="0"/>
                <a:ea typeface="Source Sans Pro" panose="020B0503030403020204" pitchFamily="34" charset="0"/>
              </a:rPr>
              <a:t>class </a:t>
            </a:r>
            <a:r>
              <a:rPr lang="en-US" sz="2400" dirty="0" err="1">
                <a:latin typeface="Source Sans Pro" panose="020B0503030403020204" pitchFamily="34" charset="0"/>
                <a:ea typeface="Source Sans Pro" panose="020B0503030403020204" pitchFamily="34" charset="0"/>
              </a:rPr>
              <a:t>CompositeCommand</a:t>
            </a:r>
            <a:r>
              <a:rPr lang="en-US" sz="2400" dirty="0">
                <a:latin typeface="Source Sans Pro" panose="020B0503030403020204" pitchFamily="34" charset="0"/>
                <a:ea typeface="Source Sans Pro" panose="020B0503030403020204" pitchFamily="34" charset="0"/>
              </a:rPr>
              <a:t> implements Command {</a:t>
            </a:r>
          </a:p>
          <a:p>
            <a:pPr marL="0" indent="0">
              <a:buNone/>
            </a:pPr>
            <a:r>
              <a:rPr lang="en-US" sz="2400" dirty="0">
                <a:latin typeface="Source Sans Pro" panose="020B0503030403020204" pitchFamily="34" charset="0"/>
                <a:ea typeface="Source Sans Pro" panose="020B0503030403020204" pitchFamily="34" charset="0"/>
              </a:rPr>
              <a:t>    List&lt;Command&gt; commands;</a:t>
            </a:r>
          </a:p>
          <a:p>
            <a:pPr marL="0" indent="0">
              <a:buNone/>
            </a:pPr>
            <a:r>
              <a:rPr lang="en-US" sz="2400" dirty="0">
                <a:latin typeface="Source Sans Pro" panose="020B0503030403020204" pitchFamily="34" charset="0"/>
                <a:ea typeface="Source Sans Pro" panose="020B0503030403020204" pitchFamily="34" charset="0"/>
              </a:rPr>
              <a:t>    public void </a:t>
            </a:r>
            <a:r>
              <a:rPr lang="en-US" sz="2400" b="1" dirty="0">
                <a:latin typeface="Source Sans Pro" panose="020B0503030403020204" pitchFamily="34" charset="0"/>
                <a:ea typeface="Source Sans Pro" panose="020B0503030403020204" pitchFamily="34" charset="0"/>
              </a:rPr>
              <a:t>execute</a:t>
            </a:r>
            <a:r>
              <a:rPr lang="en-US" sz="2400" dirty="0">
                <a:latin typeface="Source Sans Pro" panose="020B0503030403020204" pitchFamily="34" charset="0"/>
                <a:ea typeface="Source Sans Pro" panose="020B0503030403020204" pitchFamily="34" charset="0"/>
              </a:rPr>
              <a:t>() {</a:t>
            </a:r>
          </a:p>
          <a:p>
            <a:pPr marL="0" indent="0">
              <a:buNone/>
            </a:pPr>
            <a:r>
              <a:rPr lang="en-US" sz="2400" dirty="0">
                <a:latin typeface="Source Sans Pro" panose="020B0503030403020204" pitchFamily="34" charset="0"/>
                <a:ea typeface="Source Sans Pro" panose="020B0503030403020204" pitchFamily="34" charset="0"/>
              </a:rPr>
              <a:t>        </a:t>
            </a:r>
            <a:r>
              <a:rPr lang="en-US" sz="2400" b="1" dirty="0" err="1">
                <a:latin typeface="Source Sans Pro" panose="020B0503030403020204" pitchFamily="34" charset="0"/>
                <a:ea typeface="Source Sans Pro" panose="020B0503030403020204" pitchFamily="34" charset="0"/>
              </a:rPr>
              <a:t>commands.forEach</a:t>
            </a:r>
            <a:r>
              <a:rPr lang="en-US" sz="2400" b="1" dirty="0">
                <a:latin typeface="Source Sans Pro" panose="020B0503030403020204" pitchFamily="34" charset="0"/>
                <a:ea typeface="Source Sans Pro" panose="020B0503030403020204" pitchFamily="34" charset="0"/>
              </a:rPr>
              <a:t>(Command::execute);</a:t>
            </a:r>
          </a:p>
          <a:p>
            <a:pPr marL="0" indent="0">
              <a:buNone/>
            </a:pPr>
            <a:r>
              <a:rPr lang="en-US" sz="2400" dirty="0">
                <a:latin typeface="Source Sans Pro" panose="020B0503030403020204" pitchFamily="34" charset="0"/>
                <a:ea typeface="Source Sans Pro" panose="020B0503030403020204" pitchFamily="34" charset="0"/>
              </a:rPr>
              <a:t>    }</a:t>
            </a:r>
          </a:p>
          <a:p>
            <a:pPr marL="0" indent="0">
              <a:buNone/>
            </a:pPr>
            <a:r>
              <a:rPr lang="en-US" sz="2400" dirty="0">
                <a:latin typeface="Source Sans Pro" panose="020B0503030403020204" pitchFamily="34" charset="0"/>
                <a:ea typeface="Source Sans Pro" panose="020B0503030403020204" pitchFamily="34" charset="0"/>
              </a:rPr>
              <a:t>    //add, remove, constructor implementations</a:t>
            </a:r>
          </a:p>
          <a:p>
            <a:pPr marL="0" indent="0">
              <a:buNone/>
            </a:pP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//alternative</a:t>
            </a:r>
          </a:p>
          <a:p>
            <a:pPr marL="0" indent="0">
              <a:buNone/>
            </a:pPr>
            <a:r>
              <a:rPr lang="en-US" sz="2400" dirty="0">
                <a:latin typeface="Source Sans Pro" panose="020B0503030403020204" pitchFamily="34" charset="0"/>
                <a:ea typeface="Source Sans Pro" panose="020B0503030403020204" pitchFamily="34" charset="0"/>
              </a:rPr>
              <a:t>    public void execute() {</a:t>
            </a:r>
          </a:p>
          <a:p>
            <a:pPr marL="0" indent="0">
              <a:buNone/>
            </a:pPr>
            <a:r>
              <a:rPr lang="en-US" sz="2400" dirty="0">
                <a:latin typeface="Source Sans Pro" panose="020B0503030403020204" pitchFamily="34" charset="0"/>
                <a:ea typeface="Source Sans Pro" panose="020B0503030403020204" pitchFamily="34" charset="0"/>
              </a:rPr>
              <a:t>        for(Command </a:t>
            </a:r>
            <a:r>
              <a:rPr lang="en-US" sz="2400" dirty="0" err="1">
                <a:latin typeface="Source Sans Pro" panose="020B0503030403020204" pitchFamily="34" charset="0"/>
                <a:ea typeface="Source Sans Pro" panose="020B0503030403020204" pitchFamily="34" charset="0"/>
              </a:rPr>
              <a:t>cmd</a:t>
            </a:r>
            <a:r>
              <a:rPr lang="en-US" sz="2400" dirty="0">
                <a:latin typeface="Source Sans Pro" panose="020B0503030403020204" pitchFamily="34" charset="0"/>
                <a:ea typeface="Source Sans Pro" panose="020B0503030403020204" pitchFamily="34" charset="0"/>
              </a:rPr>
              <a:t>: commands)  </a:t>
            </a:r>
            <a:r>
              <a:rPr lang="en-US" sz="2400" dirty="0" err="1">
                <a:latin typeface="Source Sans Pro" panose="020B0503030403020204" pitchFamily="34" charset="0"/>
                <a:ea typeface="Source Sans Pro" panose="020B0503030403020204" pitchFamily="34" charset="0"/>
              </a:rPr>
              <a:t>cmd.execute</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p>
        </p:txBody>
      </p:sp>
      <p:sp>
        <p:nvSpPr>
          <p:cNvPr id="4" name="TextBox 3">
            <a:extLst>
              <a:ext uri="{FF2B5EF4-FFF2-40B4-BE49-F238E27FC236}">
                <a16:creationId xmlns:a16="http://schemas.microsoft.com/office/drawing/2014/main" id="{F67A13CA-F412-A6BB-FC22-5365D0825151}"/>
              </a:ext>
            </a:extLst>
          </p:cNvPr>
          <p:cNvSpPr txBox="1"/>
          <p:nvPr/>
        </p:nvSpPr>
        <p:spPr>
          <a:xfrm>
            <a:off x="7728155" y="2231923"/>
            <a:ext cx="671979" cy="369332"/>
          </a:xfrm>
          <a:prstGeom prst="rect">
            <a:avLst/>
          </a:prstGeom>
          <a:noFill/>
        </p:spPr>
        <p:txBody>
          <a:bodyPr wrap="none" rtlCol="0">
            <a:spAutoFit/>
          </a:bodyPr>
          <a:lstStyle/>
          <a:p>
            <a:r>
              <a:rPr lang="en-US" dirty="0">
                <a:solidFill>
                  <a:srgbClr val="7030A0"/>
                </a:solidFill>
              </a:rPr>
              <a:t>Java</a:t>
            </a:r>
          </a:p>
        </p:txBody>
      </p:sp>
    </p:spTree>
    <p:extLst>
      <p:ext uri="{BB962C8B-B14F-4D97-AF65-F5344CB8AC3E}">
        <p14:creationId xmlns:p14="http://schemas.microsoft.com/office/powerpoint/2010/main" val="409253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B0CD-33EE-5647-F1A4-272A2E513FA0}"/>
              </a:ext>
            </a:extLst>
          </p:cNvPr>
          <p:cNvSpPr>
            <a:spLocks noGrp="1"/>
          </p:cNvSpPr>
          <p:nvPr>
            <p:ph type="title"/>
          </p:nvPr>
        </p:nvSpPr>
        <p:spPr/>
        <p:txBody>
          <a:bodyPr/>
          <a:lstStyle/>
          <a:p>
            <a:r>
              <a:rPr lang="en-US" dirty="0"/>
              <a:t>Applicability –when..</a:t>
            </a:r>
          </a:p>
        </p:txBody>
      </p:sp>
      <p:sp>
        <p:nvSpPr>
          <p:cNvPr id="3" name="Content Placeholder 2">
            <a:extLst>
              <a:ext uri="{FF2B5EF4-FFF2-40B4-BE49-F238E27FC236}">
                <a16:creationId xmlns:a16="http://schemas.microsoft.com/office/drawing/2014/main" id="{690DD4A9-E6F7-10A1-0DB3-678DB31189F7}"/>
              </a:ext>
            </a:extLst>
          </p:cNvPr>
          <p:cNvSpPr>
            <a:spLocks noGrp="1"/>
          </p:cNvSpPr>
          <p:nvPr>
            <p:ph idx="1"/>
          </p:nvPr>
        </p:nvSpPr>
        <p:spPr/>
        <p:txBody>
          <a:bodyPr/>
          <a:lstStyle/>
          <a:p>
            <a:r>
              <a:rPr lang="en-US" sz="3200" b="0" i="0" dirty="0">
                <a:solidFill>
                  <a:srgbClr val="000000"/>
                </a:solidFill>
                <a:effectLst/>
                <a:latin typeface="+mj-lt"/>
              </a:rPr>
              <a:t>Need to support undo the request. </a:t>
            </a:r>
          </a:p>
          <a:p>
            <a:pPr lvl="1"/>
            <a:r>
              <a:rPr lang="en-US" dirty="0">
                <a:solidFill>
                  <a:srgbClr val="000000"/>
                </a:solidFill>
                <a:latin typeface="+mj-lt"/>
              </a:rPr>
              <a:t>Undo last operation</a:t>
            </a:r>
          </a:p>
          <a:p>
            <a:pPr lvl="1"/>
            <a:r>
              <a:rPr lang="en-US" b="0" i="0" dirty="0">
                <a:solidFill>
                  <a:srgbClr val="000000"/>
                </a:solidFill>
                <a:effectLst/>
                <a:latin typeface="+mj-lt"/>
              </a:rPr>
              <a:t>Support both </a:t>
            </a:r>
            <a:r>
              <a:rPr lang="en-US" dirty="0">
                <a:solidFill>
                  <a:srgbClr val="000000"/>
                </a:solidFill>
                <a:latin typeface="+mj-lt"/>
              </a:rPr>
              <a:t>undo and redo</a:t>
            </a:r>
          </a:p>
          <a:p>
            <a:pPr lvl="1"/>
            <a:r>
              <a:rPr lang="en-US" b="0" i="0" dirty="0">
                <a:solidFill>
                  <a:srgbClr val="000000"/>
                </a:solidFill>
                <a:effectLst/>
                <a:latin typeface="+mj-lt"/>
              </a:rPr>
              <a:t>Multi-level undo and redo</a:t>
            </a:r>
            <a:endParaRPr lang="en-US" dirty="0"/>
          </a:p>
        </p:txBody>
      </p:sp>
    </p:spTree>
    <p:extLst>
      <p:ext uri="{BB962C8B-B14F-4D97-AF65-F5344CB8AC3E}">
        <p14:creationId xmlns:p14="http://schemas.microsoft.com/office/powerpoint/2010/main" val="354095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0916-CBCD-5706-CA7E-CCB467C30179}"/>
              </a:ext>
            </a:extLst>
          </p:cNvPr>
          <p:cNvSpPr>
            <a:spLocks noGrp="1"/>
          </p:cNvSpPr>
          <p:nvPr>
            <p:ph type="title"/>
          </p:nvPr>
        </p:nvSpPr>
        <p:spPr/>
        <p:txBody>
          <a:bodyPr/>
          <a:lstStyle/>
          <a:p>
            <a:r>
              <a:rPr lang="en-US" dirty="0"/>
              <a:t>Implementation issue-1: Undo</a:t>
            </a:r>
          </a:p>
        </p:txBody>
      </p:sp>
      <p:sp>
        <p:nvSpPr>
          <p:cNvPr id="3" name="Content Placeholder 2">
            <a:extLst>
              <a:ext uri="{FF2B5EF4-FFF2-40B4-BE49-F238E27FC236}">
                <a16:creationId xmlns:a16="http://schemas.microsoft.com/office/drawing/2014/main" id="{147C4161-D1BE-8501-FC22-04A7A2A598F1}"/>
              </a:ext>
            </a:extLst>
          </p:cNvPr>
          <p:cNvSpPr>
            <a:spLocks noGrp="1"/>
          </p:cNvSpPr>
          <p:nvPr>
            <p:ph idx="1"/>
          </p:nvPr>
        </p:nvSpPr>
        <p:spPr>
          <a:xfrm>
            <a:off x="290052" y="1270636"/>
            <a:ext cx="8853948" cy="4532109"/>
          </a:xfrm>
        </p:spPr>
        <p:txBody>
          <a:bodyPr/>
          <a:lstStyle/>
          <a:p>
            <a:pPr marL="0" indent="0" algn="l">
              <a:buNone/>
            </a:pPr>
            <a:r>
              <a:rPr lang="en-US" sz="2400" b="0" i="1" dirty="0">
                <a:solidFill>
                  <a:srgbClr val="000000"/>
                </a:solidFill>
                <a:effectLst/>
                <a:latin typeface="+mj-lt"/>
              </a:rPr>
              <a:t>Supporting undo and redo.</a:t>
            </a:r>
          </a:p>
          <a:p>
            <a:r>
              <a:rPr lang="en-US" sz="2400" b="0" i="0" dirty="0">
                <a:solidFill>
                  <a:srgbClr val="000000"/>
                </a:solidFill>
                <a:effectLst/>
                <a:latin typeface="+mj-lt"/>
              </a:rPr>
              <a:t>Command interface  supporting undo</a:t>
            </a:r>
          </a:p>
          <a:p>
            <a:pPr marL="0" indent="0">
              <a:buNone/>
            </a:pPr>
            <a:r>
              <a:rPr lang="en-US" sz="2400" dirty="0">
                <a:solidFill>
                  <a:srgbClr val="000000"/>
                </a:solidFill>
                <a:latin typeface="+mj-lt"/>
              </a:rPr>
              <a:t>  </a:t>
            </a:r>
            <a:r>
              <a:rPr lang="en-US" sz="2400" dirty="0">
                <a:solidFill>
                  <a:srgbClr val="000000"/>
                </a:solidFill>
                <a:latin typeface="Source Sans Pro" panose="020B0503030403020204" pitchFamily="34" charset="0"/>
                <a:ea typeface="Source Sans Pro" panose="020B0503030403020204" pitchFamily="34" charset="0"/>
              </a:rPr>
              <a:t>      </a:t>
            </a:r>
            <a:r>
              <a:rPr lang="en-US" sz="2400" dirty="0">
                <a:solidFill>
                  <a:srgbClr val="000000"/>
                </a:solidFill>
                <a:latin typeface="Source Code Pro" panose="020B0509030403020204" pitchFamily="49" charset="0"/>
                <a:ea typeface="Source Code Pro" panose="020B0509030403020204" pitchFamily="49" charset="0"/>
              </a:rPr>
              <a:t>public interface </a:t>
            </a:r>
            <a:r>
              <a:rPr lang="en-US" sz="2400" dirty="0" err="1">
                <a:solidFill>
                  <a:srgbClr val="000000"/>
                </a:solidFill>
                <a:latin typeface="Source Code Pro" panose="020B0509030403020204" pitchFamily="49" charset="0"/>
                <a:ea typeface="Source Code Pro" panose="020B0509030403020204" pitchFamily="49" charset="0"/>
              </a:rPr>
              <a:t>UndoableCommand</a:t>
            </a:r>
            <a:r>
              <a:rPr lang="en-US" sz="2400" dirty="0">
                <a:solidFill>
                  <a:srgbClr val="000000"/>
                </a:solidFill>
                <a:latin typeface="Source Code Pro" panose="020B0509030403020204" pitchFamily="49" charset="0"/>
                <a:ea typeface="Source Code Pro" panose="020B0509030403020204" pitchFamily="49" charset="0"/>
              </a:rPr>
              <a:t>{</a:t>
            </a:r>
          </a:p>
          <a:p>
            <a:pPr marL="0" indent="0">
              <a:buNone/>
            </a:pPr>
            <a:r>
              <a:rPr lang="en-US" sz="2400" b="0" i="0" dirty="0">
                <a:solidFill>
                  <a:srgbClr val="000000"/>
                </a:solidFill>
                <a:effectLst/>
                <a:latin typeface="Source Code Pro" panose="020B0509030403020204" pitchFamily="49" charset="0"/>
                <a:ea typeface="Source Code Pro" panose="020B0509030403020204" pitchFamily="49" charset="0"/>
              </a:rPr>
              <a:t>          public void execute();</a:t>
            </a:r>
          </a:p>
          <a:p>
            <a:pPr marL="0" indent="0">
              <a:buNone/>
            </a:pPr>
            <a:r>
              <a:rPr lang="en-US" sz="2400" dirty="0">
                <a:solidFill>
                  <a:srgbClr val="000000"/>
                </a:solidFill>
                <a:latin typeface="Source Code Pro" panose="020B0509030403020204" pitchFamily="49" charset="0"/>
                <a:ea typeface="Source Code Pro" panose="020B0509030403020204" pitchFamily="49" charset="0"/>
              </a:rPr>
              <a:t>          public void undo();</a:t>
            </a:r>
          </a:p>
          <a:p>
            <a:pPr marL="0" indent="0">
              <a:buNone/>
            </a:pPr>
            <a:r>
              <a:rPr lang="en-US" sz="2400" b="0" i="0" dirty="0">
                <a:solidFill>
                  <a:srgbClr val="000000"/>
                </a:solidFill>
                <a:effectLst/>
                <a:latin typeface="Source Code Pro" panose="020B0509030403020204" pitchFamily="49" charset="0"/>
                <a:ea typeface="Source Code Pro" panose="020B0509030403020204" pitchFamily="49" charset="0"/>
              </a:rPr>
              <a:t>   }</a:t>
            </a:r>
            <a:r>
              <a:rPr lang="en-US" sz="2400" b="0" i="0" dirty="0">
                <a:solidFill>
                  <a:srgbClr val="000000"/>
                </a:solidFill>
                <a:effectLst/>
                <a:latin typeface="Source Sans Pro" panose="020B0503030403020204" pitchFamily="34" charset="0"/>
                <a:ea typeface="Source Sans Pro" panose="020B0503030403020204" pitchFamily="34" charset="0"/>
              </a:rPr>
              <a:t> </a:t>
            </a:r>
          </a:p>
          <a:p>
            <a:r>
              <a:rPr lang="en-US" sz="2400" b="0" i="0" dirty="0">
                <a:solidFill>
                  <a:srgbClr val="000000"/>
                </a:solidFill>
                <a:effectLst/>
                <a:latin typeface="+mj-lt"/>
              </a:rPr>
              <a:t>A </a:t>
            </a:r>
            <a:r>
              <a:rPr lang="en-US" sz="2400" b="0" i="0" dirty="0" err="1">
                <a:solidFill>
                  <a:srgbClr val="000000"/>
                </a:solidFill>
                <a:effectLst/>
                <a:latin typeface="+mj-lt"/>
              </a:rPr>
              <a:t>ConcreteCommand</a:t>
            </a:r>
            <a:r>
              <a:rPr lang="en-US" sz="2400" b="0" i="0" dirty="0">
                <a:solidFill>
                  <a:srgbClr val="000000"/>
                </a:solidFill>
                <a:effectLst/>
                <a:latin typeface="+mj-lt"/>
              </a:rPr>
              <a:t> class might need to store additional data to undo the operation. </a:t>
            </a:r>
          </a:p>
          <a:p>
            <a:pPr lvl="1"/>
            <a:r>
              <a:rPr lang="en-US" sz="2000" b="0" i="0" dirty="0">
                <a:solidFill>
                  <a:srgbClr val="000000"/>
                </a:solidFill>
                <a:effectLst/>
                <a:latin typeface="+mj-lt"/>
              </a:rPr>
              <a:t>the arguments to the operation performed on the receiver, and</a:t>
            </a:r>
          </a:p>
          <a:p>
            <a:pPr lvl="1"/>
            <a:r>
              <a:rPr lang="en-US" sz="2000" b="0" i="0" dirty="0">
                <a:solidFill>
                  <a:srgbClr val="000000"/>
                </a:solidFill>
                <a:effectLst/>
                <a:latin typeface="+mj-lt"/>
              </a:rPr>
              <a:t>any original values in the receiver that can change as a result of handling the request. </a:t>
            </a:r>
          </a:p>
          <a:p>
            <a:pPr>
              <a:lnSpc>
                <a:spcPct val="90000"/>
              </a:lnSpc>
            </a:pPr>
            <a:r>
              <a:rPr lang="en-US" altLang="tr-TR" sz="2400" dirty="0"/>
              <a:t>Receiver has operations that lets command restore the state.           </a:t>
            </a:r>
            <a:r>
              <a:rPr lang="en-US" altLang="tr-TR" sz="2000" dirty="0"/>
              <a:t>Light::on() and Light::off()</a:t>
            </a:r>
          </a:p>
          <a:p>
            <a:pPr marL="457200" lvl="1" indent="0">
              <a:buNone/>
            </a:pPr>
            <a:endParaRPr lang="en-US" sz="1800" b="0" i="0" dirty="0">
              <a:solidFill>
                <a:srgbClr val="000000"/>
              </a:solidFill>
              <a:effectLst/>
              <a:latin typeface="+mj-lt"/>
            </a:endParaRPr>
          </a:p>
          <a:p>
            <a:endParaRPr lang="en-US" sz="2400" dirty="0">
              <a:latin typeface="+mj-lt"/>
            </a:endParaRPr>
          </a:p>
        </p:txBody>
      </p:sp>
    </p:spTree>
    <p:extLst>
      <p:ext uri="{BB962C8B-B14F-4D97-AF65-F5344CB8AC3E}">
        <p14:creationId xmlns:p14="http://schemas.microsoft.com/office/powerpoint/2010/main" val="787595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26983-EDB2-C157-0366-B795DD2BAFDF}"/>
              </a:ext>
            </a:extLst>
          </p:cNvPr>
          <p:cNvSpPr>
            <a:spLocks noGrp="1"/>
          </p:cNvSpPr>
          <p:nvPr>
            <p:ph type="title"/>
          </p:nvPr>
        </p:nvSpPr>
        <p:spPr/>
        <p:txBody>
          <a:bodyPr/>
          <a:lstStyle/>
          <a:p>
            <a:r>
              <a:rPr lang="en-US" dirty="0"/>
              <a:t>Example: Undoable Command</a:t>
            </a:r>
          </a:p>
        </p:txBody>
      </p:sp>
      <p:sp>
        <p:nvSpPr>
          <p:cNvPr id="3" name="Content Placeholder 2">
            <a:extLst>
              <a:ext uri="{FF2B5EF4-FFF2-40B4-BE49-F238E27FC236}">
                <a16:creationId xmlns:a16="http://schemas.microsoft.com/office/drawing/2014/main" id="{ACACB395-1C8E-15BA-FB06-97CC895E92AD}"/>
              </a:ext>
            </a:extLst>
          </p:cNvPr>
          <p:cNvSpPr>
            <a:spLocks noGrp="1"/>
          </p:cNvSpPr>
          <p:nvPr>
            <p:ph idx="1"/>
          </p:nvPr>
        </p:nvSpPr>
        <p:spPr>
          <a:xfrm>
            <a:off x="355600" y="1298345"/>
            <a:ext cx="8955548" cy="4532109"/>
          </a:xfrm>
        </p:spPr>
        <p:txBody>
          <a:bodyPr/>
          <a:lstStyle/>
          <a:p>
            <a:pPr marL="0" indent="0">
              <a:buNone/>
            </a:pPr>
            <a:r>
              <a:rPr lang="en-US" sz="2000" dirty="0">
                <a:latin typeface="Source Sans Pro" panose="020B0503030403020204" pitchFamily="34" charset="0"/>
                <a:ea typeface="Source Sans Pro" panose="020B0503030403020204" pitchFamily="34" charset="0"/>
              </a:rPr>
              <a:t>class </a:t>
            </a:r>
            <a:r>
              <a:rPr lang="en-US" sz="2000" dirty="0" err="1">
                <a:latin typeface="Source Sans Pro" panose="020B0503030403020204" pitchFamily="34" charset="0"/>
                <a:ea typeface="Source Sans Pro" panose="020B0503030403020204" pitchFamily="34" charset="0"/>
              </a:rPr>
              <a:t>MoveUnitCommand</a:t>
            </a:r>
            <a:r>
              <a:rPr lang="en-US" sz="2000" dirty="0">
                <a:latin typeface="Source Sans Pro" panose="020B0503030403020204" pitchFamily="34" charset="0"/>
                <a:ea typeface="Source Sans Pro" panose="020B0503030403020204" pitchFamily="34" charset="0"/>
              </a:rPr>
              <a:t> : public </a:t>
            </a:r>
            <a:r>
              <a:rPr lang="en-US" sz="2000" dirty="0" err="1">
                <a:latin typeface="Source Sans Pro" panose="020B0503030403020204" pitchFamily="34" charset="0"/>
                <a:ea typeface="Source Sans Pro" panose="020B0503030403020204" pitchFamily="34" charset="0"/>
              </a:rPr>
              <a:t>UndoableCommand</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public: </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MoveUnitCommand</a:t>
            </a:r>
            <a:r>
              <a:rPr lang="en-US" sz="2000" dirty="0">
                <a:latin typeface="Source Sans Pro" panose="020B0503030403020204" pitchFamily="34" charset="0"/>
                <a:ea typeface="Source Sans Pro" panose="020B0503030403020204" pitchFamily="34" charset="0"/>
              </a:rPr>
              <a:t>(Unit* unit, int x, int y)</a:t>
            </a:r>
          </a:p>
          <a:p>
            <a:pPr marL="0" indent="0">
              <a:buNone/>
            </a:pPr>
            <a:r>
              <a:rPr lang="en-US" sz="2000" dirty="0">
                <a:latin typeface="Source Sans Pro" panose="020B0503030403020204" pitchFamily="34" charset="0"/>
                <a:ea typeface="Source Sans Pro" panose="020B0503030403020204" pitchFamily="34" charset="0"/>
              </a:rPr>
              <a:t>                           : </a:t>
            </a:r>
            <a:r>
              <a:rPr lang="en-US" sz="1800" dirty="0">
                <a:latin typeface="Source Sans Pro" panose="020B0503030403020204" pitchFamily="34" charset="0"/>
                <a:ea typeface="Source Sans Pro" panose="020B0503030403020204" pitchFamily="34" charset="0"/>
              </a:rPr>
              <a:t>receiver(unit),  </a:t>
            </a:r>
            <a:r>
              <a:rPr lang="en-US" sz="1800" dirty="0" err="1">
                <a:latin typeface="Source Sans Pro" panose="020B0503030403020204" pitchFamily="34" charset="0"/>
                <a:ea typeface="Source Sans Pro" panose="020B0503030403020204" pitchFamily="34" charset="0"/>
              </a:rPr>
              <a:t>xBefore</a:t>
            </a:r>
            <a:r>
              <a:rPr lang="en-US" sz="1800" dirty="0">
                <a:latin typeface="Source Sans Pro" panose="020B0503030403020204" pitchFamily="34" charset="0"/>
                <a:ea typeface="Source Sans Pro" panose="020B0503030403020204" pitchFamily="34" charset="0"/>
              </a:rPr>
              <a:t>_(0),  </a:t>
            </a:r>
            <a:r>
              <a:rPr lang="en-US" sz="1800" dirty="0" err="1">
                <a:latin typeface="Source Sans Pro" panose="020B0503030403020204" pitchFamily="34" charset="0"/>
                <a:ea typeface="Source Sans Pro" panose="020B0503030403020204" pitchFamily="34" charset="0"/>
              </a:rPr>
              <a:t>yBefore</a:t>
            </a:r>
            <a:r>
              <a:rPr lang="en-US" sz="1800" dirty="0">
                <a:latin typeface="Source Sans Pro" panose="020B0503030403020204" pitchFamily="34" charset="0"/>
                <a:ea typeface="Source Sans Pro" panose="020B0503030403020204" pitchFamily="34" charset="0"/>
              </a:rPr>
              <a:t>_(0),    x_(x),    y_(y)  {}</a:t>
            </a:r>
            <a:endParaRPr lang="en-US" sz="2000" dirty="0">
              <a:latin typeface="Source Sans Pro" panose="020B0503030403020204" pitchFamily="34" charset="0"/>
              <a:ea typeface="Source Sans Pro" panose="020B0503030403020204" pitchFamily="34" charset="0"/>
            </a:endParaRPr>
          </a:p>
          <a:p>
            <a:pPr marL="0" indent="0">
              <a:buNone/>
            </a:pPr>
            <a:r>
              <a:rPr lang="en-US" sz="2000" dirty="0">
                <a:solidFill>
                  <a:srgbClr val="0070C0"/>
                </a:solidFill>
                <a:latin typeface="Source Sans Pro" panose="020B0503030403020204" pitchFamily="34" charset="0"/>
                <a:ea typeface="Source Sans Pro" panose="020B0503030403020204" pitchFamily="34" charset="0"/>
              </a:rPr>
              <a:t>        </a:t>
            </a:r>
            <a:r>
              <a:rPr lang="en-US" sz="2000" dirty="0">
                <a:solidFill>
                  <a:schemeClr val="bg2"/>
                </a:solidFill>
                <a:latin typeface="Source Sans Pro" panose="020B0503030403020204" pitchFamily="34" charset="0"/>
                <a:ea typeface="Source Sans Pro" panose="020B0503030403020204" pitchFamily="34" charset="0"/>
              </a:rPr>
              <a:t>virtual void </a:t>
            </a:r>
            <a:r>
              <a:rPr lang="en-US" sz="2000" b="1" dirty="0">
                <a:solidFill>
                  <a:schemeClr val="bg2"/>
                </a:solidFill>
                <a:latin typeface="Source Sans Pro" panose="020B0503030403020204" pitchFamily="34" charset="0"/>
                <a:ea typeface="Source Sans Pro" panose="020B0503030403020204" pitchFamily="34" charset="0"/>
              </a:rPr>
              <a:t>execute</a:t>
            </a:r>
            <a:r>
              <a:rPr lang="en-US" sz="2000" dirty="0">
                <a:solidFill>
                  <a:schemeClr val="bg2"/>
                </a:solidFill>
                <a:latin typeface="Source Sans Pro" panose="020B0503030403020204" pitchFamily="34" charset="0"/>
                <a:ea typeface="Source Sans Pro" panose="020B0503030403020204" pitchFamily="34" charset="0"/>
              </a:rPr>
              <a:t>() {</a:t>
            </a:r>
          </a:p>
          <a:p>
            <a:pPr marL="0" indent="0">
              <a:buNone/>
            </a:pPr>
            <a:r>
              <a:rPr lang="en-US" sz="2000" i="1" dirty="0">
                <a:solidFill>
                  <a:schemeClr val="bg2"/>
                </a:solidFill>
                <a:latin typeface="Source Sans Pro" panose="020B0503030403020204" pitchFamily="34" charset="0"/>
                <a:ea typeface="Source Sans Pro" panose="020B0503030403020204" pitchFamily="34" charset="0"/>
              </a:rPr>
              <a:t>              // to remember the unit's position before the move</a:t>
            </a:r>
          </a:p>
          <a:p>
            <a:pPr marL="0" indent="0">
              <a:buNone/>
            </a:pPr>
            <a:r>
              <a:rPr lang="en-US" sz="2000" i="1" dirty="0">
                <a:solidFill>
                  <a:srgbClr val="0070C0"/>
                </a:solidFill>
                <a:latin typeface="Source Sans Pro" panose="020B0503030403020204" pitchFamily="34" charset="0"/>
                <a:ea typeface="Source Sans Pro" panose="020B0503030403020204" pitchFamily="34" charset="0"/>
              </a:rPr>
              <a:t>              </a:t>
            </a:r>
            <a:r>
              <a:rPr lang="en-US" sz="2000" dirty="0" err="1">
                <a:solidFill>
                  <a:schemeClr val="accent5">
                    <a:lumMod val="50000"/>
                  </a:schemeClr>
                </a:solidFill>
                <a:latin typeface="Source Sans Pro" panose="020B0503030403020204" pitchFamily="34" charset="0"/>
                <a:ea typeface="Source Sans Pro" panose="020B0503030403020204" pitchFamily="34" charset="0"/>
              </a:rPr>
              <a:t>xBefore</a:t>
            </a:r>
            <a:r>
              <a:rPr lang="en-US" sz="2000" dirty="0">
                <a:solidFill>
                  <a:schemeClr val="accent5">
                    <a:lumMod val="50000"/>
                  </a:schemeClr>
                </a:solidFill>
                <a:latin typeface="Source Sans Pro" panose="020B0503030403020204" pitchFamily="34" charset="0"/>
                <a:ea typeface="Source Sans Pro" panose="020B0503030403020204" pitchFamily="34" charset="0"/>
              </a:rPr>
              <a:t>_ = receiver-&gt;x();</a:t>
            </a:r>
          </a:p>
          <a:p>
            <a:pPr marL="0" indent="0">
              <a:buNone/>
            </a:pPr>
            <a:r>
              <a:rPr lang="en-US" sz="2000" dirty="0">
                <a:solidFill>
                  <a:schemeClr val="accent5">
                    <a:lumMod val="50000"/>
                  </a:schemeClr>
                </a:solidFill>
                <a:latin typeface="Source Sans Pro" panose="020B0503030403020204" pitchFamily="34" charset="0"/>
                <a:ea typeface="Source Sans Pro" panose="020B0503030403020204" pitchFamily="34" charset="0"/>
              </a:rPr>
              <a:t>              </a:t>
            </a:r>
            <a:r>
              <a:rPr lang="en-US" sz="2000" dirty="0" err="1">
                <a:solidFill>
                  <a:schemeClr val="accent5">
                    <a:lumMod val="50000"/>
                  </a:schemeClr>
                </a:solidFill>
                <a:latin typeface="Source Sans Pro" panose="020B0503030403020204" pitchFamily="34" charset="0"/>
                <a:ea typeface="Source Sans Pro" panose="020B0503030403020204" pitchFamily="34" charset="0"/>
              </a:rPr>
              <a:t>yBefore</a:t>
            </a:r>
            <a:r>
              <a:rPr lang="en-US" sz="2000" dirty="0">
                <a:solidFill>
                  <a:schemeClr val="accent5">
                    <a:lumMod val="50000"/>
                  </a:schemeClr>
                </a:solidFill>
                <a:latin typeface="Source Sans Pro" panose="020B0503030403020204" pitchFamily="34" charset="0"/>
                <a:ea typeface="Source Sans Pro" panose="020B0503030403020204" pitchFamily="34" charset="0"/>
              </a:rPr>
              <a:t>_ = receiver-&gt;y();</a:t>
            </a:r>
          </a:p>
          <a:p>
            <a:pPr marL="0" indent="0">
              <a:buNone/>
            </a:pPr>
            <a:r>
              <a:rPr lang="en-US" sz="2000" dirty="0">
                <a:solidFill>
                  <a:srgbClr val="0070C0"/>
                </a:solidFill>
                <a:latin typeface="Source Sans Pro" panose="020B0503030403020204" pitchFamily="34" charset="0"/>
                <a:ea typeface="Source Sans Pro" panose="020B0503030403020204" pitchFamily="34" charset="0"/>
              </a:rPr>
              <a:t>             </a:t>
            </a:r>
            <a:r>
              <a:rPr lang="en-US" sz="2000" dirty="0">
                <a:solidFill>
                  <a:schemeClr val="bg2"/>
                </a:solidFill>
                <a:latin typeface="Source Sans Pro" panose="020B0503030403020204" pitchFamily="34" charset="0"/>
                <a:ea typeface="Source Sans Pro" panose="020B0503030403020204" pitchFamily="34" charset="0"/>
              </a:rPr>
              <a:t>//action</a:t>
            </a:r>
          </a:p>
          <a:p>
            <a:pPr marL="0" indent="0">
              <a:buNone/>
            </a:pPr>
            <a:r>
              <a:rPr lang="en-US" sz="2000" dirty="0">
                <a:solidFill>
                  <a:srgbClr val="0070C0"/>
                </a:solidFill>
                <a:latin typeface="Source Sans Pro" panose="020B0503030403020204" pitchFamily="34" charset="0"/>
                <a:ea typeface="Source Sans Pro" panose="020B0503030403020204" pitchFamily="34" charset="0"/>
              </a:rPr>
              <a:t>           </a:t>
            </a:r>
            <a:r>
              <a:rPr lang="en-US" sz="2000" dirty="0">
                <a:solidFill>
                  <a:schemeClr val="accent5">
                    <a:lumMod val="50000"/>
                  </a:schemeClr>
                </a:solidFill>
                <a:latin typeface="Source Sans Pro" panose="020B0503030403020204" pitchFamily="34" charset="0"/>
                <a:ea typeface="Source Sans Pro" panose="020B0503030403020204" pitchFamily="34" charset="0"/>
              </a:rPr>
              <a:t>receiver-&gt;</a:t>
            </a:r>
            <a:r>
              <a:rPr lang="en-US" sz="2000" dirty="0" err="1">
                <a:solidFill>
                  <a:schemeClr val="accent5">
                    <a:lumMod val="50000"/>
                  </a:schemeClr>
                </a:solidFill>
                <a:latin typeface="Source Sans Pro" panose="020B0503030403020204" pitchFamily="34" charset="0"/>
                <a:ea typeface="Source Sans Pro" panose="020B0503030403020204" pitchFamily="34" charset="0"/>
              </a:rPr>
              <a:t>moveTo</a:t>
            </a:r>
            <a:r>
              <a:rPr lang="en-US" sz="2000" dirty="0">
                <a:solidFill>
                  <a:schemeClr val="accent5">
                    <a:lumMod val="50000"/>
                  </a:schemeClr>
                </a:solidFill>
                <a:latin typeface="Source Sans Pro" panose="020B0503030403020204" pitchFamily="34" charset="0"/>
                <a:ea typeface="Source Sans Pro" panose="020B0503030403020204" pitchFamily="34" charset="0"/>
              </a:rPr>
              <a:t>(x_, y_);</a:t>
            </a:r>
          </a:p>
          <a:p>
            <a:pPr marL="0" indent="0">
              <a:buNone/>
            </a:pPr>
            <a:r>
              <a:rPr lang="en-US" sz="2000" dirty="0">
                <a:solidFill>
                  <a:srgbClr val="0070C0"/>
                </a:solidFill>
                <a:latin typeface="Source Sans Pro" panose="020B0503030403020204" pitchFamily="34" charset="0"/>
                <a:ea typeface="Source Sans Pro" panose="020B0503030403020204" pitchFamily="34" charset="0"/>
              </a:rPr>
              <a:t>        </a:t>
            </a:r>
            <a:r>
              <a:rPr lang="en-US" sz="2000" dirty="0">
                <a:solidFill>
                  <a:schemeClr val="bg2"/>
                </a:solidFill>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a:t>
            </a:r>
            <a:r>
              <a:rPr lang="en-US" sz="2000" dirty="0">
                <a:solidFill>
                  <a:schemeClr val="bg2"/>
                </a:solidFill>
                <a:latin typeface="Source Sans Pro" panose="020B0503030403020204" pitchFamily="34" charset="0"/>
                <a:ea typeface="Source Sans Pro" panose="020B0503030403020204" pitchFamily="34" charset="0"/>
              </a:rPr>
              <a:t>virtual void </a:t>
            </a:r>
            <a:r>
              <a:rPr lang="en-US" sz="2000" b="1" dirty="0">
                <a:solidFill>
                  <a:schemeClr val="bg2"/>
                </a:solidFill>
                <a:latin typeface="Source Sans Pro" panose="020B0503030403020204" pitchFamily="34" charset="0"/>
                <a:ea typeface="Source Sans Pro" panose="020B0503030403020204" pitchFamily="34" charset="0"/>
              </a:rPr>
              <a:t>undo</a:t>
            </a:r>
            <a:r>
              <a:rPr lang="en-US" sz="2000" dirty="0">
                <a:solidFill>
                  <a:schemeClr val="bg2"/>
                </a:solidFill>
                <a:latin typeface="Source Sans Pro" panose="020B0503030403020204" pitchFamily="34" charset="0"/>
                <a:ea typeface="Source Sans Pro" panose="020B0503030403020204" pitchFamily="34" charset="0"/>
              </a:rPr>
              <a:t>() {  </a:t>
            </a:r>
            <a:r>
              <a:rPr lang="en-US" sz="2000" dirty="0">
                <a:solidFill>
                  <a:srgbClr val="0070C0"/>
                </a:solidFill>
                <a:latin typeface="Source Sans Pro" panose="020B0503030403020204" pitchFamily="34" charset="0"/>
                <a:ea typeface="Source Sans Pro" panose="020B0503030403020204" pitchFamily="34" charset="0"/>
              </a:rPr>
              <a:t> </a:t>
            </a:r>
            <a:r>
              <a:rPr lang="en-US" sz="2000" dirty="0">
                <a:solidFill>
                  <a:schemeClr val="accent5">
                    <a:lumMod val="50000"/>
                  </a:schemeClr>
                </a:solidFill>
                <a:latin typeface="Source Sans Pro" panose="020B0503030403020204" pitchFamily="34" charset="0"/>
                <a:ea typeface="Source Sans Pro" panose="020B0503030403020204" pitchFamily="34" charset="0"/>
              </a:rPr>
              <a:t> receiver-&gt;</a:t>
            </a:r>
            <a:r>
              <a:rPr lang="en-US" sz="2000" dirty="0" err="1">
                <a:solidFill>
                  <a:schemeClr val="accent5">
                    <a:lumMod val="50000"/>
                  </a:schemeClr>
                </a:solidFill>
                <a:latin typeface="Source Sans Pro" panose="020B0503030403020204" pitchFamily="34" charset="0"/>
                <a:ea typeface="Source Sans Pro" panose="020B0503030403020204" pitchFamily="34" charset="0"/>
              </a:rPr>
              <a:t>moveTo</a:t>
            </a:r>
            <a:r>
              <a:rPr lang="en-US" sz="2000" dirty="0">
                <a:solidFill>
                  <a:schemeClr val="accent5">
                    <a:lumMod val="50000"/>
                  </a:schemeClr>
                </a:solidFill>
                <a:latin typeface="Source Sans Pro" panose="020B0503030403020204" pitchFamily="34" charset="0"/>
                <a:ea typeface="Source Sans Pro" panose="020B0503030403020204" pitchFamily="34" charset="0"/>
              </a:rPr>
              <a:t>(</a:t>
            </a:r>
            <a:r>
              <a:rPr lang="en-US" sz="2000" dirty="0" err="1">
                <a:solidFill>
                  <a:schemeClr val="accent5">
                    <a:lumMod val="50000"/>
                  </a:schemeClr>
                </a:solidFill>
                <a:latin typeface="Source Sans Pro" panose="020B0503030403020204" pitchFamily="34" charset="0"/>
                <a:ea typeface="Source Sans Pro" panose="020B0503030403020204" pitchFamily="34" charset="0"/>
              </a:rPr>
              <a:t>xBefore</a:t>
            </a:r>
            <a:r>
              <a:rPr lang="en-US" sz="2000" dirty="0">
                <a:solidFill>
                  <a:schemeClr val="accent5">
                    <a:lumMod val="50000"/>
                  </a:schemeClr>
                </a:solidFill>
                <a:latin typeface="Source Sans Pro" panose="020B0503030403020204" pitchFamily="34" charset="0"/>
                <a:ea typeface="Source Sans Pro" panose="020B0503030403020204" pitchFamily="34" charset="0"/>
              </a:rPr>
              <a:t>_, </a:t>
            </a:r>
            <a:r>
              <a:rPr lang="en-US" sz="2000" dirty="0" err="1">
                <a:solidFill>
                  <a:schemeClr val="accent5">
                    <a:lumMod val="50000"/>
                  </a:schemeClr>
                </a:solidFill>
                <a:latin typeface="Source Sans Pro" panose="020B0503030403020204" pitchFamily="34" charset="0"/>
                <a:ea typeface="Source Sans Pro" panose="020B0503030403020204" pitchFamily="34" charset="0"/>
              </a:rPr>
              <a:t>yBefore</a:t>
            </a:r>
            <a:r>
              <a:rPr lang="en-US" sz="2000" dirty="0">
                <a:solidFill>
                  <a:schemeClr val="accent5">
                    <a:lumMod val="50000"/>
                  </a:schemeClr>
                </a:solidFill>
                <a:latin typeface="Source Sans Pro" panose="020B0503030403020204" pitchFamily="34" charset="0"/>
                <a:ea typeface="Source Sans Pro" panose="020B0503030403020204" pitchFamily="34" charset="0"/>
              </a:rPr>
              <a:t>_);</a:t>
            </a:r>
            <a:r>
              <a:rPr lang="en-US" sz="2000" dirty="0">
                <a:solidFill>
                  <a:srgbClr val="0070C0"/>
                </a:solidFill>
                <a:latin typeface="Source Sans Pro" panose="020B0503030403020204" pitchFamily="34" charset="0"/>
                <a:ea typeface="Source Sans Pro" panose="020B0503030403020204" pitchFamily="34" charset="0"/>
              </a:rPr>
              <a:t>   </a:t>
            </a:r>
            <a:r>
              <a:rPr lang="en-US" sz="2000" dirty="0">
                <a:solidFill>
                  <a:schemeClr val="bg2"/>
                </a:solidFill>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private:</a:t>
            </a:r>
          </a:p>
          <a:p>
            <a:pPr marL="0" indent="0">
              <a:buNone/>
            </a:pPr>
            <a:r>
              <a:rPr lang="en-US" sz="2000" dirty="0">
                <a:latin typeface="Source Sans Pro" panose="020B0503030403020204" pitchFamily="34" charset="0"/>
                <a:ea typeface="Source Sans Pro" panose="020B0503030403020204" pitchFamily="34" charset="0"/>
              </a:rPr>
              <a:t>  Unit* receiver;  int </a:t>
            </a:r>
            <a:r>
              <a:rPr lang="en-US" sz="2000" dirty="0" err="1">
                <a:latin typeface="Source Sans Pro" panose="020B0503030403020204" pitchFamily="34" charset="0"/>
                <a:ea typeface="Source Sans Pro" panose="020B0503030403020204" pitchFamily="34" charset="0"/>
              </a:rPr>
              <a:t>xBefore</a:t>
            </a:r>
            <a:r>
              <a:rPr lang="en-US" sz="2000" dirty="0">
                <a:latin typeface="Source Sans Pro" panose="020B0503030403020204" pitchFamily="34" charset="0"/>
                <a:ea typeface="Source Sans Pro" panose="020B0503030403020204" pitchFamily="34" charset="0"/>
              </a:rPr>
              <a:t>_, </a:t>
            </a:r>
            <a:r>
              <a:rPr lang="en-US" sz="2000" dirty="0" err="1">
                <a:latin typeface="Source Sans Pro" panose="020B0503030403020204" pitchFamily="34" charset="0"/>
                <a:ea typeface="Source Sans Pro" panose="020B0503030403020204" pitchFamily="34" charset="0"/>
              </a:rPr>
              <a:t>yBefore</a:t>
            </a:r>
            <a:r>
              <a:rPr lang="en-US" sz="2000" dirty="0">
                <a:latin typeface="Source Sans Pro" panose="020B0503030403020204" pitchFamily="34" charset="0"/>
                <a:ea typeface="Source Sans Pro" panose="020B0503030403020204" pitchFamily="34" charset="0"/>
              </a:rPr>
              <a:t>_;  int x_, y_;</a:t>
            </a:r>
          </a:p>
          <a:p>
            <a:pPr marL="0" indent="0">
              <a:buNone/>
            </a:pPr>
            <a:r>
              <a:rPr lang="en-US" sz="2000" dirty="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5036793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BFDC-6669-9744-E0F6-CA65401EE2AD}"/>
              </a:ext>
            </a:extLst>
          </p:cNvPr>
          <p:cNvSpPr>
            <a:spLocks noGrp="1"/>
          </p:cNvSpPr>
          <p:nvPr>
            <p:ph type="title"/>
          </p:nvPr>
        </p:nvSpPr>
        <p:spPr/>
        <p:txBody>
          <a:bodyPr/>
          <a:lstStyle/>
          <a:p>
            <a:r>
              <a:rPr lang="en-US" dirty="0"/>
              <a:t>Example: Undoable Command</a:t>
            </a:r>
          </a:p>
        </p:txBody>
      </p:sp>
      <p:sp>
        <p:nvSpPr>
          <p:cNvPr id="3" name="Content Placeholder 2">
            <a:extLst>
              <a:ext uri="{FF2B5EF4-FFF2-40B4-BE49-F238E27FC236}">
                <a16:creationId xmlns:a16="http://schemas.microsoft.com/office/drawing/2014/main" id="{0B58D2DF-8EC3-00A9-6D17-FB458227055B}"/>
              </a:ext>
            </a:extLst>
          </p:cNvPr>
          <p:cNvSpPr>
            <a:spLocks noGrp="1"/>
          </p:cNvSpPr>
          <p:nvPr>
            <p:ph idx="1"/>
          </p:nvPr>
        </p:nvSpPr>
        <p:spPr/>
        <p:txBody>
          <a:bodyPr/>
          <a:lstStyle/>
          <a:p>
            <a:r>
              <a:rPr lang="en-US" sz="2400" dirty="0">
                <a:latin typeface="+mj-lt"/>
                <a:ea typeface="Source Sans Pro" panose="020B0503030403020204" pitchFamily="34" charset="0"/>
              </a:rPr>
              <a:t>Occasionally, we do not have to save the state</a:t>
            </a:r>
          </a:p>
          <a:p>
            <a:pPr marL="0" indent="0">
              <a:buNone/>
            </a:pPr>
            <a:r>
              <a:rPr lang="en-US" sz="800" dirty="0">
                <a:latin typeface="+mj-lt"/>
                <a:ea typeface="Source Sans Pro" panose="020B0503030403020204" pitchFamily="34" charset="0"/>
              </a:rPr>
              <a:t> </a:t>
            </a:r>
          </a:p>
          <a:p>
            <a:pPr marL="0" indent="0">
              <a:buNone/>
            </a:pPr>
            <a:r>
              <a:rPr lang="en-US" sz="2400" dirty="0">
                <a:latin typeface="Source Sans Pro" panose="020B0503030403020204" pitchFamily="34" charset="0"/>
                <a:ea typeface="Source Sans Pro" panose="020B0503030403020204" pitchFamily="34" charset="0"/>
              </a:rPr>
              <a:t>public class </a:t>
            </a:r>
            <a:r>
              <a:rPr lang="en-US" sz="2400" dirty="0" err="1">
                <a:latin typeface="Source Sans Pro" panose="020B0503030403020204" pitchFamily="34" charset="0"/>
                <a:ea typeface="Source Sans Pro" panose="020B0503030403020204" pitchFamily="34" charset="0"/>
              </a:rPr>
              <a:t>LightOnCmd</a:t>
            </a:r>
            <a:r>
              <a:rPr lang="en-US" sz="2400" dirty="0">
                <a:latin typeface="Source Sans Pro" panose="020B0503030403020204" pitchFamily="34" charset="0"/>
                <a:ea typeface="Source Sans Pro" panose="020B0503030403020204" pitchFamily="34" charset="0"/>
              </a:rPr>
              <a:t> implements </a:t>
            </a:r>
            <a:r>
              <a:rPr lang="en-US" sz="2400" dirty="0" err="1">
                <a:latin typeface="Source Sans Pro" panose="020B0503030403020204" pitchFamily="34" charset="0"/>
                <a:ea typeface="Source Sans Pro" panose="020B0503030403020204" pitchFamily="34" charset="0"/>
              </a:rPr>
              <a:t>UndoableCommand</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private Light receiver;</a:t>
            </a:r>
          </a:p>
          <a:p>
            <a:pPr marL="0" indent="0">
              <a:buNone/>
            </a:pPr>
            <a:r>
              <a:rPr lang="en-US" sz="2400" dirty="0">
                <a:latin typeface="Source Sans Pro" panose="020B0503030403020204" pitchFamily="34" charset="0"/>
                <a:ea typeface="Source Sans Pro" panose="020B0503030403020204" pitchFamily="34" charset="0"/>
              </a:rPr>
              <a:t>    public </a:t>
            </a:r>
            <a:r>
              <a:rPr lang="en-US" sz="2400" dirty="0" err="1">
                <a:latin typeface="Source Sans Pro" panose="020B0503030403020204" pitchFamily="34" charset="0"/>
                <a:ea typeface="Source Sans Pro" panose="020B0503030403020204" pitchFamily="34" charset="0"/>
              </a:rPr>
              <a:t>LightOnCmd</a:t>
            </a:r>
            <a:r>
              <a:rPr lang="en-US" sz="2400" dirty="0">
                <a:latin typeface="Source Sans Pro" panose="020B0503030403020204" pitchFamily="34" charset="0"/>
                <a:ea typeface="Source Sans Pro" panose="020B0503030403020204" pitchFamily="34" charset="0"/>
              </a:rPr>
              <a:t>(Light light){receiver=light;}</a:t>
            </a:r>
          </a:p>
          <a:p>
            <a:pPr marL="0" indent="0">
              <a:buNone/>
            </a:pPr>
            <a:r>
              <a:rPr lang="en-US" sz="2400" dirty="0">
                <a:latin typeface="Source Sans Pro" panose="020B0503030403020204" pitchFamily="34" charset="0"/>
                <a:ea typeface="Source Sans Pro" panose="020B0503030403020204" pitchFamily="34" charset="0"/>
              </a:rPr>
              <a:t>    public void execute(){</a:t>
            </a:r>
          </a:p>
          <a:p>
            <a:pPr marL="0" indent="0">
              <a:buNone/>
            </a:pP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receiver.on</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p>
          <a:p>
            <a:pPr marL="0" indent="0">
              <a:buNone/>
            </a:pPr>
            <a:r>
              <a:rPr lang="en-US" sz="2400" dirty="0">
                <a:latin typeface="Source Sans Pro" panose="020B0503030403020204" pitchFamily="34" charset="0"/>
                <a:ea typeface="Source Sans Pro" panose="020B0503030403020204" pitchFamily="34" charset="0"/>
              </a:rPr>
              <a:t>    public void undo(){</a:t>
            </a:r>
          </a:p>
          <a:p>
            <a:pPr marL="0" indent="0">
              <a:buNone/>
            </a:pP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receiver.off</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p>
          <a:p>
            <a:pPr marL="0" indent="0">
              <a:buNone/>
            </a:pPr>
            <a:r>
              <a:rPr lang="en-US" sz="2400" dirty="0">
                <a:latin typeface="Source Sans Pro" panose="020B0503030403020204" pitchFamily="34" charset="0"/>
                <a:ea typeface="Source Sans Pro" panose="020B0503030403020204" pitchFamily="34" charset="0"/>
              </a:rPr>
              <a:t>   }</a:t>
            </a:r>
          </a:p>
        </p:txBody>
      </p:sp>
    </p:spTree>
    <p:extLst>
      <p:ext uri="{BB962C8B-B14F-4D97-AF65-F5344CB8AC3E}">
        <p14:creationId xmlns:p14="http://schemas.microsoft.com/office/powerpoint/2010/main" val="3245269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CB62A2E1-CC70-8DCF-3555-DFD0AE0A2182}"/>
              </a:ext>
            </a:extLst>
          </p:cNvPr>
          <p:cNvSpPr>
            <a:spLocks noGrp="1" noChangeArrowheads="1"/>
          </p:cNvSpPr>
          <p:nvPr>
            <p:ph type="title"/>
          </p:nvPr>
        </p:nvSpPr>
        <p:spPr>
          <a:xfrm>
            <a:off x="457200" y="139700"/>
            <a:ext cx="8229600" cy="1371600"/>
          </a:xfrm>
        </p:spPr>
        <p:txBody>
          <a:bodyPr/>
          <a:lstStyle/>
          <a:p>
            <a:r>
              <a:rPr lang="en-US" altLang="tr-TR"/>
              <a:t>Undo/Redo</a:t>
            </a:r>
          </a:p>
        </p:txBody>
      </p:sp>
      <p:sp>
        <p:nvSpPr>
          <p:cNvPr id="48131" name="Rectangle 3">
            <a:extLst>
              <a:ext uri="{FF2B5EF4-FFF2-40B4-BE49-F238E27FC236}">
                <a16:creationId xmlns:a16="http://schemas.microsoft.com/office/drawing/2014/main" id="{768A52A8-203D-B37D-2884-B290305DE895}"/>
              </a:ext>
            </a:extLst>
          </p:cNvPr>
          <p:cNvSpPr>
            <a:spLocks noGrp="1" noChangeArrowheads="1"/>
          </p:cNvSpPr>
          <p:nvPr>
            <p:ph idx="1"/>
          </p:nvPr>
        </p:nvSpPr>
        <p:spPr>
          <a:xfrm>
            <a:off x="457200" y="1335088"/>
            <a:ext cx="8229600" cy="4532312"/>
          </a:xfrm>
        </p:spPr>
        <p:txBody>
          <a:bodyPr/>
          <a:lstStyle/>
          <a:p>
            <a:pPr>
              <a:lnSpc>
                <a:spcPct val="90000"/>
              </a:lnSpc>
            </a:pPr>
            <a:r>
              <a:rPr lang="en-US" altLang="tr-TR" dirty="0"/>
              <a:t>Saving the last command executed is sufficient for one-level undo.</a:t>
            </a:r>
          </a:p>
          <a:p>
            <a:pPr>
              <a:lnSpc>
                <a:spcPct val="90000"/>
              </a:lnSpc>
            </a:pPr>
            <a:endParaRPr lang="en-US" altLang="tr-TR" dirty="0"/>
          </a:p>
          <a:p>
            <a:pPr>
              <a:lnSpc>
                <a:spcPct val="90000"/>
              </a:lnSpc>
            </a:pPr>
            <a:r>
              <a:rPr lang="en-US" altLang="tr-TR" dirty="0"/>
              <a:t>Multi-level undo</a:t>
            </a:r>
          </a:p>
          <a:p>
            <a:pPr lvl="1">
              <a:lnSpc>
                <a:spcPct val="90000"/>
              </a:lnSpc>
            </a:pPr>
            <a:r>
              <a:rPr lang="en-US" altLang="tr-TR" dirty="0"/>
              <a:t>Need a history list</a:t>
            </a:r>
          </a:p>
          <a:p>
            <a:pPr lvl="1">
              <a:lnSpc>
                <a:spcPct val="90000"/>
              </a:lnSpc>
            </a:pPr>
            <a:r>
              <a:rPr lang="en-US" altLang="tr-TR" dirty="0"/>
              <a:t>A </a:t>
            </a:r>
            <a:r>
              <a:rPr lang="en-US" altLang="tr-TR" dirty="0" err="1"/>
              <a:t>CommandManager</a:t>
            </a:r>
            <a:r>
              <a:rPr lang="en-US" altLang="tr-TR" dirty="0"/>
              <a:t> that keeps a history</a:t>
            </a:r>
          </a:p>
          <a:p>
            <a:pPr lvl="2">
              <a:lnSpc>
                <a:spcPct val="90000"/>
              </a:lnSpc>
            </a:pPr>
            <a:r>
              <a:rPr lang="en-US" altLang="tr-TR" dirty="0"/>
              <a:t>Undoable command list(?)</a:t>
            </a:r>
          </a:p>
          <a:p>
            <a:pPr lvl="2">
              <a:lnSpc>
                <a:spcPct val="90000"/>
              </a:lnSpc>
            </a:pPr>
            <a:r>
              <a:rPr lang="en-US" altLang="tr-TR" dirty="0" err="1"/>
              <a:t>Redoable</a:t>
            </a:r>
            <a:r>
              <a:rPr lang="en-US" altLang="tr-TR" dirty="0"/>
              <a:t> command list(?)</a:t>
            </a:r>
          </a:p>
        </p:txBody>
      </p:sp>
    </p:spTree>
    <p:extLst>
      <p:ext uri="{BB962C8B-B14F-4D97-AF65-F5344CB8AC3E}">
        <p14:creationId xmlns:p14="http://schemas.microsoft.com/office/powerpoint/2010/main" val="1340089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68D2A4A-C614-76A1-D30B-78AD39D1999E}"/>
              </a:ext>
            </a:extLst>
          </p:cNvPr>
          <p:cNvSpPr>
            <a:spLocks noGrp="1" noChangeArrowheads="1"/>
          </p:cNvSpPr>
          <p:nvPr>
            <p:ph type="title"/>
          </p:nvPr>
        </p:nvSpPr>
        <p:spPr>
          <a:xfrm>
            <a:off x="457200" y="139700"/>
            <a:ext cx="8229600" cy="1371600"/>
          </a:xfrm>
        </p:spPr>
        <p:txBody>
          <a:bodyPr/>
          <a:lstStyle/>
          <a:p>
            <a:r>
              <a:rPr lang="en-US" altLang="tr-TR" dirty="0"/>
              <a:t>How does undo work?</a:t>
            </a:r>
            <a:endParaRPr lang="en-GB" altLang="tr-TR" dirty="0"/>
          </a:p>
        </p:txBody>
      </p:sp>
      <p:sp>
        <p:nvSpPr>
          <p:cNvPr id="47107" name="Rectangle 3">
            <a:extLst>
              <a:ext uri="{FF2B5EF4-FFF2-40B4-BE49-F238E27FC236}">
                <a16:creationId xmlns:a16="http://schemas.microsoft.com/office/drawing/2014/main" id="{62777DB4-DEDD-2DF3-9021-069603F10F7A}"/>
              </a:ext>
            </a:extLst>
          </p:cNvPr>
          <p:cNvSpPr>
            <a:spLocks noGrp="1" noChangeArrowheads="1"/>
          </p:cNvSpPr>
          <p:nvPr>
            <p:ph idx="1"/>
          </p:nvPr>
        </p:nvSpPr>
        <p:spPr>
          <a:xfrm>
            <a:off x="457200" y="1335088"/>
            <a:ext cx="8229600" cy="4532312"/>
          </a:xfrm>
        </p:spPr>
        <p:txBody>
          <a:bodyPr/>
          <a:lstStyle/>
          <a:p>
            <a:r>
              <a:rPr lang="en-US" altLang="tr-TR" dirty="0"/>
              <a:t>Ever used </a:t>
            </a:r>
            <a:r>
              <a:rPr lang="en-US" altLang="tr-TR" dirty="0" err="1"/>
              <a:t>PhotoShop</a:t>
            </a:r>
            <a:r>
              <a:rPr lang="en-US" altLang="tr-TR" dirty="0"/>
              <a:t>?</a:t>
            </a:r>
          </a:p>
          <a:p>
            <a:pPr lvl="1"/>
            <a:r>
              <a:rPr lang="en-US" altLang="tr-TR" dirty="0"/>
              <a:t>There is a stack of commands on the right</a:t>
            </a:r>
          </a:p>
          <a:p>
            <a:r>
              <a:rPr lang="en-US" altLang="tr-TR" dirty="0"/>
              <a:t>Execution sequence</a:t>
            </a:r>
          </a:p>
          <a:p>
            <a:pPr lvl="1"/>
            <a:r>
              <a:rPr lang="en-US" altLang="tr-TR" dirty="0"/>
              <a:t>When </a:t>
            </a:r>
            <a:r>
              <a:rPr lang="en-US" altLang="tr-TR" dirty="0" err="1"/>
              <a:t>ResizeCommand</a:t>
            </a:r>
            <a:r>
              <a:rPr lang="en-US" altLang="tr-TR" dirty="0"/>
              <a:t> is activated, put it into the history</a:t>
            </a:r>
          </a:p>
          <a:p>
            <a:pPr lvl="1"/>
            <a:r>
              <a:rPr lang="en-US" altLang="tr-TR" dirty="0"/>
              <a:t>After a while, user chooses undo several times until that resize</a:t>
            </a:r>
          </a:p>
          <a:p>
            <a:pPr lvl="2"/>
            <a:r>
              <a:rPr lang="en-US" altLang="tr-TR" dirty="0"/>
              <a:t>All of the commands unexecute until then</a:t>
            </a:r>
          </a:p>
          <a:p>
            <a:pPr lvl="1"/>
            <a:r>
              <a:rPr lang="en-US" altLang="tr-TR" dirty="0" err="1"/>
              <a:t>ResizeCommand</a:t>
            </a:r>
            <a:r>
              <a:rPr lang="en-US" altLang="tr-TR" dirty="0"/>
              <a:t> unexecutes and resize back</a:t>
            </a:r>
          </a:p>
          <a:p>
            <a:pPr lvl="1"/>
            <a:endParaRPr lang="en-US" altLang="tr-TR" sz="2400" dirty="0"/>
          </a:p>
          <a:p>
            <a:pPr lvl="1"/>
            <a:r>
              <a:rPr lang="en-US" altLang="tr-TR" sz="2400" dirty="0"/>
              <a:t>Suggest a data structure…</a:t>
            </a:r>
          </a:p>
        </p:txBody>
      </p:sp>
    </p:spTree>
    <p:extLst>
      <p:ext uri="{BB962C8B-B14F-4D97-AF65-F5344CB8AC3E}">
        <p14:creationId xmlns:p14="http://schemas.microsoft.com/office/powerpoint/2010/main" val="3662248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73D06261-2813-6CE1-E7E6-D4C66C7C745E}"/>
              </a:ext>
            </a:extLst>
          </p:cNvPr>
          <p:cNvSpPr>
            <a:spLocks noGrp="1"/>
          </p:cNvSpPr>
          <p:nvPr>
            <p:ph idx="4294967295"/>
          </p:nvPr>
        </p:nvSpPr>
        <p:spPr>
          <a:xfrm>
            <a:off x="457200" y="420687"/>
            <a:ext cx="8229600" cy="4532312"/>
          </a:xfrm>
        </p:spPr>
        <p:txBody>
          <a:bodyPr/>
          <a:lstStyle/>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public class </a:t>
            </a:r>
            <a:r>
              <a:rPr lang="en-US" altLang="tr-TR" sz="2000" kern="0" dirty="0" err="1">
                <a:latin typeface="Source Sans Pro" panose="020B0503030403020204" pitchFamily="34" charset="0"/>
                <a:ea typeface="Source Sans Pro" panose="020B0503030403020204" pitchFamily="34" charset="0"/>
              </a:rPr>
              <a:t>CommandManager</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private Stack&lt;Command&gt; </a:t>
            </a:r>
            <a:r>
              <a:rPr lang="en-US" altLang="tr-TR" sz="2000" kern="0" dirty="0" err="1">
                <a:latin typeface="Source Sans Pro" panose="020B0503030403020204" pitchFamily="34" charset="0"/>
                <a:ea typeface="Source Sans Pro" panose="020B0503030403020204" pitchFamily="34" charset="0"/>
              </a:rPr>
              <a:t>undoHistory</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dirty="0">
                <a:latin typeface="Source Sans Pro" panose="020B0503030403020204" pitchFamily="34" charset="0"/>
                <a:ea typeface="Source Sans Pro" panose="020B0503030403020204" pitchFamily="34" charset="0"/>
              </a:rPr>
              <a:t>   private Stack&lt;Command&gt; </a:t>
            </a:r>
            <a:r>
              <a:rPr lang="en-US" altLang="tr-TR" sz="2000" dirty="0" err="1">
                <a:latin typeface="Source Sans Pro" panose="020B0503030403020204" pitchFamily="34" charset="0"/>
                <a:ea typeface="Source Sans Pro" panose="020B0503030403020204" pitchFamily="34" charset="0"/>
              </a:rPr>
              <a:t>redoHistory</a:t>
            </a:r>
            <a:r>
              <a:rPr lang="en-US" altLang="tr-TR" sz="2000" dirty="0">
                <a:latin typeface="Source Sans Pro" panose="020B0503030403020204" pitchFamily="34" charset="0"/>
                <a:ea typeface="Source Sans Pro" panose="020B0503030403020204" pitchFamily="34" charset="0"/>
              </a:rPr>
              <a:t>;</a:t>
            </a:r>
            <a:endParaRPr lang="en-US" altLang="tr-TR" sz="2000" kern="0" dirty="0">
              <a:latin typeface="Source Sans Pro" panose="020B0503030403020204" pitchFamily="34" charset="0"/>
              <a:ea typeface="Source Sans Pro" panose="020B0503030403020204" pitchFamily="34" charset="0"/>
            </a:endParaRP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public void </a:t>
            </a:r>
            <a:r>
              <a:rPr lang="en-US" altLang="tr-TR" sz="2000" b="1" kern="0" dirty="0">
                <a:latin typeface="Source Sans Pro" panose="020B0503030403020204" pitchFamily="34" charset="0"/>
                <a:ea typeface="Source Sans Pro" panose="020B0503030403020204" pitchFamily="34" charset="0"/>
              </a:rPr>
              <a:t>invoke</a:t>
            </a:r>
            <a:r>
              <a:rPr lang="en-US" altLang="tr-TR" sz="2000" kern="0" dirty="0">
                <a:latin typeface="Source Sans Pro" panose="020B0503030403020204" pitchFamily="34" charset="0"/>
                <a:ea typeface="Source Sans Pro" panose="020B0503030403020204" pitchFamily="34" charset="0"/>
              </a:rPr>
              <a:t> (Command c){</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if(c instance of </a:t>
            </a:r>
            <a:r>
              <a:rPr lang="en-US" altLang="tr-TR" sz="2000" kern="0" dirty="0" err="1">
                <a:latin typeface="Source Sans Pro" panose="020B0503030403020204" pitchFamily="34" charset="0"/>
                <a:ea typeface="Source Sans Pro" panose="020B0503030403020204" pitchFamily="34" charset="0"/>
              </a:rPr>
              <a:t>UndoableCommand</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dirty="0">
                <a:latin typeface="Source Sans Pro" panose="020B0503030403020204" pitchFamily="34" charset="0"/>
                <a:ea typeface="Source Sans Pro" panose="020B0503030403020204" pitchFamily="34" charset="0"/>
              </a:rPr>
              <a:t>           </a:t>
            </a:r>
            <a:r>
              <a:rPr lang="en-US" altLang="tr-TR" sz="2000" dirty="0" err="1">
                <a:latin typeface="Source Sans Pro" panose="020B0503030403020204" pitchFamily="34" charset="0"/>
                <a:ea typeface="Source Sans Pro" panose="020B0503030403020204" pitchFamily="34" charset="0"/>
              </a:rPr>
              <a:t>undoHistory.push</a:t>
            </a:r>
            <a:r>
              <a:rPr lang="en-US" altLang="tr-TR" sz="2000" dirty="0">
                <a:latin typeface="Source Sans Pro" panose="020B0503030403020204" pitchFamily="34" charset="0"/>
                <a:ea typeface="Source Sans Pro" panose="020B0503030403020204" pitchFamily="34" charset="0"/>
              </a:rPr>
              <a:t>(c);</a:t>
            </a:r>
            <a:endParaRPr lang="en-US" altLang="tr-TR" sz="2000" kern="0" dirty="0">
              <a:latin typeface="Source Sans Pro" panose="020B0503030403020204" pitchFamily="34" charset="0"/>
              <a:ea typeface="Source Sans Pro" panose="020B0503030403020204" pitchFamily="34" charset="0"/>
            </a:endParaRPr>
          </a:p>
          <a:p>
            <a:pPr eaLnBrk="1" hangingPunct="1">
              <a:lnSpc>
                <a:spcPct val="80000"/>
              </a:lnSpc>
              <a:buFontTx/>
              <a:buNone/>
            </a:pPr>
            <a:r>
              <a:rPr lang="en-US" altLang="tr-TR" sz="2000" dirty="0">
                <a:latin typeface="Source Sans Pro" panose="020B0503030403020204" pitchFamily="34" charset="0"/>
                <a:ea typeface="Source Sans Pro" panose="020B0503030403020204" pitchFamily="34" charset="0"/>
              </a:rPr>
              <a:t>       }else{</a:t>
            </a:r>
          </a:p>
          <a:p>
            <a:pPr eaLnBrk="1" hangingPunct="1">
              <a:lnSpc>
                <a:spcPct val="80000"/>
              </a:lnSpc>
              <a:buFontTx/>
              <a:buNone/>
            </a:pPr>
            <a:r>
              <a:rPr lang="en-US" altLang="tr-TR" sz="2000" dirty="0">
                <a:latin typeface="Source Sans Pro" panose="020B0503030403020204" pitchFamily="34" charset="0"/>
                <a:ea typeface="Source Sans Pro" panose="020B0503030403020204" pitchFamily="34" charset="0"/>
              </a:rPr>
              <a:t>          </a:t>
            </a:r>
            <a:r>
              <a:rPr lang="en-US" altLang="tr-TR" sz="2000" dirty="0" err="1">
                <a:latin typeface="Source Sans Pro" panose="020B0503030403020204" pitchFamily="34" charset="0"/>
                <a:ea typeface="Source Sans Pro" panose="020B0503030403020204" pitchFamily="34" charset="0"/>
              </a:rPr>
              <a:t>undoHistory.clear</a:t>
            </a:r>
            <a:r>
              <a:rPr lang="en-US" altLang="tr-TR" sz="2000" dirty="0">
                <a:latin typeface="Source Sans Pro" panose="020B0503030403020204" pitchFamily="34" charset="0"/>
                <a:ea typeface="Source Sans Pro" panose="020B0503030403020204" pitchFamily="34" charset="0"/>
              </a:rPr>
              <a:t>(); </a:t>
            </a:r>
            <a:r>
              <a:rPr lang="en-US" altLang="tr-TR" sz="2000" dirty="0" err="1">
                <a:latin typeface="Source Sans Pro" panose="020B0503030403020204" pitchFamily="34" charset="0"/>
                <a:ea typeface="Source Sans Pro" panose="020B0503030403020204" pitchFamily="34" charset="0"/>
              </a:rPr>
              <a:t>redoHistory.clear</a:t>
            </a:r>
            <a:r>
              <a:rPr lang="en-US" altLang="tr-TR" sz="2000" dirty="0">
                <a:latin typeface="Source Sans Pro" panose="020B0503030403020204" pitchFamily="34" charset="0"/>
                <a:ea typeface="Source Sans Pro" panose="020B0503030403020204" pitchFamily="34" charset="0"/>
              </a:rPr>
              <a:t>(); //my choice</a:t>
            </a:r>
          </a:p>
          <a:p>
            <a:pPr eaLnBrk="1" hangingPunct="1">
              <a:lnSpc>
                <a:spcPct val="80000"/>
              </a:lnSpc>
              <a:buFontTx/>
              <a:buNone/>
            </a:pPr>
            <a:r>
              <a:rPr lang="en-US" altLang="tr-TR" sz="2000" dirty="0">
                <a:latin typeface="Source Sans Pro" panose="020B0503030403020204" pitchFamily="34" charset="0"/>
                <a:ea typeface="Source Sans Pro" panose="020B0503030403020204" pitchFamily="34" charset="0"/>
              </a:rPr>
              <a:t>       }</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r>
              <a:rPr lang="en-US" altLang="tr-TR" sz="2000" kern="0" dirty="0" err="1">
                <a:latin typeface="Source Sans Pro" panose="020B0503030403020204" pitchFamily="34" charset="0"/>
                <a:ea typeface="Source Sans Pro" panose="020B0503030403020204" pitchFamily="34" charset="0"/>
              </a:rPr>
              <a:t>c.execute</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dirty="0">
                <a:latin typeface="Source Sans Pro" panose="020B0503030403020204" pitchFamily="34" charset="0"/>
                <a:ea typeface="Source Sans Pro" panose="020B0503030403020204" pitchFamily="34" charset="0"/>
              </a:rPr>
              <a:t>  }</a:t>
            </a:r>
            <a:endParaRPr lang="en-US" altLang="tr-TR" sz="2000" kern="0" dirty="0">
              <a:latin typeface="Source Sans Pro" panose="020B0503030403020204" pitchFamily="34" charset="0"/>
              <a:ea typeface="Source Sans Pro" panose="020B0503030403020204" pitchFamily="34" charset="0"/>
            </a:endParaRP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public void </a:t>
            </a:r>
            <a:r>
              <a:rPr lang="en-US" altLang="tr-TR" sz="2000" b="1" kern="0" dirty="0">
                <a:latin typeface="Source Sans Pro" panose="020B0503030403020204" pitchFamily="34" charset="0"/>
                <a:ea typeface="Source Sans Pro" panose="020B0503030403020204" pitchFamily="34" charset="0"/>
              </a:rPr>
              <a:t>undo</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r>
              <a:rPr lang="en-US" altLang="tr-TR" sz="2000" kern="0" dirty="0" err="1">
                <a:latin typeface="Source Sans Pro" panose="020B0503030403020204" pitchFamily="34" charset="0"/>
                <a:ea typeface="Source Sans Pro" panose="020B0503030403020204" pitchFamily="34" charset="0"/>
              </a:rPr>
              <a:t>UndoableCommand</a:t>
            </a:r>
            <a:r>
              <a:rPr lang="en-US" altLang="tr-TR" sz="2000" kern="0" dirty="0">
                <a:latin typeface="Source Sans Pro" panose="020B0503030403020204" pitchFamily="34" charset="0"/>
                <a:ea typeface="Source Sans Pro" panose="020B0503030403020204" pitchFamily="34" charset="0"/>
              </a:rPr>
              <a:t> c=(</a:t>
            </a:r>
            <a:r>
              <a:rPr lang="en-US" altLang="tr-TR" sz="2000" kern="0" dirty="0" err="1">
                <a:latin typeface="Source Sans Pro" panose="020B0503030403020204" pitchFamily="34" charset="0"/>
                <a:ea typeface="Source Sans Pro" panose="020B0503030403020204" pitchFamily="34" charset="0"/>
              </a:rPr>
              <a:t>UndoableCommand</a:t>
            </a:r>
            <a:r>
              <a:rPr lang="en-US" altLang="tr-TR" sz="2000" kern="0" dirty="0">
                <a:latin typeface="Source Sans Pro" panose="020B0503030403020204" pitchFamily="34" charset="0"/>
                <a:ea typeface="Source Sans Pro" panose="020B0503030403020204" pitchFamily="34" charset="0"/>
              </a:rPr>
              <a:t>) </a:t>
            </a:r>
            <a:r>
              <a:rPr lang="en-US" altLang="tr-TR" sz="2000" kern="0" dirty="0" err="1">
                <a:latin typeface="Source Sans Pro" panose="020B0503030403020204" pitchFamily="34" charset="0"/>
                <a:ea typeface="Source Sans Pro" panose="020B0503030403020204" pitchFamily="34" charset="0"/>
              </a:rPr>
              <a:t>undoHistory.</a:t>
            </a:r>
            <a:r>
              <a:rPr lang="en-US" altLang="tr-TR" sz="2000" dirty="0" err="1">
                <a:latin typeface="Source Sans Pro" panose="020B0503030403020204" pitchFamily="34" charset="0"/>
                <a:ea typeface="Source Sans Pro" panose="020B0503030403020204" pitchFamily="34" charset="0"/>
              </a:rPr>
              <a:t>pop</a:t>
            </a:r>
            <a:r>
              <a:rPr lang="en-US" altLang="tr-TR" sz="2000" dirty="0">
                <a:latin typeface="Source Sans Pro" panose="020B0503030403020204" pitchFamily="34" charset="0"/>
                <a:ea typeface="Source Sans Pro" panose="020B0503030403020204" pitchFamily="34" charset="0"/>
              </a:rPr>
              <a:t>()</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r>
              <a:rPr lang="en-US" altLang="tr-TR" sz="2000" kern="0" dirty="0" err="1">
                <a:latin typeface="Source Sans Pro" panose="020B0503030403020204" pitchFamily="34" charset="0"/>
                <a:ea typeface="Source Sans Pro" panose="020B0503030403020204" pitchFamily="34" charset="0"/>
              </a:rPr>
              <a:t>c.undo</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dirty="0">
                <a:latin typeface="Source Sans Pro" panose="020B0503030403020204" pitchFamily="34" charset="0"/>
                <a:ea typeface="Source Sans Pro" panose="020B0503030403020204" pitchFamily="34" charset="0"/>
              </a:rPr>
              <a:t>      </a:t>
            </a:r>
            <a:r>
              <a:rPr lang="en-US" altLang="tr-TR" sz="2000" dirty="0" err="1">
                <a:latin typeface="Source Sans Pro" panose="020B0503030403020204" pitchFamily="34" charset="0"/>
                <a:ea typeface="Source Sans Pro" panose="020B0503030403020204" pitchFamily="34" charset="0"/>
              </a:rPr>
              <a:t>redoHistory.push</a:t>
            </a:r>
            <a:r>
              <a:rPr lang="en-US" altLang="tr-TR" sz="2000" dirty="0">
                <a:latin typeface="Source Sans Pro" panose="020B0503030403020204" pitchFamily="34" charset="0"/>
                <a:ea typeface="Source Sans Pro" panose="020B0503030403020204" pitchFamily="34" charset="0"/>
              </a:rPr>
              <a:t>(c);</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public void </a:t>
            </a:r>
            <a:r>
              <a:rPr lang="en-US" altLang="tr-TR" sz="2000" b="1" kern="0" dirty="0">
                <a:latin typeface="Source Sans Pro" panose="020B0503030403020204" pitchFamily="34" charset="0"/>
                <a:ea typeface="Source Sans Pro" panose="020B0503030403020204" pitchFamily="34" charset="0"/>
              </a:rPr>
              <a:t>redo</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Command c=</a:t>
            </a:r>
            <a:r>
              <a:rPr lang="en-US" altLang="tr-TR" sz="2000" kern="0" dirty="0" err="1">
                <a:latin typeface="Source Sans Pro" panose="020B0503030403020204" pitchFamily="34" charset="0"/>
                <a:ea typeface="Source Sans Pro" panose="020B0503030403020204" pitchFamily="34" charset="0"/>
              </a:rPr>
              <a:t>redoHistory.pop</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r>
              <a:rPr lang="en-US" altLang="tr-TR" sz="2000" kern="0" dirty="0" err="1">
                <a:latin typeface="Source Sans Pro" panose="020B0503030403020204" pitchFamily="34" charset="0"/>
                <a:ea typeface="Source Sans Pro" panose="020B0503030403020204" pitchFamily="34" charset="0"/>
              </a:rPr>
              <a:t>c.execute</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r>
              <a:rPr lang="en-US" altLang="tr-TR" sz="2000" kern="0" dirty="0" err="1">
                <a:latin typeface="Source Sans Pro" panose="020B0503030403020204" pitchFamily="34" charset="0"/>
                <a:ea typeface="Source Sans Pro" panose="020B0503030403020204" pitchFamily="34" charset="0"/>
              </a:rPr>
              <a:t>undoHistory.push</a:t>
            </a:r>
            <a:r>
              <a:rPr lang="en-US" altLang="tr-TR" sz="2000" kern="0" dirty="0">
                <a:latin typeface="Source Sans Pro" panose="020B0503030403020204" pitchFamily="34" charset="0"/>
                <a:ea typeface="Source Sans Pro" panose="020B0503030403020204" pitchFamily="34" charset="0"/>
              </a:rPr>
              <a:t>( c);</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p>
          <a:p>
            <a:pPr marL="0" indent="0">
              <a:buNone/>
            </a:pPr>
            <a:endParaRPr lang="en-US" sz="2000" dirty="0"/>
          </a:p>
        </p:txBody>
      </p:sp>
    </p:spTree>
    <p:extLst>
      <p:ext uri="{BB962C8B-B14F-4D97-AF65-F5344CB8AC3E}">
        <p14:creationId xmlns:p14="http://schemas.microsoft.com/office/powerpoint/2010/main" val="813594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68D2A4A-C614-76A1-D30B-78AD39D1999E}"/>
              </a:ext>
            </a:extLst>
          </p:cNvPr>
          <p:cNvSpPr>
            <a:spLocks noGrp="1" noChangeArrowheads="1"/>
          </p:cNvSpPr>
          <p:nvPr>
            <p:ph type="title"/>
          </p:nvPr>
        </p:nvSpPr>
        <p:spPr>
          <a:xfrm>
            <a:off x="586509" y="102754"/>
            <a:ext cx="8229600" cy="1371600"/>
          </a:xfrm>
        </p:spPr>
        <p:txBody>
          <a:bodyPr/>
          <a:lstStyle/>
          <a:p>
            <a:r>
              <a:rPr lang="en-US" altLang="tr-TR" dirty="0"/>
              <a:t>Multi level undo/redo</a:t>
            </a:r>
            <a:endParaRPr lang="en-GB" altLang="tr-TR" dirty="0"/>
          </a:p>
        </p:txBody>
      </p:sp>
      <p:sp>
        <p:nvSpPr>
          <p:cNvPr id="47107" name="Rectangle 3">
            <a:extLst>
              <a:ext uri="{FF2B5EF4-FFF2-40B4-BE49-F238E27FC236}">
                <a16:creationId xmlns:a16="http://schemas.microsoft.com/office/drawing/2014/main" id="{62777DB4-DEDD-2DF3-9021-069603F10F7A}"/>
              </a:ext>
            </a:extLst>
          </p:cNvPr>
          <p:cNvSpPr>
            <a:spLocks noGrp="1" noChangeArrowheads="1"/>
          </p:cNvSpPr>
          <p:nvPr>
            <p:ph idx="1"/>
          </p:nvPr>
        </p:nvSpPr>
        <p:spPr>
          <a:xfrm>
            <a:off x="457200" y="1335088"/>
            <a:ext cx="8229600" cy="4532312"/>
          </a:xfrm>
        </p:spPr>
        <p:txBody>
          <a:bodyPr/>
          <a:lstStyle/>
          <a:p>
            <a:r>
              <a:rPr lang="en-US" altLang="tr-TR" dirty="0"/>
              <a:t>Photoshop has a list of commands executed on the right</a:t>
            </a:r>
          </a:p>
          <a:p>
            <a:r>
              <a:rPr lang="en-US" altLang="tr-TR" dirty="0"/>
              <a:t>Execution sequence –undo any action</a:t>
            </a:r>
          </a:p>
          <a:p>
            <a:pPr lvl="1"/>
            <a:r>
              <a:rPr lang="en-US" altLang="tr-TR" dirty="0"/>
              <a:t>User chooses one of the operations in the history list to cancel/undo</a:t>
            </a:r>
          </a:p>
          <a:p>
            <a:pPr lvl="1">
              <a:lnSpc>
                <a:spcPct val="90000"/>
              </a:lnSpc>
            </a:pPr>
            <a:r>
              <a:rPr lang="en-US" altLang="tr-TR" dirty="0"/>
              <a:t>Undo: traversing backward through the list while calling undo() of commands </a:t>
            </a:r>
          </a:p>
          <a:p>
            <a:pPr lvl="1">
              <a:lnSpc>
                <a:spcPct val="90000"/>
              </a:lnSpc>
            </a:pPr>
            <a:r>
              <a:rPr lang="en-US" altLang="tr-TR" dirty="0"/>
              <a:t>Redo: traversing forward and execute() of commands</a:t>
            </a:r>
          </a:p>
          <a:p>
            <a:pPr marL="457200" lvl="1" indent="0">
              <a:lnSpc>
                <a:spcPct val="90000"/>
              </a:lnSpc>
              <a:buNone/>
            </a:pPr>
            <a:endParaRPr lang="en-US" altLang="tr-TR" dirty="0"/>
          </a:p>
          <a:p>
            <a:pPr marL="457200" lvl="1" indent="0">
              <a:lnSpc>
                <a:spcPct val="90000"/>
              </a:lnSpc>
              <a:buNone/>
            </a:pPr>
            <a:r>
              <a:rPr lang="en-US" altLang="tr-TR" sz="2400" dirty="0"/>
              <a:t>Suggest a data structure</a:t>
            </a:r>
          </a:p>
          <a:p>
            <a:pPr lvl="1">
              <a:lnSpc>
                <a:spcPct val="90000"/>
              </a:lnSpc>
            </a:pPr>
            <a:endParaRPr lang="en-US" altLang="tr-TR" dirty="0"/>
          </a:p>
        </p:txBody>
      </p:sp>
    </p:spTree>
    <p:extLst>
      <p:ext uri="{BB962C8B-B14F-4D97-AF65-F5344CB8AC3E}">
        <p14:creationId xmlns:p14="http://schemas.microsoft.com/office/powerpoint/2010/main" val="3405466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0EF5C-97D4-6CDE-3BF5-656706A9E4CB}"/>
              </a:ext>
            </a:extLst>
          </p:cNvPr>
          <p:cNvSpPr>
            <a:spLocks noGrp="1"/>
          </p:cNvSpPr>
          <p:nvPr>
            <p:ph type="title"/>
          </p:nvPr>
        </p:nvSpPr>
        <p:spPr/>
        <p:txBody>
          <a:bodyPr/>
          <a:lstStyle/>
          <a:p>
            <a:r>
              <a:rPr lang="en-US" dirty="0"/>
              <a:t>Command History</a:t>
            </a:r>
          </a:p>
        </p:txBody>
      </p:sp>
      <p:sp>
        <p:nvSpPr>
          <p:cNvPr id="3" name="Content Placeholder 2">
            <a:extLst>
              <a:ext uri="{FF2B5EF4-FFF2-40B4-BE49-F238E27FC236}">
                <a16:creationId xmlns:a16="http://schemas.microsoft.com/office/drawing/2014/main" id="{D5EF3EA6-6506-E14F-B633-44766A152555}"/>
              </a:ext>
            </a:extLst>
          </p:cNvPr>
          <p:cNvSpPr>
            <a:spLocks noGrp="1"/>
          </p:cNvSpPr>
          <p:nvPr>
            <p:ph idx="1"/>
          </p:nvPr>
        </p:nvSpPr>
        <p:spPr>
          <a:xfrm>
            <a:off x="457200" y="1335294"/>
            <a:ext cx="8229600" cy="974274"/>
          </a:xfrm>
        </p:spPr>
        <p:txBody>
          <a:bodyPr/>
          <a:lstStyle/>
          <a:p>
            <a:r>
              <a:rPr lang="en-US" dirty="0"/>
              <a:t>two stacks, or</a:t>
            </a:r>
          </a:p>
          <a:p>
            <a:r>
              <a:rPr lang="en-US" dirty="0"/>
              <a:t>History list</a:t>
            </a:r>
          </a:p>
        </p:txBody>
      </p:sp>
      <p:pic>
        <p:nvPicPr>
          <p:cNvPr id="7172" name="Picture 4">
            <a:extLst>
              <a:ext uri="{FF2B5EF4-FFF2-40B4-BE49-F238E27FC236}">
                <a16:creationId xmlns:a16="http://schemas.microsoft.com/office/drawing/2014/main" id="{94FDF38A-7835-8756-9A97-EA087E6F7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859" y="2478177"/>
            <a:ext cx="5241316" cy="1298417"/>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43C6D7B9-23AE-4939-F4CE-B108588DDA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2497881"/>
            <a:ext cx="4976593" cy="1235646"/>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a:extLst>
              <a:ext uri="{FF2B5EF4-FFF2-40B4-BE49-F238E27FC236}">
                <a16:creationId xmlns:a16="http://schemas.microsoft.com/office/drawing/2014/main" id="{776D21EC-4C07-870B-4338-8059C6CEC0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286" y="4503531"/>
            <a:ext cx="5023011" cy="1218735"/>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a:extLst>
              <a:ext uri="{FF2B5EF4-FFF2-40B4-BE49-F238E27FC236}">
                <a16:creationId xmlns:a16="http://schemas.microsoft.com/office/drawing/2014/main" id="{5EC38542-1707-3249-DD95-EE001C7264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1748" y="4484481"/>
            <a:ext cx="4908483" cy="121873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650E14D-218A-6C24-3BF5-BAF6109B332A}"/>
              </a:ext>
            </a:extLst>
          </p:cNvPr>
          <p:cNvSpPr txBox="1"/>
          <p:nvPr/>
        </p:nvSpPr>
        <p:spPr>
          <a:xfrm>
            <a:off x="4326903" y="2278765"/>
            <a:ext cx="697627" cy="369332"/>
          </a:xfrm>
          <a:prstGeom prst="rect">
            <a:avLst/>
          </a:prstGeom>
          <a:noFill/>
        </p:spPr>
        <p:txBody>
          <a:bodyPr wrap="none" rtlCol="0">
            <a:spAutoFit/>
          </a:bodyPr>
          <a:lstStyle/>
          <a:p>
            <a:r>
              <a:rPr lang="en-US" dirty="0"/>
              <a:t>undo</a:t>
            </a:r>
          </a:p>
        </p:txBody>
      </p:sp>
      <p:sp>
        <p:nvSpPr>
          <p:cNvPr id="6" name="TextBox 5">
            <a:extLst>
              <a:ext uri="{FF2B5EF4-FFF2-40B4-BE49-F238E27FC236}">
                <a16:creationId xmlns:a16="http://schemas.microsoft.com/office/drawing/2014/main" id="{753DB7A8-F19D-402E-17D0-94AC5923D42E}"/>
              </a:ext>
            </a:extLst>
          </p:cNvPr>
          <p:cNvSpPr txBox="1"/>
          <p:nvPr/>
        </p:nvSpPr>
        <p:spPr>
          <a:xfrm>
            <a:off x="4326903" y="4826524"/>
            <a:ext cx="646331" cy="369332"/>
          </a:xfrm>
          <a:prstGeom prst="rect">
            <a:avLst/>
          </a:prstGeom>
          <a:noFill/>
        </p:spPr>
        <p:txBody>
          <a:bodyPr wrap="none" rtlCol="0">
            <a:spAutoFit/>
          </a:bodyPr>
          <a:lstStyle/>
          <a:p>
            <a:r>
              <a:rPr lang="en-US" dirty="0"/>
              <a:t>redo</a:t>
            </a:r>
          </a:p>
        </p:txBody>
      </p:sp>
      <p:sp>
        <p:nvSpPr>
          <p:cNvPr id="7" name="Arrow: Right 6">
            <a:extLst>
              <a:ext uri="{FF2B5EF4-FFF2-40B4-BE49-F238E27FC236}">
                <a16:creationId xmlns:a16="http://schemas.microsoft.com/office/drawing/2014/main" id="{3744B7C4-54D4-30B5-A5DA-18A1940AA265}"/>
              </a:ext>
            </a:extLst>
          </p:cNvPr>
          <p:cNvSpPr/>
          <p:nvPr/>
        </p:nvSpPr>
        <p:spPr bwMode="auto">
          <a:xfrm>
            <a:off x="3992251" y="2833743"/>
            <a:ext cx="1159497" cy="185725"/>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8" name="Arrow: Right 7">
            <a:extLst>
              <a:ext uri="{FF2B5EF4-FFF2-40B4-BE49-F238E27FC236}">
                <a16:creationId xmlns:a16="http://schemas.microsoft.com/office/drawing/2014/main" id="{8A0AFC90-53FD-5F43-DF25-7F3A722ECB5D}"/>
              </a:ext>
            </a:extLst>
          </p:cNvPr>
          <p:cNvSpPr/>
          <p:nvPr/>
        </p:nvSpPr>
        <p:spPr bwMode="auto">
          <a:xfrm>
            <a:off x="4054120" y="4635034"/>
            <a:ext cx="1159497" cy="185725"/>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739856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0916-CBCD-5706-CA7E-CCB467C30179}"/>
              </a:ext>
            </a:extLst>
          </p:cNvPr>
          <p:cNvSpPr>
            <a:spLocks noGrp="1"/>
          </p:cNvSpPr>
          <p:nvPr>
            <p:ph type="title"/>
          </p:nvPr>
        </p:nvSpPr>
        <p:spPr/>
        <p:txBody>
          <a:bodyPr/>
          <a:lstStyle/>
          <a:p>
            <a:r>
              <a:rPr lang="en-US" dirty="0" err="1"/>
              <a:t>Impl</a:t>
            </a:r>
            <a:r>
              <a:rPr lang="en-US" dirty="0"/>
              <a:t>. Issues – Undo/Redo</a:t>
            </a:r>
          </a:p>
        </p:txBody>
      </p:sp>
      <p:sp>
        <p:nvSpPr>
          <p:cNvPr id="3" name="Content Placeholder 2">
            <a:extLst>
              <a:ext uri="{FF2B5EF4-FFF2-40B4-BE49-F238E27FC236}">
                <a16:creationId xmlns:a16="http://schemas.microsoft.com/office/drawing/2014/main" id="{147C4161-D1BE-8501-FC22-04A7A2A598F1}"/>
              </a:ext>
            </a:extLst>
          </p:cNvPr>
          <p:cNvSpPr>
            <a:spLocks noGrp="1"/>
          </p:cNvSpPr>
          <p:nvPr>
            <p:ph idx="1"/>
          </p:nvPr>
        </p:nvSpPr>
        <p:spPr/>
        <p:txBody>
          <a:bodyPr/>
          <a:lstStyle/>
          <a:p>
            <a:pPr algn="l"/>
            <a:r>
              <a:rPr lang="en-US" sz="2400" dirty="0">
                <a:solidFill>
                  <a:srgbClr val="000000"/>
                </a:solidFill>
                <a:latin typeface="+mj-lt"/>
              </a:rPr>
              <a:t>Save a copy of the Command object in the history</a:t>
            </a:r>
          </a:p>
          <a:p>
            <a:pPr lvl="1"/>
            <a:r>
              <a:rPr lang="en-US" sz="2000" b="0" i="0" dirty="0">
                <a:solidFill>
                  <a:srgbClr val="000000"/>
                </a:solidFill>
                <a:effectLst/>
                <a:latin typeface="+mj-lt"/>
              </a:rPr>
              <a:t>When Command object has state how to undo that operation</a:t>
            </a:r>
          </a:p>
          <a:p>
            <a:pPr lvl="1"/>
            <a:r>
              <a:rPr lang="en-US" sz="2000" dirty="0">
                <a:solidFill>
                  <a:srgbClr val="000000"/>
                </a:solidFill>
                <a:latin typeface="+mj-lt"/>
              </a:rPr>
              <a:t>for</a:t>
            </a:r>
            <a:r>
              <a:rPr lang="en-US" sz="2000" b="0" i="0" dirty="0">
                <a:solidFill>
                  <a:srgbClr val="000000"/>
                </a:solidFill>
                <a:effectLst/>
                <a:latin typeface="+mj-lt"/>
              </a:rPr>
              <a:t> distinguishing different invocations of the same command if its state can vary across invocations.</a:t>
            </a:r>
          </a:p>
          <a:p>
            <a:pPr algn="l"/>
            <a:r>
              <a:rPr lang="en-US" sz="2400" dirty="0">
                <a:solidFill>
                  <a:srgbClr val="000000"/>
                </a:solidFill>
                <a:latin typeface="+mj-lt"/>
              </a:rPr>
              <a:t>E</a:t>
            </a:r>
            <a:r>
              <a:rPr lang="en-US" sz="2400" b="0" i="0" dirty="0">
                <a:solidFill>
                  <a:srgbClr val="000000"/>
                </a:solidFill>
                <a:effectLst/>
                <a:latin typeface="+mj-lt"/>
              </a:rPr>
              <a:t>xample:  a </a:t>
            </a:r>
            <a:r>
              <a:rPr lang="en-US" sz="2400" b="0" i="0" dirty="0" err="1">
                <a:solidFill>
                  <a:srgbClr val="000000"/>
                </a:solidFill>
                <a:effectLst/>
                <a:latin typeface="+mj-lt"/>
              </a:rPr>
              <a:t>DeleteCommand</a:t>
            </a:r>
            <a:r>
              <a:rPr lang="en-US" sz="2400" b="0" i="0" dirty="0">
                <a:solidFill>
                  <a:srgbClr val="000000"/>
                </a:solidFill>
                <a:effectLst/>
                <a:latin typeface="+mj-lt"/>
              </a:rPr>
              <a:t> that deletes selected text  must store different text and position each time it is executed. </a:t>
            </a:r>
          </a:p>
          <a:p>
            <a:pPr lvl="1"/>
            <a:r>
              <a:rPr lang="en-US" sz="2000" b="0" i="0" dirty="0">
                <a:solidFill>
                  <a:srgbClr val="000000"/>
                </a:solidFill>
                <a:effectLst/>
                <a:latin typeface="+mj-lt"/>
              </a:rPr>
              <a:t>Save </a:t>
            </a:r>
            <a:r>
              <a:rPr lang="en-US" sz="2000" dirty="0">
                <a:solidFill>
                  <a:srgbClr val="000000"/>
                </a:solidFill>
                <a:latin typeface="+mj-lt"/>
              </a:rPr>
              <a:t>a copy of the current </a:t>
            </a:r>
            <a:r>
              <a:rPr lang="en-US" sz="2000" b="0" i="0" dirty="0" err="1">
                <a:solidFill>
                  <a:srgbClr val="000000"/>
                </a:solidFill>
                <a:effectLst/>
                <a:latin typeface="+mj-lt"/>
              </a:rPr>
              <a:t>DeleteCommand</a:t>
            </a:r>
            <a:r>
              <a:rPr lang="en-US" sz="2000" b="0" i="0" dirty="0">
                <a:solidFill>
                  <a:srgbClr val="000000"/>
                </a:solidFill>
                <a:effectLst/>
                <a:latin typeface="+mj-lt"/>
              </a:rPr>
              <a:t> in the history. </a:t>
            </a:r>
          </a:p>
          <a:p>
            <a:pPr lvl="2"/>
            <a:r>
              <a:rPr lang="en-US" sz="1600" dirty="0">
                <a:solidFill>
                  <a:srgbClr val="000000"/>
                </a:solidFill>
                <a:latin typeface="+mj-lt"/>
              </a:rPr>
              <a:t>Which pattern?</a:t>
            </a:r>
            <a:endParaRPr lang="en-US" sz="1600" b="0" i="0" dirty="0">
              <a:solidFill>
                <a:srgbClr val="000000"/>
              </a:solidFill>
              <a:effectLst/>
              <a:latin typeface="+mj-lt"/>
            </a:endParaRPr>
          </a:p>
          <a:p>
            <a:pPr lvl="1"/>
            <a:r>
              <a:rPr lang="en-US" sz="2000" dirty="0" err="1">
                <a:solidFill>
                  <a:srgbClr val="000000"/>
                </a:solidFill>
                <a:latin typeface="+mj-lt"/>
              </a:rPr>
              <a:t>DeleteCommand</a:t>
            </a:r>
            <a:r>
              <a:rPr lang="en-US" sz="2000" dirty="0">
                <a:solidFill>
                  <a:srgbClr val="000000"/>
                </a:solidFill>
                <a:latin typeface="+mj-lt"/>
              </a:rPr>
              <a:t> object can delete some other text later</a:t>
            </a:r>
            <a:endParaRPr lang="en-US" sz="2000" b="0" i="0" dirty="0">
              <a:solidFill>
                <a:srgbClr val="000000"/>
              </a:solidFill>
              <a:effectLst/>
              <a:latin typeface="+mj-lt"/>
            </a:endParaRPr>
          </a:p>
          <a:p>
            <a:pPr algn="l"/>
            <a:r>
              <a:rPr lang="en-US" sz="2400" b="0" i="0" dirty="0">
                <a:solidFill>
                  <a:srgbClr val="000000"/>
                </a:solidFill>
                <a:effectLst/>
                <a:latin typeface="+mj-lt"/>
              </a:rPr>
              <a:t>if the command's state never changes, put only a command reference in the history </a:t>
            </a:r>
          </a:p>
          <a:p>
            <a:pPr lvl="1"/>
            <a:r>
              <a:rPr lang="en-US" sz="2000" b="0" i="0" dirty="0">
                <a:solidFill>
                  <a:srgbClr val="000000"/>
                </a:solidFill>
                <a:effectLst/>
                <a:latin typeface="+mj-lt"/>
              </a:rPr>
              <a:t>E.g. </a:t>
            </a:r>
            <a:r>
              <a:rPr lang="en-US" sz="2000" b="0" i="0" dirty="0" err="1">
                <a:solidFill>
                  <a:srgbClr val="000000"/>
                </a:solidFill>
                <a:effectLst/>
                <a:latin typeface="+mj-lt"/>
              </a:rPr>
              <a:t>LightOnCommand</a:t>
            </a:r>
            <a:endParaRPr lang="en-US" sz="2400" dirty="0">
              <a:latin typeface="+mj-lt"/>
            </a:endParaRPr>
          </a:p>
        </p:txBody>
      </p:sp>
    </p:spTree>
    <p:extLst>
      <p:ext uri="{BB962C8B-B14F-4D97-AF65-F5344CB8AC3E}">
        <p14:creationId xmlns:p14="http://schemas.microsoft.com/office/powerpoint/2010/main" val="2584290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8BB62E7B-5192-D659-E6C2-88FA2AFA7477}"/>
              </a:ext>
            </a:extLst>
          </p:cNvPr>
          <p:cNvSpPr>
            <a:spLocks noGrp="1" noChangeArrowheads="1"/>
          </p:cNvSpPr>
          <p:nvPr>
            <p:ph sz="half" idx="4294967295"/>
          </p:nvPr>
        </p:nvSpPr>
        <p:spPr>
          <a:xfrm>
            <a:off x="434107" y="490970"/>
            <a:ext cx="8238838" cy="2298412"/>
          </a:xfrm>
        </p:spPr>
        <p:txBody>
          <a:bodyPr/>
          <a:lstStyle/>
          <a:p>
            <a:pPr>
              <a:lnSpc>
                <a:spcPct val="80000"/>
              </a:lnSpc>
              <a:buFontTx/>
              <a:buNone/>
            </a:pPr>
            <a:r>
              <a:rPr lang="en-US" altLang="tr-TR" sz="2000" dirty="0">
                <a:latin typeface="Source Sans Pro" panose="020B0503030403020204" pitchFamily="34" charset="0"/>
                <a:ea typeface="Source Sans Pro" panose="020B0503030403020204" pitchFamily="34" charset="0"/>
              </a:rPr>
              <a:t>public class </a:t>
            </a:r>
            <a:r>
              <a:rPr lang="en-US" altLang="tr-TR" sz="2000" dirty="0" err="1">
                <a:latin typeface="Source Sans Pro" panose="020B0503030403020204" pitchFamily="34" charset="0"/>
                <a:ea typeface="Source Sans Pro" panose="020B0503030403020204" pitchFamily="34" charset="0"/>
              </a:rPr>
              <a:t>DeleteCmd</a:t>
            </a:r>
            <a:r>
              <a:rPr lang="en-US" altLang="tr-TR" sz="2000" dirty="0">
                <a:latin typeface="Source Sans Pro" panose="020B0503030403020204" pitchFamily="34" charset="0"/>
                <a:ea typeface="Source Sans Pro" panose="020B0503030403020204" pitchFamily="34" charset="0"/>
              </a:rPr>
              <a:t> implements </a:t>
            </a:r>
            <a:r>
              <a:rPr lang="en-US" altLang="tr-TR" sz="2000" dirty="0" err="1">
                <a:latin typeface="Source Sans Pro" panose="020B0503030403020204" pitchFamily="34" charset="0"/>
                <a:ea typeface="Source Sans Pro" panose="020B0503030403020204" pitchFamily="34" charset="0"/>
              </a:rPr>
              <a:t>UndoableCommand</a:t>
            </a:r>
            <a:r>
              <a:rPr lang="en-US" altLang="tr-TR" sz="2000" dirty="0">
                <a:latin typeface="Source Sans Pro" panose="020B0503030403020204" pitchFamily="34" charset="0"/>
                <a:ea typeface="Source Sans Pro" panose="020B0503030403020204" pitchFamily="34" charset="0"/>
              </a:rPr>
              <a:t>{</a:t>
            </a:r>
          </a:p>
          <a:p>
            <a:pPr>
              <a:lnSpc>
                <a:spcPct val="80000"/>
              </a:lnSpc>
              <a:buFontTx/>
              <a:buNone/>
            </a:pPr>
            <a:r>
              <a:rPr lang="en-US" altLang="tr-TR" sz="2000" dirty="0">
                <a:solidFill>
                  <a:srgbClr val="0070C0"/>
                </a:solidFill>
                <a:latin typeface="Source Sans Pro" panose="020B0503030403020204" pitchFamily="34" charset="0"/>
                <a:ea typeface="Source Sans Pro" panose="020B0503030403020204" pitchFamily="34" charset="0"/>
              </a:rPr>
              <a:t>  private Document doc;   private int start, end;</a:t>
            </a:r>
          </a:p>
          <a:p>
            <a:pPr>
              <a:lnSpc>
                <a:spcPct val="80000"/>
              </a:lnSpc>
              <a:buFontTx/>
              <a:buNone/>
            </a:pPr>
            <a:r>
              <a:rPr lang="en-US" altLang="tr-TR" sz="2000" dirty="0">
                <a:solidFill>
                  <a:srgbClr val="0070C0"/>
                </a:solidFill>
                <a:latin typeface="Source Sans Pro" panose="020B0503030403020204" pitchFamily="34" charset="0"/>
                <a:ea typeface="Source Sans Pro" panose="020B0503030403020204" pitchFamily="34" charset="0"/>
              </a:rPr>
              <a:t>  private </a:t>
            </a:r>
            <a:r>
              <a:rPr lang="en-US" altLang="tr-TR" sz="2000" dirty="0" err="1">
                <a:solidFill>
                  <a:srgbClr val="0070C0"/>
                </a:solidFill>
                <a:latin typeface="Source Sans Pro" panose="020B0503030403020204" pitchFamily="34" charset="0"/>
                <a:ea typeface="Source Sans Pro" panose="020B0503030403020204" pitchFamily="34" charset="0"/>
              </a:rPr>
              <a:t>FormattedString</a:t>
            </a:r>
            <a:r>
              <a:rPr lang="en-US" altLang="tr-TR" sz="2000" dirty="0">
                <a:solidFill>
                  <a:srgbClr val="0070C0"/>
                </a:solidFill>
                <a:latin typeface="Source Sans Pro" panose="020B0503030403020204" pitchFamily="34" charset="0"/>
                <a:ea typeface="Source Sans Pro" panose="020B0503030403020204" pitchFamily="34" charset="0"/>
              </a:rPr>
              <a:t> text; //saving state </a:t>
            </a:r>
          </a:p>
          <a:p>
            <a:pPr>
              <a:lnSpc>
                <a:spcPct val="80000"/>
              </a:lnSpc>
              <a:buFontTx/>
              <a:buNone/>
            </a:pPr>
            <a:r>
              <a:rPr lang="en-US" altLang="tr-TR" sz="2000" dirty="0">
                <a:latin typeface="Source Sans Pro" panose="020B0503030403020204" pitchFamily="34" charset="0"/>
                <a:ea typeface="Source Sans Pro" panose="020B0503030403020204" pitchFamily="34" charset="0"/>
              </a:rPr>
              <a:t>  public </a:t>
            </a:r>
            <a:r>
              <a:rPr lang="en-US" altLang="tr-TR" sz="2000" dirty="0" err="1">
                <a:latin typeface="Source Sans Pro" panose="020B0503030403020204" pitchFamily="34" charset="0"/>
                <a:ea typeface="Source Sans Pro" panose="020B0503030403020204" pitchFamily="34" charset="0"/>
              </a:rPr>
              <a:t>DeleteCmd</a:t>
            </a:r>
            <a:r>
              <a:rPr lang="en-US" altLang="tr-TR" sz="2000" dirty="0">
                <a:latin typeface="Source Sans Pro" panose="020B0503030403020204" pitchFamily="34" charset="0"/>
                <a:ea typeface="Source Sans Pro" panose="020B0503030403020204" pitchFamily="34" charset="0"/>
              </a:rPr>
              <a:t>(Document d, int start, int end){..}</a:t>
            </a:r>
          </a:p>
          <a:p>
            <a:pPr>
              <a:lnSpc>
                <a:spcPct val="80000"/>
              </a:lnSpc>
              <a:buFontTx/>
              <a:buNone/>
            </a:pPr>
            <a:r>
              <a:rPr lang="en-US" altLang="tr-TR" sz="2000" dirty="0">
                <a:latin typeface="Source Sans Pro" panose="020B0503030403020204" pitchFamily="34" charset="0"/>
                <a:ea typeface="Source Sans Pro" panose="020B0503030403020204" pitchFamily="34" charset="0"/>
              </a:rPr>
              <a:t>  public void execute(){</a:t>
            </a:r>
          </a:p>
          <a:p>
            <a:pPr>
              <a:lnSpc>
                <a:spcPct val="80000"/>
              </a:lnSpc>
              <a:buFontTx/>
              <a:buNone/>
            </a:pPr>
            <a:r>
              <a:rPr lang="en-US" altLang="tr-TR" sz="2000" dirty="0">
                <a:latin typeface="Source Sans Pro" panose="020B0503030403020204" pitchFamily="34" charset="0"/>
                <a:ea typeface="Source Sans Pro" panose="020B0503030403020204" pitchFamily="34" charset="0"/>
              </a:rPr>
              <a:t>        </a:t>
            </a:r>
            <a:r>
              <a:rPr lang="en-US" altLang="tr-TR" sz="2000" dirty="0">
                <a:solidFill>
                  <a:srgbClr val="0070C0"/>
                </a:solidFill>
                <a:latin typeface="Source Sans Pro" panose="020B0503030403020204" pitchFamily="34" charset="0"/>
                <a:ea typeface="Source Sans Pro" panose="020B0503030403020204" pitchFamily="34" charset="0"/>
              </a:rPr>
              <a:t>text</a:t>
            </a:r>
            <a:r>
              <a:rPr lang="en-US" altLang="tr-TR" sz="2000" dirty="0">
                <a:latin typeface="Source Sans Pro" panose="020B0503030403020204" pitchFamily="34" charset="0"/>
                <a:ea typeface="Source Sans Pro" panose="020B0503030403020204" pitchFamily="34" charset="0"/>
              </a:rPr>
              <a:t>=</a:t>
            </a:r>
            <a:r>
              <a:rPr lang="en-US" altLang="tr-TR" sz="2000" dirty="0" err="1">
                <a:latin typeface="Source Sans Pro" panose="020B0503030403020204" pitchFamily="34" charset="0"/>
                <a:ea typeface="Source Sans Pro" panose="020B0503030403020204" pitchFamily="34" charset="0"/>
              </a:rPr>
              <a:t>doc.delete</a:t>
            </a:r>
            <a:r>
              <a:rPr lang="en-US" altLang="tr-TR" sz="2000" dirty="0">
                <a:latin typeface="Source Sans Pro" panose="020B0503030403020204" pitchFamily="34" charset="0"/>
                <a:ea typeface="Source Sans Pro" panose="020B0503030403020204" pitchFamily="34" charset="0"/>
              </a:rPr>
              <a:t>(</a:t>
            </a:r>
            <a:r>
              <a:rPr lang="en-US" altLang="tr-TR" sz="2000" dirty="0" err="1">
                <a:latin typeface="Source Sans Pro" panose="020B0503030403020204" pitchFamily="34" charset="0"/>
                <a:ea typeface="Source Sans Pro" panose="020B0503030403020204" pitchFamily="34" charset="0"/>
              </a:rPr>
              <a:t>start,end</a:t>
            </a:r>
            <a:r>
              <a:rPr lang="en-US" altLang="tr-TR" sz="2000" dirty="0">
                <a:latin typeface="Source Sans Pro" panose="020B0503030403020204" pitchFamily="34" charset="0"/>
                <a:ea typeface="Source Sans Pro" panose="020B0503030403020204" pitchFamily="34" charset="0"/>
              </a:rPr>
              <a:t>); //remember for undo</a:t>
            </a:r>
          </a:p>
          <a:p>
            <a:pPr>
              <a:lnSpc>
                <a:spcPct val="80000"/>
              </a:lnSpc>
              <a:buFontTx/>
              <a:buNone/>
            </a:pPr>
            <a:r>
              <a:rPr lang="en-US" altLang="tr-TR" sz="2000" dirty="0">
                <a:latin typeface="Source Sans Pro" panose="020B0503030403020204" pitchFamily="34" charset="0"/>
                <a:ea typeface="Source Sans Pro" panose="020B0503030403020204" pitchFamily="34" charset="0"/>
              </a:rPr>
              <a:t>  }</a:t>
            </a:r>
          </a:p>
          <a:p>
            <a:pPr>
              <a:lnSpc>
                <a:spcPct val="80000"/>
              </a:lnSpc>
              <a:buFontTx/>
              <a:buNone/>
            </a:pPr>
            <a:r>
              <a:rPr lang="en-US" altLang="tr-TR" sz="2000" dirty="0">
                <a:latin typeface="Source Sans Pro" panose="020B0503030403020204" pitchFamily="34" charset="0"/>
                <a:ea typeface="Source Sans Pro" panose="020B0503030403020204" pitchFamily="34" charset="0"/>
              </a:rPr>
              <a:t>  public void undo(){</a:t>
            </a:r>
          </a:p>
          <a:p>
            <a:pPr>
              <a:lnSpc>
                <a:spcPct val="80000"/>
              </a:lnSpc>
              <a:buFontTx/>
              <a:buNone/>
            </a:pPr>
            <a:r>
              <a:rPr lang="en-US" altLang="tr-TR" sz="2000" dirty="0">
                <a:latin typeface="Source Sans Pro" panose="020B0503030403020204" pitchFamily="34" charset="0"/>
                <a:ea typeface="Source Sans Pro" panose="020B0503030403020204" pitchFamily="34" charset="0"/>
              </a:rPr>
              <a:t>        </a:t>
            </a:r>
            <a:r>
              <a:rPr lang="en-US" altLang="tr-TR" sz="2000" dirty="0" err="1">
                <a:latin typeface="Source Sans Pro" panose="020B0503030403020204" pitchFamily="34" charset="0"/>
                <a:ea typeface="Source Sans Pro" panose="020B0503030403020204" pitchFamily="34" charset="0"/>
              </a:rPr>
              <a:t>doc.insert</a:t>
            </a:r>
            <a:r>
              <a:rPr lang="en-US" altLang="tr-TR" sz="2000" dirty="0">
                <a:latin typeface="Source Sans Pro" panose="020B0503030403020204" pitchFamily="34" charset="0"/>
                <a:ea typeface="Source Sans Pro" panose="020B0503030403020204" pitchFamily="34" charset="0"/>
              </a:rPr>
              <a:t>(</a:t>
            </a:r>
            <a:r>
              <a:rPr lang="en-US" altLang="tr-TR" sz="2000" dirty="0">
                <a:solidFill>
                  <a:srgbClr val="0070C0"/>
                </a:solidFill>
                <a:latin typeface="Source Sans Pro" panose="020B0503030403020204" pitchFamily="34" charset="0"/>
                <a:ea typeface="Source Sans Pro" panose="020B0503030403020204" pitchFamily="34" charset="0"/>
              </a:rPr>
              <a:t>start, text</a:t>
            </a:r>
            <a:r>
              <a:rPr lang="en-US" altLang="tr-TR" sz="2000" dirty="0">
                <a:latin typeface="Source Sans Pro" panose="020B0503030403020204" pitchFamily="34" charset="0"/>
                <a:ea typeface="Source Sans Pro" panose="020B0503030403020204" pitchFamily="34" charset="0"/>
              </a:rPr>
              <a:t>);</a:t>
            </a:r>
          </a:p>
          <a:p>
            <a:pPr>
              <a:lnSpc>
                <a:spcPct val="80000"/>
              </a:lnSpc>
              <a:buFontTx/>
              <a:buNone/>
            </a:pPr>
            <a:r>
              <a:rPr lang="en-US" altLang="tr-TR" sz="2000" dirty="0">
                <a:latin typeface="Source Sans Pro" panose="020B0503030403020204" pitchFamily="34" charset="0"/>
                <a:ea typeface="Source Sans Pro" panose="020B0503030403020204" pitchFamily="34" charset="0"/>
              </a:rPr>
              <a:t>  }</a:t>
            </a:r>
          </a:p>
          <a:p>
            <a:pPr>
              <a:lnSpc>
                <a:spcPct val="80000"/>
              </a:lnSpc>
              <a:buFontTx/>
              <a:buNone/>
            </a:pPr>
            <a:r>
              <a:rPr lang="en-US" altLang="tr-TR" sz="2000" dirty="0">
                <a:latin typeface="Source Sans Pro" panose="020B0503030403020204" pitchFamily="34" charset="0"/>
                <a:ea typeface="Source Sans Pro" panose="020B0503030403020204" pitchFamily="34" charset="0"/>
              </a:rPr>
              <a:t>}</a:t>
            </a:r>
          </a:p>
          <a:p>
            <a:pPr>
              <a:lnSpc>
                <a:spcPct val="80000"/>
              </a:lnSpc>
              <a:buFontTx/>
              <a:buNone/>
            </a:pPr>
            <a:endParaRPr lang="en-US" altLang="tr-TR" sz="2000" dirty="0">
              <a:latin typeface="Source Sans Pro" panose="020B0503030403020204" pitchFamily="34" charset="0"/>
              <a:ea typeface="Source Sans Pro" panose="020B0503030403020204" pitchFamily="34" charset="0"/>
            </a:endParaRPr>
          </a:p>
        </p:txBody>
      </p:sp>
      <p:sp>
        <p:nvSpPr>
          <p:cNvPr id="2" name="Rectangle 5">
            <a:extLst>
              <a:ext uri="{FF2B5EF4-FFF2-40B4-BE49-F238E27FC236}">
                <a16:creationId xmlns:a16="http://schemas.microsoft.com/office/drawing/2014/main" id="{09BB29EF-4937-5B3E-F8AE-BE694F98C08F}"/>
              </a:ext>
            </a:extLst>
          </p:cNvPr>
          <p:cNvSpPr txBox="1">
            <a:spLocks noChangeArrowheads="1"/>
          </p:cNvSpPr>
          <p:nvPr/>
        </p:nvSpPr>
        <p:spPr bwMode="auto">
          <a:xfrm>
            <a:off x="180106" y="4177146"/>
            <a:ext cx="9277930" cy="2581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//setup</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r>
              <a:rPr lang="en-US" altLang="tr-TR" sz="2000" kern="0" dirty="0" err="1">
                <a:latin typeface="Source Sans Pro" panose="020B0503030403020204" pitchFamily="34" charset="0"/>
                <a:ea typeface="Source Sans Pro" panose="020B0503030403020204" pitchFamily="34" charset="0"/>
              </a:rPr>
              <a:t>JButton</a:t>
            </a:r>
            <a:r>
              <a:rPr lang="en-US" altLang="tr-TR" sz="2000" kern="0" dirty="0">
                <a:latin typeface="Source Sans Pro" panose="020B0503030403020204" pitchFamily="34" charset="0"/>
                <a:ea typeface="Source Sans Pro" panose="020B0503030403020204" pitchFamily="34" charset="0"/>
              </a:rPr>
              <a:t> </a:t>
            </a:r>
            <a:r>
              <a:rPr lang="en-US" altLang="tr-TR" sz="2000" kern="0" dirty="0" err="1">
                <a:latin typeface="Source Sans Pro" panose="020B0503030403020204" pitchFamily="34" charset="0"/>
                <a:ea typeface="Source Sans Pro" panose="020B0503030403020204" pitchFamily="34" charset="0"/>
              </a:rPr>
              <a:t>deleteButton</a:t>
            </a:r>
            <a:r>
              <a:rPr lang="en-US" altLang="tr-TR" sz="2000" kern="0" dirty="0">
                <a:latin typeface="Source Sans Pro" panose="020B0503030403020204" pitchFamily="34" charset="0"/>
                <a:ea typeface="Source Sans Pro" panose="020B0503030403020204" pitchFamily="34" charset="0"/>
              </a:rPr>
              <a:t>=new </a:t>
            </a:r>
            <a:r>
              <a:rPr lang="en-US" altLang="tr-TR" sz="2000" kern="0" dirty="0" err="1">
                <a:latin typeface="Source Sans Pro" panose="020B0503030403020204" pitchFamily="34" charset="0"/>
                <a:ea typeface="Source Sans Pro" panose="020B0503030403020204" pitchFamily="34" charset="0"/>
              </a:rPr>
              <a:t>JButton</a:t>
            </a:r>
            <a:r>
              <a:rPr lang="en-US" altLang="tr-TR" sz="2000" kern="0" dirty="0">
                <a:latin typeface="Source Sans Pro" panose="020B0503030403020204" pitchFamily="34" charset="0"/>
                <a:ea typeface="Source Sans Pro" panose="020B0503030403020204" pitchFamily="34" charset="0"/>
              </a:rPr>
              <a:t>(“insert”);</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r>
              <a:rPr lang="en-US" altLang="tr-TR" sz="2000" kern="0" dirty="0" err="1">
                <a:latin typeface="Source Sans Pro" panose="020B0503030403020204" pitchFamily="34" charset="0"/>
                <a:ea typeface="Source Sans Pro" panose="020B0503030403020204" pitchFamily="34" charset="0"/>
              </a:rPr>
              <a:t>deleteButton.addActionListener</a:t>
            </a:r>
            <a:r>
              <a:rPr lang="en-US" altLang="tr-TR" sz="2000" kern="0" dirty="0">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new ActionListener{</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public void </a:t>
            </a:r>
            <a:r>
              <a:rPr lang="en-US" altLang="tr-TR" sz="2000" kern="0" dirty="0" err="1">
                <a:latin typeface="Source Sans Pro" panose="020B0503030403020204" pitchFamily="34" charset="0"/>
                <a:ea typeface="Source Sans Pro" panose="020B0503030403020204" pitchFamily="34" charset="0"/>
              </a:rPr>
              <a:t>actionPerformed</a:t>
            </a:r>
            <a:r>
              <a:rPr lang="en-US" altLang="tr-TR" sz="2000" kern="0" dirty="0">
                <a:latin typeface="Source Sans Pro" panose="020B0503030403020204" pitchFamily="34" charset="0"/>
                <a:ea typeface="Source Sans Pro" panose="020B0503030403020204" pitchFamily="34" charset="0"/>
              </a:rPr>
              <a:t>(</a:t>
            </a:r>
            <a:r>
              <a:rPr lang="en-US" altLang="tr-TR" sz="2000" kern="0" dirty="0" err="1">
                <a:latin typeface="Source Sans Pro" panose="020B0503030403020204" pitchFamily="34" charset="0"/>
                <a:ea typeface="Source Sans Pro" panose="020B0503030403020204" pitchFamily="34" charset="0"/>
              </a:rPr>
              <a:t>ActionEvent</a:t>
            </a:r>
            <a:r>
              <a:rPr lang="en-US" altLang="tr-TR" sz="2000" kern="0" dirty="0">
                <a:latin typeface="Source Sans Pro" panose="020B0503030403020204" pitchFamily="34" charset="0"/>
                <a:ea typeface="Source Sans Pro" panose="020B0503030403020204" pitchFamily="34" charset="0"/>
              </a:rPr>
              <a:t> e){</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Command c=new </a:t>
            </a:r>
            <a:r>
              <a:rPr lang="en-US" altLang="tr-TR" sz="2000" kern="0" dirty="0" err="1">
                <a:solidFill>
                  <a:srgbClr val="0070C0"/>
                </a:solidFill>
                <a:latin typeface="Source Sans Pro" panose="020B0503030403020204" pitchFamily="34" charset="0"/>
                <a:ea typeface="Source Sans Pro" panose="020B0503030403020204" pitchFamily="34" charset="0"/>
              </a:rPr>
              <a:t>DeleteCmd</a:t>
            </a:r>
            <a:r>
              <a:rPr lang="en-US" altLang="tr-TR" sz="2000" kern="0" dirty="0">
                <a:latin typeface="Source Sans Pro" panose="020B0503030403020204" pitchFamily="34" charset="0"/>
                <a:ea typeface="Source Sans Pro" panose="020B0503030403020204" pitchFamily="34" charset="0"/>
              </a:rPr>
              <a:t>(</a:t>
            </a:r>
            <a:r>
              <a:rPr lang="en-US" altLang="tr-TR" sz="2000" kern="0" dirty="0" err="1">
                <a:latin typeface="Source Sans Pro" panose="020B0503030403020204" pitchFamily="34" charset="0"/>
                <a:ea typeface="Source Sans Pro" panose="020B0503030403020204" pitchFamily="34" charset="0"/>
              </a:rPr>
              <a:t>doc,getSelection</a:t>
            </a:r>
            <a:r>
              <a:rPr lang="en-US" altLang="tr-TR" sz="2000" kern="0" dirty="0">
                <a:latin typeface="Source Sans Pro" panose="020B0503030403020204" pitchFamily="34" charset="0"/>
                <a:ea typeface="Source Sans Pro" panose="020B0503030403020204" pitchFamily="34" charset="0"/>
              </a:rPr>
              <a:t>().start(), </a:t>
            </a:r>
            <a:r>
              <a:rPr lang="en-US" altLang="tr-TR" sz="2000" kern="0" dirty="0" err="1">
                <a:latin typeface="Source Sans Pro" panose="020B0503030403020204" pitchFamily="34" charset="0"/>
                <a:ea typeface="Source Sans Pro" panose="020B0503030403020204" pitchFamily="34" charset="0"/>
              </a:rPr>
              <a:t>getSelection</a:t>
            </a:r>
            <a:r>
              <a:rPr lang="en-US" altLang="tr-TR" sz="2000" kern="0" dirty="0">
                <a:latin typeface="Source Sans Pro" panose="020B0503030403020204" pitchFamily="34" charset="0"/>
                <a:ea typeface="Source Sans Pro" panose="020B0503030403020204" pitchFamily="34" charset="0"/>
              </a:rPr>
              <a:t>().end());</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r>
              <a:rPr lang="en-US" altLang="tr-TR" sz="2000" kern="0" dirty="0" err="1">
                <a:solidFill>
                  <a:srgbClr val="0070C0"/>
                </a:solidFill>
                <a:latin typeface="Source Sans Pro" panose="020B0503030403020204" pitchFamily="34" charset="0"/>
                <a:ea typeface="Source Sans Pro" panose="020B0503030403020204" pitchFamily="34" charset="0"/>
              </a:rPr>
              <a:t>commandManager.invoke</a:t>
            </a:r>
            <a:r>
              <a:rPr lang="en-US" altLang="tr-TR" sz="2000" kern="0" dirty="0">
                <a:solidFill>
                  <a:srgbClr val="0070C0"/>
                </a:solidFill>
                <a:latin typeface="Source Sans Pro" panose="020B0503030403020204" pitchFamily="34" charset="0"/>
                <a:ea typeface="Source Sans Pro" panose="020B0503030403020204" pitchFamily="34" charset="0"/>
              </a:rPr>
              <a:t>(</a:t>
            </a:r>
            <a:r>
              <a:rPr lang="en-US" altLang="tr-TR" sz="2000" b="1" kern="0" dirty="0" err="1">
                <a:solidFill>
                  <a:srgbClr val="0070C0"/>
                </a:solidFill>
                <a:latin typeface="Source Sans Pro" panose="020B0503030403020204" pitchFamily="34" charset="0"/>
                <a:ea typeface="Source Sans Pro" panose="020B0503030403020204" pitchFamily="34" charset="0"/>
              </a:rPr>
              <a:t>c.clone</a:t>
            </a:r>
            <a:r>
              <a:rPr lang="en-US" altLang="tr-TR" sz="2000" kern="0" dirty="0">
                <a:solidFill>
                  <a:srgbClr val="0070C0"/>
                </a:solidFill>
                <a:latin typeface="Source Sans Pro" panose="020B0503030403020204" pitchFamily="34" charset="0"/>
                <a:ea typeface="Source Sans Pro" panose="020B0503030403020204" pitchFamily="34" charset="0"/>
              </a:rPr>
              <a:t>());}</a:t>
            </a:r>
          </a:p>
          <a:p>
            <a:pPr eaLnBrk="1" hangingPunct="1">
              <a:lnSpc>
                <a:spcPct val="80000"/>
              </a:lnSpc>
              <a:buFontTx/>
              <a:buNone/>
            </a:pPr>
            <a:r>
              <a:rPr lang="en-US" altLang="tr-TR" sz="2000" kern="0" dirty="0">
                <a:latin typeface="Source Sans Pro" panose="020B0503030403020204" pitchFamily="34" charset="0"/>
                <a:ea typeface="Source Sans Pro" panose="020B0503030403020204" pitchFamily="34" charset="0"/>
              </a:rPr>
              <a:t>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2A1752-051D-A5CE-2863-1C7EB2B8A4CB}"/>
              </a:ext>
            </a:extLst>
          </p:cNvPr>
          <p:cNvSpPr>
            <a:spLocks noGrp="1"/>
          </p:cNvSpPr>
          <p:nvPr>
            <p:ph type="title"/>
          </p:nvPr>
        </p:nvSpPr>
        <p:spPr/>
        <p:txBody>
          <a:bodyPr/>
          <a:lstStyle/>
          <a:p>
            <a:r>
              <a:rPr lang="en-US" dirty="0"/>
              <a:t>Commands can be shared</a:t>
            </a:r>
          </a:p>
        </p:txBody>
      </p:sp>
      <p:sp>
        <p:nvSpPr>
          <p:cNvPr id="49155" name="Rectangle 5">
            <a:extLst>
              <a:ext uri="{FF2B5EF4-FFF2-40B4-BE49-F238E27FC236}">
                <a16:creationId xmlns:a16="http://schemas.microsoft.com/office/drawing/2014/main" id="{ED1682BF-324F-23B4-A532-E044834E9EBC}"/>
              </a:ext>
            </a:extLst>
          </p:cNvPr>
          <p:cNvSpPr>
            <a:spLocks noGrp="1" noChangeArrowheads="1"/>
          </p:cNvSpPr>
          <p:nvPr>
            <p:ph idx="1"/>
          </p:nvPr>
        </p:nvSpPr>
        <p:spPr>
          <a:xfrm>
            <a:off x="457200" y="1436891"/>
            <a:ext cx="8229600" cy="4532109"/>
          </a:xfrm>
        </p:spPr>
        <p:txBody>
          <a:bodyPr/>
          <a:lstStyle/>
          <a:p>
            <a:pPr>
              <a:lnSpc>
                <a:spcPct val="80000"/>
              </a:lnSpc>
            </a:pPr>
            <a:r>
              <a:rPr lang="en-US" altLang="tr-TR" sz="2800" dirty="0"/>
              <a:t>Undo action can be shared</a:t>
            </a:r>
          </a:p>
          <a:p>
            <a:pPr>
              <a:lnSpc>
                <a:spcPct val="80000"/>
              </a:lnSpc>
              <a:buFontTx/>
              <a:buNone/>
            </a:pPr>
            <a:endParaRPr lang="en-US" altLang="tr-TR" sz="1800" dirty="0"/>
          </a:p>
          <a:p>
            <a:pPr>
              <a:lnSpc>
                <a:spcPct val="80000"/>
              </a:lnSpc>
              <a:buFontTx/>
              <a:buNone/>
            </a:pPr>
            <a:r>
              <a:rPr lang="en-US" altLang="tr-TR" sz="2200" dirty="0">
                <a:latin typeface="Source Sans Pro" panose="020B0503030403020204" pitchFamily="34" charset="0"/>
                <a:ea typeface="Source Sans Pro" panose="020B0503030403020204" pitchFamily="34" charset="0"/>
              </a:rPr>
              <a:t>ActionListener </a:t>
            </a:r>
            <a:r>
              <a:rPr lang="en-US" altLang="tr-TR" sz="2200" dirty="0" err="1">
                <a:latin typeface="Source Sans Pro" panose="020B0503030403020204" pitchFamily="34" charset="0"/>
                <a:ea typeface="Source Sans Pro" panose="020B0503030403020204" pitchFamily="34" charset="0"/>
              </a:rPr>
              <a:t>undoAction</a:t>
            </a:r>
            <a:r>
              <a:rPr lang="en-US" altLang="tr-TR" sz="2200" dirty="0">
                <a:latin typeface="Source Sans Pro" panose="020B0503030403020204" pitchFamily="34" charset="0"/>
                <a:ea typeface="Source Sans Pro" panose="020B0503030403020204" pitchFamily="34" charset="0"/>
              </a:rPr>
              <a:t>=  new ActionListener{</a:t>
            </a:r>
          </a:p>
          <a:p>
            <a:pPr>
              <a:lnSpc>
                <a:spcPct val="80000"/>
              </a:lnSpc>
              <a:buFontTx/>
              <a:buNone/>
            </a:pPr>
            <a:r>
              <a:rPr lang="en-US" altLang="tr-TR" sz="2200" dirty="0">
                <a:latin typeface="Source Sans Pro" panose="020B0503030403020204" pitchFamily="34" charset="0"/>
                <a:ea typeface="Source Sans Pro" panose="020B0503030403020204" pitchFamily="34" charset="0"/>
              </a:rPr>
              <a:t>   public void </a:t>
            </a:r>
            <a:r>
              <a:rPr lang="en-US" altLang="tr-TR" sz="2200" dirty="0" err="1">
                <a:latin typeface="Source Sans Pro" panose="020B0503030403020204" pitchFamily="34" charset="0"/>
                <a:ea typeface="Source Sans Pro" panose="020B0503030403020204" pitchFamily="34" charset="0"/>
              </a:rPr>
              <a:t>actionPerformed</a:t>
            </a:r>
            <a:r>
              <a:rPr lang="en-US" altLang="tr-TR" sz="2200" dirty="0">
                <a:latin typeface="Source Sans Pro" panose="020B0503030403020204" pitchFamily="34" charset="0"/>
                <a:ea typeface="Source Sans Pro" panose="020B0503030403020204" pitchFamily="34" charset="0"/>
              </a:rPr>
              <a:t>(</a:t>
            </a:r>
            <a:r>
              <a:rPr lang="en-US" altLang="tr-TR" sz="2200" dirty="0" err="1">
                <a:latin typeface="Source Sans Pro" panose="020B0503030403020204" pitchFamily="34" charset="0"/>
                <a:ea typeface="Source Sans Pro" panose="020B0503030403020204" pitchFamily="34" charset="0"/>
              </a:rPr>
              <a:t>ActionEvent</a:t>
            </a:r>
            <a:r>
              <a:rPr lang="en-US" altLang="tr-TR" sz="2200" dirty="0">
                <a:latin typeface="Source Sans Pro" panose="020B0503030403020204" pitchFamily="34" charset="0"/>
                <a:ea typeface="Source Sans Pro" panose="020B0503030403020204" pitchFamily="34" charset="0"/>
              </a:rPr>
              <a:t> e){</a:t>
            </a:r>
          </a:p>
          <a:p>
            <a:pPr>
              <a:lnSpc>
                <a:spcPct val="80000"/>
              </a:lnSpc>
              <a:buFontTx/>
              <a:buNone/>
            </a:pPr>
            <a:r>
              <a:rPr lang="en-US" altLang="tr-TR" sz="2200" dirty="0">
                <a:latin typeface="Source Sans Pro" panose="020B0503030403020204" pitchFamily="34" charset="0"/>
                <a:ea typeface="Source Sans Pro" panose="020B0503030403020204" pitchFamily="34" charset="0"/>
              </a:rPr>
              <a:t>     </a:t>
            </a:r>
            <a:r>
              <a:rPr lang="en-US" altLang="tr-TR" sz="2200" dirty="0" err="1">
                <a:latin typeface="Source Sans Pro" panose="020B0503030403020204" pitchFamily="34" charset="0"/>
                <a:ea typeface="Source Sans Pro" panose="020B0503030403020204" pitchFamily="34" charset="0"/>
              </a:rPr>
              <a:t>commandManager.undo</a:t>
            </a:r>
            <a:r>
              <a:rPr lang="en-US" altLang="tr-TR" sz="2200" dirty="0">
                <a:latin typeface="Source Sans Pro" panose="020B0503030403020204" pitchFamily="34" charset="0"/>
                <a:ea typeface="Source Sans Pro" panose="020B0503030403020204" pitchFamily="34" charset="0"/>
              </a:rPr>
              <a:t>(); }</a:t>
            </a:r>
          </a:p>
          <a:p>
            <a:pPr>
              <a:lnSpc>
                <a:spcPct val="80000"/>
              </a:lnSpc>
              <a:buFontTx/>
              <a:buNone/>
            </a:pPr>
            <a:r>
              <a:rPr lang="en-US" altLang="tr-TR" sz="2200" dirty="0">
                <a:latin typeface="Source Sans Pro" panose="020B0503030403020204" pitchFamily="34" charset="0"/>
                <a:ea typeface="Source Sans Pro" panose="020B0503030403020204" pitchFamily="34" charset="0"/>
              </a:rPr>
              <a:t>   }); </a:t>
            </a:r>
            <a:r>
              <a:rPr lang="en-US" altLang="tr-TR" sz="2200" i="1" dirty="0">
                <a:latin typeface="Source Sans Pro" panose="020B0503030403020204" pitchFamily="34" charset="0"/>
                <a:ea typeface="Source Sans Pro" panose="020B0503030403020204" pitchFamily="34" charset="0"/>
              </a:rPr>
              <a:t>   //yes, ActionListener is both observer and command</a:t>
            </a:r>
          </a:p>
          <a:p>
            <a:pPr>
              <a:lnSpc>
                <a:spcPct val="80000"/>
              </a:lnSpc>
              <a:buFontTx/>
              <a:buNone/>
            </a:pPr>
            <a:endParaRPr lang="en-US" altLang="tr-TR" sz="2200" dirty="0">
              <a:latin typeface="Source Sans Pro" panose="020B0503030403020204" pitchFamily="34" charset="0"/>
              <a:ea typeface="Source Sans Pro" panose="020B0503030403020204" pitchFamily="34" charset="0"/>
            </a:endParaRPr>
          </a:p>
          <a:p>
            <a:pPr>
              <a:lnSpc>
                <a:spcPct val="80000"/>
              </a:lnSpc>
              <a:buFontTx/>
              <a:buNone/>
            </a:pPr>
            <a:r>
              <a:rPr lang="en-US" altLang="tr-TR" sz="2200" dirty="0" err="1">
                <a:latin typeface="Source Sans Pro" panose="020B0503030403020204" pitchFamily="34" charset="0"/>
                <a:ea typeface="Source Sans Pro" panose="020B0503030403020204" pitchFamily="34" charset="0"/>
              </a:rPr>
              <a:t>JButton</a:t>
            </a:r>
            <a:r>
              <a:rPr lang="en-US" altLang="tr-TR" sz="2200" dirty="0">
                <a:latin typeface="Source Sans Pro" panose="020B0503030403020204" pitchFamily="34" charset="0"/>
                <a:ea typeface="Source Sans Pro" panose="020B0503030403020204" pitchFamily="34" charset="0"/>
              </a:rPr>
              <a:t> </a:t>
            </a:r>
            <a:r>
              <a:rPr lang="en-US" altLang="tr-TR" sz="2200" dirty="0" err="1">
                <a:latin typeface="Source Sans Pro" panose="020B0503030403020204" pitchFamily="34" charset="0"/>
                <a:ea typeface="Source Sans Pro" panose="020B0503030403020204" pitchFamily="34" charset="0"/>
              </a:rPr>
              <a:t>undoButton</a:t>
            </a:r>
            <a:r>
              <a:rPr lang="en-US" altLang="tr-TR" sz="2200" dirty="0">
                <a:latin typeface="Source Sans Pro" panose="020B0503030403020204" pitchFamily="34" charset="0"/>
                <a:ea typeface="Source Sans Pro" panose="020B0503030403020204" pitchFamily="34" charset="0"/>
              </a:rPr>
              <a:t>=new </a:t>
            </a:r>
            <a:r>
              <a:rPr lang="en-US" altLang="tr-TR" sz="2200" dirty="0" err="1">
                <a:latin typeface="Source Sans Pro" panose="020B0503030403020204" pitchFamily="34" charset="0"/>
                <a:ea typeface="Source Sans Pro" panose="020B0503030403020204" pitchFamily="34" charset="0"/>
              </a:rPr>
              <a:t>JButton</a:t>
            </a:r>
            <a:r>
              <a:rPr lang="en-US" altLang="tr-TR" sz="2200" dirty="0">
                <a:latin typeface="Source Sans Pro" panose="020B0503030403020204" pitchFamily="34" charset="0"/>
                <a:ea typeface="Source Sans Pro" panose="020B0503030403020204" pitchFamily="34" charset="0"/>
              </a:rPr>
              <a:t>(“undo”);</a:t>
            </a:r>
          </a:p>
          <a:p>
            <a:pPr>
              <a:lnSpc>
                <a:spcPct val="80000"/>
              </a:lnSpc>
              <a:buFontTx/>
              <a:buNone/>
            </a:pPr>
            <a:r>
              <a:rPr lang="en-US" altLang="tr-TR" sz="2200" dirty="0" err="1">
                <a:latin typeface="Source Sans Pro" panose="020B0503030403020204" pitchFamily="34" charset="0"/>
                <a:ea typeface="Source Sans Pro" panose="020B0503030403020204" pitchFamily="34" charset="0"/>
              </a:rPr>
              <a:t>undoButton.addActionListener</a:t>
            </a:r>
            <a:r>
              <a:rPr lang="en-US" altLang="tr-TR" sz="2200" dirty="0">
                <a:latin typeface="Source Sans Pro" panose="020B0503030403020204" pitchFamily="34" charset="0"/>
                <a:ea typeface="Source Sans Pro" panose="020B0503030403020204" pitchFamily="34" charset="0"/>
              </a:rPr>
              <a:t>(</a:t>
            </a:r>
            <a:r>
              <a:rPr lang="en-US" altLang="tr-TR" sz="2200" dirty="0" err="1">
                <a:latin typeface="Source Sans Pro" panose="020B0503030403020204" pitchFamily="34" charset="0"/>
                <a:ea typeface="Source Sans Pro" panose="020B0503030403020204" pitchFamily="34" charset="0"/>
              </a:rPr>
              <a:t>undoAction</a:t>
            </a:r>
            <a:r>
              <a:rPr lang="en-US" altLang="tr-TR" sz="2200" dirty="0">
                <a:latin typeface="Source Sans Pro" panose="020B0503030403020204" pitchFamily="34" charset="0"/>
                <a:ea typeface="Source Sans Pro" panose="020B0503030403020204" pitchFamily="34" charset="0"/>
              </a:rPr>
              <a:t>);</a:t>
            </a:r>
          </a:p>
          <a:p>
            <a:pPr>
              <a:lnSpc>
                <a:spcPct val="80000"/>
              </a:lnSpc>
              <a:buFontTx/>
              <a:buNone/>
            </a:pPr>
            <a:endParaRPr lang="en-US" altLang="tr-TR" sz="2200" dirty="0">
              <a:latin typeface="Source Sans Pro" panose="020B0503030403020204" pitchFamily="34" charset="0"/>
              <a:ea typeface="Source Sans Pro" panose="020B0503030403020204" pitchFamily="34" charset="0"/>
            </a:endParaRPr>
          </a:p>
          <a:p>
            <a:pPr>
              <a:lnSpc>
                <a:spcPct val="80000"/>
              </a:lnSpc>
              <a:buFontTx/>
              <a:buNone/>
            </a:pPr>
            <a:r>
              <a:rPr lang="en-US" altLang="tr-TR" sz="2200" dirty="0" err="1">
                <a:latin typeface="Source Sans Pro" panose="020B0503030403020204" pitchFamily="34" charset="0"/>
                <a:ea typeface="Source Sans Pro" panose="020B0503030403020204" pitchFamily="34" charset="0"/>
              </a:rPr>
              <a:t>JMenuItem</a:t>
            </a:r>
            <a:r>
              <a:rPr lang="en-US" altLang="tr-TR" sz="2200" dirty="0">
                <a:latin typeface="Source Sans Pro" panose="020B0503030403020204" pitchFamily="34" charset="0"/>
                <a:ea typeface="Source Sans Pro" panose="020B0503030403020204" pitchFamily="34" charset="0"/>
              </a:rPr>
              <a:t> </a:t>
            </a:r>
            <a:r>
              <a:rPr lang="en-US" altLang="tr-TR" sz="2200" dirty="0" err="1">
                <a:latin typeface="Source Sans Pro" panose="020B0503030403020204" pitchFamily="34" charset="0"/>
                <a:ea typeface="Source Sans Pro" panose="020B0503030403020204" pitchFamily="34" charset="0"/>
              </a:rPr>
              <a:t>undoItem</a:t>
            </a:r>
            <a:r>
              <a:rPr lang="en-US" altLang="tr-TR" sz="2200" dirty="0">
                <a:latin typeface="Source Sans Pro" panose="020B0503030403020204" pitchFamily="34" charset="0"/>
                <a:ea typeface="Source Sans Pro" panose="020B0503030403020204" pitchFamily="34" charset="0"/>
              </a:rPr>
              <a:t>=new </a:t>
            </a:r>
            <a:r>
              <a:rPr lang="en-US" altLang="tr-TR" sz="2200" dirty="0" err="1">
                <a:latin typeface="Source Sans Pro" panose="020B0503030403020204" pitchFamily="34" charset="0"/>
                <a:ea typeface="Source Sans Pro" panose="020B0503030403020204" pitchFamily="34" charset="0"/>
              </a:rPr>
              <a:t>JMenuItem</a:t>
            </a:r>
            <a:r>
              <a:rPr lang="en-US" altLang="tr-TR" sz="2200" dirty="0">
                <a:latin typeface="Source Sans Pro" panose="020B0503030403020204" pitchFamily="34" charset="0"/>
                <a:ea typeface="Source Sans Pro" panose="020B0503030403020204" pitchFamily="34" charset="0"/>
              </a:rPr>
              <a:t>(“undo”);</a:t>
            </a:r>
          </a:p>
          <a:p>
            <a:pPr>
              <a:lnSpc>
                <a:spcPct val="80000"/>
              </a:lnSpc>
              <a:buFontTx/>
              <a:buNone/>
            </a:pPr>
            <a:r>
              <a:rPr lang="en-US" altLang="tr-TR" sz="2200" dirty="0" err="1">
                <a:latin typeface="Source Sans Pro" panose="020B0503030403020204" pitchFamily="34" charset="0"/>
                <a:ea typeface="Source Sans Pro" panose="020B0503030403020204" pitchFamily="34" charset="0"/>
              </a:rPr>
              <a:t>undoItem.addActionListener</a:t>
            </a:r>
            <a:r>
              <a:rPr lang="en-US" altLang="tr-TR" sz="2200" dirty="0">
                <a:latin typeface="Source Sans Pro" panose="020B0503030403020204" pitchFamily="34" charset="0"/>
                <a:ea typeface="Source Sans Pro" panose="020B0503030403020204" pitchFamily="34" charset="0"/>
              </a:rPr>
              <a:t>(</a:t>
            </a:r>
            <a:r>
              <a:rPr lang="en-US" altLang="tr-TR" sz="2200" dirty="0" err="1">
                <a:latin typeface="Source Sans Pro" panose="020B0503030403020204" pitchFamily="34" charset="0"/>
                <a:ea typeface="Source Sans Pro" panose="020B0503030403020204" pitchFamily="34" charset="0"/>
              </a:rPr>
              <a:t>undoAction</a:t>
            </a:r>
            <a:r>
              <a:rPr lang="en-US" altLang="tr-TR" sz="2200" dirty="0">
                <a:latin typeface="Source Sans Pro" panose="020B0503030403020204" pitchFamily="34" charset="0"/>
                <a:ea typeface="Source Sans Pro" panose="020B0503030403020204" pitchFamily="34" charset="0"/>
              </a:rPr>
              <a:t>);</a:t>
            </a:r>
          </a:p>
          <a:p>
            <a:pPr>
              <a:lnSpc>
                <a:spcPct val="80000"/>
              </a:lnSpc>
              <a:buFontTx/>
              <a:buNone/>
            </a:pPr>
            <a:endParaRPr lang="en-US" altLang="tr-TR" sz="2200" dirty="0">
              <a:latin typeface="Source Sans Pro" panose="020B0503030403020204" pitchFamily="34" charset="0"/>
              <a:ea typeface="Source Sans Pro" panose="020B0503030403020204" pitchFamily="34" charset="0"/>
            </a:endParaRPr>
          </a:p>
          <a:p>
            <a:pPr>
              <a:lnSpc>
                <a:spcPct val="80000"/>
              </a:lnSpc>
              <a:buFontTx/>
              <a:buNone/>
            </a:pPr>
            <a:endParaRPr lang="en-US" altLang="tr-TR" sz="22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417081753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074206-4AFC-4682-5805-9C8A565B7BA9}"/>
              </a:ext>
            </a:extLst>
          </p:cNvPr>
          <p:cNvPicPr>
            <a:picLocks noChangeAspect="1"/>
          </p:cNvPicPr>
          <p:nvPr/>
        </p:nvPicPr>
        <p:blipFill>
          <a:blip r:embed="rId2"/>
          <a:stretch>
            <a:fillRect/>
          </a:stretch>
        </p:blipFill>
        <p:spPr>
          <a:xfrm>
            <a:off x="600363" y="571500"/>
            <a:ext cx="6096000" cy="5715000"/>
          </a:xfrm>
          <a:prstGeom prst="rect">
            <a:avLst/>
          </a:prstGeom>
        </p:spPr>
      </p:pic>
      <p:sp>
        <p:nvSpPr>
          <p:cNvPr id="4" name="TextBox 3">
            <a:extLst>
              <a:ext uri="{FF2B5EF4-FFF2-40B4-BE49-F238E27FC236}">
                <a16:creationId xmlns:a16="http://schemas.microsoft.com/office/drawing/2014/main" id="{0DE33F56-D6D0-1A15-6B43-9749BB4508C8}"/>
              </a:ext>
            </a:extLst>
          </p:cNvPr>
          <p:cNvSpPr txBox="1"/>
          <p:nvPr/>
        </p:nvSpPr>
        <p:spPr>
          <a:xfrm>
            <a:off x="5052815" y="6550223"/>
            <a:ext cx="4091185" cy="307777"/>
          </a:xfrm>
          <a:prstGeom prst="rect">
            <a:avLst/>
          </a:prstGeom>
          <a:noFill/>
        </p:spPr>
        <p:txBody>
          <a:bodyPr wrap="none" rtlCol="0">
            <a:spAutoFit/>
          </a:bodyPr>
          <a:lstStyle/>
          <a:p>
            <a:r>
              <a:rPr lang="en-US" sz="1400" dirty="0"/>
              <a:t>https://refactoring.guru/design-patterns/command</a:t>
            </a:r>
          </a:p>
        </p:txBody>
      </p:sp>
      <p:sp>
        <p:nvSpPr>
          <p:cNvPr id="5" name="TextBox 4">
            <a:extLst>
              <a:ext uri="{FF2B5EF4-FFF2-40B4-BE49-F238E27FC236}">
                <a16:creationId xmlns:a16="http://schemas.microsoft.com/office/drawing/2014/main" id="{45F9216A-BA8E-8F01-5922-D5B6A2F7E005}"/>
              </a:ext>
            </a:extLst>
          </p:cNvPr>
          <p:cNvSpPr txBox="1"/>
          <p:nvPr/>
        </p:nvSpPr>
        <p:spPr>
          <a:xfrm>
            <a:off x="6391564" y="138546"/>
            <a:ext cx="2752436" cy="1631216"/>
          </a:xfrm>
          <a:prstGeom prst="rect">
            <a:avLst/>
          </a:prstGeom>
          <a:noFill/>
        </p:spPr>
        <p:txBody>
          <a:bodyPr wrap="square" rtlCol="0">
            <a:spAutoFit/>
          </a:bodyPr>
          <a:lstStyle/>
          <a:p>
            <a:r>
              <a:rPr lang="en-US" sz="2000" dirty="0"/>
              <a:t>An alternative design.</a:t>
            </a:r>
          </a:p>
          <a:p>
            <a:r>
              <a:rPr lang="en-US" sz="2000" dirty="0"/>
              <a:t>Command is abstract class implemented as a base for Editor commands.</a:t>
            </a:r>
          </a:p>
        </p:txBody>
      </p:sp>
      <p:sp>
        <p:nvSpPr>
          <p:cNvPr id="7" name="TextBox 6">
            <a:extLst>
              <a:ext uri="{FF2B5EF4-FFF2-40B4-BE49-F238E27FC236}">
                <a16:creationId xmlns:a16="http://schemas.microsoft.com/office/drawing/2014/main" id="{029FFAEC-6D3F-E386-DE85-E96CA0EC486F}"/>
              </a:ext>
            </a:extLst>
          </p:cNvPr>
          <p:cNvSpPr txBox="1"/>
          <p:nvPr/>
        </p:nvSpPr>
        <p:spPr>
          <a:xfrm>
            <a:off x="7296729" y="4701308"/>
            <a:ext cx="1847271" cy="923330"/>
          </a:xfrm>
          <a:prstGeom prst="rect">
            <a:avLst/>
          </a:prstGeom>
          <a:noFill/>
        </p:spPr>
        <p:txBody>
          <a:bodyPr wrap="square" rtlCol="0">
            <a:spAutoFit/>
          </a:bodyPr>
          <a:lstStyle/>
          <a:p>
            <a:r>
              <a:rPr lang="en-US" dirty="0"/>
              <a:t>Application acts as command manager</a:t>
            </a:r>
          </a:p>
        </p:txBody>
      </p:sp>
    </p:spTree>
    <p:extLst>
      <p:ext uri="{BB962C8B-B14F-4D97-AF65-F5344CB8AC3E}">
        <p14:creationId xmlns:p14="http://schemas.microsoft.com/office/powerpoint/2010/main" val="20039626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17AB-22EF-9E81-D2B1-89C9F5C07217}"/>
              </a:ext>
            </a:extLst>
          </p:cNvPr>
          <p:cNvSpPr>
            <a:spLocks noGrp="1"/>
          </p:cNvSpPr>
          <p:nvPr>
            <p:ph type="title"/>
          </p:nvPr>
        </p:nvSpPr>
        <p:spPr/>
        <p:txBody>
          <a:bodyPr/>
          <a:lstStyle/>
          <a:p>
            <a:r>
              <a:rPr lang="en-US" dirty="0"/>
              <a:t>Implementation issues -2</a:t>
            </a:r>
          </a:p>
        </p:txBody>
      </p:sp>
      <p:sp>
        <p:nvSpPr>
          <p:cNvPr id="3" name="Content Placeholder 2">
            <a:extLst>
              <a:ext uri="{FF2B5EF4-FFF2-40B4-BE49-F238E27FC236}">
                <a16:creationId xmlns:a16="http://schemas.microsoft.com/office/drawing/2014/main" id="{04E72CD5-DE10-4557-4DA1-C53782C15FE5}"/>
              </a:ext>
            </a:extLst>
          </p:cNvPr>
          <p:cNvSpPr>
            <a:spLocks noGrp="1"/>
          </p:cNvSpPr>
          <p:nvPr>
            <p:ph idx="1"/>
          </p:nvPr>
        </p:nvSpPr>
        <p:spPr>
          <a:xfrm>
            <a:off x="457200" y="1326055"/>
            <a:ext cx="8506690" cy="4532109"/>
          </a:xfrm>
        </p:spPr>
        <p:txBody>
          <a:bodyPr/>
          <a:lstStyle/>
          <a:p>
            <a:pPr marL="0" indent="0">
              <a:buNone/>
            </a:pPr>
            <a:r>
              <a:rPr lang="en-US" sz="2800" b="0" i="1" dirty="0">
                <a:solidFill>
                  <a:srgbClr val="000000"/>
                </a:solidFill>
                <a:effectLst/>
                <a:latin typeface="+mj-lt"/>
              </a:rPr>
              <a:t>How intelligent should a command be?</a:t>
            </a:r>
          </a:p>
          <a:p>
            <a:r>
              <a:rPr lang="en-US" sz="2400" b="0" i="0" dirty="0">
                <a:solidFill>
                  <a:srgbClr val="000000"/>
                </a:solidFill>
                <a:effectLst/>
                <a:latin typeface="+mj-lt"/>
              </a:rPr>
              <a:t>At one extreme it merely defines a binding between a receiver and the actions that carry out the request. </a:t>
            </a:r>
          </a:p>
          <a:p>
            <a:r>
              <a:rPr lang="en-US" sz="2400" b="0" i="0" dirty="0">
                <a:solidFill>
                  <a:srgbClr val="000000"/>
                </a:solidFill>
                <a:effectLst/>
                <a:latin typeface="+mj-lt"/>
              </a:rPr>
              <a:t>At the other extreme it implements everything itself without delegating to a receiver at all. </a:t>
            </a:r>
          </a:p>
          <a:p>
            <a:pPr lvl="1"/>
            <a:r>
              <a:rPr lang="en-US" sz="2000" b="0" i="0" dirty="0">
                <a:solidFill>
                  <a:srgbClr val="000000"/>
                </a:solidFill>
                <a:effectLst/>
                <a:latin typeface="+mj-lt"/>
              </a:rPr>
              <a:t>When you want to define commands that are independent of existing classes, </a:t>
            </a:r>
          </a:p>
          <a:p>
            <a:pPr lvl="1"/>
            <a:r>
              <a:rPr lang="en-US" sz="2000" dirty="0">
                <a:solidFill>
                  <a:srgbClr val="000000"/>
                </a:solidFill>
                <a:latin typeface="+mj-lt"/>
              </a:rPr>
              <a:t>W</a:t>
            </a:r>
            <a:r>
              <a:rPr lang="en-US" sz="2000" b="0" i="0" dirty="0">
                <a:solidFill>
                  <a:srgbClr val="000000"/>
                </a:solidFill>
                <a:effectLst/>
                <a:latin typeface="+mj-lt"/>
              </a:rPr>
              <a:t>hen no suitable receiver exists, or </a:t>
            </a:r>
          </a:p>
          <a:p>
            <a:pPr lvl="1"/>
            <a:r>
              <a:rPr lang="en-US" sz="2000" dirty="0">
                <a:solidFill>
                  <a:srgbClr val="000000"/>
                </a:solidFill>
                <a:latin typeface="+mj-lt"/>
              </a:rPr>
              <a:t>W</a:t>
            </a:r>
            <a:r>
              <a:rPr lang="en-US" sz="2000" b="0" i="0" dirty="0">
                <a:solidFill>
                  <a:srgbClr val="000000"/>
                </a:solidFill>
                <a:effectLst/>
                <a:latin typeface="+mj-lt"/>
              </a:rPr>
              <a:t>hen a command knows its receiver implicitly. </a:t>
            </a:r>
          </a:p>
          <a:p>
            <a:pPr lvl="1"/>
            <a:r>
              <a:rPr lang="en-US" sz="2000" dirty="0">
                <a:solidFill>
                  <a:srgbClr val="000000"/>
                </a:solidFill>
                <a:latin typeface="+mj-lt"/>
              </a:rPr>
              <a:t>e.g.</a:t>
            </a:r>
            <a:r>
              <a:rPr lang="en-US" sz="2000" b="0" i="0" dirty="0">
                <a:solidFill>
                  <a:srgbClr val="000000"/>
                </a:solidFill>
                <a:effectLst/>
                <a:latin typeface="+mj-lt"/>
              </a:rPr>
              <a:t>, a command that creates another application window may be just as capable of creating the window as any other object. </a:t>
            </a:r>
          </a:p>
          <a:p>
            <a:r>
              <a:rPr lang="en-US" sz="2400" b="0" i="0" dirty="0">
                <a:solidFill>
                  <a:srgbClr val="000000"/>
                </a:solidFill>
                <a:effectLst/>
                <a:latin typeface="+mj-lt"/>
              </a:rPr>
              <a:t>Somewhere in between these extremes are commands that have enough knowledge to find their receiver dynamically.</a:t>
            </a:r>
          </a:p>
        </p:txBody>
      </p:sp>
    </p:spTree>
    <p:extLst>
      <p:ext uri="{BB962C8B-B14F-4D97-AF65-F5344CB8AC3E}">
        <p14:creationId xmlns:p14="http://schemas.microsoft.com/office/powerpoint/2010/main" val="7165326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B78C-FE60-0550-D184-62D90F06412E}"/>
              </a:ext>
            </a:extLst>
          </p:cNvPr>
          <p:cNvSpPr>
            <a:spLocks noGrp="1"/>
          </p:cNvSpPr>
          <p:nvPr>
            <p:ph type="title"/>
          </p:nvPr>
        </p:nvSpPr>
        <p:spPr/>
        <p:txBody>
          <a:bodyPr/>
          <a:lstStyle/>
          <a:p>
            <a:r>
              <a:rPr lang="en-US" dirty="0"/>
              <a:t>Implementation issues -3</a:t>
            </a:r>
          </a:p>
        </p:txBody>
      </p:sp>
      <p:sp>
        <p:nvSpPr>
          <p:cNvPr id="3" name="Content Placeholder 2">
            <a:extLst>
              <a:ext uri="{FF2B5EF4-FFF2-40B4-BE49-F238E27FC236}">
                <a16:creationId xmlns:a16="http://schemas.microsoft.com/office/drawing/2014/main" id="{2788C33D-5F23-0E46-7D49-18F6D287BD98}"/>
              </a:ext>
            </a:extLst>
          </p:cNvPr>
          <p:cNvSpPr>
            <a:spLocks noGrp="1"/>
          </p:cNvSpPr>
          <p:nvPr>
            <p:ph idx="1"/>
          </p:nvPr>
        </p:nvSpPr>
        <p:spPr/>
        <p:txBody>
          <a:bodyPr/>
          <a:lstStyle/>
          <a:p>
            <a:pPr marL="0" indent="0">
              <a:buNone/>
            </a:pPr>
            <a:r>
              <a:rPr lang="en-US" sz="2800" i="1" dirty="0">
                <a:solidFill>
                  <a:srgbClr val="000000"/>
                </a:solidFill>
                <a:latin typeface="+mj-lt"/>
              </a:rPr>
              <a:t>Function pointer and </a:t>
            </a:r>
            <a:r>
              <a:rPr lang="en-US" sz="2800" i="1" dirty="0">
                <a:solidFill>
                  <a:srgbClr val="000000"/>
                </a:solidFill>
                <a:effectLst/>
                <a:latin typeface="+mj-lt"/>
              </a:rPr>
              <a:t>C++ templates.</a:t>
            </a:r>
          </a:p>
          <a:p>
            <a:r>
              <a:rPr lang="en-US" sz="2800" b="0" i="0" dirty="0">
                <a:solidFill>
                  <a:srgbClr val="000000"/>
                </a:solidFill>
                <a:effectLst/>
                <a:latin typeface="+mj-lt"/>
              </a:rPr>
              <a:t>For commands that (1) are not undoable and (2) do not require arguments</a:t>
            </a:r>
          </a:p>
          <a:p>
            <a:pPr marL="0" indent="0">
              <a:buNone/>
            </a:pPr>
            <a:r>
              <a:rPr lang="en-US" sz="2000" dirty="0">
                <a:latin typeface="Source Sans Pro" panose="020B0503030403020204" pitchFamily="34" charset="0"/>
                <a:ea typeface="Source Sans Pro" panose="020B0503030403020204" pitchFamily="34" charset="0"/>
              </a:rPr>
              <a:t>template &lt;class Receiver&gt;</a:t>
            </a:r>
          </a:p>
          <a:p>
            <a:pPr marL="0" indent="0">
              <a:buNone/>
            </a:pPr>
            <a:r>
              <a:rPr lang="en-US" sz="2000" dirty="0">
                <a:latin typeface="Source Sans Pro" panose="020B0503030403020204" pitchFamily="34" charset="0"/>
                <a:ea typeface="Source Sans Pro" panose="020B0503030403020204" pitchFamily="34" charset="0"/>
              </a:rPr>
              <a:t>class </a:t>
            </a:r>
            <a:r>
              <a:rPr lang="en-US" sz="2000" dirty="0" err="1">
                <a:latin typeface="Source Sans Pro" panose="020B0503030403020204" pitchFamily="34" charset="0"/>
                <a:ea typeface="Source Sans Pro" panose="020B0503030403020204" pitchFamily="34" charset="0"/>
              </a:rPr>
              <a:t>SimpleCommand</a:t>
            </a:r>
            <a:r>
              <a:rPr lang="en-US" sz="2000" dirty="0">
                <a:latin typeface="Source Sans Pro" panose="020B0503030403020204" pitchFamily="34" charset="0"/>
                <a:ea typeface="Source Sans Pro" panose="020B0503030403020204" pitchFamily="34" charset="0"/>
              </a:rPr>
              <a:t> : public Command {</a:t>
            </a:r>
          </a:p>
          <a:p>
            <a:pPr marL="0" indent="0">
              <a:buNone/>
            </a:pPr>
            <a:r>
              <a:rPr lang="en-US" sz="2000" dirty="0">
                <a:latin typeface="Source Sans Pro" panose="020B0503030403020204" pitchFamily="34" charset="0"/>
                <a:ea typeface="Source Sans Pro" panose="020B0503030403020204" pitchFamily="34" charset="0"/>
              </a:rPr>
              <a:t>  public:</a:t>
            </a:r>
          </a:p>
          <a:p>
            <a:pPr marL="0" indent="0">
              <a:buNone/>
            </a:pPr>
            <a:r>
              <a:rPr lang="en-US" sz="2000" dirty="0">
                <a:latin typeface="Source Sans Pro" panose="020B0503030403020204" pitchFamily="34" charset="0"/>
                <a:ea typeface="Source Sans Pro" panose="020B0503030403020204" pitchFamily="34" charset="0"/>
              </a:rPr>
              <a:t>     typedef void (Receiver::* Action)();</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SimpleCommand</a:t>
            </a:r>
            <a:r>
              <a:rPr lang="en-US" sz="2000" dirty="0">
                <a:latin typeface="Source Sans Pro" panose="020B0503030403020204" pitchFamily="34" charset="0"/>
                <a:ea typeface="Source Sans Pro" panose="020B0503030403020204" pitchFamily="34" charset="0"/>
              </a:rPr>
              <a:t>(Receiver* r, Action a) : receiver(r), action(a) { }</a:t>
            </a:r>
          </a:p>
          <a:p>
            <a:pPr marL="0" indent="0">
              <a:buNone/>
            </a:pPr>
            <a:r>
              <a:rPr lang="en-US" sz="2000" dirty="0">
                <a:latin typeface="Source Sans Pro" panose="020B0503030403020204" pitchFamily="34" charset="0"/>
                <a:ea typeface="Source Sans Pro" panose="020B0503030403020204" pitchFamily="34" charset="0"/>
              </a:rPr>
              <a:t>      virtual void </a:t>
            </a:r>
            <a:r>
              <a:rPr lang="en-US" sz="2000" b="1" dirty="0">
                <a:latin typeface="Source Sans Pro" panose="020B0503030403020204" pitchFamily="34" charset="0"/>
                <a:ea typeface="Source Sans Pro" panose="020B0503030403020204" pitchFamily="34" charset="0"/>
              </a:rPr>
              <a:t>execute</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private:</a:t>
            </a:r>
          </a:p>
          <a:p>
            <a:pPr marL="0" indent="0">
              <a:buNone/>
            </a:pPr>
            <a:r>
              <a:rPr lang="en-US" sz="2000" dirty="0">
                <a:latin typeface="Source Sans Pro" panose="020B0503030403020204" pitchFamily="34" charset="0"/>
                <a:ea typeface="Source Sans Pro" panose="020B0503030403020204" pitchFamily="34" charset="0"/>
              </a:rPr>
              <a:t>      Action </a:t>
            </a:r>
            <a:r>
              <a:rPr lang="en-US" sz="2000" dirty="0" err="1">
                <a:latin typeface="Source Sans Pro" panose="020B0503030403020204" pitchFamily="34" charset="0"/>
                <a:ea typeface="Source Sans Pro" panose="020B0503030403020204" pitchFamily="34" charset="0"/>
              </a:rPr>
              <a:t>action</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Receiver* receiver;</a:t>
            </a:r>
          </a:p>
          <a:p>
            <a:pPr marL="0" indent="0">
              <a:buNone/>
            </a:pPr>
            <a:r>
              <a:rPr lang="en-US" sz="2000" dirty="0">
                <a:latin typeface="Source Sans Pro" panose="020B0503030403020204" pitchFamily="34" charset="0"/>
                <a:ea typeface="Source Sans Pro" panose="020B0503030403020204" pitchFamily="34" charset="0"/>
              </a:rPr>
              <a:t>};</a:t>
            </a:r>
          </a:p>
        </p:txBody>
      </p:sp>
      <p:sp>
        <p:nvSpPr>
          <p:cNvPr id="7" name="Rectangle 3">
            <a:extLst>
              <a:ext uri="{FF2B5EF4-FFF2-40B4-BE49-F238E27FC236}">
                <a16:creationId xmlns:a16="http://schemas.microsoft.com/office/drawing/2014/main" id="{00077A9E-7C98-1F50-8499-8F3883F739BE}"/>
              </a:ext>
            </a:extLst>
          </p:cNvPr>
          <p:cNvSpPr>
            <a:spLocks noChangeArrowheads="1"/>
          </p:cNvSpPr>
          <p:nvPr/>
        </p:nvSpPr>
        <p:spPr bwMode="auto">
          <a:xfrm>
            <a:off x="3920066" y="5014877"/>
            <a:ext cx="507153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0C0"/>
                </a:solidFill>
                <a:effectLst/>
                <a:latin typeface="Source Sans Pro" panose="020B0503030403020204" pitchFamily="34" charset="0"/>
                <a:ea typeface="Source Sans Pro" panose="020B0503030403020204" pitchFamily="34" charset="0"/>
              </a:rPr>
              <a:t>template &lt;class Receiver&gt;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Source Sans Pro" panose="020B0503030403020204" pitchFamily="34" charset="0"/>
                <a:ea typeface="Source Sans Pro" panose="020B0503030403020204" pitchFamily="34" charset="0"/>
              </a:rPr>
              <a:t>void </a:t>
            </a:r>
            <a:r>
              <a:rPr kumimoji="0" lang="en-US" altLang="en-US" sz="2000" b="0" i="0" u="none" strike="noStrike" cap="none" normalizeH="0" baseline="0" dirty="0" err="1">
                <a:ln>
                  <a:noFill/>
                </a:ln>
                <a:effectLst/>
                <a:latin typeface="Source Sans Pro" panose="020B0503030403020204" pitchFamily="34" charset="0"/>
                <a:ea typeface="Source Sans Pro" panose="020B0503030403020204" pitchFamily="34" charset="0"/>
              </a:rPr>
              <a:t>SimpleCommand</a:t>
            </a:r>
            <a:r>
              <a:rPr kumimoji="0" lang="en-US" altLang="en-US" sz="2000" b="0" i="0" u="none" strike="noStrike" cap="none" normalizeH="0" baseline="0" dirty="0">
                <a:ln>
                  <a:noFill/>
                </a:ln>
                <a:effectLst/>
                <a:latin typeface="Source Sans Pro" panose="020B0503030403020204" pitchFamily="34" charset="0"/>
                <a:ea typeface="Source Sans Pro" panose="020B0503030403020204" pitchFamily="34" charset="0"/>
              </a:rPr>
              <a:t>&lt;Receiver&gt;::</a:t>
            </a:r>
            <a:r>
              <a:rPr kumimoji="0" lang="en-US" altLang="en-US" sz="2000" b="1" i="0" u="none" strike="noStrike" cap="none" normalizeH="0" baseline="0" dirty="0">
                <a:ln>
                  <a:noFill/>
                </a:ln>
                <a:effectLst/>
                <a:latin typeface="Source Sans Pro" panose="020B0503030403020204" pitchFamily="34" charset="0"/>
                <a:ea typeface="Source Sans Pro" panose="020B0503030403020204" pitchFamily="34" charset="0"/>
              </a:rPr>
              <a:t>execute</a:t>
            </a:r>
            <a:r>
              <a:rPr kumimoji="0" lang="en-US" altLang="en-US" sz="2000" b="0" i="0" u="none" strike="noStrike" cap="none" normalizeH="0" baseline="0" dirty="0">
                <a:ln>
                  <a:noFill/>
                </a:ln>
                <a:effectLst/>
                <a:latin typeface="Source Sans Pro" panose="020B0503030403020204" pitchFamily="34" charset="0"/>
                <a:ea typeface="Source Sans Pro" panose="020B0503030403020204" pitchFamily="34" charset="0"/>
              </a:rPr>
              <a:t> () { </a:t>
            </a:r>
            <a:r>
              <a:rPr kumimoji="0" lang="en-US" altLang="en-US" sz="2000" b="0" i="0" u="none" strike="noStrike" cap="none" normalizeH="0" baseline="0" dirty="0">
                <a:ln>
                  <a:noFill/>
                </a:ln>
                <a:solidFill>
                  <a:srgbClr val="0070C0"/>
                </a:solidFill>
                <a:effectLst/>
                <a:latin typeface="Source Sans Pro" panose="020B0503030403020204" pitchFamily="34" charset="0"/>
                <a:ea typeface="Source Sans Pro" panose="020B0503030403020204" pitchFamily="34" charset="0"/>
              </a:rPr>
              <a:t>(receiver-&gt;*action)(); </a:t>
            </a:r>
            <a:r>
              <a:rPr kumimoji="0" lang="en-US" altLang="en-US" sz="2000" b="0" i="0" u="none" strike="noStrike" cap="none" normalizeH="0" baseline="0" dirty="0">
                <a:ln>
                  <a:noFill/>
                </a:ln>
                <a:effectLst/>
                <a:latin typeface="Source Sans Pro" panose="020B0503030403020204" pitchFamily="34" charset="0"/>
                <a:ea typeface="Source Sans Pro" panose="020B0503030403020204" pitchFamily="34" charset="0"/>
              </a:rPr>
              <a:t>} </a:t>
            </a:r>
          </a:p>
        </p:txBody>
      </p:sp>
    </p:spTree>
    <p:extLst>
      <p:ext uri="{BB962C8B-B14F-4D97-AF65-F5344CB8AC3E}">
        <p14:creationId xmlns:p14="http://schemas.microsoft.com/office/powerpoint/2010/main" val="581521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B78C-FE60-0550-D184-62D90F06412E}"/>
              </a:ext>
            </a:extLst>
          </p:cNvPr>
          <p:cNvSpPr>
            <a:spLocks noGrp="1"/>
          </p:cNvSpPr>
          <p:nvPr>
            <p:ph type="title"/>
          </p:nvPr>
        </p:nvSpPr>
        <p:spPr/>
        <p:txBody>
          <a:bodyPr/>
          <a:lstStyle/>
          <a:p>
            <a:r>
              <a:rPr lang="en-US" dirty="0"/>
              <a:t>Implementation issues-3</a:t>
            </a:r>
          </a:p>
        </p:txBody>
      </p:sp>
      <p:sp>
        <p:nvSpPr>
          <p:cNvPr id="3" name="Content Placeholder 2">
            <a:extLst>
              <a:ext uri="{FF2B5EF4-FFF2-40B4-BE49-F238E27FC236}">
                <a16:creationId xmlns:a16="http://schemas.microsoft.com/office/drawing/2014/main" id="{2788C33D-5F23-0E46-7D49-18F6D287BD98}"/>
              </a:ext>
            </a:extLst>
          </p:cNvPr>
          <p:cNvSpPr>
            <a:spLocks noGrp="1"/>
          </p:cNvSpPr>
          <p:nvPr>
            <p:ph idx="1"/>
          </p:nvPr>
        </p:nvSpPr>
        <p:spPr/>
        <p:txBody>
          <a:bodyPr/>
          <a:lstStyle/>
          <a:p>
            <a:pPr marL="0" indent="0">
              <a:buNone/>
            </a:pPr>
            <a:r>
              <a:rPr lang="en-US" sz="2800" i="1" dirty="0">
                <a:solidFill>
                  <a:srgbClr val="000000"/>
                </a:solidFill>
                <a:latin typeface="+mj-lt"/>
              </a:rPr>
              <a:t>Function pointer and </a:t>
            </a:r>
            <a:r>
              <a:rPr lang="en-US" sz="2800" b="0" i="1" dirty="0">
                <a:solidFill>
                  <a:srgbClr val="000000"/>
                </a:solidFill>
                <a:effectLst/>
                <a:latin typeface="+mj-lt"/>
              </a:rPr>
              <a:t>C++ templates</a:t>
            </a:r>
            <a:r>
              <a:rPr lang="en-US" sz="2800" b="0" dirty="0">
                <a:solidFill>
                  <a:srgbClr val="000000"/>
                </a:solidFill>
                <a:effectLst/>
                <a:latin typeface="+mj-lt"/>
              </a:rPr>
              <a:t>.</a:t>
            </a:r>
          </a:p>
          <a:p>
            <a:pPr marL="0" indent="0">
              <a:buNone/>
            </a:pPr>
            <a:r>
              <a:rPr lang="en-US" sz="2000" dirty="0">
                <a:latin typeface="Source Sans Pro" panose="020B0503030403020204" pitchFamily="34" charset="0"/>
                <a:ea typeface="Source Sans Pro" panose="020B0503030403020204" pitchFamily="34" charset="0"/>
              </a:rPr>
              <a:t>template &lt;class Receiver&gt;</a:t>
            </a:r>
          </a:p>
          <a:p>
            <a:pPr marL="0" indent="0">
              <a:buNone/>
            </a:pPr>
            <a:r>
              <a:rPr lang="en-US" sz="2000" dirty="0">
                <a:latin typeface="Source Sans Pro" panose="020B0503030403020204" pitchFamily="34" charset="0"/>
                <a:ea typeface="Source Sans Pro" panose="020B0503030403020204" pitchFamily="34" charset="0"/>
              </a:rPr>
              <a:t>class </a:t>
            </a:r>
            <a:r>
              <a:rPr lang="en-US" sz="2000" dirty="0" err="1">
                <a:latin typeface="Source Sans Pro" panose="020B0503030403020204" pitchFamily="34" charset="0"/>
                <a:ea typeface="Source Sans Pro" panose="020B0503030403020204" pitchFamily="34" charset="0"/>
              </a:rPr>
              <a:t>SimpleCommand</a:t>
            </a:r>
            <a:r>
              <a:rPr lang="en-US" sz="2000" dirty="0">
                <a:latin typeface="Source Sans Pro" panose="020B0503030403020204" pitchFamily="34" charset="0"/>
                <a:ea typeface="Source Sans Pro" panose="020B0503030403020204" pitchFamily="34" charset="0"/>
              </a:rPr>
              <a:t> : public Command {</a:t>
            </a:r>
          </a:p>
          <a:p>
            <a:pPr marL="0" indent="0">
              <a:buNone/>
            </a:pPr>
            <a:r>
              <a:rPr lang="en-US" sz="2000" dirty="0">
                <a:latin typeface="Source Sans Pro" panose="020B0503030403020204" pitchFamily="34" charset="0"/>
                <a:ea typeface="Source Sans Pro" panose="020B0503030403020204" pitchFamily="34" charset="0"/>
              </a:rPr>
              <a:t>  public:</a:t>
            </a:r>
          </a:p>
          <a:p>
            <a:pPr marL="0" indent="0">
              <a:buNone/>
            </a:pPr>
            <a:r>
              <a:rPr lang="en-US" sz="2000" dirty="0">
                <a:latin typeface="Source Sans Pro" panose="020B0503030403020204" pitchFamily="34" charset="0"/>
                <a:ea typeface="Source Sans Pro" panose="020B0503030403020204" pitchFamily="34" charset="0"/>
              </a:rPr>
              <a:t>     typedef void (Receiver::* action)();</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SimpleCommand</a:t>
            </a:r>
            <a:r>
              <a:rPr lang="en-US" sz="2000" dirty="0">
                <a:latin typeface="Source Sans Pro" panose="020B0503030403020204" pitchFamily="34" charset="0"/>
                <a:ea typeface="Source Sans Pro" panose="020B0503030403020204" pitchFamily="34" charset="0"/>
              </a:rPr>
              <a:t>(Receiver* r, Action a) : receiver(r), action(a) { }</a:t>
            </a:r>
          </a:p>
          <a:p>
            <a:pPr marL="0" indent="0">
              <a:buNone/>
            </a:pPr>
            <a:r>
              <a:rPr lang="en-US" sz="2000" dirty="0">
                <a:latin typeface="Source Sans Pro" panose="020B0503030403020204" pitchFamily="34" charset="0"/>
                <a:ea typeface="Source Sans Pro" panose="020B0503030403020204" pitchFamily="34" charset="0"/>
              </a:rPr>
              <a:t>      virtual void </a:t>
            </a:r>
            <a:r>
              <a:rPr lang="en-US" sz="2000" b="1" dirty="0">
                <a:latin typeface="Source Sans Pro" panose="020B0503030403020204" pitchFamily="34" charset="0"/>
                <a:ea typeface="Source Sans Pro" panose="020B0503030403020204" pitchFamily="34" charset="0"/>
              </a:rPr>
              <a:t>execute</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private:</a:t>
            </a:r>
          </a:p>
          <a:p>
            <a:pPr marL="0" indent="0">
              <a:buNone/>
            </a:pPr>
            <a:r>
              <a:rPr lang="en-US" sz="2000" dirty="0">
                <a:latin typeface="Source Sans Pro" panose="020B0503030403020204" pitchFamily="34" charset="0"/>
                <a:ea typeface="Source Sans Pro" panose="020B0503030403020204" pitchFamily="34" charset="0"/>
              </a:rPr>
              <a:t>      Action </a:t>
            </a:r>
            <a:r>
              <a:rPr lang="en-US" sz="2000" dirty="0" err="1">
                <a:latin typeface="Source Sans Pro" panose="020B0503030403020204" pitchFamily="34" charset="0"/>
                <a:ea typeface="Source Sans Pro" panose="020B0503030403020204" pitchFamily="34" charset="0"/>
              </a:rPr>
              <a:t>action</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Receiver* receiver;</a:t>
            </a:r>
          </a:p>
          <a:p>
            <a:pPr marL="0" indent="0">
              <a:buNone/>
            </a:pPr>
            <a:r>
              <a:rPr lang="en-US" sz="2000" dirty="0">
                <a:latin typeface="Source Sans Pro" panose="020B0503030403020204" pitchFamily="34" charset="0"/>
                <a:ea typeface="Source Sans Pro" panose="020B0503030403020204" pitchFamily="34" charset="0"/>
              </a:rPr>
              <a:t>};</a:t>
            </a:r>
          </a:p>
        </p:txBody>
      </p:sp>
      <p:sp>
        <p:nvSpPr>
          <p:cNvPr id="7" name="Rectangle 3">
            <a:extLst>
              <a:ext uri="{FF2B5EF4-FFF2-40B4-BE49-F238E27FC236}">
                <a16:creationId xmlns:a16="http://schemas.microsoft.com/office/drawing/2014/main" id="{00077A9E-7C98-1F50-8499-8F3883F739BE}"/>
              </a:ext>
            </a:extLst>
          </p:cNvPr>
          <p:cNvSpPr>
            <a:spLocks noChangeArrowheads="1"/>
          </p:cNvSpPr>
          <p:nvPr/>
        </p:nvSpPr>
        <p:spPr bwMode="auto">
          <a:xfrm>
            <a:off x="4165055" y="4210543"/>
            <a:ext cx="507153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70C0"/>
                </a:solidFill>
                <a:effectLst/>
                <a:latin typeface="Source Sans Pro" panose="020B0503030403020204" pitchFamily="34" charset="0"/>
                <a:ea typeface="Source Sans Pro" panose="020B0503030403020204" pitchFamily="34" charset="0"/>
              </a:rPr>
              <a:t>template &lt;class Receiver&gt;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70C0"/>
                </a:solidFill>
                <a:effectLst/>
                <a:latin typeface="Source Sans Pro" panose="020B0503030403020204" pitchFamily="34" charset="0"/>
                <a:ea typeface="Source Sans Pro" panose="020B0503030403020204" pitchFamily="34" charset="0"/>
              </a:rPr>
              <a:t>void </a:t>
            </a:r>
            <a:r>
              <a:rPr kumimoji="0" lang="en-US" altLang="en-US" sz="2000" b="0" i="0" u="none" strike="noStrike" cap="none" normalizeH="0" baseline="0" dirty="0" err="1">
                <a:ln>
                  <a:noFill/>
                </a:ln>
                <a:solidFill>
                  <a:srgbClr val="0070C0"/>
                </a:solidFill>
                <a:effectLst/>
                <a:latin typeface="Source Sans Pro" panose="020B0503030403020204" pitchFamily="34" charset="0"/>
                <a:ea typeface="Source Sans Pro" panose="020B0503030403020204" pitchFamily="34" charset="0"/>
              </a:rPr>
              <a:t>SimpleCommand</a:t>
            </a:r>
            <a:r>
              <a:rPr kumimoji="0" lang="en-US" altLang="en-US" sz="2000" b="0" i="0" u="none" strike="noStrike" cap="none" normalizeH="0" baseline="0" dirty="0">
                <a:ln>
                  <a:noFill/>
                </a:ln>
                <a:solidFill>
                  <a:srgbClr val="0070C0"/>
                </a:solidFill>
                <a:effectLst/>
                <a:latin typeface="Source Sans Pro" panose="020B0503030403020204" pitchFamily="34" charset="0"/>
                <a:ea typeface="Source Sans Pro" panose="020B0503030403020204" pitchFamily="34" charset="0"/>
              </a:rPr>
              <a:t>&lt;Receiver&gt;::</a:t>
            </a:r>
            <a:r>
              <a:rPr kumimoji="0" lang="en-US" altLang="en-US" sz="2000" b="1" i="0" u="none" strike="noStrike" cap="none" normalizeH="0" baseline="0" dirty="0">
                <a:ln>
                  <a:noFill/>
                </a:ln>
                <a:solidFill>
                  <a:srgbClr val="0070C0"/>
                </a:solidFill>
                <a:effectLst/>
                <a:latin typeface="Source Sans Pro" panose="020B0503030403020204" pitchFamily="34" charset="0"/>
                <a:ea typeface="Source Sans Pro" panose="020B0503030403020204" pitchFamily="34" charset="0"/>
              </a:rPr>
              <a:t>execute</a:t>
            </a:r>
            <a:r>
              <a:rPr kumimoji="0" lang="en-US" altLang="en-US" sz="2000" b="0" i="0" u="none" strike="noStrike" cap="none" normalizeH="0" baseline="0" dirty="0">
                <a:ln>
                  <a:noFill/>
                </a:ln>
                <a:solidFill>
                  <a:srgbClr val="0070C0"/>
                </a:solidFill>
                <a:effectLst/>
                <a:latin typeface="Source Sans Pro" panose="020B0503030403020204" pitchFamily="34" charset="0"/>
                <a:ea typeface="Source Sans Pro" panose="020B0503030403020204" pitchFamily="34" charset="0"/>
              </a:rPr>
              <a:t> () { </a:t>
            </a:r>
            <a:r>
              <a:rPr kumimoji="0" lang="en-US" altLang="en-US" sz="2000" b="1" i="0" u="none" strike="noStrike" cap="none" normalizeH="0" baseline="0" dirty="0">
                <a:ln>
                  <a:noFill/>
                </a:ln>
                <a:solidFill>
                  <a:srgbClr val="0070C0"/>
                </a:solidFill>
                <a:effectLst/>
                <a:latin typeface="Source Sans Pro" panose="020B0503030403020204" pitchFamily="34" charset="0"/>
                <a:ea typeface="Source Sans Pro" panose="020B0503030403020204" pitchFamily="34" charset="0"/>
              </a:rPr>
              <a:t>(receiver-&gt;*action)(); } </a:t>
            </a:r>
          </a:p>
        </p:txBody>
      </p:sp>
      <p:sp>
        <p:nvSpPr>
          <p:cNvPr id="8" name="TextBox 7">
            <a:extLst>
              <a:ext uri="{FF2B5EF4-FFF2-40B4-BE49-F238E27FC236}">
                <a16:creationId xmlns:a16="http://schemas.microsoft.com/office/drawing/2014/main" id="{34FD0C81-6465-FDB7-5F47-057AEA5FD25D}"/>
              </a:ext>
            </a:extLst>
          </p:cNvPr>
          <p:cNvSpPr txBox="1"/>
          <p:nvPr/>
        </p:nvSpPr>
        <p:spPr>
          <a:xfrm>
            <a:off x="821266" y="5505609"/>
            <a:ext cx="7443128" cy="1200329"/>
          </a:xfrm>
          <a:prstGeom prst="rect">
            <a:avLst/>
          </a:prstGeom>
          <a:noFill/>
        </p:spPr>
        <p:txBody>
          <a:bodyPr wrap="none" rtlCol="0">
            <a:spAutoFit/>
          </a:bodyPr>
          <a:lstStyle/>
          <a:p>
            <a:r>
              <a:rPr lang="en-US" dirty="0"/>
              <a:t>int main(){</a:t>
            </a:r>
          </a:p>
          <a:p>
            <a:r>
              <a:rPr lang="en-US" dirty="0" err="1"/>
              <a:t>MyClass</a:t>
            </a:r>
            <a:r>
              <a:rPr lang="en-US" dirty="0"/>
              <a:t>* receiver = new </a:t>
            </a:r>
            <a:r>
              <a:rPr lang="en-US" dirty="0" err="1"/>
              <a:t>MyClass</a:t>
            </a:r>
            <a:r>
              <a:rPr lang="en-US" dirty="0"/>
              <a:t>;</a:t>
            </a:r>
          </a:p>
          <a:p>
            <a:r>
              <a:rPr lang="en-US" dirty="0"/>
              <a:t>Command* </a:t>
            </a:r>
            <a:r>
              <a:rPr lang="en-US" dirty="0" err="1"/>
              <a:t>aCommand</a:t>
            </a:r>
            <a:r>
              <a:rPr lang="en-US" dirty="0"/>
              <a:t> =</a:t>
            </a:r>
          </a:p>
          <a:p>
            <a:r>
              <a:rPr lang="en-US" dirty="0"/>
              <a:t>     </a:t>
            </a:r>
            <a:r>
              <a:rPr lang="en-US" dirty="0">
                <a:solidFill>
                  <a:srgbClr val="0070C0"/>
                </a:solidFill>
              </a:rPr>
              <a:t>new </a:t>
            </a:r>
            <a:r>
              <a:rPr lang="en-US" dirty="0" err="1">
                <a:solidFill>
                  <a:srgbClr val="0070C0"/>
                </a:solidFill>
              </a:rPr>
              <a:t>SimpleCommand</a:t>
            </a:r>
            <a:r>
              <a:rPr lang="en-US" dirty="0">
                <a:solidFill>
                  <a:srgbClr val="0070C0"/>
                </a:solidFill>
              </a:rPr>
              <a:t>&lt;</a:t>
            </a:r>
            <a:r>
              <a:rPr lang="en-US" dirty="0" err="1">
                <a:solidFill>
                  <a:srgbClr val="0070C0"/>
                </a:solidFill>
              </a:rPr>
              <a:t>MyClass</a:t>
            </a:r>
            <a:r>
              <a:rPr lang="en-US" dirty="0">
                <a:solidFill>
                  <a:srgbClr val="0070C0"/>
                </a:solidFill>
              </a:rPr>
              <a:t>&gt;(</a:t>
            </a:r>
            <a:r>
              <a:rPr lang="en-US" b="1" dirty="0">
                <a:solidFill>
                  <a:srgbClr val="0070C0"/>
                </a:solidFill>
              </a:rPr>
              <a:t>receiver, &amp;</a:t>
            </a:r>
            <a:r>
              <a:rPr lang="en-US" b="1" dirty="0" err="1">
                <a:solidFill>
                  <a:srgbClr val="0070C0"/>
                </a:solidFill>
              </a:rPr>
              <a:t>MyClass</a:t>
            </a:r>
            <a:r>
              <a:rPr lang="en-US" b="1" dirty="0">
                <a:solidFill>
                  <a:srgbClr val="0070C0"/>
                </a:solidFill>
              </a:rPr>
              <a:t>::operation</a:t>
            </a:r>
            <a:r>
              <a:rPr lang="en-US" dirty="0">
                <a:solidFill>
                  <a:srgbClr val="0070C0"/>
                </a:solidFill>
              </a:rPr>
              <a:t>);</a:t>
            </a:r>
          </a:p>
        </p:txBody>
      </p:sp>
    </p:spTree>
    <p:extLst>
      <p:ext uri="{BB962C8B-B14F-4D97-AF65-F5344CB8AC3E}">
        <p14:creationId xmlns:p14="http://schemas.microsoft.com/office/powerpoint/2010/main" val="5469866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B40C2-F514-DFC8-FE7A-51571F85B0C3}"/>
              </a:ext>
            </a:extLst>
          </p:cNvPr>
          <p:cNvSpPr>
            <a:spLocks noGrp="1"/>
          </p:cNvSpPr>
          <p:nvPr>
            <p:ph type="title"/>
          </p:nvPr>
        </p:nvSpPr>
        <p:spPr/>
        <p:txBody>
          <a:bodyPr/>
          <a:lstStyle/>
          <a:p>
            <a:r>
              <a:rPr lang="en-US" dirty="0"/>
              <a:t>C++ Functors as Command</a:t>
            </a:r>
          </a:p>
        </p:txBody>
      </p:sp>
      <p:sp>
        <p:nvSpPr>
          <p:cNvPr id="3" name="Content Placeholder 2">
            <a:extLst>
              <a:ext uri="{FF2B5EF4-FFF2-40B4-BE49-F238E27FC236}">
                <a16:creationId xmlns:a16="http://schemas.microsoft.com/office/drawing/2014/main" id="{EF2B6E15-6D6F-BEA4-75D8-F9CFFBEF21FC}"/>
              </a:ext>
            </a:extLst>
          </p:cNvPr>
          <p:cNvSpPr>
            <a:spLocks noGrp="1"/>
          </p:cNvSpPr>
          <p:nvPr>
            <p:ph sz="half" idx="1"/>
          </p:nvPr>
        </p:nvSpPr>
        <p:spPr>
          <a:xfrm>
            <a:off x="355599" y="1272209"/>
            <a:ext cx="4140203" cy="4595191"/>
          </a:xfrm>
        </p:spPr>
        <p:txBody>
          <a:bodyPr/>
          <a:lstStyle/>
          <a:p>
            <a:pPr marL="0" indent="0">
              <a:buNone/>
            </a:pPr>
            <a:r>
              <a:rPr lang="en-US" sz="1800" dirty="0">
                <a:latin typeface="Source Sans Pro" panose="020B0503030403020204" pitchFamily="34" charset="0"/>
                <a:ea typeface="Source Sans Pro" panose="020B0503030403020204" pitchFamily="34" charset="0"/>
              </a:rPr>
              <a:t>class  </a:t>
            </a:r>
            <a:r>
              <a:rPr lang="en-US" sz="1800" dirty="0">
                <a:solidFill>
                  <a:srgbClr val="0070C0"/>
                </a:solidFill>
                <a:latin typeface="Source Sans Pro" panose="020B0503030403020204" pitchFamily="34" charset="0"/>
                <a:ea typeface="Source Sans Pro" panose="020B0503030403020204" pitchFamily="34" charset="0"/>
              </a:rPr>
              <a:t>Command { //FUNCTOR</a:t>
            </a:r>
          </a:p>
          <a:p>
            <a:pPr marL="0" indent="0">
              <a:buNone/>
            </a:pPr>
            <a:r>
              <a:rPr lang="en-US" sz="1800" dirty="0">
                <a:solidFill>
                  <a:srgbClr val="0070C0"/>
                </a:solidFill>
                <a:latin typeface="Source Sans Pro" panose="020B0503030403020204" pitchFamily="34" charset="0"/>
                <a:ea typeface="Source Sans Pro" panose="020B0503030403020204" pitchFamily="34" charset="0"/>
              </a:rPr>
              <a:t> </a:t>
            </a:r>
            <a:r>
              <a:rPr lang="en-US" sz="1800" dirty="0">
                <a:latin typeface="Source Sans Pro" panose="020B0503030403020204" pitchFamily="34" charset="0"/>
                <a:ea typeface="Source Sans Pro" panose="020B0503030403020204" pitchFamily="34" charset="0"/>
              </a:rPr>
              <a:t>public: virtual ~Command(){}</a:t>
            </a:r>
          </a:p>
          <a:p>
            <a:pPr marL="0" indent="0">
              <a:buNone/>
            </a:pPr>
            <a:r>
              <a:rPr lang="en-US" sz="1800" dirty="0">
                <a:solidFill>
                  <a:srgbClr val="0070C0"/>
                </a:solidFill>
                <a:latin typeface="Source Sans Pro" panose="020B0503030403020204" pitchFamily="34" charset="0"/>
                <a:ea typeface="Source Sans Pro" panose="020B0503030403020204" pitchFamily="34" charset="0"/>
              </a:rPr>
              <a:t>               virtual void operator ()()=0;</a:t>
            </a:r>
          </a:p>
          <a:p>
            <a:pPr marL="0" indent="0">
              <a:buNone/>
            </a:pPr>
            <a:r>
              <a:rPr lang="en-US" sz="1800" dirty="0">
                <a:latin typeface="Source Sans Pro" panose="020B0503030403020204" pitchFamily="34" charset="0"/>
                <a:ea typeface="Source Sans Pro" panose="020B0503030403020204" pitchFamily="34" charset="0"/>
              </a:rPr>
              <a:t>};</a:t>
            </a:r>
          </a:p>
          <a:p>
            <a:pPr marL="0" indent="0">
              <a:buNone/>
            </a:pPr>
            <a:r>
              <a:rPr lang="en-US" sz="1800" dirty="0">
                <a:latin typeface="Source Sans Pro" panose="020B0503030403020204" pitchFamily="34" charset="0"/>
                <a:ea typeface="Source Sans Pro" panose="020B0503030403020204" pitchFamily="34" charset="0"/>
              </a:rPr>
              <a:t>class </a:t>
            </a:r>
            <a:r>
              <a:rPr lang="en-US" sz="1800" dirty="0" err="1">
                <a:latin typeface="Source Sans Pro" panose="020B0503030403020204" pitchFamily="34" charset="0"/>
                <a:ea typeface="Source Sans Pro" panose="020B0503030403020204" pitchFamily="34" charset="0"/>
              </a:rPr>
              <a:t>LightOnCmd</a:t>
            </a:r>
            <a:r>
              <a:rPr lang="en-US" sz="1800" dirty="0">
                <a:latin typeface="Source Sans Pro" panose="020B0503030403020204" pitchFamily="34" charset="0"/>
                <a:ea typeface="Source Sans Pro" panose="020B0503030403020204" pitchFamily="34" charset="0"/>
              </a:rPr>
              <a:t> : public Command {</a:t>
            </a:r>
          </a:p>
          <a:p>
            <a:pPr marL="0" indent="0">
              <a:buNone/>
            </a:pPr>
            <a:r>
              <a:rPr lang="en-US" sz="1800" dirty="0">
                <a:latin typeface="Source Sans Pro" panose="020B0503030403020204" pitchFamily="34" charset="0"/>
                <a:ea typeface="Source Sans Pro" panose="020B0503030403020204" pitchFamily="34" charset="0"/>
              </a:rPr>
              <a:t>public:</a:t>
            </a:r>
          </a:p>
          <a:p>
            <a:pPr marL="0" indent="0">
              <a:buNone/>
            </a:pPr>
            <a:r>
              <a:rPr lang="en-US" sz="1800" dirty="0">
                <a:latin typeface="Source Sans Pro" panose="020B0503030403020204" pitchFamily="34" charset="0"/>
                <a:ea typeface="Source Sans Pro" panose="020B0503030403020204" pitchFamily="34" charset="0"/>
              </a:rPr>
              <a:t>    </a:t>
            </a:r>
            <a:r>
              <a:rPr lang="en-US" sz="1800" dirty="0" err="1">
                <a:latin typeface="Source Sans Pro" panose="020B0503030403020204" pitchFamily="34" charset="0"/>
                <a:ea typeface="Source Sans Pro" panose="020B0503030403020204" pitchFamily="34" charset="0"/>
              </a:rPr>
              <a:t>LightOnCmd</a:t>
            </a:r>
            <a:r>
              <a:rPr lang="en-US" sz="1800" dirty="0">
                <a:latin typeface="Source Sans Pro" panose="020B0503030403020204" pitchFamily="34" charset="0"/>
                <a:ea typeface="Source Sans Pro" panose="020B0503030403020204" pitchFamily="34" charset="0"/>
              </a:rPr>
              <a:t>(</a:t>
            </a:r>
            <a:r>
              <a:rPr lang="en-US" sz="1800" dirty="0">
                <a:solidFill>
                  <a:srgbClr val="0070C0"/>
                </a:solidFill>
                <a:latin typeface="Source Sans Pro" panose="020B0503030403020204" pitchFamily="34" charset="0"/>
                <a:ea typeface="Source Sans Pro" panose="020B0503030403020204" pitchFamily="34" charset="0"/>
              </a:rPr>
              <a:t>Light&amp; </a:t>
            </a:r>
            <a:r>
              <a:rPr lang="en-US" sz="1800" dirty="0" err="1">
                <a:solidFill>
                  <a:srgbClr val="0070C0"/>
                </a:solidFill>
                <a:latin typeface="Source Sans Pro" panose="020B0503030403020204" pitchFamily="34" charset="0"/>
                <a:ea typeface="Source Sans Pro" panose="020B0503030403020204" pitchFamily="34" charset="0"/>
              </a:rPr>
              <a:t>l,const</a:t>
            </a:r>
            <a:r>
              <a:rPr lang="en-US" sz="1800" dirty="0">
                <a:solidFill>
                  <a:srgbClr val="0070C0"/>
                </a:solidFill>
                <a:latin typeface="Source Sans Pro" panose="020B0503030403020204" pitchFamily="34" charset="0"/>
                <a:ea typeface="Source Sans Pro" panose="020B0503030403020204" pitchFamily="34" charset="0"/>
              </a:rPr>
              <a:t> string&amp; m</a:t>
            </a:r>
            <a:r>
              <a:rPr lang="en-US" sz="1800" dirty="0">
                <a:latin typeface="Source Sans Pro" panose="020B0503030403020204" pitchFamily="34" charset="0"/>
                <a:ea typeface="Source Sans Pro" panose="020B0503030403020204" pitchFamily="34" charset="0"/>
              </a:rPr>
              <a:t>) :</a:t>
            </a:r>
          </a:p>
          <a:p>
            <a:pPr marL="0" indent="0">
              <a:buNone/>
            </a:pPr>
            <a:r>
              <a:rPr lang="en-US" sz="1800" dirty="0">
                <a:latin typeface="Source Sans Pro" panose="020B0503030403020204" pitchFamily="34" charset="0"/>
                <a:ea typeface="Source Sans Pro" panose="020B0503030403020204" pitchFamily="34" charset="0"/>
              </a:rPr>
              <a:t>                                     light(l), msg(m) {}</a:t>
            </a:r>
          </a:p>
          <a:p>
            <a:pPr marL="0" indent="0">
              <a:buNone/>
            </a:pPr>
            <a:r>
              <a:rPr lang="en-US" sz="1800" dirty="0"/>
              <a:t>    // Override the "execute" operator</a:t>
            </a:r>
            <a:endParaRPr lang="en-US" sz="1800" dirty="0">
              <a:latin typeface="Source Sans Pro" panose="020B0503030403020204" pitchFamily="34" charset="0"/>
              <a:ea typeface="Source Sans Pro" panose="020B0503030403020204" pitchFamily="34" charset="0"/>
            </a:endParaRPr>
          </a:p>
          <a:p>
            <a:pPr marL="0" indent="0">
              <a:buNone/>
            </a:pPr>
            <a:r>
              <a:rPr lang="en-US" sz="1800" dirty="0">
                <a:latin typeface="Source Sans Pro" panose="020B0503030403020204" pitchFamily="34" charset="0"/>
                <a:ea typeface="Source Sans Pro" panose="020B0503030403020204" pitchFamily="34" charset="0"/>
              </a:rPr>
              <a:t>    void </a:t>
            </a:r>
            <a:r>
              <a:rPr lang="en-US" sz="1800" dirty="0">
                <a:solidFill>
                  <a:srgbClr val="0070C0"/>
                </a:solidFill>
                <a:latin typeface="Source Sans Pro" panose="020B0503030403020204" pitchFamily="34" charset="0"/>
                <a:ea typeface="Source Sans Pro" panose="020B0503030403020204" pitchFamily="34" charset="0"/>
              </a:rPr>
              <a:t>operator()() </a:t>
            </a:r>
            <a:r>
              <a:rPr lang="en-US" sz="1800" dirty="0">
                <a:latin typeface="Source Sans Pro" panose="020B0503030403020204" pitchFamily="34" charset="0"/>
                <a:ea typeface="Source Sans Pro" panose="020B0503030403020204" pitchFamily="34" charset="0"/>
              </a:rPr>
              <a:t>override {</a:t>
            </a:r>
          </a:p>
          <a:p>
            <a:pPr marL="0" indent="0">
              <a:buNone/>
            </a:pPr>
            <a:r>
              <a:rPr lang="en-US" sz="1800" dirty="0">
                <a:latin typeface="Source Sans Pro" panose="020B0503030403020204" pitchFamily="34" charset="0"/>
                <a:ea typeface="Source Sans Pro" panose="020B0503030403020204" pitchFamily="34" charset="0"/>
              </a:rPr>
              <a:t>        </a:t>
            </a:r>
            <a:r>
              <a:rPr lang="en-US" sz="1800" dirty="0" err="1">
                <a:latin typeface="Source Sans Pro" panose="020B0503030403020204" pitchFamily="34" charset="0"/>
                <a:ea typeface="Source Sans Pro" panose="020B0503030403020204" pitchFamily="34" charset="0"/>
              </a:rPr>
              <a:t>light.on</a:t>
            </a:r>
            <a:r>
              <a:rPr lang="en-US" sz="1800" dirty="0">
                <a:latin typeface="Source Sans Pro" panose="020B0503030403020204" pitchFamily="34" charset="0"/>
                <a:ea typeface="Source Sans Pro" panose="020B0503030403020204" pitchFamily="34" charset="0"/>
              </a:rPr>
              <a:t>(msg); }</a:t>
            </a:r>
          </a:p>
          <a:p>
            <a:pPr marL="0" indent="0">
              <a:buNone/>
            </a:pPr>
            <a:r>
              <a:rPr lang="en-US" sz="1800" dirty="0">
                <a:latin typeface="Source Sans Pro" panose="020B0503030403020204" pitchFamily="34" charset="0"/>
                <a:ea typeface="Source Sans Pro" panose="020B0503030403020204" pitchFamily="34" charset="0"/>
              </a:rPr>
              <a:t>private:  </a:t>
            </a:r>
          </a:p>
          <a:p>
            <a:pPr marL="0" indent="0">
              <a:buNone/>
            </a:pPr>
            <a:r>
              <a:rPr lang="en-US" sz="1800" dirty="0">
                <a:latin typeface="Source Sans Pro" panose="020B0503030403020204" pitchFamily="34" charset="0"/>
                <a:ea typeface="Source Sans Pro" panose="020B0503030403020204" pitchFamily="34" charset="0"/>
              </a:rPr>
              <a:t>       Light&amp; light; string msg;</a:t>
            </a:r>
          </a:p>
          <a:p>
            <a:pPr marL="0" indent="0">
              <a:buNone/>
            </a:pPr>
            <a:r>
              <a:rPr lang="en-US" sz="1800" dirty="0">
                <a:latin typeface="Source Sans Pro" panose="020B0503030403020204" pitchFamily="34" charset="0"/>
                <a:ea typeface="Source Sans Pro" panose="020B0503030403020204" pitchFamily="34" charset="0"/>
              </a:rPr>
              <a:t>};</a:t>
            </a:r>
          </a:p>
          <a:p>
            <a:pPr marL="0" indent="0">
              <a:buNone/>
            </a:pPr>
            <a:r>
              <a:rPr lang="en-US" sz="1800" dirty="0">
                <a:latin typeface="Source Sans Pro" panose="020B0503030403020204" pitchFamily="34" charset="0"/>
                <a:ea typeface="Source Sans Pro" panose="020B0503030403020204" pitchFamily="34" charset="0"/>
              </a:rPr>
              <a:t>class Light{ //Receiver</a:t>
            </a:r>
          </a:p>
          <a:p>
            <a:pPr marL="0" indent="0">
              <a:buNone/>
            </a:pPr>
            <a:r>
              <a:rPr lang="en-US" sz="1800" dirty="0">
                <a:latin typeface="Source Sans Pro" panose="020B0503030403020204" pitchFamily="34" charset="0"/>
                <a:ea typeface="Source Sans Pro" panose="020B0503030403020204" pitchFamily="34" charset="0"/>
              </a:rPr>
              <a:t>  public: void on(const string&amp; msg); </a:t>
            </a:r>
          </a:p>
          <a:p>
            <a:pPr marL="0" indent="0">
              <a:buNone/>
            </a:pPr>
            <a:r>
              <a:rPr lang="en-US" sz="1800" dirty="0">
                <a:latin typeface="Source Sans Pro" panose="020B0503030403020204" pitchFamily="34" charset="0"/>
                <a:ea typeface="Source Sans Pro" panose="020B0503030403020204" pitchFamily="34" charset="0"/>
              </a:rPr>
              <a:t>  void off();</a:t>
            </a:r>
          </a:p>
          <a:p>
            <a:pPr marL="0" indent="0">
              <a:buNone/>
            </a:pPr>
            <a:r>
              <a:rPr lang="en-US" sz="1800" dirty="0">
                <a:latin typeface="Source Sans Pro" panose="020B0503030403020204" pitchFamily="34" charset="0"/>
                <a:ea typeface="Source Sans Pro" panose="020B0503030403020204" pitchFamily="34" charset="0"/>
              </a:rPr>
              <a:t>};</a:t>
            </a:r>
          </a:p>
          <a:p>
            <a:pPr marL="0" indent="0">
              <a:buNone/>
            </a:pPr>
            <a:endParaRPr lang="en-US" sz="1800" dirty="0">
              <a:latin typeface="Source Sans Pro" panose="020B0503030403020204" pitchFamily="34" charset="0"/>
              <a:ea typeface="Source Sans Pro" panose="020B0503030403020204" pitchFamily="34" charset="0"/>
            </a:endParaRPr>
          </a:p>
        </p:txBody>
      </p:sp>
      <p:sp>
        <p:nvSpPr>
          <p:cNvPr id="4" name="Content Placeholder 3">
            <a:extLst>
              <a:ext uri="{FF2B5EF4-FFF2-40B4-BE49-F238E27FC236}">
                <a16:creationId xmlns:a16="http://schemas.microsoft.com/office/drawing/2014/main" id="{7F6D4E1B-7CE1-CDE9-22A8-50F706DCA4A9}"/>
              </a:ext>
            </a:extLst>
          </p:cNvPr>
          <p:cNvSpPr>
            <a:spLocks noGrp="1"/>
          </p:cNvSpPr>
          <p:nvPr>
            <p:ph sz="half" idx="2"/>
          </p:nvPr>
        </p:nvSpPr>
        <p:spPr>
          <a:xfrm>
            <a:off x="4758266" y="1272208"/>
            <a:ext cx="4512734" cy="4595191"/>
          </a:xfrm>
        </p:spPr>
        <p:txBody>
          <a:bodyPr/>
          <a:lstStyle/>
          <a:p>
            <a:pPr marL="0" indent="0">
              <a:buNone/>
            </a:pPr>
            <a:r>
              <a:rPr lang="en-US" sz="1800" dirty="0">
                <a:latin typeface="Source Sans Pro" panose="020B0503030403020204" pitchFamily="34" charset="0"/>
                <a:ea typeface="Source Sans Pro" panose="020B0503030403020204" pitchFamily="34" charset="0"/>
              </a:rPr>
              <a:t>int main() {</a:t>
            </a:r>
          </a:p>
          <a:p>
            <a:pPr marL="0" indent="0">
              <a:buNone/>
            </a:pPr>
            <a:r>
              <a:rPr lang="en-US" sz="1800" dirty="0">
                <a:latin typeface="Source Sans Pro" panose="020B0503030403020204" pitchFamily="34" charset="0"/>
                <a:ea typeface="Source Sans Pro" panose="020B0503030403020204" pitchFamily="34" charset="0"/>
              </a:rPr>
              <a:t>    Light </a:t>
            </a:r>
            <a:r>
              <a:rPr lang="en-US" sz="1800" dirty="0" err="1">
                <a:latin typeface="Source Sans Pro" panose="020B0503030403020204" pitchFamily="34" charset="0"/>
                <a:ea typeface="Source Sans Pro" panose="020B0503030403020204" pitchFamily="34" charset="0"/>
              </a:rPr>
              <a:t>light</a:t>
            </a:r>
            <a:r>
              <a:rPr lang="en-US" sz="1800" dirty="0">
                <a:latin typeface="Source Sans Pro" panose="020B0503030403020204" pitchFamily="34" charset="0"/>
                <a:ea typeface="Source Sans Pro" panose="020B0503030403020204" pitchFamily="34" charset="0"/>
              </a:rPr>
              <a:t>;  </a:t>
            </a:r>
            <a:r>
              <a:rPr lang="en-US" sz="1800" dirty="0" err="1">
                <a:latin typeface="Source Sans Pro" panose="020B0503030403020204" pitchFamily="34" charset="0"/>
                <a:ea typeface="Source Sans Pro" panose="020B0503030403020204" pitchFamily="34" charset="0"/>
              </a:rPr>
              <a:t>RemoteControl</a:t>
            </a:r>
            <a:r>
              <a:rPr lang="en-US" sz="1800" dirty="0">
                <a:latin typeface="Source Sans Pro" panose="020B0503030403020204" pitchFamily="34" charset="0"/>
                <a:ea typeface="Source Sans Pro" panose="020B0503030403020204" pitchFamily="34" charset="0"/>
              </a:rPr>
              <a:t> remote;</a:t>
            </a:r>
          </a:p>
          <a:p>
            <a:pPr marL="0" indent="0">
              <a:buNone/>
            </a:pPr>
            <a:r>
              <a:rPr lang="en-US" sz="1800" dirty="0">
                <a:latin typeface="Source Sans Pro" panose="020B0503030403020204" pitchFamily="34" charset="0"/>
                <a:ea typeface="Source Sans Pro" panose="020B0503030403020204" pitchFamily="34" charset="0"/>
              </a:rPr>
              <a:t>    // Turn on the light</a:t>
            </a:r>
          </a:p>
          <a:p>
            <a:pPr marL="0" indent="0">
              <a:buNone/>
            </a:pPr>
            <a:r>
              <a:rPr lang="en-US" sz="1800" dirty="0">
                <a:latin typeface="Source Sans Pro" panose="020B0503030403020204" pitchFamily="34" charset="0"/>
                <a:ea typeface="Source Sans Pro" panose="020B0503030403020204" pitchFamily="34" charset="0"/>
              </a:rPr>
              <a:t>    </a:t>
            </a:r>
            <a:r>
              <a:rPr lang="en-US" sz="1800" dirty="0" err="1">
                <a:latin typeface="Source Sans Pro" panose="020B0503030403020204" pitchFamily="34" charset="0"/>
                <a:ea typeface="Source Sans Pro" panose="020B0503030403020204" pitchFamily="34" charset="0"/>
              </a:rPr>
              <a:t>remote.setCmd</a:t>
            </a:r>
            <a:r>
              <a:rPr lang="en-US" sz="1800" dirty="0">
                <a:solidFill>
                  <a:srgbClr val="0070C0"/>
                </a:solidFill>
                <a:latin typeface="Source Sans Pro" panose="020B0503030403020204" pitchFamily="34" charset="0"/>
                <a:ea typeface="Source Sans Pro" panose="020B0503030403020204" pitchFamily="34" charset="0"/>
              </a:rPr>
              <a:t>(</a:t>
            </a:r>
          </a:p>
          <a:p>
            <a:pPr marL="0" indent="0">
              <a:buNone/>
            </a:pPr>
            <a:r>
              <a:rPr lang="en-US" sz="1800" dirty="0">
                <a:solidFill>
                  <a:srgbClr val="0070C0"/>
                </a:solidFill>
                <a:latin typeface="Source Sans Pro" panose="020B0503030403020204" pitchFamily="34" charset="0"/>
                <a:ea typeface="Source Sans Pro" panose="020B0503030403020204" pitchFamily="34" charset="0"/>
              </a:rPr>
              <a:t>           new </a:t>
            </a:r>
            <a:r>
              <a:rPr lang="en-US" sz="1800" dirty="0" err="1">
                <a:solidFill>
                  <a:srgbClr val="0070C0"/>
                </a:solidFill>
                <a:latin typeface="Source Sans Pro" panose="020B0503030403020204" pitchFamily="34" charset="0"/>
                <a:ea typeface="Source Sans Pro" panose="020B0503030403020204" pitchFamily="34" charset="0"/>
              </a:rPr>
              <a:t>LightOnCmd</a:t>
            </a:r>
            <a:r>
              <a:rPr lang="en-US" sz="1800" dirty="0">
                <a:solidFill>
                  <a:srgbClr val="0070C0"/>
                </a:solidFill>
                <a:latin typeface="Source Sans Pro" panose="020B0503030403020204" pitchFamily="34" charset="0"/>
                <a:ea typeface="Source Sans Pro" panose="020B0503030403020204" pitchFamily="34" charset="0"/>
              </a:rPr>
              <a:t>(light, "on"));</a:t>
            </a:r>
          </a:p>
          <a:p>
            <a:pPr marL="0" indent="0">
              <a:buNone/>
            </a:pPr>
            <a:r>
              <a:rPr lang="en-US" sz="1800" dirty="0">
                <a:latin typeface="Source Sans Pro" panose="020B0503030403020204" pitchFamily="34" charset="0"/>
                <a:ea typeface="Source Sans Pro" panose="020B0503030403020204" pitchFamily="34" charset="0"/>
              </a:rPr>
              <a:t>    </a:t>
            </a:r>
            <a:r>
              <a:rPr lang="en-US" sz="1800" dirty="0" err="1">
                <a:latin typeface="Source Sans Pro" panose="020B0503030403020204" pitchFamily="34" charset="0"/>
                <a:ea typeface="Source Sans Pro" panose="020B0503030403020204" pitchFamily="34" charset="0"/>
              </a:rPr>
              <a:t>remote.pressButton</a:t>
            </a:r>
            <a:r>
              <a:rPr lang="en-US" sz="1800" dirty="0">
                <a:latin typeface="Source Sans Pro" panose="020B0503030403020204" pitchFamily="34" charset="0"/>
                <a:ea typeface="Source Sans Pro" panose="020B0503030403020204" pitchFamily="34" charset="0"/>
              </a:rPr>
              <a:t>();</a:t>
            </a:r>
          </a:p>
          <a:p>
            <a:pPr marL="0" indent="0">
              <a:buNone/>
            </a:pPr>
            <a:r>
              <a:rPr lang="en-US" sz="1800" dirty="0">
                <a:latin typeface="Source Sans Pro" panose="020B0503030403020204" pitchFamily="34" charset="0"/>
                <a:ea typeface="Source Sans Pro" panose="020B0503030403020204" pitchFamily="34" charset="0"/>
              </a:rPr>
              <a:t>}</a:t>
            </a:r>
          </a:p>
          <a:p>
            <a:pPr marL="0" indent="0">
              <a:buNone/>
            </a:pPr>
            <a:r>
              <a:rPr lang="en-US" sz="1800" dirty="0">
                <a:latin typeface="Source Sans Pro" panose="020B0503030403020204" pitchFamily="34" charset="0"/>
                <a:ea typeface="Source Sans Pro" panose="020B0503030403020204" pitchFamily="34" charset="0"/>
              </a:rPr>
              <a:t>// Invoker</a:t>
            </a:r>
          </a:p>
          <a:p>
            <a:pPr marL="0" indent="0">
              <a:buNone/>
            </a:pPr>
            <a:r>
              <a:rPr lang="en-US" sz="1800" dirty="0">
                <a:latin typeface="Source Sans Pro" panose="020B0503030403020204" pitchFamily="34" charset="0"/>
                <a:ea typeface="Source Sans Pro" panose="020B0503030403020204" pitchFamily="34" charset="0"/>
              </a:rPr>
              <a:t>class </a:t>
            </a:r>
            <a:r>
              <a:rPr lang="en-US" sz="1800" dirty="0" err="1">
                <a:latin typeface="Source Sans Pro" panose="020B0503030403020204" pitchFamily="34" charset="0"/>
                <a:ea typeface="Source Sans Pro" panose="020B0503030403020204" pitchFamily="34" charset="0"/>
              </a:rPr>
              <a:t>RemoteControl</a:t>
            </a:r>
            <a:r>
              <a:rPr lang="en-US" sz="1800" dirty="0">
                <a:latin typeface="Source Sans Pro" panose="020B0503030403020204" pitchFamily="34" charset="0"/>
                <a:ea typeface="Source Sans Pro" panose="020B0503030403020204" pitchFamily="34" charset="0"/>
              </a:rPr>
              <a:t> {</a:t>
            </a:r>
          </a:p>
          <a:p>
            <a:pPr marL="0" indent="0">
              <a:buNone/>
            </a:pPr>
            <a:r>
              <a:rPr lang="en-US" sz="1800" dirty="0">
                <a:latin typeface="Source Sans Pro" panose="020B0503030403020204" pitchFamily="34" charset="0"/>
                <a:ea typeface="Source Sans Pro" panose="020B0503030403020204" pitchFamily="34" charset="0"/>
              </a:rPr>
              <a:t>public:</a:t>
            </a:r>
          </a:p>
          <a:p>
            <a:pPr marL="0" indent="0">
              <a:buNone/>
            </a:pPr>
            <a:r>
              <a:rPr lang="en-US" sz="1800" dirty="0">
                <a:latin typeface="Source Sans Pro" panose="020B0503030403020204" pitchFamily="34" charset="0"/>
                <a:ea typeface="Source Sans Pro" panose="020B0503030403020204" pitchFamily="34" charset="0"/>
              </a:rPr>
              <a:t>    void </a:t>
            </a:r>
            <a:r>
              <a:rPr lang="en-US" sz="1800" dirty="0" err="1">
                <a:latin typeface="Source Sans Pro" panose="020B0503030403020204" pitchFamily="34" charset="0"/>
                <a:ea typeface="Source Sans Pro" panose="020B0503030403020204" pitchFamily="34" charset="0"/>
              </a:rPr>
              <a:t>setCmd</a:t>
            </a:r>
            <a:r>
              <a:rPr lang="en-US" sz="1800" dirty="0">
                <a:latin typeface="Source Sans Pro" panose="020B0503030403020204" pitchFamily="34" charset="0"/>
                <a:ea typeface="Source Sans Pro" panose="020B0503030403020204" pitchFamily="34" charset="0"/>
              </a:rPr>
              <a:t>( Command* </a:t>
            </a:r>
            <a:r>
              <a:rPr lang="en-US" sz="1800" dirty="0" err="1">
                <a:latin typeface="Source Sans Pro" panose="020B0503030403020204" pitchFamily="34" charset="0"/>
                <a:ea typeface="Source Sans Pro" panose="020B0503030403020204" pitchFamily="34" charset="0"/>
              </a:rPr>
              <a:t>cmd</a:t>
            </a:r>
            <a:r>
              <a:rPr lang="en-US" sz="1800" dirty="0">
                <a:latin typeface="Source Sans Pro" panose="020B0503030403020204" pitchFamily="34" charset="0"/>
                <a:ea typeface="Source Sans Pro" panose="020B0503030403020204" pitchFamily="34" charset="0"/>
              </a:rPr>
              <a:t>) {</a:t>
            </a:r>
          </a:p>
          <a:p>
            <a:pPr marL="0" indent="0">
              <a:buNone/>
            </a:pPr>
            <a:r>
              <a:rPr lang="en-US" sz="1800" dirty="0">
                <a:latin typeface="Source Sans Pro" panose="020B0503030403020204" pitchFamily="34" charset="0"/>
                <a:ea typeface="Source Sans Pro" panose="020B0503030403020204" pitchFamily="34" charset="0"/>
              </a:rPr>
              <a:t>        </a:t>
            </a:r>
            <a:r>
              <a:rPr lang="en-US" sz="1800" dirty="0" err="1">
                <a:latin typeface="Source Sans Pro" panose="020B0503030403020204" pitchFamily="34" charset="0"/>
                <a:ea typeface="Source Sans Pro" panose="020B0503030403020204" pitchFamily="34" charset="0"/>
              </a:rPr>
              <a:t>command.reset</a:t>
            </a:r>
            <a:r>
              <a:rPr lang="en-US" sz="1800" dirty="0">
                <a:latin typeface="Source Sans Pro" panose="020B0503030403020204" pitchFamily="34" charset="0"/>
                <a:ea typeface="Source Sans Pro" panose="020B0503030403020204" pitchFamily="34" charset="0"/>
              </a:rPr>
              <a:t>( </a:t>
            </a:r>
            <a:r>
              <a:rPr lang="en-US" sz="1800" dirty="0" err="1">
                <a:latin typeface="Source Sans Pro" panose="020B0503030403020204" pitchFamily="34" charset="0"/>
                <a:ea typeface="Source Sans Pro" panose="020B0503030403020204" pitchFamily="34" charset="0"/>
              </a:rPr>
              <a:t>cmd</a:t>
            </a:r>
            <a:r>
              <a:rPr lang="en-US" sz="1800" dirty="0">
                <a:latin typeface="Source Sans Pro" panose="020B0503030403020204" pitchFamily="34" charset="0"/>
                <a:ea typeface="Source Sans Pro" panose="020B0503030403020204" pitchFamily="34" charset="0"/>
              </a:rPr>
              <a:t>);}</a:t>
            </a:r>
          </a:p>
          <a:p>
            <a:pPr marL="0" indent="0">
              <a:buNone/>
            </a:pPr>
            <a:r>
              <a:rPr lang="en-US" sz="1800" dirty="0">
                <a:latin typeface="Source Sans Pro" panose="020B0503030403020204" pitchFamily="34" charset="0"/>
                <a:ea typeface="Source Sans Pro" panose="020B0503030403020204" pitchFamily="34" charset="0"/>
              </a:rPr>
              <a:t>    void </a:t>
            </a:r>
            <a:r>
              <a:rPr lang="en-US" sz="1800" dirty="0" err="1">
                <a:latin typeface="Source Sans Pro" panose="020B0503030403020204" pitchFamily="34" charset="0"/>
                <a:ea typeface="Source Sans Pro" panose="020B0503030403020204" pitchFamily="34" charset="0"/>
              </a:rPr>
              <a:t>pressButton</a:t>
            </a:r>
            <a:r>
              <a:rPr lang="en-US" sz="1800" dirty="0">
                <a:latin typeface="Source Sans Pro" panose="020B0503030403020204" pitchFamily="34" charset="0"/>
                <a:ea typeface="Source Sans Pro" panose="020B0503030403020204" pitchFamily="34" charset="0"/>
              </a:rPr>
              <a:t>() {  </a:t>
            </a:r>
          </a:p>
          <a:p>
            <a:pPr marL="0" indent="0">
              <a:buNone/>
            </a:pPr>
            <a:r>
              <a:rPr lang="en-US" sz="1800" dirty="0">
                <a:solidFill>
                  <a:srgbClr val="0070C0"/>
                </a:solidFill>
                <a:latin typeface="Source Sans Pro" panose="020B0503030403020204" pitchFamily="34" charset="0"/>
                <a:ea typeface="Source Sans Pro" panose="020B0503030403020204" pitchFamily="34" charset="0"/>
              </a:rPr>
              <a:t>         </a:t>
            </a:r>
            <a:r>
              <a:rPr lang="en-US" sz="1800" dirty="0">
                <a:latin typeface="Source Sans Pro" panose="020B0503030403020204" pitchFamily="34" charset="0"/>
                <a:ea typeface="Source Sans Pro" panose="020B0503030403020204" pitchFamily="34" charset="0"/>
              </a:rPr>
              <a:t>if (command)</a:t>
            </a:r>
            <a:r>
              <a:rPr lang="en-US" sz="1800" dirty="0">
                <a:solidFill>
                  <a:srgbClr val="0070C0"/>
                </a:solidFill>
                <a:latin typeface="Source Sans Pro" panose="020B0503030403020204" pitchFamily="34" charset="0"/>
                <a:ea typeface="Source Sans Pro" panose="020B0503030403020204" pitchFamily="34" charset="0"/>
              </a:rPr>
              <a:t> (* command)(); </a:t>
            </a:r>
            <a:r>
              <a:rPr lang="en-US" sz="1800" dirty="0">
                <a:latin typeface="Source Sans Pro" panose="020B0503030403020204" pitchFamily="34" charset="0"/>
                <a:ea typeface="Source Sans Pro" panose="020B0503030403020204" pitchFamily="34" charset="0"/>
              </a:rPr>
              <a:t>} </a:t>
            </a:r>
            <a:r>
              <a:rPr lang="en-US" sz="1800" b="1" dirty="0">
                <a:latin typeface="Source Sans Pro" panose="020B0503030403020204" pitchFamily="34" charset="0"/>
                <a:ea typeface="Source Sans Pro" panose="020B0503030403020204" pitchFamily="34" charset="0"/>
              </a:rPr>
              <a:t>//calling!</a:t>
            </a:r>
          </a:p>
          <a:p>
            <a:pPr marL="0" indent="0">
              <a:buNone/>
            </a:pPr>
            <a:r>
              <a:rPr lang="en-US" sz="1800" dirty="0">
                <a:latin typeface="Source Sans Pro" panose="020B0503030403020204" pitchFamily="34" charset="0"/>
                <a:ea typeface="Source Sans Pro" panose="020B0503030403020204" pitchFamily="34" charset="0"/>
              </a:rPr>
              <a:t>private:</a:t>
            </a:r>
          </a:p>
          <a:p>
            <a:pPr marL="0" indent="0">
              <a:buNone/>
            </a:pPr>
            <a:r>
              <a:rPr lang="en-US" sz="1800" dirty="0">
                <a:latin typeface="Source Sans Pro" panose="020B0503030403020204" pitchFamily="34" charset="0"/>
                <a:ea typeface="Source Sans Pro" panose="020B0503030403020204" pitchFamily="34" charset="0"/>
              </a:rPr>
              <a:t>    </a:t>
            </a:r>
            <a:r>
              <a:rPr lang="fr-FR" sz="1800" dirty="0">
                <a:latin typeface="Source Sans Pro" panose="020B0503030403020204" pitchFamily="34" charset="0"/>
                <a:ea typeface="Source Sans Pro" panose="020B0503030403020204" pitchFamily="34" charset="0"/>
              </a:rPr>
              <a:t>  std::</a:t>
            </a:r>
            <a:r>
              <a:rPr lang="fr-FR" sz="1800" dirty="0" err="1">
                <a:latin typeface="Source Sans Pro" panose="020B0503030403020204" pitchFamily="34" charset="0"/>
                <a:ea typeface="Source Sans Pro" panose="020B0503030403020204" pitchFamily="34" charset="0"/>
              </a:rPr>
              <a:t>unique_ptr</a:t>
            </a:r>
            <a:r>
              <a:rPr lang="fr-FR" sz="1800" dirty="0">
                <a:latin typeface="Source Sans Pro" panose="020B0503030403020204" pitchFamily="34" charset="0"/>
                <a:ea typeface="Source Sans Pro" panose="020B0503030403020204" pitchFamily="34" charset="0"/>
              </a:rPr>
              <a:t>&lt;Command&gt; command; </a:t>
            </a:r>
            <a:endParaRPr lang="en-US" sz="1800" dirty="0">
              <a:latin typeface="Source Sans Pro" panose="020B0503030403020204" pitchFamily="34" charset="0"/>
              <a:ea typeface="Source Sans Pro" panose="020B0503030403020204" pitchFamily="34" charset="0"/>
            </a:endParaRPr>
          </a:p>
          <a:p>
            <a:pPr marL="0" indent="0">
              <a:buNone/>
            </a:pPr>
            <a:r>
              <a:rPr lang="en-US" sz="1800" dirty="0">
                <a:latin typeface="Source Sans Pro" panose="020B0503030403020204" pitchFamily="34" charset="0"/>
                <a:ea typeface="Source Sans Pro" panose="020B0503030403020204" pitchFamily="34" charset="0"/>
              </a:rPr>
              <a:t>};</a:t>
            </a:r>
          </a:p>
          <a:p>
            <a:pPr marL="0" indent="0">
              <a:buNone/>
            </a:pPr>
            <a:endParaRPr lang="en-US" sz="1800" dirty="0"/>
          </a:p>
        </p:txBody>
      </p:sp>
      <p:sp>
        <p:nvSpPr>
          <p:cNvPr id="7" name="TextBox 6">
            <a:extLst>
              <a:ext uri="{FF2B5EF4-FFF2-40B4-BE49-F238E27FC236}">
                <a16:creationId xmlns:a16="http://schemas.microsoft.com/office/drawing/2014/main" id="{B381E6C2-3CAF-ED06-EFA5-30526AEC3FCD}"/>
              </a:ext>
            </a:extLst>
          </p:cNvPr>
          <p:cNvSpPr txBox="1"/>
          <p:nvPr/>
        </p:nvSpPr>
        <p:spPr>
          <a:xfrm>
            <a:off x="5698837" y="91445"/>
            <a:ext cx="3159839" cy="369332"/>
          </a:xfrm>
          <a:prstGeom prst="rect">
            <a:avLst/>
          </a:prstGeom>
          <a:noFill/>
        </p:spPr>
        <p:txBody>
          <a:bodyPr wrap="none" rtlCol="0">
            <a:spAutoFit/>
          </a:bodyPr>
          <a:lstStyle/>
          <a:p>
            <a:r>
              <a:rPr lang="en-US" dirty="0"/>
              <a:t>Implementation alternative -3</a:t>
            </a:r>
          </a:p>
        </p:txBody>
      </p:sp>
      <p:sp>
        <p:nvSpPr>
          <p:cNvPr id="5" name="TextBox 4">
            <a:extLst>
              <a:ext uri="{FF2B5EF4-FFF2-40B4-BE49-F238E27FC236}">
                <a16:creationId xmlns:a16="http://schemas.microsoft.com/office/drawing/2014/main" id="{254E6D86-5D1C-8CBE-C661-E33267D98EB3}"/>
              </a:ext>
            </a:extLst>
          </p:cNvPr>
          <p:cNvSpPr txBox="1"/>
          <p:nvPr/>
        </p:nvSpPr>
        <p:spPr>
          <a:xfrm>
            <a:off x="9448800" y="146304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3912055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B40C2-F514-DFC8-FE7A-51571F85B0C3}"/>
              </a:ext>
            </a:extLst>
          </p:cNvPr>
          <p:cNvSpPr>
            <a:spLocks noGrp="1"/>
          </p:cNvSpPr>
          <p:nvPr>
            <p:ph type="title"/>
          </p:nvPr>
        </p:nvSpPr>
        <p:spPr/>
        <p:txBody>
          <a:bodyPr/>
          <a:lstStyle/>
          <a:p>
            <a:r>
              <a:rPr lang="en-US" dirty="0"/>
              <a:t>STL Functors as Command</a:t>
            </a:r>
          </a:p>
        </p:txBody>
      </p:sp>
      <p:sp>
        <p:nvSpPr>
          <p:cNvPr id="3" name="Content Placeholder 2">
            <a:extLst>
              <a:ext uri="{FF2B5EF4-FFF2-40B4-BE49-F238E27FC236}">
                <a16:creationId xmlns:a16="http://schemas.microsoft.com/office/drawing/2014/main" id="{EF2B6E15-6D6F-BEA4-75D8-F9CFFBEF21FC}"/>
              </a:ext>
            </a:extLst>
          </p:cNvPr>
          <p:cNvSpPr>
            <a:spLocks noGrp="1"/>
          </p:cNvSpPr>
          <p:nvPr>
            <p:ph sz="half" idx="1"/>
          </p:nvPr>
        </p:nvSpPr>
        <p:spPr>
          <a:xfrm>
            <a:off x="355599" y="1272209"/>
            <a:ext cx="4140203" cy="4595191"/>
          </a:xfrm>
        </p:spPr>
        <p:txBody>
          <a:bodyPr/>
          <a:lstStyle/>
          <a:p>
            <a:pPr marL="0" indent="0">
              <a:buNone/>
            </a:pPr>
            <a:r>
              <a:rPr lang="en-US" sz="1800" dirty="0">
                <a:latin typeface="Source Sans Pro" panose="020B0503030403020204" pitchFamily="34" charset="0"/>
                <a:ea typeface="Source Sans Pro" panose="020B0503030403020204" pitchFamily="34" charset="0"/>
              </a:rPr>
              <a:t>#include &lt;functional&gt;</a:t>
            </a:r>
          </a:p>
          <a:p>
            <a:pPr marL="0" indent="0">
              <a:buNone/>
            </a:pPr>
            <a:r>
              <a:rPr lang="en-US" sz="1800" dirty="0">
                <a:latin typeface="Source Sans Pro" panose="020B0503030403020204" pitchFamily="34" charset="0"/>
                <a:ea typeface="Source Sans Pro" panose="020B0503030403020204" pitchFamily="34" charset="0"/>
              </a:rPr>
              <a:t>// Command</a:t>
            </a:r>
          </a:p>
          <a:p>
            <a:pPr marL="0" indent="0">
              <a:buNone/>
            </a:pPr>
            <a:r>
              <a:rPr lang="en-US" sz="1800" dirty="0">
                <a:latin typeface="Source Sans Pro" panose="020B0503030403020204" pitchFamily="34" charset="0"/>
                <a:ea typeface="Source Sans Pro" panose="020B0503030403020204" pitchFamily="34" charset="0"/>
              </a:rPr>
              <a:t>using </a:t>
            </a:r>
            <a:r>
              <a:rPr lang="en-US" sz="1800" dirty="0">
                <a:solidFill>
                  <a:srgbClr val="0070C0"/>
                </a:solidFill>
                <a:latin typeface="Source Sans Pro" panose="020B0503030403020204" pitchFamily="34" charset="0"/>
                <a:ea typeface="Source Sans Pro" panose="020B0503030403020204" pitchFamily="34" charset="0"/>
              </a:rPr>
              <a:t>Command = std::function&lt;void()&gt;;</a:t>
            </a:r>
          </a:p>
          <a:p>
            <a:pPr marL="0" indent="0">
              <a:buNone/>
            </a:pPr>
            <a:r>
              <a:rPr lang="en-US" sz="1800" dirty="0">
                <a:latin typeface="Source Sans Pro" panose="020B0503030403020204" pitchFamily="34" charset="0"/>
                <a:ea typeface="Source Sans Pro" panose="020B0503030403020204" pitchFamily="34" charset="0"/>
              </a:rPr>
              <a:t>// Invoker</a:t>
            </a:r>
          </a:p>
          <a:p>
            <a:pPr marL="0" indent="0">
              <a:buNone/>
            </a:pPr>
            <a:r>
              <a:rPr lang="en-US" sz="1800" dirty="0">
                <a:latin typeface="Source Sans Pro" panose="020B0503030403020204" pitchFamily="34" charset="0"/>
                <a:ea typeface="Source Sans Pro" panose="020B0503030403020204" pitchFamily="34" charset="0"/>
              </a:rPr>
              <a:t>class </a:t>
            </a:r>
            <a:r>
              <a:rPr lang="en-US" sz="1800" dirty="0" err="1">
                <a:latin typeface="Source Sans Pro" panose="020B0503030403020204" pitchFamily="34" charset="0"/>
                <a:ea typeface="Source Sans Pro" panose="020B0503030403020204" pitchFamily="34" charset="0"/>
              </a:rPr>
              <a:t>RemoteControl</a:t>
            </a:r>
            <a:r>
              <a:rPr lang="en-US" sz="1800" dirty="0">
                <a:latin typeface="Source Sans Pro" panose="020B0503030403020204" pitchFamily="34" charset="0"/>
                <a:ea typeface="Source Sans Pro" panose="020B0503030403020204" pitchFamily="34" charset="0"/>
              </a:rPr>
              <a:t> {</a:t>
            </a:r>
          </a:p>
          <a:p>
            <a:pPr marL="0" indent="0">
              <a:buNone/>
            </a:pPr>
            <a:r>
              <a:rPr lang="en-US" sz="1800" dirty="0">
                <a:latin typeface="Source Sans Pro" panose="020B0503030403020204" pitchFamily="34" charset="0"/>
                <a:ea typeface="Source Sans Pro" panose="020B0503030403020204" pitchFamily="34" charset="0"/>
              </a:rPr>
              <a:t>public:</a:t>
            </a:r>
          </a:p>
          <a:p>
            <a:pPr marL="0" indent="0">
              <a:buNone/>
            </a:pPr>
            <a:r>
              <a:rPr lang="en-US" sz="1800" dirty="0">
                <a:latin typeface="Source Sans Pro" panose="020B0503030403020204" pitchFamily="34" charset="0"/>
                <a:ea typeface="Source Sans Pro" panose="020B0503030403020204" pitchFamily="34" charset="0"/>
              </a:rPr>
              <a:t>    void </a:t>
            </a:r>
            <a:r>
              <a:rPr lang="en-US" sz="1800" dirty="0" err="1">
                <a:latin typeface="Source Sans Pro" panose="020B0503030403020204" pitchFamily="34" charset="0"/>
                <a:ea typeface="Source Sans Pro" panose="020B0503030403020204" pitchFamily="34" charset="0"/>
              </a:rPr>
              <a:t>setCmd</a:t>
            </a:r>
            <a:r>
              <a:rPr lang="en-US" sz="1800" dirty="0">
                <a:latin typeface="Source Sans Pro" panose="020B0503030403020204" pitchFamily="34" charset="0"/>
                <a:ea typeface="Source Sans Pro" panose="020B0503030403020204" pitchFamily="34" charset="0"/>
              </a:rPr>
              <a:t>(const Command&amp; </a:t>
            </a:r>
            <a:r>
              <a:rPr lang="en-US" sz="1800" dirty="0" err="1">
                <a:latin typeface="Source Sans Pro" panose="020B0503030403020204" pitchFamily="34" charset="0"/>
                <a:ea typeface="Source Sans Pro" panose="020B0503030403020204" pitchFamily="34" charset="0"/>
              </a:rPr>
              <a:t>cmd</a:t>
            </a:r>
            <a:r>
              <a:rPr lang="en-US" sz="1800" dirty="0">
                <a:latin typeface="Source Sans Pro" panose="020B0503030403020204" pitchFamily="34" charset="0"/>
                <a:ea typeface="Source Sans Pro" panose="020B0503030403020204" pitchFamily="34" charset="0"/>
              </a:rPr>
              <a:t>) {</a:t>
            </a:r>
          </a:p>
          <a:p>
            <a:pPr marL="0" indent="0">
              <a:buNone/>
            </a:pPr>
            <a:r>
              <a:rPr lang="en-US" sz="1800" dirty="0">
                <a:latin typeface="Source Sans Pro" panose="020B0503030403020204" pitchFamily="34" charset="0"/>
                <a:ea typeface="Source Sans Pro" panose="020B0503030403020204" pitchFamily="34" charset="0"/>
              </a:rPr>
              <a:t>        command = </a:t>
            </a:r>
            <a:r>
              <a:rPr lang="en-US" sz="1800" dirty="0" err="1">
                <a:latin typeface="Source Sans Pro" panose="020B0503030403020204" pitchFamily="34" charset="0"/>
                <a:ea typeface="Source Sans Pro" panose="020B0503030403020204" pitchFamily="34" charset="0"/>
              </a:rPr>
              <a:t>cmd</a:t>
            </a:r>
            <a:r>
              <a:rPr lang="en-US" sz="1800" dirty="0">
                <a:latin typeface="Source Sans Pro" panose="020B0503030403020204" pitchFamily="34" charset="0"/>
                <a:ea typeface="Source Sans Pro" panose="020B0503030403020204" pitchFamily="34" charset="0"/>
              </a:rPr>
              <a:t>;}</a:t>
            </a:r>
          </a:p>
          <a:p>
            <a:pPr marL="0" indent="0">
              <a:buNone/>
            </a:pPr>
            <a:r>
              <a:rPr lang="en-US" sz="1800" dirty="0">
                <a:latin typeface="Source Sans Pro" panose="020B0503030403020204" pitchFamily="34" charset="0"/>
                <a:ea typeface="Source Sans Pro" panose="020B0503030403020204" pitchFamily="34" charset="0"/>
              </a:rPr>
              <a:t>    void </a:t>
            </a:r>
            <a:r>
              <a:rPr lang="en-US" sz="1800" dirty="0" err="1">
                <a:latin typeface="Source Sans Pro" panose="020B0503030403020204" pitchFamily="34" charset="0"/>
                <a:ea typeface="Source Sans Pro" panose="020B0503030403020204" pitchFamily="34" charset="0"/>
              </a:rPr>
              <a:t>pressButton</a:t>
            </a:r>
            <a:r>
              <a:rPr lang="en-US" sz="1800" dirty="0">
                <a:latin typeface="Source Sans Pro" panose="020B0503030403020204" pitchFamily="34" charset="0"/>
                <a:ea typeface="Source Sans Pro" panose="020B0503030403020204" pitchFamily="34" charset="0"/>
              </a:rPr>
              <a:t>() {   command(); }</a:t>
            </a:r>
          </a:p>
          <a:p>
            <a:pPr marL="0" indent="0">
              <a:buNone/>
            </a:pPr>
            <a:r>
              <a:rPr lang="en-US" sz="1800" dirty="0">
                <a:latin typeface="Source Sans Pro" panose="020B0503030403020204" pitchFamily="34" charset="0"/>
                <a:ea typeface="Source Sans Pro" panose="020B0503030403020204" pitchFamily="34" charset="0"/>
              </a:rPr>
              <a:t>private:</a:t>
            </a:r>
          </a:p>
          <a:p>
            <a:pPr marL="0" indent="0">
              <a:buNone/>
            </a:pPr>
            <a:r>
              <a:rPr lang="en-US" sz="1800" dirty="0">
                <a:latin typeface="Source Sans Pro" panose="020B0503030403020204" pitchFamily="34" charset="0"/>
                <a:ea typeface="Source Sans Pro" panose="020B0503030403020204" pitchFamily="34" charset="0"/>
              </a:rPr>
              <a:t>    Command </a:t>
            </a:r>
            <a:r>
              <a:rPr lang="en-US" sz="1800" dirty="0" err="1">
                <a:latin typeface="Source Sans Pro" panose="020B0503030403020204" pitchFamily="34" charset="0"/>
                <a:ea typeface="Source Sans Pro" panose="020B0503030403020204" pitchFamily="34" charset="0"/>
              </a:rPr>
              <a:t>command</a:t>
            </a:r>
            <a:r>
              <a:rPr lang="en-US" sz="1800" dirty="0">
                <a:latin typeface="Source Sans Pro" panose="020B0503030403020204" pitchFamily="34" charset="0"/>
                <a:ea typeface="Source Sans Pro" panose="020B0503030403020204" pitchFamily="34" charset="0"/>
              </a:rPr>
              <a:t>;</a:t>
            </a:r>
          </a:p>
          <a:p>
            <a:pPr marL="0" indent="0">
              <a:buNone/>
            </a:pPr>
            <a:r>
              <a:rPr lang="en-US" sz="1800" dirty="0">
                <a:latin typeface="Source Sans Pro" panose="020B0503030403020204" pitchFamily="34" charset="0"/>
                <a:ea typeface="Source Sans Pro" panose="020B0503030403020204" pitchFamily="34" charset="0"/>
              </a:rPr>
              <a:t>};</a:t>
            </a:r>
          </a:p>
          <a:p>
            <a:pPr marL="0" indent="0">
              <a:buNone/>
            </a:pPr>
            <a:r>
              <a:rPr lang="en-US" sz="1800" dirty="0">
                <a:latin typeface="Source Sans Pro" panose="020B0503030403020204" pitchFamily="34" charset="0"/>
                <a:ea typeface="Source Sans Pro" panose="020B0503030403020204" pitchFamily="34" charset="0"/>
              </a:rPr>
              <a:t>class Light{//Receiver</a:t>
            </a:r>
          </a:p>
          <a:p>
            <a:pPr marL="0" indent="0">
              <a:buNone/>
            </a:pPr>
            <a:r>
              <a:rPr lang="en-US" sz="1800" dirty="0">
                <a:latin typeface="Source Sans Pro" panose="020B0503030403020204" pitchFamily="34" charset="0"/>
                <a:ea typeface="Source Sans Pro" panose="020B0503030403020204" pitchFamily="34" charset="0"/>
              </a:rPr>
              <a:t>  public: void on(const string&amp; msg); </a:t>
            </a:r>
          </a:p>
          <a:p>
            <a:pPr marL="0" indent="0">
              <a:buNone/>
            </a:pPr>
            <a:r>
              <a:rPr lang="en-US" sz="1800" dirty="0">
                <a:latin typeface="Source Sans Pro" panose="020B0503030403020204" pitchFamily="34" charset="0"/>
                <a:ea typeface="Source Sans Pro" panose="020B0503030403020204" pitchFamily="34" charset="0"/>
              </a:rPr>
              <a:t>   void off();</a:t>
            </a:r>
          </a:p>
          <a:p>
            <a:pPr marL="0" indent="0">
              <a:buNone/>
            </a:pPr>
            <a:r>
              <a:rPr lang="en-US" sz="1800" dirty="0">
                <a:latin typeface="Source Sans Pro" panose="020B0503030403020204" pitchFamily="34" charset="0"/>
                <a:ea typeface="Source Sans Pro" panose="020B0503030403020204" pitchFamily="34" charset="0"/>
              </a:rPr>
              <a:t>};</a:t>
            </a:r>
          </a:p>
          <a:p>
            <a:pPr marL="0" indent="0">
              <a:buNone/>
            </a:pPr>
            <a:endParaRPr lang="en-US" sz="1800" dirty="0">
              <a:latin typeface="Source Sans Pro" panose="020B0503030403020204" pitchFamily="34" charset="0"/>
              <a:ea typeface="Source Sans Pro" panose="020B0503030403020204" pitchFamily="34" charset="0"/>
            </a:endParaRPr>
          </a:p>
        </p:txBody>
      </p:sp>
      <p:sp>
        <p:nvSpPr>
          <p:cNvPr id="4" name="Content Placeholder 3">
            <a:extLst>
              <a:ext uri="{FF2B5EF4-FFF2-40B4-BE49-F238E27FC236}">
                <a16:creationId xmlns:a16="http://schemas.microsoft.com/office/drawing/2014/main" id="{7F6D4E1B-7CE1-CDE9-22A8-50F706DCA4A9}"/>
              </a:ext>
            </a:extLst>
          </p:cNvPr>
          <p:cNvSpPr>
            <a:spLocks noGrp="1"/>
          </p:cNvSpPr>
          <p:nvPr>
            <p:ph sz="half" idx="2"/>
          </p:nvPr>
        </p:nvSpPr>
        <p:spPr>
          <a:xfrm>
            <a:off x="4648199" y="1272209"/>
            <a:ext cx="4715933" cy="4595191"/>
          </a:xfrm>
        </p:spPr>
        <p:txBody>
          <a:bodyPr/>
          <a:lstStyle/>
          <a:p>
            <a:pPr marL="0" indent="0">
              <a:buNone/>
            </a:pPr>
            <a:r>
              <a:rPr lang="en-US" sz="2000" dirty="0">
                <a:latin typeface="Source Sans Pro" panose="020B0503030403020204" pitchFamily="34" charset="0"/>
                <a:ea typeface="Source Sans Pro" panose="020B0503030403020204" pitchFamily="34" charset="0"/>
              </a:rPr>
              <a:t>int main() {</a:t>
            </a:r>
          </a:p>
          <a:p>
            <a:pPr marL="0" indent="0">
              <a:buNone/>
            </a:pPr>
            <a:r>
              <a:rPr lang="en-US" sz="2000" dirty="0">
                <a:latin typeface="Source Sans Pro" panose="020B0503030403020204" pitchFamily="34" charset="0"/>
                <a:ea typeface="Source Sans Pro" panose="020B0503030403020204" pitchFamily="34" charset="0"/>
              </a:rPr>
              <a:t>    Light </a:t>
            </a:r>
            <a:r>
              <a:rPr lang="en-US" sz="2000" dirty="0" err="1">
                <a:latin typeface="Source Sans Pro" panose="020B0503030403020204" pitchFamily="34" charset="0"/>
                <a:ea typeface="Source Sans Pro" panose="020B0503030403020204" pitchFamily="34" charset="0"/>
              </a:rPr>
              <a:t>light</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RemoteControl</a:t>
            </a:r>
            <a:r>
              <a:rPr lang="en-US" sz="2000" dirty="0">
                <a:latin typeface="Source Sans Pro" panose="020B0503030403020204" pitchFamily="34" charset="0"/>
                <a:ea typeface="Source Sans Pro" panose="020B0503030403020204" pitchFamily="34" charset="0"/>
              </a:rPr>
              <a:t> remote;</a:t>
            </a:r>
          </a:p>
          <a:p>
            <a:pPr marL="0" indent="0">
              <a:buNone/>
            </a:pP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rPr>
              <a:t>    // Turn on the light</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remote.setCmd</a:t>
            </a:r>
            <a:r>
              <a:rPr lang="en-US" sz="2000" dirty="0">
                <a:solidFill>
                  <a:srgbClr val="0070C0"/>
                </a:solidFill>
                <a:latin typeface="Source Sans Pro" panose="020B0503030403020204" pitchFamily="34" charset="0"/>
                <a:ea typeface="Source Sans Pro" panose="020B0503030403020204" pitchFamily="34" charset="0"/>
              </a:rPr>
              <a:t>([&amp; ]{ </a:t>
            </a:r>
            <a:r>
              <a:rPr lang="en-US" sz="2000" dirty="0" err="1">
                <a:solidFill>
                  <a:srgbClr val="0070C0"/>
                </a:solidFill>
                <a:latin typeface="Source Sans Pro" panose="020B0503030403020204" pitchFamily="34" charset="0"/>
                <a:ea typeface="Source Sans Pro" panose="020B0503030403020204" pitchFamily="34" charset="0"/>
              </a:rPr>
              <a:t>light.on</a:t>
            </a:r>
            <a:r>
              <a:rPr lang="en-US" sz="2000" dirty="0">
                <a:solidFill>
                  <a:srgbClr val="0070C0"/>
                </a:solidFill>
                <a:latin typeface="Source Sans Pro" panose="020B0503030403020204" pitchFamily="34" charset="0"/>
                <a:ea typeface="Source Sans Pro" panose="020B0503030403020204" pitchFamily="34" charset="0"/>
              </a:rPr>
              <a:t>(“on”); });</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remote.pressButton</a:t>
            </a:r>
            <a:r>
              <a:rPr lang="en-US" sz="2000" dirty="0">
                <a:latin typeface="Source Sans Pro" panose="020B0503030403020204" pitchFamily="34" charset="0"/>
                <a:ea typeface="Source Sans Pro" panose="020B0503030403020204" pitchFamily="34" charset="0"/>
              </a:rPr>
              <a:t>();</a:t>
            </a:r>
          </a:p>
          <a:p>
            <a:pPr marL="0" indent="0">
              <a:buNone/>
            </a:pP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rPr>
              <a:t>    // Turn off the light</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remote.setCmd</a:t>
            </a:r>
            <a:r>
              <a:rPr lang="en-US" sz="2000" dirty="0">
                <a:solidFill>
                  <a:srgbClr val="0070C0"/>
                </a:solidFill>
                <a:latin typeface="Source Sans Pro" panose="020B0503030403020204" pitchFamily="34" charset="0"/>
                <a:ea typeface="Source Sans Pro" panose="020B0503030403020204" pitchFamily="34" charset="0"/>
              </a:rPr>
              <a:t>([&amp;] { </a:t>
            </a:r>
            <a:r>
              <a:rPr lang="en-US" sz="2000" dirty="0" err="1">
                <a:solidFill>
                  <a:srgbClr val="0070C0"/>
                </a:solidFill>
                <a:latin typeface="Source Sans Pro" panose="020B0503030403020204" pitchFamily="34" charset="0"/>
                <a:ea typeface="Source Sans Pro" panose="020B0503030403020204" pitchFamily="34" charset="0"/>
              </a:rPr>
              <a:t>light.off</a:t>
            </a:r>
            <a:r>
              <a:rPr lang="en-US" sz="2000" dirty="0">
                <a:solidFill>
                  <a:srgbClr val="0070C0"/>
                </a:solidFill>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remote.pressButton</a:t>
            </a:r>
            <a:r>
              <a:rPr lang="en-US" sz="2000" dirty="0">
                <a:latin typeface="Source Sans Pro" panose="020B0503030403020204" pitchFamily="34" charset="0"/>
                <a:ea typeface="Source Sans Pro" panose="020B0503030403020204" pitchFamily="34" charset="0"/>
              </a:rPr>
              <a:t>();</a:t>
            </a:r>
          </a:p>
          <a:p>
            <a:pPr marL="0" indent="0">
              <a:buNone/>
            </a:pP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endParaRPr lang="en-US" sz="2000" dirty="0"/>
          </a:p>
        </p:txBody>
      </p:sp>
      <p:sp>
        <p:nvSpPr>
          <p:cNvPr id="6" name="TextBox 5">
            <a:extLst>
              <a:ext uri="{FF2B5EF4-FFF2-40B4-BE49-F238E27FC236}">
                <a16:creationId xmlns:a16="http://schemas.microsoft.com/office/drawing/2014/main" id="{16E6316A-C4B3-37D0-1E93-148EB4A68894}"/>
              </a:ext>
            </a:extLst>
          </p:cNvPr>
          <p:cNvSpPr txBox="1"/>
          <p:nvPr/>
        </p:nvSpPr>
        <p:spPr>
          <a:xfrm>
            <a:off x="5698837" y="91445"/>
            <a:ext cx="3159839" cy="369332"/>
          </a:xfrm>
          <a:prstGeom prst="rect">
            <a:avLst/>
          </a:prstGeom>
          <a:noFill/>
        </p:spPr>
        <p:txBody>
          <a:bodyPr wrap="none" rtlCol="0">
            <a:spAutoFit/>
          </a:bodyPr>
          <a:lstStyle/>
          <a:p>
            <a:r>
              <a:rPr lang="en-US" dirty="0"/>
              <a:t>Implementation alternative -4</a:t>
            </a:r>
          </a:p>
        </p:txBody>
      </p:sp>
    </p:spTree>
    <p:extLst>
      <p:ext uri="{BB962C8B-B14F-4D97-AF65-F5344CB8AC3E}">
        <p14:creationId xmlns:p14="http://schemas.microsoft.com/office/powerpoint/2010/main" val="301570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A7F0E-3CDA-DDF8-685E-3D104C422FA4}"/>
              </a:ext>
            </a:extLst>
          </p:cNvPr>
          <p:cNvSpPr>
            <a:spLocks noGrp="1"/>
          </p:cNvSpPr>
          <p:nvPr>
            <p:ph type="title"/>
          </p:nvPr>
        </p:nvSpPr>
        <p:spPr/>
        <p:txBody>
          <a:bodyPr/>
          <a:lstStyle/>
          <a:p>
            <a:r>
              <a:rPr lang="en-US" dirty="0"/>
              <a:t>Using Lambda as command</a:t>
            </a:r>
          </a:p>
        </p:txBody>
      </p:sp>
      <p:sp>
        <p:nvSpPr>
          <p:cNvPr id="3" name="Content Placeholder 2">
            <a:extLst>
              <a:ext uri="{FF2B5EF4-FFF2-40B4-BE49-F238E27FC236}">
                <a16:creationId xmlns:a16="http://schemas.microsoft.com/office/drawing/2014/main" id="{DEA3A275-BE81-A4B2-D08A-DCF31F2CB8FC}"/>
              </a:ext>
            </a:extLst>
          </p:cNvPr>
          <p:cNvSpPr>
            <a:spLocks noGrp="1"/>
          </p:cNvSpPr>
          <p:nvPr>
            <p:ph idx="1"/>
          </p:nvPr>
        </p:nvSpPr>
        <p:spPr>
          <a:xfrm>
            <a:off x="457200" y="1326824"/>
            <a:ext cx="8619068" cy="4532109"/>
          </a:xfrm>
        </p:spPr>
        <p:txBody>
          <a:bodyPr/>
          <a:lstStyle/>
          <a:p>
            <a:r>
              <a:rPr lang="en-US" dirty="0">
                <a:latin typeface="Source Sans Pro" panose="020B0503030403020204" pitchFamily="34" charset="0"/>
                <a:ea typeface="Source Sans Pro" panose="020B0503030403020204" pitchFamily="34" charset="0"/>
              </a:rPr>
              <a:t>Assume</a:t>
            </a:r>
          </a:p>
          <a:p>
            <a:pPr lvl="1"/>
            <a:r>
              <a:rPr lang="en-US" sz="2400" dirty="0">
                <a:latin typeface="Source Sans Pro" panose="020B0503030403020204" pitchFamily="34" charset="0"/>
                <a:ea typeface="Source Sans Pro" panose="020B0503030403020204" pitchFamily="34" charset="0"/>
              </a:rPr>
              <a:t>class Invoker{public void </a:t>
            </a:r>
            <a:r>
              <a:rPr lang="en-US" sz="2400" dirty="0" err="1">
                <a:latin typeface="Source Sans Pro" panose="020B0503030403020204" pitchFamily="34" charset="0"/>
                <a:ea typeface="Source Sans Pro" panose="020B0503030403020204" pitchFamily="34" charset="0"/>
              </a:rPr>
              <a:t>addCommand</a:t>
            </a:r>
            <a:r>
              <a:rPr lang="en-US" sz="2400" dirty="0">
                <a:latin typeface="Source Sans Pro" panose="020B0503030403020204" pitchFamily="34" charset="0"/>
                <a:ea typeface="Source Sans Pro" panose="020B0503030403020204" pitchFamily="34" charset="0"/>
              </a:rPr>
              <a:t>(Command c ){..}..}</a:t>
            </a:r>
          </a:p>
          <a:p>
            <a:pPr lvl="1"/>
            <a:r>
              <a:rPr lang="en-US" sz="2400" dirty="0">
                <a:latin typeface="Source Sans Pro" panose="020B0503030403020204" pitchFamily="34" charset="0"/>
                <a:ea typeface="Source Sans Pro" panose="020B0503030403020204" pitchFamily="34" charset="0"/>
              </a:rPr>
              <a:t>public interface Command{</a:t>
            </a:r>
          </a:p>
          <a:p>
            <a:pPr marL="0" indent="0">
              <a:buNone/>
            </a:pPr>
            <a:r>
              <a:rPr lang="en-US" sz="2400" dirty="0">
                <a:latin typeface="Source Sans Pro" panose="020B0503030403020204" pitchFamily="34" charset="0"/>
                <a:ea typeface="Source Sans Pro" panose="020B0503030403020204" pitchFamily="34" charset="0"/>
              </a:rPr>
              <a:t>                       public void execute();}</a:t>
            </a:r>
          </a:p>
          <a:p>
            <a:r>
              <a:rPr lang="en-US" dirty="0">
                <a:latin typeface="Source Sans Pro" panose="020B0503030403020204" pitchFamily="34" charset="0"/>
                <a:ea typeface="Source Sans Pro" panose="020B0503030403020204" pitchFamily="34" charset="0"/>
              </a:rPr>
              <a:t>Creating a command object</a:t>
            </a:r>
          </a:p>
          <a:p>
            <a:pPr marL="457200" lvl="1" indent="0">
              <a:buNone/>
            </a:pPr>
            <a:r>
              <a:rPr lang="en-US" dirty="0">
                <a:latin typeface="Source Sans Pro" panose="020B0503030403020204" pitchFamily="34" charset="0"/>
                <a:ea typeface="Source Sans Pro" panose="020B0503030403020204" pitchFamily="34" charset="0"/>
              </a:rPr>
              <a:t>public void </a:t>
            </a:r>
            <a:r>
              <a:rPr lang="en-US" dirty="0" err="1">
                <a:latin typeface="Source Sans Pro" panose="020B0503030403020204" pitchFamily="34" charset="0"/>
                <a:ea typeface="Source Sans Pro" panose="020B0503030403020204" pitchFamily="34" charset="0"/>
              </a:rPr>
              <a:t>someMethod</a:t>
            </a:r>
            <a:r>
              <a:rPr lang="en-US" dirty="0">
                <a:latin typeface="Source Sans Pro" panose="020B0503030403020204" pitchFamily="34" charset="0"/>
                <a:ea typeface="Source Sans Pro" panose="020B0503030403020204" pitchFamily="34" charset="0"/>
              </a:rPr>
              <a:t>(Invoker invoker){</a:t>
            </a:r>
          </a:p>
          <a:p>
            <a:pPr marL="457200" lvl="1" indent="0">
              <a:buNone/>
            </a:pPr>
            <a:r>
              <a:rPr lang="en-US" dirty="0">
                <a:latin typeface="Source Sans Pro" panose="020B0503030403020204" pitchFamily="34" charset="0"/>
                <a:ea typeface="Source Sans Pro" panose="020B0503030403020204" pitchFamily="34" charset="0"/>
              </a:rPr>
              <a:t>    Document receiver=</a:t>
            </a:r>
            <a:r>
              <a:rPr lang="en-US" dirty="0" err="1">
                <a:latin typeface="Source Sans Pro" panose="020B0503030403020204" pitchFamily="34" charset="0"/>
                <a:ea typeface="Source Sans Pro" panose="020B0503030403020204" pitchFamily="34" charset="0"/>
              </a:rPr>
              <a:t>createDoc</a:t>
            </a:r>
            <a:r>
              <a:rPr lang="en-US" dirty="0">
                <a:latin typeface="Source Sans Pro" panose="020B0503030403020204" pitchFamily="34" charset="0"/>
                <a:ea typeface="Source Sans Pro" panose="020B0503030403020204" pitchFamily="34" charset="0"/>
              </a:rPr>
              <a:t>();</a:t>
            </a:r>
          </a:p>
          <a:p>
            <a:pPr marL="457200" lvl="1" indent="0">
              <a:buNone/>
            </a:pPr>
            <a:r>
              <a:rPr lang="en-US" dirty="0">
                <a:solidFill>
                  <a:srgbClr val="0070C0"/>
                </a:solidFill>
                <a:latin typeface="Source Sans Pro" panose="020B0503030403020204" pitchFamily="34" charset="0"/>
                <a:ea typeface="Source Sans Pro" panose="020B0503030403020204" pitchFamily="34" charset="0"/>
              </a:rPr>
              <a:t>    </a:t>
            </a:r>
            <a:r>
              <a:rPr lang="en-US" dirty="0" err="1">
                <a:solidFill>
                  <a:srgbClr val="0070C0"/>
                </a:solidFill>
                <a:latin typeface="Source Sans Pro" panose="020B0503030403020204" pitchFamily="34" charset="0"/>
                <a:ea typeface="Source Sans Pro" panose="020B0503030403020204" pitchFamily="34" charset="0"/>
              </a:rPr>
              <a:t>invoker.addCommand</a:t>
            </a:r>
            <a:r>
              <a:rPr lang="en-US" dirty="0">
                <a:solidFill>
                  <a:srgbClr val="0070C0"/>
                </a:solidFill>
                <a:latin typeface="Source Sans Pro" panose="020B0503030403020204" pitchFamily="34" charset="0"/>
                <a:ea typeface="Source Sans Pro" panose="020B0503030403020204" pitchFamily="34" charset="0"/>
              </a:rPr>
              <a:t>( () -&gt; </a:t>
            </a:r>
            <a:r>
              <a:rPr lang="en-US" dirty="0" err="1">
                <a:solidFill>
                  <a:srgbClr val="0070C0"/>
                </a:solidFill>
                <a:latin typeface="Source Sans Pro" panose="020B0503030403020204" pitchFamily="34" charset="0"/>
                <a:ea typeface="Source Sans Pro" panose="020B0503030403020204" pitchFamily="34" charset="0"/>
              </a:rPr>
              <a:t>receiver.save</a:t>
            </a:r>
            <a:r>
              <a:rPr lang="en-US" dirty="0">
                <a:solidFill>
                  <a:srgbClr val="0070C0"/>
                </a:solidFill>
                <a:latin typeface="Source Sans Pro" panose="020B0503030403020204" pitchFamily="34" charset="0"/>
                <a:ea typeface="Source Sans Pro" panose="020B0503030403020204" pitchFamily="34" charset="0"/>
              </a:rPr>
              <a:t>() );</a:t>
            </a:r>
          </a:p>
          <a:p>
            <a:r>
              <a:rPr lang="en-US" dirty="0">
                <a:latin typeface="Source Sans Pro" panose="020B0503030403020204" pitchFamily="34" charset="0"/>
                <a:ea typeface="Source Sans Pro" panose="020B0503030403020204" pitchFamily="34" charset="0"/>
              </a:rPr>
              <a:t>Lambda </a:t>
            </a:r>
            <a:r>
              <a:rPr lang="en-US" i="1" dirty="0">
                <a:latin typeface="Source Sans Pro" panose="020B0503030403020204" pitchFamily="34" charset="0"/>
                <a:ea typeface="Source Sans Pro" panose="020B0503030403020204" pitchFamily="34" charset="0"/>
              </a:rPr>
              <a:t>captures</a:t>
            </a:r>
            <a:r>
              <a:rPr lang="en-US" dirty="0">
                <a:latin typeface="Source Sans Pro" panose="020B0503030403020204" pitchFamily="34" charset="0"/>
                <a:ea typeface="Source Sans Pro" panose="020B0503030403020204" pitchFamily="34" charset="0"/>
              </a:rPr>
              <a:t> the receiver in the lexical closure.</a:t>
            </a:r>
          </a:p>
          <a:p>
            <a:r>
              <a:rPr lang="en-US" sz="2400" dirty="0">
                <a:latin typeface="Source Sans Pro" panose="020B0503030403020204" pitchFamily="34" charset="0"/>
                <a:ea typeface="Source Sans Pro" panose="020B0503030403020204" pitchFamily="34" charset="0"/>
              </a:rPr>
              <a:t>Invoker says   </a:t>
            </a:r>
            <a:r>
              <a:rPr lang="en-US" sz="2400" dirty="0" err="1">
                <a:latin typeface="Source Sans Pro" panose="020B0503030403020204" pitchFamily="34" charset="0"/>
                <a:ea typeface="Source Sans Pro" panose="020B0503030403020204" pitchFamily="34" charset="0"/>
              </a:rPr>
              <a:t>cmd.execute</a:t>
            </a:r>
            <a:r>
              <a:rPr lang="en-US" sz="2400" dirty="0">
                <a:latin typeface="Source Sans Pro" panose="020B0503030403020204" pitchFamily="34" charset="0"/>
                <a:ea typeface="Source Sans Pro" panose="020B0503030403020204" pitchFamily="34" charset="0"/>
              </a:rPr>
              <a:t>()</a:t>
            </a:r>
          </a:p>
        </p:txBody>
      </p:sp>
      <p:sp>
        <p:nvSpPr>
          <p:cNvPr id="5" name="TextBox 4">
            <a:extLst>
              <a:ext uri="{FF2B5EF4-FFF2-40B4-BE49-F238E27FC236}">
                <a16:creationId xmlns:a16="http://schemas.microsoft.com/office/drawing/2014/main" id="{BA1AA1BE-F0BF-3C93-DD44-C9C95BB8F084}"/>
              </a:ext>
            </a:extLst>
          </p:cNvPr>
          <p:cNvSpPr txBox="1"/>
          <p:nvPr/>
        </p:nvSpPr>
        <p:spPr>
          <a:xfrm>
            <a:off x="5698837" y="91445"/>
            <a:ext cx="3159839" cy="369332"/>
          </a:xfrm>
          <a:prstGeom prst="rect">
            <a:avLst/>
          </a:prstGeom>
          <a:noFill/>
        </p:spPr>
        <p:txBody>
          <a:bodyPr wrap="none" rtlCol="0">
            <a:spAutoFit/>
          </a:bodyPr>
          <a:lstStyle/>
          <a:p>
            <a:r>
              <a:rPr lang="en-US" dirty="0"/>
              <a:t>Implementation alternative -5</a:t>
            </a:r>
          </a:p>
        </p:txBody>
      </p:sp>
    </p:spTree>
    <p:extLst>
      <p:ext uri="{BB962C8B-B14F-4D97-AF65-F5344CB8AC3E}">
        <p14:creationId xmlns:p14="http://schemas.microsoft.com/office/powerpoint/2010/main" val="4028833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A7F0E-3CDA-DDF8-685E-3D104C422FA4}"/>
              </a:ext>
            </a:extLst>
          </p:cNvPr>
          <p:cNvSpPr>
            <a:spLocks noGrp="1"/>
          </p:cNvSpPr>
          <p:nvPr>
            <p:ph type="title"/>
          </p:nvPr>
        </p:nvSpPr>
        <p:spPr/>
        <p:txBody>
          <a:bodyPr/>
          <a:lstStyle/>
          <a:p>
            <a:r>
              <a:rPr lang="en-US" dirty="0"/>
              <a:t>Lambda in remote command</a:t>
            </a:r>
          </a:p>
        </p:txBody>
      </p:sp>
      <p:sp>
        <p:nvSpPr>
          <p:cNvPr id="3" name="Content Placeholder 2">
            <a:extLst>
              <a:ext uri="{FF2B5EF4-FFF2-40B4-BE49-F238E27FC236}">
                <a16:creationId xmlns:a16="http://schemas.microsoft.com/office/drawing/2014/main" id="{DEA3A275-BE81-A4B2-D08A-DCF31F2CB8FC}"/>
              </a:ext>
            </a:extLst>
          </p:cNvPr>
          <p:cNvSpPr>
            <a:spLocks noGrp="1"/>
          </p:cNvSpPr>
          <p:nvPr>
            <p:ph idx="1"/>
          </p:nvPr>
        </p:nvSpPr>
        <p:spPr/>
        <p:txBody>
          <a:bodyPr/>
          <a:lstStyle/>
          <a:p>
            <a:r>
              <a:rPr lang="en-US" sz="2800" dirty="0">
                <a:latin typeface="Source Sans Pro" panose="020B0503030403020204" pitchFamily="34" charset="0"/>
                <a:ea typeface="Source Sans Pro" panose="020B0503030403020204" pitchFamily="34" charset="0"/>
              </a:rPr>
              <a:t>Invoker </a:t>
            </a:r>
            <a:r>
              <a:rPr lang="en-US" sz="2800" dirty="0">
                <a:latin typeface="+mj-lt"/>
                <a:ea typeface="Source Sans Pro" panose="020B0503030403020204" pitchFamily="34" charset="0"/>
              </a:rPr>
              <a:t>has </a:t>
            </a:r>
            <a:r>
              <a:rPr lang="en-US" sz="2800" dirty="0" err="1">
                <a:latin typeface="Source Sans Pro" panose="020B0503030403020204" pitchFamily="34" charset="0"/>
                <a:ea typeface="Source Sans Pro" panose="020B0503030403020204" pitchFamily="34" charset="0"/>
              </a:rPr>
              <a:t>addCommand</a:t>
            </a:r>
            <a:r>
              <a:rPr lang="en-US" sz="2800" dirty="0">
                <a:latin typeface="Source Sans Pro" panose="020B0503030403020204" pitchFamily="34" charset="0"/>
                <a:ea typeface="Source Sans Pro" panose="020B0503030403020204" pitchFamily="34" charset="0"/>
              </a:rPr>
              <a:t>(</a:t>
            </a:r>
            <a:r>
              <a:rPr lang="en-US" sz="2800" dirty="0" err="1">
                <a:latin typeface="Source Sans Pro" panose="020B0503030403020204" pitchFamily="34" charset="0"/>
                <a:ea typeface="Source Sans Pro" panose="020B0503030403020204" pitchFamily="34" charset="0"/>
              </a:rPr>
              <a:t>MyCommand</a:t>
            </a:r>
            <a:r>
              <a:rPr lang="en-US" sz="2800" dirty="0">
                <a:latin typeface="Source Sans Pro" panose="020B0503030403020204" pitchFamily="34" charset="0"/>
                <a:ea typeface="Source Sans Pro" panose="020B0503030403020204" pitchFamily="34" charset="0"/>
              </a:rPr>
              <a:t> c){..}</a:t>
            </a:r>
          </a:p>
          <a:p>
            <a:r>
              <a:rPr lang="en-US" sz="2800" dirty="0">
                <a:latin typeface="Source Sans Pro" panose="020B0503030403020204" pitchFamily="34" charset="0"/>
                <a:ea typeface="Source Sans Pro" panose="020B0503030403020204" pitchFamily="34" charset="0"/>
              </a:rPr>
              <a:t>public interface </a:t>
            </a:r>
            <a:r>
              <a:rPr lang="en-US" sz="2800" dirty="0" err="1">
                <a:latin typeface="Source Sans Pro" panose="020B0503030403020204" pitchFamily="34" charset="0"/>
                <a:ea typeface="Source Sans Pro" panose="020B0503030403020204" pitchFamily="34" charset="0"/>
              </a:rPr>
              <a:t>MyCommand</a:t>
            </a:r>
            <a:r>
              <a:rPr lang="en-US" sz="2800" dirty="0">
                <a:latin typeface="Source Sans Pro" panose="020B0503030403020204" pitchFamily="34" charset="0"/>
                <a:ea typeface="Source Sans Pro" panose="020B0503030403020204" pitchFamily="34" charset="0"/>
              </a:rPr>
              <a:t> extends Runnable, Serializable { }</a:t>
            </a:r>
          </a:p>
          <a:p>
            <a:pPr lvl="1"/>
            <a:r>
              <a:rPr lang="en-US" sz="2400" dirty="0"/>
              <a:t>This is a marker interface</a:t>
            </a:r>
          </a:p>
          <a:p>
            <a:pPr lvl="1"/>
            <a:r>
              <a:rPr lang="en-US" sz="2400" dirty="0"/>
              <a:t>We might send the command on another JVM</a:t>
            </a:r>
          </a:p>
          <a:p>
            <a:pPr lvl="1"/>
            <a:r>
              <a:rPr lang="en-US" sz="2400" dirty="0"/>
              <a:t>Using the public void run() of Runnable as the execute method</a:t>
            </a:r>
          </a:p>
          <a:p>
            <a:r>
              <a:rPr lang="en-US" sz="2800" dirty="0" err="1">
                <a:latin typeface="Source Sans Pro" panose="020B0503030403020204" pitchFamily="34" charset="0"/>
                <a:ea typeface="Source Sans Pro" panose="020B0503030403020204" pitchFamily="34" charset="0"/>
              </a:rPr>
              <a:t>invoker.addCommand</a:t>
            </a:r>
            <a:r>
              <a:rPr lang="en-US" sz="2800" dirty="0">
                <a:latin typeface="Source Sans Pro" panose="020B0503030403020204" pitchFamily="34" charset="0"/>
                <a:ea typeface="Source Sans Pro" panose="020B0503030403020204" pitchFamily="34" charset="0"/>
              </a:rPr>
              <a:t>( </a:t>
            </a:r>
          </a:p>
          <a:p>
            <a:pPr marL="0" indent="0">
              <a:buNone/>
            </a:pPr>
            <a:r>
              <a:rPr lang="en-US" sz="2800" dirty="0">
                <a:latin typeface="Source Sans Pro" panose="020B0503030403020204" pitchFamily="34" charset="0"/>
                <a:ea typeface="Source Sans Pro" panose="020B0503030403020204" pitchFamily="34" charset="0"/>
              </a:rPr>
              <a:t>     () -&gt; </a:t>
            </a:r>
            <a:r>
              <a:rPr lang="en-US" sz="2800" dirty="0" err="1">
                <a:latin typeface="Source Sans Pro" panose="020B0503030403020204" pitchFamily="34" charset="0"/>
                <a:ea typeface="Source Sans Pro" panose="020B0503030403020204" pitchFamily="34" charset="0"/>
              </a:rPr>
              <a:t>System.out.println</a:t>
            </a:r>
            <a:r>
              <a:rPr lang="en-US" sz="2800" dirty="0">
                <a:latin typeface="Source Sans Pro" panose="020B0503030403020204" pitchFamily="34" charset="0"/>
                <a:ea typeface="Source Sans Pro" panose="020B0503030403020204" pitchFamily="34" charset="0"/>
              </a:rPr>
              <a:t>(“a simple command") );</a:t>
            </a:r>
          </a:p>
        </p:txBody>
      </p:sp>
      <p:sp>
        <p:nvSpPr>
          <p:cNvPr id="7" name="TextBox 6">
            <a:extLst>
              <a:ext uri="{FF2B5EF4-FFF2-40B4-BE49-F238E27FC236}">
                <a16:creationId xmlns:a16="http://schemas.microsoft.com/office/drawing/2014/main" id="{0A55D8C6-048B-A94D-0664-CE0B72E48A72}"/>
              </a:ext>
            </a:extLst>
          </p:cNvPr>
          <p:cNvSpPr txBox="1"/>
          <p:nvPr/>
        </p:nvSpPr>
        <p:spPr>
          <a:xfrm>
            <a:off x="3901859" y="6646334"/>
            <a:ext cx="5242141" cy="276999"/>
          </a:xfrm>
          <a:prstGeom prst="rect">
            <a:avLst/>
          </a:prstGeom>
          <a:noFill/>
        </p:spPr>
        <p:txBody>
          <a:bodyPr wrap="none" rtlCol="0">
            <a:spAutoFit/>
          </a:bodyPr>
          <a:lstStyle/>
          <a:p>
            <a:r>
              <a:rPr lang="en-US" sz="1200" dirty="0"/>
              <a:t>https://blogs.oracle.com/javamagazine/post/the-command-pattern-in-depth</a:t>
            </a:r>
          </a:p>
        </p:txBody>
      </p:sp>
    </p:spTree>
    <p:extLst>
      <p:ext uri="{BB962C8B-B14F-4D97-AF65-F5344CB8AC3E}">
        <p14:creationId xmlns:p14="http://schemas.microsoft.com/office/powerpoint/2010/main" val="40347868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DCFCB09-3573-1363-AC10-882DC5F0D72D}"/>
              </a:ext>
            </a:extLst>
          </p:cNvPr>
          <p:cNvSpPr>
            <a:spLocks noGrp="1" noChangeArrowheads="1"/>
          </p:cNvSpPr>
          <p:nvPr>
            <p:ph type="title"/>
          </p:nvPr>
        </p:nvSpPr>
        <p:spPr>
          <a:xfrm>
            <a:off x="457200" y="139700"/>
            <a:ext cx="8229600" cy="1371600"/>
          </a:xfrm>
        </p:spPr>
        <p:txBody>
          <a:bodyPr/>
          <a:lstStyle/>
          <a:p>
            <a:r>
              <a:rPr lang="en-US" altLang="tr-TR"/>
              <a:t>Command- Consequences</a:t>
            </a:r>
          </a:p>
        </p:txBody>
      </p:sp>
      <p:sp>
        <p:nvSpPr>
          <p:cNvPr id="50179" name="Rectangle 3">
            <a:extLst>
              <a:ext uri="{FF2B5EF4-FFF2-40B4-BE49-F238E27FC236}">
                <a16:creationId xmlns:a16="http://schemas.microsoft.com/office/drawing/2014/main" id="{63FBF1C7-1E13-D7B9-678A-01B81435DD6D}"/>
              </a:ext>
            </a:extLst>
          </p:cNvPr>
          <p:cNvSpPr>
            <a:spLocks noGrp="1" noChangeArrowheads="1"/>
          </p:cNvSpPr>
          <p:nvPr>
            <p:ph idx="1"/>
          </p:nvPr>
        </p:nvSpPr>
        <p:spPr>
          <a:xfrm>
            <a:off x="321733" y="1326621"/>
            <a:ext cx="8703734" cy="4532312"/>
          </a:xfrm>
        </p:spPr>
        <p:txBody>
          <a:bodyPr/>
          <a:lstStyle/>
          <a:p>
            <a:pPr>
              <a:lnSpc>
                <a:spcPct val="90000"/>
              </a:lnSpc>
            </a:pPr>
            <a:r>
              <a:rPr lang="en-US" altLang="tr-TR" sz="2800" dirty="0"/>
              <a:t>Complete decoupling between the sender and the receiver </a:t>
            </a:r>
          </a:p>
          <a:p>
            <a:pPr lvl="1">
              <a:lnSpc>
                <a:spcPct val="90000"/>
              </a:lnSpc>
            </a:pPr>
            <a:r>
              <a:rPr lang="en-US" altLang="tr-TR" sz="2400" dirty="0"/>
              <a:t>Receiver knows how to perform the action</a:t>
            </a:r>
          </a:p>
          <a:p>
            <a:pPr lvl="1">
              <a:lnSpc>
                <a:spcPct val="90000"/>
              </a:lnSpc>
            </a:pPr>
            <a:r>
              <a:rPr lang="en-US" altLang="tr-TR" sz="2400" dirty="0"/>
              <a:t>Invoker is unaware who performs the action</a:t>
            </a:r>
          </a:p>
          <a:p>
            <a:pPr>
              <a:lnSpc>
                <a:spcPct val="90000"/>
              </a:lnSpc>
            </a:pPr>
            <a:r>
              <a:rPr lang="en-US" altLang="tr-TR" sz="2800" dirty="0"/>
              <a:t>A request becomes a command object that can be manipulated and extended like any other object</a:t>
            </a:r>
          </a:p>
          <a:p>
            <a:pPr lvl="1">
              <a:lnSpc>
                <a:spcPct val="90000"/>
              </a:lnSpc>
            </a:pPr>
            <a:r>
              <a:rPr lang="en-US" altLang="tr-TR" sz="2400" dirty="0"/>
              <a:t>Command is a first-class object </a:t>
            </a:r>
          </a:p>
          <a:p>
            <a:pPr>
              <a:lnSpc>
                <a:spcPct val="90000"/>
              </a:lnSpc>
            </a:pPr>
            <a:r>
              <a:rPr lang="en-US" altLang="tr-TR" sz="2800" dirty="0"/>
              <a:t>Commands can be assembled into a composite command</a:t>
            </a:r>
          </a:p>
          <a:p>
            <a:pPr>
              <a:lnSpc>
                <a:spcPct val="90000"/>
              </a:lnSpc>
            </a:pPr>
            <a:r>
              <a:rPr lang="en-US" altLang="tr-TR" sz="2800" dirty="0"/>
              <a:t>Enables to implement deferred execution of operations</a:t>
            </a:r>
          </a:p>
          <a:p>
            <a:pPr>
              <a:lnSpc>
                <a:spcPct val="90000"/>
              </a:lnSpc>
            </a:pPr>
            <a:r>
              <a:rPr lang="en-US" altLang="tr-TR" sz="2800" dirty="0"/>
              <a:t>Easy to add new commands, because you don't have to change the existing classes.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C549A-1696-C0F1-C6AA-746ACD6B14CB}"/>
              </a:ext>
            </a:extLst>
          </p:cNvPr>
          <p:cNvSpPr>
            <a:spLocks noGrp="1"/>
          </p:cNvSpPr>
          <p:nvPr>
            <p:ph type="title"/>
          </p:nvPr>
        </p:nvSpPr>
        <p:spPr/>
        <p:txBody>
          <a:bodyPr/>
          <a:lstStyle/>
          <a:p>
            <a:r>
              <a:rPr lang="en-US" dirty="0"/>
              <a:t>Known uses</a:t>
            </a:r>
          </a:p>
        </p:txBody>
      </p:sp>
      <p:sp>
        <p:nvSpPr>
          <p:cNvPr id="3" name="Content Placeholder 2">
            <a:extLst>
              <a:ext uri="{FF2B5EF4-FFF2-40B4-BE49-F238E27FC236}">
                <a16:creationId xmlns:a16="http://schemas.microsoft.com/office/drawing/2014/main" id="{5EFA51A0-2F63-1008-3BA0-FEB12D9E21C4}"/>
              </a:ext>
            </a:extLst>
          </p:cNvPr>
          <p:cNvSpPr>
            <a:spLocks noGrp="1"/>
          </p:cNvSpPr>
          <p:nvPr>
            <p:ph idx="1"/>
          </p:nvPr>
        </p:nvSpPr>
        <p:spPr/>
        <p:txBody>
          <a:bodyPr/>
          <a:lstStyle/>
          <a:p>
            <a:r>
              <a:rPr lang="en-US" dirty="0"/>
              <a:t>All implementations of </a:t>
            </a:r>
            <a:r>
              <a:rPr lang="en-US" dirty="0" err="1"/>
              <a:t>java.lang.Runnable</a:t>
            </a:r>
            <a:endParaRPr lang="en-US" dirty="0"/>
          </a:p>
          <a:p>
            <a:r>
              <a:rPr lang="en-US" dirty="0"/>
              <a:t>All implementations of </a:t>
            </a:r>
            <a:r>
              <a:rPr lang="en-US" dirty="0" err="1"/>
              <a:t>javax.swing.Action</a:t>
            </a:r>
            <a:endParaRPr lang="en-US" dirty="0"/>
          </a:p>
          <a:p>
            <a:r>
              <a:rPr lang="en-US" dirty="0"/>
              <a:t>ActionListener is both Observer and Command</a:t>
            </a:r>
          </a:p>
          <a:p>
            <a:pPr lvl="1"/>
            <a:r>
              <a:rPr lang="en-US" dirty="0" err="1"/>
              <a:t>addListener</a:t>
            </a:r>
            <a:r>
              <a:rPr lang="en-US" dirty="0"/>
              <a:t>(new ActionListener{</a:t>
            </a:r>
          </a:p>
          <a:p>
            <a:pPr marL="457200" lvl="1" indent="0">
              <a:buNone/>
            </a:pPr>
            <a:r>
              <a:rPr lang="en-US" dirty="0"/>
              <a:t>      public void </a:t>
            </a:r>
            <a:r>
              <a:rPr lang="en-US" dirty="0" err="1"/>
              <a:t>actionPerformed</a:t>
            </a:r>
            <a:r>
              <a:rPr lang="en-US" dirty="0"/>
              <a:t>(</a:t>
            </a:r>
            <a:r>
              <a:rPr lang="en-US" dirty="0" err="1"/>
              <a:t>ActionEvent</a:t>
            </a:r>
            <a:r>
              <a:rPr lang="en-US" dirty="0"/>
              <a:t> e){</a:t>
            </a:r>
          </a:p>
          <a:p>
            <a:pPr marL="457200" lvl="1" indent="0">
              <a:buNone/>
            </a:pPr>
            <a:r>
              <a:rPr lang="en-US" dirty="0"/>
              <a:t>            //this is the execute method</a:t>
            </a:r>
          </a:p>
          <a:p>
            <a:pPr marL="457200" lvl="1" indent="0">
              <a:buNone/>
            </a:pPr>
            <a:r>
              <a:rPr lang="en-US" dirty="0"/>
              <a:t>            //it is the update method as well </a:t>
            </a:r>
          </a:p>
          <a:p>
            <a:pPr marL="457200" lvl="1" indent="0">
              <a:buNone/>
            </a:pPr>
            <a:r>
              <a:rPr lang="en-US" dirty="0"/>
              <a:t>       }</a:t>
            </a:r>
          </a:p>
          <a:p>
            <a:pPr marL="457200" lvl="1" indent="0">
              <a:buNone/>
            </a:pPr>
            <a:r>
              <a:rPr lang="en-US" dirty="0"/>
              <a:t>   });</a:t>
            </a:r>
          </a:p>
          <a:p>
            <a:pPr marL="457200" lvl="1" indent="0">
              <a:buNone/>
            </a:pPr>
            <a:endParaRPr lang="en-US" dirty="0"/>
          </a:p>
          <a:p>
            <a:endParaRPr lang="en-US" dirty="0"/>
          </a:p>
        </p:txBody>
      </p:sp>
    </p:spTree>
    <p:extLst>
      <p:ext uri="{BB962C8B-B14F-4D97-AF65-F5344CB8AC3E}">
        <p14:creationId xmlns:p14="http://schemas.microsoft.com/office/powerpoint/2010/main" val="14811023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34273-4169-2818-11B0-AAD56C4CE6AD}"/>
              </a:ext>
            </a:extLst>
          </p:cNvPr>
          <p:cNvSpPr>
            <a:spLocks noGrp="1"/>
          </p:cNvSpPr>
          <p:nvPr>
            <p:ph type="title"/>
          </p:nvPr>
        </p:nvSpPr>
        <p:spPr/>
        <p:txBody>
          <a:bodyPr/>
          <a:lstStyle/>
          <a:p>
            <a:r>
              <a:rPr lang="en-US" dirty="0"/>
              <a:t>Thread safety</a:t>
            </a:r>
          </a:p>
        </p:txBody>
      </p:sp>
      <p:sp>
        <p:nvSpPr>
          <p:cNvPr id="3" name="Content Placeholder 2">
            <a:extLst>
              <a:ext uri="{FF2B5EF4-FFF2-40B4-BE49-F238E27FC236}">
                <a16:creationId xmlns:a16="http://schemas.microsoft.com/office/drawing/2014/main" id="{C833694E-6640-43D1-F47F-3582D9946C0D}"/>
              </a:ext>
            </a:extLst>
          </p:cNvPr>
          <p:cNvSpPr>
            <a:spLocks noGrp="1"/>
          </p:cNvSpPr>
          <p:nvPr>
            <p:ph idx="1"/>
          </p:nvPr>
        </p:nvSpPr>
        <p:spPr/>
        <p:txBody>
          <a:bodyPr/>
          <a:lstStyle/>
          <a:p>
            <a:r>
              <a:rPr lang="en-US" sz="2800" dirty="0"/>
              <a:t>Command manager –use a thread safe data structure and make it final </a:t>
            </a:r>
          </a:p>
          <a:p>
            <a:pPr lvl="1"/>
            <a:r>
              <a:rPr lang="en-US" sz="2400" dirty="0"/>
              <a:t>Final to eliminate race conditions at  initialization </a:t>
            </a:r>
          </a:p>
          <a:p>
            <a:pPr lvl="1"/>
            <a:r>
              <a:rPr lang="en-US" sz="2400" dirty="0"/>
              <a:t>Thread safe data structure for swapping command between lists safely</a:t>
            </a:r>
          </a:p>
          <a:p>
            <a:pPr lvl="1"/>
            <a:r>
              <a:rPr lang="en-US" sz="2400" dirty="0"/>
              <a:t>Same goes for command queues</a:t>
            </a:r>
          </a:p>
          <a:p>
            <a:r>
              <a:rPr lang="en-US" sz="2800" dirty="0"/>
              <a:t>The receiver methods that Command::execute invokes should be thread safe</a:t>
            </a:r>
          </a:p>
          <a:p>
            <a:pPr lvl="1"/>
            <a:r>
              <a:rPr lang="en-US" sz="2400" dirty="0"/>
              <a:t>Be careful about deadlock: threads holding locks waiting each other to release lock</a:t>
            </a:r>
          </a:p>
          <a:p>
            <a:r>
              <a:rPr lang="en-US" sz="2800" dirty="0"/>
              <a:t>Commands do not have state, but if they do make it immutable</a:t>
            </a:r>
          </a:p>
        </p:txBody>
      </p:sp>
    </p:spTree>
    <p:extLst>
      <p:ext uri="{BB962C8B-B14F-4D97-AF65-F5344CB8AC3E}">
        <p14:creationId xmlns:p14="http://schemas.microsoft.com/office/powerpoint/2010/main" val="37498917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EC62288A-FE2C-248B-18AF-97BAAD674656}"/>
              </a:ext>
            </a:extLst>
          </p:cNvPr>
          <p:cNvSpPr>
            <a:spLocks noGrp="1" noChangeArrowheads="1"/>
          </p:cNvSpPr>
          <p:nvPr>
            <p:ph type="title"/>
          </p:nvPr>
        </p:nvSpPr>
        <p:spPr>
          <a:xfrm>
            <a:off x="457200" y="139700"/>
            <a:ext cx="8229600" cy="1371600"/>
          </a:xfrm>
        </p:spPr>
        <p:txBody>
          <a:bodyPr/>
          <a:lstStyle/>
          <a:p>
            <a:r>
              <a:rPr lang="en-US" altLang="tr-TR" dirty="0"/>
              <a:t>Related patterns</a:t>
            </a:r>
            <a:endParaRPr lang="tr-TR" altLang="tr-TR" dirty="0"/>
          </a:p>
        </p:txBody>
      </p:sp>
      <p:sp>
        <p:nvSpPr>
          <p:cNvPr id="51203" name="Content Placeholder 2">
            <a:extLst>
              <a:ext uri="{FF2B5EF4-FFF2-40B4-BE49-F238E27FC236}">
                <a16:creationId xmlns:a16="http://schemas.microsoft.com/office/drawing/2014/main" id="{43EF0638-96F2-5471-6515-5876DA6E899C}"/>
              </a:ext>
            </a:extLst>
          </p:cNvPr>
          <p:cNvSpPr>
            <a:spLocks noGrp="1" noChangeArrowheads="1"/>
          </p:cNvSpPr>
          <p:nvPr>
            <p:ph idx="1"/>
          </p:nvPr>
        </p:nvSpPr>
        <p:spPr>
          <a:xfrm>
            <a:off x="457200" y="1335088"/>
            <a:ext cx="8229600" cy="4532312"/>
          </a:xfrm>
        </p:spPr>
        <p:txBody>
          <a:bodyPr/>
          <a:lstStyle/>
          <a:p>
            <a:r>
              <a:rPr lang="en-US" altLang="tr-TR" sz="2800" dirty="0" err="1">
                <a:latin typeface="+mj-lt"/>
              </a:rPr>
              <a:t>Macrocommands</a:t>
            </a:r>
            <a:r>
              <a:rPr lang="en-US" altLang="tr-TR" sz="2800" dirty="0">
                <a:latin typeface="+mj-lt"/>
              </a:rPr>
              <a:t> with </a:t>
            </a:r>
            <a:r>
              <a:rPr lang="en-US" altLang="tr-TR" sz="2800" b="1" dirty="0">
                <a:latin typeface="+mj-lt"/>
              </a:rPr>
              <a:t>Composite</a:t>
            </a:r>
          </a:p>
          <a:p>
            <a:r>
              <a:rPr lang="en-US" altLang="tr-TR" sz="2800" b="1" dirty="0">
                <a:latin typeface="+mj-lt"/>
              </a:rPr>
              <a:t>Chain of Responsibility </a:t>
            </a:r>
            <a:r>
              <a:rPr lang="en-US" altLang="tr-TR" sz="2800" dirty="0">
                <a:latin typeface="+mj-lt"/>
              </a:rPr>
              <a:t>can use Command to represent </a:t>
            </a:r>
            <a:r>
              <a:rPr lang="en-US" altLang="tr-TR" sz="2800" i="1" dirty="0">
                <a:latin typeface="+mj-lt"/>
              </a:rPr>
              <a:t>Requests</a:t>
            </a:r>
            <a:r>
              <a:rPr lang="en-US" altLang="tr-TR" sz="2800" dirty="0">
                <a:latin typeface="+mj-lt"/>
              </a:rPr>
              <a:t> as objects.</a:t>
            </a:r>
          </a:p>
          <a:p>
            <a:r>
              <a:rPr lang="en-US" altLang="tr-TR" sz="2800" dirty="0">
                <a:latin typeface="+mj-lt"/>
              </a:rPr>
              <a:t>Handlers in</a:t>
            </a:r>
            <a:r>
              <a:rPr lang="en-US" altLang="tr-TR" sz="2800" b="1" dirty="0">
                <a:latin typeface="+mj-lt"/>
              </a:rPr>
              <a:t> </a:t>
            </a:r>
            <a:r>
              <a:rPr lang="en-US" altLang="tr-TR" sz="2800" b="1" dirty="0" err="1">
                <a:latin typeface="+mj-lt"/>
              </a:rPr>
              <a:t>CoR</a:t>
            </a:r>
            <a:r>
              <a:rPr lang="en-US" altLang="tr-TR" sz="2800" b="1" dirty="0">
                <a:latin typeface="+mj-lt"/>
              </a:rPr>
              <a:t> </a:t>
            </a:r>
            <a:r>
              <a:rPr lang="en-US" altLang="tr-TR" sz="2800" dirty="0">
                <a:latin typeface="+mj-lt"/>
              </a:rPr>
              <a:t>can be implemented as Commands.</a:t>
            </a:r>
          </a:p>
          <a:p>
            <a:pPr lvl="1"/>
            <a:r>
              <a:rPr lang="en-US" altLang="tr-TR" sz="2400" dirty="0">
                <a:latin typeface="+mj-lt"/>
              </a:rPr>
              <a:t>we can execute a lot of different operations over the same context object, represented by a request.</a:t>
            </a:r>
          </a:p>
          <a:p>
            <a:r>
              <a:rPr lang="en-US" sz="2800" b="0" i="0" dirty="0">
                <a:solidFill>
                  <a:srgbClr val="000000"/>
                </a:solidFill>
                <a:effectLst/>
                <a:highlight>
                  <a:srgbClr val="FFFFFF"/>
                </a:highlight>
                <a:latin typeface="+mj-lt"/>
              </a:rPr>
              <a:t>A command that must be copied before being placed on the history list acts as a </a:t>
            </a:r>
            <a:r>
              <a:rPr lang="en-US" sz="2800" b="1" i="0" dirty="0">
                <a:effectLst/>
                <a:highlight>
                  <a:srgbClr val="FFFFFF"/>
                </a:highlight>
                <a:latin typeface="+mj-lt"/>
              </a:rPr>
              <a:t>Prototype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3CCD-60BD-D7AE-468A-B4E1A6E2DB34}"/>
              </a:ext>
            </a:extLst>
          </p:cNvPr>
          <p:cNvSpPr>
            <a:spLocks noGrp="1"/>
          </p:cNvSpPr>
          <p:nvPr>
            <p:ph type="title"/>
          </p:nvPr>
        </p:nvSpPr>
        <p:spPr/>
        <p:txBody>
          <a:bodyPr/>
          <a:lstStyle/>
          <a:p>
            <a:r>
              <a:rPr lang="en-US" altLang="tr-TR" dirty="0"/>
              <a:t>Related patterns</a:t>
            </a:r>
            <a:endParaRPr lang="en-US" dirty="0"/>
          </a:p>
        </p:txBody>
      </p:sp>
      <p:sp>
        <p:nvSpPr>
          <p:cNvPr id="3" name="Content Placeholder 2">
            <a:extLst>
              <a:ext uri="{FF2B5EF4-FFF2-40B4-BE49-F238E27FC236}">
                <a16:creationId xmlns:a16="http://schemas.microsoft.com/office/drawing/2014/main" id="{A8F675DD-51DD-DCCC-C12A-040F8BF1DC60}"/>
              </a:ext>
            </a:extLst>
          </p:cNvPr>
          <p:cNvSpPr>
            <a:spLocks noGrp="1"/>
          </p:cNvSpPr>
          <p:nvPr>
            <p:ph idx="1"/>
          </p:nvPr>
        </p:nvSpPr>
        <p:spPr/>
        <p:txBody>
          <a:bodyPr/>
          <a:lstStyle/>
          <a:p>
            <a:r>
              <a:rPr lang="en-US" altLang="tr-TR" sz="2800" dirty="0">
                <a:latin typeface="+mj-lt"/>
              </a:rPr>
              <a:t>Decoupling request sender and receiver</a:t>
            </a:r>
          </a:p>
          <a:p>
            <a:pPr lvl="1"/>
            <a:r>
              <a:rPr lang="en-US" altLang="tr-TR" sz="2400" dirty="0">
                <a:latin typeface="+mj-lt"/>
              </a:rPr>
              <a:t> </a:t>
            </a:r>
            <a:r>
              <a:rPr lang="en-US" altLang="tr-TR" sz="2400" b="1" dirty="0">
                <a:latin typeface="+mj-lt"/>
              </a:rPr>
              <a:t>Observer </a:t>
            </a:r>
            <a:r>
              <a:rPr lang="en-US" altLang="tr-TR" sz="2400" dirty="0">
                <a:latin typeface="+mj-lt"/>
              </a:rPr>
              <a:t>broadcast</a:t>
            </a:r>
          </a:p>
          <a:p>
            <a:pPr lvl="1"/>
            <a:r>
              <a:rPr lang="en-US" altLang="tr-TR" sz="2400" dirty="0">
                <a:latin typeface="+mj-lt"/>
              </a:rPr>
              <a:t> </a:t>
            </a:r>
            <a:r>
              <a:rPr lang="en-US" altLang="tr-TR" sz="2400" b="1" dirty="0">
                <a:latin typeface="+mj-lt"/>
              </a:rPr>
              <a:t>Mediator </a:t>
            </a:r>
            <a:r>
              <a:rPr lang="en-US" altLang="tr-TR" sz="2400" dirty="0">
                <a:latin typeface="+mj-lt"/>
              </a:rPr>
              <a:t>is centralized communication control</a:t>
            </a:r>
          </a:p>
          <a:p>
            <a:pPr lvl="1"/>
            <a:r>
              <a:rPr lang="en-US" altLang="tr-TR" sz="2400" b="1" dirty="0">
                <a:latin typeface="+mj-lt"/>
              </a:rPr>
              <a:t> </a:t>
            </a:r>
            <a:r>
              <a:rPr lang="en-US" altLang="tr-TR" sz="2400" b="1" dirty="0" err="1">
                <a:latin typeface="+mj-lt"/>
              </a:rPr>
              <a:t>CoR</a:t>
            </a:r>
            <a:r>
              <a:rPr lang="en-US" altLang="tr-TR" sz="2400" b="1" dirty="0">
                <a:latin typeface="+mj-lt"/>
              </a:rPr>
              <a:t> </a:t>
            </a:r>
            <a:r>
              <a:rPr lang="en-US" altLang="tr-TR" sz="2400" dirty="0">
                <a:latin typeface="+mj-lt"/>
              </a:rPr>
              <a:t>sends request down the chain</a:t>
            </a:r>
          </a:p>
          <a:p>
            <a:pPr lvl="1"/>
            <a:r>
              <a:rPr lang="en-US" altLang="tr-TR" sz="2400" b="1" dirty="0">
                <a:latin typeface="+mj-lt"/>
              </a:rPr>
              <a:t>Command, </a:t>
            </a:r>
            <a:r>
              <a:rPr lang="en-US" altLang="tr-TR" sz="2400" dirty="0">
                <a:latin typeface="+mj-lt"/>
              </a:rPr>
              <a:t>invoker is unaware of receiver and the action</a:t>
            </a:r>
          </a:p>
          <a:p>
            <a:r>
              <a:rPr lang="en-US" altLang="tr-TR" sz="2800" b="1" dirty="0">
                <a:latin typeface="+mj-lt"/>
              </a:rPr>
              <a:t>Strategy</a:t>
            </a:r>
            <a:r>
              <a:rPr lang="en-US" altLang="tr-TR" sz="2800" dirty="0">
                <a:latin typeface="+mj-lt"/>
              </a:rPr>
              <a:t> and Command</a:t>
            </a:r>
          </a:p>
          <a:p>
            <a:pPr lvl="1"/>
            <a:r>
              <a:rPr lang="en-US" altLang="tr-TR" sz="2400" dirty="0">
                <a:latin typeface="+mj-lt"/>
              </a:rPr>
              <a:t>use both to parameterize an object with some action.</a:t>
            </a:r>
          </a:p>
          <a:p>
            <a:pPr lvl="1"/>
            <a:r>
              <a:rPr lang="en-US" altLang="tr-TR" sz="2400" dirty="0">
                <a:latin typeface="+mj-lt"/>
              </a:rPr>
              <a:t>Intents! Strategy lets us swap algorithms in a context</a:t>
            </a:r>
          </a:p>
          <a:p>
            <a:pPr lvl="1"/>
            <a:r>
              <a:rPr lang="en-US" altLang="tr-TR" sz="2400" dirty="0">
                <a:latin typeface="+mj-lt"/>
              </a:rPr>
              <a:t>Command converts an operation into an object, puts them into operation queue, make history, undo them</a:t>
            </a:r>
          </a:p>
          <a:p>
            <a:r>
              <a:rPr lang="en-US" altLang="tr-TR" sz="2800" dirty="0">
                <a:latin typeface="+mj-lt"/>
              </a:rPr>
              <a:t>Memento (next)</a:t>
            </a:r>
            <a:endParaRPr lang="tr-TR" altLang="tr-TR" sz="2800" dirty="0">
              <a:latin typeface="+mj-lt"/>
            </a:endParaRPr>
          </a:p>
          <a:p>
            <a:endParaRPr lang="en-US" sz="2800" dirty="0"/>
          </a:p>
        </p:txBody>
      </p:sp>
    </p:spTree>
    <p:extLst>
      <p:ext uri="{BB962C8B-B14F-4D97-AF65-F5344CB8AC3E}">
        <p14:creationId xmlns:p14="http://schemas.microsoft.com/office/powerpoint/2010/main" val="16546363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68D2A4A-C614-76A1-D30B-78AD39D1999E}"/>
              </a:ext>
            </a:extLst>
          </p:cNvPr>
          <p:cNvSpPr>
            <a:spLocks noGrp="1" noChangeArrowheads="1"/>
          </p:cNvSpPr>
          <p:nvPr>
            <p:ph type="title"/>
          </p:nvPr>
        </p:nvSpPr>
        <p:spPr>
          <a:xfrm>
            <a:off x="457200" y="139700"/>
            <a:ext cx="8229600" cy="1371600"/>
          </a:xfrm>
        </p:spPr>
        <p:txBody>
          <a:bodyPr/>
          <a:lstStyle/>
          <a:p>
            <a:r>
              <a:rPr lang="en-US" altLang="tr-TR" dirty="0"/>
              <a:t>Can I undo any command?</a:t>
            </a:r>
            <a:endParaRPr lang="en-GB" altLang="tr-TR" dirty="0"/>
          </a:p>
        </p:txBody>
      </p:sp>
      <p:sp>
        <p:nvSpPr>
          <p:cNvPr id="47107" name="Rectangle 3">
            <a:extLst>
              <a:ext uri="{FF2B5EF4-FFF2-40B4-BE49-F238E27FC236}">
                <a16:creationId xmlns:a16="http://schemas.microsoft.com/office/drawing/2014/main" id="{62777DB4-DEDD-2DF3-9021-069603F10F7A}"/>
              </a:ext>
            </a:extLst>
          </p:cNvPr>
          <p:cNvSpPr>
            <a:spLocks noGrp="1" noChangeArrowheads="1"/>
          </p:cNvSpPr>
          <p:nvPr>
            <p:ph idx="1"/>
          </p:nvPr>
        </p:nvSpPr>
        <p:spPr>
          <a:xfrm>
            <a:off x="457200" y="1335088"/>
            <a:ext cx="8229600" cy="4532312"/>
          </a:xfrm>
        </p:spPr>
        <p:txBody>
          <a:bodyPr/>
          <a:lstStyle/>
          <a:p>
            <a:r>
              <a:rPr lang="en-US" altLang="tr-TR" dirty="0" err="1"/>
              <a:t>PhotoShop</a:t>
            </a:r>
            <a:r>
              <a:rPr lang="en-US" altLang="tr-TR" dirty="0"/>
              <a:t> with a history list on the right</a:t>
            </a:r>
          </a:p>
          <a:p>
            <a:r>
              <a:rPr lang="en-US" altLang="tr-TR" dirty="0"/>
              <a:t>Execution sequence- undo last action</a:t>
            </a:r>
          </a:p>
          <a:p>
            <a:pPr lvl="1"/>
            <a:r>
              <a:rPr lang="en-US" altLang="tr-TR" dirty="0"/>
              <a:t>When </a:t>
            </a:r>
            <a:r>
              <a:rPr lang="en-US" altLang="tr-TR" dirty="0" err="1">
                <a:solidFill>
                  <a:srgbClr val="0070C0"/>
                </a:solidFill>
              </a:rPr>
              <a:t>BlurCommand</a:t>
            </a:r>
            <a:r>
              <a:rPr lang="en-US" altLang="tr-TR" dirty="0"/>
              <a:t> is activated, put it into a stack – keep a history</a:t>
            </a:r>
          </a:p>
          <a:p>
            <a:pPr lvl="1"/>
            <a:r>
              <a:rPr lang="en-US" altLang="tr-TR" dirty="0"/>
              <a:t>After a while, user chooses undo the last operation</a:t>
            </a:r>
          </a:p>
          <a:p>
            <a:pPr lvl="1"/>
            <a:r>
              <a:rPr lang="en-US" altLang="tr-TR" dirty="0" err="1">
                <a:solidFill>
                  <a:srgbClr val="0070C0"/>
                </a:solidFill>
              </a:rPr>
              <a:t>BlurCommand</a:t>
            </a:r>
            <a:r>
              <a:rPr lang="en-US" altLang="tr-TR" dirty="0">
                <a:solidFill>
                  <a:srgbClr val="0070C0"/>
                </a:solidFill>
              </a:rPr>
              <a:t> unexecutes the blurring action</a:t>
            </a:r>
          </a:p>
          <a:p>
            <a:pPr lvl="2"/>
            <a:r>
              <a:rPr lang="en-US" altLang="tr-TR" sz="2800" dirty="0"/>
              <a:t>What? How?</a:t>
            </a:r>
          </a:p>
          <a:p>
            <a:r>
              <a:rPr lang="en-US" sz="2400" dirty="0">
                <a:solidFill>
                  <a:srgbClr val="000000"/>
                </a:solidFill>
                <a:latin typeface="+mj-lt"/>
              </a:rPr>
              <a:t>How to undo irreversible action? </a:t>
            </a:r>
          </a:p>
          <a:p>
            <a:pPr lvl="1"/>
            <a:r>
              <a:rPr lang="en-US" sz="2400" dirty="0">
                <a:solidFill>
                  <a:srgbClr val="000000"/>
                </a:solidFill>
                <a:latin typeface="+mj-lt"/>
              </a:rPr>
              <a:t>Do not support undo; print a message</a:t>
            </a:r>
          </a:p>
          <a:p>
            <a:pPr lvl="1"/>
            <a:r>
              <a:rPr lang="en-US" sz="2400" dirty="0">
                <a:solidFill>
                  <a:srgbClr val="000000"/>
                </a:solidFill>
                <a:latin typeface="+mj-lt"/>
              </a:rPr>
              <a:t>Save the previous image with Memento (next pattern)</a:t>
            </a:r>
            <a:endParaRPr lang="en-US" sz="2400" b="0" i="0" dirty="0">
              <a:solidFill>
                <a:srgbClr val="000000"/>
              </a:solidFill>
              <a:effectLst/>
              <a:latin typeface="+mj-lt"/>
            </a:endParaRPr>
          </a:p>
          <a:p>
            <a:pPr marL="914400" lvl="2" indent="0">
              <a:buNone/>
            </a:pPr>
            <a:endParaRPr lang="en-US" altLang="tr-TR" dirty="0">
              <a:solidFill>
                <a:srgbClr val="0070C0"/>
              </a:solidFill>
            </a:endParaRPr>
          </a:p>
          <a:p>
            <a:pPr marL="0" indent="0">
              <a:lnSpc>
                <a:spcPct val="90000"/>
              </a:lnSpc>
              <a:buNone/>
            </a:pPr>
            <a:endParaRPr lang="en-US" altLang="tr-TR" sz="2400" dirty="0"/>
          </a:p>
        </p:txBody>
      </p:sp>
    </p:spTree>
    <p:extLst>
      <p:ext uri="{BB962C8B-B14F-4D97-AF65-F5344CB8AC3E}">
        <p14:creationId xmlns:p14="http://schemas.microsoft.com/office/powerpoint/2010/main" val="374651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7107">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1B7E93-CCEB-F94E-699F-35C44F2FE160}"/>
              </a:ext>
            </a:extLst>
          </p:cNvPr>
          <p:cNvSpPr>
            <a:spLocks noGrp="1"/>
          </p:cNvSpPr>
          <p:nvPr>
            <p:ph type="title"/>
          </p:nvPr>
        </p:nvSpPr>
        <p:spPr/>
        <p:txBody>
          <a:bodyPr/>
          <a:lstStyle/>
          <a:p>
            <a:r>
              <a:rPr lang="en-US" dirty="0"/>
              <a:t>memento</a:t>
            </a:r>
          </a:p>
        </p:txBody>
      </p:sp>
      <p:sp>
        <p:nvSpPr>
          <p:cNvPr id="5" name="Text Placeholder 4">
            <a:extLst>
              <a:ext uri="{FF2B5EF4-FFF2-40B4-BE49-F238E27FC236}">
                <a16:creationId xmlns:a16="http://schemas.microsoft.com/office/drawing/2014/main" id="{B916B5F1-EB82-8A4C-F53F-5A189E41101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927845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99233394-BE82-2A96-8F03-06BBA2AC6CEB}"/>
              </a:ext>
            </a:extLst>
          </p:cNvPr>
          <p:cNvSpPr>
            <a:spLocks noGrp="1" noChangeArrowheads="1"/>
          </p:cNvSpPr>
          <p:nvPr>
            <p:ph type="title"/>
          </p:nvPr>
        </p:nvSpPr>
        <p:spPr>
          <a:xfrm>
            <a:off x="457200" y="139700"/>
            <a:ext cx="8229600" cy="1371600"/>
          </a:xfrm>
        </p:spPr>
        <p:txBody>
          <a:bodyPr/>
          <a:lstStyle/>
          <a:p>
            <a:r>
              <a:rPr lang="en-GB" altLang="tr-TR" dirty="0"/>
              <a:t>Restoring a previous state</a:t>
            </a:r>
          </a:p>
        </p:txBody>
      </p:sp>
      <p:sp>
        <p:nvSpPr>
          <p:cNvPr id="52227" name="Rectangle 3">
            <a:extLst>
              <a:ext uri="{FF2B5EF4-FFF2-40B4-BE49-F238E27FC236}">
                <a16:creationId xmlns:a16="http://schemas.microsoft.com/office/drawing/2014/main" id="{40FA6045-3089-0B3A-220F-B823569189D2}"/>
              </a:ext>
            </a:extLst>
          </p:cNvPr>
          <p:cNvSpPr>
            <a:spLocks noGrp="1" noChangeArrowheads="1"/>
          </p:cNvSpPr>
          <p:nvPr>
            <p:ph idx="1"/>
          </p:nvPr>
        </p:nvSpPr>
        <p:spPr>
          <a:xfrm>
            <a:off x="457200" y="1335088"/>
            <a:ext cx="8229600" cy="4532312"/>
          </a:xfrm>
        </p:spPr>
        <p:txBody>
          <a:bodyPr/>
          <a:lstStyle/>
          <a:p>
            <a:r>
              <a:rPr lang="en-US" altLang="tr-TR" sz="2800" dirty="0"/>
              <a:t>Undo an irreversible action</a:t>
            </a:r>
          </a:p>
          <a:p>
            <a:pPr lvl="1"/>
            <a:r>
              <a:rPr lang="en-US" altLang="tr-TR" sz="2400" dirty="0"/>
              <a:t>How much information to store about the old state?</a:t>
            </a:r>
          </a:p>
          <a:p>
            <a:pPr lvl="1"/>
            <a:r>
              <a:rPr lang="en-US" altLang="tr-TR" sz="2400" dirty="0"/>
              <a:t>Who creates the info to store?</a:t>
            </a:r>
          </a:p>
          <a:p>
            <a:pPr lvl="1"/>
            <a:r>
              <a:rPr lang="en-US" altLang="tr-TR" sz="2400" dirty="0"/>
              <a:t>Who should store this info for later use? Command?</a:t>
            </a:r>
          </a:p>
          <a:p>
            <a:pPr lvl="1"/>
            <a:r>
              <a:rPr lang="en-US" altLang="tr-TR" sz="2400" dirty="0"/>
              <a:t>How to keep the visibility restrictions of the document intact?</a:t>
            </a:r>
          </a:p>
          <a:p>
            <a:pPr lvl="1"/>
            <a:r>
              <a:rPr lang="en-US" altLang="tr-TR" sz="2400" dirty="0"/>
              <a:t>How would the image restore itself the previous state?</a:t>
            </a:r>
          </a:p>
          <a:p>
            <a:r>
              <a:rPr lang="en-US" altLang="tr-TR" sz="2800" dirty="0"/>
              <a:t>Restore the game to a checkpoint</a:t>
            </a:r>
          </a:p>
          <a:p>
            <a:r>
              <a:rPr lang="en-US" altLang="tr-TR" sz="2800" dirty="0"/>
              <a:t>Restore a repository to one of the previous state</a:t>
            </a:r>
            <a:endParaRPr lang="en-GB" altLang="tr-TR"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CFD3FF28-D314-EE53-C957-1B91BBD73B56}"/>
              </a:ext>
            </a:extLst>
          </p:cNvPr>
          <p:cNvSpPr>
            <a:spLocks noGrp="1" noChangeArrowheads="1"/>
          </p:cNvSpPr>
          <p:nvPr>
            <p:ph type="title"/>
          </p:nvPr>
        </p:nvSpPr>
        <p:spPr>
          <a:xfrm>
            <a:off x="457200" y="139700"/>
            <a:ext cx="8229600" cy="1371600"/>
          </a:xfrm>
        </p:spPr>
        <p:txBody>
          <a:bodyPr/>
          <a:lstStyle/>
          <a:p>
            <a:r>
              <a:rPr lang="en-US" altLang="tr-TR"/>
              <a:t>Memento</a:t>
            </a:r>
            <a:endParaRPr lang="en-GB" altLang="tr-TR"/>
          </a:p>
        </p:txBody>
      </p:sp>
      <p:sp>
        <p:nvSpPr>
          <p:cNvPr id="55299" name="Rectangle 3">
            <a:extLst>
              <a:ext uri="{FF2B5EF4-FFF2-40B4-BE49-F238E27FC236}">
                <a16:creationId xmlns:a16="http://schemas.microsoft.com/office/drawing/2014/main" id="{BA685871-5876-6940-5EE1-B9B81E4C118C}"/>
              </a:ext>
            </a:extLst>
          </p:cNvPr>
          <p:cNvSpPr>
            <a:spLocks noGrp="1" noChangeArrowheads="1"/>
          </p:cNvSpPr>
          <p:nvPr>
            <p:ph idx="1"/>
          </p:nvPr>
        </p:nvSpPr>
        <p:spPr>
          <a:xfrm>
            <a:off x="457200" y="1335088"/>
            <a:ext cx="8229600" cy="4532312"/>
          </a:xfrm>
        </p:spPr>
        <p:txBody>
          <a:bodyPr/>
          <a:lstStyle/>
          <a:p>
            <a:r>
              <a:rPr lang="en-US" altLang="tr-TR" b="1" dirty="0"/>
              <a:t>Intent</a:t>
            </a:r>
          </a:p>
          <a:p>
            <a:pPr>
              <a:buFontTx/>
              <a:buNone/>
            </a:pPr>
            <a:r>
              <a:rPr lang="en-US" altLang="tr-TR" dirty="0"/>
              <a:t>   </a:t>
            </a:r>
            <a:r>
              <a:rPr lang="en-US" altLang="tr-TR" u="sng" dirty="0"/>
              <a:t>Without violating encapsulation</a:t>
            </a:r>
            <a:r>
              <a:rPr lang="en-US" altLang="tr-TR" dirty="0"/>
              <a:t>, capture and </a:t>
            </a:r>
            <a:r>
              <a:rPr lang="en-US" altLang="tr-TR" u="sng" dirty="0"/>
              <a:t>externalize an object’s state</a:t>
            </a:r>
            <a:r>
              <a:rPr lang="en-US" altLang="tr-TR" dirty="0"/>
              <a:t> so that the object can be </a:t>
            </a:r>
            <a:r>
              <a:rPr lang="en-US" altLang="tr-TR" u="sng" dirty="0"/>
              <a:t>restored to this state</a:t>
            </a:r>
            <a:r>
              <a:rPr lang="en-US" altLang="tr-TR" dirty="0"/>
              <a:t> later</a:t>
            </a:r>
          </a:p>
        </p:txBody>
      </p:sp>
    </p:spTree>
    <p:extLst>
      <p:ext uri="{BB962C8B-B14F-4D97-AF65-F5344CB8AC3E}">
        <p14:creationId xmlns:p14="http://schemas.microsoft.com/office/powerpoint/2010/main" val="23579774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4371AD8D-C01D-3493-F88B-97F1D4973975}"/>
              </a:ext>
            </a:extLst>
          </p:cNvPr>
          <p:cNvSpPr>
            <a:spLocks noGrp="1" noChangeArrowheads="1"/>
          </p:cNvSpPr>
          <p:nvPr>
            <p:ph type="title"/>
          </p:nvPr>
        </p:nvSpPr>
        <p:spPr>
          <a:xfrm>
            <a:off x="457200" y="60325"/>
            <a:ext cx="8229600" cy="1371600"/>
          </a:xfrm>
        </p:spPr>
        <p:txBody>
          <a:bodyPr/>
          <a:lstStyle/>
          <a:p>
            <a:r>
              <a:rPr lang="en-US" altLang="tr-TR"/>
              <a:t>Memento - Collaborations</a:t>
            </a:r>
          </a:p>
        </p:txBody>
      </p:sp>
      <p:sp>
        <p:nvSpPr>
          <p:cNvPr id="56323" name="Text Box 3">
            <a:extLst>
              <a:ext uri="{FF2B5EF4-FFF2-40B4-BE49-F238E27FC236}">
                <a16:creationId xmlns:a16="http://schemas.microsoft.com/office/drawing/2014/main" id="{4BDE3E72-975D-A88B-BBC9-D3EE468E3E55}"/>
              </a:ext>
            </a:extLst>
          </p:cNvPr>
          <p:cNvSpPr txBox="1">
            <a:spLocks noChangeArrowheads="1"/>
          </p:cNvSpPr>
          <p:nvPr/>
        </p:nvSpPr>
        <p:spPr bwMode="auto">
          <a:xfrm>
            <a:off x="2383704" y="4005262"/>
            <a:ext cx="1365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restore(m1)</a:t>
            </a:r>
          </a:p>
        </p:txBody>
      </p:sp>
      <p:sp>
        <p:nvSpPr>
          <p:cNvPr id="56324" name="Text Box 4">
            <a:extLst>
              <a:ext uri="{FF2B5EF4-FFF2-40B4-BE49-F238E27FC236}">
                <a16:creationId xmlns:a16="http://schemas.microsoft.com/office/drawing/2014/main" id="{CDA90175-C278-EFA2-5891-C055E2FCD1C1}"/>
              </a:ext>
            </a:extLst>
          </p:cNvPr>
          <p:cNvSpPr txBox="1">
            <a:spLocks noChangeArrowheads="1"/>
          </p:cNvSpPr>
          <p:nvPr/>
        </p:nvSpPr>
        <p:spPr bwMode="auto">
          <a:xfrm>
            <a:off x="4615729" y="2636837"/>
            <a:ext cx="1924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createMemento()</a:t>
            </a:r>
          </a:p>
        </p:txBody>
      </p:sp>
      <p:sp>
        <p:nvSpPr>
          <p:cNvPr id="56325" name="Rectangle 5">
            <a:extLst>
              <a:ext uri="{FF2B5EF4-FFF2-40B4-BE49-F238E27FC236}">
                <a16:creationId xmlns:a16="http://schemas.microsoft.com/office/drawing/2014/main" id="{CDCB6F68-49BB-860C-2DBC-3F9DA90BD8C6}"/>
              </a:ext>
            </a:extLst>
          </p:cNvPr>
          <p:cNvSpPr>
            <a:spLocks noChangeArrowheads="1"/>
          </p:cNvSpPr>
          <p:nvPr/>
        </p:nvSpPr>
        <p:spPr bwMode="auto">
          <a:xfrm>
            <a:off x="1375641" y="1701800"/>
            <a:ext cx="1679575" cy="3921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:CareTaker</a:t>
            </a:r>
          </a:p>
        </p:txBody>
      </p:sp>
      <p:sp>
        <p:nvSpPr>
          <p:cNvPr id="56326" name="Rectangle 6">
            <a:extLst>
              <a:ext uri="{FF2B5EF4-FFF2-40B4-BE49-F238E27FC236}">
                <a16:creationId xmlns:a16="http://schemas.microsoft.com/office/drawing/2014/main" id="{B1A5D4A4-734E-991A-29DC-004DA8AB5C21}"/>
              </a:ext>
            </a:extLst>
          </p:cNvPr>
          <p:cNvSpPr>
            <a:spLocks noChangeArrowheads="1"/>
          </p:cNvSpPr>
          <p:nvPr/>
        </p:nvSpPr>
        <p:spPr bwMode="auto">
          <a:xfrm>
            <a:off x="3752129" y="1701800"/>
            <a:ext cx="1223962" cy="4048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:Originator</a:t>
            </a:r>
          </a:p>
        </p:txBody>
      </p:sp>
      <p:sp>
        <p:nvSpPr>
          <p:cNvPr id="56327" name="Line 7">
            <a:extLst>
              <a:ext uri="{FF2B5EF4-FFF2-40B4-BE49-F238E27FC236}">
                <a16:creationId xmlns:a16="http://schemas.microsoft.com/office/drawing/2014/main" id="{7B9BBE13-ECC9-AD78-063E-915516D7850F}"/>
              </a:ext>
            </a:extLst>
          </p:cNvPr>
          <p:cNvSpPr>
            <a:spLocks noChangeShapeType="1"/>
          </p:cNvSpPr>
          <p:nvPr/>
        </p:nvSpPr>
        <p:spPr bwMode="auto">
          <a:xfrm>
            <a:off x="2167804" y="2133600"/>
            <a:ext cx="0" cy="1655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8" name="Line 8">
            <a:extLst>
              <a:ext uri="{FF2B5EF4-FFF2-40B4-BE49-F238E27FC236}">
                <a16:creationId xmlns:a16="http://schemas.microsoft.com/office/drawing/2014/main" id="{E0EB59FB-3494-B3AF-4D97-617680813D12}"/>
              </a:ext>
            </a:extLst>
          </p:cNvPr>
          <p:cNvSpPr>
            <a:spLocks noChangeShapeType="1"/>
          </p:cNvSpPr>
          <p:nvPr/>
        </p:nvSpPr>
        <p:spPr bwMode="auto">
          <a:xfrm>
            <a:off x="4472854" y="2997200"/>
            <a:ext cx="215900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56329" name="Line 9">
            <a:extLst>
              <a:ext uri="{FF2B5EF4-FFF2-40B4-BE49-F238E27FC236}">
                <a16:creationId xmlns:a16="http://schemas.microsoft.com/office/drawing/2014/main" id="{177AD3B7-6A76-69F8-C23D-3F831793B142}"/>
              </a:ext>
            </a:extLst>
          </p:cNvPr>
          <p:cNvSpPr>
            <a:spLocks noChangeShapeType="1"/>
          </p:cNvSpPr>
          <p:nvPr/>
        </p:nvSpPr>
        <p:spPr bwMode="auto">
          <a:xfrm>
            <a:off x="2383704" y="2709862"/>
            <a:ext cx="1800225"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56330" name="Rectangle 10">
            <a:extLst>
              <a:ext uri="{FF2B5EF4-FFF2-40B4-BE49-F238E27FC236}">
                <a16:creationId xmlns:a16="http://schemas.microsoft.com/office/drawing/2014/main" id="{30595116-0668-665B-AF3C-CDDCC06EDC79}"/>
              </a:ext>
            </a:extLst>
          </p:cNvPr>
          <p:cNvSpPr>
            <a:spLocks noChangeArrowheads="1"/>
          </p:cNvSpPr>
          <p:nvPr/>
        </p:nvSpPr>
        <p:spPr bwMode="auto">
          <a:xfrm>
            <a:off x="2023341" y="2349500"/>
            <a:ext cx="288925" cy="122396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56331" name="Text Box 11">
            <a:extLst>
              <a:ext uri="{FF2B5EF4-FFF2-40B4-BE49-F238E27FC236}">
                <a16:creationId xmlns:a16="http://schemas.microsoft.com/office/drawing/2014/main" id="{1532E331-2FB1-52CE-3838-2ABF3F229880}"/>
              </a:ext>
            </a:extLst>
          </p:cNvPr>
          <p:cNvSpPr txBox="1">
            <a:spLocks noChangeArrowheads="1"/>
          </p:cNvSpPr>
          <p:nvPr/>
        </p:nvSpPr>
        <p:spPr bwMode="auto">
          <a:xfrm>
            <a:off x="4688754" y="4294187"/>
            <a:ext cx="1187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getState()</a:t>
            </a:r>
          </a:p>
        </p:txBody>
      </p:sp>
      <p:sp>
        <p:nvSpPr>
          <p:cNvPr id="56332" name="Line 12">
            <a:extLst>
              <a:ext uri="{FF2B5EF4-FFF2-40B4-BE49-F238E27FC236}">
                <a16:creationId xmlns:a16="http://schemas.microsoft.com/office/drawing/2014/main" id="{F8C55185-0E10-8BFB-61BC-CF39F15F8D9A}"/>
              </a:ext>
            </a:extLst>
          </p:cNvPr>
          <p:cNvSpPr>
            <a:spLocks noChangeShapeType="1"/>
          </p:cNvSpPr>
          <p:nvPr/>
        </p:nvSpPr>
        <p:spPr bwMode="auto">
          <a:xfrm flipH="1">
            <a:off x="2312266" y="4365625"/>
            <a:ext cx="1873250" cy="0"/>
          </a:xfrm>
          <a:prstGeom prst="line">
            <a:avLst/>
          </a:prstGeom>
          <a:noFill/>
          <a:ln w="9525">
            <a:solidFill>
              <a:schemeClr val="tx1"/>
            </a:solidFill>
            <a:round/>
            <a:headEnd type="arrow" w="med" len="med"/>
            <a:tailEnd/>
          </a:ln>
          <a:extLst>
            <a:ext uri="{909E8E84-426E-40DD-AFC4-6F175D3DCCD1}">
              <a14:hiddenFill xmlns:a14="http://schemas.microsoft.com/office/drawing/2010/main">
                <a:noFill/>
              </a14:hiddenFill>
            </a:ext>
          </a:extLst>
        </p:spPr>
        <p:txBody>
          <a:bodyPr/>
          <a:lstStyle/>
          <a:p>
            <a:endParaRPr lang="en-US"/>
          </a:p>
        </p:txBody>
      </p:sp>
      <p:sp>
        <p:nvSpPr>
          <p:cNvPr id="56333" name="Line 13">
            <a:extLst>
              <a:ext uri="{FF2B5EF4-FFF2-40B4-BE49-F238E27FC236}">
                <a16:creationId xmlns:a16="http://schemas.microsoft.com/office/drawing/2014/main" id="{5F2CC225-56F6-AC3A-F203-CD803431F8A2}"/>
              </a:ext>
            </a:extLst>
          </p:cNvPr>
          <p:cNvSpPr>
            <a:spLocks noChangeShapeType="1"/>
          </p:cNvSpPr>
          <p:nvPr/>
        </p:nvSpPr>
        <p:spPr bwMode="auto">
          <a:xfrm>
            <a:off x="4472854" y="4652962"/>
            <a:ext cx="215900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56334" name="Text Box 14">
            <a:extLst>
              <a:ext uri="{FF2B5EF4-FFF2-40B4-BE49-F238E27FC236}">
                <a16:creationId xmlns:a16="http://schemas.microsoft.com/office/drawing/2014/main" id="{DD181C37-CEF2-C48F-A541-192F2EA46B3B}"/>
              </a:ext>
            </a:extLst>
          </p:cNvPr>
          <p:cNvSpPr txBox="1">
            <a:spLocks noChangeArrowheads="1"/>
          </p:cNvSpPr>
          <p:nvPr/>
        </p:nvSpPr>
        <p:spPr bwMode="auto">
          <a:xfrm>
            <a:off x="2528166" y="2343150"/>
            <a:ext cx="1352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saveState()</a:t>
            </a:r>
          </a:p>
        </p:txBody>
      </p:sp>
      <p:sp>
        <p:nvSpPr>
          <p:cNvPr id="56335" name="Line 15">
            <a:extLst>
              <a:ext uri="{FF2B5EF4-FFF2-40B4-BE49-F238E27FC236}">
                <a16:creationId xmlns:a16="http://schemas.microsoft.com/office/drawing/2014/main" id="{7C04A86C-560E-1100-8C11-FA5EC5141240}"/>
              </a:ext>
            </a:extLst>
          </p:cNvPr>
          <p:cNvSpPr>
            <a:spLocks noChangeShapeType="1"/>
          </p:cNvSpPr>
          <p:nvPr/>
        </p:nvSpPr>
        <p:spPr bwMode="auto">
          <a:xfrm flipH="1">
            <a:off x="2312266" y="3286125"/>
            <a:ext cx="1871663" cy="0"/>
          </a:xfrm>
          <a:prstGeom prst="line">
            <a:avLst/>
          </a:prstGeom>
          <a:noFill/>
          <a:ln w="9525">
            <a:solidFill>
              <a:schemeClr val="tx1"/>
            </a:solidFill>
            <a:prstDash val="lgDash"/>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56336" name="Text Box 16">
            <a:extLst>
              <a:ext uri="{FF2B5EF4-FFF2-40B4-BE49-F238E27FC236}">
                <a16:creationId xmlns:a16="http://schemas.microsoft.com/office/drawing/2014/main" id="{9E29B28C-EF32-F8FD-C00C-03C2430C0438}"/>
              </a:ext>
            </a:extLst>
          </p:cNvPr>
          <p:cNvSpPr txBox="1">
            <a:spLocks noChangeArrowheads="1"/>
          </p:cNvSpPr>
          <p:nvPr/>
        </p:nvSpPr>
        <p:spPr bwMode="auto">
          <a:xfrm>
            <a:off x="2672629" y="3213100"/>
            <a:ext cx="50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m1</a:t>
            </a:r>
          </a:p>
        </p:txBody>
      </p:sp>
      <p:sp>
        <p:nvSpPr>
          <p:cNvPr id="56337" name="Line 17">
            <a:extLst>
              <a:ext uri="{FF2B5EF4-FFF2-40B4-BE49-F238E27FC236}">
                <a16:creationId xmlns:a16="http://schemas.microsoft.com/office/drawing/2014/main" id="{600370C0-1856-0AD4-3041-E3AC6BBC0DA9}"/>
              </a:ext>
            </a:extLst>
          </p:cNvPr>
          <p:cNvSpPr>
            <a:spLocks noChangeShapeType="1"/>
          </p:cNvSpPr>
          <p:nvPr/>
        </p:nvSpPr>
        <p:spPr bwMode="auto">
          <a:xfrm flipH="1">
            <a:off x="2023341" y="3789362"/>
            <a:ext cx="217488"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8" name="Line 18">
            <a:extLst>
              <a:ext uri="{FF2B5EF4-FFF2-40B4-BE49-F238E27FC236}">
                <a16:creationId xmlns:a16="http://schemas.microsoft.com/office/drawing/2014/main" id="{B51ABC3B-FA86-6287-2A1C-85C154681E51}"/>
              </a:ext>
            </a:extLst>
          </p:cNvPr>
          <p:cNvSpPr>
            <a:spLocks noChangeShapeType="1"/>
          </p:cNvSpPr>
          <p:nvPr/>
        </p:nvSpPr>
        <p:spPr bwMode="auto">
          <a:xfrm flipH="1">
            <a:off x="2023341" y="3860800"/>
            <a:ext cx="217488"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9" name="Line 19">
            <a:extLst>
              <a:ext uri="{FF2B5EF4-FFF2-40B4-BE49-F238E27FC236}">
                <a16:creationId xmlns:a16="http://schemas.microsoft.com/office/drawing/2014/main" id="{5FEFADC1-9CB8-E561-8EE9-2844C48CAAD4}"/>
              </a:ext>
            </a:extLst>
          </p:cNvPr>
          <p:cNvSpPr>
            <a:spLocks noChangeShapeType="1"/>
          </p:cNvSpPr>
          <p:nvPr/>
        </p:nvSpPr>
        <p:spPr bwMode="auto">
          <a:xfrm>
            <a:off x="2167804" y="3932237"/>
            <a:ext cx="0"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0" name="Rectangle 20">
            <a:extLst>
              <a:ext uri="{FF2B5EF4-FFF2-40B4-BE49-F238E27FC236}">
                <a16:creationId xmlns:a16="http://schemas.microsoft.com/office/drawing/2014/main" id="{A8348D54-E50C-047C-372F-3393A69A8954}"/>
              </a:ext>
            </a:extLst>
          </p:cNvPr>
          <p:cNvSpPr>
            <a:spLocks noChangeArrowheads="1"/>
          </p:cNvSpPr>
          <p:nvPr/>
        </p:nvSpPr>
        <p:spPr bwMode="auto">
          <a:xfrm>
            <a:off x="2023341" y="4221162"/>
            <a:ext cx="288925" cy="93503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56341" name="Line 21">
            <a:extLst>
              <a:ext uri="{FF2B5EF4-FFF2-40B4-BE49-F238E27FC236}">
                <a16:creationId xmlns:a16="http://schemas.microsoft.com/office/drawing/2014/main" id="{17A753A7-81D7-CE94-B941-034FAE7E7A93}"/>
              </a:ext>
            </a:extLst>
          </p:cNvPr>
          <p:cNvSpPr>
            <a:spLocks noChangeShapeType="1"/>
          </p:cNvSpPr>
          <p:nvPr/>
        </p:nvSpPr>
        <p:spPr bwMode="auto">
          <a:xfrm>
            <a:off x="4328391" y="2132012"/>
            <a:ext cx="0"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2" name="Line 22">
            <a:extLst>
              <a:ext uri="{FF2B5EF4-FFF2-40B4-BE49-F238E27FC236}">
                <a16:creationId xmlns:a16="http://schemas.microsoft.com/office/drawing/2014/main" id="{7847EF95-3C6E-7E61-1EE4-3D575057204D}"/>
              </a:ext>
            </a:extLst>
          </p:cNvPr>
          <p:cNvSpPr>
            <a:spLocks noChangeShapeType="1"/>
          </p:cNvSpPr>
          <p:nvPr/>
        </p:nvSpPr>
        <p:spPr bwMode="auto">
          <a:xfrm flipH="1">
            <a:off x="4183929" y="3787775"/>
            <a:ext cx="217487"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3" name="Line 23">
            <a:extLst>
              <a:ext uri="{FF2B5EF4-FFF2-40B4-BE49-F238E27FC236}">
                <a16:creationId xmlns:a16="http://schemas.microsoft.com/office/drawing/2014/main" id="{022F7F37-88C8-AF6B-0816-D9F8804BC303}"/>
              </a:ext>
            </a:extLst>
          </p:cNvPr>
          <p:cNvSpPr>
            <a:spLocks noChangeShapeType="1"/>
          </p:cNvSpPr>
          <p:nvPr/>
        </p:nvSpPr>
        <p:spPr bwMode="auto">
          <a:xfrm flipH="1">
            <a:off x="4183929" y="3859212"/>
            <a:ext cx="217487"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4" name="Line 24">
            <a:extLst>
              <a:ext uri="{FF2B5EF4-FFF2-40B4-BE49-F238E27FC236}">
                <a16:creationId xmlns:a16="http://schemas.microsoft.com/office/drawing/2014/main" id="{F78272A2-A69A-4BF8-80E0-9F66832D6602}"/>
              </a:ext>
            </a:extLst>
          </p:cNvPr>
          <p:cNvSpPr>
            <a:spLocks noChangeShapeType="1"/>
          </p:cNvSpPr>
          <p:nvPr/>
        </p:nvSpPr>
        <p:spPr bwMode="auto">
          <a:xfrm>
            <a:off x="4328391" y="3930650"/>
            <a:ext cx="0" cy="1655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5" name="Line 25">
            <a:extLst>
              <a:ext uri="{FF2B5EF4-FFF2-40B4-BE49-F238E27FC236}">
                <a16:creationId xmlns:a16="http://schemas.microsoft.com/office/drawing/2014/main" id="{35A3A439-6472-BA26-6C8C-0490526E45A1}"/>
              </a:ext>
            </a:extLst>
          </p:cNvPr>
          <p:cNvSpPr>
            <a:spLocks noChangeShapeType="1"/>
          </p:cNvSpPr>
          <p:nvPr/>
        </p:nvSpPr>
        <p:spPr bwMode="auto">
          <a:xfrm>
            <a:off x="6776316" y="2060575"/>
            <a:ext cx="0" cy="1655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6" name="Line 26">
            <a:extLst>
              <a:ext uri="{FF2B5EF4-FFF2-40B4-BE49-F238E27FC236}">
                <a16:creationId xmlns:a16="http://schemas.microsoft.com/office/drawing/2014/main" id="{97FA113F-F246-F66E-A028-EED8DA8F7380}"/>
              </a:ext>
            </a:extLst>
          </p:cNvPr>
          <p:cNvSpPr>
            <a:spLocks noChangeShapeType="1"/>
          </p:cNvSpPr>
          <p:nvPr/>
        </p:nvSpPr>
        <p:spPr bwMode="auto">
          <a:xfrm flipH="1">
            <a:off x="6631854" y="3716337"/>
            <a:ext cx="217487"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7" name="Line 27">
            <a:extLst>
              <a:ext uri="{FF2B5EF4-FFF2-40B4-BE49-F238E27FC236}">
                <a16:creationId xmlns:a16="http://schemas.microsoft.com/office/drawing/2014/main" id="{8B62911F-083A-01B4-EC03-1BC5332090FA}"/>
              </a:ext>
            </a:extLst>
          </p:cNvPr>
          <p:cNvSpPr>
            <a:spLocks noChangeShapeType="1"/>
          </p:cNvSpPr>
          <p:nvPr/>
        </p:nvSpPr>
        <p:spPr bwMode="auto">
          <a:xfrm flipH="1">
            <a:off x="6631854" y="3787775"/>
            <a:ext cx="217487"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8" name="Line 28">
            <a:extLst>
              <a:ext uri="{FF2B5EF4-FFF2-40B4-BE49-F238E27FC236}">
                <a16:creationId xmlns:a16="http://schemas.microsoft.com/office/drawing/2014/main" id="{BAB402D5-6EC5-068E-7AC7-1C63D0A0D16A}"/>
              </a:ext>
            </a:extLst>
          </p:cNvPr>
          <p:cNvSpPr>
            <a:spLocks noChangeShapeType="1"/>
          </p:cNvSpPr>
          <p:nvPr/>
        </p:nvSpPr>
        <p:spPr bwMode="auto">
          <a:xfrm>
            <a:off x="6776316" y="3859212"/>
            <a:ext cx="0"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9" name="Rectangle 29">
            <a:extLst>
              <a:ext uri="{FF2B5EF4-FFF2-40B4-BE49-F238E27FC236}">
                <a16:creationId xmlns:a16="http://schemas.microsoft.com/office/drawing/2014/main" id="{6287C137-4D68-C82E-8CFA-C423B13ADC02}"/>
              </a:ext>
            </a:extLst>
          </p:cNvPr>
          <p:cNvSpPr>
            <a:spLocks noChangeArrowheads="1"/>
          </p:cNvSpPr>
          <p:nvPr/>
        </p:nvSpPr>
        <p:spPr bwMode="auto">
          <a:xfrm>
            <a:off x="5984154" y="1700212"/>
            <a:ext cx="1514475" cy="392113"/>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m1:Memento</a:t>
            </a:r>
          </a:p>
        </p:txBody>
      </p:sp>
      <p:sp>
        <p:nvSpPr>
          <p:cNvPr id="56350" name="Rectangle 30">
            <a:extLst>
              <a:ext uri="{FF2B5EF4-FFF2-40B4-BE49-F238E27FC236}">
                <a16:creationId xmlns:a16="http://schemas.microsoft.com/office/drawing/2014/main" id="{2E05C67C-2F29-5B4D-AA7E-0DCCC98BFC06}"/>
              </a:ext>
            </a:extLst>
          </p:cNvPr>
          <p:cNvSpPr>
            <a:spLocks noChangeArrowheads="1"/>
          </p:cNvSpPr>
          <p:nvPr/>
        </p:nvSpPr>
        <p:spPr bwMode="auto">
          <a:xfrm>
            <a:off x="6631854" y="2781300"/>
            <a:ext cx="288925" cy="5048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56351" name="Rectangle 31">
            <a:extLst>
              <a:ext uri="{FF2B5EF4-FFF2-40B4-BE49-F238E27FC236}">
                <a16:creationId xmlns:a16="http://schemas.microsoft.com/office/drawing/2014/main" id="{9F5AFBF9-FF24-53E4-F517-A066CFAECBB8}"/>
              </a:ext>
            </a:extLst>
          </p:cNvPr>
          <p:cNvSpPr>
            <a:spLocks noChangeArrowheads="1"/>
          </p:cNvSpPr>
          <p:nvPr/>
        </p:nvSpPr>
        <p:spPr bwMode="auto">
          <a:xfrm>
            <a:off x="4183929" y="4294187"/>
            <a:ext cx="288925" cy="71278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56352" name="Rectangle 32">
            <a:extLst>
              <a:ext uri="{FF2B5EF4-FFF2-40B4-BE49-F238E27FC236}">
                <a16:creationId xmlns:a16="http://schemas.microsoft.com/office/drawing/2014/main" id="{79F92698-1530-898D-A913-E5C6A55650DC}"/>
              </a:ext>
            </a:extLst>
          </p:cNvPr>
          <p:cNvSpPr>
            <a:spLocks noChangeArrowheads="1"/>
          </p:cNvSpPr>
          <p:nvPr/>
        </p:nvSpPr>
        <p:spPr bwMode="auto">
          <a:xfrm>
            <a:off x="4183929" y="2493962"/>
            <a:ext cx="288925" cy="93503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56353" name="Rectangle 33">
            <a:extLst>
              <a:ext uri="{FF2B5EF4-FFF2-40B4-BE49-F238E27FC236}">
                <a16:creationId xmlns:a16="http://schemas.microsoft.com/office/drawing/2014/main" id="{63E9BD11-ECA6-E5AD-DDF0-BAFC5650057A}"/>
              </a:ext>
            </a:extLst>
          </p:cNvPr>
          <p:cNvSpPr>
            <a:spLocks noChangeArrowheads="1"/>
          </p:cNvSpPr>
          <p:nvPr/>
        </p:nvSpPr>
        <p:spPr bwMode="auto">
          <a:xfrm>
            <a:off x="6631854" y="4437062"/>
            <a:ext cx="288925" cy="5048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3" name="Action Button: Go Forward or Next 2">
            <a:hlinkClick r:id="rId3" action="ppaction://hlinksldjump" highlightClick="1"/>
            <a:extLst>
              <a:ext uri="{FF2B5EF4-FFF2-40B4-BE49-F238E27FC236}">
                <a16:creationId xmlns:a16="http://schemas.microsoft.com/office/drawing/2014/main" id="{3063A3C1-AE1F-070D-6629-834A5148F75C}"/>
              </a:ext>
            </a:extLst>
          </p:cNvPr>
          <p:cNvSpPr/>
          <p:nvPr/>
        </p:nvSpPr>
        <p:spPr bwMode="auto">
          <a:xfrm>
            <a:off x="8249265" y="294968"/>
            <a:ext cx="437535" cy="245806"/>
          </a:xfrm>
          <a:prstGeom prst="actionButtonForwardNex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4" name="TextBox 3">
            <a:extLst>
              <a:ext uri="{FF2B5EF4-FFF2-40B4-BE49-F238E27FC236}">
                <a16:creationId xmlns:a16="http://schemas.microsoft.com/office/drawing/2014/main" id="{DB3D7EC6-B117-68EE-32BE-036AA971B62C}"/>
              </a:ext>
            </a:extLst>
          </p:cNvPr>
          <p:cNvSpPr txBox="1"/>
          <p:nvPr/>
        </p:nvSpPr>
        <p:spPr>
          <a:xfrm>
            <a:off x="629265" y="6086168"/>
            <a:ext cx="6109365" cy="369332"/>
          </a:xfrm>
          <a:prstGeom prst="rect">
            <a:avLst/>
          </a:prstGeom>
          <a:noFill/>
        </p:spPr>
        <p:txBody>
          <a:bodyPr wrap="none" rtlCol="0">
            <a:spAutoFit/>
          </a:bodyPr>
          <a:lstStyle/>
          <a:p>
            <a:r>
              <a:rPr lang="en-US" dirty="0"/>
              <a:t>The Caretaker holds the Memento, but </a:t>
            </a:r>
            <a:r>
              <a:rPr lang="en-US" i="1" dirty="0"/>
              <a:t>cannot</a:t>
            </a:r>
            <a:r>
              <a:rPr lang="en-US" dirty="0"/>
              <a:t> look inside.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DB7C0258-51A4-451A-29C9-10B06F5C4697}"/>
              </a:ext>
            </a:extLst>
          </p:cNvPr>
          <p:cNvSpPr>
            <a:spLocks noGrp="1" noChangeArrowheads="1"/>
          </p:cNvSpPr>
          <p:nvPr>
            <p:ph type="title"/>
          </p:nvPr>
        </p:nvSpPr>
        <p:spPr>
          <a:xfrm>
            <a:off x="457200" y="139700"/>
            <a:ext cx="8229600" cy="1371600"/>
          </a:xfrm>
        </p:spPr>
        <p:txBody>
          <a:bodyPr/>
          <a:lstStyle/>
          <a:p>
            <a:r>
              <a:rPr lang="en-US" altLang="tr-TR" dirty="0"/>
              <a:t>Memento-Collaborations</a:t>
            </a:r>
          </a:p>
        </p:txBody>
      </p:sp>
      <p:sp>
        <p:nvSpPr>
          <p:cNvPr id="61443" name="Rectangle 3">
            <a:extLst>
              <a:ext uri="{FF2B5EF4-FFF2-40B4-BE49-F238E27FC236}">
                <a16:creationId xmlns:a16="http://schemas.microsoft.com/office/drawing/2014/main" id="{38AE6AC8-D64E-4151-EC91-95BB509FDFA6}"/>
              </a:ext>
            </a:extLst>
          </p:cNvPr>
          <p:cNvSpPr>
            <a:spLocks noGrp="1" noChangeArrowheads="1"/>
          </p:cNvSpPr>
          <p:nvPr>
            <p:ph idx="1"/>
          </p:nvPr>
        </p:nvSpPr>
        <p:spPr>
          <a:xfrm>
            <a:off x="457200" y="1335088"/>
            <a:ext cx="8229600" cy="4532312"/>
          </a:xfrm>
        </p:spPr>
        <p:txBody>
          <a:bodyPr/>
          <a:lstStyle/>
          <a:p>
            <a:pPr>
              <a:spcBef>
                <a:spcPts val="600"/>
              </a:spcBef>
            </a:pPr>
            <a:r>
              <a:rPr lang="en-US" altLang="tr-TR" sz="2800" dirty="0"/>
              <a:t>A backup is requested from an originator,</a:t>
            </a:r>
          </a:p>
          <a:p>
            <a:pPr lvl="1">
              <a:spcBef>
                <a:spcPts val="600"/>
              </a:spcBef>
            </a:pPr>
            <a:r>
              <a:rPr lang="en-US" altLang="tr-TR" sz="2400" dirty="0"/>
              <a:t> a memento object is created,</a:t>
            </a:r>
          </a:p>
          <a:p>
            <a:pPr lvl="1">
              <a:spcBef>
                <a:spcPts val="600"/>
              </a:spcBef>
            </a:pPr>
            <a:r>
              <a:rPr lang="en-US" altLang="tr-TR" sz="2400" dirty="0"/>
              <a:t> populated with the originator’s private information, </a:t>
            </a:r>
          </a:p>
          <a:p>
            <a:pPr lvl="1">
              <a:spcBef>
                <a:spcPts val="600"/>
              </a:spcBef>
            </a:pPr>
            <a:r>
              <a:rPr lang="en-US" altLang="tr-TR" sz="2400" dirty="0"/>
              <a:t>returned to the caretaker. </a:t>
            </a:r>
          </a:p>
          <a:p>
            <a:pPr>
              <a:spcBef>
                <a:spcPts val="600"/>
              </a:spcBef>
            </a:pPr>
            <a:r>
              <a:rPr lang="en-US" altLang="tr-TR" sz="2800" dirty="0"/>
              <a:t>The caretaker cannot view this information</a:t>
            </a:r>
          </a:p>
          <a:p>
            <a:pPr>
              <a:spcBef>
                <a:spcPts val="600"/>
              </a:spcBef>
            </a:pPr>
            <a:r>
              <a:rPr lang="en-US" altLang="tr-TR" sz="2800" dirty="0"/>
              <a:t>Originator and memento classes share information without exposing any of it to other classes </a:t>
            </a:r>
          </a:p>
          <a:p>
            <a:pPr>
              <a:spcBef>
                <a:spcPts val="600"/>
              </a:spcBef>
            </a:pPr>
            <a:r>
              <a:rPr lang="en-US" altLang="tr-TR" sz="2800" dirty="0"/>
              <a:t>Caretaker wants to restore</a:t>
            </a:r>
          </a:p>
          <a:p>
            <a:pPr lvl="1">
              <a:spcBef>
                <a:spcPts val="600"/>
              </a:spcBef>
            </a:pPr>
            <a:r>
              <a:rPr lang="en-US" altLang="tr-TR" sz="2400" dirty="0"/>
              <a:t>return the memento to the originator</a:t>
            </a:r>
          </a:p>
          <a:p>
            <a:pPr lvl="1">
              <a:spcBef>
                <a:spcPts val="600"/>
              </a:spcBef>
            </a:pPr>
            <a:r>
              <a:rPr lang="en-US" altLang="tr-TR" sz="2400" dirty="0"/>
              <a:t>have the originator’s private attributes reset to the earlier state </a:t>
            </a:r>
          </a:p>
        </p:txBody>
      </p:sp>
    </p:spTree>
    <p:extLst>
      <p:ext uri="{BB962C8B-B14F-4D97-AF65-F5344CB8AC3E}">
        <p14:creationId xmlns:p14="http://schemas.microsoft.com/office/powerpoint/2010/main" val="41976710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F47605EB-AEDA-A457-167B-8691B318AAFF}"/>
              </a:ext>
            </a:extLst>
          </p:cNvPr>
          <p:cNvSpPr>
            <a:spLocks noGrp="1" noChangeArrowheads="1"/>
          </p:cNvSpPr>
          <p:nvPr>
            <p:ph type="title"/>
          </p:nvPr>
        </p:nvSpPr>
        <p:spPr/>
        <p:txBody>
          <a:bodyPr/>
          <a:lstStyle/>
          <a:p>
            <a:r>
              <a:rPr lang="en-US" altLang="tr-TR" dirty="0"/>
              <a:t>Restore to a checkpoint</a:t>
            </a:r>
          </a:p>
        </p:txBody>
      </p:sp>
      <p:sp>
        <p:nvSpPr>
          <p:cNvPr id="3" name="Content Placeholder 2">
            <a:extLst>
              <a:ext uri="{FF2B5EF4-FFF2-40B4-BE49-F238E27FC236}">
                <a16:creationId xmlns:a16="http://schemas.microsoft.com/office/drawing/2014/main" id="{92BBF545-3B94-68DF-9E71-166895A9FD50}"/>
              </a:ext>
            </a:extLst>
          </p:cNvPr>
          <p:cNvSpPr>
            <a:spLocks noGrp="1"/>
          </p:cNvSpPr>
          <p:nvPr>
            <p:ph idx="1"/>
          </p:nvPr>
        </p:nvSpPr>
        <p:spPr>
          <a:xfrm>
            <a:off x="457200" y="5829733"/>
            <a:ext cx="8686800" cy="871537"/>
          </a:xfrm>
        </p:spPr>
        <p:txBody>
          <a:bodyPr/>
          <a:lstStyle/>
          <a:p>
            <a:r>
              <a:rPr lang="en-US" altLang="tr-TR" sz="2400" dirty="0"/>
              <a:t>Promote undo or rollback to full object status.</a:t>
            </a:r>
          </a:p>
          <a:p>
            <a:r>
              <a:rPr lang="en-US" altLang="tr-TR" sz="2400" dirty="0"/>
              <a:t>A magic cookie that encapsulates a "check point" capability.</a:t>
            </a:r>
          </a:p>
        </p:txBody>
      </p:sp>
      <p:sp>
        <p:nvSpPr>
          <p:cNvPr id="54275" name="Text Box 3">
            <a:extLst>
              <a:ext uri="{FF2B5EF4-FFF2-40B4-BE49-F238E27FC236}">
                <a16:creationId xmlns:a16="http://schemas.microsoft.com/office/drawing/2014/main" id="{722EE6F0-BC13-607D-F386-23CB4AAD009D}"/>
              </a:ext>
            </a:extLst>
          </p:cNvPr>
          <p:cNvSpPr txBox="1">
            <a:spLocks noChangeArrowheads="1"/>
          </p:cNvSpPr>
          <p:nvPr/>
        </p:nvSpPr>
        <p:spPr bwMode="auto">
          <a:xfrm>
            <a:off x="2328285" y="3894571"/>
            <a:ext cx="1365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restore(m1)</a:t>
            </a:r>
          </a:p>
        </p:txBody>
      </p:sp>
      <p:sp>
        <p:nvSpPr>
          <p:cNvPr id="54276" name="Text Box 4">
            <a:extLst>
              <a:ext uri="{FF2B5EF4-FFF2-40B4-BE49-F238E27FC236}">
                <a16:creationId xmlns:a16="http://schemas.microsoft.com/office/drawing/2014/main" id="{209672C4-CB95-7BBA-006E-2AA6D56544D5}"/>
              </a:ext>
            </a:extLst>
          </p:cNvPr>
          <p:cNvSpPr txBox="1">
            <a:spLocks noChangeArrowheads="1"/>
          </p:cNvSpPr>
          <p:nvPr/>
        </p:nvSpPr>
        <p:spPr bwMode="auto">
          <a:xfrm>
            <a:off x="4560310" y="2526146"/>
            <a:ext cx="1924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createMemento()</a:t>
            </a:r>
          </a:p>
        </p:txBody>
      </p:sp>
      <p:sp>
        <p:nvSpPr>
          <p:cNvPr id="54277" name="Rectangle 5">
            <a:extLst>
              <a:ext uri="{FF2B5EF4-FFF2-40B4-BE49-F238E27FC236}">
                <a16:creationId xmlns:a16="http://schemas.microsoft.com/office/drawing/2014/main" id="{5923C742-A2B7-A256-D717-006AC49035B1}"/>
              </a:ext>
            </a:extLst>
          </p:cNvPr>
          <p:cNvSpPr>
            <a:spLocks noChangeArrowheads="1"/>
          </p:cNvSpPr>
          <p:nvPr/>
        </p:nvSpPr>
        <p:spPr bwMode="auto">
          <a:xfrm>
            <a:off x="1320222" y="1591109"/>
            <a:ext cx="1679575" cy="3921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:UserInterface</a:t>
            </a:r>
          </a:p>
        </p:txBody>
      </p:sp>
      <p:sp>
        <p:nvSpPr>
          <p:cNvPr id="54278" name="Rectangle 6">
            <a:extLst>
              <a:ext uri="{FF2B5EF4-FFF2-40B4-BE49-F238E27FC236}">
                <a16:creationId xmlns:a16="http://schemas.microsoft.com/office/drawing/2014/main" id="{8D0C7D3F-1876-8373-9D7E-169DD7DA4EA4}"/>
              </a:ext>
            </a:extLst>
          </p:cNvPr>
          <p:cNvSpPr>
            <a:spLocks noChangeArrowheads="1"/>
          </p:cNvSpPr>
          <p:nvPr/>
        </p:nvSpPr>
        <p:spPr bwMode="auto">
          <a:xfrm>
            <a:off x="3696710" y="1591109"/>
            <a:ext cx="1223962" cy="40481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:Game</a:t>
            </a:r>
          </a:p>
        </p:txBody>
      </p:sp>
      <p:sp>
        <p:nvSpPr>
          <p:cNvPr id="54279" name="Line 7">
            <a:extLst>
              <a:ext uri="{FF2B5EF4-FFF2-40B4-BE49-F238E27FC236}">
                <a16:creationId xmlns:a16="http://schemas.microsoft.com/office/drawing/2014/main" id="{DF51E525-00C4-E229-BFAD-F2ABC1890BD7}"/>
              </a:ext>
            </a:extLst>
          </p:cNvPr>
          <p:cNvSpPr>
            <a:spLocks noChangeShapeType="1"/>
          </p:cNvSpPr>
          <p:nvPr/>
        </p:nvSpPr>
        <p:spPr bwMode="auto">
          <a:xfrm>
            <a:off x="2112385" y="2022909"/>
            <a:ext cx="0" cy="1655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0" name="Line 9">
            <a:extLst>
              <a:ext uri="{FF2B5EF4-FFF2-40B4-BE49-F238E27FC236}">
                <a16:creationId xmlns:a16="http://schemas.microsoft.com/office/drawing/2014/main" id="{EDEB86C0-BDF3-D1F9-FDB2-853FFFF5C845}"/>
              </a:ext>
            </a:extLst>
          </p:cNvPr>
          <p:cNvSpPr>
            <a:spLocks noChangeShapeType="1"/>
          </p:cNvSpPr>
          <p:nvPr/>
        </p:nvSpPr>
        <p:spPr bwMode="auto">
          <a:xfrm>
            <a:off x="4417435" y="2886509"/>
            <a:ext cx="215900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54281" name="Line 10">
            <a:extLst>
              <a:ext uri="{FF2B5EF4-FFF2-40B4-BE49-F238E27FC236}">
                <a16:creationId xmlns:a16="http://schemas.microsoft.com/office/drawing/2014/main" id="{C0B1CF45-821C-F962-9D50-CD0362676D76}"/>
              </a:ext>
            </a:extLst>
          </p:cNvPr>
          <p:cNvSpPr>
            <a:spLocks noChangeShapeType="1"/>
          </p:cNvSpPr>
          <p:nvPr/>
        </p:nvSpPr>
        <p:spPr bwMode="auto">
          <a:xfrm>
            <a:off x="2328285" y="2599171"/>
            <a:ext cx="1800225"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54282" name="Rectangle 13">
            <a:extLst>
              <a:ext uri="{FF2B5EF4-FFF2-40B4-BE49-F238E27FC236}">
                <a16:creationId xmlns:a16="http://schemas.microsoft.com/office/drawing/2014/main" id="{D3E60A3B-BA17-DB4D-683C-AFC5B69791A9}"/>
              </a:ext>
            </a:extLst>
          </p:cNvPr>
          <p:cNvSpPr>
            <a:spLocks noChangeArrowheads="1"/>
          </p:cNvSpPr>
          <p:nvPr/>
        </p:nvSpPr>
        <p:spPr bwMode="auto">
          <a:xfrm>
            <a:off x="1967922" y="2238809"/>
            <a:ext cx="288925" cy="122396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54283" name="Text Box 15">
            <a:extLst>
              <a:ext uri="{FF2B5EF4-FFF2-40B4-BE49-F238E27FC236}">
                <a16:creationId xmlns:a16="http://schemas.microsoft.com/office/drawing/2014/main" id="{F085E298-3C77-C429-9DA2-B157AB1D178E}"/>
              </a:ext>
            </a:extLst>
          </p:cNvPr>
          <p:cNvSpPr txBox="1">
            <a:spLocks noChangeArrowheads="1"/>
          </p:cNvSpPr>
          <p:nvPr/>
        </p:nvSpPr>
        <p:spPr bwMode="auto">
          <a:xfrm>
            <a:off x="4633335" y="4183496"/>
            <a:ext cx="1187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getState()</a:t>
            </a:r>
          </a:p>
        </p:txBody>
      </p:sp>
      <p:sp>
        <p:nvSpPr>
          <p:cNvPr id="54284" name="Line 16">
            <a:extLst>
              <a:ext uri="{FF2B5EF4-FFF2-40B4-BE49-F238E27FC236}">
                <a16:creationId xmlns:a16="http://schemas.microsoft.com/office/drawing/2014/main" id="{0B3BF875-3C01-1001-20FA-7076806C1CA9}"/>
              </a:ext>
            </a:extLst>
          </p:cNvPr>
          <p:cNvSpPr>
            <a:spLocks noChangeShapeType="1"/>
          </p:cNvSpPr>
          <p:nvPr/>
        </p:nvSpPr>
        <p:spPr bwMode="auto">
          <a:xfrm flipH="1">
            <a:off x="2256847" y="4254934"/>
            <a:ext cx="1873250" cy="0"/>
          </a:xfrm>
          <a:prstGeom prst="line">
            <a:avLst/>
          </a:prstGeom>
          <a:noFill/>
          <a:ln w="9525">
            <a:solidFill>
              <a:schemeClr val="tx1"/>
            </a:solidFill>
            <a:round/>
            <a:headEnd type="arrow" w="med" len="med"/>
            <a:tailEnd/>
          </a:ln>
          <a:extLst>
            <a:ext uri="{909E8E84-426E-40DD-AFC4-6F175D3DCCD1}">
              <a14:hiddenFill xmlns:a14="http://schemas.microsoft.com/office/drawing/2010/main">
                <a:noFill/>
              </a14:hiddenFill>
            </a:ext>
          </a:extLst>
        </p:spPr>
        <p:txBody>
          <a:bodyPr/>
          <a:lstStyle/>
          <a:p>
            <a:endParaRPr lang="en-US"/>
          </a:p>
        </p:txBody>
      </p:sp>
      <p:sp>
        <p:nvSpPr>
          <p:cNvPr id="54285" name="Line 19">
            <a:extLst>
              <a:ext uri="{FF2B5EF4-FFF2-40B4-BE49-F238E27FC236}">
                <a16:creationId xmlns:a16="http://schemas.microsoft.com/office/drawing/2014/main" id="{90010CA7-66E4-715E-4107-12749108CC5E}"/>
              </a:ext>
            </a:extLst>
          </p:cNvPr>
          <p:cNvSpPr>
            <a:spLocks noChangeShapeType="1"/>
          </p:cNvSpPr>
          <p:nvPr/>
        </p:nvSpPr>
        <p:spPr bwMode="auto">
          <a:xfrm>
            <a:off x="4417435" y="4542271"/>
            <a:ext cx="215900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54286" name="Text Box 20">
            <a:extLst>
              <a:ext uri="{FF2B5EF4-FFF2-40B4-BE49-F238E27FC236}">
                <a16:creationId xmlns:a16="http://schemas.microsoft.com/office/drawing/2014/main" id="{17AEA856-06C5-A595-92EB-B75A711CB64F}"/>
              </a:ext>
            </a:extLst>
          </p:cNvPr>
          <p:cNvSpPr txBox="1">
            <a:spLocks noChangeArrowheads="1"/>
          </p:cNvSpPr>
          <p:nvPr/>
        </p:nvSpPr>
        <p:spPr bwMode="auto">
          <a:xfrm>
            <a:off x="2472747" y="2232459"/>
            <a:ext cx="17491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err="1"/>
              <a:t>saveProgress</a:t>
            </a:r>
            <a:r>
              <a:rPr lang="en-US" altLang="tr-TR" sz="1800" dirty="0"/>
              <a:t>()</a:t>
            </a:r>
          </a:p>
        </p:txBody>
      </p:sp>
      <p:sp>
        <p:nvSpPr>
          <p:cNvPr id="54287" name="Line 23">
            <a:extLst>
              <a:ext uri="{FF2B5EF4-FFF2-40B4-BE49-F238E27FC236}">
                <a16:creationId xmlns:a16="http://schemas.microsoft.com/office/drawing/2014/main" id="{BFEDDB98-5E3A-03D0-8BD0-934BB3CC7035}"/>
              </a:ext>
            </a:extLst>
          </p:cNvPr>
          <p:cNvSpPr>
            <a:spLocks noChangeShapeType="1"/>
          </p:cNvSpPr>
          <p:nvPr/>
        </p:nvSpPr>
        <p:spPr bwMode="auto">
          <a:xfrm flipH="1">
            <a:off x="2256847" y="3175434"/>
            <a:ext cx="1871663" cy="0"/>
          </a:xfrm>
          <a:prstGeom prst="line">
            <a:avLst/>
          </a:prstGeom>
          <a:noFill/>
          <a:ln w="9525">
            <a:solidFill>
              <a:schemeClr val="tx1"/>
            </a:solidFill>
            <a:prstDash val="lgDash"/>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54288" name="Text Box 24">
            <a:extLst>
              <a:ext uri="{FF2B5EF4-FFF2-40B4-BE49-F238E27FC236}">
                <a16:creationId xmlns:a16="http://schemas.microsoft.com/office/drawing/2014/main" id="{167FA6A6-F6D4-99A5-17D2-2ACE31488DCF}"/>
              </a:ext>
            </a:extLst>
          </p:cNvPr>
          <p:cNvSpPr txBox="1">
            <a:spLocks noChangeArrowheads="1"/>
          </p:cNvSpPr>
          <p:nvPr/>
        </p:nvSpPr>
        <p:spPr bwMode="auto">
          <a:xfrm>
            <a:off x="2617210" y="3102409"/>
            <a:ext cx="50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m1</a:t>
            </a:r>
          </a:p>
        </p:txBody>
      </p:sp>
      <p:sp>
        <p:nvSpPr>
          <p:cNvPr id="54289" name="Line 27">
            <a:extLst>
              <a:ext uri="{FF2B5EF4-FFF2-40B4-BE49-F238E27FC236}">
                <a16:creationId xmlns:a16="http://schemas.microsoft.com/office/drawing/2014/main" id="{778AB900-DD87-DAC4-4A50-C8FB66CB6578}"/>
              </a:ext>
            </a:extLst>
          </p:cNvPr>
          <p:cNvSpPr>
            <a:spLocks noChangeShapeType="1"/>
          </p:cNvSpPr>
          <p:nvPr/>
        </p:nvSpPr>
        <p:spPr bwMode="auto">
          <a:xfrm flipH="1">
            <a:off x="1967922" y="3678671"/>
            <a:ext cx="217488"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0" name="Line 28">
            <a:extLst>
              <a:ext uri="{FF2B5EF4-FFF2-40B4-BE49-F238E27FC236}">
                <a16:creationId xmlns:a16="http://schemas.microsoft.com/office/drawing/2014/main" id="{D18FD6CF-C609-FB4C-D601-1777A60C1B80}"/>
              </a:ext>
            </a:extLst>
          </p:cNvPr>
          <p:cNvSpPr>
            <a:spLocks noChangeShapeType="1"/>
          </p:cNvSpPr>
          <p:nvPr/>
        </p:nvSpPr>
        <p:spPr bwMode="auto">
          <a:xfrm flipH="1">
            <a:off x="1967922" y="3750109"/>
            <a:ext cx="217488"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1" name="Line 29">
            <a:extLst>
              <a:ext uri="{FF2B5EF4-FFF2-40B4-BE49-F238E27FC236}">
                <a16:creationId xmlns:a16="http://schemas.microsoft.com/office/drawing/2014/main" id="{3F90BDF7-CF06-BF5D-9581-3B8AFD7208D6}"/>
              </a:ext>
            </a:extLst>
          </p:cNvPr>
          <p:cNvSpPr>
            <a:spLocks noChangeShapeType="1"/>
          </p:cNvSpPr>
          <p:nvPr/>
        </p:nvSpPr>
        <p:spPr bwMode="auto">
          <a:xfrm>
            <a:off x="2112385" y="3821546"/>
            <a:ext cx="0"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2" name="Rectangle 26">
            <a:extLst>
              <a:ext uri="{FF2B5EF4-FFF2-40B4-BE49-F238E27FC236}">
                <a16:creationId xmlns:a16="http://schemas.microsoft.com/office/drawing/2014/main" id="{A0479BB4-BFE6-21C6-BE97-927D08D59AFC}"/>
              </a:ext>
            </a:extLst>
          </p:cNvPr>
          <p:cNvSpPr>
            <a:spLocks noChangeArrowheads="1"/>
          </p:cNvSpPr>
          <p:nvPr/>
        </p:nvSpPr>
        <p:spPr bwMode="auto">
          <a:xfrm>
            <a:off x="1967922" y="4110471"/>
            <a:ext cx="288925" cy="93503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54293" name="Line 30">
            <a:extLst>
              <a:ext uri="{FF2B5EF4-FFF2-40B4-BE49-F238E27FC236}">
                <a16:creationId xmlns:a16="http://schemas.microsoft.com/office/drawing/2014/main" id="{C3E52071-E04B-26CE-DCFC-B1C9A0FFD8C3}"/>
              </a:ext>
            </a:extLst>
          </p:cNvPr>
          <p:cNvSpPr>
            <a:spLocks noChangeShapeType="1"/>
          </p:cNvSpPr>
          <p:nvPr/>
        </p:nvSpPr>
        <p:spPr bwMode="auto">
          <a:xfrm>
            <a:off x="4272972" y="2021321"/>
            <a:ext cx="0"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4" name="Line 31">
            <a:extLst>
              <a:ext uri="{FF2B5EF4-FFF2-40B4-BE49-F238E27FC236}">
                <a16:creationId xmlns:a16="http://schemas.microsoft.com/office/drawing/2014/main" id="{9F01B203-BB7E-D5B1-8760-ADBCB3C800C0}"/>
              </a:ext>
            </a:extLst>
          </p:cNvPr>
          <p:cNvSpPr>
            <a:spLocks noChangeShapeType="1"/>
          </p:cNvSpPr>
          <p:nvPr/>
        </p:nvSpPr>
        <p:spPr bwMode="auto">
          <a:xfrm flipH="1">
            <a:off x="4128510" y="3677084"/>
            <a:ext cx="217487"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5" name="Line 32">
            <a:extLst>
              <a:ext uri="{FF2B5EF4-FFF2-40B4-BE49-F238E27FC236}">
                <a16:creationId xmlns:a16="http://schemas.microsoft.com/office/drawing/2014/main" id="{1DFE39E5-E1EF-90DF-8A44-D0BBE2C99960}"/>
              </a:ext>
            </a:extLst>
          </p:cNvPr>
          <p:cNvSpPr>
            <a:spLocks noChangeShapeType="1"/>
          </p:cNvSpPr>
          <p:nvPr/>
        </p:nvSpPr>
        <p:spPr bwMode="auto">
          <a:xfrm flipH="1">
            <a:off x="4128510" y="3748521"/>
            <a:ext cx="217487"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6" name="Line 33">
            <a:extLst>
              <a:ext uri="{FF2B5EF4-FFF2-40B4-BE49-F238E27FC236}">
                <a16:creationId xmlns:a16="http://schemas.microsoft.com/office/drawing/2014/main" id="{B1618DEE-217E-D729-8C7F-314E6F80AA68}"/>
              </a:ext>
            </a:extLst>
          </p:cNvPr>
          <p:cNvSpPr>
            <a:spLocks noChangeShapeType="1"/>
          </p:cNvSpPr>
          <p:nvPr/>
        </p:nvSpPr>
        <p:spPr bwMode="auto">
          <a:xfrm>
            <a:off x="4272972" y="3819959"/>
            <a:ext cx="0" cy="1655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7" name="Line 34">
            <a:extLst>
              <a:ext uri="{FF2B5EF4-FFF2-40B4-BE49-F238E27FC236}">
                <a16:creationId xmlns:a16="http://schemas.microsoft.com/office/drawing/2014/main" id="{B1F53CAC-10A4-8F80-0FA2-46513DF80396}"/>
              </a:ext>
            </a:extLst>
          </p:cNvPr>
          <p:cNvSpPr>
            <a:spLocks noChangeShapeType="1"/>
          </p:cNvSpPr>
          <p:nvPr/>
        </p:nvSpPr>
        <p:spPr bwMode="auto">
          <a:xfrm>
            <a:off x="6720897" y="1949884"/>
            <a:ext cx="0" cy="1655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8" name="Line 35">
            <a:extLst>
              <a:ext uri="{FF2B5EF4-FFF2-40B4-BE49-F238E27FC236}">
                <a16:creationId xmlns:a16="http://schemas.microsoft.com/office/drawing/2014/main" id="{B199EE0D-584B-ABA6-BAD0-D30792D24DC2}"/>
              </a:ext>
            </a:extLst>
          </p:cNvPr>
          <p:cNvSpPr>
            <a:spLocks noChangeShapeType="1"/>
          </p:cNvSpPr>
          <p:nvPr/>
        </p:nvSpPr>
        <p:spPr bwMode="auto">
          <a:xfrm flipH="1">
            <a:off x="6576435" y="3605646"/>
            <a:ext cx="217487"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9" name="Line 36">
            <a:extLst>
              <a:ext uri="{FF2B5EF4-FFF2-40B4-BE49-F238E27FC236}">
                <a16:creationId xmlns:a16="http://schemas.microsoft.com/office/drawing/2014/main" id="{6F7D7B04-B831-8A21-CE25-F16101EE716E}"/>
              </a:ext>
            </a:extLst>
          </p:cNvPr>
          <p:cNvSpPr>
            <a:spLocks noChangeShapeType="1"/>
          </p:cNvSpPr>
          <p:nvPr/>
        </p:nvSpPr>
        <p:spPr bwMode="auto">
          <a:xfrm flipH="1">
            <a:off x="6576435" y="3677084"/>
            <a:ext cx="217487" cy="142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0" name="Line 37">
            <a:extLst>
              <a:ext uri="{FF2B5EF4-FFF2-40B4-BE49-F238E27FC236}">
                <a16:creationId xmlns:a16="http://schemas.microsoft.com/office/drawing/2014/main" id="{69D349AC-D63C-4BBF-BF46-FAF4CBD2BD2A}"/>
              </a:ext>
            </a:extLst>
          </p:cNvPr>
          <p:cNvSpPr>
            <a:spLocks noChangeShapeType="1"/>
          </p:cNvSpPr>
          <p:nvPr/>
        </p:nvSpPr>
        <p:spPr bwMode="auto">
          <a:xfrm>
            <a:off x="6720897" y="3748521"/>
            <a:ext cx="0"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1" name="Rectangle 8">
            <a:extLst>
              <a:ext uri="{FF2B5EF4-FFF2-40B4-BE49-F238E27FC236}">
                <a16:creationId xmlns:a16="http://schemas.microsoft.com/office/drawing/2014/main" id="{D4A9818E-BB43-E187-0C4F-A1E12417EF13}"/>
              </a:ext>
            </a:extLst>
          </p:cNvPr>
          <p:cNvSpPr>
            <a:spLocks noChangeArrowheads="1"/>
          </p:cNvSpPr>
          <p:nvPr/>
        </p:nvSpPr>
        <p:spPr bwMode="auto">
          <a:xfrm>
            <a:off x="5928735" y="1589521"/>
            <a:ext cx="1514475" cy="392113"/>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m1:Memento</a:t>
            </a:r>
          </a:p>
        </p:txBody>
      </p:sp>
      <p:sp>
        <p:nvSpPr>
          <p:cNvPr id="54302" name="Rectangle 14">
            <a:extLst>
              <a:ext uri="{FF2B5EF4-FFF2-40B4-BE49-F238E27FC236}">
                <a16:creationId xmlns:a16="http://schemas.microsoft.com/office/drawing/2014/main" id="{91CE26FD-8DF6-B15F-D10D-31DC46A54731}"/>
              </a:ext>
            </a:extLst>
          </p:cNvPr>
          <p:cNvSpPr>
            <a:spLocks noChangeArrowheads="1"/>
          </p:cNvSpPr>
          <p:nvPr/>
        </p:nvSpPr>
        <p:spPr bwMode="auto">
          <a:xfrm>
            <a:off x="6576435" y="2670609"/>
            <a:ext cx="288925" cy="5048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54303" name="Rectangle 17">
            <a:extLst>
              <a:ext uri="{FF2B5EF4-FFF2-40B4-BE49-F238E27FC236}">
                <a16:creationId xmlns:a16="http://schemas.microsoft.com/office/drawing/2014/main" id="{21726F49-4D68-2BF8-543B-C4880903921A}"/>
              </a:ext>
            </a:extLst>
          </p:cNvPr>
          <p:cNvSpPr>
            <a:spLocks noChangeArrowheads="1"/>
          </p:cNvSpPr>
          <p:nvPr/>
        </p:nvSpPr>
        <p:spPr bwMode="auto">
          <a:xfrm>
            <a:off x="4128510" y="4183496"/>
            <a:ext cx="288925" cy="71278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54304" name="Rectangle 18">
            <a:extLst>
              <a:ext uri="{FF2B5EF4-FFF2-40B4-BE49-F238E27FC236}">
                <a16:creationId xmlns:a16="http://schemas.microsoft.com/office/drawing/2014/main" id="{8DC8D52B-AF0D-F314-89BB-55111838663E}"/>
              </a:ext>
            </a:extLst>
          </p:cNvPr>
          <p:cNvSpPr>
            <a:spLocks noChangeArrowheads="1"/>
          </p:cNvSpPr>
          <p:nvPr/>
        </p:nvSpPr>
        <p:spPr bwMode="auto">
          <a:xfrm>
            <a:off x="4128510" y="2383271"/>
            <a:ext cx="288925" cy="93503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54305" name="Rectangle 25">
            <a:extLst>
              <a:ext uri="{FF2B5EF4-FFF2-40B4-BE49-F238E27FC236}">
                <a16:creationId xmlns:a16="http://schemas.microsoft.com/office/drawing/2014/main" id="{0AEC08BD-465F-E7E6-6952-59048916F60E}"/>
              </a:ext>
            </a:extLst>
          </p:cNvPr>
          <p:cNvSpPr>
            <a:spLocks noChangeArrowheads="1"/>
          </p:cNvSpPr>
          <p:nvPr/>
        </p:nvSpPr>
        <p:spPr bwMode="auto">
          <a:xfrm>
            <a:off x="6576435" y="4326371"/>
            <a:ext cx="288925" cy="5048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99233394-BE82-2A96-8F03-06BBA2AC6CEB}"/>
              </a:ext>
            </a:extLst>
          </p:cNvPr>
          <p:cNvSpPr>
            <a:spLocks noGrp="1" noChangeArrowheads="1"/>
          </p:cNvSpPr>
          <p:nvPr>
            <p:ph type="title"/>
          </p:nvPr>
        </p:nvSpPr>
        <p:spPr>
          <a:xfrm>
            <a:off x="457200" y="139700"/>
            <a:ext cx="8229600" cy="1371600"/>
          </a:xfrm>
        </p:spPr>
        <p:txBody>
          <a:bodyPr/>
          <a:lstStyle/>
          <a:p>
            <a:r>
              <a:rPr lang="en-GB" altLang="tr-TR" dirty="0"/>
              <a:t>Memento Answers  </a:t>
            </a:r>
          </a:p>
        </p:txBody>
      </p:sp>
      <p:sp>
        <p:nvSpPr>
          <p:cNvPr id="52227" name="Rectangle 3">
            <a:extLst>
              <a:ext uri="{FF2B5EF4-FFF2-40B4-BE49-F238E27FC236}">
                <a16:creationId xmlns:a16="http://schemas.microsoft.com/office/drawing/2014/main" id="{40FA6045-3089-0B3A-220F-B823569189D2}"/>
              </a:ext>
            </a:extLst>
          </p:cNvPr>
          <p:cNvSpPr>
            <a:spLocks noGrp="1" noChangeArrowheads="1"/>
          </p:cNvSpPr>
          <p:nvPr>
            <p:ph idx="1"/>
          </p:nvPr>
        </p:nvSpPr>
        <p:spPr>
          <a:xfrm>
            <a:off x="457200" y="1335088"/>
            <a:ext cx="8229600" cy="4532312"/>
          </a:xfrm>
        </p:spPr>
        <p:txBody>
          <a:bodyPr/>
          <a:lstStyle/>
          <a:p>
            <a:r>
              <a:rPr lang="en-US" altLang="tr-TR" sz="2400" dirty="0"/>
              <a:t>How much information to store about the old state?</a:t>
            </a:r>
          </a:p>
          <a:p>
            <a:pPr>
              <a:buFont typeface="Wingdings" panose="05000000000000000000" pitchFamily="2" charset="2"/>
              <a:buChar char="Ø"/>
            </a:pPr>
            <a:r>
              <a:rPr lang="en-US" altLang="tr-TR" sz="2400" dirty="0"/>
              <a:t>Originator, the object itself knows best what it needs to restore back.</a:t>
            </a:r>
          </a:p>
          <a:p>
            <a:r>
              <a:rPr lang="en-US" altLang="tr-TR" sz="2400" dirty="0"/>
              <a:t>Who creates the info to store, i.e. the Memento?</a:t>
            </a:r>
          </a:p>
          <a:p>
            <a:pPr>
              <a:buFont typeface="Wingdings" panose="05000000000000000000" pitchFamily="2" charset="2"/>
              <a:buChar char="Ø"/>
            </a:pPr>
            <a:r>
              <a:rPr lang="en-US" altLang="tr-TR" sz="2400" dirty="0"/>
              <a:t>Originator creates the Memento. Originator puts its confidential information inside the Memento </a:t>
            </a:r>
          </a:p>
          <a:p>
            <a:r>
              <a:rPr lang="en-US" altLang="tr-TR" sz="2400" dirty="0"/>
              <a:t>Who should store this info for later use?</a:t>
            </a:r>
          </a:p>
          <a:p>
            <a:pPr>
              <a:buFont typeface="Wingdings" panose="05000000000000000000" pitchFamily="2" charset="2"/>
              <a:buChar char="Ø"/>
            </a:pPr>
            <a:r>
              <a:rPr lang="en-US" altLang="tr-TR" sz="2400" dirty="0"/>
              <a:t> Just like in games and code repositories, we need a caretaker. Database, file, dictionary, etc.</a:t>
            </a:r>
          </a:p>
          <a:p>
            <a:r>
              <a:rPr lang="en-US" altLang="tr-TR" sz="2400" dirty="0"/>
              <a:t>How to keep the visibility restrictions of the document intact?</a:t>
            </a:r>
          </a:p>
          <a:p>
            <a:r>
              <a:rPr lang="en-US" altLang="tr-TR" sz="2400" dirty="0"/>
              <a:t>How would the Originator restore itself the previous state?</a:t>
            </a:r>
          </a:p>
        </p:txBody>
      </p:sp>
    </p:spTree>
    <p:extLst>
      <p:ext uri="{BB962C8B-B14F-4D97-AF65-F5344CB8AC3E}">
        <p14:creationId xmlns:p14="http://schemas.microsoft.com/office/powerpoint/2010/main" val="1941700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66AA2D50-D30C-F443-97E2-81F463D2CD81}"/>
              </a:ext>
            </a:extLst>
          </p:cNvPr>
          <p:cNvSpPr>
            <a:spLocks noGrp="1" noChangeArrowheads="1"/>
          </p:cNvSpPr>
          <p:nvPr>
            <p:ph type="title"/>
          </p:nvPr>
        </p:nvSpPr>
        <p:spPr/>
        <p:txBody>
          <a:bodyPr/>
          <a:lstStyle/>
          <a:p>
            <a:r>
              <a:rPr lang="en-GB" altLang="tr-TR" dirty="0"/>
              <a:t>Design Forces</a:t>
            </a:r>
          </a:p>
        </p:txBody>
      </p:sp>
      <p:sp>
        <p:nvSpPr>
          <p:cNvPr id="58371" name="Rectangle 3">
            <a:extLst>
              <a:ext uri="{FF2B5EF4-FFF2-40B4-BE49-F238E27FC236}">
                <a16:creationId xmlns:a16="http://schemas.microsoft.com/office/drawing/2014/main" id="{40986A81-224B-38B8-E438-D624649DC27C}"/>
              </a:ext>
            </a:extLst>
          </p:cNvPr>
          <p:cNvSpPr>
            <a:spLocks noGrp="1" noChangeArrowheads="1"/>
          </p:cNvSpPr>
          <p:nvPr>
            <p:ph idx="1"/>
          </p:nvPr>
        </p:nvSpPr>
        <p:spPr/>
        <p:txBody>
          <a:bodyPr/>
          <a:lstStyle/>
          <a:p>
            <a:r>
              <a:rPr lang="en-US" altLang="tr-TR" dirty="0"/>
              <a:t>Do not violate encapsulation!</a:t>
            </a:r>
          </a:p>
          <a:p>
            <a:pPr lvl="1"/>
            <a:r>
              <a:rPr lang="en-US" altLang="tr-TR" dirty="0"/>
              <a:t>Originator’s state is stored in a memento</a:t>
            </a:r>
          </a:p>
          <a:p>
            <a:pPr lvl="1"/>
            <a:r>
              <a:rPr lang="en-US" altLang="tr-TR" b="1" i="1" dirty="0"/>
              <a:t>Only</a:t>
            </a:r>
            <a:r>
              <a:rPr lang="en-US" altLang="tr-TR" dirty="0"/>
              <a:t> the originator should be able to see the internal information</a:t>
            </a:r>
          </a:p>
          <a:p>
            <a:pPr lvl="1"/>
            <a:endParaRPr lang="en-US" altLang="tr-TR" dirty="0"/>
          </a:p>
          <a:p>
            <a:r>
              <a:rPr lang="en-US" altLang="tr-TR" dirty="0"/>
              <a:t>When the caretaker wants to restore</a:t>
            </a:r>
          </a:p>
          <a:p>
            <a:pPr lvl="1"/>
            <a:r>
              <a:rPr lang="en-US" altLang="tr-TR" dirty="0"/>
              <a:t>Return the memento to the originator</a:t>
            </a:r>
          </a:p>
          <a:p>
            <a:pPr lvl="1"/>
            <a:r>
              <a:rPr lang="en-US" altLang="tr-TR" dirty="0"/>
              <a:t>Originator sets it state back  </a:t>
            </a:r>
          </a:p>
          <a:p>
            <a:pPr lvl="1"/>
            <a:r>
              <a:rPr lang="en-US" altLang="tr-TR" dirty="0"/>
              <a:t>Caretaker </a:t>
            </a:r>
            <a:r>
              <a:rPr lang="en-US" altLang="tr-TR" i="1" dirty="0"/>
              <a:t>cannot</a:t>
            </a:r>
            <a:r>
              <a:rPr lang="en-US" altLang="tr-TR" dirty="0"/>
              <a:t> see/examine the memento’s internals</a:t>
            </a:r>
            <a:endParaRPr lang="en-GB" altLang="tr-T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0086F73A-8973-87A4-042D-C6ECCE1456D0}"/>
              </a:ext>
            </a:extLst>
          </p:cNvPr>
          <p:cNvSpPr>
            <a:spLocks noGrp="1" noChangeArrowheads="1"/>
          </p:cNvSpPr>
          <p:nvPr>
            <p:ph type="title"/>
          </p:nvPr>
        </p:nvSpPr>
        <p:spPr>
          <a:xfrm>
            <a:off x="457199" y="139700"/>
            <a:ext cx="8603673" cy="1371600"/>
          </a:xfrm>
        </p:spPr>
        <p:txBody>
          <a:bodyPr/>
          <a:lstStyle/>
          <a:p>
            <a:r>
              <a:rPr lang="en-US" altLang="tr-TR" dirty="0"/>
              <a:t>How not to break encapsulation?</a:t>
            </a:r>
            <a:endParaRPr lang="en-GB" altLang="tr-TR" dirty="0"/>
          </a:p>
        </p:txBody>
      </p:sp>
      <p:sp>
        <p:nvSpPr>
          <p:cNvPr id="59395" name="Rectangle 3">
            <a:extLst>
              <a:ext uri="{FF2B5EF4-FFF2-40B4-BE49-F238E27FC236}">
                <a16:creationId xmlns:a16="http://schemas.microsoft.com/office/drawing/2014/main" id="{FEABCF98-8CBA-5A90-57F5-14FE8606137C}"/>
              </a:ext>
            </a:extLst>
          </p:cNvPr>
          <p:cNvSpPr>
            <a:spLocks noGrp="1" noChangeArrowheads="1"/>
          </p:cNvSpPr>
          <p:nvPr>
            <p:ph idx="1"/>
          </p:nvPr>
        </p:nvSpPr>
        <p:spPr>
          <a:xfrm>
            <a:off x="457200" y="1335088"/>
            <a:ext cx="8229600" cy="4532312"/>
          </a:xfrm>
        </p:spPr>
        <p:txBody>
          <a:bodyPr/>
          <a:lstStyle/>
          <a:p>
            <a:r>
              <a:rPr lang="en-US" altLang="tr-TR" sz="2800" dirty="0"/>
              <a:t>Memento has two interfaces. </a:t>
            </a:r>
            <a:endParaRPr lang="en-GB" altLang="tr-TR" sz="2800" dirty="0"/>
          </a:p>
          <a:p>
            <a:pPr lvl="1"/>
            <a:r>
              <a:rPr lang="en-GB" altLang="tr-TR" sz="2400" dirty="0"/>
              <a:t>Wide interface for originator</a:t>
            </a:r>
          </a:p>
          <a:p>
            <a:pPr lvl="2"/>
            <a:r>
              <a:rPr lang="en-GB" altLang="tr-TR" sz="2000" dirty="0"/>
              <a:t>Getter methods or access to fields </a:t>
            </a:r>
          </a:p>
          <a:p>
            <a:pPr lvl="1"/>
            <a:r>
              <a:rPr lang="en-GB" altLang="tr-TR" sz="2400" dirty="0"/>
              <a:t>Narrow interface for everyone else</a:t>
            </a:r>
          </a:p>
          <a:p>
            <a:pPr lvl="2"/>
            <a:r>
              <a:rPr lang="en-US" altLang="tr-TR" sz="2000" dirty="0"/>
              <a:t>Private Getter methods and fields</a:t>
            </a:r>
          </a:p>
          <a:p>
            <a:r>
              <a:rPr lang="en-US" altLang="tr-TR" sz="2800" dirty="0"/>
              <a:t>C++ friends keyword makes it easy</a:t>
            </a:r>
          </a:p>
          <a:p>
            <a:pPr lvl="1"/>
            <a:r>
              <a:rPr lang="en-US" altLang="tr-TR" sz="2400" dirty="0"/>
              <a:t>Caretaker sees the memento interface that expose no information</a:t>
            </a:r>
          </a:p>
          <a:p>
            <a:pPr lvl="1"/>
            <a:r>
              <a:rPr lang="en-US" altLang="tr-TR" sz="2400" dirty="0"/>
              <a:t>Originator is a “friend” of memento</a:t>
            </a:r>
          </a:p>
          <a:p>
            <a:r>
              <a:rPr lang="en-US" altLang="tr-TR" sz="2800" dirty="0"/>
              <a:t>In Java, a little complicated…</a:t>
            </a:r>
          </a:p>
          <a:p>
            <a:r>
              <a:rPr lang="en-US" sz="2800" dirty="0"/>
              <a:t>BAD: public methods and 'hoping' no one misuses the memento.</a:t>
            </a:r>
            <a:endParaRPr lang="en-GB" altLang="tr-TR" sz="2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2">
            <a:extLst>
              <a:ext uri="{FF2B5EF4-FFF2-40B4-BE49-F238E27FC236}">
                <a16:creationId xmlns:a16="http://schemas.microsoft.com/office/drawing/2014/main" id="{D2FECBAF-E48C-69E6-4756-281A016B0982}"/>
              </a:ext>
            </a:extLst>
          </p:cNvPr>
          <p:cNvSpPr>
            <a:spLocks noGrp="1" noChangeArrowheads="1"/>
          </p:cNvSpPr>
          <p:nvPr>
            <p:ph type="title"/>
          </p:nvPr>
        </p:nvSpPr>
        <p:spPr>
          <a:xfrm>
            <a:off x="457200" y="139700"/>
            <a:ext cx="8229600" cy="1371600"/>
          </a:xfrm>
        </p:spPr>
        <p:txBody>
          <a:bodyPr/>
          <a:lstStyle/>
          <a:p>
            <a:r>
              <a:rPr lang="en-US" altLang="tr-TR" sz="4000" dirty="0"/>
              <a:t>Originator is a friend of Memento</a:t>
            </a:r>
            <a:endParaRPr lang="tr-TR" altLang="tr-TR" sz="4000" dirty="0"/>
          </a:p>
        </p:txBody>
      </p:sp>
      <p:sp>
        <p:nvSpPr>
          <p:cNvPr id="57347" name="Content Placeholder 3">
            <a:extLst>
              <a:ext uri="{FF2B5EF4-FFF2-40B4-BE49-F238E27FC236}">
                <a16:creationId xmlns:a16="http://schemas.microsoft.com/office/drawing/2014/main" id="{2765AEC3-10D3-F893-CD04-8AF88ABE3887}"/>
              </a:ext>
            </a:extLst>
          </p:cNvPr>
          <p:cNvSpPr>
            <a:spLocks noGrp="1" noChangeArrowheads="1"/>
          </p:cNvSpPr>
          <p:nvPr>
            <p:ph idx="1"/>
          </p:nvPr>
        </p:nvSpPr>
        <p:spPr>
          <a:xfrm>
            <a:off x="457200" y="1335088"/>
            <a:ext cx="8229600" cy="4532312"/>
          </a:xfrm>
        </p:spPr>
        <p:txBody>
          <a:bodyPr/>
          <a:lstStyle/>
          <a:p>
            <a:pPr marL="0" indent="0">
              <a:buNone/>
            </a:pPr>
            <a:r>
              <a:rPr lang="tr-TR" altLang="tr-TR" sz="2200" dirty="0">
                <a:latin typeface="Source Sans Pro" panose="020B0503030403020204" pitchFamily="34" charset="0"/>
                <a:ea typeface="Source Sans Pro" panose="020B0503030403020204" pitchFamily="34" charset="0"/>
              </a:rPr>
              <a:t>    </a:t>
            </a:r>
            <a:r>
              <a:rPr lang="tr-TR" altLang="tr-TR" sz="2200" b="1" dirty="0" err="1">
                <a:latin typeface="Source Sans Pro" panose="020B0503030403020204" pitchFamily="34" charset="0"/>
                <a:ea typeface="Source Sans Pro" panose="020B0503030403020204" pitchFamily="34" charset="0"/>
              </a:rPr>
              <a:t>class</a:t>
            </a:r>
            <a:r>
              <a:rPr lang="tr-TR" altLang="tr-TR" sz="2200" dirty="0">
                <a:latin typeface="Source Sans Pro" panose="020B0503030403020204" pitchFamily="34" charset="0"/>
                <a:ea typeface="Source Sans Pro" panose="020B0503030403020204" pitchFamily="34" charset="0"/>
              </a:rPr>
              <a:t> </a:t>
            </a:r>
            <a:r>
              <a:rPr lang="tr-TR" altLang="tr-TR" sz="2200" b="1" dirty="0" err="1">
                <a:latin typeface="Source Sans Pro" panose="020B0503030403020204" pitchFamily="34" charset="0"/>
                <a:ea typeface="Source Sans Pro" panose="020B0503030403020204" pitchFamily="34" charset="0"/>
              </a:rPr>
              <a:t>Memento</a:t>
            </a:r>
            <a:r>
              <a:rPr lang="tr-TR" altLang="tr-TR" sz="2200" dirty="0">
                <a:latin typeface="Source Sans Pro" panose="020B0503030403020204" pitchFamily="34" charset="0"/>
                <a:ea typeface="Source Sans Pro" panose="020B0503030403020204" pitchFamily="34" charset="0"/>
              </a:rPr>
              <a:t> {</a:t>
            </a:r>
          </a:p>
          <a:p>
            <a:pPr marL="0" indent="0">
              <a:buNone/>
            </a:pPr>
            <a:r>
              <a:rPr lang="tr-TR" altLang="tr-TR" sz="2200" dirty="0">
                <a:latin typeface="Source Sans Pro" panose="020B0503030403020204" pitchFamily="34" charset="0"/>
                <a:ea typeface="Source Sans Pro" panose="020B0503030403020204" pitchFamily="34" charset="0"/>
              </a:rPr>
              <a:t>    </a:t>
            </a:r>
            <a:r>
              <a:rPr lang="tr-TR" altLang="tr-TR" sz="2200" b="1" dirty="0" err="1">
                <a:latin typeface="Source Sans Pro" panose="020B0503030403020204" pitchFamily="34" charset="0"/>
                <a:ea typeface="Source Sans Pro" panose="020B0503030403020204" pitchFamily="34" charset="0"/>
              </a:rPr>
              <a:t>public</a:t>
            </a:r>
            <a:r>
              <a:rPr lang="tr-TR" altLang="tr-TR" sz="2200" dirty="0">
                <a:latin typeface="Source Sans Pro" panose="020B0503030403020204" pitchFamily="34" charset="0"/>
                <a:ea typeface="Source Sans Pro" panose="020B0503030403020204" pitchFamily="34" charset="0"/>
              </a:rPr>
              <a:t>:</a:t>
            </a:r>
          </a:p>
          <a:p>
            <a:pPr marL="0" indent="0">
              <a:buNone/>
            </a:pPr>
            <a:r>
              <a:rPr lang="tr-TR" altLang="tr-TR" sz="2200" dirty="0">
                <a:latin typeface="Source Sans Pro" panose="020B0503030403020204" pitchFamily="34" charset="0"/>
                <a:ea typeface="Source Sans Pro" panose="020B0503030403020204" pitchFamily="34" charset="0"/>
              </a:rPr>
              <a:t>        </a:t>
            </a:r>
            <a:r>
              <a:rPr lang="tr-TR" altLang="tr-TR" sz="2200" dirty="0">
                <a:solidFill>
                  <a:srgbClr val="0070C0"/>
                </a:solidFill>
                <a:latin typeface="Source Sans Pro" panose="020B0503030403020204" pitchFamily="34" charset="0"/>
                <a:ea typeface="Source Sans Pro" panose="020B0503030403020204" pitchFamily="34" charset="0"/>
              </a:rPr>
              <a:t>// </a:t>
            </a:r>
            <a:r>
              <a:rPr lang="tr-TR" altLang="tr-TR" sz="2200" dirty="0" err="1">
                <a:solidFill>
                  <a:srgbClr val="0070C0"/>
                </a:solidFill>
                <a:latin typeface="Source Sans Pro" panose="020B0503030403020204" pitchFamily="34" charset="0"/>
                <a:ea typeface="Source Sans Pro" panose="020B0503030403020204" pitchFamily="34" charset="0"/>
              </a:rPr>
              <a:t>narrow</a:t>
            </a:r>
            <a:r>
              <a:rPr lang="tr-TR" altLang="tr-TR" sz="2200" dirty="0">
                <a:solidFill>
                  <a:srgbClr val="0070C0"/>
                </a:solidFill>
                <a:latin typeface="Source Sans Pro" panose="020B0503030403020204" pitchFamily="34" charset="0"/>
                <a:ea typeface="Source Sans Pro" panose="020B0503030403020204" pitchFamily="34" charset="0"/>
              </a:rPr>
              <a:t> </a:t>
            </a:r>
            <a:r>
              <a:rPr lang="tr-TR" altLang="tr-TR" sz="2200" dirty="0" err="1">
                <a:solidFill>
                  <a:srgbClr val="0070C0"/>
                </a:solidFill>
                <a:latin typeface="Source Sans Pro" panose="020B0503030403020204" pitchFamily="34" charset="0"/>
                <a:ea typeface="Source Sans Pro" panose="020B0503030403020204" pitchFamily="34" charset="0"/>
              </a:rPr>
              <a:t>public</a:t>
            </a:r>
            <a:r>
              <a:rPr lang="tr-TR" altLang="tr-TR" sz="2200" dirty="0">
                <a:solidFill>
                  <a:srgbClr val="0070C0"/>
                </a:solidFill>
                <a:latin typeface="Source Sans Pro" panose="020B0503030403020204" pitchFamily="34" charset="0"/>
                <a:ea typeface="Source Sans Pro" panose="020B0503030403020204" pitchFamily="34" charset="0"/>
              </a:rPr>
              <a:t> </a:t>
            </a:r>
            <a:r>
              <a:rPr lang="tr-TR" altLang="tr-TR" sz="2200" dirty="0" err="1">
                <a:solidFill>
                  <a:srgbClr val="0070C0"/>
                </a:solidFill>
                <a:latin typeface="Source Sans Pro" panose="020B0503030403020204" pitchFamily="34" charset="0"/>
                <a:ea typeface="Source Sans Pro" panose="020B0503030403020204" pitchFamily="34" charset="0"/>
              </a:rPr>
              <a:t>interface</a:t>
            </a:r>
            <a:r>
              <a:rPr lang="en-US" altLang="tr-TR" sz="2200" dirty="0">
                <a:solidFill>
                  <a:srgbClr val="0070C0"/>
                </a:solidFill>
                <a:latin typeface="Source Sans Pro" panose="020B0503030403020204" pitchFamily="34" charset="0"/>
                <a:ea typeface="Source Sans Pro" panose="020B0503030403020204" pitchFamily="34" charset="0"/>
              </a:rPr>
              <a:t>. Zero service.</a:t>
            </a:r>
            <a:endParaRPr lang="tr-TR" altLang="tr-TR" sz="2200" dirty="0">
              <a:solidFill>
                <a:srgbClr val="0070C0"/>
              </a:solidFill>
              <a:latin typeface="Source Sans Pro" panose="020B0503030403020204" pitchFamily="34" charset="0"/>
              <a:ea typeface="Source Sans Pro" panose="020B0503030403020204" pitchFamily="34" charset="0"/>
            </a:endParaRPr>
          </a:p>
          <a:p>
            <a:pPr marL="0" indent="0">
              <a:buNone/>
            </a:pPr>
            <a:r>
              <a:rPr lang="tr-TR" altLang="tr-TR" sz="2200" dirty="0">
                <a:latin typeface="Source Sans Pro" panose="020B0503030403020204" pitchFamily="34" charset="0"/>
                <a:ea typeface="Source Sans Pro" panose="020B0503030403020204" pitchFamily="34" charset="0"/>
              </a:rPr>
              <a:t>        </a:t>
            </a:r>
            <a:r>
              <a:rPr lang="tr-TR" altLang="tr-TR" sz="2200" dirty="0" err="1">
                <a:latin typeface="Source Sans Pro" panose="020B0503030403020204" pitchFamily="34" charset="0"/>
                <a:ea typeface="Source Sans Pro" panose="020B0503030403020204" pitchFamily="34" charset="0"/>
              </a:rPr>
              <a:t>virtual</a:t>
            </a:r>
            <a:r>
              <a:rPr lang="tr-TR" altLang="tr-TR" sz="2200" dirty="0">
                <a:latin typeface="Source Sans Pro" panose="020B0503030403020204" pitchFamily="34" charset="0"/>
                <a:ea typeface="Source Sans Pro" panose="020B0503030403020204" pitchFamily="34" charset="0"/>
              </a:rPr>
              <a:t> ~</a:t>
            </a:r>
            <a:r>
              <a:rPr lang="tr-TR" altLang="tr-TR" sz="2200" dirty="0" err="1">
                <a:latin typeface="Source Sans Pro" panose="020B0503030403020204" pitchFamily="34" charset="0"/>
                <a:ea typeface="Source Sans Pro" panose="020B0503030403020204" pitchFamily="34" charset="0"/>
              </a:rPr>
              <a:t>Memento</a:t>
            </a:r>
            <a:r>
              <a:rPr lang="tr-TR" altLang="tr-TR" sz="2200" dirty="0">
                <a:latin typeface="Source Sans Pro" panose="020B0503030403020204" pitchFamily="34" charset="0"/>
                <a:ea typeface="Source Sans Pro" panose="020B0503030403020204" pitchFamily="34" charset="0"/>
              </a:rPr>
              <a:t>();</a:t>
            </a:r>
          </a:p>
          <a:p>
            <a:pPr marL="0" indent="0">
              <a:buNone/>
            </a:pPr>
            <a:r>
              <a:rPr lang="tr-TR" altLang="tr-TR" sz="2200" dirty="0">
                <a:latin typeface="Source Sans Pro" panose="020B0503030403020204" pitchFamily="34" charset="0"/>
                <a:ea typeface="Source Sans Pro" panose="020B0503030403020204" pitchFamily="34" charset="0"/>
              </a:rPr>
              <a:t>    </a:t>
            </a:r>
            <a:r>
              <a:rPr lang="tr-TR" altLang="tr-TR" sz="2200" b="1" dirty="0" err="1">
                <a:latin typeface="Source Sans Pro" panose="020B0503030403020204" pitchFamily="34" charset="0"/>
                <a:ea typeface="Source Sans Pro" panose="020B0503030403020204" pitchFamily="34" charset="0"/>
              </a:rPr>
              <a:t>private</a:t>
            </a:r>
            <a:r>
              <a:rPr lang="tr-TR" altLang="tr-TR" sz="2200" dirty="0">
                <a:latin typeface="Source Sans Pro" panose="020B0503030403020204" pitchFamily="34" charset="0"/>
                <a:ea typeface="Source Sans Pro" panose="020B0503030403020204" pitchFamily="34" charset="0"/>
              </a:rPr>
              <a:t>:</a:t>
            </a:r>
          </a:p>
          <a:p>
            <a:pPr marL="0" indent="0">
              <a:buNone/>
            </a:pPr>
            <a:r>
              <a:rPr lang="tr-TR" altLang="tr-TR" sz="2200" dirty="0">
                <a:latin typeface="Source Sans Pro" panose="020B0503030403020204" pitchFamily="34" charset="0"/>
                <a:ea typeface="Source Sans Pro" panose="020B0503030403020204" pitchFamily="34" charset="0"/>
              </a:rPr>
              <a:t>        </a:t>
            </a:r>
            <a:r>
              <a:rPr lang="tr-TR" altLang="tr-TR" sz="2200" dirty="0">
                <a:solidFill>
                  <a:srgbClr val="0070C0"/>
                </a:solidFill>
                <a:latin typeface="Source Sans Pro" panose="020B0503030403020204" pitchFamily="34" charset="0"/>
                <a:ea typeface="Source Sans Pro" panose="020B0503030403020204" pitchFamily="34" charset="0"/>
              </a:rPr>
              <a:t>// </a:t>
            </a:r>
            <a:r>
              <a:rPr lang="tr-TR" altLang="tr-TR" sz="2200" dirty="0" err="1">
                <a:solidFill>
                  <a:schemeClr val="bg2"/>
                </a:solidFill>
                <a:latin typeface="Source Sans Pro" panose="020B0503030403020204" pitchFamily="34" charset="0"/>
                <a:ea typeface="Source Sans Pro" panose="020B0503030403020204" pitchFamily="34" charset="0"/>
              </a:rPr>
              <a:t>private</a:t>
            </a:r>
            <a:r>
              <a:rPr lang="tr-TR" altLang="tr-TR" sz="2200" dirty="0">
                <a:solidFill>
                  <a:schemeClr val="bg2"/>
                </a:solidFill>
                <a:latin typeface="Source Sans Pro" panose="020B0503030403020204" pitchFamily="34" charset="0"/>
                <a:ea typeface="Source Sans Pro" panose="020B0503030403020204" pitchFamily="34" charset="0"/>
              </a:rPr>
              <a:t> </a:t>
            </a:r>
            <a:r>
              <a:rPr lang="tr-TR" altLang="tr-TR" sz="2200" dirty="0" err="1">
                <a:solidFill>
                  <a:schemeClr val="bg2"/>
                </a:solidFill>
                <a:latin typeface="Source Sans Pro" panose="020B0503030403020204" pitchFamily="34" charset="0"/>
                <a:ea typeface="Source Sans Pro" panose="020B0503030403020204" pitchFamily="34" charset="0"/>
              </a:rPr>
              <a:t>members</a:t>
            </a:r>
            <a:r>
              <a:rPr lang="tr-TR" altLang="tr-TR" sz="2200" dirty="0">
                <a:solidFill>
                  <a:schemeClr val="bg2"/>
                </a:solidFill>
                <a:latin typeface="Source Sans Pro" panose="020B0503030403020204" pitchFamily="34" charset="0"/>
                <a:ea typeface="Source Sans Pro" panose="020B0503030403020204" pitchFamily="34" charset="0"/>
              </a:rPr>
              <a:t> </a:t>
            </a:r>
            <a:r>
              <a:rPr lang="tr-TR" altLang="tr-TR" sz="2200" dirty="0" err="1">
                <a:solidFill>
                  <a:schemeClr val="bg2"/>
                </a:solidFill>
                <a:latin typeface="Source Sans Pro" panose="020B0503030403020204" pitchFamily="34" charset="0"/>
                <a:ea typeface="Source Sans Pro" panose="020B0503030403020204" pitchFamily="34" charset="0"/>
              </a:rPr>
              <a:t>accessible</a:t>
            </a:r>
            <a:r>
              <a:rPr lang="tr-TR" altLang="tr-TR" sz="2200" dirty="0">
                <a:solidFill>
                  <a:schemeClr val="bg2"/>
                </a:solidFill>
                <a:latin typeface="Source Sans Pro" panose="020B0503030403020204" pitchFamily="34" charset="0"/>
                <a:ea typeface="Source Sans Pro" panose="020B0503030403020204" pitchFamily="34" charset="0"/>
              </a:rPr>
              <a:t> </a:t>
            </a:r>
            <a:r>
              <a:rPr lang="tr-TR" altLang="tr-TR" sz="2200" dirty="0" err="1">
                <a:solidFill>
                  <a:schemeClr val="bg2"/>
                </a:solidFill>
                <a:latin typeface="Source Sans Pro" panose="020B0503030403020204" pitchFamily="34" charset="0"/>
                <a:ea typeface="Source Sans Pro" panose="020B0503030403020204" pitchFamily="34" charset="0"/>
              </a:rPr>
              <a:t>only</a:t>
            </a:r>
            <a:r>
              <a:rPr lang="tr-TR" altLang="tr-TR" sz="2200" dirty="0">
                <a:solidFill>
                  <a:schemeClr val="bg2"/>
                </a:solidFill>
                <a:latin typeface="Source Sans Pro" panose="020B0503030403020204" pitchFamily="34" charset="0"/>
                <a:ea typeface="Source Sans Pro" panose="020B0503030403020204" pitchFamily="34" charset="0"/>
              </a:rPr>
              <a:t> </a:t>
            </a:r>
            <a:r>
              <a:rPr lang="tr-TR" altLang="tr-TR" sz="2200" dirty="0" err="1">
                <a:solidFill>
                  <a:schemeClr val="bg2"/>
                </a:solidFill>
                <a:latin typeface="Source Sans Pro" panose="020B0503030403020204" pitchFamily="34" charset="0"/>
                <a:ea typeface="Source Sans Pro" panose="020B0503030403020204" pitchFamily="34" charset="0"/>
              </a:rPr>
              <a:t>to</a:t>
            </a:r>
            <a:r>
              <a:rPr lang="tr-TR" altLang="tr-TR" sz="2200" dirty="0">
                <a:solidFill>
                  <a:schemeClr val="bg2"/>
                </a:solidFill>
                <a:latin typeface="Source Sans Pro" panose="020B0503030403020204" pitchFamily="34" charset="0"/>
                <a:ea typeface="Source Sans Pro" panose="020B0503030403020204" pitchFamily="34" charset="0"/>
              </a:rPr>
              <a:t> </a:t>
            </a:r>
            <a:r>
              <a:rPr lang="tr-TR" altLang="tr-TR" sz="2200" dirty="0" err="1">
                <a:solidFill>
                  <a:schemeClr val="bg2"/>
                </a:solidFill>
                <a:latin typeface="Source Sans Pro" panose="020B0503030403020204" pitchFamily="34" charset="0"/>
                <a:ea typeface="Source Sans Pro" panose="020B0503030403020204" pitchFamily="34" charset="0"/>
              </a:rPr>
              <a:t>Originator</a:t>
            </a:r>
            <a:endParaRPr lang="tr-TR" altLang="tr-TR" sz="2200" dirty="0">
              <a:solidFill>
                <a:schemeClr val="bg2"/>
              </a:solidFill>
              <a:latin typeface="Source Sans Pro" panose="020B0503030403020204" pitchFamily="34" charset="0"/>
              <a:ea typeface="Source Sans Pro" panose="020B0503030403020204" pitchFamily="34" charset="0"/>
            </a:endParaRPr>
          </a:p>
          <a:p>
            <a:pPr marL="0" indent="0">
              <a:buNone/>
            </a:pPr>
            <a:r>
              <a:rPr lang="tr-TR" altLang="tr-TR" sz="2200" dirty="0">
                <a:solidFill>
                  <a:schemeClr val="bg2"/>
                </a:solidFill>
                <a:latin typeface="Source Sans Pro" panose="020B0503030403020204" pitchFamily="34" charset="0"/>
                <a:ea typeface="Source Sans Pro" panose="020B0503030403020204" pitchFamily="34" charset="0"/>
              </a:rPr>
              <a:t>        </a:t>
            </a:r>
            <a:r>
              <a:rPr lang="tr-TR" altLang="tr-TR" sz="2200" b="1" dirty="0" err="1">
                <a:solidFill>
                  <a:schemeClr val="bg2"/>
                </a:solidFill>
                <a:latin typeface="Source Sans Pro" panose="020B0503030403020204" pitchFamily="34" charset="0"/>
                <a:ea typeface="Source Sans Pro" panose="020B0503030403020204" pitchFamily="34" charset="0"/>
              </a:rPr>
              <a:t>friend</a:t>
            </a:r>
            <a:r>
              <a:rPr lang="tr-TR" altLang="tr-TR" sz="2200" dirty="0">
                <a:solidFill>
                  <a:schemeClr val="bg2"/>
                </a:solidFill>
                <a:latin typeface="Source Sans Pro" panose="020B0503030403020204" pitchFamily="34" charset="0"/>
                <a:ea typeface="Source Sans Pro" panose="020B0503030403020204" pitchFamily="34" charset="0"/>
              </a:rPr>
              <a:t> </a:t>
            </a:r>
            <a:r>
              <a:rPr lang="tr-TR" altLang="tr-TR" sz="2200" dirty="0" err="1">
                <a:solidFill>
                  <a:schemeClr val="bg2"/>
                </a:solidFill>
                <a:latin typeface="Source Sans Pro" panose="020B0503030403020204" pitchFamily="34" charset="0"/>
                <a:ea typeface="Source Sans Pro" panose="020B0503030403020204" pitchFamily="34" charset="0"/>
              </a:rPr>
              <a:t>class</a:t>
            </a:r>
            <a:r>
              <a:rPr lang="tr-TR" altLang="tr-TR" sz="2200" dirty="0">
                <a:solidFill>
                  <a:schemeClr val="bg2"/>
                </a:solidFill>
                <a:latin typeface="Source Sans Pro" panose="020B0503030403020204" pitchFamily="34" charset="0"/>
                <a:ea typeface="Source Sans Pro" panose="020B0503030403020204" pitchFamily="34" charset="0"/>
              </a:rPr>
              <a:t> </a:t>
            </a:r>
            <a:r>
              <a:rPr lang="tr-TR" altLang="tr-TR" sz="2200" dirty="0" err="1">
                <a:solidFill>
                  <a:schemeClr val="bg2"/>
                </a:solidFill>
                <a:latin typeface="Source Sans Pro" panose="020B0503030403020204" pitchFamily="34" charset="0"/>
                <a:ea typeface="Source Sans Pro" panose="020B0503030403020204" pitchFamily="34" charset="0"/>
              </a:rPr>
              <a:t>Originator</a:t>
            </a:r>
            <a:r>
              <a:rPr lang="tr-TR" altLang="tr-TR" sz="2200" dirty="0">
                <a:solidFill>
                  <a:schemeClr val="bg2"/>
                </a:solidFill>
                <a:latin typeface="Source Sans Pro" panose="020B0503030403020204" pitchFamily="34" charset="0"/>
                <a:ea typeface="Source Sans Pro" panose="020B0503030403020204" pitchFamily="34" charset="0"/>
              </a:rPr>
              <a:t>;</a:t>
            </a:r>
          </a:p>
          <a:p>
            <a:pPr marL="0" indent="0">
              <a:buNone/>
            </a:pPr>
            <a:r>
              <a:rPr lang="tr-TR" altLang="tr-TR" sz="2200" dirty="0">
                <a:solidFill>
                  <a:schemeClr val="bg2"/>
                </a:solidFill>
                <a:latin typeface="Source Sans Pro" panose="020B0503030403020204" pitchFamily="34" charset="0"/>
                <a:ea typeface="Source Sans Pro" panose="020B0503030403020204" pitchFamily="34" charset="0"/>
              </a:rPr>
              <a:t>        </a:t>
            </a:r>
            <a:r>
              <a:rPr lang="tr-TR" altLang="tr-TR" sz="2200" b="1" dirty="0">
                <a:latin typeface="Source Sans Pro" panose="020B0503030403020204" pitchFamily="34" charset="0"/>
                <a:ea typeface="Source Sans Pro" panose="020B0503030403020204" pitchFamily="34" charset="0"/>
              </a:rPr>
              <a:t>Memento();</a:t>
            </a:r>
            <a:r>
              <a:rPr lang="en-US" altLang="tr-TR" sz="2200" dirty="0">
                <a:latin typeface="Source Sans Pro" panose="020B0503030403020204" pitchFamily="34" charset="0"/>
                <a:ea typeface="Source Sans Pro" panose="020B0503030403020204" pitchFamily="34" charset="0"/>
              </a:rPr>
              <a:t> //nobody else should create a memento</a:t>
            </a:r>
            <a:endParaRPr lang="tr-TR" altLang="tr-TR" sz="2200" dirty="0">
              <a:latin typeface="Source Sans Pro" panose="020B0503030403020204" pitchFamily="34" charset="0"/>
              <a:ea typeface="Source Sans Pro" panose="020B0503030403020204" pitchFamily="34" charset="0"/>
            </a:endParaRPr>
          </a:p>
          <a:p>
            <a:pPr marL="0" indent="0">
              <a:buNone/>
            </a:pPr>
            <a:r>
              <a:rPr lang="tr-TR" altLang="tr-TR" sz="2200" dirty="0">
                <a:latin typeface="Source Sans Pro" panose="020B0503030403020204" pitchFamily="34" charset="0"/>
                <a:ea typeface="Source Sans Pro" panose="020B0503030403020204" pitchFamily="34" charset="0"/>
              </a:rPr>
              <a:t>    </a:t>
            </a:r>
            <a:r>
              <a:rPr lang="en-US" altLang="tr-TR" sz="2200" dirty="0">
                <a:latin typeface="Source Sans Pro" panose="020B0503030403020204" pitchFamily="34" charset="0"/>
                <a:ea typeface="Source Sans Pro" panose="020B0503030403020204" pitchFamily="34" charset="0"/>
              </a:rPr>
              <a:t>    //setter and getters for attributes that helps originator to restore</a:t>
            </a:r>
            <a:endParaRPr lang="tr-TR" altLang="tr-TR" sz="2200" dirty="0">
              <a:latin typeface="Source Sans Pro" panose="020B0503030403020204" pitchFamily="34" charset="0"/>
              <a:ea typeface="Source Sans Pro" panose="020B0503030403020204" pitchFamily="34" charset="0"/>
            </a:endParaRPr>
          </a:p>
          <a:p>
            <a:pPr marL="0" indent="0">
              <a:buNone/>
            </a:pPr>
            <a:r>
              <a:rPr lang="tr-TR" altLang="tr-TR" sz="2200" dirty="0">
                <a:latin typeface="Source Sans Pro" panose="020B0503030403020204" pitchFamily="34" charset="0"/>
                <a:ea typeface="Source Sans Pro" panose="020B0503030403020204" pitchFamily="34" charset="0"/>
              </a:rPr>
              <a:t>        </a:t>
            </a:r>
            <a:r>
              <a:rPr lang="tr-TR" altLang="tr-TR" sz="2200" dirty="0" err="1">
                <a:latin typeface="Source Sans Pro" panose="020B0503030403020204" pitchFamily="34" charset="0"/>
                <a:ea typeface="Source Sans Pro" panose="020B0503030403020204" pitchFamily="34" charset="0"/>
              </a:rPr>
              <a:t>void</a:t>
            </a:r>
            <a:r>
              <a:rPr lang="tr-TR" altLang="tr-TR" sz="2200" dirty="0">
                <a:latin typeface="Source Sans Pro" panose="020B0503030403020204" pitchFamily="34" charset="0"/>
                <a:ea typeface="Source Sans Pro" panose="020B0503030403020204" pitchFamily="34" charset="0"/>
              </a:rPr>
              <a:t> </a:t>
            </a:r>
            <a:r>
              <a:rPr lang="en-US" altLang="tr-TR" sz="2200" dirty="0">
                <a:latin typeface="Source Sans Pro" panose="020B0503030403020204" pitchFamily="34" charset="0"/>
                <a:ea typeface="Source Sans Pro" panose="020B0503030403020204" pitchFamily="34" charset="0"/>
              </a:rPr>
              <a:t>s</a:t>
            </a:r>
            <a:r>
              <a:rPr lang="tr-TR" altLang="tr-TR" sz="2200" dirty="0">
                <a:latin typeface="Source Sans Pro" panose="020B0503030403020204" pitchFamily="34" charset="0"/>
                <a:ea typeface="Source Sans Pro" panose="020B0503030403020204" pitchFamily="34" charset="0"/>
              </a:rPr>
              <a:t>et</a:t>
            </a:r>
            <a:r>
              <a:rPr lang="en-US" altLang="tr-TR" sz="2200" dirty="0">
                <a:latin typeface="Source Sans Pro" panose="020B0503030403020204" pitchFamily="34" charset="0"/>
                <a:ea typeface="Source Sans Pro" panose="020B0503030403020204" pitchFamily="34" charset="0"/>
              </a:rPr>
              <a:t>Attribute</a:t>
            </a:r>
            <a:r>
              <a:rPr lang="tr-TR" altLang="tr-TR" sz="2200" dirty="0">
                <a:latin typeface="Source Sans Pro" panose="020B0503030403020204" pitchFamily="34" charset="0"/>
                <a:ea typeface="Source Sans Pro" panose="020B0503030403020204" pitchFamily="34" charset="0"/>
              </a:rPr>
              <a:t>(</a:t>
            </a:r>
            <a:r>
              <a:rPr lang="en-US" altLang="tr-TR" sz="2200" dirty="0">
                <a:latin typeface="Source Sans Pro" panose="020B0503030403020204" pitchFamily="34" charset="0"/>
                <a:ea typeface="Source Sans Pro" panose="020B0503030403020204" pitchFamily="34" charset="0"/>
              </a:rPr>
              <a:t>Field</a:t>
            </a:r>
            <a:r>
              <a:rPr lang="tr-TR" altLang="tr-TR" sz="2200" dirty="0">
                <a:latin typeface="Source Sans Pro" panose="020B0503030403020204" pitchFamily="34" charset="0"/>
                <a:ea typeface="Source Sans Pro" panose="020B0503030403020204" pitchFamily="34" charset="0"/>
              </a:rPr>
              <a:t>*);</a:t>
            </a:r>
          </a:p>
          <a:p>
            <a:pPr marL="0" indent="0">
              <a:buNone/>
            </a:pPr>
            <a:r>
              <a:rPr lang="tr-TR" altLang="tr-TR" sz="2200" dirty="0">
                <a:latin typeface="Source Sans Pro" panose="020B0503030403020204" pitchFamily="34" charset="0"/>
                <a:ea typeface="Source Sans Pro" panose="020B0503030403020204" pitchFamily="34" charset="0"/>
              </a:rPr>
              <a:t>        </a:t>
            </a:r>
            <a:r>
              <a:rPr lang="en-US" altLang="tr-TR" sz="2200" dirty="0">
                <a:latin typeface="Source Sans Pro" panose="020B0503030403020204" pitchFamily="34" charset="0"/>
                <a:ea typeface="Source Sans Pro" panose="020B0503030403020204" pitchFamily="34" charset="0"/>
              </a:rPr>
              <a:t>Field</a:t>
            </a:r>
            <a:r>
              <a:rPr lang="tr-TR" altLang="tr-TR" sz="2200" dirty="0">
                <a:latin typeface="Source Sans Pro" panose="020B0503030403020204" pitchFamily="34" charset="0"/>
                <a:ea typeface="Source Sans Pro" panose="020B0503030403020204" pitchFamily="34" charset="0"/>
              </a:rPr>
              <a:t>* </a:t>
            </a:r>
            <a:r>
              <a:rPr lang="en-US" altLang="tr-TR" sz="2200" dirty="0">
                <a:latin typeface="Source Sans Pro" panose="020B0503030403020204" pitchFamily="34" charset="0"/>
                <a:ea typeface="Source Sans Pro" panose="020B0503030403020204" pitchFamily="34" charset="0"/>
              </a:rPr>
              <a:t>g</a:t>
            </a:r>
            <a:r>
              <a:rPr lang="tr-TR" altLang="tr-TR" sz="2200" dirty="0">
                <a:latin typeface="Source Sans Pro" panose="020B0503030403020204" pitchFamily="34" charset="0"/>
                <a:ea typeface="Source Sans Pro" panose="020B0503030403020204" pitchFamily="34" charset="0"/>
              </a:rPr>
              <a:t>et</a:t>
            </a:r>
            <a:r>
              <a:rPr lang="en-US" altLang="tr-TR" sz="2200" dirty="0">
                <a:latin typeface="Source Sans Pro" panose="020B0503030403020204" pitchFamily="34" charset="0"/>
                <a:ea typeface="Source Sans Pro" panose="020B0503030403020204" pitchFamily="34" charset="0"/>
              </a:rPr>
              <a:t>Attribute</a:t>
            </a:r>
            <a:r>
              <a:rPr lang="tr-TR" altLang="tr-TR" sz="2200" dirty="0">
                <a:latin typeface="Source Sans Pro" panose="020B0503030403020204" pitchFamily="34" charset="0"/>
                <a:ea typeface="Source Sans Pro" panose="020B0503030403020204" pitchFamily="34" charset="0"/>
              </a:rPr>
              <a:t>();</a:t>
            </a:r>
          </a:p>
          <a:p>
            <a:pPr marL="0" indent="0">
              <a:buNone/>
            </a:pPr>
            <a:r>
              <a:rPr lang="tr-TR" altLang="tr-TR" sz="2200" dirty="0">
                <a:latin typeface="Source Sans Pro" panose="020B0503030403020204" pitchFamily="34" charset="0"/>
                <a:ea typeface="Source Sans Pro" panose="020B0503030403020204" pitchFamily="34" charset="0"/>
              </a:rPr>
              <a:t>    </a:t>
            </a:r>
            <a:r>
              <a:rPr lang="tr-TR" altLang="tr-TR" sz="2200" b="1" dirty="0" err="1">
                <a:latin typeface="Source Sans Pro" panose="020B0503030403020204" pitchFamily="34" charset="0"/>
                <a:ea typeface="Source Sans Pro" panose="020B0503030403020204" pitchFamily="34" charset="0"/>
              </a:rPr>
              <a:t>private</a:t>
            </a:r>
            <a:r>
              <a:rPr lang="tr-TR" altLang="tr-TR" sz="2200" dirty="0">
                <a:latin typeface="Source Sans Pro" panose="020B0503030403020204" pitchFamily="34" charset="0"/>
                <a:ea typeface="Source Sans Pro" panose="020B0503030403020204" pitchFamily="34" charset="0"/>
              </a:rPr>
              <a:t>:</a:t>
            </a:r>
            <a:r>
              <a:rPr lang="en-US" altLang="tr-TR" sz="2200" dirty="0">
                <a:latin typeface="Source Sans Pro" panose="020B0503030403020204" pitchFamily="34" charset="0"/>
                <a:ea typeface="Source Sans Pro" panose="020B0503030403020204" pitchFamily="34" charset="0"/>
              </a:rPr>
              <a:t> //fields that stores the originator’s info</a:t>
            </a:r>
          </a:p>
          <a:p>
            <a:pPr marL="0" indent="0">
              <a:buNone/>
            </a:pPr>
            <a:r>
              <a:rPr lang="tr-TR" altLang="tr-TR" sz="2200" dirty="0">
                <a:latin typeface="Source Sans Pro" panose="020B0503030403020204" pitchFamily="34" charset="0"/>
                <a:ea typeface="Source Sans Pro" panose="020B0503030403020204" pitchFamily="34" charset="0"/>
              </a:rPr>
              <a:t>   };</a:t>
            </a:r>
          </a:p>
        </p:txBody>
      </p:sp>
      <p:sp>
        <p:nvSpPr>
          <p:cNvPr id="3" name="TextBox 2">
            <a:extLst>
              <a:ext uri="{FF2B5EF4-FFF2-40B4-BE49-F238E27FC236}">
                <a16:creationId xmlns:a16="http://schemas.microsoft.com/office/drawing/2014/main" id="{DD9F8338-245D-7E75-6707-7737A6A1BE10}"/>
              </a:ext>
            </a:extLst>
          </p:cNvPr>
          <p:cNvSpPr txBox="1"/>
          <p:nvPr/>
        </p:nvSpPr>
        <p:spPr>
          <a:xfrm>
            <a:off x="7860145" y="0"/>
            <a:ext cx="962123" cy="584775"/>
          </a:xfrm>
          <a:prstGeom prst="rect">
            <a:avLst/>
          </a:prstGeom>
          <a:noFill/>
        </p:spPr>
        <p:txBody>
          <a:bodyPr wrap="none" rtlCol="0">
            <a:spAutoFit/>
          </a:bodyPr>
          <a:lstStyle/>
          <a:p>
            <a:r>
              <a:rPr lang="en-US" sz="3200" dirty="0">
                <a:solidFill>
                  <a:srgbClr val="7030A0"/>
                </a:solidFill>
              </a:rPr>
              <a:t>C++</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9C1FE-B2FE-6E78-C3DE-511449374369}"/>
              </a:ext>
            </a:extLst>
          </p:cNvPr>
          <p:cNvSpPr>
            <a:spLocks noGrp="1"/>
          </p:cNvSpPr>
          <p:nvPr>
            <p:ph type="title"/>
          </p:nvPr>
        </p:nvSpPr>
        <p:spPr/>
        <p:txBody>
          <a:bodyPr/>
          <a:lstStyle/>
          <a:p>
            <a:r>
              <a:rPr lang="en-US" sz="4000" dirty="0"/>
              <a:t>Originator sees the wide interface</a:t>
            </a:r>
          </a:p>
        </p:txBody>
      </p:sp>
      <p:sp>
        <p:nvSpPr>
          <p:cNvPr id="3" name="Content Placeholder 2">
            <a:extLst>
              <a:ext uri="{FF2B5EF4-FFF2-40B4-BE49-F238E27FC236}">
                <a16:creationId xmlns:a16="http://schemas.microsoft.com/office/drawing/2014/main" id="{5F2B9836-8BD1-E27B-A3DB-29605AAE1919}"/>
              </a:ext>
            </a:extLst>
          </p:cNvPr>
          <p:cNvSpPr>
            <a:spLocks noGrp="1"/>
          </p:cNvSpPr>
          <p:nvPr>
            <p:ph idx="1"/>
          </p:nvPr>
        </p:nvSpPr>
        <p:spPr>
          <a:xfrm>
            <a:off x="457200" y="1239947"/>
            <a:ext cx="8229600" cy="4532109"/>
          </a:xfrm>
        </p:spPr>
        <p:txBody>
          <a:bodyPr/>
          <a:lstStyle/>
          <a:p>
            <a:pPr marL="0" indent="0">
              <a:buNone/>
            </a:pPr>
            <a:r>
              <a:rPr lang="en-US" sz="2000" dirty="0">
                <a:latin typeface="Source Sans Pro" panose="020B0503030403020204" pitchFamily="34" charset="0"/>
                <a:ea typeface="Source Sans Pro" panose="020B0503030403020204" pitchFamily="34" charset="0"/>
              </a:rPr>
              <a:t>  class Originator {</a:t>
            </a:r>
          </a:p>
          <a:p>
            <a:pPr marL="0" indent="0">
              <a:buNone/>
            </a:pPr>
            <a:r>
              <a:rPr lang="en-US" sz="2000" dirty="0">
                <a:latin typeface="Source Sans Pro" panose="020B0503030403020204" pitchFamily="34" charset="0"/>
                <a:ea typeface="Source Sans Pro" panose="020B0503030403020204" pitchFamily="34" charset="0"/>
              </a:rPr>
              <a:t>    public:      // ...</a:t>
            </a:r>
          </a:p>
          <a:p>
            <a:pPr marL="0" indent="0">
              <a:buNone/>
            </a:pPr>
            <a:r>
              <a:rPr lang="en-US" sz="2000" dirty="0">
                <a:latin typeface="Source Sans Pro" panose="020B0503030403020204" pitchFamily="34" charset="0"/>
                <a:ea typeface="Source Sans Pro" panose="020B0503030403020204" pitchFamily="34" charset="0"/>
              </a:rPr>
              <a:t>        Memento</a:t>
            </a:r>
            <a:r>
              <a:rPr lang="en-US" sz="2000" b="1" dirty="0">
                <a:latin typeface="Source Sans Pro" panose="020B0503030403020204" pitchFamily="34" charset="0"/>
                <a:ea typeface="Source Sans Pro" panose="020B0503030403020204" pitchFamily="34" charset="0"/>
              </a:rPr>
              <a:t>* </a:t>
            </a:r>
            <a:r>
              <a:rPr lang="en-US" sz="2000" b="1" dirty="0" err="1">
                <a:latin typeface="Source Sans Pro" panose="020B0503030403020204" pitchFamily="34" charset="0"/>
                <a:ea typeface="Source Sans Pro" panose="020B0503030403020204" pitchFamily="34" charset="0"/>
              </a:rPr>
              <a:t>createMemento</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void </a:t>
            </a:r>
            <a:r>
              <a:rPr lang="en-US" sz="2000" b="1" dirty="0">
                <a:latin typeface="Source Sans Pro" panose="020B0503030403020204" pitchFamily="34" charset="0"/>
                <a:ea typeface="Source Sans Pro" panose="020B0503030403020204" pitchFamily="34" charset="0"/>
              </a:rPr>
              <a:t>restore</a:t>
            </a:r>
            <a:r>
              <a:rPr lang="en-US" sz="2000" dirty="0">
                <a:latin typeface="Source Sans Pro" panose="020B0503030403020204" pitchFamily="34" charset="0"/>
                <a:ea typeface="Source Sans Pro" panose="020B0503030403020204" pitchFamily="34" charset="0"/>
              </a:rPr>
              <a:t>(const Memento*);</a:t>
            </a:r>
          </a:p>
          <a:p>
            <a:pPr marL="0" indent="0">
              <a:buNone/>
            </a:pPr>
            <a:r>
              <a:rPr lang="en-US" sz="2000" dirty="0">
                <a:latin typeface="Source Sans Pro" panose="020B0503030403020204" pitchFamily="34" charset="0"/>
                <a:ea typeface="Source Sans Pro" panose="020B0503030403020204" pitchFamily="34" charset="0"/>
              </a:rPr>
              <a:t>    private:</a:t>
            </a:r>
          </a:p>
          <a:p>
            <a:pPr marL="0" indent="0">
              <a:buNone/>
            </a:pPr>
            <a:r>
              <a:rPr lang="en-US" sz="2000" dirty="0">
                <a:latin typeface="Source Sans Pro" panose="020B0503030403020204" pitchFamily="34" charset="0"/>
                <a:ea typeface="Source Sans Pro" panose="020B0503030403020204" pitchFamily="34" charset="0"/>
              </a:rPr>
              <a:t>        Field* f1;   ….   // internal data structures</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  Memento* Originator::</a:t>
            </a:r>
            <a:r>
              <a:rPr lang="en-US" sz="2000" b="1" dirty="0" err="1">
                <a:latin typeface="Source Sans Pro" panose="020B0503030403020204" pitchFamily="34" charset="0"/>
                <a:ea typeface="Source Sans Pro" panose="020B0503030403020204" pitchFamily="34" charset="0"/>
              </a:rPr>
              <a:t>createMemento</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a:t>
            </a:r>
            <a:r>
              <a:rPr lang="en-US" sz="2000" b="1" dirty="0">
                <a:latin typeface="Source Sans Pro" panose="020B0503030403020204" pitchFamily="34" charset="0"/>
                <a:ea typeface="Source Sans Pro" panose="020B0503030403020204" pitchFamily="34" charset="0"/>
              </a:rPr>
              <a:t>Memento* m=new Memento()</a:t>
            </a:r>
            <a:r>
              <a:rPr lang="en-US" sz="2000" dirty="0">
                <a:latin typeface="Source Sans Pro" panose="020B0503030403020204" pitchFamily="34" charset="0"/>
                <a:ea typeface="Source Sans Pro" panose="020B0503030403020204" pitchFamily="34" charset="0"/>
              </a:rPr>
              <a:t>;    //private, but I am a friend</a:t>
            </a:r>
          </a:p>
          <a:p>
            <a:pPr marL="0" indent="0">
              <a:buNone/>
            </a:pPr>
            <a:r>
              <a:rPr lang="en-US" sz="2000" dirty="0">
                <a:latin typeface="Source Sans Pro" panose="020B0503030403020204" pitchFamily="34" charset="0"/>
                <a:ea typeface="Source Sans Pro" panose="020B0503030403020204" pitchFamily="34" charset="0"/>
              </a:rPr>
              <a:t>      m-&gt;f1=this-&gt;f1; /*save necessary info to remember*/</a:t>
            </a:r>
          </a:p>
          <a:p>
            <a:pPr marL="0" indent="0">
              <a:buNone/>
            </a:pPr>
            <a:r>
              <a:rPr lang="en-US" sz="2000" dirty="0">
                <a:latin typeface="Source Sans Pro" panose="020B0503030403020204" pitchFamily="34" charset="0"/>
                <a:ea typeface="Source Sans Pro" panose="020B0503030403020204" pitchFamily="34" charset="0"/>
              </a:rPr>
              <a:t>      </a:t>
            </a:r>
            <a:r>
              <a:rPr lang="en-US" sz="2000" b="1" dirty="0">
                <a:latin typeface="Source Sans Pro" panose="020B0503030403020204" pitchFamily="34" charset="0"/>
                <a:ea typeface="Source Sans Pro" panose="020B0503030403020204" pitchFamily="34" charset="0"/>
              </a:rPr>
              <a:t>return m;</a:t>
            </a: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void Originator::</a:t>
            </a:r>
            <a:r>
              <a:rPr lang="en-US" sz="2000" b="1" dirty="0">
                <a:latin typeface="Source Sans Pro" panose="020B0503030403020204" pitchFamily="34" charset="0"/>
                <a:ea typeface="Source Sans Pro" panose="020B0503030403020204" pitchFamily="34" charset="0"/>
              </a:rPr>
              <a:t>restore</a:t>
            </a:r>
            <a:r>
              <a:rPr lang="en-US" sz="2000" dirty="0">
                <a:latin typeface="Source Sans Pro" panose="020B0503030403020204" pitchFamily="34" charset="0"/>
                <a:ea typeface="Source Sans Pro" panose="020B0503030403020204" pitchFamily="34" charset="0"/>
              </a:rPr>
              <a:t>(const Memento* m){         if(m==0) return;</a:t>
            </a:r>
          </a:p>
          <a:p>
            <a:pPr marL="0" indent="0">
              <a:buNone/>
            </a:pPr>
            <a:r>
              <a:rPr lang="en-US" sz="2000" dirty="0">
                <a:latin typeface="Source Sans Pro" panose="020B0503030403020204" pitchFamily="34" charset="0"/>
                <a:ea typeface="Source Sans Pro" panose="020B0503030403020204" pitchFamily="34" charset="0"/>
              </a:rPr>
              <a:t>       this-&gt;f1=m-&gt;f1;         //some mechanism to restore the internal values</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endParaRPr lang="en-US" sz="20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0130881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9AD2F7FC-F7A0-331B-B28F-A631666F8FFB}"/>
              </a:ext>
            </a:extLst>
          </p:cNvPr>
          <p:cNvSpPr>
            <a:spLocks noGrp="1" noChangeArrowheads="1"/>
          </p:cNvSpPr>
          <p:nvPr>
            <p:ph type="title"/>
          </p:nvPr>
        </p:nvSpPr>
        <p:spPr/>
        <p:txBody>
          <a:bodyPr/>
          <a:lstStyle/>
          <a:p>
            <a:r>
              <a:rPr lang="en-US" altLang="tr-TR" sz="4000" dirty="0"/>
              <a:t>Memento is an inner class Object</a:t>
            </a:r>
            <a:endParaRPr lang="tr-TR" altLang="tr-TR" sz="4000" dirty="0"/>
          </a:p>
        </p:txBody>
      </p:sp>
      <p:sp>
        <p:nvSpPr>
          <p:cNvPr id="60419" name="Content Placeholder 2">
            <a:extLst>
              <a:ext uri="{FF2B5EF4-FFF2-40B4-BE49-F238E27FC236}">
                <a16:creationId xmlns:a16="http://schemas.microsoft.com/office/drawing/2014/main" id="{4732FFAC-AC0A-8C5C-7C90-7381E68880AC}"/>
              </a:ext>
            </a:extLst>
          </p:cNvPr>
          <p:cNvSpPr>
            <a:spLocks noGrp="1" noChangeArrowheads="1"/>
          </p:cNvSpPr>
          <p:nvPr>
            <p:ph idx="1"/>
          </p:nvPr>
        </p:nvSpPr>
        <p:spPr/>
        <p:txBody>
          <a:bodyPr/>
          <a:lstStyle/>
          <a:p>
            <a:pPr marL="0" indent="0">
              <a:buFontTx/>
              <a:buNone/>
            </a:pPr>
            <a:r>
              <a:rPr lang="en-US" altLang="tr-TR" sz="2000" dirty="0">
                <a:latin typeface="Source Sans Pro" panose="020B0503030403020204" pitchFamily="34" charset="0"/>
                <a:ea typeface="Source Sans Pro" panose="020B0503030403020204" pitchFamily="34" charset="0"/>
              </a:rPr>
              <a:t>public class Originator{</a:t>
            </a:r>
          </a:p>
          <a:p>
            <a:pPr marL="0" indent="0">
              <a:buFontTx/>
              <a:buNone/>
            </a:pPr>
            <a:r>
              <a:rPr lang="en-US" altLang="tr-TR" sz="2000" dirty="0">
                <a:latin typeface="Source Sans Pro" panose="020B0503030403020204" pitchFamily="34" charset="0"/>
                <a:ea typeface="Source Sans Pro" panose="020B0503030403020204" pitchFamily="34" charset="0"/>
              </a:rPr>
              <a:t>      private Field1 f1; //..and other fields.</a:t>
            </a:r>
          </a:p>
          <a:p>
            <a:pPr marL="0" indent="0">
              <a:buFontTx/>
              <a:buNone/>
            </a:pPr>
            <a:r>
              <a:rPr lang="en-US" altLang="tr-TR" sz="2000" dirty="0">
                <a:latin typeface="Source Sans Pro" panose="020B0503030403020204" pitchFamily="34" charset="0"/>
                <a:ea typeface="Source Sans Pro" panose="020B0503030403020204" pitchFamily="34" charset="0"/>
              </a:rPr>
              <a:t>      public </a:t>
            </a:r>
            <a:r>
              <a:rPr lang="en-US" altLang="tr-TR" sz="2000" b="1" dirty="0">
                <a:solidFill>
                  <a:schemeClr val="bg2"/>
                </a:solidFill>
                <a:latin typeface="Source Sans Pro" panose="020B0503030403020204" pitchFamily="34" charset="0"/>
                <a:ea typeface="Source Sans Pro" panose="020B0503030403020204" pitchFamily="34" charset="0"/>
              </a:rPr>
              <a:t>Object</a:t>
            </a:r>
            <a:r>
              <a:rPr lang="en-US" altLang="tr-TR" sz="2000" dirty="0">
                <a:latin typeface="Source Sans Pro" panose="020B0503030403020204" pitchFamily="34" charset="0"/>
                <a:ea typeface="Source Sans Pro" panose="020B0503030403020204" pitchFamily="34" charset="0"/>
              </a:rPr>
              <a:t> </a:t>
            </a:r>
            <a:r>
              <a:rPr lang="en-US" altLang="tr-TR" sz="2000" dirty="0" err="1">
                <a:latin typeface="Source Sans Pro" panose="020B0503030403020204" pitchFamily="34" charset="0"/>
                <a:ea typeface="Source Sans Pro" panose="020B0503030403020204" pitchFamily="34" charset="0"/>
              </a:rPr>
              <a:t>saveState</a:t>
            </a:r>
            <a:r>
              <a:rPr lang="en-US" altLang="tr-TR" sz="2000" dirty="0">
                <a:latin typeface="Source Sans Pro" panose="020B0503030403020204" pitchFamily="34" charset="0"/>
                <a:ea typeface="Source Sans Pro" panose="020B0503030403020204" pitchFamily="34" charset="0"/>
              </a:rPr>
              <a:t>(){ //or </a:t>
            </a:r>
            <a:r>
              <a:rPr lang="en-US" altLang="tr-TR" sz="2000" dirty="0" err="1">
                <a:latin typeface="Source Sans Pro" panose="020B0503030403020204" pitchFamily="34" charset="0"/>
                <a:ea typeface="Source Sans Pro" panose="020B0503030403020204" pitchFamily="34" charset="0"/>
              </a:rPr>
              <a:t>createMemento</a:t>
            </a:r>
            <a:endParaRPr lang="en-US" altLang="tr-TR" sz="2000" dirty="0">
              <a:latin typeface="Source Sans Pro" panose="020B0503030403020204" pitchFamily="34" charset="0"/>
              <a:ea typeface="Source Sans Pro" panose="020B0503030403020204" pitchFamily="34" charset="0"/>
            </a:endParaRPr>
          </a:p>
          <a:p>
            <a:pPr marL="0" indent="0">
              <a:buFontTx/>
              <a:buNone/>
            </a:pPr>
            <a:r>
              <a:rPr lang="en-US" altLang="tr-TR" sz="2000" dirty="0">
                <a:latin typeface="Source Sans Pro" panose="020B0503030403020204" pitchFamily="34" charset="0"/>
                <a:ea typeface="Source Sans Pro" panose="020B0503030403020204" pitchFamily="34" charset="0"/>
              </a:rPr>
              <a:t>                  return new Memento();</a:t>
            </a:r>
          </a:p>
          <a:p>
            <a:pPr marL="0" indent="0">
              <a:buFontTx/>
              <a:buNone/>
            </a:pPr>
            <a:r>
              <a:rPr lang="en-US" altLang="tr-TR" sz="2000" dirty="0">
                <a:latin typeface="Source Sans Pro" panose="020B0503030403020204" pitchFamily="34" charset="0"/>
                <a:ea typeface="Source Sans Pro" panose="020B0503030403020204" pitchFamily="34" charset="0"/>
              </a:rPr>
              <a:t>       }</a:t>
            </a:r>
            <a:r>
              <a:rPr lang="en-US" altLang="tr-TR" sz="2000" dirty="0">
                <a:solidFill>
                  <a:srgbClr val="0070C0"/>
                </a:solidFill>
                <a:latin typeface="Source Sans Pro" panose="020B0503030403020204" pitchFamily="34" charset="0"/>
                <a:ea typeface="Source Sans Pro" panose="020B0503030403020204" pitchFamily="34" charset="0"/>
              </a:rPr>
              <a:t> </a:t>
            </a:r>
            <a:r>
              <a:rPr lang="en-US" altLang="tr-TR" sz="2000" dirty="0">
                <a:solidFill>
                  <a:schemeClr val="bg2"/>
                </a:solidFill>
                <a:latin typeface="Source Sans Pro" panose="020B0503030403020204" pitchFamily="34" charset="0"/>
                <a:ea typeface="Source Sans Pro" panose="020B0503030403020204" pitchFamily="34" charset="0"/>
              </a:rPr>
              <a:t>//narrow interface is the Object interface</a:t>
            </a:r>
          </a:p>
          <a:p>
            <a:pPr marL="0" indent="0">
              <a:buFontTx/>
              <a:buNone/>
            </a:pPr>
            <a:r>
              <a:rPr lang="en-US" altLang="tr-TR" sz="2000" dirty="0">
                <a:solidFill>
                  <a:schemeClr val="bg2"/>
                </a:solidFill>
                <a:latin typeface="Source Sans Pro" panose="020B0503030403020204" pitchFamily="34" charset="0"/>
                <a:ea typeface="Source Sans Pro" panose="020B0503030403020204" pitchFamily="34" charset="0"/>
              </a:rPr>
              <a:t>     </a:t>
            </a:r>
            <a:r>
              <a:rPr lang="en-US" altLang="tr-TR" sz="2000" dirty="0">
                <a:latin typeface="Source Sans Pro" panose="020B0503030403020204" pitchFamily="34" charset="0"/>
                <a:ea typeface="Source Sans Pro" panose="020B0503030403020204" pitchFamily="34" charset="0"/>
              </a:rPr>
              <a:t> public void restore(Object o){</a:t>
            </a:r>
          </a:p>
          <a:p>
            <a:pPr marL="0" indent="0">
              <a:buFontTx/>
              <a:buNone/>
            </a:pPr>
            <a:r>
              <a:rPr lang="en-US" altLang="tr-TR" sz="2000" dirty="0">
                <a:latin typeface="Source Sans Pro" panose="020B0503030403020204" pitchFamily="34" charset="0"/>
                <a:ea typeface="Source Sans Pro" panose="020B0503030403020204" pitchFamily="34" charset="0"/>
              </a:rPr>
              <a:t>                if(!o </a:t>
            </a:r>
            <a:r>
              <a:rPr lang="en-US" altLang="tr-TR" sz="2000" dirty="0" err="1">
                <a:latin typeface="Source Sans Pro" panose="020B0503030403020204" pitchFamily="34" charset="0"/>
                <a:ea typeface="Source Sans Pro" panose="020B0503030403020204" pitchFamily="34" charset="0"/>
              </a:rPr>
              <a:t>instanceof</a:t>
            </a:r>
            <a:r>
              <a:rPr lang="en-US" altLang="tr-TR" sz="2000" dirty="0">
                <a:latin typeface="Source Sans Pro" panose="020B0503030403020204" pitchFamily="34" charset="0"/>
                <a:ea typeface="Source Sans Pro" panose="020B0503030403020204" pitchFamily="34" charset="0"/>
              </a:rPr>
              <a:t> Memento)) { //it is not mine </a:t>
            </a:r>
          </a:p>
          <a:p>
            <a:pPr marL="0" indent="0">
              <a:buFontTx/>
              <a:buNone/>
            </a:pPr>
            <a:r>
              <a:rPr lang="en-US" altLang="tr-TR" sz="2000" dirty="0">
                <a:latin typeface="Source Sans Pro" panose="020B0503030403020204" pitchFamily="34" charset="0"/>
                <a:ea typeface="Source Sans Pro" panose="020B0503030403020204" pitchFamily="34" charset="0"/>
              </a:rPr>
              <a:t>                         </a:t>
            </a:r>
            <a:r>
              <a:rPr lang="en-US" altLang="tr-TR" sz="2000" dirty="0" err="1">
                <a:latin typeface="Source Sans Pro" panose="020B0503030403020204" pitchFamily="34" charset="0"/>
                <a:ea typeface="Source Sans Pro" panose="020B0503030403020204" pitchFamily="34" charset="0"/>
              </a:rPr>
              <a:t>printErrorMsg</a:t>
            </a:r>
            <a:r>
              <a:rPr lang="en-US" altLang="tr-TR" sz="2000" dirty="0">
                <a:latin typeface="Source Sans Pro" panose="020B0503030403020204" pitchFamily="34" charset="0"/>
                <a:ea typeface="Source Sans Pro" panose="020B0503030403020204" pitchFamily="34" charset="0"/>
              </a:rPr>
              <a:t>(); return;}</a:t>
            </a:r>
          </a:p>
          <a:p>
            <a:pPr marL="0" indent="0">
              <a:buFontTx/>
              <a:buNone/>
            </a:pPr>
            <a:r>
              <a:rPr lang="en-US" altLang="tr-TR" sz="2000" dirty="0">
                <a:latin typeface="Source Sans Pro" panose="020B0503030403020204" pitchFamily="34" charset="0"/>
                <a:ea typeface="Source Sans Pro" panose="020B0503030403020204" pitchFamily="34" charset="0"/>
              </a:rPr>
              <a:t>                </a:t>
            </a:r>
            <a:r>
              <a:rPr lang="en-US" altLang="tr-TR" sz="2000" b="1" dirty="0">
                <a:solidFill>
                  <a:schemeClr val="bg2"/>
                </a:solidFill>
                <a:latin typeface="Source Sans Pro" panose="020B0503030403020204" pitchFamily="34" charset="0"/>
                <a:ea typeface="Source Sans Pro" panose="020B0503030403020204" pitchFamily="34" charset="0"/>
              </a:rPr>
              <a:t>Memento m=(Memento) o</a:t>
            </a:r>
            <a:r>
              <a:rPr lang="en-US" altLang="tr-TR" sz="2000" dirty="0">
                <a:solidFill>
                  <a:schemeClr val="bg2"/>
                </a:solidFill>
                <a:latin typeface="Source Sans Pro" panose="020B0503030403020204" pitchFamily="34" charset="0"/>
                <a:ea typeface="Source Sans Pro" panose="020B0503030403020204" pitchFamily="34" charset="0"/>
              </a:rPr>
              <a:t>;  //now it has wide interface</a:t>
            </a:r>
          </a:p>
          <a:p>
            <a:pPr marL="0" indent="0">
              <a:buFontTx/>
              <a:buNone/>
            </a:pPr>
            <a:r>
              <a:rPr lang="en-US" altLang="tr-TR" sz="2000" dirty="0">
                <a:solidFill>
                  <a:schemeClr val="bg2"/>
                </a:solidFill>
                <a:latin typeface="Source Sans Pro" panose="020B0503030403020204" pitchFamily="34" charset="0"/>
                <a:ea typeface="Source Sans Pro" panose="020B0503030403020204" pitchFamily="34" charset="0"/>
              </a:rPr>
              <a:t>                </a:t>
            </a:r>
            <a:r>
              <a:rPr lang="en-US" altLang="tr-TR" sz="2000" dirty="0">
                <a:latin typeface="Source Sans Pro" panose="020B0503030403020204" pitchFamily="34" charset="0"/>
                <a:ea typeface="Source Sans Pro" panose="020B0503030403020204" pitchFamily="34" charset="0"/>
              </a:rPr>
              <a:t>f1=m.mf1; ….//restore the fields using memento’s fields</a:t>
            </a:r>
          </a:p>
          <a:p>
            <a:pPr marL="0" indent="0">
              <a:buFontTx/>
              <a:buNone/>
            </a:pPr>
            <a:r>
              <a:rPr lang="en-US" altLang="tr-TR" sz="2000" dirty="0">
                <a:latin typeface="Source Sans Pro" panose="020B0503030403020204" pitchFamily="34" charset="0"/>
                <a:ea typeface="Source Sans Pro" panose="020B0503030403020204" pitchFamily="34" charset="0"/>
              </a:rPr>
              <a:t>     }</a:t>
            </a:r>
          </a:p>
          <a:p>
            <a:pPr marL="0" indent="0">
              <a:buFontTx/>
              <a:buNone/>
            </a:pPr>
            <a:r>
              <a:rPr lang="en-US" altLang="tr-TR" sz="2000" dirty="0">
                <a:latin typeface="Source Sans Pro" panose="020B0503030403020204" pitchFamily="34" charset="0"/>
                <a:ea typeface="Source Sans Pro" panose="020B0503030403020204" pitchFamily="34" charset="0"/>
              </a:rPr>
              <a:t>     </a:t>
            </a:r>
            <a:r>
              <a:rPr lang="en-US" altLang="tr-TR" sz="2000" b="1" dirty="0">
                <a:solidFill>
                  <a:schemeClr val="bg2"/>
                </a:solidFill>
                <a:latin typeface="Source Sans Pro" panose="020B0503030403020204" pitchFamily="34" charset="0"/>
                <a:ea typeface="Source Sans Pro" panose="020B0503030403020204" pitchFamily="34" charset="0"/>
              </a:rPr>
              <a:t>private</a:t>
            </a:r>
            <a:r>
              <a:rPr lang="en-US" altLang="tr-TR" sz="2000" dirty="0">
                <a:solidFill>
                  <a:schemeClr val="bg2"/>
                </a:solidFill>
                <a:latin typeface="Source Sans Pro" panose="020B0503030403020204" pitchFamily="34" charset="0"/>
                <a:ea typeface="Source Sans Pro" panose="020B0503030403020204" pitchFamily="34" charset="0"/>
              </a:rPr>
              <a:t>  class Memento</a:t>
            </a:r>
            <a:r>
              <a:rPr lang="en-US" altLang="tr-TR" sz="2000" dirty="0">
                <a:latin typeface="Source Sans Pro" panose="020B0503030403020204" pitchFamily="34" charset="0"/>
                <a:ea typeface="Source Sans Pro" panose="020B0503030403020204" pitchFamily="34" charset="0"/>
              </a:rPr>
              <a:t>{</a:t>
            </a:r>
          </a:p>
          <a:p>
            <a:pPr marL="0" indent="0">
              <a:buFontTx/>
              <a:buNone/>
            </a:pPr>
            <a:r>
              <a:rPr lang="en-US" altLang="tr-TR" sz="2000" dirty="0">
                <a:latin typeface="Source Sans Pro" panose="020B0503030403020204" pitchFamily="34" charset="0"/>
                <a:ea typeface="Source Sans Pro" panose="020B0503030403020204" pitchFamily="34" charset="0"/>
              </a:rPr>
              <a:t>          Field mf1; /// and other fields</a:t>
            </a:r>
          </a:p>
          <a:p>
            <a:pPr marL="0" indent="0">
              <a:buFontTx/>
              <a:buNone/>
            </a:pPr>
            <a:r>
              <a:rPr lang="en-US" altLang="tr-TR" sz="2000" dirty="0">
                <a:latin typeface="Source Sans Pro" panose="020B0503030403020204" pitchFamily="34" charset="0"/>
                <a:ea typeface="Source Sans Pro" panose="020B0503030403020204" pitchFamily="34" charset="0"/>
              </a:rPr>
              <a:t>      Memento(){mf1=f1; …..}   //save the values of necessary Originator fields </a:t>
            </a:r>
          </a:p>
          <a:p>
            <a:pPr marL="0" indent="0">
              <a:buFontTx/>
              <a:buNone/>
            </a:pPr>
            <a:r>
              <a:rPr lang="en-US" altLang="tr-TR" sz="2000" dirty="0">
                <a:latin typeface="Source Sans Pro" panose="020B0503030403020204" pitchFamily="34" charset="0"/>
                <a:ea typeface="Source Sans Pro" panose="020B0503030403020204" pitchFamily="34" charset="0"/>
              </a:rPr>
              <a:t>  }}</a:t>
            </a:r>
          </a:p>
        </p:txBody>
      </p:sp>
      <p:sp>
        <p:nvSpPr>
          <p:cNvPr id="2" name="TextBox 1">
            <a:extLst>
              <a:ext uri="{FF2B5EF4-FFF2-40B4-BE49-F238E27FC236}">
                <a16:creationId xmlns:a16="http://schemas.microsoft.com/office/drawing/2014/main" id="{B718BEB3-BDA6-2E35-A318-D06386B00B5A}"/>
              </a:ext>
            </a:extLst>
          </p:cNvPr>
          <p:cNvSpPr txBox="1"/>
          <p:nvPr/>
        </p:nvSpPr>
        <p:spPr>
          <a:xfrm>
            <a:off x="7860145" y="0"/>
            <a:ext cx="1050288" cy="584775"/>
          </a:xfrm>
          <a:prstGeom prst="rect">
            <a:avLst/>
          </a:prstGeom>
          <a:noFill/>
        </p:spPr>
        <p:txBody>
          <a:bodyPr wrap="none" rtlCol="0">
            <a:spAutoFit/>
          </a:bodyPr>
          <a:lstStyle/>
          <a:p>
            <a:r>
              <a:rPr lang="en-US" sz="3200" dirty="0">
                <a:solidFill>
                  <a:srgbClr val="C00000"/>
                </a:solidFill>
              </a:rPr>
              <a:t>Java</a:t>
            </a:r>
          </a:p>
        </p:txBody>
      </p:sp>
      <p:sp>
        <p:nvSpPr>
          <p:cNvPr id="3" name="TextBox 2">
            <a:extLst>
              <a:ext uri="{FF2B5EF4-FFF2-40B4-BE49-F238E27FC236}">
                <a16:creationId xmlns:a16="http://schemas.microsoft.com/office/drawing/2014/main" id="{6F3DD75D-6151-2A8B-BA91-683B1A32237F}"/>
              </a:ext>
            </a:extLst>
          </p:cNvPr>
          <p:cNvSpPr txBox="1"/>
          <p:nvPr/>
        </p:nvSpPr>
        <p:spPr>
          <a:xfrm>
            <a:off x="6444910" y="1384105"/>
            <a:ext cx="2830470" cy="1754326"/>
          </a:xfrm>
          <a:prstGeom prst="rect">
            <a:avLst/>
          </a:prstGeom>
          <a:noFill/>
        </p:spPr>
        <p:txBody>
          <a:bodyPr wrap="square" rtlCol="0">
            <a:spAutoFit/>
          </a:bodyPr>
          <a:lstStyle/>
          <a:p>
            <a:r>
              <a:rPr lang="en-US" i="1" dirty="0"/>
              <a:t>This is a suggestion.</a:t>
            </a:r>
          </a:p>
          <a:p>
            <a:r>
              <a:rPr lang="en-US" i="1" dirty="0"/>
              <a:t>Any implementation that gives a wide interface to the Originator and a narrow interface to anything else is welcome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10056EA-1D37-9DAD-69D7-9433C864ED57}"/>
              </a:ext>
            </a:extLst>
          </p:cNvPr>
          <p:cNvSpPr>
            <a:spLocks noGrp="1" noChangeArrowheads="1"/>
          </p:cNvSpPr>
          <p:nvPr>
            <p:ph type="title"/>
          </p:nvPr>
        </p:nvSpPr>
        <p:spPr>
          <a:xfrm>
            <a:off x="457200" y="139700"/>
            <a:ext cx="8229600" cy="1371600"/>
          </a:xfrm>
        </p:spPr>
        <p:txBody>
          <a:bodyPr/>
          <a:lstStyle/>
          <a:p>
            <a:r>
              <a:rPr lang="en-GB" altLang="tr-TR" dirty="0"/>
              <a:t>Implementation issues</a:t>
            </a:r>
          </a:p>
        </p:txBody>
      </p:sp>
      <p:sp>
        <p:nvSpPr>
          <p:cNvPr id="63491" name="Rectangle 3">
            <a:extLst>
              <a:ext uri="{FF2B5EF4-FFF2-40B4-BE49-F238E27FC236}">
                <a16:creationId xmlns:a16="http://schemas.microsoft.com/office/drawing/2014/main" id="{A5D1BCD8-2399-2408-8832-37C10681FF96}"/>
              </a:ext>
            </a:extLst>
          </p:cNvPr>
          <p:cNvSpPr>
            <a:spLocks noGrp="1" noChangeArrowheads="1"/>
          </p:cNvSpPr>
          <p:nvPr>
            <p:ph idx="1"/>
          </p:nvPr>
        </p:nvSpPr>
        <p:spPr>
          <a:xfrm>
            <a:off x="457200" y="1335088"/>
            <a:ext cx="8229600" cy="4532312"/>
          </a:xfrm>
        </p:spPr>
        <p:txBody>
          <a:bodyPr/>
          <a:lstStyle/>
          <a:p>
            <a:pPr>
              <a:lnSpc>
                <a:spcPct val="110000"/>
              </a:lnSpc>
            </a:pPr>
            <a:r>
              <a:rPr lang="en-US" altLang="tr-TR" sz="2800" dirty="0"/>
              <a:t>Memento could have less state information than the originator </a:t>
            </a:r>
          </a:p>
          <a:p>
            <a:pPr lvl="1">
              <a:lnSpc>
                <a:spcPct val="110000"/>
              </a:lnSpc>
            </a:pPr>
            <a:r>
              <a:rPr lang="en-US" altLang="tr-TR" sz="2400" dirty="0"/>
              <a:t>Store only the changing parts</a:t>
            </a:r>
          </a:p>
          <a:p>
            <a:pPr lvl="1">
              <a:lnSpc>
                <a:spcPct val="110000"/>
              </a:lnSpc>
            </a:pPr>
            <a:r>
              <a:rPr lang="en-US" altLang="tr-TR" sz="2400" dirty="0"/>
              <a:t>Memento could just save incremental changes when there is a predictable change sequence</a:t>
            </a:r>
          </a:p>
          <a:p>
            <a:pPr>
              <a:lnSpc>
                <a:spcPct val="110000"/>
              </a:lnSpc>
            </a:pPr>
            <a:r>
              <a:rPr lang="en-US" altLang="tr-TR" sz="2800" dirty="0"/>
              <a:t>If you need all private information, create the memento by cloning the original object.</a:t>
            </a:r>
          </a:p>
          <a:p>
            <a:pPr lvl="1">
              <a:lnSpc>
                <a:spcPct val="110000"/>
              </a:lnSpc>
            </a:pPr>
            <a:r>
              <a:rPr lang="en-US" altLang="tr-TR" sz="2400" dirty="0"/>
              <a:t>Alternatively, </a:t>
            </a:r>
            <a:r>
              <a:rPr lang="en-US" altLang="tr-TR" sz="2400" dirty="0" err="1"/>
              <a:t>toString</a:t>
            </a:r>
            <a:r>
              <a:rPr lang="en-US" altLang="tr-TR" sz="2400" dirty="0"/>
              <a:t>() and write to a file</a:t>
            </a:r>
          </a:p>
          <a:p>
            <a:pPr>
              <a:lnSpc>
                <a:spcPct val="110000"/>
              </a:lnSpc>
            </a:pPr>
            <a:r>
              <a:rPr lang="en-US" altLang="tr-TR" sz="2800" dirty="0"/>
              <a:t>Serialization is a creation of memento</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16CBC-5A04-592F-415A-A3D9625234BE}"/>
              </a:ext>
            </a:extLst>
          </p:cNvPr>
          <p:cNvSpPr>
            <a:spLocks noGrp="1"/>
          </p:cNvSpPr>
          <p:nvPr>
            <p:ph type="title"/>
          </p:nvPr>
        </p:nvSpPr>
        <p:spPr/>
        <p:txBody>
          <a:bodyPr/>
          <a:lstStyle/>
          <a:p>
            <a:r>
              <a:rPr lang="en-US" dirty="0"/>
              <a:t>Undo and memento</a:t>
            </a:r>
          </a:p>
        </p:txBody>
      </p:sp>
      <p:sp>
        <p:nvSpPr>
          <p:cNvPr id="3" name="Content Placeholder 2">
            <a:extLst>
              <a:ext uri="{FF2B5EF4-FFF2-40B4-BE49-F238E27FC236}">
                <a16:creationId xmlns:a16="http://schemas.microsoft.com/office/drawing/2014/main" id="{E50CBDDF-639D-95D9-9439-523750BA8F83}"/>
              </a:ext>
            </a:extLst>
          </p:cNvPr>
          <p:cNvSpPr>
            <a:spLocks noGrp="1"/>
          </p:cNvSpPr>
          <p:nvPr>
            <p:ph idx="1"/>
          </p:nvPr>
        </p:nvSpPr>
        <p:spPr/>
        <p:txBody>
          <a:bodyPr/>
          <a:lstStyle/>
          <a:p>
            <a:r>
              <a:rPr lang="en-US" sz="2800" dirty="0"/>
              <a:t>Many possibilities</a:t>
            </a:r>
          </a:p>
          <a:p>
            <a:pPr lvl="1"/>
            <a:r>
              <a:rPr lang="en-US" sz="2400" b="1" dirty="0"/>
              <a:t>Command</a:t>
            </a:r>
            <a:r>
              <a:rPr lang="en-US" sz="2400" dirty="0"/>
              <a:t> object itself can be the </a:t>
            </a:r>
            <a:r>
              <a:rPr lang="en-US" sz="2400" b="1" dirty="0"/>
              <a:t>caretaker </a:t>
            </a:r>
            <a:r>
              <a:rPr lang="en-US" sz="2400" dirty="0"/>
              <a:t>(better)</a:t>
            </a:r>
          </a:p>
          <a:p>
            <a:pPr lvl="1"/>
            <a:r>
              <a:rPr lang="en-US" sz="2400" dirty="0"/>
              <a:t>If not, save the command and memento as a pair in the undo/redo history</a:t>
            </a:r>
          </a:p>
          <a:p>
            <a:pPr lvl="1"/>
            <a:r>
              <a:rPr lang="en-US" sz="2400" dirty="0"/>
              <a:t>Commands in the history are in execution order, so memento could save only incremental changes</a:t>
            </a:r>
          </a:p>
          <a:p>
            <a:r>
              <a:rPr lang="en-US" sz="2800" dirty="0"/>
              <a:t>The memento pattern does not specify how caretaker works other than it should see the narrow interface</a:t>
            </a:r>
          </a:p>
        </p:txBody>
      </p:sp>
    </p:spTree>
    <p:extLst>
      <p:ext uri="{BB962C8B-B14F-4D97-AF65-F5344CB8AC3E}">
        <p14:creationId xmlns:p14="http://schemas.microsoft.com/office/powerpoint/2010/main" val="38862858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AB02CE-AE8B-00F0-4E8A-E4E7D44DC1B6}"/>
              </a:ext>
            </a:extLst>
          </p:cNvPr>
          <p:cNvSpPr>
            <a:spLocks noGrp="1"/>
          </p:cNvSpPr>
          <p:nvPr>
            <p:ph idx="4294967295"/>
          </p:nvPr>
        </p:nvSpPr>
        <p:spPr>
          <a:xfrm>
            <a:off x="550606" y="686159"/>
            <a:ext cx="8593394" cy="4532312"/>
          </a:xfrm>
        </p:spPr>
        <p:txBody>
          <a:bodyPr/>
          <a:lstStyle/>
          <a:p>
            <a:pPr marL="0" indent="0">
              <a:buNone/>
            </a:pPr>
            <a:r>
              <a:rPr lang="en-US" sz="2400" dirty="0"/>
              <a:t>class </a:t>
            </a:r>
            <a:r>
              <a:rPr lang="en-US" sz="2400" dirty="0" err="1"/>
              <a:t>TypingCommand</a:t>
            </a:r>
            <a:r>
              <a:rPr lang="en-US" sz="2400" dirty="0"/>
              <a:t> implements </a:t>
            </a:r>
            <a:r>
              <a:rPr lang="en-US" sz="2400" i="1" dirty="0"/>
              <a:t>Command</a:t>
            </a:r>
            <a:r>
              <a:rPr lang="en-US" sz="2400" dirty="0"/>
              <a:t> { //caretaker </a:t>
            </a:r>
          </a:p>
          <a:p>
            <a:pPr marL="0" indent="0">
              <a:buNone/>
            </a:pPr>
            <a:r>
              <a:rPr lang="en-US" sz="2400" dirty="0"/>
              <a:t>  private </a:t>
            </a:r>
            <a:r>
              <a:rPr lang="en-US" sz="2400" dirty="0" err="1"/>
              <a:t>TextEditor</a:t>
            </a:r>
            <a:r>
              <a:rPr lang="en-US" sz="2400" dirty="0"/>
              <a:t> editor; </a:t>
            </a:r>
          </a:p>
          <a:p>
            <a:pPr marL="0" indent="0">
              <a:buNone/>
            </a:pPr>
            <a:r>
              <a:rPr lang="en-US" sz="2400" dirty="0"/>
              <a:t>  private String </a:t>
            </a:r>
            <a:r>
              <a:rPr lang="en-US" sz="2400" dirty="0" err="1"/>
              <a:t>textToAdd</a:t>
            </a:r>
            <a:r>
              <a:rPr lang="en-US" sz="2400" dirty="0"/>
              <a:t>; </a:t>
            </a:r>
          </a:p>
          <a:p>
            <a:pPr marL="0" indent="0">
              <a:buNone/>
            </a:pPr>
            <a:r>
              <a:rPr lang="en-US" sz="2400" dirty="0"/>
              <a:t>  private </a:t>
            </a:r>
            <a:r>
              <a:rPr lang="en-US" sz="2400" dirty="0">
                <a:solidFill>
                  <a:schemeClr val="bg2"/>
                </a:solidFill>
              </a:rPr>
              <a:t>Memento</a:t>
            </a:r>
            <a:r>
              <a:rPr lang="en-US" sz="2400" dirty="0"/>
              <a:t> </a:t>
            </a:r>
            <a:r>
              <a:rPr lang="en-US" sz="2400" dirty="0">
                <a:solidFill>
                  <a:schemeClr val="bg2"/>
                </a:solidFill>
              </a:rPr>
              <a:t>backup</a:t>
            </a:r>
            <a:r>
              <a:rPr lang="en-US" sz="2400" dirty="0"/>
              <a:t>; // Magic token! </a:t>
            </a:r>
          </a:p>
          <a:p>
            <a:pPr marL="0" indent="0">
              <a:buNone/>
            </a:pPr>
            <a:r>
              <a:rPr lang="en-US" sz="2400" dirty="0"/>
              <a:t>  public </a:t>
            </a:r>
            <a:r>
              <a:rPr lang="en-US" sz="2400" dirty="0" err="1"/>
              <a:t>TypingCommand</a:t>
            </a:r>
            <a:r>
              <a:rPr lang="en-US" sz="2400" dirty="0"/>
              <a:t>(</a:t>
            </a:r>
            <a:r>
              <a:rPr lang="en-US" sz="2400" dirty="0" err="1"/>
              <a:t>TextEditor</a:t>
            </a:r>
            <a:r>
              <a:rPr lang="en-US" sz="2400" dirty="0"/>
              <a:t> editor, String text) {          </a:t>
            </a:r>
          </a:p>
          <a:p>
            <a:pPr marL="0" indent="0">
              <a:buNone/>
            </a:pPr>
            <a:r>
              <a:rPr lang="en-US" sz="2400" dirty="0"/>
              <a:t>        </a:t>
            </a:r>
            <a:r>
              <a:rPr lang="en-US" sz="2400" dirty="0" err="1"/>
              <a:t>this.editor</a:t>
            </a:r>
            <a:r>
              <a:rPr lang="en-US" sz="2400" dirty="0"/>
              <a:t> = editor; </a:t>
            </a:r>
            <a:r>
              <a:rPr lang="en-US" sz="2400" dirty="0" err="1"/>
              <a:t>this.textToAdd</a:t>
            </a:r>
            <a:r>
              <a:rPr lang="en-US" sz="2400" dirty="0"/>
              <a:t> = text; }</a:t>
            </a:r>
          </a:p>
          <a:p>
            <a:pPr marL="0" indent="0">
              <a:buNone/>
            </a:pPr>
            <a:r>
              <a:rPr lang="en-US" sz="2400" dirty="0"/>
              <a:t>  public void </a:t>
            </a:r>
            <a:r>
              <a:rPr lang="en-US" sz="2400" b="1" dirty="0"/>
              <a:t>execute</a:t>
            </a:r>
            <a:r>
              <a:rPr lang="en-US" sz="2400" dirty="0"/>
              <a:t>() { </a:t>
            </a:r>
          </a:p>
          <a:p>
            <a:pPr marL="0" indent="0">
              <a:buNone/>
            </a:pPr>
            <a:r>
              <a:rPr lang="en-US" sz="2400" dirty="0"/>
              <a:t>     </a:t>
            </a:r>
            <a:r>
              <a:rPr lang="en-US" sz="2400" dirty="0">
                <a:solidFill>
                  <a:schemeClr val="bg2"/>
                </a:solidFill>
              </a:rPr>
              <a:t>backup</a:t>
            </a:r>
            <a:r>
              <a:rPr lang="en-US" sz="2400" dirty="0"/>
              <a:t> = </a:t>
            </a:r>
            <a:r>
              <a:rPr lang="en-US" sz="2400" dirty="0" err="1"/>
              <a:t>editor.</a:t>
            </a:r>
            <a:r>
              <a:rPr lang="en-US" sz="2400" b="1" dirty="0" err="1"/>
              <a:t>save</a:t>
            </a:r>
            <a:r>
              <a:rPr lang="en-US" sz="2400" dirty="0"/>
              <a:t>(); </a:t>
            </a:r>
          </a:p>
          <a:p>
            <a:pPr marL="0" indent="0">
              <a:buNone/>
            </a:pPr>
            <a:r>
              <a:rPr lang="en-US" sz="2400" dirty="0"/>
              <a:t>     </a:t>
            </a:r>
            <a:r>
              <a:rPr lang="en-US" sz="2400" dirty="0" err="1"/>
              <a:t>editor.addText</a:t>
            </a:r>
            <a:r>
              <a:rPr lang="en-US" sz="2400" dirty="0"/>
              <a:t>(</a:t>
            </a:r>
            <a:r>
              <a:rPr lang="en-US" sz="2400" dirty="0" err="1"/>
              <a:t>textToAdd</a:t>
            </a:r>
            <a:r>
              <a:rPr lang="en-US" sz="2400" dirty="0"/>
              <a:t>); </a:t>
            </a:r>
          </a:p>
          <a:p>
            <a:pPr marL="0" indent="0">
              <a:buNone/>
            </a:pPr>
            <a:r>
              <a:rPr lang="en-US" sz="2400" dirty="0"/>
              <a:t>  } </a:t>
            </a:r>
          </a:p>
          <a:p>
            <a:pPr marL="0" indent="0">
              <a:buNone/>
            </a:pPr>
            <a:r>
              <a:rPr lang="en-US" sz="2400" dirty="0"/>
              <a:t> public void </a:t>
            </a:r>
            <a:r>
              <a:rPr lang="en-US" sz="2400" b="1" dirty="0"/>
              <a:t>undo</a:t>
            </a:r>
            <a:r>
              <a:rPr lang="en-US" sz="2400" dirty="0"/>
              <a:t>() {   //restore the originator using memento</a:t>
            </a:r>
          </a:p>
          <a:p>
            <a:pPr marL="0" indent="0">
              <a:buNone/>
            </a:pPr>
            <a:r>
              <a:rPr lang="en-US" sz="2400" dirty="0"/>
              <a:t>     if (backup != null)  </a:t>
            </a:r>
            <a:r>
              <a:rPr lang="en-US" sz="2400" dirty="0" err="1"/>
              <a:t>editor.</a:t>
            </a:r>
            <a:r>
              <a:rPr lang="en-US" sz="2400" b="1" dirty="0" err="1"/>
              <a:t>restore</a:t>
            </a:r>
            <a:r>
              <a:rPr lang="en-US" sz="2400" dirty="0"/>
              <a:t>(</a:t>
            </a:r>
            <a:r>
              <a:rPr lang="en-US" sz="2400" dirty="0">
                <a:solidFill>
                  <a:schemeClr val="bg2"/>
                </a:solidFill>
              </a:rPr>
              <a:t>backup</a:t>
            </a:r>
            <a:r>
              <a:rPr lang="en-US" sz="2400" dirty="0"/>
              <a:t>); }</a:t>
            </a:r>
          </a:p>
          <a:p>
            <a:pPr marL="0" indent="0">
              <a:buNone/>
            </a:pPr>
            <a:r>
              <a:rPr lang="en-US" sz="2400" dirty="0"/>
              <a:t> } </a:t>
            </a:r>
          </a:p>
        </p:txBody>
      </p:sp>
      <p:sp>
        <p:nvSpPr>
          <p:cNvPr id="4" name="Speech Bubble: Rectangle 3">
            <a:extLst>
              <a:ext uri="{FF2B5EF4-FFF2-40B4-BE49-F238E27FC236}">
                <a16:creationId xmlns:a16="http://schemas.microsoft.com/office/drawing/2014/main" id="{0467AFB2-3039-2362-5237-0FEBE3EDAC4B}"/>
              </a:ext>
            </a:extLst>
          </p:cNvPr>
          <p:cNvSpPr/>
          <p:nvPr/>
        </p:nvSpPr>
        <p:spPr bwMode="auto">
          <a:xfrm>
            <a:off x="5456903" y="1219199"/>
            <a:ext cx="3048000" cy="707923"/>
          </a:xfrm>
          <a:prstGeom prst="wedgeRectCallout">
            <a:avLst>
              <a:gd name="adj1" fmla="val -91325"/>
              <a:gd name="adj2" fmla="val -27369"/>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Originator of Memento AND</a:t>
            </a:r>
          </a:p>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Arial" charset="0"/>
              </a:rPr>
              <a:t>Receiver of Command</a:t>
            </a:r>
            <a:endParaRPr kumimoji="0" lang="en-US" sz="1800" b="0" i="0" u="none" strike="noStrike" cap="none" normalizeH="0" baseline="0" dirty="0">
              <a:ln>
                <a:noFill/>
              </a:ln>
              <a:solidFill>
                <a:schemeClr val="tx1"/>
              </a:solidFill>
              <a:effectLst/>
              <a:latin typeface="Arial" charset="0"/>
            </a:endParaRPr>
          </a:p>
        </p:txBody>
      </p:sp>
      <p:sp>
        <p:nvSpPr>
          <p:cNvPr id="5" name="Speech Bubble: Rectangle 4">
            <a:extLst>
              <a:ext uri="{FF2B5EF4-FFF2-40B4-BE49-F238E27FC236}">
                <a16:creationId xmlns:a16="http://schemas.microsoft.com/office/drawing/2014/main" id="{E4CFF2B2-D858-2C4A-3BC6-980144C1EA27}"/>
              </a:ext>
            </a:extLst>
          </p:cNvPr>
          <p:cNvSpPr/>
          <p:nvPr/>
        </p:nvSpPr>
        <p:spPr bwMode="auto">
          <a:xfrm>
            <a:off x="5943600" y="3721509"/>
            <a:ext cx="2374490" cy="1017639"/>
          </a:xfrm>
          <a:prstGeom prst="wedgeRectCallout">
            <a:avLst>
              <a:gd name="adj1" fmla="val -119896"/>
              <a:gd name="adj2" fmla="val -21572"/>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r>
              <a:rPr lang="en-US" dirty="0"/>
              <a:t> Originator creates memento. Command is the caretaker of it.</a:t>
            </a:r>
            <a:endParaRPr kumimoji="0" lang="en-US" sz="18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42820625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6949AC4-6919-F38D-1F46-FFF3F9ECCC07}"/>
              </a:ext>
            </a:extLst>
          </p:cNvPr>
          <p:cNvSpPr>
            <a:spLocks noGrp="1" noChangeArrowheads="1"/>
          </p:cNvSpPr>
          <p:nvPr>
            <p:ph type="title"/>
          </p:nvPr>
        </p:nvSpPr>
        <p:spPr>
          <a:xfrm>
            <a:off x="457200" y="139700"/>
            <a:ext cx="8229600" cy="1371600"/>
          </a:xfrm>
        </p:spPr>
        <p:txBody>
          <a:bodyPr/>
          <a:lstStyle/>
          <a:p>
            <a:r>
              <a:rPr lang="en-US" altLang="tr-TR"/>
              <a:t>Memento - Consequences</a:t>
            </a:r>
          </a:p>
        </p:txBody>
      </p:sp>
      <p:sp>
        <p:nvSpPr>
          <p:cNvPr id="64515" name="Rectangle 3">
            <a:extLst>
              <a:ext uri="{FF2B5EF4-FFF2-40B4-BE49-F238E27FC236}">
                <a16:creationId xmlns:a16="http://schemas.microsoft.com/office/drawing/2014/main" id="{652674D6-F455-132A-94B5-74993EF7E812}"/>
              </a:ext>
            </a:extLst>
          </p:cNvPr>
          <p:cNvSpPr>
            <a:spLocks noGrp="1" noChangeArrowheads="1"/>
          </p:cNvSpPr>
          <p:nvPr>
            <p:ph idx="1"/>
          </p:nvPr>
        </p:nvSpPr>
        <p:spPr>
          <a:xfrm>
            <a:off x="457200" y="1335088"/>
            <a:ext cx="8229600" cy="4532312"/>
          </a:xfrm>
        </p:spPr>
        <p:txBody>
          <a:bodyPr/>
          <a:lstStyle/>
          <a:p>
            <a:r>
              <a:rPr lang="en-US" altLang="tr-TR" dirty="0"/>
              <a:t>Simplifies the originator</a:t>
            </a:r>
          </a:p>
          <a:p>
            <a:pPr lvl="1"/>
            <a:r>
              <a:rPr lang="en-US" altLang="tr-TR" dirty="0"/>
              <a:t>No storage management for copies in the originator</a:t>
            </a:r>
          </a:p>
          <a:p>
            <a:pPr lvl="1"/>
            <a:r>
              <a:rPr lang="en-US" altLang="tr-TR" dirty="0"/>
              <a:t>Not keeping track of its previous state since this is the responsibility of the </a:t>
            </a:r>
            <a:r>
              <a:rPr lang="en-US" altLang="tr-TR" dirty="0" err="1"/>
              <a:t>CareTaker</a:t>
            </a:r>
            <a:endParaRPr lang="en-US" altLang="tr-TR" dirty="0"/>
          </a:p>
          <a:p>
            <a:r>
              <a:rPr lang="en-US" altLang="tr-TR" dirty="0"/>
              <a:t>Memento </a:t>
            </a:r>
            <a:r>
              <a:rPr lang="en-US" altLang="tr-TR" b="1" dirty="0"/>
              <a:t>avoid exposing</a:t>
            </a:r>
            <a:r>
              <a:rPr lang="en-US" altLang="tr-TR" dirty="0"/>
              <a:t> information anyone other than the originator</a:t>
            </a:r>
          </a:p>
          <a:p>
            <a:pPr lvl="1"/>
            <a:r>
              <a:rPr lang="en-US" altLang="tr-TR" dirty="0"/>
              <a:t>Preserving encapsulation</a:t>
            </a:r>
          </a:p>
          <a:p>
            <a:r>
              <a:rPr lang="en-US" altLang="tr-TR" dirty="0"/>
              <a:t>Might be expensive</a:t>
            </a:r>
          </a:p>
          <a:p>
            <a:pPr lvl="1"/>
            <a:r>
              <a:rPr lang="en-US" altLang="tr-TR" dirty="0"/>
              <a:t>Depends on copy cost, storage cost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81596-87DD-26FF-256C-4EDC11E2E9FE}"/>
              </a:ext>
            </a:extLst>
          </p:cNvPr>
          <p:cNvSpPr>
            <a:spLocks noGrp="1"/>
          </p:cNvSpPr>
          <p:nvPr>
            <p:ph type="title"/>
          </p:nvPr>
        </p:nvSpPr>
        <p:spPr/>
        <p:txBody>
          <a:bodyPr/>
          <a:lstStyle/>
          <a:p>
            <a:r>
              <a:rPr lang="en-US" dirty="0"/>
              <a:t>Known uses</a:t>
            </a:r>
          </a:p>
        </p:txBody>
      </p:sp>
      <p:sp>
        <p:nvSpPr>
          <p:cNvPr id="3" name="Content Placeholder 2">
            <a:extLst>
              <a:ext uri="{FF2B5EF4-FFF2-40B4-BE49-F238E27FC236}">
                <a16:creationId xmlns:a16="http://schemas.microsoft.com/office/drawing/2014/main" id="{25FE1F7A-E12A-9624-94AD-9212BD2E45D1}"/>
              </a:ext>
            </a:extLst>
          </p:cNvPr>
          <p:cNvSpPr>
            <a:spLocks noGrp="1"/>
          </p:cNvSpPr>
          <p:nvPr>
            <p:ph idx="1"/>
          </p:nvPr>
        </p:nvSpPr>
        <p:spPr/>
        <p:txBody>
          <a:bodyPr/>
          <a:lstStyle/>
          <a:p>
            <a:r>
              <a:rPr lang="en-US" dirty="0"/>
              <a:t>All implementations of </a:t>
            </a:r>
            <a:r>
              <a:rPr lang="en-US" dirty="0" err="1">
                <a:latin typeface="Source Sans Pro" panose="020B0503030403020204" pitchFamily="34" charset="0"/>
                <a:ea typeface="Source Sans Pro" panose="020B0503030403020204" pitchFamily="34" charset="0"/>
              </a:rPr>
              <a:t>java.io.Serializable</a:t>
            </a:r>
            <a:endParaRPr lang="en-US" dirty="0">
              <a:latin typeface="Source Sans Pro" panose="020B0503030403020204" pitchFamily="34" charset="0"/>
              <a:ea typeface="Source Sans Pro" panose="020B0503030403020204" pitchFamily="34" charset="0"/>
            </a:endParaRPr>
          </a:p>
          <a:p>
            <a:r>
              <a:rPr lang="en-US" dirty="0"/>
              <a:t>All implementations of </a:t>
            </a:r>
            <a:r>
              <a:rPr lang="en-US" dirty="0" err="1">
                <a:latin typeface="Source Sans Pro" panose="020B0503030403020204" pitchFamily="34" charset="0"/>
                <a:ea typeface="Source Sans Pro" panose="020B0503030403020204" pitchFamily="34" charset="0"/>
              </a:rPr>
              <a:t>javax.faces.component.StateHolder</a:t>
            </a:r>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Load and save checkpoints</a:t>
            </a:r>
          </a:p>
        </p:txBody>
      </p:sp>
    </p:spTree>
    <p:extLst>
      <p:ext uri="{BB962C8B-B14F-4D97-AF65-F5344CB8AC3E}">
        <p14:creationId xmlns:p14="http://schemas.microsoft.com/office/powerpoint/2010/main" val="35142141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690CFCE4-C13C-F21D-A61A-5D430B3C3CA4}"/>
              </a:ext>
            </a:extLst>
          </p:cNvPr>
          <p:cNvSpPr>
            <a:spLocks noGrp="1" noChangeArrowheads="1"/>
          </p:cNvSpPr>
          <p:nvPr>
            <p:ph type="title"/>
          </p:nvPr>
        </p:nvSpPr>
        <p:spPr>
          <a:xfrm>
            <a:off x="457200" y="139700"/>
            <a:ext cx="8229600" cy="1371600"/>
          </a:xfrm>
        </p:spPr>
        <p:txBody>
          <a:bodyPr/>
          <a:lstStyle/>
          <a:p>
            <a:r>
              <a:rPr lang="en-US" altLang="tr-TR"/>
              <a:t>Related patterns</a:t>
            </a:r>
            <a:endParaRPr lang="tr-TR" altLang="tr-TR"/>
          </a:p>
        </p:txBody>
      </p:sp>
      <p:sp>
        <p:nvSpPr>
          <p:cNvPr id="65539" name="Content Placeholder 2">
            <a:extLst>
              <a:ext uri="{FF2B5EF4-FFF2-40B4-BE49-F238E27FC236}">
                <a16:creationId xmlns:a16="http://schemas.microsoft.com/office/drawing/2014/main" id="{9404CE49-FF04-8990-2B04-A38530EAF895}"/>
              </a:ext>
            </a:extLst>
          </p:cNvPr>
          <p:cNvSpPr>
            <a:spLocks noGrp="1" noChangeArrowheads="1"/>
          </p:cNvSpPr>
          <p:nvPr>
            <p:ph idx="1"/>
          </p:nvPr>
        </p:nvSpPr>
        <p:spPr>
          <a:xfrm>
            <a:off x="457200" y="1374775"/>
            <a:ext cx="8229600" cy="4525963"/>
          </a:xfrm>
        </p:spPr>
        <p:txBody>
          <a:bodyPr/>
          <a:lstStyle/>
          <a:p>
            <a:r>
              <a:rPr lang="en-US" altLang="tr-TR" sz="2800" b="1" dirty="0"/>
              <a:t>Command</a:t>
            </a:r>
            <a:r>
              <a:rPr lang="en-US" altLang="tr-TR" sz="2800" dirty="0"/>
              <a:t> can use Memento to maintain the state required for an undo operation.</a:t>
            </a:r>
          </a:p>
          <a:p>
            <a:r>
              <a:rPr lang="en-US" altLang="tr-TR" sz="2800" dirty="0"/>
              <a:t>Command and Memento act as magic tokens to be passed around and invoked at a later time. </a:t>
            </a:r>
          </a:p>
          <a:p>
            <a:pPr lvl="1"/>
            <a:r>
              <a:rPr lang="en-US" altLang="tr-TR" sz="2400" dirty="0"/>
              <a:t>In Command, the token represents a request; </a:t>
            </a:r>
          </a:p>
          <a:p>
            <a:pPr lvl="1"/>
            <a:r>
              <a:rPr lang="en-US" altLang="tr-TR" sz="2400" dirty="0"/>
              <a:t>in Memento, it represents the internal state of an object at a particular time. </a:t>
            </a:r>
          </a:p>
          <a:p>
            <a:r>
              <a:rPr lang="en-US" altLang="tr-TR" sz="2800" dirty="0"/>
              <a:t>An </a:t>
            </a:r>
            <a:r>
              <a:rPr lang="en-US" altLang="tr-TR" sz="2800" b="1" dirty="0"/>
              <a:t>iterator</a:t>
            </a:r>
            <a:r>
              <a:rPr lang="en-US" altLang="tr-TR" sz="2800" dirty="0"/>
              <a:t> can use a Memento to capture the state of an iteration.</a:t>
            </a:r>
          </a:p>
          <a:p>
            <a:pPr lvl="1"/>
            <a:r>
              <a:rPr lang="en-US" altLang="tr-TR" sz="2400" dirty="0"/>
              <a:t>Iterator stores the memento internally</a:t>
            </a:r>
            <a:endParaRPr lang="tr-TR" altLang="tr-TR"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7A6FC-4E6B-02E7-40E7-6235032A47D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03865DB-D83F-BAE4-2666-3426CF949F0A}"/>
              </a:ext>
            </a:extLst>
          </p:cNvPr>
          <p:cNvSpPr>
            <a:spLocks noGrp="1"/>
          </p:cNvSpPr>
          <p:nvPr>
            <p:ph idx="1"/>
          </p:nvPr>
        </p:nvSpPr>
        <p:spPr/>
        <p:txBody>
          <a:bodyPr/>
          <a:lstStyle/>
          <a:p>
            <a:pPr algn="l"/>
            <a:r>
              <a:rPr lang="en-US" sz="2800" i="0" dirty="0">
                <a:effectLst/>
                <a:highlight>
                  <a:srgbClr val="FFFFFF"/>
                </a:highlight>
                <a:latin typeface="+mj-lt"/>
              </a:rPr>
              <a:t>Design Patterns: Elements of Reusable Object-Oriented Software. Gamma, E., Helm, R., Johnson, R., &amp; </a:t>
            </a:r>
            <a:r>
              <a:rPr lang="en-US" sz="2800" i="0" dirty="0" err="1">
                <a:effectLst/>
                <a:highlight>
                  <a:srgbClr val="FFFFFF"/>
                </a:highlight>
                <a:latin typeface="+mj-lt"/>
              </a:rPr>
              <a:t>Vlissides</a:t>
            </a:r>
            <a:r>
              <a:rPr lang="en-US" sz="2800" i="0" dirty="0">
                <a:effectLst/>
                <a:highlight>
                  <a:srgbClr val="FFFFFF"/>
                </a:highlight>
                <a:latin typeface="+mj-lt"/>
              </a:rPr>
              <a:t>, J. (1994). </a:t>
            </a:r>
          </a:p>
          <a:p>
            <a:pPr lvl="1"/>
            <a:r>
              <a:rPr lang="en-US" sz="2400" i="0" dirty="0" err="1">
                <a:effectLst/>
                <a:highlight>
                  <a:srgbClr val="FFFFFF"/>
                </a:highlight>
                <a:latin typeface="+mj-lt"/>
              </a:rPr>
              <a:t>GoF</a:t>
            </a:r>
            <a:r>
              <a:rPr lang="en-US" sz="2400" i="0" dirty="0">
                <a:effectLst/>
                <a:highlight>
                  <a:srgbClr val="FFFFFF"/>
                </a:highlight>
                <a:latin typeface="+mj-lt"/>
              </a:rPr>
              <a:t> book</a:t>
            </a:r>
          </a:p>
          <a:p>
            <a:pPr algn="l"/>
            <a:r>
              <a:rPr lang="en-US" sz="2800" i="0" dirty="0">
                <a:effectLst/>
                <a:highlight>
                  <a:srgbClr val="FFFFFF"/>
                </a:highlight>
                <a:latin typeface="+mj-lt"/>
              </a:rPr>
              <a:t>Dive Into Design Patterns, Refactoring guru, A. Shvets, (2021)</a:t>
            </a:r>
          </a:p>
          <a:p>
            <a:pPr algn="l"/>
            <a:r>
              <a:rPr lang="en-US" sz="2800" dirty="0">
                <a:highlight>
                  <a:srgbClr val="FFFFFF"/>
                </a:highlight>
                <a:latin typeface="+mj-lt"/>
              </a:rPr>
              <a:t>Game programming patterns, R. Nystrom (2014)</a:t>
            </a:r>
          </a:p>
          <a:p>
            <a:pPr algn="l"/>
            <a:r>
              <a:rPr lang="en-US" sz="2800" dirty="0">
                <a:highlight>
                  <a:srgbClr val="FFFFFF"/>
                </a:highlight>
                <a:latin typeface="+mj-lt"/>
              </a:rPr>
              <a:t>Head First Design Patterns. Freeman, E., Robson, E., Sierra, K., &amp; Bates, B. (2004). </a:t>
            </a:r>
          </a:p>
        </p:txBody>
      </p:sp>
    </p:spTree>
    <p:extLst>
      <p:ext uri="{BB962C8B-B14F-4D97-AF65-F5344CB8AC3E}">
        <p14:creationId xmlns:p14="http://schemas.microsoft.com/office/powerpoint/2010/main" val="3649312436"/>
      </p:ext>
    </p:extLst>
  </p:cSld>
  <p:clrMapOvr>
    <a:masterClrMapping/>
  </p:clrMapOvr>
</p:sld>
</file>

<file path=ppt/theme/theme1.xml><?xml version="1.0" encoding="utf-8"?>
<a:theme xmlns:a="http://schemas.openxmlformats.org/drawingml/2006/main" name="Theme1">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393727C7-4C0B-4C8A-960B-21573C88EF42}" vid="{72BF777F-C220-4904-8C2B-017C5ED9CE62}"/>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10177</TotalTime>
  <Words>5139</Words>
  <Application>Microsoft Office PowerPoint</Application>
  <PresentationFormat>On-screen Show (4:3)</PresentationFormat>
  <Paragraphs>771</Paragraphs>
  <Slides>69</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Arial</vt:lpstr>
      <vt:lpstr>Arial Black</vt:lpstr>
      <vt:lpstr>Courier New</vt:lpstr>
      <vt:lpstr>Source Code Pro</vt:lpstr>
      <vt:lpstr>Source Sans Pro</vt:lpstr>
      <vt:lpstr>Times New Roman</vt:lpstr>
      <vt:lpstr>Wingdings</vt:lpstr>
      <vt:lpstr>Theme1</vt:lpstr>
      <vt:lpstr>Behavioral Patterns</vt:lpstr>
      <vt:lpstr>We will discuss</vt:lpstr>
      <vt:lpstr>PowerPoint Presentation</vt:lpstr>
      <vt:lpstr>COMMAND Turning a method invocation into an object </vt:lpstr>
      <vt:lpstr>Motivation Example</vt:lpstr>
      <vt:lpstr>Motivation Example</vt:lpstr>
      <vt:lpstr>Motivation Example</vt:lpstr>
      <vt:lpstr>The Problem</vt:lpstr>
      <vt:lpstr>Command Pattern</vt:lpstr>
      <vt:lpstr>Command Pattern</vt:lpstr>
      <vt:lpstr>Compose invokers with Commands</vt:lpstr>
      <vt:lpstr>Structure – Command Pattern</vt:lpstr>
      <vt:lpstr>Structure – Command Pattern</vt:lpstr>
      <vt:lpstr>Sequence Diagram – Save Button</vt:lpstr>
      <vt:lpstr>Sequence Diagram --Copy</vt:lpstr>
      <vt:lpstr>Configuring Invoker with Commands</vt:lpstr>
      <vt:lpstr>Exercise : Task Schedular</vt:lpstr>
      <vt:lpstr>Exercise: Class diagram</vt:lpstr>
      <vt:lpstr>Command Pattern </vt:lpstr>
      <vt:lpstr>Applicability –when..</vt:lpstr>
      <vt:lpstr>Applicability –when..</vt:lpstr>
      <vt:lpstr>Applicability –when..</vt:lpstr>
      <vt:lpstr>Macro Command Implementation</vt:lpstr>
      <vt:lpstr>Macro Command Implementation</vt:lpstr>
      <vt:lpstr>Applicability –when..</vt:lpstr>
      <vt:lpstr>Implementation issue-1: Undo</vt:lpstr>
      <vt:lpstr>Example: Undoable Command</vt:lpstr>
      <vt:lpstr>Example: Undoable Command</vt:lpstr>
      <vt:lpstr>Undo/Redo</vt:lpstr>
      <vt:lpstr>How does undo work?</vt:lpstr>
      <vt:lpstr>PowerPoint Presentation</vt:lpstr>
      <vt:lpstr>Multi level undo/redo</vt:lpstr>
      <vt:lpstr>Command History</vt:lpstr>
      <vt:lpstr>Impl. Issues – Undo/Redo</vt:lpstr>
      <vt:lpstr>PowerPoint Presentation</vt:lpstr>
      <vt:lpstr>Commands can be shared</vt:lpstr>
      <vt:lpstr>PowerPoint Presentation</vt:lpstr>
      <vt:lpstr>Implementation issues -2</vt:lpstr>
      <vt:lpstr>Implementation issues -3</vt:lpstr>
      <vt:lpstr>Implementation issues-3</vt:lpstr>
      <vt:lpstr>C++ Functors as Command</vt:lpstr>
      <vt:lpstr>STL Functors as Command</vt:lpstr>
      <vt:lpstr>Using Lambda as command</vt:lpstr>
      <vt:lpstr>Lambda in remote command</vt:lpstr>
      <vt:lpstr>Command- Consequences</vt:lpstr>
      <vt:lpstr>Known uses</vt:lpstr>
      <vt:lpstr>Thread safety</vt:lpstr>
      <vt:lpstr>Related patterns</vt:lpstr>
      <vt:lpstr>Related patterns</vt:lpstr>
      <vt:lpstr>Can I undo any command?</vt:lpstr>
      <vt:lpstr>memento</vt:lpstr>
      <vt:lpstr>Restoring a previous state</vt:lpstr>
      <vt:lpstr>Memento</vt:lpstr>
      <vt:lpstr>Memento - Collaborations</vt:lpstr>
      <vt:lpstr>Memento-Collaborations</vt:lpstr>
      <vt:lpstr>Restore to a checkpoint</vt:lpstr>
      <vt:lpstr>Memento Answers  </vt:lpstr>
      <vt:lpstr>Design Forces</vt:lpstr>
      <vt:lpstr>How not to break encapsulation?</vt:lpstr>
      <vt:lpstr>Originator is a friend of Memento</vt:lpstr>
      <vt:lpstr>Originator sees the wide interface</vt:lpstr>
      <vt:lpstr>Memento is an inner class Object</vt:lpstr>
      <vt:lpstr>Implementation issues</vt:lpstr>
      <vt:lpstr>Undo and memento</vt:lpstr>
      <vt:lpstr>PowerPoint Presentation</vt:lpstr>
      <vt:lpstr>Memento - Consequences</vt:lpstr>
      <vt:lpstr>Known uses</vt:lpstr>
      <vt:lpstr>Related patterns</vt:lpstr>
      <vt:lpstr>References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Patterns</dc:title>
  <dc:creator>Aysu Betin-Can</dc:creator>
  <cp:lastModifiedBy>Aysu Betin Can</cp:lastModifiedBy>
  <cp:revision>461</cp:revision>
  <cp:lastPrinted>2025-10-29T03:54:01Z</cp:lastPrinted>
  <dcterms:created xsi:type="dcterms:W3CDTF">2006-02-28T14:58:56Z</dcterms:created>
  <dcterms:modified xsi:type="dcterms:W3CDTF">2025-11-03T21:51:27Z</dcterms:modified>
</cp:coreProperties>
</file>