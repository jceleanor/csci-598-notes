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4">
  <p:sldMasterIdLst>
    <p:sldMasterId id="2147483660" r:id="rId1"/>
  </p:sldMasterIdLst>
  <p:notesMasterIdLst>
    <p:notesMasterId r:id="rId70"/>
  </p:notesMasterIdLst>
  <p:handoutMasterIdLst>
    <p:handoutMasterId r:id="rId71"/>
  </p:handoutMasterIdLst>
  <p:sldIdLst>
    <p:sldId id="441" r:id="rId2"/>
    <p:sldId id="258" r:id="rId3"/>
    <p:sldId id="257" r:id="rId4"/>
    <p:sldId id="486" r:id="rId5"/>
    <p:sldId id="450" r:id="rId6"/>
    <p:sldId id="452" r:id="rId7"/>
    <p:sldId id="474" r:id="rId8"/>
    <p:sldId id="336" r:id="rId9"/>
    <p:sldId id="320" r:id="rId10"/>
    <p:sldId id="374" r:id="rId11"/>
    <p:sldId id="468" r:id="rId12"/>
    <p:sldId id="318" r:id="rId13"/>
    <p:sldId id="367" r:id="rId14"/>
    <p:sldId id="322" r:id="rId15"/>
    <p:sldId id="321" r:id="rId16"/>
    <p:sldId id="319" r:id="rId17"/>
    <p:sldId id="458" r:id="rId18"/>
    <p:sldId id="459" r:id="rId19"/>
    <p:sldId id="438" r:id="rId20"/>
    <p:sldId id="460" r:id="rId21"/>
    <p:sldId id="431" r:id="rId22"/>
    <p:sldId id="384" r:id="rId23"/>
    <p:sldId id="444" r:id="rId24"/>
    <p:sldId id="465" r:id="rId25"/>
    <p:sldId id="466" r:id="rId26"/>
    <p:sldId id="472" r:id="rId27"/>
    <p:sldId id="445" r:id="rId28"/>
    <p:sldId id="446" r:id="rId29"/>
    <p:sldId id="372" r:id="rId30"/>
    <p:sldId id="462" r:id="rId31"/>
    <p:sldId id="470" r:id="rId32"/>
    <p:sldId id="455" r:id="rId33"/>
    <p:sldId id="469" r:id="rId34"/>
    <p:sldId id="467" r:id="rId35"/>
    <p:sldId id="373" r:id="rId36"/>
    <p:sldId id="464" r:id="rId37"/>
    <p:sldId id="448" r:id="rId38"/>
    <p:sldId id="422" r:id="rId39"/>
    <p:sldId id="423" r:id="rId40"/>
    <p:sldId id="388" r:id="rId41"/>
    <p:sldId id="362" r:id="rId42"/>
    <p:sldId id="476" r:id="rId43"/>
    <p:sldId id="424" r:id="rId44"/>
    <p:sldId id="433" r:id="rId45"/>
    <p:sldId id="477" r:id="rId46"/>
    <p:sldId id="408" r:id="rId47"/>
    <p:sldId id="478" r:id="rId48"/>
    <p:sldId id="479" r:id="rId49"/>
    <p:sldId id="399" r:id="rId50"/>
    <p:sldId id="400" r:id="rId51"/>
    <p:sldId id="341" r:id="rId52"/>
    <p:sldId id="432" r:id="rId53"/>
    <p:sldId id="398" r:id="rId54"/>
    <p:sldId id="339" r:id="rId55"/>
    <p:sldId id="425" r:id="rId56"/>
    <p:sldId id="338" r:id="rId57"/>
    <p:sldId id="342" r:id="rId58"/>
    <p:sldId id="480" r:id="rId59"/>
    <p:sldId id="473" r:id="rId60"/>
    <p:sldId id="481" r:id="rId61"/>
    <p:sldId id="482" r:id="rId62"/>
    <p:sldId id="483" r:id="rId63"/>
    <p:sldId id="484" r:id="rId64"/>
    <p:sldId id="389" r:id="rId65"/>
    <p:sldId id="485" r:id="rId66"/>
    <p:sldId id="434" r:id="rId67"/>
    <p:sldId id="471" r:id="rId68"/>
    <p:sldId id="436" r:id="rId69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4500" autoAdjust="0"/>
  </p:normalViewPr>
  <p:slideViewPr>
    <p:cSldViewPr>
      <p:cViewPr varScale="1">
        <p:scale>
          <a:sx n="93" d="100"/>
          <a:sy n="93" d="100"/>
        </p:scale>
        <p:origin x="2124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Rectangle 2">
            <a:extLst>
              <a:ext uri="{FF2B5EF4-FFF2-40B4-BE49-F238E27FC236}">
                <a16:creationId xmlns:a16="http://schemas.microsoft.com/office/drawing/2014/main" id="{BFD49175-91ED-4E29-855E-3769109A8BC7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1075" name="Rectangle 3">
            <a:extLst>
              <a:ext uri="{FF2B5EF4-FFF2-40B4-BE49-F238E27FC236}">
                <a16:creationId xmlns:a16="http://schemas.microsoft.com/office/drawing/2014/main" id="{B5837284-A494-48BA-AECB-45854028F0D4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1076" name="Rectangle 4">
            <a:extLst>
              <a:ext uri="{FF2B5EF4-FFF2-40B4-BE49-F238E27FC236}">
                <a16:creationId xmlns:a16="http://schemas.microsoft.com/office/drawing/2014/main" id="{C429F91F-89F3-431F-8619-4D7D11A69444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1077" name="Rectangle 5">
            <a:extLst>
              <a:ext uri="{FF2B5EF4-FFF2-40B4-BE49-F238E27FC236}">
                <a16:creationId xmlns:a16="http://schemas.microsoft.com/office/drawing/2014/main" id="{6AE16597-BB30-41D6-B385-DA400A198DB1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DBBF5F74-1435-4F5B-87F0-37FEDD603BC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>
            <a:extLst>
              <a:ext uri="{FF2B5EF4-FFF2-40B4-BE49-F238E27FC236}">
                <a16:creationId xmlns:a16="http://schemas.microsoft.com/office/drawing/2014/main" id="{446EFD89-E621-45B9-961C-5F4271065B21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2771" name="Rectangle 3">
            <a:extLst>
              <a:ext uri="{FF2B5EF4-FFF2-40B4-BE49-F238E27FC236}">
                <a16:creationId xmlns:a16="http://schemas.microsoft.com/office/drawing/2014/main" id="{AB7433AF-0755-4ED6-A0F5-624E02EA1535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250F76DB-BE86-9630-CA56-C11BD7F1CBD3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2773" name="Rectangle 5">
            <a:extLst>
              <a:ext uri="{FF2B5EF4-FFF2-40B4-BE49-F238E27FC236}">
                <a16:creationId xmlns:a16="http://schemas.microsoft.com/office/drawing/2014/main" id="{5A344A6C-00E2-4F70-8EA5-E0684D8FD53A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2774" name="Rectangle 6">
            <a:extLst>
              <a:ext uri="{FF2B5EF4-FFF2-40B4-BE49-F238E27FC236}">
                <a16:creationId xmlns:a16="http://schemas.microsoft.com/office/drawing/2014/main" id="{0BBEF5A8-B952-4A1E-B2FD-D164D960489B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2775" name="Rectangle 7">
            <a:extLst>
              <a:ext uri="{FF2B5EF4-FFF2-40B4-BE49-F238E27FC236}">
                <a16:creationId xmlns:a16="http://schemas.microsoft.com/office/drawing/2014/main" id="{3401FB2A-5832-4D97-BA4B-6F50EB685C2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398F261E-68E1-442B-8BD3-47F1FF8ACD3C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refactoring.guru/design-patterns/decorator" TargetMode="External"/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refactoring.guru/design-patterns/strategy" TargetMode="Externa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{</a:t>
            </a:r>
          </a:p>
          <a:p>
            <a:r>
              <a:rPr lang="en-US" dirty="0"/>
              <a:t>    "</a:t>
            </a:r>
            <a:r>
              <a:rPr lang="en-US" dirty="0" err="1"/>
              <a:t>OSVersion</a:t>
            </a:r>
            <a:r>
              <a:rPr lang="en-US" dirty="0"/>
              <a:t>": "Windows 11 Core",</a:t>
            </a:r>
          </a:p>
          <a:p>
            <a:r>
              <a:rPr lang="en-US" dirty="0"/>
              <a:t>    "</a:t>
            </a:r>
            <a:r>
              <a:rPr lang="en-US" dirty="0" err="1"/>
              <a:t>PreferredLanguages</a:t>
            </a:r>
            <a:r>
              <a:rPr lang="en-US" dirty="0"/>
              <a:t>": ["</a:t>
            </a:r>
            <a:r>
              <a:rPr lang="en-US" dirty="0" err="1"/>
              <a:t>en</a:t>
            </a:r>
            <a:r>
              <a:rPr lang="en-US" dirty="0"/>
              <a:t>-US", "tr"],</a:t>
            </a:r>
          </a:p>
          <a:p>
            <a:r>
              <a:rPr lang="en-US" dirty="0"/>
              <a:t>    "</a:t>
            </a:r>
            <a:r>
              <a:rPr lang="en-US" dirty="0" err="1"/>
              <a:t>InstalledApps</a:t>
            </a:r>
            <a:r>
              <a:rPr lang="en-US" dirty="0"/>
              <a:t>": [</a:t>
            </a:r>
          </a:p>
          <a:p>
            <a:r>
              <a:rPr lang="en-US" dirty="0"/>
              <a:t>        "Google Chrome",</a:t>
            </a:r>
          </a:p>
          <a:p>
            <a:r>
              <a:rPr lang="en-US" dirty="0"/>
              <a:t>        "Microsoft Teams",</a:t>
            </a:r>
          </a:p>
          <a:p>
            <a:r>
              <a:rPr lang="en-US" dirty="0"/>
              <a:t>        "Visual Studio Code",</a:t>
            </a:r>
          </a:p>
          <a:p>
            <a:r>
              <a:rPr lang="en-US" dirty="0"/>
              <a:t>        "Microsoft Edge"</a:t>
            </a:r>
          </a:p>
          <a:p>
            <a:r>
              <a:rPr lang="en-US" dirty="0"/>
              <a:t>    ]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8F261E-68E1-442B-8BD3-47F1FF8ACD3C}" type="slidenum">
              <a:rPr lang="en-US" altLang="en-US" smtClean="0"/>
              <a:pPr/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479841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21120-C8A0-68FA-B7C3-D578DDF25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ED58BC-3B06-CDED-10D1-B51129605B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790AAA-3BF6-171E-655E-A8A515E746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&lt;system&gt;</a:t>
            </a:r>
          </a:p>
          <a:p>
            <a:r>
              <a:rPr lang="en-US" dirty="0"/>
              <a:t>    &lt;</a:t>
            </a:r>
            <a:r>
              <a:rPr lang="en-US" dirty="0" err="1"/>
              <a:t>OSVersion</a:t>
            </a:r>
            <a:r>
              <a:rPr lang="en-US" dirty="0"/>
              <a:t>&gt;Windows 11 Core&lt;/</a:t>
            </a:r>
            <a:r>
              <a:rPr lang="en-US" dirty="0" err="1"/>
              <a:t>OSVersion</a:t>
            </a:r>
            <a:r>
              <a:rPr lang="en-US" dirty="0"/>
              <a:t>&gt;</a:t>
            </a:r>
          </a:p>
          <a:p>
            <a:r>
              <a:rPr lang="en-US" dirty="0"/>
              <a:t>    &lt;</a:t>
            </a:r>
            <a:r>
              <a:rPr lang="en-US" dirty="0" err="1"/>
              <a:t>PreferredLanguages</a:t>
            </a:r>
            <a:r>
              <a:rPr lang="en-US" dirty="0"/>
              <a:t>&gt;</a:t>
            </a:r>
          </a:p>
          <a:p>
            <a:r>
              <a:rPr lang="en-US" dirty="0"/>
              <a:t>        &lt;language&gt;</a:t>
            </a:r>
            <a:r>
              <a:rPr lang="en-US" dirty="0" err="1"/>
              <a:t>en</a:t>
            </a:r>
            <a:r>
              <a:rPr lang="en-US" dirty="0"/>
              <a:t>-US&lt;/language&gt;</a:t>
            </a:r>
          </a:p>
          <a:p>
            <a:r>
              <a:rPr lang="en-US" dirty="0"/>
              <a:t>        &lt;language&gt;tr&lt;/language&gt;</a:t>
            </a:r>
          </a:p>
          <a:p>
            <a:r>
              <a:rPr lang="en-US" dirty="0"/>
              <a:t>    &lt;/</a:t>
            </a:r>
            <a:r>
              <a:rPr lang="en-US" dirty="0" err="1"/>
              <a:t>PreferredLanguages</a:t>
            </a:r>
            <a:r>
              <a:rPr lang="en-US" dirty="0"/>
              <a:t>&gt;</a:t>
            </a:r>
          </a:p>
          <a:p>
            <a:r>
              <a:rPr lang="en-US" dirty="0"/>
              <a:t>    &lt;</a:t>
            </a:r>
            <a:r>
              <a:rPr lang="en-US" dirty="0" err="1"/>
              <a:t>InstalledApps</a:t>
            </a:r>
            <a:r>
              <a:rPr lang="en-US" dirty="0"/>
              <a:t>&gt;</a:t>
            </a:r>
          </a:p>
          <a:p>
            <a:r>
              <a:rPr lang="en-US" dirty="0"/>
              <a:t>        &lt;app&gt;Google Chrome&lt;/app&gt;</a:t>
            </a:r>
          </a:p>
          <a:p>
            <a:r>
              <a:rPr lang="en-US" dirty="0"/>
              <a:t>        &lt;app&gt;Microsoft Teams&lt;/app&gt;</a:t>
            </a:r>
          </a:p>
          <a:p>
            <a:r>
              <a:rPr lang="en-US" dirty="0"/>
              <a:t>        &lt;app&gt;Visual Studio Code&lt;/app&gt;</a:t>
            </a:r>
          </a:p>
          <a:p>
            <a:r>
              <a:rPr lang="en-US" dirty="0"/>
              <a:t>        &lt;app&gt;Microsoft Edge&lt;/app&gt;</a:t>
            </a:r>
          </a:p>
          <a:p>
            <a:r>
              <a:rPr lang="en-US" dirty="0"/>
              <a:t>    &lt;/</a:t>
            </a:r>
            <a:r>
              <a:rPr lang="en-US" dirty="0" err="1"/>
              <a:t>InstalledApps</a:t>
            </a:r>
            <a:r>
              <a:rPr lang="en-US" dirty="0"/>
              <a:t>&gt;</a:t>
            </a:r>
          </a:p>
          <a:p>
            <a:r>
              <a:rPr lang="en-US" dirty="0"/>
              <a:t>&lt;/system&gt;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8A29DC-8B6E-9B5A-A7FD-1A9EC9A290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8F261E-68E1-442B-8BD3-47F1FF8ACD3C}" type="slidenum">
              <a:rPr lang="en-US" altLang="en-US" smtClean="0"/>
              <a:pPr/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012405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2">
            <a:extLst>
              <a:ext uri="{FF2B5EF4-FFF2-40B4-BE49-F238E27FC236}">
                <a16:creationId xmlns:a16="http://schemas.microsoft.com/office/drawing/2014/main" id="{F89F4524-C4A6-D74E-D4BF-58A6E44C1B0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3" name="Rectangle 3">
            <a:extLst>
              <a:ext uri="{FF2B5EF4-FFF2-40B4-BE49-F238E27FC236}">
                <a16:creationId xmlns:a16="http://schemas.microsoft.com/office/drawing/2014/main" id="{C177F46A-5C6F-D880-1125-6D12B2864E1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en-US" altLang="tr-TR">
                <a:latin typeface="Arial" panose="020B0604020202020204" pitchFamily="34" charset="0"/>
              </a:rPr>
              <a:t>Think about recipes for a while</a:t>
            </a:r>
            <a:endParaRPr lang="en-GB" altLang="tr-TR">
              <a:latin typeface="Arial" panose="020B0604020202020204" pitchFamily="34" charset="0"/>
            </a:endParaRPr>
          </a:p>
          <a:p>
            <a:endParaRPr lang="en-GB" altLang="tr-TR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04720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common. Printing different documents, serializing documents in different formats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8F261E-68E1-442B-8BD3-47F1FF8ACD3C}" type="slidenum">
              <a:rPr lang="en-US" altLang="en-US" smtClean="0"/>
              <a:pPr/>
              <a:t>15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488043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see https://refactoring.guru/design-patterns/template-method for example codes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8F261E-68E1-442B-8BD3-47F1FF8ACD3C}" type="slidenum">
              <a:rPr lang="en-US" altLang="en-US" smtClean="0"/>
              <a:pPr/>
              <a:t>20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079611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a call sequence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8F261E-68E1-442B-8BD3-47F1FF8ACD3C}" type="slidenum">
              <a:rPr lang="en-US" altLang="en-US" smtClean="0"/>
              <a:pPr/>
              <a:t>22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375393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 like in real life:  President of a Uni talks to president of another Uni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8F261E-68E1-442B-8BD3-47F1FF8ACD3C}" type="slidenum">
              <a:rPr lang="en-US" altLang="en-US" smtClean="0"/>
              <a:pPr/>
              <a:t>23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22887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 subclass is used where a base class is expected, it may behave poorly due to its implementation of primitive operations.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8F261E-68E1-442B-8BD3-47F1FF8ACD3C}" type="slidenum">
              <a:rPr lang="en-US" altLang="en-US" smtClean="0"/>
              <a:pPr/>
              <a:t>24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950640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Maintenance gets harder as the number of primitive operation increases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8F261E-68E1-442B-8BD3-47F1FF8ACD3C}" type="slidenum">
              <a:rPr lang="en-US" altLang="en-US" smtClean="0"/>
              <a:pPr/>
              <a:t>25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221994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8F261E-68E1-442B-8BD3-47F1FF8ACD3C}" type="slidenum">
              <a:rPr lang="en-US" altLang="en-US" smtClean="0"/>
              <a:pPr/>
              <a:t>27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347465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CommonWall</a:t>
            </a:r>
            <a:r>
              <a:rPr 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</a:rPr>
              <a:t> is a utility operation that determines the direction of the common wall between two rooms.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9F679D-6D11-4ED1-A70F-057B76B3F1BB}" type="slidenum">
              <a:rPr lang="en-US" altLang="en-US" smtClean="0"/>
              <a:pPr/>
              <a:t>30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113886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634DF-FE1C-6A7E-F098-B82BBD775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1F4B7F-5360-C422-7677-4E8024A600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639118-8ADD-55D2-97EF-46C3AD89F5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CommonWall</a:t>
            </a:r>
            <a:r>
              <a:rPr 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</a:rPr>
              <a:t> is a utility operation that determines the direction of the common wall between two rooms.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826C3F-C97E-47CD-2C98-54184F0223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9F679D-6D11-4ED1-A70F-057B76B3F1BB}" type="slidenum">
              <a:rPr lang="en-US" altLang="en-US" smtClean="0"/>
              <a:pPr/>
              <a:t>31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687977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CommonWall</a:t>
            </a:r>
            <a:r>
              <a:rPr 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</a:rPr>
              <a:t> is a utility operation that determines the direction of the common wall between two rooms.</a:t>
            </a:r>
          </a:p>
          <a:p>
            <a:endParaRPr lang="en-US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Times New Roman" panose="02020603050405020304" pitchFamily="18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9F679D-6D11-4ED1-A70F-057B76B3F1BB}" type="slidenum">
              <a:rPr lang="en-US" altLang="en-US" smtClean="0"/>
              <a:pPr/>
              <a:t>32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857909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67C51-DEF1-C08C-4E09-40FAA6D9C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EAF913-BE42-BC97-B165-43B6882862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FE3576-A2BE-1AD2-66E2-2A2E20ED08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CommonWall</a:t>
            </a:r>
            <a:r>
              <a:rPr 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</a:rPr>
              <a:t> is a utility operation that determines the direction of the common wall between two rooms.</a:t>
            </a:r>
          </a:p>
          <a:p>
            <a:endParaRPr lang="en-US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Times New Roman" panose="02020603050405020304" pitchFamily="18" charset="0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Room* checkroom(Room* room,r1){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if( room == </a:t>
            </a:r>
            <a:r>
              <a:rPr lang="en-US" alt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nullptr</a:t>
            </a:r>
            <a:r>
              <a:rPr lang="en-US" alt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)   </a:t>
            </a:r>
            <a:r>
              <a:rPr lang="en-US" alt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buildRoom</a:t>
            </a:r>
            <a:r>
              <a:rPr lang="en-US" alt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(r1);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return  </a:t>
            </a:r>
            <a:r>
              <a:rPr lang="en-US" alt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getMaze</a:t>
            </a:r>
            <a:r>
              <a:rPr lang="en-US" alt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().</a:t>
            </a:r>
            <a:r>
              <a:rPr lang="en-US" alt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getRoom</a:t>
            </a:r>
            <a:r>
              <a:rPr lang="en-US" alt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(r1);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}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A8EF83-C4A8-CFBD-ABF6-AE22115264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9F679D-6D11-4ED1-A70F-057B76B3F1BB}" type="slidenum">
              <a:rPr lang="en-US" altLang="en-US" smtClean="0"/>
              <a:pPr/>
              <a:t>33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5713874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Subclass of </a:t>
            </a:r>
            <a:r>
              <a:rPr lang="en-US" dirty="0" err="1"/>
              <a:t>inputsream</a:t>
            </a:r>
            <a:r>
              <a:rPr lang="en-US" dirty="0"/>
              <a:t> may read from a buffer, from internet connection, from a file </a:t>
            </a:r>
            <a:r>
              <a:rPr lang="en-US" dirty="0" err="1"/>
              <a:t>etc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8F261E-68E1-442B-8BD3-47F1FF8ACD3C}" type="slidenum">
              <a:rPr lang="en-US" altLang="en-US" smtClean="0"/>
              <a:pPr/>
              <a:t>36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519792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8F261E-68E1-442B-8BD3-47F1FF8ACD3C}" type="slidenum">
              <a:rPr lang="en-US" altLang="en-US" smtClean="0"/>
              <a:pPr/>
              <a:t>38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652704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tr-T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class Car{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tr-T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Breaking </a:t>
            </a:r>
            <a:r>
              <a:rPr lang="en-US" altLang="tr-T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breakS</a:t>
            </a:r>
            <a:r>
              <a:rPr lang="en-US" altLang="tr-T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tr-T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Accelerate </a:t>
            </a:r>
            <a:r>
              <a:rPr lang="en-US" altLang="tr-T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accelS</a:t>
            </a:r>
            <a:r>
              <a:rPr lang="en-US" altLang="tr-T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tr-T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tr-T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break(){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tr-T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tr-T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breakS.break</a:t>
            </a:r>
            <a:r>
              <a:rPr lang="en-US" altLang="tr-T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();}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tr-T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accelerate(){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tr-T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tr-T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accelS.accelerate</a:t>
            </a:r>
            <a:r>
              <a:rPr lang="en-US" altLang="tr-T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();}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54FBDE-A9F9-4F5B-96DE-C51BD4646E22}" type="slidenum">
              <a:rPr lang="en-US" altLang="en-US" smtClean="0"/>
              <a:pPr/>
              <a:t>48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040175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tr-TR" sz="2800" dirty="0"/>
              <a:t>Need a family of algorithms</a:t>
            </a:r>
          </a:p>
          <a:p>
            <a:pPr lvl="1"/>
            <a:r>
              <a:rPr lang="en-US" altLang="tr-TR" sz="2400" dirty="0"/>
              <a:t>JPEG compression for images in a document, LZWR1 for text compression</a:t>
            </a:r>
          </a:p>
          <a:p>
            <a:r>
              <a:rPr lang="en-US" b="1" i="0" dirty="0">
                <a:solidFill>
                  <a:srgbClr val="444444"/>
                </a:solidFill>
                <a:effectLst/>
                <a:highlight>
                  <a:srgbClr val="FFFFFF"/>
                </a:highlight>
                <a:latin typeface="PT Sans" panose="020B0503020203020204" pitchFamily="34" charset="0"/>
              </a:rPr>
              <a:t>to isolate the business logic of a class from the implementation details of algorithms that may not be as important in the context of that logic.</a:t>
            </a:r>
          </a:p>
          <a:p>
            <a:r>
              <a:rPr lang="en-US" b="0" i="0" dirty="0">
                <a:solidFill>
                  <a:srgbClr val="444444"/>
                </a:solidFill>
                <a:effectLst/>
                <a:highlight>
                  <a:srgbClr val="FFFFFF"/>
                </a:highlight>
                <a:latin typeface="PT Sans" panose="020B0503020203020204" pitchFamily="34" charset="0"/>
              </a:rPr>
              <a:t> The Strategy pattern lets you isolate the code, internal data, and dependencies of various algorithms from the rest of the code. Various clients get a simple interface to execute the algorithms and switch them at runtime.</a:t>
            </a:r>
          </a:p>
          <a:p>
            <a:r>
              <a:rPr lang="en-US" b="0" i="0" dirty="0">
                <a:solidFill>
                  <a:srgbClr val="444444"/>
                </a:solidFill>
                <a:effectLst/>
                <a:highlight>
                  <a:srgbClr val="FFFFFF"/>
                </a:highlight>
                <a:latin typeface="PT Sans" panose="020B0503020203020204" pitchFamily="34" charset="0"/>
              </a:rPr>
              <a:t>e.g. Huffman coding uses priority queue e.g. LZW uses dictionary (hash table)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8F261E-68E1-442B-8BD3-47F1FF8ACD3C}" type="slidenum">
              <a:rPr lang="en-US" altLang="en-US" smtClean="0"/>
              <a:pPr/>
              <a:t>51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397819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b="1" i="0" dirty="0">
                <a:solidFill>
                  <a:srgbClr val="444444"/>
                </a:solidFill>
                <a:effectLst/>
                <a:highlight>
                  <a:srgbClr val="FFFFFF"/>
                </a:highlight>
                <a:latin typeface="PT Sans" panose="020B0503020203020204" pitchFamily="34" charset="0"/>
              </a:rPr>
              <a:t>to isolate the business logic of a class from the implementation details of algorithms that may not be as important in the context of that logic.</a:t>
            </a:r>
          </a:p>
          <a:p>
            <a:r>
              <a:rPr lang="en-US" dirty="0"/>
              <a:t>See the </a:t>
            </a:r>
            <a:r>
              <a:rPr lang="en-US" dirty="0" err="1"/>
              <a:t>GoF</a:t>
            </a:r>
            <a:r>
              <a:rPr lang="en-US" dirty="0"/>
              <a:t> book example Compositor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8F261E-68E1-442B-8BD3-47F1FF8ACD3C}" type="slidenum">
              <a:rPr lang="en-US" altLang="en-US" smtClean="0"/>
              <a:pPr/>
              <a:t>58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179156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Alternative: </a:t>
            </a:r>
            <a:r>
              <a:rPr lang="en-US" b="0" i="1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</a:rPr>
              <a:t>Strategies as template parameters</a:t>
            </a:r>
            <a:r>
              <a:rPr 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</a:rPr>
              <a:t> In C++ templates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8F261E-68E1-442B-8BD3-47F1FF8ACD3C}" type="slidenum">
              <a:rPr lang="en-US" altLang="en-US" smtClean="0"/>
              <a:pPr/>
              <a:t>59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3080902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);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8F261E-68E1-442B-8BD3-47F1FF8ACD3C}" type="slidenum">
              <a:rPr lang="en-US" altLang="en-US" smtClean="0"/>
              <a:pPr/>
              <a:t>60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213746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flyweight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8F261E-68E1-442B-8BD3-47F1FF8ACD3C}" type="slidenum">
              <a:rPr lang="en-US" altLang="en-US" smtClean="0"/>
              <a:pPr/>
              <a:t>65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4267334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b="1" i="0" u="none" strike="noStrike" dirty="0">
                <a:solidFill>
                  <a:srgbClr val="444444"/>
                </a:solidFill>
                <a:effectLst/>
                <a:highlight>
                  <a:srgbClr val="FFFFFF"/>
                </a:highlight>
                <a:latin typeface="PT Sans" panose="020B0503020203020204" pitchFamily="34" charset="0"/>
                <a:hlinkClick r:id="rId3"/>
              </a:rPr>
              <a:t>Decorator</a:t>
            </a:r>
            <a:r>
              <a:rPr lang="en-US" b="0" i="0" dirty="0">
                <a:solidFill>
                  <a:srgbClr val="444444"/>
                </a:solidFill>
                <a:effectLst/>
                <a:highlight>
                  <a:srgbClr val="FFFFFF"/>
                </a:highlight>
                <a:latin typeface="PT Sans" panose="020B0503020203020204" pitchFamily="34" charset="0"/>
              </a:rPr>
              <a:t> lets you change the skin of an object, while </a:t>
            </a:r>
            <a:r>
              <a:rPr lang="en-US" b="1" i="0" u="none" strike="noStrike" dirty="0">
                <a:solidFill>
                  <a:srgbClr val="444444"/>
                </a:solidFill>
                <a:effectLst/>
                <a:highlight>
                  <a:srgbClr val="FFFFFF"/>
                </a:highlight>
                <a:latin typeface="PT Sans" panose="020B0503020203020204" pitchFamily="34" charset="0"/>
                <a:hlinkClick r:id="rId4"/>
              </a:rPr>
              <a:t>Strategy</a:t>
            </a:r>
            <a:r>
              <a:rPr lang="en-US" b="0" i="0" dirty="0">
                <a:solidFill>
                  <a:srgbClr val="444444"/>
                </a:solidFill>
                <a:effectLst/>
                <a:highlight>
                  <a:srgbClr val="FFFFFF"/>
                </a:highlight>
                <a:latin typeface="PT Sans" panose="020B0503020203020204" pitchFamily="34" charset="0"/>
              </a:rPr>
              <a:t> lets you change the guts.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b="0" i="0" dirty="0">
                <a:solidFill>
                  <a:srgbClr val="444444"/>
                </a:solidFill>
                <a:effectLst/>
                <a:highlight>
                  <a:srgbClr val="FFFFFF"/>
                </a:highlight>
                <a:latin typeface="PT Sans" panose="020B0503020203020204" pitchFamily="34" charset="0"/>
              </a:rPr>
              <a:t>TM  lets you alter parts of an algorithm by extending those parts in subclasses.,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b="0" i="0" dirty="0">
                <a:solidFill>
                  <a:srgbClr val="444444"/>
                </a:solidFill>
                <a:effectLst/>
                <a:highlight>
                  <a:srgbClr val="FFFFFF"/>
                </a:highlight>
                <a:latin typeface="PT Sans" panose="020B0503020203020204" pitchFamily="34" charset="0"/>
              </a:rPr>
              <a:t>Strategy alter parts of the object’s behavior by supplying it with different strategies that correspond to that behavior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8F261E-68E1-442B-8BD3-47F1FF8ACD3C}" type="slidenum">
              <a:rPr lang="en-US" altLang="en-US" smtClean="0"/>
              <a:pPr/>
              <a:t>66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1664759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javax.servlet.Filter</a:t>
            </a:r>
            <a:r>
              <a:rPr lang="en-US" dirty="0"/>
              <a:t> with </a:t>
            </a:r>
            <a:r>
              <a:rPr lang="en-US" dirty="0" err="1"/>
              <a:t>doFilter</a:t>
            </a:r>
            <a:r>
              <a:rPr lang="en-US" dirty="0"/>
              <a:t>()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8F261E-68E1-442B-8BD3-47F1FF8ACD3C}" type="slidenum">
              <a:rPr lang="en-US" altLang="en-US" smtClean="0"/>
              <a:pPr/>
              <a:t>68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25085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A933B59C-C21A-EFF7-079C-36DC23EE087B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9144000" cy="6858000"/>
            <a:chOff x="0" y="0"/>
            <a:chExt cx="5760" cy="4320"/>
          </a:xfrm>
        </p:grpSpPr>
        <p:sp>
          <p:nvSpPr>
            <p:cNvPr id="3" name="Rectangle 3">
              <a:extLst>
                <a:ext uri="{FF2B5EF4-FFF2-40B4-BE49-F238E27FC236}">
                  <a16:creationId xmlns:a16="http://schemas.microsoft.com/office/drawing/2014/main" id="{8812F79E-FF62-E510-396A-C6BFF8246D74}"/>
                </a:ext>
              </a:extLst>
            </p:cNvPr>
            <p:cNvSpPr>
              <a:spLocks noChangeArrowheads="1"/>
            </p:cNvSpPr>
            <p:nvPr/>
          </p:nvSpPr>
          <p:spPr bwMode="hidden">
            <a:xfrm>
              <a:off x="0" y="0"/>
              <a:ext cx="2208" cy="4320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algn="ctr" eaLnBrk="1" hangingPunct="1">
                <a:defRPr/>
              </a:pPr>
              <a:endParaRPr lang="tr-TR" altLang="tr-TR" sz="2400">
                <a:latin typeface="Times New Roman" pitchFamily="18" charset="0"/>
              </a:endParaRPr>
            </a:p>
          </p:txBody>
        </p:sp>
        <p:sp>
          <p:nvSpPr>
            <p:cNvPr id="4" name="Rectangle 4">
              <a:extLst>
                <a:ext uri="{FF2B5EF4-FFF2-40B4-BE49-F238E27FC236}">
                  <a16:creationId xmlns:a16="http://schemas.microsoft.com/office/drawing/2014/main" id="{8384749C-74BF-0084-E8B6-9285624CAF26}"/>
                </a:ext>
              </a:extLst>
            </p:cNvPr>
            <p:cNvSpPr>
              <a:spLocks noChangeArrowheads="1"/>
            </p:cNvSpPr>
            <p:nvPr/>
          </p:nvSpPr>
          <p:spPr bwMode="hidden">
            <a:xfrm>
              <a:off x="1081" y="1065"/>
              <a:ext cx="4679" cy="159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defRPr/>
              </a:pPr>
              <a:endParaRPr lang="tr-TR" altLang="tr-TR" sz="2400">
                <a:latin typeface="Times New Roman" pitchFamily="18" charset="0"/>
              </a:endParaRPr>
            </a:p>
          </p:txBody>
        </p:sp>
        <p:grpSp>
          <p:nvGrpSpPr>
            <p:cNvPr id="5" name="Group 5">
              <a:extLst>
                <a:ext uri="{FF2B5EF4-FFF2-40B4-BE49-F238E27FC236}">
                  <a16:creationId xmlns:a16="http://schemas.microsoft.com/office/drawing/2014/main" id="{164DD8CE-944C-179B-CB16-B5BA3531336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0" y="672"/>
              <a:ext cx="1806" cy="1989"/>
              <a:chOff x="0" y="672"/>
              <a:chExt cx="1806" cy="1989"/>
            </a:xfrm>
          </p:grpSpPr>
          <p:sp>
            <p:nvSpPr>
              <p:cNvPr id="6" name="Rectangle 6">
                <a:extLst>
                  <a:ext uri="{FF2B5EF4-FFF2-40B4-BE49-F238E27FC236}">
                    <a16:creationId xmlns:a16="http://schemas.microsoft.com/office/drawing/2014/main" id="{B05A5323-8585-B6BD-AC93-A049C167CD8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1" y="2257"/>
                <a:ext cx="363" cy="404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defRPr/>
                </a:pPr>
                <a:endParaRPr lang="tr-TR" altLang="tr-TR" sz="2400">
                  <a:latin typeface="Times New Roman" pitchFamily="18" charset="0"/>
                </a:endParaRPr>
              </a:p>
            </p:txBody>
          </p:sp>
          <p:sp>
            <p:nvSpPr>
              <p:cNvPr id="7" name="Rectangle 7">
                <a:extLst>
                  <a:ext uri="{FF2B5EF4-FFF2-40B4-BE49-F238E27FC236}">
                    <a16:creationId xmlns:a16="http://schemas.microsoft.com/office/drawing/2014/main" id="{AA23FA9B-52FD-2B96-5E71-BB72606D65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" y="1065"/>
                <a:ext cx="362" cy="405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defRPr/>
                </a:pPr>
                <a:endParaRPr lang="tr-TR" altLang="tr-TR" sz="2400">
                  <a:latin typeface="Times New Roman" pitchFamily="18" charset="0"/>
                </a:endParaRPr>
              </a:p>
            </p:txBody>
          </p:sp>
          <p:sp>
            <p:nvSpPr>
              <p:cNvPr id="8" name="Rectangle 8">
                <a:extLst>
                  <a:ext uri="{FF2B5EF4-FFF2-40B4-BE49-F238E27FC236}">
                    <a16:creationId xmlns:a16="http://schemas.microsoft.com/office/drawing/2014/main" id="{D8D678C9-6F3B-C7A9-1EAA-9699903B1B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7" y="672"/>
                <a:ext cx="369" cy="400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defRPr/>
                </a:pPr>
                <a:endParaRPr lang="tr-TR" altLang="tr-TR" sz="2400">
                  <a:latin typeface="Times New Roman" pitchFamily="18" charset="0"/>
                </a:endParaRPr>
              </a:p>
            </p:txBody>
          </p:sp>
          <p:sp>
            <p:nvSpPr>
              <p:cNvPr id="9" name="Rectangle 9">
                <a:extLst>
                  <a:ext uri="{FF2B5EF4-FFF2-40B4-BE49-F238E27FC236}">
                    <a16:creationId xmlns:a16="http://schemas.microsoft.com/office/drawing/2014/main" id="{5143ABB3-F426-2AC8-BB1F-191FB4CAE0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9" y="2257"/>
                <a:ext cx="368" cy="404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defRPr/>
                </a:pPr>
                <a:endParaRPr lang="tr-TR" altLang="tr-TR" sz="2400">
                  <a:latin typeface="Times New Roman" pitchFamily="18" charset="0"/>
                </a:endParaRPr>
              </a:p>
            </p:txBody>
          </p:sp>
          <p:sp>
            <p:nvSpPr>
              <p:cNvPr id="10" name="Rectangle 10">
                <a:extLst>
                  <a:ext uri="{FF2B5EF4-FFF2-40B4-BE49-F238E27FC236}">
                    <a16:creationId xmlns:a16="http://schemas.microsoft.com/office/drawing/2014/main" id="{7AA1FBF0-4FD8-2BB7-4C49-347E1D331F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7" y="1065"/>
                <a:ext cx="369" cy="405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defRPr/>
                </a:pPr>
                <a:endParaRPr lang="tr-TR" altLang="tr-TR" sz="2400">
                  <a:latin typeface="Times New Roman" pitchFamily="18" charset="0"/>
                </a:endParaRPr>
              </a:p>
            </p:txBody>
          </p:sp>
          <p:sp>
            <p:nvSpPr>
              <p:cNvPr id="11" name="Rectangle 11">
                <a:extLst>
                  <a:ext uri="{FF2B5EF4-FFF2-40B4-BE49-F238E27FC236}">
                    <a16:creationId xmlns:a16="http://schemas.microsoft.com/office/drawing/2014/main" id="{41C0CB80-437C-A2B0-4899-417F6BFD07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9" y="1464"/>
                <a:ext cx="368" cy="399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defRPr/>
                </a:pPr>
                <a:endParaRPr lang="tr-TR" altLang="tr-TR" sz="2400">
                  <a:latin typeface="Times New Roman" pitchFamily="18" charset="0"/>
                </a:endParaRPr>
              </a:p>
            </p:txBody>
          </p:sp>
          <p:sp>
            <p:nvSpPr>
              <p:cNvPr id="12" name="Rectangle 12">
                <a:extLst>
                  <a:ext uri="{FF2B5EF4-FFF2-40B4-BE49-F238E27FC236}">
                    <a16:creationId xmlns:a16="http://schemas.microsoft.com/office/drawing/2014/main" id="{E2510295-A619-5795-3ABE-3DEF02A681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0" y="1464"/>
                <a:ext cx="367" cy="399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defRPr/>
                </a:pPr>
                <a:endParaRPr lang="tr-TR" altLang="tr-TR" sz="2400">
                  <a:latin typeface="Times New Roman" pitchFamily="18" charset="0"/>
                </a:endParaRPr>
              </a:p>
            </p:txBody>
          </p:sp>
          <p:sp>
            <p:nvSpPr>
              <p:cNvPr id="13" name="Rectangle 13">
                <a:extLst>
                  <a:ext uri="{FF2B5EF4-FFF2-40B4-BE49-F238E27FC236}">
                    <a16:creationId xmlns:a16="http://schemas.microsoft.com/office/drawing/2014/main" id="{4EEE409E-3190-DDAC-3C95-B847DC50C3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" y="1464"/>
                <a:ext cx="362" cy="399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defRPr/>
                </a:pPr>
                <a:endParaRPr lang="tr-TR" altLang="tr-TR" sz="2400">
                  <a:latin typeface="Times New Roman" pitchFamily="18" charset="0"/>
                </a:endParaRPr>
              </a:p>
            </p:txBody>
          </p:sp>
          <p:sp>
            <p:nvSpPr>
              <p:cNvPr id="14" name="Rectangle 14">
                <a:extLst>
                  <a:ext uri="{FF2B5EF4-FFF2-40B4-BE49-F238E27FC236}">
                    <a16:creationId xmlns:a16="http://schemas.microsoft.com/office/drawing/2014/main" id="{D050F70B-926A-5D79-113A-950E4AB98D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1" y="1857"/>
                <a:ext cx="363" cy="406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defRPr/>
                </a:pPr>
                <a:endParaRPr lang="tr-TR" altLang="tr-TR" sz="2400">
                  <a:latin typeface="Times New Roman" pitchFamily="18" charset="0"/>
                </a:endParaRPr>
              </a:p>
            </p:txBody>
          </p:sp>
          <p:sp>
            <p:nvSpPr>
              <p:cNvPr id="15" name="Rectangle 15">
                <a:extLst>
                  <a:ext uri="{FF2B5EF4-FFF2-40B4-BE49-F238E27FC236}">
                    <a16:creationId xmlns:a16="http://schemas.microsoft.com/office/drawing/2014/main" id="{76D42C04-ABE0-77B6-EA6E-681474BFC4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9" y="1857"/>
                <a:ext cx="368" cy="406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defRPr/>
                </a:pPr>
                <a:endParaRPr lang="tr-TR" altLang="tr-TR" sz="2400">
                  <a:latin typeface="Times New Roman" pitchFamily="18" charset="0"/>
                </a:endParaRPr>
              </a:p>
            </p:txBody>
          </p:sp>
        </p:grpSp>
      </p:grpSp>
      <p:sp>
        <p:nvSpPr>
          <p:cNvPr id="275475" name="Rectangle 19"/>
          <p:cNvSpPr>
            <a:spLocks noGrp="1" noChangeArrowheads="1"/>
          </p:cNvSpPr>
          <p:nvPr>
            <p:ph type="ctrTitle"/>
          </p:nvPr>
        </p:nvSpPr>
        <p:spPr>
          <a:xfrm>
            <a:off x="2971800" y="1828800"/>
            <a:ext cx="6019800" cy="2209800"/>
          </a:xfrm>
        </p:spPr>
        <p:txBody>
          <a:bodyPr/>
          <a:lstStyle>
            <a:lvl1pPr>
              <a:defRPr sz="5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75476" name="Rectangle 20"/>
          <p:cNvSpPr>
            <a:spLocks noGrp="1" noChangeArrowheads="1"/>
          </p:cNvSpPr>
          <p:nvPr>
            <p:ph type="subTitle" idx="1"/>
          </p:nvPr>
        </p:nvSpPr>
        <p:spPr>
          <a:xfrm>
            <a:off x="2971800" y="4267200"/>
            <a:ext cx="6019800" cy="1752600"/>
          </a:xfrm>
        </p:spPr>
        <p:txBody>
          <a:bodyPr/>
          <a:lstStyle>
            <a:lvl1pPr marL="0" indent="0">
              <a:buFont typeface="Wingdings" pitchFamily="2" charset="2"/>
              <a:buNone/>
              <a:defRPr sz="34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6" name="Rectangle 16">
            <a:extLst>
              <a:ext uri="{FF2B5EF4-FFF2-40B4-BE49-F238E27FC236}">
                <a16:creationId xmlns:a16="http://schemas.microsoft.com/office/drawing/2014/main" id="{4F73EBD4-CCE7-9750-88B2-4F42B3E6B5A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8400"/>
            <a:ext cx="21336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" name="Rectangle 17">
            <a:extLst>
              <a:ext uri="{FF2B5EF4-FFF2-40B4-BE49-F238E27FC236}">
                <a16:creationId xmlns:a16="http://schemas.microsoft.com/office/drawing/2014/main" id="{9D7DF7F7-A2C1-53AF-62C8-9F821F0ABD2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8" name="Rectangle 18">
            <a:extLst>
              <a:ext uri="{FF2B5EF4-FFF2-40B4-BE49-F238E27FC236}">
                <a16:creationId xmlns:a16="http://schemas.microsoft.com/office/drawing/2014/main" id="{70CF21F3-917C-9218-B2BE-4E927D4358E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00027D9-A7B9-41D3-84E1-CFFBAAAF113F}" type="slidenum">
              <a:rPr lang="en-US" altLang="en-US" smtClean="0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28287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39152"/>
            <a:ext cx="8229600" cy="13716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35291"/>
            <a:ext cx="8229600" cy="4532109"/>
          </a:xfrm>
        </p:spPr>
        <p:txBody>
          <a:bodyPr/>
          <a:lstStyle>
            <a:lvl1pPr>
              <a:lnSpc>
                <a:spcPct val="110000"/>
              </a:lnSpc>
              <a:defRPr/>
            </a:lvl1pPr>
            <a:lvl2pPr>
              <a:lnSpc>
                <a:spcPct val="110000"/>
              </a:lnSpc>
              <a:defRPr/>
            </a:lvl2pPr>
            <a:lvl3pPr>
              <a:lnSpc>
                <a:spcPct val="110000"/>
              </a:lnSpc>
              <a:defRPr/>
            </a:lvl3pPr>
            <a:lvl4pPr>
              <a:lnSpc>
                <a:spcPct val="110000"/>
              </a:lnSpc>
              <a:defRPr/>
            </a:lvl4pPr>
            <a:lvl5pPr>
              <a:lnSpc>
                <a:spcPct val="110000"/>
              </a:lnSpc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EC5D840-B6D3-623A-8343-93C530153A97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0E189FA2-29A5-C5CE-0D92-C90FF73CF759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FD4C0CD-8187-444C-A87D-0357AF39910D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6" name="Rectangle 16">
            <a:extLst>
              <a:ext uri="{FF2B5EF4-FFF2-40B4-BE49-F238E27FC236}">
                <a16:creationId xmlns:a16="http://schemas.microsoft.com/office/drawing/2014/main" id="{31D4348B-EA71-879E-8203-54391C73D5E5}"/>
              </a:ext>
            </a:extLst>
          </p:cNvPr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447597C-5350-48B6-DCBD-9BF1411017F9}"/>
              </a:ext>
            </a:extLst>
          </p:cNvPr>
          <p:cNvSpPr/>
          <p:nvPr/>
        </p:nvSpPr>
        <p:spPr>
          <a:xfrm>
            <a:off x="457200" y="1235278"/>
            <a:ext cx="8370500" cy="100013"/>
          </a:xfrm>
          <a:prstGeom prst="rect">
            <a:avLst/>
          </a:prstGeom>
          <a:solidFill>
            <a:srgbClr val="9999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909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F9AD54EF-3FC5-3272-FE54-D0E3F9534B3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FC321292-8B6B-0F21-263A-B1B9598BB422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37831AA-D7B0-4946-9E61-04D18421D4A6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6" name="Rectangle 16">
            <a:extLst>
              <a:ext uri="{FF2B5EF4-FFF2-40B4-BE49-F238E27FC236}">
                <a16:creationId xmlns:a16="http://schemas.microsoft.com/office/drawing/2014/main" id="{383AEF31-1D37-5B40-3DEC-C3679BA6A474}"/>
              </a:ext>
            </a:extLst>
          </p:cNvPr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030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91445"/>
            <a:ext cx="8229600" cy="13716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72209"/>
            <a:ext cx="4038600" cy="4595191"/>
          </a:xfrm>
        </p:spPr>
        <p:txBody>
          <a:bodyPr/>
          <a:lstStyle>
            <a:lvl1pPr>
              <a:lnSpc>
                <a:spcPct val="110000"/>
              </a:lnSpc>
              <a:defRPr sz="2800"/>
            </a:lvl1pPr>
            <a:lvl2pPr>
              <a:lnSpc>
                <a:spcPct val="110000"/>
              </a:lnSpc>
              <a:defRPr sz="2400"/>
            </a:lvl2pPr>
            <a:lvl3pPr>
              <a:lnSpc>
                <a:spcPct val="110000"/>
              </a:lnSpc>
              <a:defRPr sz="2000"/>
            </a:lvl3pPr>
            <a:lvl4pPr>
              <a:lnSpc>
                <a:spcPct val="110000"/>
              </a:lnSpc>
              <a:defRPr sz="1800"/>
            </a:lvl4pPr>
            <a:lvl5pPr>
              <a:lnSpc>
                <a:spcPct val="110000"/>
              </a:lnSpc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72209"/>
            <a:ext cx="4038600" cy="4595191"/>
          </a:xfrm>
        </p:spPr>
        <p:txBody>
          <a:bodyPr/>
          <a:lstStyle>
            <a:lvl1pPr>
              <a:lnSpc>
                <a:spcPct val="110000"/>
              </a:lnSpc>
              <a:defRPr sz="2800"/>
            </a:lvl1pPr>
            <a:lvl2pPr>
              <a:lnSpc>
                <a:spcPct val="110000"/>
              </a:lnSpc>
              <a:defRPr sz="2400"/>
            </a:lvl2pPr>
            <a:lvl3pPr>
              <a:lnSpc>
                <a:spcPct val="110000"/>
              </a:lnSpc>
              <a:defRPr sz="2000"/>
            </a:lvl3pPr>
            <a:lvl4pPr>
              <a:lnSpc>
                <a:spcPct val="110000"/>
              </a:lnSpc>
              <a:defRPr sz="1800"/>
            </a:lvl4pPr>
            <a:lvl5pPr>
              <a:lnSpc>
                <a:spcPct val="110000"/>
              </a:lnSpc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00A05A1D-7095-7E52-0847-E1EB13A8AB9B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E573A413-50AA-E10E-D1C4-54AB2929A249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05F53F9-B9DA-4AE7-A66E-E0A97EDB4B66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7" name="Rectangle 16">
            <a:extLst>
              <a:ext uri="{FF2B5EF4-FFF2-40B4-BE49-F238E27FC236}">
                <a16:creationId xmlns:a16="http://schemas.microsoft.com/office/drawing/2014/main" id="{6DC26CCE-5CF2-05E4-A18F-AF9D89E652A9}"/>
              </a:ext>
            </a:extLst>
          </p:cNvPr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8178A5-120B-E6E0-32D5-B9979205E616}"/>
              </a:ext>
            </a:extLst>
          </p:cNvPr>
          <p:cNvSpPr/>
          <p:nvPr/>
        </p:nvSpPr>
        <p:spPr>
          <a:xfrm>
            <a:off x="393589" y="1116008"/>
            <a:ext cx="8370500" cy="100013"/>
          </a:xfrm>
          <a:prstGeom prst="rect">
            <a:avLst/>
          </a:prstGeom>
          <a:solidFill>
            <a:srgbClr val="9999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0560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596FBAD0-FE05-8FD5-F008-8D91060EE18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D3F60B54-4634-BE12-F781-52C02402AE84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5192845-4063-40B6-A3BF-841AD9E3644D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9" name="Rectangle 16">
            <a:extLst>
              <a:ext uri="{FF2B5EF4-FFF2-40B4-BE49-F238E27FC236}">
                <a16:creationId xmlns:a16="http://schemas.microsoft.com/office/drawing/2014/main" id="{DA344AEB-D089-F4D4-7617-091325A689F7}"/>
              </a:ext>
            </a:extLst>
          </p:cNvPr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6099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631"/>
            <a:ext cx="8229600" cy="13716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877D71-2F49-0598-EF2D-EBDFDC849CDC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366AE2E-7FBB-CFF0-6AB7-FC12419D5308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13AC0A9-7F6F-4F37-8AE2-189480CF0EB9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5" name="Rectangle 16">
            <a:extLst>
              <a:ext uri="{FF2B5EF4-FFF2-40B4-BE49-F238E27FC236}">
                <a16:creationId xmlns:a16="http://schemas.microsoft.com/office/drawing/2014/main" id="{5F852CBA-CBBB-399C-F561-B565F6D8807B}"/>
              </a:ext>
            </a:extLst>
          </p:cNvPr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283EA4-DAA1-6A9A-377D-4591821B0A48}"/>
              </a:ext>
            </a:extLst>
          </p:cNvPr>
          <p:cNvSpPr/>
          <p:nvPr/>
        </p:nvSpPr>
        <p:spPr>
          <a:xfrm>
            <a:off x="457200" y="1123965"/>
            <a:ext cx="8370500" cy="100013"/>
          </a:xfrm>
          <a:prstGeom prst="rect">
            <a:avLst/>
          </a:prstGeom>
          <a:solidFill>
            <a:srgbClr val="9999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856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74475522-F225-2F07-54B2-1A858EEC50CF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93A36220-D3BB-2220-E328-1BDC3ECBD9A3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319B9D0-F568-4EE3-9DDD-C24B984C35CD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4" name="Rectangle 16">
            <a:extLst>
              <a:ext uri="{FF2B5EF4-FFF2-40B4-BE49-F238E27FC236}">
                <a16:creationId xmlns:a16="http://schemas.microsoft.com/office/drawing/2014/main" id="{C69C6519-7D7E-1C39-19BF-6118A091BF04}"/>
              </a:ext>
            </a:extLst>
          </p:cNvPr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9916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22C61B4-AE33-53ED-41FE-79C0EE9343BF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0E4B1558-DE88-2783-2867-4510C41576C6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0993AD8-6236-41DF-9450-9338E867CDF0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7" name="Rectangle 16">
            <a:extLst>
              <a:ext uri="{FF2B5EF4-FFF2-40B4-BE49-F238E27FC236}">
                <a16:creationId xmlns:a16="http://schemas.microsoft.com/office/drawing/2014/main" id="{77726854-7C99-0A3F-EDA6-7BF7556D1817}"/>
              </a:ext>
            </a:extLst>
          </p:cNvPr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1235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7D913869-D610-825F-F9E5-B607130B6F1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F017CFA3-154C-A10B-09C3-3B57E49AF1F5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01AE89A-4489-4E14-9A47-C3DD0A222C3C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7" name="Rectangle 16">
            <a:extLst>
              <a:ext uri="{FF2B5EF4-FFF2-40B4-BE49-F238E27FC236}">
                <a16:creationId xmlns:a16="http://schemas.microsoft.com/office/drawing/2014/main" id="{3C3434A0-709E-9E6E-7071-5493364FC1E4}"/>
              </a:ext>
            </a:extLst>
          </p:cNvPr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6400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9CF0EAA2-82E3-02C6-88F1-73BB7BF71727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18EA639E-141C-5355-9BB9-53EDDE383098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56CC64C-1ECB-48AA-8134-B93572608A93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6" name="Rectangle 16">
            <a:extLst>
              <a:ext uri="{FF2B5EF4-FFF2-40B4-BE49-F238E27FC236}">
                <a16:creationId xmlns:a16="http://schemas.microsoft.com/office/drawing/2014/main" id="{40486604-361D-BDC1-D24E-D3F5D2116CB6}"/>
              </a:ext>
            </a:extLst>
          </p:cNvPr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A654C8D-54CF-CA81-68E7-A81525D4F2D8}"/>
              </a:ext>
            </a:extLst>
          </p:cNvPr>
          <p:cNvSpPr/>
          <p:nvPr/>
        </p:nvSpPr>
        <p:spPr>
          <a:xfrm>
            <a:off x="457200" y="1489718"/>
            <a:ext cx="8370500" cy="100013"/>
          </a:xfrm>
          <a:prstGeom prst="rect">
            <a:avLst/>
          </a:prstGeom>
          <a:solidFill>
            <a:srgbClr val="9999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0009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457200"/>
            <a:ext cx="20574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457200"/>
            <a:ext cx="60198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617D27DD-053B-89C8-0CDD-8B6FC2AA33E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91E5CC0D-020C-9B72-2432-4E828F0DC860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C6D271-BE5E-4A7C-A375-F5D987A65602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6" name="Rectangle 16">
            <a:extLst>
              <a:ext uri="{FF2B5EF4-FFF2-40B4-BE49-F238E27FC236}">
                <a16:creationId xmlns:a16="http://schemas.microsoft.com/office/drawing/2014/main" id="{9E509658-25AD-20B6-AFBB-7F6CECBCBA90}"/>
              </a:ext>
            </a:extLst>
          </p:cNvPr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8612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-3979"/>
            <a:ext cx="8229600" cy="13716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367621"/>
            <a:ext cx="4038600" cy="44997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367621"/>
            <a:ext cx="4038600" cy="44997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F719EAA-249E-4846-9B33-E1E9151C6F6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8E8C8794-0110-F974-AD1D-4DCD32757EE5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E7F1A9A-EBB2-4F60-B62F-EBFF54642175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7" name="Rectangle 16">
            <a:extLst>
              <a:ext uri="{FF2B5EF4-FFF2-40B4-BE49-F238E27FC236}">
                <a16:creationId xmlns:a16="http://schemas.microsoft.com/office/drawing/2014/main" id="{61220F6A-C0D2-982C-0CC2-BB2367B1A201}"/>
              </a:ext>
            </a:extLst>
          </p:cNvPr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10BF89-6D8F-274F-4F19-5735B86ED250}"/>
              </a:ext>
            </a:extLst>
          </p:cNvPr>
          <p:cNvSpPr/>
          <p:nvPr/>
        </p:nvSpPr>
        <p:spPr>
          <a:xfrm>
            <a:off x="457200" y="1123958"/>
            <a:ext cx="8370500" cy="100013"/>
          </a:xfrm>
          <a:prstGeom prst="rect">
            <a:avLst/>
          </a:prstGeom>
          <a:solidFill>
            <a:srgbClr val="9999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626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434" name="Rectangle 2">
            <a:extLst>
              <a:ext uri="{FF2B5EF4-FFF2-40B4-BE49-F238E27FC236}">
                <a16:creationId xmlns:a16="http://schemas.microsoft.com/office/drawing/2014/main" id="{839B0420-276A-4BBA-9B8D-2581239FCA9A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74435" name="Rectangle 3">
            <a:extLst>
              <a:ext uri="{FF2B5EF4-FFF2-40B4-BE49-F238E27FC236}">
                <a16:creationId xmlns:a16="http://schemas.microsoft.com/office/drawing/2014/main" id="{C6836D65-D844-48C1-BD51-5896174C9132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 Black" panose="020B0A04020102020204" pitchFamily="34" charset="0"/>
              </a:defRPr>
            </a:lvl1pPr>
          </a:lstStyle>
          <a:p>
            <a:fld id="{7E7F1A9A-EBB2-4F60-B62F-EBFF54642175}" type="slidenum">
              <a:rPr lang="en-US" altLang="en-US" smtClean="0"/>
              <a:pPr/>
              <a:t>‹#›</a:t>
            </a:fld>
            <a:endParaRPr lang="en-US" altLang="en-US"/>
          </a:p>
        </p:txBody>
      </p:sp>
      <p:grpSp>
        <p:nvGrpSpPr>
          <p:cNvPr id="1028" name="Group 4">
            <a:extLst>
              <a:ext uri="{FF2B5EF4-FFF2-40B4-BE49-F238E27FC236}">
                <a16:creationId xmlns:a16="http://schemas.microsoft.com/office/drawing/2014/main" id="{FEE57E7A-C80A-0755-2089-2C53E3FA96DB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9144000" cy="546100"/>
            <a:chOff x="0" y="0"/>
            <a:chExt cx="5760" cy="344"/>
          </a:xfrm>
        </p:grpSpPr>
        <p:sp>
          <p:nvSpPr>
            <p:cNvPr id="1032" name="Rectangle 5">
              <a:extLst>
                <a:ext uri="{FF2B5EF4-FFF2-40B4-BE49-F238E27FC236}">
                  <a16:creationId xmlns:a16="http://schemas.microsoft.com/office/drawing/2014/main" id="{B653B317-0A87-4CCC-9571-2F709F3220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180" cy="336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algn="ctr" eaLnBrk="1" hangingPunct="1">
                <a:defRPr/>
              </a:pPr>
              <a:endParaRPr lang="tr-TR" altLang="tr-TR" sz="2400">
                <a:latin typeface="Times New Roman" pitchFamily="18" charset="0"/>
              </a:endParaRPr>
            </a:p>
          </p:txBody>
        </p:sp>
        <p:sp>
          <p:nvSpPr>
            <p:cNvPr id="1033" name="Rectangle 6">
              <a:extLst>
                <a:ext uri="{FF2B5EF4-FFF2-40B4-BE49-F238E27FC236}">
                  <a16:creationId xmlns:a16="http://schemas.microsoft.com/office/drawing/2014/main" id="{4A1A39B1-7157-46C7-80EE-A6A6C6068A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0" y="85"/>
              <a:ext cx="5500" cy="173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defRPr/>
              </a:pPr>
              <a:endParaRPr lang="tr-TR" altLang="tr-TR" sz="2400">
                <a:latin typeface="Times New Roman" pitchFamily="18" charset="0"/>
              </a:endParaRPr>
            </a:p>
          </p:txBody>
        </p:sp>
        <p:sp>
          <p:nvSpPr>
            <p:cNvPr id="1034" name="Rectangle 7">
              <a:extLst>
                <a:ext uri="{FF2B5EF4-FFF2-40B4-BE49-F238E27FC236}">
                  <a16:creationId xmlns:a16="http://schemas.microsoft.com/office/drawing/2014/main" id="{DFC27E1E-7B31-4EF5-90FB-EAF7F2E3AC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8" y="85"/>
              <a:ext cx="87" cy="89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defRPr/>
              </a:pPr>
              <a:endParaRPr lang="tr-TR" altLang="tr-TR">
                <a:solidFill>
                  <a:schemeClr val="hlink"/>
                </a:solidFill>
              </a:endParaRPr>
            </a:p>
          </p:txBody>
        </p:sp>
        <p:sp>
          <p:nvSpPr>
            <p:cNvPr id="1035" name="Rectangle 8">
              <a:extLst>
                <a:ext uri="{FF2B5EF4-FFF2-40B4-BE49-F238E27FC236}">
                  <a16:creationId xmlns:a16="http://schemas.microsoft.com/office/drawing/2014/main" id="{85D778C1-1BD5-4A50-8DAF-E49C9C92C5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" y="0"/>
              <a:ext cx="88" cy="87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defRPr/>
              </a:pPr>
              <a:endParaRPr lang="tr-TR" altLang="tr-TR">
                <a:solidFill>
                  <a:schemeClr val="hlink"/>
                </a:solidFill>
              </a:endParaRPr>
            </a:p>
          </p:txBody>
        </p:sp>
        <p:sp>
          <p:nvSpPr>
            <p:cNvPr id="1036" name="Rectangle 9">
              <a:extLst>
                <a:ext uri="{FF2B5EF4-FFF2-40B4-BE49-F238E27FC236}">
                  <a16:creationId xmlns:a16="http://schemas.microsoft.com/office/drawing/2014/main" id="{FD8969B2-448C-46E3-BC56-5143A8B3FA3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" y="85"/>
              <a:ext cx="88" cy="89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defRPr/>
              </a:pPr>
              <a:endParaRPr lang="tr-TR" altLang="tr-TR">
                <a:solidFill>
                  <a:schemeClr val="accent2"/>
                </a:solidFill>
              </a:endParaRPr>
            </a:p>
          </p:txBody>
        </p:sp>
        <p:sp>
          <p:nvSpPr>
            <p:cNvPr id="1037" name="Rectangle 10">
              <a:extLst>
                <a:ext uri="{FF2B5EF4-FFF2-40B4-BE49-F238E27FC236}">
                  <a16:creationId xmlns:a16="http://schemas.microsoft.com/office/drawing/2014/main" id="{B4792188-569F-498A-8387-6928A2C1BB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3" y="173"/>
              <a:ext cx="86" cy="87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defRPr/>
              </a:pPr>
              <a:endParaRPr lang="tr-TR" altLang="tr-TR">
                <a:solidFill>
                  <a:schemeClr val="hlink"/>
                </a:solidFill>
              </a:endParaRPr>
            </a:p>
          </p:txBody>
        </p:sp>
        <p:sp>
          <p:nvSpPr>
            <p:cNvPr id="1038" name="Rectangle 11">
              <a:extLst>
                <a:ext uri="{FF2B5EF4-FFF2-40B4-BE49-F238E27FC236}">
                  <a16:creationId xmlns:a16="http://schemas.microsoft.com/office/drawing/2014/main" id="{3524B95B-5120-4208-9243-49F80DD331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" y="86"/>
              <a:ext cx="89" cy="8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defRPr/>
              </a:pPr>
              <a:endParaRPr lang="tr-TR" altLang="tr-TR" sz="2400">
                <a:latin typeface="Times New Roman" pitchFamily="18" charset="0"/>
              </a:endParaRPr>
            </a:p>
          </p:txBody>
        </p:sp>
        <p:sp>
          <p:nvSpPr>
            <p:cNvPr id="1039" name="Rectangle 12">
              <a:extLst>
                <a:ext uri="{FF2B5EF4-FFF2-40B4-BE49-F238E27FC236}">
                  <a16:creationId xmlns:a16="http://schemas.microsoft.com/office/drawing/2014/main" id="{53832FA5-0898-4881-A7EA-D17A82CD83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8" y="171"/>
              <a:ext cx="87" cy="87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defRPr/>
              </a:pPr>
              <a:endParaRPr lang="tr-TR" altLang="tr-TR">
                <a:solidFill>
                  <a:schemeClr val="accent2"/>
                </a:solidFill>
              </a:endParaRPr>
            </a:p>
          </p:txBody>
        </p:sp>
        <p:sp>
          <p:nvSpPr>
            <p:cNvPr id="1040" name="Rectangle 13">
              <a:extLst>
                <a:ext uri="{FF2B5EF4-FFF2-40B4-BE49-F238E27FC236}">
                  <a16:creationId xmlns:a16="http://schemas.microsoft.com/office/drawing/2014/main" id="{20A8BA7D-3BED-4998-AB4F-0059C14654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3" y="258"/>
              <a:ext cx="86" cy="86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defRPr/>
              </a:pPr>
              <a:endParaRPr lang="tr-TR" altLang="tr-TR">
                <a:solidFill>
                  <a:schemeClr val="accent2"/>
                </a:solidFill>
              </a:endParaRPr>
            </a:p>
          </p:txBody>
        </p:sp>
      </p:grpSp>
      <p:sp>
        <p:nvSpPr>
          <p:cNvPr id="1029" name="Rectangle 14">
            <a:extLst>
              <a:ext uri="{FF2B5EF4-FFF2-40B4-BE49-F238E27FC236}">
                <a16:creationId xmlns:a16="http://schemas.microsoft.com/office/drawing/2014/main" id="{3CB25864-D50C-C571-C6CD-72975AC5545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457200"/>
            <a:ext cx="8229600" cy="137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tr-TR"/>
              <a:t>Click to edit Master title style</a:t>
            </a:r>
          </a:p>
        </p:txBody>
      </p:sp>
      <p:sp>
        <p:nvSpPr>
          <p:cNvPr id="1030" name="Rectangle 15">
            <a:extLst>
              <a:ext uri="{FF2B5EF4-FFF2-40B4-BE49-F238E27FC236}">
                <a16:creationId xmlns:a16="http://schemas.microsoft.com/office/drawing/2014/main" id="{105057BF-8809-45AA-6DAD-6465C3A20B0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981200"/>
            <a:ext cx="8229600" cy="3886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tr-TR"/>
              <a:t>Click to edit Master text styles</a:t>
            </a:r>
          </a:p>
          <a:p>
            <a:pPr lvl="1"/>
            <a:r>
              <a:rPr lang="en-US" altLang="tr-TR"/>
              <a:t>Second level</a:t>
            </a:r>
          </a:p>
          <a:p>
            <a:pPr lvl="2"/>
            <a:r>
              <a:rPr lang="en-US" altLang="tr-TR"/>
              <a:t>Third level</a:t>
            </a:r>
          </a:p>
          <a:p>
            <a:pPr lvl="3"/>
            <a:r>
              <a:rPr lang="en-US" altLang="tr-TR"/>
              <a:t>Fourth level</a:t>
            </a:r>
          </a:p>
          <a:p>
            <a:pPr lvl="4"/>
            <a:r>
              <a:rPr lang="en-US" altLang="tr-TR"/>
              <a:t>Fifth level</a:t>
            </a:r>
          </a:p>
        </p:txBody>
      </p:sp>
      <p:sp>
        <p:nvSpPr>
          <p:cNvPr id="274448" name="Rectangle 16">
            <a:extLst>
              <a:ext uri="{FF2B5EF4-FFF2-40B4-BE49-F238E27FC236}">
                <a16:creationId xmlns:a16="http://schemas.microsoft.com/office/drawing/2014/main" id="{353943DA-78F6-4B90-86EF-119FC03DFEB3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433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SzPct val="75000"/>
        <a:buFont typeface="Wingdings" panose="05000000000000000000" pitchFamily="2" charset="2"/>
        <a:buChar char="n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80000"/>
        <a:buFont typeface="Wingdings" panose="05000000000000000000" pitchFamily="2" charset="2"/>
        <a:buChar char="¨"/>
        <a:defRPr sz="2800">
          <a:solidFill>
            <a:schemeClr val="tx1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SzPct val="65000"/>
        <a:buFont typeface="Wingdings" panose="05000000000000000000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anose="05000000000000000000" pitchFamily="2" charset="2"/>
        <a:buChar char="¨"/>
        <a:defRPr sz="2000">
          <a:solidFill>
            <a:schemeClr val="tx1"/>
          </a:solidFill>
          <a:latin typeface="+mn-lt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elearning.mines.edu/courses/76737/pages/template-method-os-version-reader-refactored?module_item_id=973607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846C7C3-158D-34DE-DA28-6150F4F366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Behavioral Patterns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F67EECC3-821C-035F-C418-B859BE082F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Template Method</a:t>
            </a:r>
          </a:p>
          <a:p>
            <a:r>
              <a:rPr lang="en-US" dirty="0"/>
              <a:t>Strategy</a:t>
            </a:r>
          </a:p>
        </p:txBody>
      </p:sp>
    </p:spTree>
    <p:extLst>
      <p:ext uri="{BB962C8B-B14F-4D97-AF65-F5344CB8AC3E}">
        <p14:creationId xmlns:p14="http://schemas.microsoft.com/office/powerpoint/2010/main" val="356241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>
            <a:extLst>
              <a:ext uri="{FF2B5EF4-FFF2-40B4-BE49-F238E27FC236}">
                <a16:creationId xmlns:a16="http://schemas.microsoft.com/office/drawing/2014/main" id="{41650F35-0C46-F8B0-DAC6-8A5B74963E6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39700"/>
            <a:ext cx="8229600" cy="1371600"/>
          </a:xfrm>
        </p:spPr>
        <p:txBody>
          <a:bodyPr/>
          <a:lstStyle/>
          <a:p>
            <a:r>
              <a:rPr lang="en-US" altLang="tr-TR"/>
              <a:t>Behavioral Patterns</a:t>
            </a:r>
          </a:p>
        </p:txBody>
      </p:sp>
      <p:sp>
        <p:nvSpPr>
          <p:cNvPr id="11267" name="Rectangle 3">
            <a:extLst>
              <a:ext uri="{FF2B5EF4-FFF2-40B4-BE49-F238E27FC236}">
                <a16:creationId xmlns:a16="http://schemas.microsoft.com/office/drawing/2014/main" id="{63E3845A-30A2-4A77-07E6-77E147E3804D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335088"/>
            <a:ext cx="8229600" cy="4532312"/>
          </a:xfrm>
        </p:spPr>
        <p:txBody>
          <a:bodyPr/>
          <a:lstStyle/>
          <a:p>
            <a:r>
              <a:rPr lang="en-US" altLang="tr-TR" dirty="0"/>
              <a:t>Describe interactions between objects to achieve a complex behavior</a:t>
            </a:r>
          </a:p>
          <a:p>
            <a:r>
              <a:rPr lang="en-US" altLang="tr-TR" dirty="0"/>
              <a:t>Divide responsibilities across collaborating objects</a:t>
            </a:r>
          </a:p>
          <a:p>
            <a:r>
              <a:rPr lang="en-US" altLang="tr-TR" dirty="0"/>
              <a:t>Flexible and extensible</a:t>
            </a:r>
          </a:p>
          <a:p>
            <a:r>
              <a:rPr lang="en-US" altLang="tr-TR" dirty="0"/>
              <a:t>Enable changing behavior at runtime by switching objects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>
            <a:extLst>
              <a:ext uri="{FF2B5EF4-FFF2-40B4-BE49-F238E27FC236}">
                <a16:creationId xmlns:a16="http://schemas.microsoft.com/office/drawing/2014/main" id="{82EB29A3-38FE-5664-817C-8F3CC43685E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92075"/>
            <a:ext cx="8229600" cy="1371600"/>
          </a:xfrm>
        </p:spPr>
        <p:txBody>
          <a:bodyPr/>
          <a:lstStyle/>
          <a:p>
            <a:r>
              <a:rPr lang="en-US" altLang="tr-TR" dirty="0"/>
              <a:t>Behavioral Patterns</a:t>
            </a:r>
          </a:p>
        </p:txBody>
      </p:sp>
      <p:sp>
        <p:nvSpPr>
          <p:cNvPr id="12291" name="Rectangle 3">
            <a:extLst>
              <a:ext uri="{FF2B5EF4-FFF2-40B4-BE49-F238E27FC236}">
                <a16:creationId xmlns:a16="http://schemas.microsoft.com/office/drawing/2014/main" id="{7D02A483-DD26-62FA-5E28-DCFA54700D07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>
          <a:xfrm>
            <a:off x="457200" y="1271588"/>
            <a:ext cx="4038600" cy="4595812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en-US" altLang="tr-TR" sz="2000" dirty="0"/>
              <a:t>Chain of responsibility</a:t>
            </a:r>
          </a:p>
          <a:p>
            <a:pPr lvl="1">
              <a:lnSpc>
                <a:spcPct val="80000"/>
              </a:lnSpc>
            </a:pPr>
            <a:r>
              <a:rPr lang="en-US" altLang="tr-TR" sz="1800" dirty="0"/>
              <a:t>Request delegated to the responsible service provider</a:t>
            </a:r>
          </a:p>
          <a:p>
            <a:pPr>
              <a:lnSpc>
                <a:spcPct val="80000"/>
              </a:lnSpc>
            </a:pPr>
            <a:r>
              <a:rPr lang="en-US" altLang="tr-TR" sz="2000" dirty="0"/>
              <a:t>Command</a:t>
            </a:r>
          </a:p>
          <a:p>
            <a:pPr lvl="1">
              <a:lnSpc>
                <a:spcPct val="80000"/>
              </a:lnSpc>
            </a:pPr>
            <a:r>
              <a:rPr lang="en-US" altLang="tr-TR" sz="1800" dirty="0"/>
              <a:t>Request as first-class object</a:t>
            </a:r>
          </a:p>
          <a:p>
            <a:pPr>
              <a:lnSpc>
                <a:spcPct val="80000"/>
              </a:lnSpc>
            </a:pPr>
            <a:r>
              <a:rPr lang="en-US" altLang="tr-TR" sz="2000" dirty="0"/>
              <a:t>Iterator</a:t>
            </a:r>
          </a:p>
          <a:p>
            <a:pPr lvl="1">
              <a:lnSpc>
                <a:spcPct val="80000"/>
              </a:lnSpc>
            </a:pPr>
            <a:r>
              <a:rPr lang="en-US" altLang="tr-TR" sz="1800" dirty="0"/>
              <a:t>Aggregate elements are accessed sequentially</a:t>
            </a:r>
          </a:p>
          <a:p>
            <a:pPr>
              <a:lnSpc>
                <a:spcPct val="80000"/>
              </a:lnSpc>
            </a:pPr>
            <a:r>
              <a:rPr lang="en-US" altLang="tr-TR" sz="2000" dirty="0"/>
              <a:t>Interpreter</a:t>
            </a:r>
          </a:p>
          <a:p>
            <a:pPr lvl="1">
              <a:lnSpc>
                <a:spcPct val="80000"/>
              </a:lnSpc>
            </a:pPr>
            <a:r>
              <a:rPr lang="en-US" altLang="tr-TR" sz="1800" dirty="0"/>
              <a:t>Language interpreter for a small grammar</a:t>
            </a:r>
          </a:p>
          <a:p>
            <a:pPr>
              <a:lnSpc>
                <a:spcPct val="80000"/>
              </a:lnSpc>
            </a:pPr>
            <a:r>
              <a:rPr lang="en-US" altLang="tr-TR" sz="2000" dirty="0"/>
              <a:t>Template Method</a:t>
            </a:r>
          </a:p>
          <a:p>
            <a:pPr lvl="1">
              <a:lnSpc>
                <a:spcPct val="80000"/>
              </a:lnSpc>
            </a:pPr>
            <a:r>
              <a:rPr lang="en-US" altLang="tr-TR" sz="1800" dirty="0"/>
              <a:t>Algorithm with some steps supplied by a derived class</a:t>
            </a:r>
          </a:p>
          <a:p>
            <a:pPr>
              <a:lnSpc>
                <a:spcPct val="80000"/>
              </a:lnSpc>
            </a:pPr>
            <a:r>
              <a:rPr lang="en-US" altLang="tr-TR" sz="2000" dirty="0"/>
              <a:t>Strategy</a:t>
            </a:r>
          </a:p>
          <a:p>
            <a:pPr lvl="1">
              <a:lnSpc>
                <a:spcPct val="80000"/>
              </a:lnSpc>
            </a:pPr>
            <a:r>
              <a:rPr lang="en-US" altLang="tr-TR" sz="1800" dirty="0"/>
              <a:t>Abstraction for selecting one of many algorithms</a:t>
            </a:r>
          </a:p>
        </p:txBody>
      </p:sp>
      <p:sp>
        <p:nvSpPr>
          <p:cNvPr id="12292" name="Rectangle 4">
            <a:extLst>
              <a:ext uri="{FF2B5EF4-FFF2-40B4-BE49-F238E27FC236}">
                <a16:creationId xmlns:a16="http://schemas.microsoft.com/office/drawing/2014/main" id="{030E8DBC-CDD8-D1CC-BD49-2DF4867CE432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>
          <a:xfrm>
            <a:off x="4648200" y="1271588"/>
            <a:ext cx="4038600" cy="4595812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en-US" altLang="tr-TR" sz="2000" dirty="0"/>
              <a:t>Mediator</a:t>
            </a:r>
          </a:p>
          <a:p>
            <a:pPr lvl="1">
              <a:lnSpc>
                <a:spcPct val="80000"/>
              </a:lnSpc>
            </a:pPr>
            <a:r>
              <a:rPr lang="en-US" altLang="tr-TR" sz="1800" dirty="0"/>
              <a:t>coordinates interactions between its colleagues</a:t>
            </a:r>
          </a:p>
          <a:p>
            <a:pPr>
              <a:lnSpc>
                <a:spcPct val="80000"/>
              </a:lnSpc>
            </a:pPr>
            <a:r>
              <a:rPr lang="en-US" altLang="tr-TR" sz="2000" dirty="0"/>
              <a:t>Memento</a:t>
            </a:r>
          </a:p>
          <a:p>
            <a:pPr lvl="1">
              <a:lnSpc>
                <a:spcPct val="80000"/>
              </a:lnSpc>
            </a:pPr>
            <a:r>
              <a:rPr lang="en-US" altLang="tr-TR" sz="1800" dirty="0"/>
              <a:t>Snapshot captures and restores object states privately</a:t>
            </a:r>
          </a:p>
          <a:p>
            <a:pPr>
              <a:lnSpc>
                <a:spcPct val="80000"/>
              </a:lnSpc>
            </a:pPr>
            <a:r>
              <a:rPr lang="en-US" altLang="tr-TR" sz="2000" dirty="0"/>
              <a:t>Observer</a:t>
            </a:r>
          </a:p>
          <a:p>
            <a:pPr lvl="1">
              <a:lnSpc>
                <a:spcPct val="80000"/>
              </a:lnSpc>
            </a:pPr>
            <a:r>
              <a:rPr lang="en-US" altLang="tr-TR" sz="1800" dirty="0"/>
              <a:t>Dependents update automatically when a subject changes</a:t>
            </a:r>
          </a:p>
          <a:p>
            <a:pPr>
              <a:lnSpc>
                <a:spcPct val="80000"/>
              </a:lnSpc>
            </a:pPr>
            <a:r>
              <a:rPr lang="en-US" altLang="tr-TR" sz="2000" dirty="0"/>
              <a:t>State</a:t>
            </a:r>
          </a:p>
          <a:p>
            <a:pPr lvl="1">
              <a:lnSpc>
                <a:spcPct val="80000"/>
              </a:lnSpc>
            </a:pPr>
            <a:r>
              <a:rPr lang="en-US" altLang="tr-TR" sz="1800" dirty="0"/>
              <a:t>Object whose behavior depends on its state</a:t>
            </a:r>
          </a:p>
          <a:p>
            <a:pPr>
              <a:lnSpc>
                <a:spcPct val="80000"/>
              </a:lnSpc>
            </a:pPr>
            <a:r>
              <a:rPr lang="en-US" altLang="tr-TR" sz="2000" dirty="0"/>
              <a:t>Visitor</a:t>
            </a:r>
          </a:p>
          <a:p>
            <a:pPr lvl="1">
              <a:lnSpc>
                <a:spcPct val="80000"/>
              </a:lnSpc>
            </a:pPr>
            <a:r>
              <a:rPr lang="en-US" altLang="tr-TR" sz="1800" dirty="0"/>
              <a:t> Operations applied to elements of a heterogeneous object structure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720B2-A57B-C615-9A37-79014EBDB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>
            <a:extLst>
              <a:ext uri="{FF2B5EF4-FFF2-40B4-BE49-F238E27FC236}">
                <a16:creationId xmlns:a16="http://schemas.microsoft.com/office/drawing/2014/main" id="{BDBBFD7C-647A-3F2F-110C-C3F914BBA5B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92075"/>
            <a:ext cx="8229600" cy="1371600"/>
          </a:xfrm>
        </p:spPr>
        <p:txBody>
          <a:bodyPr/>
          <a:lstStyle/>
          <a:p>
            <a:r>
              <a:rPr lang="en-US" altLang="tr-TR" dirty="0"/>
              <a:t>Behavioral Patterns</a:t>
            </a:r>
          </a:p>
        </p:txBody>
      </p:sp>
      <p:sp>
        <p:nvSpPr>
          <p:cNvPr id="12291" name="Rectangle 3">
            <a:extLst>
              <a:ext uri="{FF2B5EF4-FFF2-40B4-BE49-F238E27FC236}">
                <a16:creationId xmlns:a16="http://schemas.microsoft.com/office/drawing/2014/main" id="{65D5914C-0138-C778-0EEB-7D84D610DCB5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>
          <a:xfrm>
            <a:off x="457200" y="1271588"/>
            <a:ext cx="4038600" cy="4595812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en-US" altLang="tr-TR" sz="2000" dirty="0"/>
              <a:t>Chain of responsibility</a:t>
            </a:r>
          </a:p>
          <a:p>
            <a:pPr lvl="1">
              <a:lnSpc>
                <a:spcPct val="80000"/>
              </a:lnSpc>
            </a:pPr>
            <a:r>
              <a:rPr lang="en-US" altLang="tr-TR" sz="1800" dirty="0"/>
              <a:t>Request delegated to the responsible service provider</a:t>
            </a:r>
          </a:p>
          <a:p>
            <a:pPr>
              <a:lnSpc>
                <a:spcPct val="80000"/>
              </a:lnSpc>
            </a:pPr>
            <a:r>
              <a:rPr lang="en-US" altLang="tr-TR" sz="2000" dirty="0"/>
              <a:t>Command</a:t>
            </a:r>
          </a:p>
          <a:p>
            <a:pPr lvl="1">
              <a:lnSpc>
                <a:spcPct val="80000"/>
              </a:lnSpc>
            </a:pPr>
            <a:r>
              <a:rPr lang="en-US" altLang="tr-TR" sz="1800" dirty="0"/>
              <a:t>Request as first-class object</a:t>
            </a:r>
          </a:p>
          <a:p>
            <a:pPr>
              <a:lnSpc>
                <a:spcPct val="80000"/>
              </a:lnSpc>
            </a:pPr>
            <a:r>
              <a:rPr lang="en-US" altLang="tr-TR" sz="2000" dirty="0"/>
              <a:t>Iterator</a:t>
            </a:r>
          </a:p>
          <a:p>
            <a:pPr lvl="1">
              <a:lnSpc>
                <a:spcPct val="80000"/>
              </a:lnSpc>
            </a:pPr>
            <a:r>
              <a:rPr lang="en-US" altLang="tr-TR" sz="1800" dirty="0"/>
              <a:t>Aggregate elements are accessed sequentially</a:t>
            </a:r>
          </a:p>
          <a:p>
            <a:pPr>
              <a:lnSpc>
                <a:spcPct val="80000"/>
              </a:lnSpc>
            </a:pPr>
            <a:r>
              <a:rPr lang="en-US" altLang="tr-TR" sz="2000" dirty="0"/>
              <a:t>Interpreter</a:t>
            </a:r>
          </a:p>
          <a:p>
            <a:pPr lvl="1">
              <a:lnSpc>
                <a:spcPct val="80000"/>
              </a:lnSpc>
            </a:pPr>
            <a:r>
              <a:rPr lang="en-US" altLang="tr-TR" sz="1800" dirty="0"/>
              <a:t>Language interpreter for a small grammar</a:t>
            </a:r>
          </a:p>
          <a:p>
            <a:pPr>
              <a:lnSpc>
                <a:spcPct val="80000"/>
              </a:lnSpc>
            </a:pPr>
            <a:r>
              <a:rPr lang="en-US" altLang="tr-TR" sz="2000" dirty="0">
                <a:solidFill>
                  <a:schemeClr val="accent1">
                    <a:lumMod val="50000"/>
                  </a:schemeClr>
                </a:solidFill>
              </a:rPr>
              <a:t>Template Method</a:t>
            </a:r>
          </a:p>
          <a:p>
            <a:pPr lvl="1">
              <a:lnSpc>
                <a:spcPct val="80000"/>
              </a:lnSpc>
            </a:pPr>
            <a:r>
              <a:rPr lang="en-US" altLang="tr-TR" sz="1800" b="1" dirty="0"/>
              <a:t>Algorithm</a:t>
            </a:r>
            <a:r>
              <a:rPr lang="en-US" altLang="tr-TR" sz="1800" dirty="0"/>
              <a:t> with some steps supplied by a derived class</a:t>
            </a:r>
          </a:p>
          <a:p>
            <a:pPr>
              <a:lnSpc>
                <a:spcPct val="80000"/>
              </a:lnSpc>
            </a:pPr>
            <a:r>
              <a:rPr lang="en-US" altLang="tr-TR" sz="2000" dirty="0">
                <a:solidFill>
                  <a:schemeClr val="accent1">
                    <a:lumMod val="50000"/>
                  </a:schemeClr>
                </a:solidFill>
              </a:rPr>
              <a:t>Strategy</a:t>
            </a:r>
          </a:p>
          <a:p>
            <a:pPr lvl="1">
              <a:lnSpc>
                <a:spcPct val="80000"/>
              </a:lnSpc>
            </a:pPr>
            <a:r>
              <a:rPr lang="en-US" altLang="tr-TR" sz="1800" dirty="0"/>
              <a:t>Abstraction for selecting one of many </a:t>
            </a:r>
            <a:r>
              <a:rPr lang="en-US" altLang="tr-TR" sz="1800" b="1" dirty="0"/>
              <a:t>algorithms</a:t>
            </a:r>
          </a:p>
        </p:txBody>
      </p:sp>
      <p:sp>
        <p:nvSpPr>
          <p:cNvPr id="12292" name="Rectangle 4">
            <a:extLst>
              <a:ext uri="{FF2B5EF4-FFF2-40B4-BE49-F238E27FC236}">
                <a16:creationId xmlns:a16="http://schemas.microsoft.com/office/drawing/2014/main" id="{08C5B088-C7BC-A435-9E8D-1FB9430E4903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>
          <a:xfrm>
            <a:off x="4648200" y="1271588"/>
            <a:ext cx="4038600" cy="4595812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en-US" altLang="tr-TR" sz="2000" dirty="0"/>
              <a:t>Mediator</a:t>
            </a:r>
          </a:p>
          <a:p>
            <a:pPr lvl="1">
              <a:lnSpc>
                <a:spcPct val="80000"/>
              </a:lnSpc>
            </a:pPr>
            <a:r>
              <a:rPr lang="en-US" altLang="tr-TR" sz="1800" dirty="0"/>
              <a:t>coordinates interactions between its colleagues</a:t>
            </a:r>
          </a:p>
          <a:p>
            <a:pPr>
              <a:lnSpc>
                <a:spcPct val="80000"/>
              </a:lnSpc>
            </a:pPr>
            <a:r>
              <a:rPr lang="en-US" altLang="tr-TR" sz="2000" dirty="0"/>
              <a:t>Memento</a:t>
            </a:r>
          </a:p>
          <a:p>
            <a:pPr lvl="1">
              <a:lnSpc>
                <a:spcPct val="80000"/>
              </a:lnSpc>
            </a:pPr>
            <a:r>
              <a:rPr lang="en-US" altLang="tr-TR" sz="1800" dirty="0"/>
              <a:t>Snapshot captures and restores object states privately</a:t>
            </a:r>
          </a:p>
          <a:p>
            <a:pPr>
              <a:lnSpc>
                <a:spcPct val="80000"/>
              </a:lnSpc>
            </a:pPr>
            <a:r>
              <a:rPr lang="en-US" altLang="tr-TR" sz="2000" dirty="0"/>
              <a:t>Observer</a:t>
            </a:r>
          </a:p>
          <a:p>
            <a:pPr lvl="1">
              <a:lnSpc>
                <a:spcPct val="80000"/>
              </a:lnSpc>
            </a:pPr>
            <a:r>
              <a:rPr lang="en-US" altLang="tr-TR" sz="1800" dirty="0"/>
              <a:t>Dependents update automatically when a subject changes</a:t>
            </a:r>
          </a:p>
          <a:p>
            <a:pPr>
              <a:lnSpc>
                <a:spcPct val="80000"/>
              </a:lnSpc>
            </a:pPr>
            <a:r>
              <a:rPr lang="en-US" altLang="tr-TR" sz="2000" dirty="0"/>
              <a:t>State</a:t>
            </a:r>
          </a:p>
          <a:p>
            <a:pPr lvl="1">
              <a:lnSpc>
                <a:spcPct val="80000"/>
              </a:lnSpc>
            </a:pPr>
            <a:r>
              <a:rPr lang="en-US" altLang="tr-TR" sz="1800" dirty="0"/>
              <a:t>Object whose behavior depends on its state</a:t>
            </a:r>
          </a:p>
          <a:p>
            <a:pPr>
              <a:lnSpc>
                <a:spcPct val="80000"/>
              </a:lnSpc>
            </a:pPr>
            <a:r>
              <a:rPr lang="en-US" altLang="tr-TR" sz="2000" dirty="0"/>
              <a:t>Visitor</a:t>
            </a:r>
          </a:p>
          <a:p>
            <a:pPr lvl="1">
              <a:lnSpc>
                <a:spcPct val="80000"/>
              </a:lnSpc>
            </a:pPr>
            <a:r>
              <a:rPr lang="en-US" altLang="tr-TR" sz="1800" dirty="0"/>
              <a:t> Operations applied to elements of a heterogeneous object structure</a:t>
            </a:r>
          </a:p>
        </p:txBody>
      </p:sp>
    </p:spTree>
    <p:extLst>
      <p:ext uri="{BB962C8B-B14F-4D97-AF65-F5344CB8AC3E}">
        <p14:creationId xmlns:p14="http://schemas.microsoft.com/office/powerpoint/2010/main" val="7445381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E3CCC-0ECA-0D61-F193-49B717E16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tr-TR" dirty="0"/>
              <a:t>Algorithms sharing steps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EAC178-49C0-E2EF-57D5-6D268CF748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35291"/>
            <a:ext cx="8686800" cy="4532109"/>
          </a:xfrm>
        </p:spPr>
        <p:txBody>
          <a:bodyPr/>
          <a:lstStyle/>
          <a:p>
            <a:r>
              <a:rPr lang="en-US" dirty="0"/>
              <a:t>Similar steps but specific details are different</a:t>
            </a:r>
          </a:p>
          <a:p>
            <a:r>
              <a:rPr lang="en-US" dirty="0"/>
              <a:t>e.g. retrieve OS name from a system spec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Algorithms with common structure are common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52328B2-CD54-CAFB-C2EB-3B969C8AC9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7871785"/>
              </p:ext>
            </p:extLst>
          </p:nvPr>
        </p:nvGraphicFramePr>
        <p:xfrm>
          <a:off x="1475656" y="2708920"/>
          <a:ext cx="6096000" cy="2254374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4222652988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4262288745"/>
                    </a:ext>
                  </a:extLst>
                </a:gridCol>
              </a:tblGrid>
              <a:tr h="751458">
                <a:tc>
                  <a:txBody>
                    <a:bodyPr/>
                    <a:lstStyle/>
                    <a:p>
                      <a:r>
                        <a:rPr lang="en-US" dirty="0"/>
                        <a:t>Read the JSON file</a:t>
                      </a:r>
                      <a:endParaRPr lang="en-US" baseline="0" dirty="0"/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Read</a:t>
                      </a:r>
                      <a:r>
                        <a:rPr lang="en-US" baseline="0" dirty="0"/>
                        <a:t> the XML file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2936636"/>
                  </a:ext>
                </a:extLst>
              </a:tr>
              <a:tr h="751458">
                <a:tc>
                  <a:txBody>
                    <a:bodyPr/>
                    <a:lstStyle/>
                    <a:p>
                      <a:r>
                        <a:rPr lang="en-US" dirty="0"/>
                        <a:t>Parse the JSON file into a JSON 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parse</a:t>
                      </a:r>
                      <a:r>
                        <a:rPr lang="en-US" baseline="0" dirty="0"/>
                        <a:t> XML file into Document object 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6192183"/>
                  </a:ext>
                </a:extLst>
              </a:tr>
              <a:tr h="751458">
                <a:tc>
                  <a:txBody>
                    <a:bodyPr/>
                    <a:lstStyle/>
                    <a:p>
                      <a:r>
                        <a:rPr lang="en-US" dirty="0"/>
                        <a:t>Get “OS Version”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Get the element with “OS Version” tag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02943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73218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0375FF3-1C64-36CE-D75F-CB527857C6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68" y="848001"/>
            <a:ext cx="8011541" cy="3384376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82D58D1-C478-CA6F-31C3-128409DC8385}"/>
              </a:ext>
            </a:extLst>
          </p:cNvPr>
          <p:cNvSpPr/>
          <p:nvPr/>
        </p:nvSpPr>
        <p:spPr bwMode="auto">
          <a:xfrm>
            <a:off x="4113139" y="2432176"/>
            <a:ext cx="1538981" cy="276743"/>
          </a:xfrm>
          <a:prstGeom prst="roundRect">
            <a:avLst/>
          </a:prstGeom>
          <a:solidFill>
            <a:schemeClr val="accent1">
              <a:alpha val="21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EBF920F-04DA-CF49-EDAE-15695164A9F4}"/>
              </a:ext>
            </a:extLst>
          </p:cNvPr>
          <p:cNvSpPr/>
          <p:nvPr/>
        </p:nvSpPr>
        <p:spPr bwMode="auto">
          <a:xfrm>
            <a:off x="3712664" y="2067431"/>
            <a:ext cx="1291384" cy="216024"/>
          </a:xfrm>
          <a:prstGeom prst="roundRect">
            <a:avLst/>
          </a:prstGeom>
          <a:solidFill>
            <a:schemeClr val="accent1">
              <a:alpha val="21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A8ABBCC-C0B8-EE8D-FB83-E50D6CD784DB}"/>
              </a:ext>
            </a:extLst>
          </p:cNvPr>
          <p:cNvSpPr/>
          <p:nvPr/>
        </p:nvSpPr>
        <p:spPr bwMode="auto">
          <a:xfrm>
            <a:off x="4324732" y="1620098"/>
            <a:ext cx="1111364" cy="412519"/>
          </a:xfrm>
          <a:prstGeom prst="roundRect">
            <a:avLst/>
          </a:prstGeom>
          <a:solidFill>
            <a:schemeClr val="accent1">
              <a:alpha val="21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F47EE11-6377-42F3-B9FC-61A72B3AF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404237"/>
              </p:ext>
            </p:extLst>
          </p:nvPr>
        </p:nvGraphicFramePr>
        <p:xfrm>
          <a:off x="1403648" y="4267190"/>
          <a:ext cx="6120680" cy="192024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3060340">
                  <a:extLst>
                    <a:ext uri="{9D8B030D-6E8A-4147-A177-3AD203B41FA5}">
                      <a16:colId xmlns:a16="http://schemas.microsoft.com/office/drawing/2014/main" val="4222652988"/>
                    </a:ext>
                  </a:extLst>
                </a:gridCol>
                <a:gridCol w="3060340">
                  <a:extLst>
                    <a:ext uri="{9D8B030D-6E8A-4147-A177-3AD203B41FA5}">
                      <a16:colId xmlns:a16="http://schemas.microsoft.com/office/drawing/2014/main" val="4262288745"/>
                    </a:ext>
                  </a:extLst>
                </a:gridCol>
              </a:tblGrid>
              <a:tr h="559437">
                <a:tc>
                  <a:txBody>
                    <a:bodyPr/>
                    <a:lstStyle/>
                    <a:p>
                      <a:r>
                        <a:rPr lang="en-US" dirty="0"/>
                        <a:t>Read the JSON file</a:t>
                      </a:r>
                      <a:endParaRPr lang="en-US" baseline="0" dirty="0"/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Read</a:t>
                      </a:r>
                      <a:r>
                        <a:rPr lang="en-US" baseline="0" dirty="0"/>
                        <a:t> the XML file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2936636"/>
                  </a:ext>
                </a:extLst>
              </a:tr>
              <a:tr h="559437">
                <a:tc>
                  <a:txBody>
                    <a:bodyPr/>
                    <a:lstStyle/>
                    <a:p>
                      <a:r>
                        <a:rPr lang="en-US" dirty="0"/>
                        <a:t>Parse the JSON file into a JSON 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parse</a:t>
                      </a:r>
                      <a:r>
                        <a:rPr lang="en-US" baseline="0" dirty="0"/>
                        <a:t> XML file into Document object 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6192183"/>
                  </a:ext>
                </a:extLst>
              </a:tr>
              <a:tr h="559437">
                <a:tc>
                  <a:txBody>
                    <a:bodyPr/>
                    <a:lstStyle/>
                    <a:p>
                      <a:r>
                        <a:rPr lang="en-US" dirty="0"/>
                        <a:t>Get “OS Version”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Get the element with “OS Version” tag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02943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399812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C0AE2-55CE-66F3-299B-C371CF286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28A9B35-29C3-D88F-C8B6-A3287995F3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528" y="361098"/>
            <a:ext cx="8204052" cy="6135804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F288F92-750B-2AFC-F498-FC06B6409945}"/>
              </a:ext>
            </a:extLst>
          </p:cNvPr>
          <p:cNvSpPr/>
          <p:nvPr/>
        </p:nvSpPr>
        <p:spPr bwMode="auto">
          <a:xfrm>
            <a:off x="3167845" y="778925"/>
            <a:ext cx="936104" cy="216024"/>
          </a:xfrm>
          <a:prstGeom prst="roundRect">
            <a:avLst/>
          </a:prstGeom>
          <a:solidFill>
            <a:schemeClr val="accent1">
              <a:alpha val="21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8E881E5-5396-0982-4910-740D264595B4}"/>
              </a:ext>
            </a:extLst>
          </p:cNvPr>
          <p:cNvSpPr/>
          <p:nvPr/>
        </p:nvSpPr>
        <p:spPr bwMode="auto">
          <a:xfrm>
            <a:off x="2987824" y="1772816"/>
            <a:ext cx="1534455" cy="288032"/>
          </a:xfrm>
          <a:prstGeom prst="roundRect">
            <a:avLst/>
          </a:prstGeom>
          <a:solidFill>
            <a:schemeClr val="accent1">
              <a:alpha val="21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4DFBDD-EEE9-75E6-7ECA-17FDAB49FEB1}"/>
              </a:ext>
            </a:extLst>
          </p:cNvPr>
          <p:cNvSpPr/>
          <p:nvPr/>
        </p:nvSpPr>
        <p:spPr bwMode="auto">
          <a:xfrm>
            <a:off x="3491880" y="2436012"/>
            <a:ext cx="2952328" cy="288032"/>
          </a:xfrm>
          <a:prstGeom prst="roundRect">
            <a:avLst/>
          </a:prstGeom>
          <a:solidFill>
            <a:schemeClr val="accent1">
              <a:alpha val="21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4F71E5C-8FFF-5C5F-E9B8-B03F854CD59D}"/>
              </a:ext>
            </a:extLst>
          </p:cNvPr>
          <p:cNvSpPr/>
          <p:nvPr/>
        </p:nvSpPr>
        <p:spPr bwMode="auto">
          <a:xfrm>
            <a:off x="3203848" y="4869160"/>
            <a:ext cx="936104" cy="216024"/>
          </a:xfrm>
          <a:prstGeom prst="roundRect">
            <a:avLst/>
          </a:prstGeom>
          <a:solidFill>
            <a:schemeClr val="accent1">
              <a:alpha val="21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" name="Left Brace 3">
            <a:extLst>
              <a:ext uri="{FF2B5EF4-FFF2-40B4-BE49-F238E27FC236}">
                <a16:creationId xmlns:a16="http://schemas.microsoft.com/office/drawing/2014/main" id="{FFDABA68-FED4-EFC0-6AB6-4B98ACEF239D}"/>
              </a:ext>
            </a:extLst>
          </p:cNvPr>
          <p:cNvSpPr/>
          <p:nvPr/>
        </p:nvSpPr>
        <p:spPr bwMode="auto">
          <a:xfrm>
            <a:off x="1187624" y="800708"/>
            <a:ext cx="288032" cy="324036"/>
          </a:xfrm>
          <a:prstGeom prst="leftBrace">
            <a:avLst>
              <a:gd name="adj1" fmla="val 8333"/>
              <a:gd name="adj2" fmla="val 50000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55D7B261-AD59-4D83-85C2-234A95F34AE8}"/>
              </a:ext>
            </a:extLst>
          </p:cNvPr>
          <p:cNvSpPr/>
          <p:nvPr/>
        </p:nvSpPr>
        <p:spPr bwMode="auto">
          <a:xfrm>
            <a:off x="1060334" y="1268760"/>
            <a:ext cx="415322" cy="792088"/>
          </a:xfrm>
          <a:prstGeom prst="leftBrace">
            <a:avLst>
              <a:gd name="adj1" fmla="val 8333"/>
              <a:gd name="adj2" fmla="val 50000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173F64D3-C999-4BCD-CCB7-26B5A28F4110}"/>
              </a:ext>
            </a:extLst>
          </p:cNvPr>
          <p:cNvSpPr/>
          <p:nvPr/>
        </p:nvSpPr>
        <p:spPr bwMode="auto">
          <a:xfrm>
            <a:off x="1123979" y="2204864"/>
            <a:ext cx="260883" cy="3600400"/>
          </a:xfrm>
          <a:prstGeom prst="leftBrace">
            <a:avLst>
              <a:gd name="adj1" fmla="val 8333"/>
              <a:gd name="adj2" fmla="val 50000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Action Button: Blank 1">
            <a:hlinkClick r:id="rId4" highlightClick="1"/>
            <a:extLst>
              <a:ext uri="{FF2B5EF4-FFF2-40B4-BE49-F238E27FC236}">
                <a16:creationId xmlns:a16="http://schemas.microsoft.com/office/drawing/2014/main" id="{9C798EF8-471C-A74F-09AE-75EC333B10EC}"/>
              </a:ext>
            </a:extLst>
          </p:cNvPr>
          <p:cNvSpPr/>
          <p:nvPr/>
        </p:nvSpPr>
        <p:spPr bwMode="auto">
          <a:xfrm>
            <a:off x="6948265" y="260648"/>
            <a:ext cx="1738536" cy="576064"/>
          </a:xfrm>
          <a:prstGeom prst="actionButtonBlank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Refactored –click here</a:t>
            </a:r>
          </a:p>
        </p:txBody>
      </p:sp>
    </p:spTree>
    <p:extLst>
      <p:ext uri="{BB962C8B-B14F-4D97-AF65-F5344CB8AC3E}">
        <p14:creationId xmlns:p14="http://schemas.microsoft.com/office/powerpoint/2010/main" val="2950190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>
            <a:extLst>
              <a:ext uri="{FF2B5EF4-FFF2-40B4-BE49-F238E27FC236}">
                <a16:creationId xmlns:a16="http://schemas.microsoft.com/office/drawing/2014/main" id="{248073EE-3C31-3DD2-0E80-47D62FAF826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tr-TR" dirty="0"/>
              <a:t>Algorithms sharing steps</a:t>
            </a:r>
          </a:p>
        </p:txBody>
      </p:sp>
      <p:sp>
        <p:nvSpPr>
          <p:cNvPr id="45059" name="Rectangle 3">
            <a:extLst>
              <a:ext uri="{FF2B5EF4-FFF2-40B4-BE49-F238E27FC236}">
                <a16:creationId xmlns:a16="http://schemas.microsoft.com/office/drawing/2014/main" id="{7E3350E6-5828-8BFB-10D5-21CA591DE2C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tr-TR" dirty="0"/>
              <a:t>We are going to think about the steps of an algorithm</a:t>
            </a:r>
          </a:p>
          <a:p>
            <a:pPr eaLnBrk="1" hangingPunct="1">
              <a:lnSpc>
                <a:spcPct val="90000"/>
              </a:lnSpc>
              <a:buFontTx/>
              <a:buNone/>
            </a:pPr>
            <a:r>
              <a:rPr lang="en-US" altLang="tr-TR" sz="2400" dirty="0"/>
              <a:t>      alg1:</a:t>
            </a:r>
          </a:p>
          <a:p>
            <a:pPr eaLnBrk="1" hangingPunct="1">
              <a:lnSpc>
                <a:spcPct val="90000"/>
              </a:lnSpc>
              <a:buFontTx/>
              <a:buNone/>
            </a:pPr>
            <a:r>
              <a:rPr lang="en-US" altLang="tr-TR" sz="2400" dirty="0"/>
              <a:t>        1) </a:t>
            </a:r>
            <a:r>
              <a:rPr lang="en-US" altLang="tr-TR" sz="2400" dirty="0" err="1"/>
              <a:t>doA</a:t>
            </a:r>
            <a:r>
              <a:rPr lang="en-US" altLang="tr-TR" sz="2400" dirty="0"/>
              <a:t>;          </a:t>
            </a:r>
          </a:p>
          <a:p>
            <a:pPr eaLnBrk="1" hangingPunct="1">
              <a:lnSpc>
                <a:spcPct val="90000"/>
              </a:lnSpc>
              <a:buFontTx/>
              <a:buNone/>
            </a:pPr>
            <a:r>
              <a:rPr lang="en-US" altLang="tr-TR" sz="2400" dirty="0"/>
              <a:t>        2) </a:t>
            </a:r>
            <a:r>
              <a:rPr lang="en-US" altLang="tr-TR" sz="2400" dirty="0" err="1"/>
              <a:t>doB</a:t>
            </a:r>
            <a:r>
              <a:rPr lang="en-US" altLang="tr-TR" sz="2400" dirty="0"/>
              <a:t>;</a:t>
            </a:r>
          </a:p>
          <a:p>
            <a:pPr eaLnBrk="1" hangingPunct="1">
              <a:lnSpc>
                <a:spcPct val="90000"/>
              </a:lnSpc>
              <a:buFontTx/>
              <a:buNone/>
            </a:pPr>
            <a:r>
              <a:rPr lang="en-US" altLang="tr-TR" sz="2400" dirty="0"/>
              <a:t>        3) </a:t>
            </a:r>
            <a:r>
              <a:rPr lang="en-US" altLang="tr-TR" sz="2400" dirty="0" err="1"/>
              <a:t>doC</a:t>
            </a:r>
            <a:r>
              <a:rPr lang="en-US" altLang="tr-TR" sz="2400" dirty="0"/>
              <a:t>;</a:t>
            </a:r>
          </a:p>
          <a:p>
            <a:pPr eaLnBrk="1" hangingPunct="1">
              <a:lnSpc>
                <a:spcPct val="90000"/>
              </a:lnSpc>
            </a:pPr>
            <a:r>
              <a:rPr lang="en-US" altLang="tr-TR" dirty="0"/>
              <a:t>Set the algorithm (order of steps) in stone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tr-TR" dirty="0"/>
              <a:t>Leave out the details of the steps to be defined by someone else </a:t>
            </a:r>
          </a:p>
          <a:p>
            <a:pPr lvl="1">
              <a:lnSpc>
                <a:spcPct val="90000"/>
              </a:lnSpc>
            </a:pPr>
            <a:r>
              <a:rPr lang="en-US" altLang="tr-TR" sz="2400" dirty="0"/>
              <a:t>alg1 does not know how to carry out </a:t>
            </a:r>
            <a:r>
              <a:rPr lang="en-US" altLang="tr-TR" sz="2400" dirty="0" err="1"/>
              <a:t>doA</a:t>
            </a:r>
            <a:r>
              <a:rPr lang="en-US" altLang="tr-TR" sz="2400" dirty="0"/>
              <a:t>, someone else will define it for me</a:t>
            </a:r>
            <a:endParaRPr lang="en-GB" altLang="tr-TR" sz="2400" dirty="0"/>
          </a:p>
        </p:txBody>
      </p:sp>
    </p:spTree>
    <p:extLst>
      <p:ext uri="{BB962C8B-B14F-4D97-AF65-F5344CB8AC3E}">
        <p14:creationId xmlns:p14="http://schemas.microsoft.com/office/powerpoint/2010/main" val="26702579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4">
            <a:extLst>
              <a:ext uri="{FF2B5EF4-FFF2-40B4-BE49-F238E27FC236}">
                <a16:creationId xmlns:a16="http://schemas.microsoft.com/office/drawing/2014/main" id="{AAF09C5D-AA6A-0E59-5BBE-6022BCE1A7B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tr-TR" dirty="0"/>
              <a:t>Structure –Template Method</a:t>
            </a:r>
          </a:p>
        </p:txBody>
      </p:sp>
      <p:grpSp>
        <p:nvGrpSpPr>
          <p:cNvPr id="49155" name="Group 12">
            <a:extLst>
              <a:ext uri="{FF2B5EF4-FFF2-40B4-BE49-F238E27FC236}">
                <a16:creationId xmlns:a16="http://schemas.microsoft.com/office/drawing/2014/main" id="{BBEABE22-BEB4-552B-AB76-070E466B956A}"/>
              </a:ext>
            </a:extLst>
          </p:cNvPr>
          <p:cNvGrpSpPr>
            <a:grpSpLocks/>
          </p:cNvGrpSpPr>
          <p:nvPr/>
        </p:nvGrpSpPr>
        <p:grpSpPr bwMode="auto">
          <a:xfrm>
            <a:off x="1184276" y="1628775"/>
            <a:ext cx="2819400" cy="1622425"/>
            <a:chOff x="564" y="3022"/>
            <a:chExt cx="1776" cy="1022"/>
          </a:xfrm>
        </p:grpSpPr>
        <p:sp>
          <p:nvSpPr>
            <p:cNvPr id="49175" name="Rectangle 9">
              <a:extLst>
                <a:ext uri="{FF2B5EF4-FFF2-40B4-BE49-F238E27FC236}">
                  <a16:creationId xmlns:a16="http://schemas.microsoft.com/office/drawing/2014/main" id="{AAA06814-DB59-9B5A-17AC-6FE0C1BF85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7" y="3022"/>
              <a:ext cx="1587" cy="999"/>
            </a:xfrm>
            <a:prstGeom prst="rect">
              <a:avLst/>
            </a:prstGeom>
            <a:solidFill>
              <a:schemeClr val="bg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GB" altLang="tr-TR" sz="1800"/>
            </a:p>
          </p:txBody>
        </p:sp>
        <p:sp>
          <p:nvSpPr>
            <p:cNvPr id="49176" name="Text Box 10">
              <a:extLst>
                <a:ext uri="{FF2B5EF4-FFF2-40B4-BE49-F238E27FC236}">
                  <a16:creationId xmlns:a16="http://schemas.microsoft.com/office/drawing/2014/main" id="{885335D0-8A13-5BD6-90A0-4AAFFB08A73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4" y="3045"/>
              <a:ext cx="1776" cy="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tr-TR" sz="1800" b="1" i="1" dirty="0" err="1"/>
                <a:t>AbstractClass</a:t>
              </a:r>
              <a:endParaRPr lang="en-US" altLang="tr-TR" sz="1800" b="1" i="1" dirty="0"/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tr-TR" sz="800" b="1" i="1" dirty="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tr-TR" sz="1800" dirty="0"/>
                <a:t>+</a:t>
              </a:r>
              <a:r>
                <a:rPr lang="en-US" altLang="tr-TR" sz="1800" dirty="0" err="1"/>
                <a:t>templateMethod</a:t>
              </a:r>
              <a:r>
                <a:rPr lang="en-US" altLang="tr-TR" sz="1800" dirty="0"/>
                <a:t>()     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tr-TR" sz="1800" i="1" dirty="0"/>
                <a:t>+primitiveOperation1()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tr-TR" sz="1800" i="1" dirty="0"/>
                <a:t>+primitiveOperation2()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tr-TR" sz="1800" dirty="0"/>
                <a:t>+hook() </a:t>
              </a:r>
              <a:r>
                <a:rPr lang="en-US" altLang="tr-TR" sz="1800" i="1" dirty="0"/>
                <a:t>                      </a:t>
              </a:r>
            </a:p>
          </p:txBody>
        </p:sp>
        <p:sp>
          <p:nvSpPr>
            <p:cNvPr id="49177" name="Line 11">
              <a:extLst>
                <a:ext uri="{FF2B5EF4-FFF2-40B4-BE49-F238E27FC236}">
                  <a16:creationId xmlns:a16="http://schemas.microsoft.com/office/drawing/2014/main" id="{A1F0154C-90DF-613B-8F4A-DAF242900A9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7" y="3249"/>
              <a:ext cx="158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9156" name="Group 16">
            <a:extLst>
              <a:ext uri="{FF2B5EF4-FFF2-40B4-BE49-F238E27FC236}">
                <a16:creationId xmlns:a16="http://schemas.microsoft.com/office/drawing/2014/main" id="{41FBA53D-2E47-4A6A-013B-05551CE82F5D}"/>
              </a:ext>
            </a:extLst>
          </p:cNvPr>
          <p:cNvGrpSpPr>
            <a:grpSpLocks/>
          </p:cNvGrpSpPr>
          <p:nvPr/>
        </p:nvGrpSpPr>
        <p:grpSpPr bwMode="auto">
          <a:xfrm>
            <a:off x="1331913" y="4508500"/>
            <a:ext cx="2592387" cy="1081088"/>
            <a:chOff x="3969" y="3475"/>
            <a:chExt cx="1633" cy="681"/>
          </a:xfrm>
        </p:grpSpPr>
        <p:sp>
          <p:nvSpPr>
            <p:cNvPr id="49172" name="Rectangle 13">
              <a:extLst>
                <a:ext uri="{FF2B5EF4-FFF2-40B4-BE49-F238E27FC236}">
                  <a16:creationId xmlns:a16="http://schemas.microsoft.com/office/drawing/2014/main" id="{7454AF85-16DB-0F4A-A583-590F5CF8C0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5" y="3475"/>
              <a:ext cx="1587" cy="681"/>
            </a:xfrm>
            <a:prstGeom prst="rect">
              <a:avLst/>
            </a:prstGeom>
            <a:solidFill>
              <a:schemeClr val="bg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GB" altLang="tr-TR" sz="1800" dirty="0"/>
            </a:p>
          </p:txBody>
        </p:sp>
        <p:sp>
          <p:nvSpPr>
            <p:cNvPr id="49173" name="Text Box 14">
              <a:extLst>
                <a:ext uri="{FF2B5EF4-FFF2-40B4-BE49-F238E27FC236}">
                  <a16:creationId xmlns:a16="http://schemas.microsoft.com/office/drawing/2014/main" id="{8CD04342-F593-CCB3-5CED-DE51D20494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69" y="3475"/>
              <a:ext cx="1544" cy="6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tr-TR" sz="1800" b="1"/>
                <a:t>ConcreteClass1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tr-TR" sz="800" b="1" i="1"/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tr-TR" sz="1800"/>
                <a:t>+primitiveOperation1()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tr-TR" sz="1800"/>
                <a:t>+primitiveOperation2()</a:t>
              </a:r>
            </a:p>
          </p:txBody>
        </p:sp>
        <p:sp>
          <p:nvSpPr>
            <p:cNvPr id="49174" name="Line 15">
              <a:extLst>
                <a:ext uri="{FF2B5EF4-FFF2-40B4-BE49-F238E27FC236}">
                  <a16:creationId xmlns:a16="http://schemas.microsoft.com/office/drawing/2014/main" id="{273103F6-DF8E-4E84-5BE9-48677BD012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15" y="3702"/>
              <a:ext cx="158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9157" name="Rectangle 18">
            <a:extLst>
              <a:ext uri="{FF2B5EF4-FFF2-40B4-BE49-F238E27FC236}">
                <a16:creationId xmlns:a16="http://schemas.microsoft.com/office/drawing/2014/main" id="{9AB9C6CA-D047-48C7-BB32-0292E4FCC926}"/>
              </a:ext>
            </a:extLst>
          </p:cNvPr>
          <p:cNvSpPr>
            <a:spLocks noChangeArrowheads="1"/>
          </p:cNvSpPr>
          <p:nvPr/>
        </p:nvSpPr>
        <p:spPr bwMode="auto">
          <a:xfrm rot="2508028">
            <a:off x="6084888" y="3933825"/>
            <a:ext cx="720725" cy="36036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GB" altLang="tr-TR" sz="1800"/>
          </a:p>
        </p:txBody>
      </p:sp>
      <p:grpSp>
        <p:nvGrpSpPr>
          <p:cNvPr id="49158" name="Group 21">
            <a:extLst>
              <a:ext uri="{FF2B5EF4-FFF2-40B4-BE49-F238E27FC236}">
                <a16:creationId xmlns:a16="http://schemas.microsoft.com/office/drawing/2014/main" id="{6642DC5F-E0CE-59D8-3420-DF7610069EF4}"/>
              </a:ext>
            </a:extLst>
          </p:cNvPr>
          <p:cNvGrpSpPr>
            <a:grpSpLocks/>
          </p:cNvGrpSpPr>
          <p:nvPr/>
        </p:nvGrpSpPr>
        <p:grpSpPr bwMode="auto">
          <a:xfrm>
            <a:off x="5508625" y="2133600"/>
            <a:ext cx="2592388" cy="1512888"/>
            <a:chOff x="2426" y="2568"/>
            <a:chExt cx="1633" cy="953"/>
          </a:xfrm>
        </p:grpSpPr>
        <p:sp>
          <p:nvSpPr>
            <p:cNvPr id="49167" name="Rectangle 6">
              <a:extLst>
                <a:ext uri="{FF2B5EF4-FFF2-40B4-BE49-F238E27FC236}">
                  <a16:creationId xmlns:a16="http://schemas.microsoft.com/office/drawing/2014/main" id="{A88444AC-9156-702B-703E-906AD0BB0C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72" y="2614"/>
              <a:ext cx="1587" cy="90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GB" altLang="tr-TR" sz="1800"/>
            </a:p>
          </p:txBody>
        </p:sp>
        <p:sp>
          <p:nvSpPr>
            <p:cNvPr id="49168" name="Text Box 7">
              <a:extLst>
                <a:ext uri="{FF2B5EF4-FFF2-40B4-BE49-F238E27FC236}">
                  <a16:creationId xmlns:a16="http://schemas.microsoft.com/office/drawing/2014/main" id="{756E6630-2D1B-BD11-1891-D9946417647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26" y="2568"/>
              <a:ext cx="1544" cy="9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tr-TR" sz="1800"/>
                <a:t>……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tr-TR" sz="1800"/>
                <a:t>+primitiveOperation1()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tr-TR" sz="1800"/>
                <a:t>…..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tr-TR" sz="1800"/>
                <a:t>+primitiveOperation2()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tr-TR" sz="1800"/>
                <a:t>…….</a:t>
              </a:r>
            </a:p>
          </p:txBody>
        </p:sp>
        <p:sp>
          <p:nvSpPr>
            <p:cNvPr id="49169" name="Line 17">
              <a:extLst>
                <a:ext uri="{FF2B5EF4-FFF2-40B4-BE49-F238E27FC236}">
                  <a16:creationId xmlns:a16="http://schemas.microsoft.com/office/drawing/2014/main" id="{0AA8182B-1A59-DB6C-1763-6E2FE0ECEC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78" y="2614"/>
              <a:ext cx="181" cy="1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170" name="Line 19">
              <a:extLst>
                <a:ext uri="{FF2B5EF4-FFF2-40B4-BE49-F238E27FC236}">
                  <a16:creationId xmlns:a16="http://schemas.microsoft.com/office/drawing/2014/main" id="{A130E779-322C-77C3-6861-3D510B55DB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78" y="2614"/>
              <a:ext cx="0" cy="1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171" name="Line 20">
              <a:extLst>
                <a:ext uri="{FF2B5EF4-FFF2-40B4-BE49-F238E27FC236}">
                  <a16:creationId xmlns:a16="http://schemas.microsoft.com/office/drawing/2014/main" id="{820E35E5-EE11-C409-38A1-85D7F8D3424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78" y="2750"/>
              <a:ext cx="18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9159" name="AutoShape 22">
            <a:extLst>
              <a:ext uri="{FF2B5EF4-FFF2-40B4-BE49-F238E27FC236}">
                <a16:creationId xmlns:a16="http://schemas.microsoft.com/office/drawing/2014/main" id="{CD7551EA-6B99-1721-8A20-13E1562730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875" y="3143250"/>
            <a:ext cx="288925" cy="288925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GB" altLang="tr-TR" sz="1800"/>
          </a:p>
        </p:txBody>
      </p:sp>
      <p:cxnSp>
        <p:nvCxnSpPr>
          <p:cNvPr id="49160" name="AutoShape 23">
            <a:extLst>
              <a:ext uri="{FF2B5EF4-FFF2-40B4-BE49-F238E27FC236}">
                <a16:creationId xmlns:a16="http://schemas.microsoft.com/office/drawing/2014/main" id="{DA244B3E-DFF8-377C-FDA4-2CE601096CA4}"/>
              </a:ext>
            </a:extLst>
          </p:cNvPr>
          <p:cNvCxnSpPr>
            <a:cxnSpLocks noChangeShapeType="1"/>
            <a:stCxn id="49159" idx="3"/>
            <a:endCxn id="49173" idx="0"/>
          </p:cNvCxnSpPr>
          <p:nvPr/>
        </p:nvCxnSpPr>
        <p:spPr bwMode="auto">
          <a:xfrm rot="5400000">
            <a:off x="2027238" y="3962400"/>
            <a:ext cx="1076325" cy="1587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9161" name="AutoShape 24">
            <a:extLst>
              <a:ext uri="{FF2B5EF4-FFF2-40B4-BE49-F238E27FC236}">
                <a16:creationId xmlns:a16="http://schemas.microsoft.com/office/drawing/2014/main" id="{12BDA48F-F58B-1BD9-9F3A-41DA96AEA725}"/>
              </a:ext>
            </a:extLst>
          </p:cNvPr>
          <p:cNvCxnSpPr>
            <a:cxnSpLocks noChangeShapeType="1"/>
            <a:stCxn id="49168" idx="1"/>
          </p:cNvCxnSpPr>
          <p:nvPr/>
        </p:nvCxnSpPr>
        <p:spPr bwMode="auto">
          <a:xfrm rot="10800000">
            <a:off x="3419475" y="2205038"/>
            <a:ext cx="2089150" cy="66198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lg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49162" name="Group 16">
            <a:extLst>
              <a:ext uri="{FF2B5EF4-FFF2-40B4-BE49-F238E27FC236}">
                <a16:creationId xmlns:a16="http://schemas.microsoft.com/office/drawing/2014/main" id="{D2A21C83-1B79-07B2-9541-8DA5830B4302}"/>
              </a:ext>
            </a:extLst>
          </p:cNvPr>
          <p:cNvGrpSpPr>
            <a:grpSpLocks/>
          </p:cNvGrpSpPr>
          <p:nvPr/>
        </p:nvGrpSpPr>
        <p:grpSpPr bwMode="auto">
          <a:xfrm>
            <a:off x="5072063" y="4429125"/>
            <a:ext cx="2592387" cy="1357313"/>
            <a:chOff x="3969" y="3475"/>
            <a:chExt cx="1633" cy="855"/>
          </a:xfrm>
        </p:grpSpPr>
        <p:sp>
          <p:nvSpPr>
            <p:cNvPr id="49164" name="Rectangle 13">
              <a:extLst>
                <a:ext uri="{FF2B5EF4-FFF2-40B4-BE49-F238E27FC236}">
                  <a16:creationId xmlns:a16="http://schemas.microsoft.com/office/drawing/2014/main" id="{359C1758-C6EC-F8FF-0F81-D29FE85CF2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5" y="3475"/>
              <a:ext cx="1587" cy="855"/>
            </a:xfrm>
            <a:prstGeom prst="rect">
              <a:avLst/>
            </a:prstGeom>
            <a:solidFill>
              <a:schemeClr val="bg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GB" altLang="tr-TR" sz="1800"/>
            </a:p>
          </p:txBody>
        </p:sp>
        <p:sp>
          <p:nvSpPr>
            <p:cNvPr id="49165" name="Text Box 14">
              <a:extLst>
                <a:ext uri="{FF2B5EF4-FFF2-40B4-BE49-F238E27FC236}">
                  <a16:creationId xmlns:a16="http://schemas.microsoft.com/office/drawing/2014/main" id="{78CF1E2C-B112-A908-2EB8-EB350FABE34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69" y="3475"/>
              <a:ext cx="1583" cy="8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tr-TR" sz="1800" b="1" dirty="0"/>
                <a:t>ConcreteClass2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tr-TR" sz="800" b="1" i="1" dirty="0"/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tr-TR" sz="1800" dirty="0"/>
                <a:t>+primitiveOperation1()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tr-TR" sz="1800" dirty="0"/>
                <a:t>+primitiveOperation2()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tr-TR" sz="1800" dirty="0"/>
                <a:t>+hook()                        </a:t>
              </a:r>
            </a:p>
          </p:txBody>
        </p:sp>
        <p:sp>
          <p:nvSpPr>
            <p:cNvPr id="49166" name="Line 15">
              <a:extLst>
                <a:ext uri="{FF2B5EF4-FFF2-40B4-BE49-F238E27FC236}">
                  <a16:creationId xmlns:a16="http://schemas.microsoft.com/office/drawing/2014/main" id="{171F949A-6CBB-2174-A65D-7C34EA95D2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15" y="3702"/>
              <a:ext cx="158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324DBFF9-4813-C8D1-C55F-A990E8514319}"/>
              </a:ext>
            </a:extLst>
          </p:cNvPr>
          <p:cNvCxnSpPr>
            <a:stCxn id="49159" idx="3"/>
            <a:endCxn id="49165" idx="0"/>
          </p:cNvCxnSpPr>
          <p:nvPr/>
        </p:nvCxnSpPr>
        <p:spPr>
          <a:xfrm rot="16200000" flipH="1">
            <a:off x="3952082" y="2053431"/>
            <a:ext cx="996950" cy="3754437"/>
          </a:xfrm>
          <a:prstGeom prst="bentConnector3">
            <a:avLst>
              <a:gd name="adj1" fmla="val 50000"/>
            </a:avLst>
          </a:prstGeom>
          <a:ln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991F7DC4-623E-8B2E-8463-EBCA8268CA92}"/>
              </a:ext>
            </a:extLst>
          </p:cNvPr>
          <p:cNvSpPr txBox="1"/>
          <p:nvPr/>
        </p:nvSpPr>
        <p:spPr>
          <a:xfrm>
            <a:off x="5888858" y="1543704"/>
            <a:ext cx="23006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//this is the algorithm</a:t>
            </a:r>
          </a:p>
          <a:p>
            <a:r>
              <a:rPr lang="en-US" dirty="0"/>
              <a:t>//do </a:t>
            </a:r>
            <a:r>
              <a:rPr lang="en-US" b="1" dirty="0"/>
              <a:t>not</a:t>
            </a:r>
            <a:r>
              <a:rPr lang="en-US" dirty="0"/>
              <a:t> override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036351-44CA-FDC1-32B4-8ECD18524860}"/>
              </a:ext>
            </a:extLst>
          </p:cNvPr>
          <p:cNvSpPr txBox="1"/>
          <p:nvPr/>
        </p:nvSpPr>
        <p:spPr>
          <a:xfrm>
            <a:off x="539552" y="5877272"/>
            <a:ext cx="36856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//must override primate operations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B3BAC7-DE0E-2930-C2A8-844A169B3D7B}"/>
              </a:ext>
            </a:extLst>
          </p:cNvPr>
          <p:cNvSpPr txBox="1"/>
          <p:nvPr/>
        </p:nvSpPr>
        <p:spPr>
          <a:xfrm>
            <a:off x="5974737" y="6165304"/>
            <a:ext cx="2210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//may override hook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CDAA1C75-473E-FE51-35E1-485636176DC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tr-TR"/>
              <a:t>Example:Template Method</a:t>
            </a:r>
          </a:p>
        </p:txBody>
      </p:sp>
      <p:sp>
        <p:nvSpPr>
          <p:cNvPr id="56323" name="Rectangle 3">
            <a:extLst>
              <a:ext uri="{FF2B5EF4-FFF2-40B4-BE49-F238E27FC236}">
                <a16:creationId xmlns:a16="http://schemas.microsoft.com/office/drawing/2014/main" id="{68933649-5187-44FF-B3A9-BF3DAF90830C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  <a:buFontTx/>
              <a:buNone/>
              <a:defRPr/>
            </a:pPr>
            <a:r>
              <a:rPr lang="en-US" altLang="tr-TR" sz="2000" b="1" dirty="0">
                <a:latin typeface="Courier New" panose="02070309020205020404" pitchFamily="49" charset="0"/>
              </a:rPr>
              <a:t>public void OpenDocument (String name) {</a:t>
            </a:r>
          </a:p>
          <a:p>
            <a:pPr eaLnBrk="1" hangingPunct="1">
              <a:lnSpc>
                <a:spcPct val="80000"/>
              </a:lnSpc>
              <a:buFontTx/>
              <a:buNone/>
              <a:defRPr/>
            </a:pPr>
            <a:r>
              <a:rPr lang="en-US" altLang="tr-TR" sz="2000" b="1" dirty="0">
                <a:latin typeface="Courier New" panose="02070309020205020404" pitchFamily="49" charset="0"/>
              </a:rPr>
              <a:t>   if (!</a:t>
            </a:r>
            <a:r>
              <a:rPr lang="en-US" altLang="tr-TR" sz="2000" b="1" dirty="0" err="1">
                <a:latin typeface="Courier New" panose="02070309020205020404" pitchFamily="49" charset="0"/>
              </a:rPr>
              <a:t>CanOpenDocument</a:t>
            </a:r>
            <a:r>
              <a:rPr lang="en-US" altLang="tr-TR" sz="2000" b="1" dirty="0">
                <a:latin typeface="Courier New" panose="02070309020205020404" pitchFamily="49" charset="0"/>
              </a:rPr>
              <a:t>(name)) { return; }</a:t>
            </a:r>
          </a:p>
          <a:p>
            <a:pPr eaLnBrk="1" hangingPunct="1">
              <a:lnSpc>
                <a:spcPct val="80000"/>
              </a:lnSpc>
              <a:buFontTx/>
              <a:buNone/>
              <a:defRPr/>
            </a:pPr>
            <a:r>
              <a:rPr lang="en-US" altLang="tr-TR" sz="2000" b="1" dirty="0">
                <a:latin typeface="Courier New" panose="02070309020205020404" pitchFamily="49" charset="0"/>
              </a:rPr>
              <a:t>   Document doc = </a:t>
            </a:r>
            <a:r>
              <a:rPr lang="en-US" altLang="tr-TR" sz="2000" b="1" i="1" dirty="0" err="1">
                <a:solidFill>
                  <a:srgbClr val="0070C0"/>
                </a:solidFill>
                <a:latin typeface="Courier New" panose="02070309020205020404" pitchFamily="49" charset="0"/>
              </a:rPr>
              <a:t>createDocument</a:t>
            </a:r>
            <a:r>
              <a:rPr lang="en-US" altLang="tr-TR" sz="2000" b="1" i="1" dirty="0">
                <a:solidFill>
                  <a:srgbClr val="0070C0"/>
                </a:solidFill>
                <a:latin typeface="Courier New" panose="02070309020205020404" pitchFamily="49" charset="0"/>
              </a:rPr>
              <a:t>(</a:t>
            </a:r>
            <a:r>
              <a:rPr lang="en-US" altLang="tr-TR" sz="2000" b="1" i="1" dirty="0">
                <a:latin typeface="Courier New" panose="02070309020205020404" pitchFamily="49" charset="0"/>
              </a:rPr>
              <a:t>);</a:t>
            </a:r>
          </a:p>
          <a:p>
            <a:pPr eaLnBrk="1" hangingPunct="1">
              <a:lnSpc>
                <a:spcPct val="80000"/>
              </a:lnSpc>
              <a:buFontTx/>
              <a:buNone/>
              <a:defRPr/>
            </a:pPr>
            <a:r>
              <a:rPr lang="en-US" altLang="tr-TR" sz="2000" b="1" dirty="0">
                <a:latin typeface="Courier New" panose="02070309020205020404" pitchFamily="49" charset="0"/>
              </a:rPr>
              <a:t>   if (doc != null) {</a:t>
            </a:r>
          </a:p>
          <a:p>
            <a:pPr eaLnBrk="1" hangingPunct="1">
              <a:lnSpc>
                <a:spcPct val="80000"/>
              </a:lnSpc>
              <a:buFontTx/>
              <a:buNone/>
              <a:defRPr/>
            </a:pPr>
            <a:r>
              <a:rPr lang="en-US" altLang="tr-TR" sz="2000" b="1" dirty="0">
                <a:latin typeface="Courier New" panose="02070309020205020404" pitchFamily="49" charset="0"/>
              </a:rPr>
              <a:t>     </a:t>
            </a:r>
            <a:r>
              <a:rPr lang="en-US" altLang="tr-TR" sz="2000" b="1" dirty="0" err="1">
                <a:latin typeface="Courier New" panose="02070309020205020404" pitchFamily="49" charset="0"/>
              </a:rPr>
              <a:t>docs.AddDocument</a:t>
            </a:r>
            <a:r>
              <a:rPr lang="en-US" altLang="tr-TR" sz="2000" b="1" dirty="0">
                <a:latin typeface="Courier New" panose="02070309020205020404" pitchFamily="49" charset="0"/>
              </a:rPr>
              <a:t>(doc);</a:t>
            </a:r>
          </a:p>
          <a:p>
            <a:pPr eaLnBrk="1" hangingPunct="1">
              <a:lnSpc>
                <a:spcPct val="80000"/>
              </a:lnSpc>
              <a:buFontTx/>
              <a:buNone/>
              <a:defRPr/>
            </a:pPr>
            <a:r>
              <a:rPr lang="en-US" altLang="tr-TR" sz="2000" b="1" dirty="0">
                <a:latin typeface="Courier New" panose="02070309020205020404" pitchFamily="49" charset="0"/>
              </a:rPr>
              <a:t>     </a:t>
            </a:r>
            <a:r>
              <a:rPr lang="en-US" altLang="tr-TR" sz="2000" b="1" dirty="0" err="1">
                <a:latin typeface="Courier New" panose="02070309020205020404" pitchFamily="49" charset="0"/>
              </a:rPr>
              <a:t>AboutToOpenDocument</a:t>
            </a:r>
            <a:r>
              <a:rPr lang="en-US" altLang="tr-TR" sz="2000" b="1" dirty="0">
                <a:latin typeface="Courier New" panose="02070309020205020404" pitchFamily="49" charset="0"/>
              </a:rPr>
              <a:t>(doc);</a:t>
            </a:r>
          </a:p>
          <a:p>
            <a:pPr eaLnBrk="1" hangingPunct="1">
              <a:lnSpc>
                <a:spcPct val="80000"/>
              </a:lnSpc>
              <a:buFontTx/>
              <a:buNone/>
              <a:defRPr/>
            </a:pPr>
            <a:r>
              <a:rPr lang="en-US" altLang="tr-TR" sz="2000" b="1" dirty="0">
                <a:latin typeface="Courier New" panose="02070309020205020404" pitchFamily="49" charset="0"/>
              </a:rPr>
              <a:t>     </a:t>
            </a:r>
            <a:r>
              <a:rPr lang="en-US" altLang="tr-TR" sz="2000" b="1" dirty="0" err="1">
                <a:latin typeface="Courier New" panose="02070309020205020404" pitchFamily="49" charset="0"/>
              </a:rPr>
              <a:t>doc.Open</a:t>
            </a:r>
            <a:r>
              <a:rPr lang="en-US" altLang="tr-TR" sz="2000" b="1" dirty="0">
                <a:latin typeface="Courier New" panose="02070309020205020404" pitchFamily="49" charset="0"/>
              </a:rPr>
              <a:t>();</a:t>
            </a:r>
          </a:p>
          <a:p>
            <a:pPr eaLnBrk="1" hangingPunct="1">
              <a:lnSpc>
                <a:spcPct val="80000"/>
              </a:lnSpc>
              <a:buFontTx/>
              <a:buNone/>
              <a:defRPr/>
            </a:pPr>
            <a:r>
              <a:rPr lang="en-US" altLang="tr-TR" sz="2000" b="1" dirty="0">
                <a:latin typeface="Courier New" panose="02070309020205020404" pitchFamily="49" charset="0"/>
              </a:rPr>
              <a:t>     </a:t>
            </a:r>
            <a:r>
              <a:rPr lang="en-US" altLang="tr-TR" sz="2000" b="1" i="1" dirty="0" err="1">
                <a:latin typeface="Courier New" panose="02070309020205020404" pitchFamily="49" charset="0"/>
              </a:rPr>
              <a:t>doc.</a:t>
            </a:r>
            <a:r>
              <a:rPr lang="en-US" altLang="tr-TR" sz="2000" b="1" i="1" dirty="0" err="1">
                <a:solidFill>
                  <a:srgbClr val="0070C0"/>
                </a:solidFill>
                <a:latin typeface="Courier New" panose="02070309020205020404" pitchFamily="49" charset="0"/>
              </a:rPr>
              <a:t>doRead</a:t>
            </a:r>
            <a:r>
              <a:rPr lang="en-US" altLang="tr-TR" sz="2000" b="1" i="1" dirty="0">
                <a:solidFill>
                  <a:srgbClr val="0070C0"/>
                </a:solidFill>
                <a:latin typeface="Courier New" panose="02070309020205020404" pitchFamily="49" charset="0"/>
              </a:rPr>
              <a:t>()</a:t>
            </a:r>
            <a:r>
              <a:rPr lang="en-US" altLang="tr-TR" sz="2000" b="1" dirty="0">
                <a:solidFill>
                  <a:srgbClr val="0070C0"/>
                </a:solidFill>
                <a:latin typeface="Courier New" panose="02070309020205020404" pitchFamily="49" charset="0"/>
              </a:rPr>
              <a:t>;</a:t>
            </a:r>
          </a:p>
          <a:p>
            <a:pPr eaLnBrk="1" hangingPunct="1">
              <a:lnSpc>
                <a:spcPct val="80000"/>
              </a:lnSpc>
              <a:buFontTx/>
              <a:buNone/>
              <a:defRPr/>
            </a:pPr>
            <a:r>
              <a:rPr lang="en-US" altLang="tr-TR" sz="2000" b="1" dirty="0">
                <a:solidFill>
                  <a:srgbClr val="0070C0"/>
                </a:solidFill>
                <a:latin typeface="Courier New" panose="02070309020205020404" pitchFamily="49" charset="0"/>
              </a:rPr>
              <a:t>   </a:t>
            </a:r>
            <a:r>
              <a:rPr lang="en-US" altLang="tr-TR" sz="2000" b="1" dirty="0">
                <a:latin typeface="Courier New" panose="02070309020205020404" pitchFamily="49" charset="0"/>
              </a:rPr>
              <a:t>}</a:t>
            </a:r>
          </a:p>
          <a:p>
            <a:pPr eaLnBrk="1" hangingPunct="1">
              <a:lnSpc>
                <a:spcPct val="80000"/>
              </a:lnSpc>
              <a:buFontTx/>
              <a:buNone/>
              <a:defRPr/>
            </a:pPr>
            <a:r>
              <a:rPr lang="en-US" altLang="tr-TR" sz="2000" b="1" dirty="0">
                <a:latin typeface="Courier New" panose="02070309020205020404" pitchFamily="49" charset="0"/>
              </a:rPr>
              <a:t>}</a:t>
            </a:r>
          </a:p>
          <a:p>
            <a:pPr eaLnBrk="1" hangingPunct="1">
              <a:defRPr/>
            </a:pPr>
            <a:r>
              <a:rPr lang="en-US" altLang="tr-TR" sz="2400" dirty="0"/>
              <a:t>The OpenDocument() method is a </a:t>
            </a:r>
            <a:r>
              <a:rPr lang="en-US" altLang="tr-TR" sz="2400" i="1" dirty="0"/>
              <a:t>Template Method</a:t>
            </a:r>
            <a:endParaRPr lang="en-US" altLang="tr-TR" sz="2400" dirty="0"/>
          </a:p>
          <a:p>
            <a:pPr eaLnBrk="1" hangingPunct="1">
              <a:defRPr/>
            </a:pPr>
            <a:r>
              <a:rPr lang="en-US" altLang="tr-TR" sz="2200" dirty="0"/>
              <a:t>The template method </a:t>
            </a:r>
            <a:r>
              <a:rPr lang="en-US" altLang="tr-TR" sz="2200" b="1" dirty="0"/>
              <a:t>fixes</a:t>
            </a:r>
            <a:r>
              <a:rPr lang="en-US" altLang="tr-TR" sz="2200" dirty="0"/>
              <a:t> the order of operations, but allows Application subclasses to </a:t>
            </a:r>
            <a:r>
              <a:rPr lang="en-US" altLang="tr-TR" sz="2200" b="1" dirty="0"/>
              <a:t>vary</a:t>
            </a:r>
            <a:r>
              <a:rPr lang="en-US" altLang="tr-TR" sz="2200" dirty="0"/>
              <a:t> those steps as needed</a:t>
            </a:r>
          </a:p>
          <a:p>
            <a:pPr lvl="1">
              <a:lnSpc>
                <a:spcPct val="80000"/>
              </a:lnSpc>
              <a:defRPr/>
            </a:pPr>
            <a:r>
              <a:rPr lang="en-US" altLang="tr-TR" sz="2200" dirty="0"/>
              <a:t>How to read the document and what kind of document to create is left to the subclass.</a:t>
            </a:r>
          </a:p>
        </p:txBody>
      </p:sp>
    </p:spTree>
    <p:extLst>
      <p:ext uri="{BB962C8B-B14F-4D97-AF65-F5344CB8AC3E}">
        <p14:creationId xmlns:p14="http://schemas.microsoft.com/office/powerpoint/2010/main" val="39510810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3E1206-5F92-2FD4-0AF0-2DDD7C9E6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4">
            <a:extLst>
              <a:ext uri="{FF2B5EF4-FFF2-40B4-BE49-F238E27FC236}">
                <a16:creationId xmlns:a16="http://schemas.microsoft.com/office/drawing/2014/main" id="{C8E0DA99-E736-D824-87E3-A3B72CE252D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tr-TR" dirty="0"/>
              <a:t>Template Method</a:t>
            </a:r>
          </a:p>
        </p:txBody>
      </p:sp>
      <p:grpSp>
        <p:nvGrpSpPr>
          <p:cNvPr id="49155" name="Group 12">
            <a:extLst>
              <a:ext uri="{FF2B5EF4-FFF2-40B4-BE49-F238E27FC236}">
                <a16:creationId xmlns:a16="http://schemas.microsoft.com/office/drawing/2014/main" id="{B86A97DF-4F44-B952-8288-798C5EDF70F8}"/>
              </a:ext>
            </a:extLst>
          </p:cNvPr>
          <p:cNvGrpSpPr>
            <a:grpSpLocks/>
          </p:cNvGrpSpPr>
          <p:nvPr/>
        </p:nvGrpSpPr>
        <p:grpSpPr bwMode="auto">
          <a:xfrm>
            <a:off x="1184276" y="1628777"/>
            <a:ext cx="2581662" cy="1585913"/>
            <a:chOff x="564" y="3022"/>
            <a:chExt cx="1590" cy="999"/>
          </a:xfrm>
        </p:grpSpPr>
        <p:sp>
          <p:nvSpPr>
            <p:cNvPr id="49175" name="Rectangle 9">
              <a:extLst>
                <a:ext uri="{FF2B5EF4-FFF2-40B4-BE49-F238E27FC236}">
                  <a16:creationId xmlns:a16="http://schemas.microsoft.com/office/drawing/2014/main" id="{5F0AF2C9-66E5-F30C-F036-1A7FABE49D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7" y="3022"/>
              <a:ext cx="1587" cy="999"/>
            </a:xfrm>
            <a:prstGeom prst="rect">
              <a:avLst/>
            </a:prstGeom>
            <a:solidFill>
              <a:schemeClr val="bg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GB" altLang="tr-TR" sz="1800"/>
            </a:p>
          </p:txBody>
        </p:sp>
        <p:sp>
          <p:nvSpPr>
            <p:cNvPr id="49176" name="Text Box 10">
              <a:extLst>
                <a:ext uri="{FF2B5EF4-FFF2-40B4-BE49-F238E27FC236}">
                  <a16:creationId xmlns:a16="http://schemas.microsoft.com/office/drawing/2014/main" id="{6E9DD8C5-A9EE-6BBF-59DA-4C067796338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4" y="3045"/>
              <a:ext cx="1556" cy="8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tr-TR" sz="1800" b="1" i="1" dirty="0" err="1"/>
                <a:t>AbstractClass</a:t>
              </a:r>
              <a:endParaRPr lang="en-US" altLang="tr-TR" sz="1800" b="1" i="1" dirty="0"/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tr-TR" sz="800" b="1" i="1" dirty="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tr-TR" sz="1800" dirty="0"/>
                <a:t>+</a:t>
              </a:r>
              <a:r>
                <a:rPr lang="en-US" altLang="tr-TR" sz="1800" dirty="0" err="1"/>
                <a:t>openDocument</a:t>
              </a:r>
              <a:r>
                <a:rPr lang="en-US" altLang="tr-TR" sz="1800" dirty="0"/>
                <a:t>()     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tr-TR" sz="1800" i="1" dirty="0"/>
                <a:t>+</a:t>
              </a:r>
              <a:r>
                <a:rPr lang="en-US" altLang="tr-TR" sz="1800" i="1" dirty="0" err="1"/>
                <a:t>createDocument</a:t>
              </a:r>
              <a:r>
                <a:rPr lang="en-US" altLang="tr-TR" sz="1800" i="1" dirty="0"/>
                <a:t>()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tr-TR" sz="1800" i="1" dirty="0"/>
                <a:t>+</a:t>
              </a:r>
              <a:r>
                <a:rPr lang="en-US" altLang="tr-TR" sz="1800" i="1" dirty="0" err="1"/>
                <a:t>doRead</a:t>
              </a:r>
              <a:r>
                <a:rPr lang="en-US" altLang="tr-TR" sz="1800" i="1" dirty="0"/>
                <a:t>()</a:t>
              </a:r>
              <a:r>
                <a:rPr lang="en-US" altLang="tr-TR" sz="1800" dirty="0"/>
                <a:t> </a:t>
              </a:r>
              <a:r>
                <a:rPr lang="en-US" altLang="tr-TR" sz="1800" i="1" dirty="0"/>
                <a:t>                      </a:t>
              </a:r>
            </a:p>
          </p:txBody>
        </p:sp>
        <p:sp>
          <p:nvSpPr>
            <p:cNvPr id="49177" name="Line 11">
              <a:extLst>
                <a:ext uri="{FF2B5EF4-FFF2-40B4-BE49-F238E27FC236}">
                  <a16:creationId xmlns:a16="http://schemas.microsoft.com/office/drawing/2014/main" id="{9799AA7D-BD5E-591F-4F03-7216414CE3D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7" y="3249"/>
              <a:ext cx="158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9156" name="Group 16">
            <a:extLst>
              <a:ext uri="{FF2B5EF4-FFF2-40B4-BE49-F238E27FC236}">
                <a16:creationId xmlns:a16="http://schemas.microsoft.com/office/drawing/2014/main" id="{CC874902-E37B-F08D-5DA5-F279DF261D74}"/>
              </a:ext>
            </a:extLst>
          </p:cNvPr>
          <p:cNvGrpSpPr>
            <a:grpSpLocks/>
          </p:cNvGrpSpPr>
          <p:nvPr/>
        </p:nvGrpSpPr>
        <p:grpSpPr bwMode="auto">
          <a:xfrm>
            <a:off x="1404941" y="4508500"/>
            <a:ext cx="2519363" cy="1081088"/>
            <a:chOff x="4015" y="3475"/>
            <a:chExt cx="1587" cy="681"/>
          </a:xfrm>
        </p:grpSpPr>
        <p:sp>
          <p:nvSpPr>
            <p:cNvPr id="49172" name="Rectangle 13">
              <a:extLst>
                <a:ext uri="{FF2B5EF4-FFF2-40B4-BE49-F238E27FC236}">
                  <a16:creationId xmlns:a16="http://schemas.microsoft.com/office/drawing/2014/main" id="{1041120A-79C2-5EE0-13EB-8F88237FE6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5" y="3475"/>
              <a:ext cx="1587" cy="681"/>
            </a:xfrm>
            <a:prstGeom prst="rect">
              <a:avLst/>
            </a:prstGeom>
            <a:solidFill>
              <a:schemeClr val="bg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GB" altLang="tr-TR" sz="1800" dirty="0"/>
            </a:p>
          </p:txBody>
        </p:sp>
        <p:sp>
          <p:nvSpPr>
            <p:cNvPr id="49173" name="Text Box 14">
              <a:extLst>
                <a:ext uri="{FF2B5EF4-FFF2-40B4-BE49-F238E27FC236}">
                  <a16:creationId xmlns:a16="http://schemas.microsoft.com/office/drawing/2014/main" id="{B7CF920B-C5C6-54AE-8351-41C11779102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42" y="3475"/>
              <a:ext cx="1397" cy="65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tr-TR" sz="1800" b="1" dirty="0"/>
                <a:t>ConcreteClass1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tr-TR" sz="800" b="1" i="1" dirty="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tr-TR" sz="1800" dirty="0"/>
                <a:t>+</a:t>
              </a:r>
              <a:r>
                <a:rPr lang="en-US" altLang="tr-TR" sz="1800" dirty="0" err="1"/>
                <a:t>createDocument</a:t>
              </a:r>
              <a:r>
                <a:rPr lang="en-US" altLang="tr-TR" sz="1800" dirty="0"/>
                <a:t>()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tr-TR" sz="1800" dirty="0"/>
                <a:t>+</a:t>
              </a:r>
              <a:r>
                <a:rPr lang="en-US" altLang="tr-TR" sz="1800" dirty="0" err="1"/>
                <a:t>doRead</a:t>
              </a:r>
              <a:r>
                <a:rPr lang="en-US" altLang="tr-TR" sz="1800" dirty="0"/>
                <a:t>()</a:t>
              </a:r>
            </a:p>
          </p:txBody>
        </p:sp>
        <p:sp>
          <p:nvSpPr>
            <p:cNvPr id="49174" name="Line 15">
              <a:extLst>
                <a:ext uri="{FF2B5EF4-FFF2-40B4-BE49-F238E27FC236}">
                  <a16:creationId xmlns:a16="http://schemas.microsoft.com/office/drawing/2014/main" id="{28D58834-EFE7-B2C6-AE4A-A29419DC6D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15" y="3702"/>
              <a:ext cx="158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9157" name="Rectangle 18">
            <a:extLst>
              <a:ext uri="{FF2B5EF4-FFF2-40B4-BE49-F238E27FC236}">
                <a16:creationId xmlns:a16="http://schemas.microsoft.com/office/drawing/2014/main" id="{800B911A-3C26-0125-471D-ECAF3C761501}"/>
              </a:ext>
            </a:extLst>
          </p:cNvPr>
          <p:cNvSpPr>
            <a:spLocks noChangeArrowheads="1"/>
          </p:cNvSpPr>
          <p:nvPr/>
        </p:nvSpPr>
        <p:spPr bwMode="auto">
          <a:xfrm rot="2508028">
            <a:off x="6084888" y="3933825"/>
            <a:ext cx="720725" cy="36036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GB" altLang="tr-TR" sz="1800"/>
          </a:p>
        </p:txBody>
      </p:sp>
      <p:grpSp>
        <p:nvGrpSpPr>
          <p:cNvPr id="49158" name="Group 21">
            <a:extLst>
              <a:ext uri="{FF2B5EF4-FFF2-40B4-BE49-F238E27FC236}">
                <a16:creationId xmlns:a16="http://schemas.microsoft.com/office/drawing/2014/main" id="{B895DBCD-5353-8ABC-DF43-BFE5669F4D1A}"/>
              </a:ext>
            </a:extLst>
          </p:cNvPr>
          <p:cNvGrpSpPr>
            <a:grpSpLocks/>
          </p:cNvGrpSpPr>
          <p:nvPr/>
        </p:nvGrpSpPr>
        <p:grpSpPr bwMode="auto">
          <a:xfrm>
            <a:off x="4248944" y="2505868"/>
            <a:ext cx="4608513" cy="2543176"/>
            <a:chOff x="2702" y="1496"/>
            <a:chExt cx="2903" cy="1602"/>
          </a:xfrm>
        </p:grpSpPr>
        <p:sp>
          <p:nvSpPr>
            <p:cNvPr id="49168" name="Text Box 7">
              <a:extLst>
                <a:ext uri="{FF2B5EF4-FFF2-40B4-BE49-F238E27FC236}">
                  <a16:creationId xmlns:a16="http://schemas.microsoft.com/office/drawing/2014/main" id="{9167A0F3-7612-36EF-F2CA-BD835429F6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02" y="1496"/>
              <a:ext cx="2895" cy="1602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lnSpc>
                  <a:spcPct val="80000"/>
                </a:lnSpc>
                <a:buFontTx/>
                <a:buNone/>
                <a:defRPr/>
              </a:pPr>
              <a:r>
                <a:rPr lang="en-US" altLang="tr-TR" sz="1800" b="1" dirty="0">
                  <a:latin typeface="Courier New" panose="02070309020205020404" pitchFamily="49" charset="0"/>
                </a:rPr>
                <a:t>if (!</a:t>
              </a:r>
              <a:r>
                <a:rPr lang="en-US" altLang="tr-TR" sz="1800" b="1" dirty="0" err="1">
                  <a:latin typeface="Courier New" panose="02070309020205020404" pitchFamily="49" charset="0"/>
                </a:rPr>
                <a:t>CanOpenDocument</a:t>
              </a:r>
              <a:r>
                <a:rPr lang="en-US" altLang="tr-TR" sz="1800" b="1" dirty="0">
                  <a:latin typeface="Courier New" panose="02070309020205020404" pitchFamily="49" charset="0"/>
                </a:rPr>
                <a:t>(name)) {</a:t>
              </a:r>
            </a:p>
            <a:p>
              <a:pPr eaLnBrk="1" hangingPunct="1">
                <a:lnSpc>
                  <a:spcPct val="80000"/>
                </a:lnSpc>
                <a:buFontTx/>
                <a:buNone/>
                <a:defRPr/>
              </a:pPr>
              <a:r>
                <a:rPr lang="en-US" altLang="tr-TR" sz="1800" b="1" dirty="0">
                  <a:latin typeface="Courier New" panose="02070309020205020404" pitchFamily="49" charset="0"/>
                </a:rPr>
                <a:t>  return; }</a:t>
              </a:r>
            </a:p>
            <a:p>
              <a:pPr eaLnBrk="1" hangingPunct="1">
                <a:lnSpc>
                  <a:spcPct val="80000"/>
                </a:lnSpc>
                <a:buFontTx/>
                <a:buNone/>
                <a:defRPr/>
              </a:pPr>
              <a:r>
                <a:rPr lang="en-US" altLang="tr-TR" sz="1800" b="1" dirty="0">
                  <a:latin typeface="Courier New" panose="02070309020205020404" pitchFamily="49" charset="0"/>
                </a:rPr>
                <a:t>Document doc = </a:t>
              </a:r>
              <a:r>
                <a:rPr lang="en-US" altLang="tr-TR" sz="1800" b="1" i="1" dirty="0" err="1">
                  <a:solidFill>
                    <a:srgbClr val="0070C0"/>
                  </a:solidFill>
                  <a:latin typeface="Courier New" panose="02070309020205020404" pitchFamily="49" charset="0"/>
                </a:rPr>
                <a:t>createDocument</a:t>
              </a:r>
              <a:r>
                <a:rPr lang="en-US" altLang="tr-TR" sz="1800" b="1" i="1" dirty="0">
                  <a:solidFill>
                    <a:srgbClr val="0070C0"/>
                  </a:solidFill>
                  <a:latin typeface="Courier New" panose="02070309020205020404" pitchFamily="49" charset="0"/>
                </a:rPr>
                <a:t>(</a:t>
              </a:r>
              <a:r>
                <a:rPr lang="en-US" altLang="tr-TR" sz="1800" b="1" i="1" dirty="0">
                  <a:latin typeface="Courier New" panose="02070309020205020404" pitchFamily="49" charset="0"/>
                </a:rPr>
                <a:t>);</a:t>
              </a:r>
            </a:p>
            <a:p>
              <a:pPr eaLnBrk="1" hangingPunct="1">
                <a:lnSpc>
                  <a:spcPct val="80000"/>
                </a:lnSpc>
                <a:buFontTx/>
                <a:buNone/>
                <a:defRPr/>
              </a:pPr>
              <a:r>
                <a:rPr lang="en-US" altLang="tr-TR" sz="1800" b="1" dirty="0">
                  <a:latin typeface="Courier New" panose="02070309020205020404" pitchFamily="49" charset="0"/>
                </a:rPr>
                <a:t>if (doc != null) {</a:t>
              </a:r>
            </a:p>
            <a:p>
              <a:pPr eaLnBrk="1" hangingPunct="1">
                <a:lnSpc>
                  <a:spcPct val="80000"/>
                </a:lnSpc>
                <a:buFontTx/>
                <a:buNone/>
                <a:defRPr/>
              </a:pPr>
              <a:r>
                <a:rPr lang="en-US" altLang="tr-TR" sz="1800" b="1" dirty="0">
                  <a:latin typeface="Courier New" panose="02070309020205020404" pitchFamily="49" charset="0"/>
                </a:rPr>
                <a:t>    </a:t>
              </a:r>
              <a:r>
                <a:rPr lang="en-US" altLang="tr-TR" sz="1800" b="1" dirty="0" err="1">
                  <a:latin typeface="Courier New" panose="02070309020205020404" pitchFamily="49" charset="0"/>
                </a:rPr>
                <a:t>docs.AddDocument</a:t>
              </a:r>
              <a:r>
                <a:rPr lang="en-US" altLang="tr-TR" sz="1800" b="1" dirty="0">
                  <a:latin typeface="Courier New" panose="02070309020205020404" pitchFamily="49" charset="0"/>
                </a:rPr>
                <a:t>(doc);</a:t>
              </a:r>
            </a:p>
            <a:p>
              <a:pPr eaLnBrk="1" hangingPunct="1">
                <a:lnSpc>
                  <a:spcPct val="80000"/>
                </a:lnSpc>
                <a:buFontTx/>
                <a:buNone/>
                <a:defRPr/>
              </a:pPr>
              <a:r>
                <a:rPr lang="en-US" altLang="tr-TR" sz="1800" b="1" dirty="0">
                  <a:latin typeface="Courier New" panose="02070309020205020404" pitchFamily="49" charset="0"/>
                </a:rPr>
                <a:t>     </a:t>
              </a:r>
              <a:r>
                <a:rPr lang="en-US" altLang="tr-TR" sz="1800" b="1" dirty="0" err="1">
                  <a:latin typeface="Courier New" panose="02070309020205020404" pitchFamily="49" charset="0"/>
                </a:rPr>
                <a:t>AboutToOpenDocument</a:t>
              </a:r>
              <a:r>
                <a:rPr lang="en-US" altLang="tr-TR" sz="1800" b="1" dirty="0">
                  <a:latin typeface="Courier New" panose="02070309020205020404" pitchFamily="49" charset="0"/>
                </a:rPr>
                <a:t>(doc);</a:t>
              </a:r>
            </a:p>
            <a:p>
              <a:pPr eaLnBrk="1" hangingPunct="1">
                <a:lnSpc>
                  <a:spcPct val="80000"/>
                </a:lnSpc>
                <a:buFontTx/>
                <a:buNone/>
                <a:defRPr/>
              </a:pPr>
              <a:r>
                <a:rPr lang="en-US" altLang="tr-TR" sz="1800" b="1" dirty="0">
                  <a:latin typeface="Courier New" panose="02070309020205020404" pitchFamily="49" charset="0"/>
                </a:rPr>
                <a:t>     </a:t>
              </a:r>
              <a:r>
                <a:rPr lang="en-US" altLang="tr-TR" sz="1800" b="1" dirty="0" err="1">
                  <a:latin typeface="Courier New" panose="02070309020205020404" pitchFamily="49" charset="0"/>
                </a:rPr>
                <a:t>doc.Open</a:t>
              </a:r>
              <a:r>
                <a:rPr lang="en-US" altLang="tr-TR" sz="1800" b="1" dirty="0">
                  <a:latin typeface="Courier New" panose="02070309020205020404" pitchFamily="49" charset="0"/>
                </a:rPr>
                <a:t>();</a:t>
              </a:r>
            </a:p>
            <a:p>
              <a:pPr eaLnBrk="1" hangingPunct="1">
                <a:lnSpc>
                  <a:spcPct val="80000"/>
                </a:lnSpc>
                <a:buFontTx/>
                <a:buNone/>
                <a:defRPr/>
              </a:pPr>
              <a:r>
                <a:rPr lang="en-US" altLang="tr-TR" sz="1800" b="1" dirty="0">
                  <a:latin typeface="Courier New" panose="02070309020205020404" pitchFamily="49" charset="0"/>
                </a:rPr>
                <a:t>     </a:t>
              </a:r>
              <a:r>
                <a:rPr lang="en-US" altLang="tr-TR" sz="1800" b="1" i="1" dirty="0" err="1">
                  <a:latin typeface="Courier New" panose="02070309020205020404" pitchFamily="49" charset="0"/>
                </a:rPr>
                <a:t>doc.</a:t>
              </a:r>
              <a:r>
                <a:rPr lang="en-US" altLang="tr-TR" sz="1800" b="1" i="1" dirty="0" err="1">
                  <a:solidFill>
                    <a:srgbClr val="0070C0"/>
                  </a:solidFill>
                  <a:latin typeface="Courier New" panose="02070309020205020404" pitchFamily="49" charset="0"/>
                </a:rPr>
                <a:t>doRead</a:t>
              </a:r>
              <a:r>
                <a:rPr lang="en-US" altLang="tr-TR" sz="1800" b="1" i="1" dirty="0">
                  <a:solidFill>
                    <a:srgbClr val="0070C0"/>
                  </a:solidFill>
                  <a:latin typeface="Courier New" panose="02070309020205020404" pitchFamily="49" charset="0"/>
                </a:rPr>
                <a:t>()</a:t>
              </a:r>
              <a:r>
                <a:rPr lang="en-US" altLang="tr-TR" sz="1800" b="1" dirty="0">
                  <a:solidFill>
                    <a:srgbClr val="0070C0"/>
                  </a:solidFill>
                  <a:latin typeface="Courier New" panose="02070309020205020404" pitchFamily="49" charset="0"/>
                </a:rPr>
                <a:t>;</a:t>
              </a:r>
            </a:p>
            <a:p>
              <a:pPr eaLnBrk="1" hangingPunct="1">
                <a:lnSpc>
                  <a:spcPct val="80000"/>
                </a:lnSpc>
                <a:buFontTx/>
                <a:buNone/>
                <a:defRPr/>
              </a:pPr>
              <a:r>
                <a:rPr lang="en-US" altLang="tr-TR" sz="1800" b="1" dirty="0">
                  <a:latin typeface="Courier New" panose="02070309020205020404" pitchFamily="49" charset="0"/>
                </a:rPr>
                <a:t>}</a:t>
              </a:r>
            </a:p>
          </p:txBody>
        </p:sp>
        <p:sp>
          <p:nvSpPr>
            <p:cNvPr id="49169" name="Line 17">
              <a:extLst>
                <a:ext uri="{FF2B5EF4-FFF2-40B4-BE49-F238E27FC236}">
                  <a16:creationId xmlns:a16="http://schemas.microsoft.com/office/drawing/2014/main" id="{6EB4C05E-407C-F609-C755-6C84190DB1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24" y="1496"/>
              <a:ext cx="181" cy="1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170" name="Line 19">
              <a:extLst>
                <a:ext uri="{FF2B5EF4-FFF2-40B4-BE49-F238E27FC236}">
                  <a16:creationId xmlns:a16="http://schemas.microsoft.com/office/drawing/2014/main" id="{A5A6DDD1-F751-A3B3-BBFA-4115160CCF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23" y="1496"/>
              <a:ext cx="0" cy="1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171" name="Line 20">
              <a:extLst>
                <a:ext uri="{FF2B5EF4-FFF2-40B4-BE49-F238E27FC236}">
                  <a16:creationId xmlns:a16="http://schemas.microsoft.com/office/drawing/2014/main" id="{A72BD310-9307-9237-0CFB-CCCD595BB3A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23" y="1631"/>
              <a:ext cx="18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9159" name="AutoShape 22">
            <a:extLst>
              <a:ext uri="{FF2B5EF4-FFF2-40B4-BE49-F238E27FC236}">
                <a16:creationId xmlns:a16="http://schemas.microsoft.com/office/drawing/2014/main" id="{068C92FE-06D0-A192-9BED-6F99185F65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875" y="3143250"/>
            <a:ext cx="288925" cy="288925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GB" altLang="tr-TR" sz="1800"/>
          </a:p>
        </p:txBody>
      </p:sp>
      <p:cxnSp>
        <p:nvCxnSpPr>
          <p:cNvPr id="49160" name="AutoShape 23">
            <a:extLst>
              <a:ext uri="{FF2B5EF4-FFF2-40B4-BE49-F238E27FC236}">
                <a16:creationId xmlns:a16="http://schemas.microsoft.com/office/drawing/2014/main" id="{ADEA61FC-354C-DADC-17B3-F4262E764EAF}"/>
              </a:ext>
            </a:extLst>
          </p:cNvPr>
          <p:cNvCxnSpPr>
            <a:cxnSpLocks noChangeShapeType="1"/>
            <a:stCxn id="49159" idx="3"/>
            <a:endCxn id="49173" idx="0"/>
          </p:cNvCxnSpPr>
          <p:nvPr/>
        </p:nvCxnSpPr>
        <p:spPr bwMode="auto">
          <a:xfrm rot="5400000">
            <a:off x="2026844" y="3962005"/>
            <a:ext cx="1076325" cy="1666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9161" name="AutoShape 24">
            <a:extLst>
              <a:ext uri="{FF2B5EF4-FFF2-40B4-BE49-F238E27FC236}">
                <a16:creationId xmlns:a16="http://schemas.microsoft.com/office/drawing/2014/main" id="{8BFCEAC2-E54F-911D-5978-F885A002A588}"/>
              </a:ext>
            </a:extLst>
          </p:cNvPr>
          <p:cNvCxnSpPr>
            <a:cxnSpLocks noChangeShapeType="1"/>
            <a:stCxn id="49168" idx="0"/>
          </p:cNvCxnSpPr>
          <p:nvPr/>
        </p:nvCxnSpPr>
        <p:spPr bwMode="auto">
          <a:xfrm rot="16200000" flipV="1">
            <a:off x="4766545" y="725561"/>
            <a:ext cx="289618" cy="3270995"/>
          </a:xfrm>
          <a:prstGeom prst="bentConnector2">
            <a:avLst/>
          </a:prstGeom>
          <a:noFill/>
          <a:ln w="9525">
            <a:solidFill>
              <a:schemeClr val="tx1"/>
            </a:solidFill>
            <a:prstDash val="lg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18745325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FC2FA24E-A8BE-42A5-0C41-34734358BA4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tr-TR"/>
              <a:t>Template Method</a:t>
            </a:r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41C2F74A-2A96-0D1A-4512-E619D72BD3C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23528" y="1510752"/>
            <a:ext cx="8686800" cy="525780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tr-TR" sz="2800" b="1" dirty="0"/>
              <a:t>Intent</a:t>
            </a:r>
            <a:r>
              <a:rPr lang="en-US" altLang="tr-TR" sz="2800" dirty="0"/>
              <a:t>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tr-TR" sz="2400" dirty="0"/>
              <a:t>Define the </a:t>
            </a:r>
            <a:r>
              <a:rPr lang="en-US" altLang="tr-TR" sz="2400" i="1" dirty="0"/>
              <a:t>skeleton</a:t>
            </a:r>
            <a:r>
              <a:rPr lang="en-US" altLang="tr-TR" sz="2400" dirty="0"/>
              <a:t> of an algorithm in an operation, deferring some steps to subclasses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tr-TR" sz="2400" dirty="0"/>
              <a:t>TM lets subclasses redefine certain steps of an algorithm </a:t>
            </a:r>
            <a:r>
              <a:rPr lang="en-US" altLang="tr-TR" sz="2400" i="1" dirty="0"/>
              <a:t>without</a:t>
            </a:r>
            <a:r>
              <a:rPr lang="en-US" altLang="tr-TR" sz="2400" dirty="0"/>
              <a:t> changing the algorithm's structure.</a:t>
            </a:r>
          </a:p>
          <a:p>
            <a:pPr eaLnBrk="1" hangingPunct="1">
              <a:lnSpc>
                <a:spcPct val="90000"/>
              </a:lnSpc>
            </a:pPr>
            <a:r>
              <a:rPr lang="en-US" altLang="tr-TR" sz="2800" dirty="0"/>
              <a:t>Removes code duplication!</a:t>
            </a:r>
          </a:p>
          <a:p>
            <a:pPr eaLnBrk="1" hangingPunct="1">
              <a:lnSpc>
                <a:spcPct val="90000"/>
              </a:lnSpc>
              <a:buFontTx/>
              <a:buNone/>
            </a:pPr>
            <a:endParaRPr lang="en-US" altLang="tr-TR" sz="2800" dirty="0"/>
          </a:p>
          <a:p>
            <a:pPr eaLnBrk="1" hangingPunct="1">
              <a:lnSpc>
                <a:spcPct val="90000"/>
              </a:lnSpc>
            </a:pPr>
            <a:r>
              <a:rPr lang="en-US" altLang="tr-TR" sz="2800" dirty="0"/>
              <a:t>Motivation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tr-TR" sz="2400" dirty="0"/>
              <a:t>want to specify the order of operations that a method uses, but allow subclasses to provide their own implementations of some of these operations</a:t>
            </a:r>
          </a:p>
          <a:p>
            <a:pPr lvl="1" eaLnBrk="1" hangingPunct="1">
              <a:lnSpc>
                <a:spcPct val="90000"/>
              </a:lnSpc>
              <a:buFontTx/>
              <a:buNone/>
            </a:pPr>
            <a:endParaRPr lang="en-US" altLang="tr-TR" sz="2400" dirty="0"/>
          </a:p>
          <a:p>
            <a:pPr lvl="1" eaLnBrk="1" hangingPunct="1">
              <a:lnSpc>
                <a:spcPct val="90000"/>
              </a:lnSpc>
              <a:buFontTx/>
              <a:buNone/>
            </a:pPr>
            <a:r>
              <a:rPr lang="en-US" altLang="tr-TR" sz="2400" dirty="0"/>
              <a:t>This is a class pattern, so we use …</a:t>
            </a:r>
          </a:p>
        </p:txBody>
      </p:sp>
    </p:spTree>
    <p:extLst>
      <p:ext uri="{BB962C8B-B14F-4D97-AF65-F5344CB8AC3E}">
        <p14:creationId xmlns:p14="http://schemas.microsoft.com/office/powerpoint/2010/main" val="1255418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Title 1">
            <a:extLst>
              <a:ext uri="{FF2B5EF4-FFF2-40B4-BE49-F238E27FC236}">
                <a16:creationId xmlns:a16="http://schemas.microsoft.com/office/drawing/2014/main" id="{CCA978B3-5413-0C61-DA2F-A7E849F74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tr-TR" dirty="0"/>
              <a:t>Participants</a:t>
            </a:r>
          </a:p>
        </p:txBody>
      </p:sp>
      <p:sp>
        <p:nvSpPr>
          <p:cNvPr id="40963" name="Content Placeholder 2">
            <a:extLst>
              <a:ext uri="{FF2B5EF4-FFF2-40B4-BE49-F238E27FC236}">
                <a16:creationId xmlns:a16="http://schemas.microsoft.com/office/drawing/2014/main" id="{278E43F8-6FC8-CB98-EE9B-7083C90EFB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73155"/>
            <a:ext cx="8579296" cy="4532109"/>
          </a:xfrm>
        </p:spPr>
        <p:txBody>
          <a:bodyPr/>
          <a:lstStyle/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7D"/>
              </a:buClr>
              <a:buSzPct val="75000"/>
              <a:buFont typeface="Wingdings" panose="05000000000000000000" pitchFamily="2" charset="2"/>
              <a:buChar char="n"/>
              <a:tabLst/>
              <a:defRPr/>
            </a:pPr>
            <a:r>
              <a:rPr kumimoji="0" 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Template method ---Cannot be overridden</a:t>
            </a:r>
          </a:p>
          <a:p>
            <a:pPr lvl="1" eaLnBrk="1" hangingPunct="1">
              <a:lnSpc>
                <a:spcPct val="100000"/>
              </a:lnSpc>
              <a:defRPr/>
            </a:pPr>
            <a:r>
              <a:rPr lang="en-US" altLang="tr-TR" sz="2400" dirty="0"/>
              <a:t>defines the algorithm skeleton</a:t>
            </a:r>
          </a:p>
          <a:p>
            <a:pPr lvl="1" eaLnBrk="1" hangingPunct="1">
              <a:lnSpc>
                <a:spcPct val="100000"/>
              </a:lnSpc>
              <a:defRPr/>
            </a:pPr>
            <a:r>
              <a:rPr lang="en-US" altLang="tr-TR" sz="2400" dirty="0"/>
              <a:t>May call concrete operations, primitive operations and hooks</a:t>
            </a:r>
          </a:p>
          <a:p>
            <a:pPr eaLnBrk="1" hangingPunct="1">
              <a:lnSpc>
                <a:spcPct val="100000"/>
              </a:lnSpc>
              <a:defRPr/>
            </a:pPr>
            <a:r>
              <a:rPr lang="en-US" altLang="tr-TR" sz="2800" dirty="0"/>
              <a:t>Primitive operations –must be overridden</a:t>
            </a:r>
          </a:p>
          <a:p>
            <a:pPr lvl="1" eaLnBrk="1" hangingPunct="1">
              <a:lnSpc>
                <a:spcPct val="100000"/>
              </a:lnSpc>
              <a:defRPr/>
            </a:pPr>
            <a:r>
              <a:rPr lang="en-US" altLang="tr-TR" sz="2400" dirty="0"/>
              <a:t>The operations in the template that must be implemented by the subclasses</a:t>
            </a:r>
          </a:p>
          <a:p>
            <a:pPr lvl="1" eaLnBrk="1" hangingPunct="1">
              <a:lnSpc>
                <a:spcPct val="100000"/>
              </a:lnSpc>
              <a:defRPr/>
            </a:pPr>
            <a:r>
              <a:rPr lang="en-US" altLang="tr-TR" sz="2400" dirty="0"/>
              <a:t>The diversity occurs here</a:t>
            </a:r>
          </a:p>
          <a:p>
            <a:pPr eaLnBrk="1" hangingPunct="1">
              <a:lnSpc>
                <a:spcPct val="100000"/>
              </a:lnSpc>
              <a:defRPr/>
            </a:pPr>
            <a:r>
              <a:rPr lang="en-US" altLang="tr-TR" sz="2800" dirty="0"/>
              <a:t>Hooks –may be overridden</a:t>
            </a:r>
          </a:p>
          <a:p>
            <a:pPr lvl="1" eaLnBrk="1" hangingPunct="1">
              <a:lnSpc>
                <a:spcPct val="100000"/>
              </a:lnSpc>
              <a:defRPr/>
            </a:pPr>
            <a:r>
              <a:rPr lang="en-US" altLang="tr-TR" sz="2400" dirty="0"/>
              <a:t>Superclass defines the default behavior </a:t>
            </a:r>
          </a:p>
          <a:p>
            <a:pPr lvl="2">
              <a:lnSpc>
                <a:spcPct val="100000"/>
              </a:lnSpc>
              <a:defRPr/>
            </a:pPr>
            <a:r>
              <a:rPr lang="en-US" altLang="tr-TR" sz="2000" dirty="0"/>
              <a:t>usually empty method body</a:t>
            </a:r>
          </a:p>
          <a:p>
            <a:pPr lvl="1" eaLnBrk="1" hangingPunct="1">
              <a:lnSpc>
                <a:spcPct val="100000"/>
              </a:lnSpc>
              <a:defRPr/>
            </a:pPr>
            <a:r>
              <a:rPr lang="en-US" altLang="tr-TR" sz="2400" dirty="0"/>
              <a:t>Subclass may override 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2">
            <a:extLst>
              <a:ext uri="{FF2B5EF4-FFF2-40B4-BE49-F238E27FC236}">
                <a16:creationId xmlns:a16="http://schemas.microsoft.com/office/drawing/2014/main" id="{3227AEAF-0A4D-680B-83C8-58189CB1D54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tr-TR" dirty="0"/>
              <a:t>Exercise 1: print documents</a:t>
            </a:r>
          </a:p>
        </p:txBody>
      </p:sp>
      <p:sp>
        <p:nvSpPr>
          <p:cNvPr id="51203" name="Rectangle 3">
            <a:extLst>
              <a:ext uri="{FF2B5EF4-FFF2-40B4-BE49-F238E27FC236}">
                <a16:creationId xmlns:a16="http://schemas.microsoft.com/office/drawing/2014/main" id="{697E8CF9-4A97-0C30-201E-757858312804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 eaLnBrk="1" hangingPunct="1">
              <a:buFontTx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class </a:t>
            </a:r>
            <a:r>
              <a:rPr lang="en-US" altLang="tr-TR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PlainTextDocument</a:t>
            </a: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{…</a:t>
            </a:r>
          </a:p>
          <a:p>
            <a:pPr eaLnBrk="1" hangingPunct="1">
              <a:buFontTx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public void </a:t>
            </a:r>
            <a:r>
              <a:rPr lang="en-US" altLang="tr-TR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printPage</a:t>
            </a: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(Page page){</a:t>
            </a:r>
          </a:p>
          <a:p>
            <a:pPr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</a:t>
            </a:r>
            <a:r>
              <a:rPr lang="en-US" altLang="tr-TR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System.out.println</a:t>
            </a: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</a:t>
            </a:r>
            <a:r>
              <a:rPr lang="en-US" altLang="tr-TR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page.title</a:t>
            </a: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()); </a:t>
            </a:r>
          </a:p>
          <a:p>
            <a:pPr eaLnBrk="1" hangingPunct="1">
              <a:buFontTx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</a:t>
            </a:r>
            <a:r>
              <a:rPr lang="en-US" altLang="tr-TR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System.out.println</a:t>
            </a: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</a:t>
            </a:r>
            <a:r>
              <a:rPr lang="en-US" altLang="tr-TR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page.body</a:t>
            </a: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());</a:t>
            </a:r>
          </a:p>
          <a:p>
            <a:pPr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</a:t>
            </a:r>
            <a:r>
              <a:rPr lang="en-US" altLang="tr-TR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System.out.println</a:t>
            </a: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</a:t>
            </a:r>
            <a:r>
              <a:rPr lang="en-US" altLang="tr-TR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page.date</a:t>
            </a: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());</a:t>
            </a:r>
          </a:p>
          <a:p>
            <a:pPr eaLnBrk="1" hangingPunct="1">
              <a:buFontTx/>
              <a:buNone/>
            </a:pPr>
            <a:r>
              <a:rPr lang="en-US" altLang="tr-TR" sz="20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</a:t>
            </a: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  <a:p>
            <a:pPr eaLnBrk="1" hangingPunct="1">
              <a:buFontTx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…}</a:t>
            </a:r>
          </a:p>
          <a:p>
            <a:pPr eaLnBrk="1" hangingPunct="1">
              <a:buFontTx/>
              <a:buNone/>
            </a:pPr>
            <a:endParaRPr lang="en-US" altLang="tr-TR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eaLnBrk="1" hangingPunct="1">
              <a:buFontTx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class </a:t>
            </a:r>
            <a:r>
              <a:rPr lang="en-US" altLang="tr-TR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HtmlTextDocument</a:t>
            </a: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{</a:t>
            </a:r>
          </a:p>
          <a:p>
            <a:pPr eaLnBrk="1" hangingPunct="1">
              <a:buFontTx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public void </a:t>
            </a:r>
            <a:r>
              <a:rPr lang="en-US" altLang="tr-TR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printPage</a:t>
            </a: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(Page page){</a:t>
            </a:r>
          </a:p>
          <a:p>
            <a:pPr eaLnBrk="1" hangingPunct="1">
              <a:buFontTx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</a:t>
            </a:r>
            <a:r>
              <a:rPr lang="en-US" altLang="tr-TR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printHtmlTextHeader</a:t>
            </a: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();</a:t>
            </a:r>
          </a:p>
          <a:p>
            <a:pPr eaLnBrk="1" hangingPunct="1">
              <a:buFontTx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</a:t>
            </a:r>
            <a:r>
              <a:rPr lang="en-US" altLang="tr-TR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System.out.println</a:t>
            </a: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</a:t>
            </a:r>
            <a:r>
              <a:rPr lang="en-US" altLang="tr-TR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page.body</a:t>
            </a: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());</a:t>
            </a:r>
          </a:p>
          <a:p>
            <a:pPr eaLnBrk="1" hangingPunct="1">
              <a:buFontTx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</a:t>
            </a:r>
            <a:r>
              <a:rPr lang="en-US" altLang="tr-TR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printHtmlTextFooter</a:t>
            </a: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(); }</a:t>
            </a:r>
          </a:p>
          <a:p>
            <a:pPr eaLnBrk="1" hangingPunct="1">
              <a:buFontTx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…}</a:t>
            </a:r>
          </a:p>
        </p:txBody>
      </p:sp>
      <p:sp>
        <p:nvSpPr>
          <p:cNvPr id="51204" name="Rectangle 4">
            <a:extLst>
              <a:ext uri="{FF2B5EF4-FFF2-40B4-BE49-F238E27FC236}">
                <a16:creationId xmlns:a16="http://schemas.microsoft.com/office/drawing/2014/main" id="{91839A2E-174D-FF93-211A-B4D7AA2D43E0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/>
        <p:txBody>
          <a:bodyPr/>
          <a:lstStyle/>
          <a:p>
            <a:pPr eaLnBrk="1" hangingPunct="1">
              <a:lnSpc>
                <a:spcPct val="110000"/>
              </a:lnSpc>
            </a:pPr>
            <a:r>
              <a:rPr lang="en-US" altLang="tr-TR" sz="2400" dirty="0"/>
              <a:t>The order of tasks in </a:t>
            </a:r>
            <a:r>
              <a:rPr lang="en-US" altLang="tr-TR" sz="2400" dirty="0" err="1"/>
              <a:t>printPage</a:t>
            </a:r>
            <a:r>
              <a:rPr lang="en-US" altLang="tr-TR" sz="2400" dirty="0"/>
              <a:t> operations are the same</a:t>
            </a:r>
          </a:p>
          <a:p>
            <a:pPr eaLnBrk="1" hangingPunct="1">
              <a:lnSpc>
                <a:spcPct val="110000"/>
              </a:lnSpc>
            </a:pPr>
            <a:r>
              <a:rPr lang="en-US" altLang="tr-TR" sz="2400" dirty="0"/>
              <a:t>Make </a:t>
            </a:r>
            <a:r>
              <a:rPr lang="en-US" altLang="tr-TR" sz="2400" dirty="0" err="1"/>
              <a:t>printPage</a:t>
            </a:r>
            <a:r>
              <a:rPr lang="en-US" altLang="tr-TR" sz="2400" dirty="0"/>
              <a:t>() a template method in a superclass </a:t>
            </a:r>
          </a:p>
          <a:p>
            <a:pPr eaLnBrk="1" hangingPunct="1">
              <a:lnSpc>
                <a:spcPct val="110000"/>
              </a:lnSpc>
            </a:pPr>
            <a:r>
              <a:rPr lang="en-US" altLang="tr-TR" sz="2400" dirty="0"/>
              <a:t>Allow </a:t>
            </a:r>
            <a:r>
              <a:rPr lang="en-US" altLang="tr-TR" sz="2400" dirty="0" err="1"/>
              <a:t>PlainTextDocument</a:t>
            </a:r>
            <a:r>
              <a:rPr lang="en-US" altLang="tr-TR" sz="2400" dirty="0"/>
              <a:t> and </a:t>
            </a:r>
            <a:r>
              <a:rPr lang="en-US" altLang="tr-TR" sz="2400" dirty="0" err="1"/>
              <a:t>HtmlTextDocument</a:t>
            </a:r>
            <a:r>
              <a:rPr lang="en-US" altLang="tr-TR" sz="2400" dirty="0"/>
              <a:t> to provide their unique implementations of abstract methods to print the header and footer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>
            <a:extLst>
              <a:ext uri="{FF2B5EF4-FFF2-40B4-BE49-F238E27FC236}">
                <a16:creationId xmlns:a16="http://schemas.microsoft.com/office/drawing/2014/main" id="{4FB6573F-159A-9968-5B7D-C170E46F01A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tr-TR" dirty="0"/>
              <a:t>Exercise 1:Template Method</a:t>
            </a:r>
          </a:p>
        </p:txBody>
      </p:sp>
      <p:sp>
        <p:nvSpPr>
          <p:cNvPr id="52227" name="Rectangle 3">
            <a:extLst>
              <a:ext uri="{FF2B5EF4-FFF2-40B4-BE49-F238E27FC236}">
                <a16:creationId xmlns:a16="http://schemas.microsoft.com/office/drawing/2014/main" id="{6D1C0622-C6E9-A3F4-6433-5885B7279AA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  <a:buFontTx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public abstract class </a:t>
            </a:r>
            <a:r>
              <a:rPr lang="en-US" altLang="tr-TR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TextDocument</a:t>
            </a: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{...</a:t>
            </a:r>
          </a:p>
          <a:p>
            <a:pPr eaLnBrk="1" hangingPunct="1">
              <a:lnSpc>
                <a:spcPct val="80000"/>
              </a:lnSpc>
              <a:buFontTx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public </a:t>
            </a:r>
            <a:r>
              <a:rPr lang="en-US" altLang="tr-TR" sz="2000" b="1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final</a:t>
            </a: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void </a:t>
            </a:r>
            <a:r>
              <a:rPr lang="en-US" altLang="tr-TR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printPage</a:t>
            </a: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(Page page) {     //final -- the algorithm is fixed</a:t>
            </a:r>
          </a:p>
          <a:p>
            <a:pPr eaLnBrk="1" hangingPunct="1">
              <a:lnSpc>
                <a:spcPct val="80000"/>
              </a:lnSpc>
              <a:buFontTx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</a:t>
            </a:r>
            <a:r>
              <a:rPr lang="en-US" altLang="tr-TR" sz="2000" i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printTextHeader</a:t>
            </a:r>
            <a:r>
              <a:rPr lang="en-US" altLang="tr-TR" sz="20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(page);</a:t>
            </a:r>
          </a:p>
          <a:p>
            <a:pPr eaLnBrk="1" hangingPunct="1">
              <a:lnSpc>
                <a:spcPct val="80000"/>
              </a:lnSpc>
              <a:buFontTx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</a:t>
            </a:r>
            <a:r>
              <a:rPr lang="en-US" altLang="tr-TR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printTextBody</a:t>
            </a: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(page);</a:t>
            </a:r>
          </a:p>
          <a:p>
            <a:pPr eaLnBrk="1" hangingPunct="1">
              <a:lnSpc>
                <a:spcPct val="80000"/>
              </a:lnSpc>
              <a:buFontTx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</a:t>
            </a:r>
            <a:r>
              <a:rPr lang="en-US" altLang="tr-TR" sz="2000" i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printTextFooter</a:t>
            </a:r>
            <a:r>
              <a:rPr lang="en-US" altLang="tr-TR" sz="20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();</a:t>
            </a:r>
          </a:p>
          <a:p>
            <a:pPr eaLnBrk="1" hangingPunct="1">
              <a:lnSpc>
                <a:spcPct val="80000"/>
              </a:lnSpc>
              <a:buFontTx/>
              <a:buNone/>
            </a:pPr>
            <a:r>
              <a:rPr lang="en-US" altLang="tr-TR" sz="2000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}</a:t>
            </a:r>
          </a:p>
          <a:p>
            <a:pPr eaLnBrk="1" hangingPunct="1">
              <a:lnSpc>
                <a:spcPct val="80000"/>
              </a:lnSpc>
              <a:buFontTx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public abstract </a:t>
            </a:r>
            <a:r>
              <a:rPr lang="en-US" altLang="tr-TR" sz="2000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altLang="tr-TR" sz="2000" dirty="0" err="1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printTextHeader</a:t>
            </a: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();</a:t>
            </a:r>
          </a:p>
          <a:p>
            <a:pPr eaLnBrk="1" hangingPunct="1">
              <a:lnSpc>
                <a:spcPct val="80000"/>
              </a:lnSpc>
              <a:buFontTx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public final void </a:t>
            </a:r>
            <a:r>
              <a:rPr lang="en-US" altLang="tr-TR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printTextBody</a:t>
            </a: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(Page page) {</a:t>
            </a:r>
          </a:p>
          <a:p>
            <a:pPr eaLnBrk="1" hangingPunct="1">
              <a:lnSpc>
                <a:spcPct val="80000"/>
              </a:lnSpc>
              <a:buFontTx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  </a:t>
            </a:r>
            <a:r>
              <a:rPr lang="en-US" altLang="tr-TR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System.out.println</a:t>
            </a: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</a:t>
            </a:r>
            <a:r>
              <a:rPr lang="en-US" altLang="tr-TR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page.body</a:t>
            </a: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()); }</a:t>
            </a:r>
          </a:p>
          <a:p>
            <a:pPr eaLnBrk="1" hangingPunct="1">
              <a:lnSpc>
                <a:spcPct val="80000"/>
              </a:lnSpc>
              <a:buFontTx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public abstract void </a:t>
            </a:r>
            <a:r>
              <a:rPr lang="en-US" altLang="tr-TR" sz="2000" dirty="0" err="1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printTextFoote</a:t>
            </a:r>
            <a:r>
              <a:rPr lang="en-US" altLang="tr-TR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r</a:t>
            </a: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();</a:t>
            </a:r>
          </a:p>
          <a:p>
            <a:pPr eaLnBrk="1" hangingPunct="1">
              <a:lnSpc>
                <a:spcPct val="80000"/>
              </a:lnSpc>
              <a:buFontTx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  <a:p>
            <a:pPr eaLnBrk="1" hangingPunct="1">
              <a:lnSpc>
                <a:spcPct val="80000"/>
              </a:lnSpc>
              <a:buFontTx/>
              <a:buNone/>
            </a:pPr>
            <a:endParaRPr lang="en-US" altLang="tr-TR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eaLnBrk="1" hangingPunct="1">
              <a:lnSpc>
                <a:spcPct val="80000"/>
              </a:lnSpc>
              <a:buFontTx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public class </a:t>
            </a:r>
            <a:r>
              <a:rPr lang="en-US" altLang="tr-TR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PlainTextDocument</a:t>
            </a: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extends </a:t>
            </a:r>
            <a:r>
              <a:rPr lang="en-US" altLang="tr-TR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TextDocument</a:t>
            </a: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{...</a:t>
            </a:r>
          </a:p>
          <a:p>
            <a:pPr eaLnBrk="1" hangingPunct="1">
              <a:lnSpc>
                <a:spcPct val="80000"/>
              </a:lnSpc>
              <a:buFontTx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public void </a:t>
            </a:r>
            <a:r>
              <a:rPr lang="en-US" altLang="tr-TR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printTextHeader</a:t>
            </a: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(Page page) {</a:t>
            </a:r>
          </a:p>
          <a:p>
            <a:pPr>
              <a:lnSpc>
                <a:spcPct val="80000"/>
              </a:lnSpc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  </a:t>
            </a:r>
            <a:r>
              <a:rPr lang="en-US" altLang="tr-TR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System.out.println</a:t>
            </a: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</a:t>
            </a:r>
            <a:r>
              <a:rPr lang="en-US" altLang="tr-TR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page.title</a:t>
            </a: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()); }</a:t>
            </a:r>
          </a:p>
          <a:p>
            <a:pPr eaLnBrk="1" hangingPunct="1">
              <a:lnSpc>
                <a:spcPct val="80000"/>
              </a:lnSpc>
              <a:buFontTx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public void </a:t>
            </a:r>
            <a:r>
              <a:rPr lang="en-US" altLang="tr-TR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printTextFooter</a:t>
            </a: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() {}</a:t>
            </a:r>
          </a:p>
          <a:p>
            <a:pPr eaLnBrk="1" hangingPunct="1">
              <a:lnSpc>
                <a:spcPct val="80000"/>
              </a:lnSpc>
              <a:buFontTx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</p:txBody>
      </p:sp>
      <p:sp>
        <p:nvSpPr>
          <p:cNvPr id="52228" name="Text Box 4">
            <a:extLst>
              <a:ext uri="{FF2B5EF4-FFF2-40B4-BE49-F238E27FC236}">
                <a16:creationId xmlns:a16="http://schemas.microsoft.com/office/drawing/2014/main" id="{57759F09-4446-7910-CDDD-1FAF84EDA7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44208" y="3082197"/>
            <a:ext cx="3240360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tr-TR" sz="2000" dirty="0">
                <a:solidFill>
                  <a:srgbClr val="0070C0"/>
                </a:solidFill>
              </a:rPr>
              <a:t>All we have to do is provide the proper implementations of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tr-TR" sz="2000" dirty="0">
                <a:solidFill>
                  <a:srgbClr val="0070C0"/>
                </a:solidFill>
              </a:rPr>
              <a:t>the primitive operations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22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2">
            <a:extLst>
              <a:ext uri="{FF2B5EF4-FFF2-40B4-BE49-F238E27FC236}">
                <a16:creationId xmlns:a16="http://schemas.microsoft.com/office/drawing/2014/main" id="{103E5147-E84B-3EB5-C2D3-65FB2DD0F8B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tr-TR" dirty="0"/>
              <a:t>Applicability: Template Method</a:t>
            </a:r>
          </a:p>
        </p:txBody>
      </p:sp>
      <p:sp>
        <p:nvSpPr>
          <p:cNvPr id="55299" name="Rectangle 3">
            <a:extLst>
              <a:ext uri="{FF2B5EF4-FFF2-40B4-BE49-F238E27FC236}">
                <a16:creationId xmlns:a16="http://schemas.microsoft.com/office/drawing/2014/main" id="{FFEA4DE6-C0BE-6F20-0EF4-0050458BE85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tr-TR" sz="2800" dirty="0"/>
              <a:t>To implement the </a:t>
            </a:r>
            <a:r>
              <a:rPr lang="en-US" altLang="tr-TR" sz="2800" b="1" dirty="0"/>
              <a:t>invariant</a:t>
            </a:r>
            <a:r>
              <a:rPr lang="en-US" altLang="tr-TR" sz="2800" dirty="0"/>
              <a:t> parts of an algorithm </a:t>
            </a:r>
            <a:r>
              <a:rPr lang="en-US" altLang="tr-TR" sz="2800" b="1" dirty="0"/>
              <a:t>once</a:t>
            </a:r>
            <a:r>
              <a:rPr lang="en-US" altLang="tr-TR" sz="2800" dirty="0"/>
              <a:t> and leave it up to subclasses to implement the behavior that can </a:t>
            </a:r>
            <a:r>
              <a:rPr lang="en-US" altLang="tr-TR" sz="2800" b="1" dirty="0"/>
              <a:t>vary</a:t>
            </a:r>
          </a:p>
          <a:p>
            <a:pPr lvl="1">
              <a:lnSpc>
                <a:spcPct val="90000"/>
              </a:lnSpc>
            </a:pPr>
            <a:r>
              <a:rPr lang="en-US" sz="2400" dirty="0"/>
              <a:t>particularly important in class libraries, because they are the means for factoring out common behavior in library classes</a:t>
            </a:r>
          </a:p>
          <a:p>
            <a:pPr lvl="1">
              <a:lnSpc>
                <a:spcPct val="90000"/>
              </a:lnSpc>
            </a:pPr>
            <a:endParaRPr lang="en-US" altLang="tr-TR" sz="2400" dirty="0"/>
          </a:p>
          <a:p>
            <a:pPr lvl="1">
              <a:lnSpc>
                <a:spcPct val="90000"/>
              </a:lnSpc>
            </a:pPr>
            <a:r>
              <a:rPr lang="en-US" altLang="tr-TR" sz="2400" dirty="0"/>
              <a:t>New programmer cannot mess up the invariant</a:t>
            </a:r>
          </a:p>
          <a:p>
            <a:pPr lvl="1">
              <a:lnSpc>
                <a:spcPct val="90000"/>
              </a:lnSpc>
            </a:pPr>
            <a:endParaRPr lang="en-US" altLang="tr-TR" sz="2400" dirty="0"/>
          </a:p>
          <a:p>
            <a:pPr lvl="1">
              <a:lnSpc>
                <a:spcPct val="90000"/>
              </a:lnSpc>
            </a:pPr>
            <a:r>
              <a:rPr lang="en-US" altLang="tr-TR" sz="2400" dirty="0"/>
              <a:t>This is how we customize frameworks</a:t>
            </a:r>
          </a:p>
          <a:p>
            <a:pPr lvl="2">
              <a:lnSpc>
                <a:spcPct val="90000"/>
              </a:lnSpc>
            </a:pPr>
            <a:r>
              <a:rPr lang="en-US" altLang="tr-TR" sz="2000" dirty="0"/>
              <a:t>Extend a class in the framework</a:t>
            </a:r>
          </a:p>
          <a:p>
            <a:pPr lvl="2">
              <a:lnSpc>
                <a:spcPct val="90000"/>
              </a:lnSpc>
            </a:pPr>
            <a:r>
              <a:rPr lang="en-US" altLang="tr-TR" sz="2000" dirty="0"/>
              <a:t>Override some methods for customization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2">
            <a:extLst>
              <a:ext uri="{FF2B5EF4-FFF2-40B4-BE49-F238E27FC236}">
                <a16:creationId xmlns:a16="http://schemas.microsoft.com/office/drawing/2014/main" id="{103E5147-E84B-3EB5-C2D3-65FB2DD0F8B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tr-TR" dirty="0"/>
              <a:t>Applicability: Template Method</a:t>
            </a:r>
          </a:p>
        </p:txBody>
      </p:sp>
      <p:sp>
        <p:nvSpPr>
          <p:cNvPr id="55299" name="Rectangle 3">
            <a:extLst>
              <a:ext uri="{FF2B5EF4-FFF2-40B4-BE49-F238E27FC236}">
                <a16:creationId xmlns:a16="http://schemas.microsoft.com/office/drawing/2014/main" id="{FFEA4DE6-C0BE-6F20-0EF4-0050458BE85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tr-TR" sz="2800" dirty="0"/>
              <a:t>To implement the </a:t>
            </a:r>
            <a:r>
              <a:rPr lang="en-US" altLang="tr-TR" sz="2800" b="1" dirty="0"/>
              <a:t>invariant</a:t>
            </a:r>
            <a:r>
              <a:rPr lang="en-US" altLang="tr-TR" sz="2800" dirty="0"/>
              <a:t> parts of an algorithm </a:t>
            </a:r>
            <a:r>
              <a:rPr lang="en-US" altLang="tr-TR" sz="2800" b="1" dirty="0"/>
              <a:t>once</a:t>
            </a:r>
            <a:r>
              <a:rPr lang="en-US" altLang="tr-TR" sz="2800" dirty="0"/>
              <a:t> and leave it up to subclasses to implement the behavior that can </a:t>
            </a:r>
            <a:r>
              <a:rPr lang="en-US" altLang="tr-TR" sz="2800" b="1" dirty="0"/>
              <a:t>vary</a:t>
            </a:r>
          </a:p>
          <a:p>
            <a:pPr marL="514350" lvl="1" indent="0">
              <a:lnSpc>
                <a:spcPct val="90000"/>
              </a:lnSpc>
              <a:buNone/>
            </a:pPr>
            <a:endParaRPr lang="en-US" altLang="tr-TR" sz="2400" dirty="0"/>
          </a:p>
          <a:p>
            <a:pPr>
              <a:lnSpc>
                <a:spcPct val="90000"/>
              </a:lnSpc>
            </a:pPr>
            <a:r>
              <a:rPr lang="en-US" altLang="tr-TR" sz="2800" dirty="0"/>
              <a:t>To localize common behavior among subclasses and place it in a common class to </a:t>
            </a:r>
            <a:r>
              <a:rPr lang="en-US" altLang="tr-TR" sz="2800" b="1" dirty="0"/>
              <a:t>avoid code duplication.</a:t>
            </a:r>
          </a:p>
          <a:p>
            <a:pPr lvl="1">
              <a:lnSpc>
                <a:spcPct val="90000"/>
              </a:lnSpc>
            </a:pPr>
            <a:r>
              <a:rPr lang="en-US" altLang="tr-TR" sz="2400" dirty="0"/>
              <a:t>Classic example of ”code refactoring”</a:t>
            </a:r>
          </a:p>
          <a:p>
            <a:pPr lvl="1">
              <a:lnSpc>
                <a:spcPct val="90000"/>
              </a:lnSpc>
            </a:pPr>
            <a:r>
              <a:rPr lang="en-US" sz="2400" dirty="0"/>
              <a:t>the general workflow of the algorithm is implemented once in the abstract class's template method, </a:t>
            </a:r>
          </a:p>
          <a:p>
            <a:pPr lvl="1">
              <a:defRPr/>
            </a:pPr>
            <a:r>
              <a:rPr lang="en-US" sz="2400" dirty="0"/>
              <a:t>and necessary variations are implemented in the subclasses.</a:t>
            </a:r>
          </a:p>
          <a:p>
            <a:pPr marL="457200" lvl="1" indent="0">
              <a:buNone/>
              <a:defRPr/>
            </a:pPr>
            <a:endParaRPr lang="en-US" altLang="tr-TR" sz="2000" dirty="0"/>
          </a:p>
          <a:p>
            <a:pPr marL="457200" lvl="1" indent="0">
              <a:lnSpc>
                <a:spcPct val="90000"/>
              </a:lnSpc>
              <a:buNone/>
            </a:pPr>
            <a:endParaRPr lang="en-US" altLang="tr-TR" sz="2000" dirty="0"/>
          </a:p>
          <a:p>
            <a:pPr marL="457200" lvl="1" indent="0">
              <a:lnSpc>
                <a:spcPct val="90000"/>
              </a:lnSpc>
              <a:buNone/>
            </a:pPr>
            <a:endParaRPr lang="en-US" altLang="tr-TR" sz="2400" dirty="0"/>
          </a:p>
        </p:txBody>
      </p:sp>
    </p:spTree>
    <p:extLst>
      <p:ext uri="{BB962C8B-B14F-4D97-AF65-F5344CB8AC3E}">
        <p14:creationId xmlns:p14="http://schemas.microsoft.com/office/powerpoint/2010/main" val="38188010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2">
            <a:extLst>
              <a:ext uri="{FF2B5EF4-FFF2-40B4-BE49-F238E27FC236}">
                <a16:creationId xmlns:a16="http://schemas.microsoft.com/office/drawing/2014/main" id="{103E5147-E84B-3EB5-C2D3-65FB2DD0F8B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tr-TR" dirty="0"/>
              <a:t>Applicability: Template Method</a:t>
            </a:r>
          </a:p>
        </p:txBody>
      </p:sp>
      <p:sp>
        <p:nvSpPr>
          <p:cNvPr id="55299" name="Rectangle 3">
            <a:extLst>
              <a:ext uri="{FF2B5EF4-FFF2-40B4-BE49-F238E27FC236}">
                <a16:creationId xmlns:a16="http://schemas.microsoft.com/office/drawing/2014/main" id="{FFEA4DE6-C0BE-6F20-0EF4-0050458BE85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tr-TR" sz="2800" dirty="0"/>
              <a:t>To implement the </a:t>
            </a:r>
            <a:r>
              <a:rPr lang="en-US" altLang="tr-TR" sz="2800" b="1" dirty="0"/>
              <a:t>invariant</a:t>
            </a:r>
            <a:r>
              <a:rPr lang="en-US" altLang="tr-TR" sz="2800" dirty="0"/>
              <a:t> parts of an algorithm </a:t>
            </a:r>
            <a:r>
              <a:rPr lang="en-US" altLang="tr-TR" sz="2800" b="1" dirty="0"/>
              <a:t>once</a:t>
            </a:r>
            <a:r>
              <a:rPr lang="en-US" altLang="tr-TR" sz="2800" dirty="0"/>
              <a:t> and leave it up to subclasses to implement the behavior that can </a:t>
            </a:r>
            <a:r>
              <a:rPr lang="en-US" altLang="tr-TR" sz="2800" b="1" dirty="0"/>
              <a:t>vary</a:t>
            </a:r>
            <a:endParaRPr lang="en-US" altLang="tr-TR" sz="2400" dirty="0"/>
          </a:p>
          <a:p>
            <a:pPr>
              <a:lnSpc>
                <a:spcPct val="90000"/>
              </a:lnSpc>
            </a:pPr>
            <a:r>
              <a:rPr lang="en-US" altLang="tr-TR" sz="2800" dirty="0"/>
              <a:t>To localize common behavior among subclasses and place it in a common class to </a:t>
            </a:r>
            <a:r>
              <a:rPr lang="en-US" altLang="tr-TR" sz="2800" b="1" dirty="0"/>
              <a:t>avoid code duplication.</a:t>
            </a:r>
          </a:p>
          <a:p>
            <a:pPr lvl="1">
              <a:lnSpc>
                <a:spcPct val="90000"/>
              </a:lnSpc>
            </a:pPr>
            <a:r>
              <a:rPr lang="en-US" altLang="tr-TR" sz="2400" dirty="0"/>
              <a:t>Classic example of ”code refactoring”</a:t>
            </a:r>
          </a:p>
          <a:p>
            <a:pPr lvl="1">
              <a:lnSpc>
                <a:spcPct val="90000"/>
              </a:lnSpc>
            </a:pPr>
            <a:endParaRPr lang="en-US" altLang="tr-TR" sz="2000" dirty="0"/>
          </a:p>
          <a:p>
            <a:pPr>
              <a:lnSpc>
                <a:spcPct val="90000"/>
              </a:lnSpc>
            </a:pPr>
            <a:r>
              <a:rPr lang="en-US" altLang="tr-TR" sz="2800" dirty="0"/>
              <a:t>To control how subclasses extend superclass operations. </a:t>
            </a:r>
          </a:p>
          <a:p>
            <a:pPr lvl="1">
              <a:lnSpc>
                <a:spcPct val="90000"/>
              </a:lnSpc>
            </a:pPr>
            <a:r>
              <a:rPr lang="en-US" altLang="tr-TR" sz="2400" dirty="0"/>
              <a:t>You can define a template method that calls "hook" operations at specific points, hence permitting extensions only at those points.</a:t>
            </a:r>
          </a:p>
        </p:txBody>
      </p:sp>
    </p:spTree>
    <p:extLst>
      <p:ext uri="{BB962C8B-B14F-4D97-AF65-F5344CB8AC3E}">
        <p14:creationId xmlns:p14="http://schemas.microsoft.com/office/powerpoint/2010/main" val="32602909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12760-330D-6097-8F73-B6201124B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TM controls extensions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6E87D2-67DD-4917-BBF6-242C995D3F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controls the point(s) at which specialization is permitted.</a:t>
            </a:r>
          </a:p>
          <a:p>
            <a:pPr lvl="1">
              <a:defRPr/>
            </a:pPr>
            <a:r>
              <a:rPr lang="en-US" dirty="0"/>
              <a:t> If the subclasses were to simply override the template method, they could make radical and arbitrary changes to the workflow. </a:t>
            </a:r>
          </a:p>
          <a:p>
            <a:pPr lvl="1">
              <a:defRPr/>
            </a:pPr>
            <a:r>
              <a:rPr lang="en-US" dirty="0"/>
              <a:t>In contrast, by overriding only the </a:t>
            </a:r>
            <a:r>
              <a:rPr lang="en-US" dirty="0">
                <a:solidFill>
                  <a:srgbClr val="0070C0"/>
                </a:solidFill>
              </a:rPr>
              <a:t>hook</a:t>
            </a:r>
            <a:r>
              <a:rPr lang="en-US" dirty="0"/>
              <a:t> methods, only certain specific details of the workflow can be changed,</a:t>
            </a:r>
            <a:endParaRPr lang="en-US" baseline="30000" dirty="0"/>
          </a:p>
          <a:p>
            <a:pPr lvl="1">
              <a:defRPr/>
            </a:pPr>
            <a:r>
              <a:rPr lang="en-US" dirty="0"/>
              <a:t> and the overall workflow is left intact.</a:t>
            </a:r>
          </a:p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43609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B48FB-D7A6-CB38-2E96-A68925F5B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Hook method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C44E986-2A27-E5EA-77EE-E1726CA9F59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class Travel{</a:t>
            </a:r>
          </a:p>
          <a:p>
            <a:pPr marL="0" indent="0">
              <a:buNone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public:</a:t>
            </a:r>
          </a:p>
          <a:p>
            <a:pPr marL="0" indent="0">
              <a:buNone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void </a:t>
            </a:r>
            <a:r>
              <a:rPr lang="en-US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itenary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(int days){</a:t>
            </a:r>
          </a:p>
          <a:p>
            <a:pPr marL="0" indent="0">
              <a:buNone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    </a:t>
            </a:r>
            <a:r>
              <a:rPr lang="en-US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addTransport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();</a:t>
            </a:r>
          </a:p>
          <a:p>
            <a:pPr marL="0" indent="0">
              <a:buNone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    </a:t>
            </a:r>
            <a:r>
              <a:rPr lang="en-US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planDay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(1);</a:t>
            </a:r>
          </a:p>
          <a:p>
            <a:pPr marL="0" indent="0">
              <a:buNone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    </a:t>
            </a:r>
            <a:r>
              <a:rPr lang="en-US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addHotel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();</a:t>
            </a:r>
          </a:p>
          <a:p>
            <a:pPr marL="0" indent="0">
              <a:buNone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    </a:t>
            </a:r>
            <a:r>
              <a:rPr lang="en-US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planDay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(days-1);</a:t>
            </a:r>
          </a:p>
          <a:p>
            <a:pPr marL="0" indent="0">
              <a:buNone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}</a:t>
            </a:r>
          </a:p>
          <a:p>
            <a:pPr marL="0" indent="0">
              <a:buNone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virtual void </a:t>
            </a:r>
            <a:r>
              <a:rPr lang="en-US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addHotel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(){}</a:t>
            </a:r>
          </a:p>
          <a:p>
            <a:pPr marL="0" indent="0">
              <a:buNone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virtual void </a:t>
            </a:r>
            <a:r>
              <a:rPr lang="en-US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addTransport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()=0;</a:t>
            </a:r>
          </a:p>
          <a:p>
            <a:pPr marL="0" indent="0">
              <a:buNone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virtual void </a:t>
            </a:r>
            <a:r>
              <a:rPr lang="en-US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planDay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(int day)=0;</a:t>
            </a:r>
          </a:p>
          <a:p>
            <a:pPr marL="0" indent="0">
              <a:buNone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//…</a:t>
            </a:r>
          </a:p>
          <a:p>
            <a:pPr marL="0" indent="0">
              <a:buNone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  <a:p>
            <a:pPr marL="0" indent="0">
              <a:buNone/>
            </a:pP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0" indent="0">
              <a:buNone/>
            </a:pP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0" indent="0">
              <a:buNone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CF3038-30B5-CB68-F296-CB280DD30C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272209"/>
            <a:ext cx="4388296" cy="4595191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400" dirty="0" err="1"/>
              <a:t>AirTravelPackage</a:t>
            </a:r>
            <a:r>
              <a:rPr lang="en-US" sz="2400" dirty="0"/>
              <a:t> subclass must override </a:t>
            </a:r>
            <a:r>
              <a:rPr lang="en-US" sz="2400" dirty="0" err="1">
                <a:latin typeface="Consolas" panose="020B0609020204030204" pitchFamily="49" charset="0"/>
              </a:rPr>
              <a:t>addTransport</a:t>
            </a:r>
            <a:r>
              <a:rPr lang="en-US" sz="2400" dirty="0"/>
              <a:t> and </a:t>
            </a:r>
            <a:r>
              <a:rPr lang="en-US" sz="2400" dirty="0" err="1">
                <a:latin typeface="Consolas" panose="020B0609020204030204" pitchFamily="49" charset="0"/>
              </a:rPr>
              <a:t>planDay</a:t>
            </a:r>
            <a:r>
              <a:rPr lang="en-US" sz="2400" dirty="0"/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400" dirty="0"/>
              <a:t>Adding a hotel is </a:t>
            </a:r>
            <a:r>
              <a:rPr lang="en-US" sz="2400" b="1" dirty="0"/>
              <a:t>optional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400" dirty="0"/>
              <a:t>Extension to the workflow by only adding the hotel and it will work only after the first day. </a:t>
            </a:r>
          </a:p>
        </p:txBody>
      </p:sp>
    </p:spTree>
    <p:extLst>
      <p:ext uri="{BB962C8B-B14F-4D97-AF65-F5344CB8AC3E}">
        <p14:creationId xmlns:p14="http://schemas.microsoft.com/office/powerpoint/2010/main" val="21494853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>
            <a:extLst>
              <a:ext uri="{FF2B5EF4-FFF2-40B4-BE49-F238E27FC236}">
                <a16:creationId xmlns:a16="http://schemas.microsoft.com/office/drawing/2014/main" id="{D3E29A1E-493B-F0DB-5AD9-E5C41F08996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39152"/>
            <a:ext cx="9587408" cy="1371600"/>
          </a:xfrm>
        </p:spPr>
        <p:txBody>
          <a:bodyPr/>
          <a:lstStyle/>
          <a:p>
            <a:r>
              <a:rPr lang="en-US" altLang="en-US" dirty="0"/>
              <a:t>Hollywood principle</a:t>
            </a:r>
            <a:endParaRPr lang="tr-TR" altLang="en-US" dirty="0"/>
          </a:p>
        </p:txBody>
      </p:sp>
      <p:sp>
        <p:nvSpPr>
          <p:cNvPr id="57347" name="Content Placeholder 2">
            <a:extLst>
              <a:ext uri="{FF2B5EF4-FFF2-40B4-BE49-F238E27FC236}">
                <a16:creationId xmlns:a16="http://schemas.microsoft.com/office/drawing/2014/main" id="{B66916B8-A98D-4B10-980A-F26708EEF7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340768"/>
            <a:ext cx="8686800" cy="4532109"/>
          </a:xfrm>
        </p:spPr>
        <p:txBody>
          <a:bodyPr/>
          <a:lstStyle/>
          <a:p>
            <a:pPr>
              <a:defRPr/>
            </a:pPr>
            <a:r>
              <a:rPr lang="en-US" altLang="en-US" sz="2800" dirty="0"/>
              <a:t>Template method uses </a:t>
            </a:r>
            <a:r>
              <a:rPr lang="en-US" altLang="en-US" sz="2800" b="1" dirty="0"/>
              <a:t>inverted control</a:t>
            </a:r>
            <a:r>
              <a:rPr lang="en-US" altLang="en-US" sz="2800" dirty="0"/>
              <a:t> structure.</a:t>
            </a:r>
          </a:p>
          <a:p>
            <a:pPr lvl="1">
              <a:defRPr/>
            </a:pPr>
            <a:r>
              <a:rPr lang="en-US" altLang="en-US" dirty="0"/>
              <a:t>from the superclass point of view:</a:t>
            </a:r>
          </a:p>
          <a:p>
            <a:pPr marL="0" indent="0">
              <a:buFontTx/>
              <a:buNone/>
              <a:defRPr/>
            </a:pPr>
            <a:r>
              <a:rPr lang="en-US" altLang="en-US" dirty="0"/>
              <a:t> 	“Don't call us, we'll call you”.</a:t>
            </a:r>
          </a:p>
          <a:p>
            <a:pPr>
              <a:defRPr/>
            </a:pPr>
            <a:endParaRPr lang="en-US" altLang="en-US" dirty="0"/>
          </a:p>
          <a:p>
            <a:pPr>
              <a:defRPr/>
            </a:pPr>
            <a:r>
              <a:rPr lang="en-US" altLang="en-US" sz="2400" dirty="0"/>
              <a:t>Instead of calling the methods of base class inside the subclass methods,</a:t>
            </a:r>
          </a:p>
          <a:p>
            <a:pPr lvl="1">
              <a:defRPr/>
            </a:pPr>
            <a:r>
              <a:rPr lang="en-US" altLang="en-US" sz="2000" b="1" dirty="0"/>
              <a:t>No</a:t>
            </a:r>
            <a:r>
              <a:rPr lang="en-US" altLang="en-US" sz="2000" dirty="0"/>
              <a:t> </a:t>
            </a:r>
            <a:r>
              <a:rPr lang="en-US" altLang="en-US" sz="2000" dirty="0" err="1"/>
              <a:t>super.doA</a:t>
            </a:r>
            <a:r>
              <a:rPr lang="en-US" altLang="en-US" sz="2000" dirty="0"/>
              <a:t>()</a:t>
            </a:r>
          </a:p>
          <a:p>
            <a:pPr>
              <a:defRPr/>
            </a:pPr>
            <a:r>
              <a:rPr lang="en-US" altLang="en-US" sz="2400" dirty="0"/>
              <a:t>the methods of subclass are called in the template method from superclass.</a:t>
            </a:r>
          </a:p>
        </p:txBody>
      </p:sp>
    </p:spTree>
    <p:extLst>
      <p:ext uri="{BB962C8B-B14F-4D97-AF65-F5344CB8AC3E}">
        <p14:creationId xmlns:p14="http://schemas.microsoft.com/office/powerpoint/2010/main" val="33041321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Title 1">
            <a:extLst>
              <a:ext uri="{FF2B5EF4-FFF2-40B4-BE49-F238E27FC236}">
                <a16:creationId xmlns:a16="http://schemas.microsoft.com/office/drawing/2014/main" id="{CAAE3724-93D4-6F59-D581-3650B995A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tr-TR" dirty="0"/>
              <a:t>Hollywood principle</a:t>
            </a:r>
          </a:p>
        </p:txBody>
      </p:sp>
      <p:sp>
        <p:nvSpPr>
          <p:cNvPr id="47107" name="Content Placeholder 2">
            <a:extLst>
              <a:ext uri="{FF2B5EF4-FFF2-40B4-BE49-F238E27FC236}">
                <a16:creationId xmlns:a16="http://schemas.microsoft.com/office/drawing/2014/main" id="{8E365342-84AA-E96F-F0C3-E929B51DD5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tr-TR" dirty="0"/>
              <a:t>“Don’t call us, we’ll call you”</a:t>
            </a:r>
          </a:p>
          <a:p>
            <a:pPr eaLnBrk="1" hangingPunct="1"/>
            <a:r>
              <a:rPr lang="en-US" altLang="tr-TR" dirty="0"/>
              <a:t>Seen this in frameworks and libraries</a:t>
            </a:r>
          </a:p>
          <a:p>
            <a:pPr lvl="1" eaLnBrk="1" hangingPunct="1"/>
            <a:r>
              <a:rPr lang="en-US" altLang="tr-TR" dirty="0"/>
              <a:t>The framework carries out a computation/algorithm</a:t>
            </a:r>
          </a:p>
          <a:p>
            <a:pPr lvl="1" eaLnBrk="1" hangingPunct="1"/>
            <a:r>
              <a:rPr lang="en-US" altLang="tr-TR" dirty="0"/>
              <a:t>Some parts are not specified. Your job is to implement those parts.</a:t>
            </a:r>
          </a:p>
          <a:p>
            <a:pPr lvl="1" eaLnBrk="1" hangingPunct="1"/>
            <a:r>
              <a:rPr lang="en-US" altLang="tr-TR" dirty="0"/>
              <a:t>Your code does not call the framework functions, but the framework calls you</a:t>
            </a:r>
          </a:p>
          <a:p>
            <a:pPr lvl="1" eaLnBrk="1" hangingPunct="1"/>
            <a:r>
              <a:rPr lang="en-US" altLang="tr-TR" dirty="0"/>
              <a:t>Opposite of using library functions</a:t>
            </a:r>
          </a:p>
          <a:p>
            <a:pPr lvl="1" eaLnBrk="1" hangingPunct="1"/>
            <a:endParaRPr lang="en-US" altLang="tr-TR" dirty="0"/>
          </a:p>
        </p:txBody>
      </p:sp>
    </p:spTree>
    <p:extLst>
      <p:ext uri="{BB962C8B-B14F-4D97-AF65-F5344CB8AC3E}">
        <p14:creationId xmlns:p14="http://schemas.microsoft.com/office/powerpoint/2010/main" val="28864192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FB949-3795-B66B-64E2-3AB1B43ED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Hollywood Principle</a:t>
            </a:r>
          </a:p>
        </p:txBody>
      </p:sp>
      <p:sp>
        <p:nvSpPr>
          <p:cNvPr id="58371" name="Content Placeholder 2">
            <a:extLst>
              <a:ext uri="{FF2B5EF4-FFF2-40B4-BE49-F238E27FC236}">
                <a16:creationId xmlns:a16="http://schemas.microsoft.com/office/drawing/2014/main" id="{2430C311-5EE0-C7C6-5AFA-593684CE52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35291"/>
            <a:ext cx="8229600" cy="3389853"/>
          </a:xfrm>
        </p:spPr>
        <p:txBody>
          <a:bodyPr/>
          <a:lstStyle/>
          <a:p>
            <a:pPr eaLnBrk="1" hangingPunct="1"/>
            <a:r>
              <a:rPr lang="en-US" altLang="tr-TR" dirty="0"/>
              <a:t>Reduces coupling between lower and upper level object</a:t>
            </a:r>
          </a:p>
          <a:p>
            <a:pPr lvl="1" eaLnBrk="1" hangingPunct="1"/>
            <a:r>
              <a:rPr lang="en-US" altLang="tr-TR" dirty="0"/>
              <a:t>Lower level object do not call upper levels unless they are called</a:t>
            </a:r>
          </a:p>
          <a:p>
            <a:pPr lvl="1" eaLnBrk="1" hangingPunct="1"/>
            <a:r>
              <a:rPr lang="en-US" altLang="tr-TR" dirty="0"/>
              <a:t>upper level objects call each other and lower levels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10B43E5-9DA4-8E9E-8243-5D350D25B6C3}"/>
              </a:ext>
            </a:extLst>
          </p:cNvPr>
          <p:cNvGrpSpPr/>
          <p:nvPr/>
        </p:nvGrpSpPr>
        <p:grpSpPr>
          <a:xfrm>
            <a:off x="1632234" y="4613777"/>
            <a:ext cx="6917738" cy="1695543"/>
            <a:chOff x="1632234" y="4613777"/>
            <a:chExt cx="6917738" cy="1695543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2C52D9F2-6B46-F373-F364-C415B47751B7}"/>
                </a:ext>
              </a:extLst>
            </p:cNvPr>
            <p:cNvSpPr/>
            <p:nvPr/>
          </p:nvSpPr>
          <p:spPr bwMode="auto">
            <a:xfrm>
              <a:off x="2106754" y="4613777"/>
              <a:ext cx="1296144" cy="504056"/>
            </a:xfrm>
            <a:prstGeom prst="roundRect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BBEEBF24-207B-470D-E446-9A39FF4DA45D}"/>
                </a:ext>
              </a:extLst>
            </p:cNvPr>
            <p:cNvSpPr/>
            <p:nvPr/>
          </p:nvSpPr>
          <p:spPr bwMode="auto">
            <a:xfrm>
              <a:off x="5004048" y="4632734"/>
              <a:ext cx="1296144" cy="504056"/>
            </a:xfrm>
            <a:prstGeom prst="roundRect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6BC300B6-3F11-C99F-D691-6EADC6571B67}"/>
                </a:ext>
              </a:extLst>
            </p:cNvPr>
            <p:cNvSpPr/>
            <p:nvPr/>
          </p:nvSpPr>
          <p:spPr bwMode="auto">
            <a:xfrm>
              <a:off x="1632234" y="5768436"/>
              <a:ext cx="686023" cy="504056"/>
            </a:xfrm>
            <a:prstGeom prst="roundRect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9360569D-67B6-33BE-3E18-E75593FF6A8A}"/>
                </a:ext>
              </a:extLst>
            </p:cNvPr>
            <p:cNvSpPr/>
            <p:nvPr/>
          </p:nvSpPr>
          <p:spPr bwMode="auto">
            <a:xfrm>
              <a:off x="2910990" y="5805264"/>
              <a:ext cx="686023" cy="504056"/>
            </a:xfrm>
            <a:prstGeom prst="roundRect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D7196B41-2FCF-A4E4-8180-42305A0555F4}"/>
                </a:ext>
              </a:extLst>
            </p:cNvPr>
            <p:cNvSpPr/>
            <p:nvPr/>
          </p:nvSpPr>
          <p:spPr bwMode="auto">
            <a:xfrm>
              <a:off x="5957180" y="5744847"/>
              <a:ext cx="686023" cy="504056"/>
            </a:xfrm>
            <a:prstGeom prst="roundRect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2683BB42-6C9C-AC12-8A92-5678C13F7607}"/>
                </a:ext>
              </a:extLst>
            </p:cNvPr>
            <p:cNvSpPr/>
            <p:nvPr/>
          </p:nvSpPr>
          <p:spPr bwMode="auto">
            <a:xfrm>
              <a:off x="5006162" y="5744847"/>
              <a:ext cx="686023" cy="504056"/>
            </a:xfrm>
            <a:prstGeom prst="roundRect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EEB5309B-425A-3A58-A82F-FAB72E2AECAD}"/>
                </a:ext>
              </a:extLst>
            </p:cNvPr>
            <p:cNvSpPr/>
            <p:nvPr/>
          </p:nvSpPr>
          <p:spPr bwMode="auto">
            <a:xfrm>
              <a:off x="7101333" y="5714304"/>
              <a:ext cx="686023" cy="504056"/>
            </a:xfrm>
            <a:prstGeom prst="roundRect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80DA4D2C-DEA7-4221-9049-504F351202F2}"/>
                </a:ext>
              </a:extLst>
            </p:cNvPr>
            <p:cNvCxnSpPr>
              <a:cxnSpLocks/>
              <a:endCxn id="6" idx="0"/>
            </p:cNvCxnSpPr>
            <p:nvPr/>
          </p:nvCxnSpPr>
          <p:spPr bwMode="auto">
            <a:xfrm flipH="1">
              <a:off x="1975246" y="5155102"/>
              <a:ext cx="467692" cy="613334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0A906EF9-1637-C9FA-1130-F4F517838244}"/>
                </a:ext>
              </a:extLst>
            </p:cNvPr>
            <p:cNvCxnSpPr>
              <a:cxnSpLocks/>
              <a:endCxn id="7" idx="0"/>
            </p:cNvCxnSpPr>
            <p:nvPr/>
          </p:nvCxnSpPr>
          <p:spPr bwMode="auto">
            <a:xfrm>
              <a:off x="2996562" y="5155102"/>
              <a:ext cx="257440" cy="650162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8FF1A4FF-8537-8FBA-A0F1-E71F33733CCB}"/>
                </a:ext>
              </a:extLst>
            </p:cNvPr>
            <p:cNvCxnSpPr>
              <a:cxnSpLocks/>
              <a:endCxn id="9" idx="0"/>
            </p:cNvCxnSpPr>
            <p:nvPr/>
          </p:nvCxnSpPr>
          <p:spPr bwMode="auto">
            <a:xfrm>
              <a:off x="5273055" y="5142752"/>
              <a:ext cx="76119" cy="60209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146F22DB-D789-8858-96F2-5ED54D368B2F}"/>
                </a:ext>
              </a:extLst>
            </p:cNvPr>
            <p:cNvCxnSpPr>
              <a:cxnSpLocks/>
              <a:stCxn id="4" idx="2"/>
              <a:endCxn id="8" idx="0"/>
            </p:cNvCxnSpPr>
            <p:nvPr/>
          </p:nvCxnSpPr>
          <p:spPr bwMode="auto">
            <a:xfrm>
              <a:off x="5652120" y="5136790"/>
              <a:ext cx="648072" cy="608057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8E6917D-B517-E132-C084-FCE8CAFFE64C}"/>
                </a:ext>
              </a:extLst>
            </p:cNvPr>
            <p:cNvCxnSpPr>
              <a:cxnSpLocks/>
              <a:endCxn id="11" idx="0"/>
            </p:cNvCxnSpPr>
            <p:nvPr/>
          </p:nvCxnSpPr>
          <p:spPr bwMode="auto">
            <a:xfrm>
              <a:off x="6021213" y="5149037"/>
              <a:ext cx="1423132" cy="565267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sp>
          <p:nvSpPr>
            <p:cNvPr id="30" name="Arrow: Right 29">
              <a:extLst>
                <a:ext uri="{FF2B5EF4-FFF2-40B4-BE49-F238E27FC236}">
                  <a16:creationId xmlns:a16="http://schemas.microsoft.com/office/drawing/2014/main" id="{FF59E8CB-ABBE-0AFF-ED4E-B88C5CD2F167}"/>
                </a:ext>
              </a:extLst>
            </p:cNvPr>
            <p:cNvSpPr/>
            <p:nvPr/>
          </p:nvSpPr>
          <p:spPr bwMode="auto">
            <a:xfrm>
              <a:off x="3867944" y="4714943"/>
              <a:ext cx="504056" cy="144016"/>
            </a:xfrm>
            <a:prstGeom prst="rightArrow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32" name="Arrow: Right 31">
              <a:extLst>
                <a:ext uri="{FF2B5EF4-FFF2-40B4-BE49-F238E27FC236}">
                  <a16:creationId xmlns:a16="http://schemas.microsoft.com/office/drawing/2014/main" id="{C92D30C2-AE9A-3EF9-6EA2-C3E70F531BA7}"/>
                </a:ext>
              </a:extLst>
            </p:cNvPr>
            <p:cNvSpPr/>
            <p:nvPr/>
          </p:nvSpPr>
          <p:spPr bwMode="auto">
            <a:xfrm rot="10800000">
              <a:off x="3851920" y="4977172"/>
              <a:ext cx="504056" cy="144016"/>
            </a:xfrm>
            <a:prstGeom prst="rightArrow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75B2230-2BD3-5D24-AD4B-DE0DFFF5ACE1}"/>
                </a:ext>
              </a:extLst>
            </p:cNvPr>
            <p:cNvSpPr txBox="1"/>
            <p:nvPr/>
          </p:nvSpPr>
          <p:spPr>
            <a:xfrm>
              <a:off x="6916191" y="5035058"/>
              <a:ext cx="16337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Call directions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B0C9D-355D-A2EE-9E25-C871474DF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Consequences -Pros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BB5DD86-3410-2C52-44F0-D9B2C516CB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35291"/>
            <a:ext cx="8507288" cy="4758005"/>
          </a:xfrm>
        </p:spPr>
        <p:txBody>
          <a:bodyPr/>
          <a:lstStyle/>
          <a:p>
            <a:r>
              <a:rPr lang="en-US" sz="2800" dirty="0"/>
              <a:t>Reduces code duplication</a:t>
            </a:r>
            <a:endParaRPr lang="en-US" sz="2400" dirty="0"/>
          </a:p>
          <a:p>
            <a:r>
              <a:rPr lang="en-US" sz="2800" dirty="0"/>
              <a:t>Enables customization of an algorithm in the subclasses</a:t>
            </a:r>
          </a:p>
          <a:p>
            <a:r>
              <a:rPr lang="en-US" altLang="tr-TR" sz="2800" dirty="0"/>
              <a:t>Decouple lower and upper level objects</a:t>
            </a:r>
            <a:endParaRPr lang="en-US" sz="2800" dirty="0"/>
          </a:p>
          <a:p>
            <a:r>
              <a:rPr lang="en-US" sz="2800" dirty="0"/>
              <a:t>Controls the extension of the workflow (hooks)</a:t>
            </a:r>
          </a:p>
          <a:p>
            <a:pPr lvl="1"/>
            <a:r>
              <a:rPr lang="en-US" sz="2400" dirty="0"/>
              <a:t>controls the point(s) at which specialization is permitted</a:t>
            </a:r>
          </a:p>
          <a:p>
            <a:r>
              <a:rPr lang="en-US" sz="2800" i="1" dirty="0"/>
              <a:t>Cannot</a:t>
            </a:r>
            <a:r>
              <a:rPr lang="en-US" sz="2800" dirty="0"/>
              <a:t> change the algorithm drastically</a:t>
            </a:r>
          </a:p>
        </p:txBody>
      </p:sp>
    </p:spTree>
    <p:extLst>
      <p:ext uri="{BB962C8B-B14F-4D97-AF65-F5344CB8AC3E}">
        <p14:creationId xmlns:p14="http://schemas.microsoft.com/office/powerpoint/2010/main" val="31021412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AAFAA-502A-B908-CD97-71222B3BB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Consequences -Cons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4947DE-E7D6-FC70-07C2-F2D042476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35291"/>
            <a:ext cx="8363272" cy="5190053"/>
          </a:xfrm>
        </p:spPr>
        <p:txBody>
          <a:bodyPr/>
          <a:lstStyle/>
          <a:p>
            <a:r>
              <a:rPr lang="en-US" sz="2400" i="1" dirty="0"/>
              <a:t>Cannot</a:t>
            </a:r>
            <a:r>
              <a:rPr lang="en-US" sz="2400" dirty="0"/>
              <a:t> change the algorithm drastically</a:t>
            </a:r>
          </a:p>
          <a:p>
            <a:r>
              <a:rPr lang="en-US" sz="2400" dirty="0"/>
              <a:t>LSP Risk: May violate </a:t>
            </a:r>
            <a:r>
              <a:rPr lang="en-US" sz="2400" dirty="0" err="1"/>
              <a:t>Liskov</a:t>
            </a:r>
            <a:r>
              <a:rPr lang="en-US" sz="2400" dirty="0"/>
              <a:t> substitution principle</a:t>
            </a:r>
          </a:p>
          <a:p>
            <a:pPr lvl="1"/>
            <a:r>
              <a:rPr lang="en-US" sz="2000" dirty="0"/>
              <a:t>If a subclass is used where a base class is expected, it may behave poorly due to its implementation of primitive operations.</a:t>
            </a:r>
          </a:p>
          <a:p>
            <a:r>
              <a:rPr lang="en-US" sz="2400" dirty="0"/>
              <a:t>Too many Primitive Operations</a:t>
            </a:r>
          </a:p>
          <a:p>
            <a:pPr lvl="1"/>
            <a:r>
              <a:rPr lang="en-US" sz="2000" dirty="0"/>
              <a:t>make subclassing tedious and error-prone:  Maintenance  </a:t>
            </a:r>
          </a:p>
          <a:p>
            <a:pPr lvl="1"/>
            <a:r>
              <a:rPr lang="en-US" sz="2000" dirty="0"/>
              <a:t>Subclasses may be forced to implement methods they don’t need.</a:t>
            </a:r>
          </a:p>
          <a:p>
            <a:r>
              <a:rPr lang="en-US" sz="2400" dirty="0"/>
              <a:t>Beware of Inheritance </a:t>
            </a:r>
          </a:p>
          <a:p>
            <a:pPr lvl="1"/>
            <a:r>
              <a:rPr lang="en-US" sz="2400" dirty="0"/>
              <a:t>Changes in base class may unintentionally affect all subclasses.</a:t>
            </a:r>
            <a:endParaRPr lang="en-US" sz="2000" dirty="0"/>
          </a:p>
          <a:p>
            <a:r>
              <a:rPr lang="en-US" sz="2400" dirty="0"/>
              <a:t>Hidden Dependencies</a:t>
            </a:r>
          </a:p>
          <a:p>
            <a:pPr lvl="1"/>
            <a:r>
              <a:rPr lang="en-US" sz="2400" dirty="0"/>
              <a:t>Subclasses must understand the order in TM</a:t>
            </a:r>
          </a:p>
        </p:txBody>
      </p:sp>
    </p:spTree>
    <p:extLst>
      <p:ext uri="{BB962C8B-B14F-4D97-AF65-F5344CB8AC3E}">
        <p14:creationId xmlns:p14="http://schemas.microsoft.com/office/powerpoint/2010/main" val="1286351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716DE2-8008-5E9F-3798-C3FE2CB5E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LSP violation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9E3B4-F5E2-1E9B-0002-E58264789B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510752"/>
            <a:ext cx="9083352" cy="4532109"/>
          </a:xfrm>
        </p:spPr>
        <p:txBody>
          <a:bodyPr/>
          <a:lstStyle/>
          <a:p>
            <a:pPr marL="0" indent="0">
              <a:buNone/>
            </a:pPr>
            <a:r>
              <a:rPr lang="en-US" sz="2000" dirty="0"/>
              <a:t>public class </a:t>
            </a:r>
            <a:r>
              <a:rPr lang="en-US" sz="2000" dirty="0" err="1"/>
              <a:t>MaliciousXMLReader</a:t>
            </a:r>
            <a:r>
              <a:rPr lang="en-US" sz="2000" dirty="0"/>
              <a:t> extends </a:t>
            </a:r>
            <a:r>
              <a:rPr lang="en-US" sz="2000" dirty="0" err="1"/>
              <a:t>SysemSpecReader</a:t>
            </a:r>
            <a:r>
              <a:rPr lang="en-US" sz="2000" dirty="0"/>
              <a:t> {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000" dirty="0"/>
              <a:t>    // VIOLATION: This primitive operation breaks the implicit contract.</a:t>
            </a:r>
          </a:p>
          <a:p>
            <a:pPr marL="0" indent="0">
              <a:buNone/>
            </a:pPr>
            <a:r>
              <a:rPr lang="en-US" sz="2000" dirty="0"/>
              <a:t>   </a:t>
            </a:r>
            <a:r>
              <a:rPr lang="en-US" sz="2000" dirty="0">
                <a:latin typeface="Consolas" panose="020B0609020204030204" pitchFamily="49" charset="0"/>
              </a:rPr>
              <a:t>public Object </a:t>
            </a:r>
            <a:r>
              <a:rPr lang="en-US" sz="2000" dirty="0" err="1">
                <a:latin typeface="Consolas" panose="020B0609020204030204" pitchFamily="49" charset="0"/>
              </a:rPr>
              <a:t>readFile</a:t>
            </a:r>
            <a:r>
              <a:rPr lang="en-US" sz="2000" dirty="0">
                <a:latin typeface="Consolas" panose="020B0609020204030204" pitchFamily="49" charset="0"/>
              </a:rPr>
              <a:t>() {</a:t>
            </a:r>
          </a:p>
          <a:p>
            <a:pPr marL="0" indent="0">
              <a:buNone/>
            </a:pPr>
            <a:r>
              <a:rPr lang="en-US" sz="2000" dirty="0"/>
              <a:t>        // Instead of reading the file, it unexpectedly throws a low-level error.</a:t>
            </a:r>
          </a:p>
          <a:p>
            <a:pPr marL="0" indent="0">
              <a:buNone/>
            </a:pPr>
            <a:r>
              <a:rPr lang="en-US" sz="2000" dirty="0"/>
              <a:t>      </a:t>
            </a:r>
            <a:r>
              <a:rPr lang="en-US" sz="2000" dirty="0">
                <a:latin typeface="Consolas" panose="020B0609020204030204" pitchFamily="49" charset="0"/>
              </a:rPr>
              <a:t>  throw new </a:t>
            </a:r>
            <a:r>
              <a:rPr lang="en-US" sz="2000" dirty="0" err="1">
                <a:latin typeface="Consolas" panose="020B0609020204030204" pitchFamily="49" charset="0"/>
              </a:rPr>
              <a:t>IllegalStateException</a:t>
            </a:r>
            <a:r>
              <a:rPr lang="en-US" sz="2000" dirty="0"/>
              <a:t>("File system access denied!"); </a:t>
            </a:r>
          </a:p>
          <a:p>
            <a:pPr marL="0" indent="0">
              <a:buNone/>
            </a:pPr>
            <a:r>
              <a:rPr lang="en-US" sz="2000" dirty="0"/>
              <a:t>    }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    // These methods must still be implemented, but will never be reached</a:t>
            </a:r>
          </a:p>
          <a:p>
            <a:pPr marL="0" indent="0">
              <a:buNone/>
            </a:pPr>
            <a:r>
              <a:rPr lang="en-US" sz="2000" dirty="0"/>
              <a:t>public Object </a:t>
            </a:r>
            <a:r>
              <a:rPr lang="en-US" sz="2000" dirty="0" err="1"/>
              <a:t>parseFile</a:t>
            </a:r>
            <a:r>
              <a:rPr lang="en-US" sz="2000" dirty="0"/>
              <a:t>(Object </a:t>
            </a:r>
            <a:r>
              <a:rPr lang="en-US" sz="2000" dirty="0" err="1"/>
              <a:t>fileObj</a:t>
            </a:r>
            <a:r>
              <a:rPr lang="en-US" sz="2000" dirty="0"/>
              <a:t>) { return null; }</a:t>
            </a:r>
          </a:p>
          <a:p>
            <a:pPr marL="0" indent="0">
              <a:buNone/>
            </a:pPr>
            <a:r>
              <a:rPr lang="en-US" sz="2000" dirty="0"/>
              <a:t>public String </a:t>
            </a:r>
            <a:r>
              <a:rPr lang="en-US" sz="2000" dirty="0" err="1"/>
              <a:t>extractOSversion</a:t>
            </a:r>
            <a:r>
              <a:rPr lang="en-US" sz="2000" dirty="0"/>
              <a:t>(Object </a:t>
            </a:r>
            <a:r>
              <a:rPr lang="en-US" sz="2000" dirty="0" err="1"/>
              <a:t>parsedObj</a:t>
            </a:r>
            <a:r>
              <a:rPr lang="en-US" sz="2000" dirty="0"/>
              <a:t>) { return null; }</a:t>
            </a:r>
          </a:p>
          <a:p>
            <a:pPr marL="0" indent="0">
              <a:buNone/>
            </a:pPr>
            <a:r>
              <a:rPr lang="en-US" sz="20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060321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Title 1">
            <a:extLst>
              <a:ext uri="{FF2B5EF4-FFF2-40B4-BE49-F238E27FC236}">
                <a16:creationId xmlns:a16="http://schemas.microsoft.com/office/drawing/2014/main" id="{AF726A7C-6042-6045-64A5-8069AEF15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Example: Travel Agency</a:t>
            </a:r>
            <a:endParaRPr lang="tr-TR" altLang="en-US" dirty="0"/>
          </a:p>
        </p:txBody>
      </p:sp>
      <p:sp>
        <p:nvSpPr>
          <p:cNvPr id="59395" name="Content Placeholder 2">
            <a:extLst>
              <a:ext uri="{FF2B5EF4-FFF2-40B4-BE49-F238E27FC236}">
                <a16:creationId xmlns:a16="http://schemas.microsoft.com/office/drawing/2014/main" id="{5BF8D58B-FAC8-54EA-3F28-0307DEF27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The travel agency is managing each trip. </a:t>
            </a:r>
          </a:p>
          <a:p>
            <a:r>
              <a:rPr lang="en-US" altLang="en-US" dirty="0"/>
              <a:t>All the trips contain common behavior but there are several packages. For example each trip contains the basic steps:</a:t>
            </a:r>
            <a:br>
              <a:rPr lang="en-US" altLang="en-US" dirty="0"/>
            </a:br>
            <a:r>
              <a:rPr lang="en-US" altLang="en-US" dirty="0"/>
              <a:t>- The tourists are transported to the holiday location by plane/train/ships,...</a:t>
            </a:r>
            <a:br>
              <a:rPr lang="en-US" altLang="en-US" dirty="0"/>
            </a:br>
            <a:r>
              <a:rPr lang="en-US" altLang="en-US" dirty="0"/>
              <a:t>- Each day they are visiting something</a:t>
            </a:r>
            <a:br>
              <a:rPr lang="en-US" altLang="en-US" dirty="0"/>
            </a:br>
            <a:r>
              <a:rPr lang="en-US" altLang="en-US" dirty="0"/>
              <a:t>- They are returning back home.</a:t>
            </a:r>
          </a:p>
          <a:p>
            <a:r>
              <a:rPr lang="tr-TR" altLang="en-US" sz="1800" dirty="0"/>
              <a:t>http://www.oodesign.com/template-method-pattern.html</a:t>
            </a:r>
          </a:p>
        </p:txBody>
      </p:sp>
    </p:spTree>
    <p:extLst>
      <p:ext uri="{BB962C8B-B14F-4D97-AF65-F5344CB8AC3E}">
        <p14:creationId xmlns:p14="http://schemas.microsoft.com/office/powerpoint/2010/main" val="30916482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420" name="Picture 2" descr="Class diagram for a sample trip(travel) classes implementing the Template Method pattern(Template Method design pattern)">
            <a:extLst>
              <a:ext uri="{FF2B5EF4-FFF2-40B4-BE49-F238E27FC236}">
                <a16:creationId xmlns:a16="http://schemas.microsoft.com/office/drawing/2014/main" id="{48BE117E-D669-E075-E17E-629A07D212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7450" y="242888"/>
            <a:ext cx="6121400" cy="6372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0227148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Title 1">
            <a:extLst>
              <a:ext uri="{FF2B5EF4-FFF2-40B4-BE49-F238E27FC236}">
                <a16:creationId xmlns:a16="http://schemas.microsoft.com/office/drawing/2014/main" id="{9097D870-6582-FE93-44C5-BEB78057FAC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altLang="tr-TR"/>
              <a:t>Related patterns</a:t>
            </a:r>
          </a:p>
        </p:txBody>
      </p:sp>
      <p:sp>
        <p:nvSpPr>
          <p:cNvPr id="11267" name="Content Placeholder 2">
            <a:extLst>
              <a:ext uri="{FF2B5EF4-FFF2-40B4-BE49-F238E27FC236}">
                <a16:creationId xmlns:a16="http://schemas.microsoft.com/office/drawing/2014/main" id="{83247366-E2EF-FACC-9BF8-76AC259D8F4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tr-TR" dirty="0"/>
              <a:t>Template Method vs Factory Method</a:t>
            </a:r>
          </a:p>
          <a:p>
            <a:pPr lvl="1"/>
            <a:r>
              <a:rPr lang="en-US" altLang="tr-TR" dirty="0"/>
              <a:t>Factory method is a special primitive operation</a:t>
            </a:r>
          </a:p>
          <a:p>
            <a:pPr eaLnBrk="1" hangingPunct="1"/>
            <a:r>
              <a:rPr lang="en-US" altLang="tr-TR" dirty="0"/>
              <a:t>Template Method vs Strategy (next)</a:t>
            </a:r>
          </a:p>
          <a:p>
            <a:pPr lvl="1" eaLnBrk="1" hangingPunct="1"/>
            <a:r>
              <a:rPr lang="en-US" altLang="tr-TR" dirty="0"/>
              <a:t>TM: Skeleton of algorithm where realization of some steps are deferred</a:t>
            </a:r>
          </a:p>
          <a:p>
            <a:pPr lvl="2"/>
            <a:r>
              <a:rPr lang="en-US" altLang="tr-TR" dirty="0"/>
              <a:t>One algorithm but implementing the step varies</a:t>
            </a:r>
          </a:p>
          <a:p>
            <a:pPr lvl="1" eaLnBrk="1" hangingPunct="1"/>
            <a:r>
              <a:rPr lang="en-US" altLang="tr-TR" dirty="0"/>
              <a:t>Strategy: interchangeable algorithms</a:t>
            </a:r>
          </a:p>
          <a:p>
            <a:pPr lvl="2"/>
            <a:r>
              <a:rPr lang="en-US" altLang="tr-TR" dirty="0"/>
              <a:t>Different algorithms for the same purpose</a:t>
            </a:r>
          </a:p>
          <a:p>
            <a:pPr lvl="1" eaLnBrk="1" hangingPunct="1">
              <a:buFontTx/>
              <a:buNone/>
            </a:pPr>
            <a:endParaRPr lang="en-US" altLang="tr-TR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>
            <a:extLst>
              <a:ext uri="{FF2B5EF4-FFF2-40B4-BE49-F238E27FC236}">
                <a16:creationId xmlns:a16="http://schemas.microsoft.com/office/drawing/2014/main" id="{5075C5B0-A547-34E1-960A-EA775D52AF7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not repeat code!</a:t>
            </a:r>
            <a:endParaRPr lang="en-US" altLang="en-US" dirty="0"/>
          </a:p>
        </p:txBody>
      </p:sp>
      <p:sp>
        <p:nvSpPr>
          <p:cNvPr id="114691" name="Rectangle 3">
            <a:extLst>
              <a:ext uri="{FF2B5EF4-FFF2-40B4-BE49-F238E27FC236}">
                <a16:creationId xmlns:a16="http://schemas.microsoft.com/office/drawing/2014/main" id="{A64EF382-0606-2EFC-BFBA-14066378A870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0085" y="1340664"/>
            <a:ext cx="4582852" cy="5118045"/>
          </a:xfrm>
        </p:spPr>
        <p:txBody>
          <a:bodyPr/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DefaultMazeBuilder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::</a:t>
            </a:r>
            <a:r>
              <a:rPr lang="en-US" altLang="en-US" sz="18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buildDoor</a:t>
            </a:r>
            <a:r>
              <a:rPr lang="en-US" altLang="en-US" sz="18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(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int r1, int r2) {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Door* door;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Room *room1 = 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getMaze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().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getRoom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(r1);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Room *room2 = 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getMaze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().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getRoom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(r2);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if( room1 == 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nullptr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) {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 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buildRoom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(r1);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 room1 = 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getMaze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().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getRoom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(r1);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}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if( room2 == 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nullptr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) {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buildRoom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(r2);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room2 = 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getMaze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().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getRoom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(r2);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}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door </a:t>
            </a:r>
            <a:r>
              <a:rPr lang="en-US" altLang="en-US" sz="18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=new Door(room1, room2);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room1-&gt;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setSide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commonWall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(r1,r2), door);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room2-&gt;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setSide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commonWall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(r1,r2), door); 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C2E5E19-DD92-CAC5-E522-49608FEDB9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04742" y="1340663"/>
            <a:ext cx="4680520" cy="51180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kern="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BombedMazeBuilder</a:t>
            </a:r>
            <a:r>
              <a:rPr lang="en-US" altLang="en-US" sz="18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::</a:t>
            </a:r>
            <a:r>
              <a:rPr lang="en-US" altLang="en-US" sz="1800" b="1" kern="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buildDoor</a:t>
            </a:r>
            <a:r>
              <a:rPr lang="en-US" altLang="en-US" sz="1800" b="1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</a:t>
            </a:r>
            <a:r>
              <a:rPr lang="en-US" altLang="en-US" sz="18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int r1, int r2) {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Door* door;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Room *room1 = </a:t>
            </a:r>
            <a:r>
              <a:rPr lang="en-US" altLang="en-US" sz="1800" kern="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getMaze</a:t>
            </a:r>
            <a:r>
              <a:rPr lang="en-US" altLang="en-US" sz="18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().</a:t>
            </a:r>
            <a:r>
              <a:rPr lang="en-US" altLang="en-US" sz="1800" kern="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getRoom</a:t>
            </a:r>
            <a:r>
              <a:rPr lang="en-US" altLang="en-US" sz="18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(r1);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Room *room2 = </a:t>
            </a:r>
            <a:r>
              <a:rPr lang="en-US" altLang="en-US" sz="1800" kern="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getMaze</a:t>
            </a:r>
            <a:r>
              <a:rPr lang="en-US" altLang="en-US" sz="18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().</a:t>
            </a:r>
            <a:r>
              <a:rPr lang="en-US" altLang="en-US" sz="1800" kern="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getRoom</a:t>
            </a:r>
            <a:r>
              <a:rPr lang="en-US" altLang="en-US" sz="18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(r2);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if( room1 == </a:t>
            </a:r>
            <a:r>
              <a:rPr lang="en-US" altLang="en-US" sz="1800" kern="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nullptr</a:t>
            </a:r>
            <a:r>
              <a:rPr lang="en-US" altLang="en-US" sz="18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) {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 </a:t>
            </a:r>
            <a:r>
              <a:rPr lang="en-US" altLang="en-US" sz="1800" kern="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buildRoom</a:t>
            </a:r>
            <a:r>
              <a:rPr lang="en-US" altLang="en-US" sz="18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(r1);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room1 = </a:t>
            </a:r>
            <a:r>
              <a:rPr lang="en-US" altLang="en-US" sz="1800" kern="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getMaze</a:t>
            </a:r>
            <a:r>
              <a:rPr lang="en-US" altLang="en-US" sz="18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().</a:t>
            </a:r>
            <a:r>
              <a:rPr lang="en-US" altLang="en-US" sz="1800" kern="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getRoom</a:t>
            </a:r>
            <a:r>
              <a:rPr lang="en-US" altLang="en-US" sz="18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(r1);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}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if( room2 == </a:t>
            </a:r>
            <a:r>
              <a:rPr lang="en-US" altLang="en-US" sz="1800" kern="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nullptr</a:t>
            </a:r>
            <a:r>
              <a:rPr lang="en-US" altLang="en-US" sz="18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) {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 </a:t>
            </a:r>
            <a:r>
              <a:rPr lang="en-US" altLang="en-US" sz="1800" kern="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buildRoom</a:t>
            </a:r>
            <a:r>
              <a:rPr lang="en-US" altLang="en-US" sz="18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(r2);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 room2 = </a:t>
            </a:r>
            <a:r>
              <a:rPr lang="en-US" altLang="en-US" sz="1800" kern="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getMaze</a:t>
            </a:r>
            <a:r>
              <a:rPr lang="en-US" altLang="en-US" sz="18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().</a:t>
            </a:r>
            <a:r>
              <a:rPr lang="en-US" altLang="en-US" sz="1800" kern="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getRoom</a:t>
            </a:r>
            <a:r>
              <a:rPr lang="en-US" altLang="en-US" sz="18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(r2);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}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door </a:t>
            </a:r>
            <a:r>
              <a:rPr lang="en-US" altLang="en-US" sz="1800" b="1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= new </a:t>
            </a:r>
            <a:r>
              <a:rPr lang="en-US" altLang="en-US" sz="1800" b="1" kern="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BombedDoor</a:t>
            </a:r>
            <a:r>
              <a:rPr lang="en-US" altLang="en-US" sz="1800" b="1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(room1, room2);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room1-&gt;</a:t>
            </a:r>
            <a:r>
              <a:rPr lang="en-US" altLang="en-US" sz="1800" kern="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setSide</a:t>
            </a:r>
            <a:r>
              <a:rPr lang="en-US" altLang="en-US" sz="18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</a:t>
            </a:r>
            <a:r>
              <a:rPr lang="en-US" altLang="en-US" sz="1800" kern="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commonWall</a:t>
            </a:r>
            <a:r>
              <a:rPr lang="en-US" altLang="en-US" sz="18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(r1,r2), door);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room2-&gt;</a:t>
            </a:r>
            <a:r>
              <a:rPr lang="en-US" altLang="en-US" sz="1800" kern="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setSide</a:t>
            </a:r>
            <a:r>
              <a:rPr lang="en-US" altLang="en-US" sz="18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</a:t>
            </a:r>
            <a:r>
              <a:rPr lang="en-US" altLang="en-US" sz="1800" kern="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commonWall</a:t>
            </a:r>
            <a:r>
              <a:rPr lang="en-US" altLang="en-US" sz="18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(r1,r2), door); 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033970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B0F755F-8E66-7D76-6D1E-69F0D3C42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>
            <a:extLst>
              <a:ext uri="{FF2B5EF4-FFF2-40B4-BE49-F238E27FC236}">
                <a16:creationId xmlns:a16="http://schemas.microsoft.com/office/drawing/2014/main" id="{F693E099-5D08-A30A-7890-60D3A460C02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not repeat code!</a:t>
            </a:r>
            <a:endParaRPr lang="en-US" altLang="en-US" dirty="0"/>
          </a:p>
        </p:txBody>
      </p:sp>
      <p:sp>
        <p:nvSpPr>
          <p:cNvPr id="114691" name="Rectangle 3">
            <a:extLst>
              <a:ext uri="{FF2B5EF4-FFF2-40B4-BE49-F238E27FC236}">
                <a16:creationId xmlns:a16="http://schemas.microsoft.com/office/drawing/2014/main" id="{EC81E213-4AED-0E13-252D-D005F8C8509F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0085" y="1340664"/>
            <a:ext cx="4582852" cy="5118045"/>
          </a:xfrm>
        </p:spPr>
        <p:txBody>
          <a:bodyPr/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DefaultMazeBuilder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::</a:t>
            </a:r>
            <a:r>
              <a:rPr lang="en-US" altLang="en-US" sz="18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buildDoor</a:t>
            </a:r>
            <a:r>
              <a:rPr lang="en-US" altLang="en-US" sz="18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(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int r1, int r2) {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Door* door;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Room *room1 = 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getMaze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().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getRoom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(r1);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Room *room2 = 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getMaze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().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getRoom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(r2);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if( room1 == 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nullptr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) {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 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buildRoom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(r1);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 room1 = 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getMaze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().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getRoom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(r1);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}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if( room2 == 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nullptr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) {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buildRoom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(r2);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room2 = 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getMaze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().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getRoom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(r2);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}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door </a:t>
            </a:r>
            <a:r>
              <a:rPr lang="en-US" altLang="en-US" sz="18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=new Door(room1, room2);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room1-&gt;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setSide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commonWall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(r1,r2), door);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room2-&gt;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setSide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commonWall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(r1,r2), door); 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EFFAF41-5E5E-0B1C-C2E4-F0C79A7BFD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04742" y="1340663"/>
            <a:ext cx="4680520" cy="51180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lnSpc>
                <a:spcPct val="90000"/>
              </a:lnSpc>
            </a:pPr>
            <a:r>
              <a:rPr lang="en-US" altLang="en-US" sz="1800" kern="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Let’s tidy a bit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Room* checkroom(Room* 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room,int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r){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    if( room == 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nullptr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)   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buildRoom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    return  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getMaze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().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getRoom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}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DefaultMazeBuilder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::</a:t>
            </a:r>
            <a:r>
              <a:rPr lang="en-US" altLang="en-US" sz="18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buildDoor</a:t>
            </a:r>
            <a:r>
              <a:rPr lang="en-US" altLang="en-US" sz="18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(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int r1, int r2) {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Door* door;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Room *room1 = 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getMaze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().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getRoom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(r1);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Room *room2 = 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getMaze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().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getRoom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(r2);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room1 =checkroom(room1);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room2 =checkroom(room2);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door </a:t>
            </a:r>
            <a:r>
              <a:rPr lang="en-US" altLang="en-US" sz="18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=new Door(room1, room2);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room1-&gt;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setSide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commonWall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(r1,r2), door);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room2-&gt;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setSide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commonWall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(r1,r2), door); 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  </a:t>
            </a:r>
          </a:p>
          <a:p>
            <a:pPr marL="0" indent="0">
              <a:lnSpc>
                <a:spcPct val="90000"/>
              </a:lnSpc>
              <a:buNone/>
            </a:pPr>
            <a:endParaRPr lang="en-US" altLang="en-US" sz="1800" kern="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>
              <a:lnSpc>
                <a:spcPct val="90000"/>
              </a:lnSpc>
            </a:pPr>
            <a:endParaRPr lang="en-US" altLang="en-US" sz="1800" kern="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9002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>
            <a:extLst>
              <a:ext uri="{FF2B5EF4-FFF2-40B4-BE49-F238E27FC236}">
                <a16:creationId xmlns:a16="http://schemas.microsoft.com/office/drawing/2014/main" id="{5075C5B0-A547-34E1-960A-EA775D52AF7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not repeat code!</a:t>
            </a:r>
            <a:endParaRPr lang="en-US" altLang="en-US" dirty="0"/>
          </a:p>
        </p:txBody>
      </p:sp>
      <p:sp>
        <p:nvSpPr>
          <p:cNvPr id="114691" name="Rectangle 3">
            <a:extLst>
              <a:ext uri="{FF2B5EF4-FFF2-40B4-BE49-F238E27FC236}">
                <a16:creationId xmlns:a16="http://schemas.microsoft.com/office/drawing/2014/main" id="{A64EF382-0606-2EFC-BFBA-14066378A870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0085" y="1340664"/>
            <a:ext cx="4582852" cy="5118045"/>
          </a:xfrm>
        </p:spPr>
        <p:txBody>
          <a:bodyPr/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MazeBuilder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::</a:t>
            </a:r>
            <a:r>
              <a:rPr lang="en-US" altLang="en-US" sz="18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buildDoor</a:t>
            </a:r>
            <a:r>
              <a:rPr lang="en-US" altLang="en-US" sz="18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(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int r1, int r2)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final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//template method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{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Door* door;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Room *room1 = 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getMaze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().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getRoom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(r1);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Room *room2 = 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getMaze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().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getRoom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(r2);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room1=checkroom(room1);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room2=checkroom(room2);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door </a:t>
            </a:r>
            <a:r>
              <a:rPr lang="en-US" altLang="en-US" sz="18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=</a:t>
            </a:r>
            <a:r>
              <a:rPr lang="en-US" altLang="en-US" sz="18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makeDoor</a:t>
            </a:r>
            <a:r>
              <a:rPr lang="en-US" altLang="en-US" sz="18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(room1, room2);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room1-&gt;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setSide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commonWall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(r1,r2), door);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room2-&gt;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setSide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commonWall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(r1,r2), door); 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en-US" sz="1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class 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MazeBuilder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{ /….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</a:t>
            </a:r>
            <a:r>
              <a:rPr lang="en-US" altLang="en-US" sz="18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virtual Door* </a:t>
            </a:r>
            <a:r>
              <a:rPr lang="en-US" altLang="en-US" sz="18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makeDoor</a:t>
            </a:r>
            <a:r>
              <a:rPr lang="en-US" altLang="en-US" sz="18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=0;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 //primitive operation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C2E5E19-DD92-CAC5-E522-49608FEDB9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16016" y="1362368"/>
            <a:ext cx="4680520" cy="51180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lnSpc>
                <a:spcPct val="110000"/>
              </a:lnSpc>
            </a:pPr>
            <a:r>
              <a:rPr lang="en-US" altLang="en-US" sz="2000" kern="0" dirty="0" err="1">
                <a:latin typeface="+mj-lt"/>
                <a:ea typeface="Source Sans Pro" panose="020B0503030403020204" pitchFamily="34" charset="0"/>
              </a:rPr>
              <a:t>BombedMazeBuilder</a:t>
            </a:r>
            <a:r>
              <a:rPr lang="en-US" altLang="en-US" sz="2000" kern="0" dirty="0">
                <a:latin typeface="+mj-lt"/>
                <a:ea typeface="Source Sans Pro" panose="020B0503030403020204" pitchFamily="34" charset="0"/>
              </a:rPr>
              <a:t> cannot override </a:t>
            </a:r>
            <a:r>
              <a:rPr lang="en-US" altLang="en-US" sz="2000" b="1" kern="0" dirty="0" err="1">
                <a:latin typeface="+mj-lt"/>
                <a:ea typeface="Source Sans Pro" panose="020B0503030403020204" pitchFamily="34" charset="0"/>
              </a:rPr>
              <a:t>buildDoor</a:t>
            </a:r>
            <a:r>
              <a:rPr lang="en-US" altLang="en-US" sz="2000" b="1" kern="0" dirty="0">
                <a:latin typeface="+mj-lt"/>
                <a:ea typeface="Source Sans Pro" panose="020B0503030403020204" pitchFamily="34" charset="0"/>
              </a:rPr>
              <a:t>.</a:t>
            </a:r>
          </a:p>
          <a:p>
            <a:pPr>
              <a:lnSpc>
                <a:spcPct val="110000"/>
              </a:lnSpc>
            </a:pPr>
            <a:r>
              <a:rPr lang="en-US" altLang="en-US" sz="2000" kern="0" dirty="0" err="1">
                <a:latin typeface="+mj-lt"/>
                <a:ea typeface="Source Sans Pro" panose="020B0503030403020204" pitchFamily="34" charset="0"/>
              </a:rPr>
              <a:t>BombedMazeBuilder</a:t>
            </a:r>
            <a:r>
              <a:rPr lang="en-US" altLang="en-US" sz="2000" kern="0" dirty="0">
                <a:latin typeface="+mj-lt"/>
                <a:ea typeface="Source Sans Pro" panose="020B0503030403020204" pitchFamily="34" charset="0"/>
              </a:rPr>
              <a:t> cannot mess up the algorithm.</a:t>
            </a:r>
          </a:p>
          <a:p>
            <a:pPr>
              <a:lnSpc>
                <a:spcPct val="110000"/>
              </a:lnSpc>
            </a:pPr>
            <a:r>
              <a:rPr lang="en-US" altLang="en-US" sz="2000" kern="0" dirty="0">
                <a:latin typeface="+mj-lt"/>
                <a:ea typeface="Source Sans Pro" panose="020B0503030403020204" pitchFamily="34" charset="0"/>
              </a:rPr>
              <a:t>How does </a:t>
            </a:r>
            <a:r>
              <a:rPr lang="en-US" altLang="en-US" sz="2000" kern="0" dirty="0" err="1">
                <a:latin typeface="+mj-lt"/>
                <a:ea typeface="Source Sans Pro" panose="020B0503030403020204" pitchFamily="34" charset="0"/>
              </a:rPr>
              <a:t>BombedMazeBuilder</a:t>
            </a:r>
            <a:r>
              <a:rPr lang="en-US" altLang="en-US" sz="2000" kern="0" dirty="0">
                <a:latin typeface="+mj-lt"/>
                <a:ea typeface="Source Sans Pro" panose="020B0503030403020204" pitchFamily="34" charset="0"/>
              </a:rPr>
              <a:t> extends building doors to build bombed doors?</a:t>
            </a:r>
          </a:p>
          <a:p>
            <a:pPr marL="0" indent="0">
              <a:lnSpc>
                <a:spcPct val="110000"/>
              </a:lnSpc>
              <a:buNone/>
            </a:pPr>
            <a:endParaRPr lang="en-US" altLang="en-US" sz="2000" kern="0" dirty="0">
              <a:latin typeface="+mj-lt"/>
              <a:ea typeface="Source Sans Pro" panose="020B0503030403020204" pitchFamily="34" charset="0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virtual Door* 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BombedMazeBuilder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::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makeDoor</a:t>
            </a:r>
            <a:endParaRPr lang="en-US" altLang="en-US" sz="1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                          (Room* r1, Room* r2){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return new Door(r1,r2);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en-US" sz="1800" dirty="0">
              <a:latin typeface="+mj-lt"/>
              <a:ea typeface="Source Sans Pro" panose="020B0503030403020204" pitchFamily="34" charset="0"/>
            </a:endParaRPr>
          </a:p>
          <a:p>
            <a:pPr>
              <a:lnSpc>
                <a:spcPct val="90000"/>
              </a:lnSpc>
            </a:pPr>
            <a:r>
              <a:rPr lang="en-US" altLang="en-US" sz="1800" dirty="0">
                <a:latin typeface="+mj-lt"/>
                <a:ea typeface="Source Sans Pro" panose="020B0503030403020204" pitchFamily="34" charset="0"/>
              </a:rPr>
              <a:t>Same goes for the </a:t>
            </a:r>
            <a:r>
              <a:rPr lang="en-US" altLang="en-US" sz="1800" dirty="0" err="1">
                <a:latin typeface="+mj-lt"/>
                <a:ea typeface="Source Sans Pro" panose="020B0503030403020204" pitchFamily="34" charset="0"/>
              </a:rPr>
              <a:t>DefaultMazeBuilder</a:t>
            </a:r>
            <a:endParaRPr lang="en-US" altLang="en-US" sz="1800" dirty="0">
              <a:latin typeface="+mj-lt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3776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937BB68-0D1F-FF73-3168-149B68CA8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>
            <a:extLst>
              <a:ext uri="{FF2B5EF4-FFF2-40B4-BE49-F238E27FC236}">
                <a16:creationId xmlns:a16="http://schemas.microsoft.com/office/drawing/2014/main" id="{7FC5FB32-AD8F-9A81-DA64-6012B76D9E1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not repeat code!</a:t>
            </a:r>
            <a:endParaRPr lang="en-US" altLang="en-US" dirty="0"/>
          </a:p>
        </p:txBody>
      </p:sp>
      <p:sp>
        <p:nvSpPr>
          <p:cNvPr id="114691" name="Rectangle 3">
            <a:extLst>
              <a:ext uri="{FF2B5EF4-FFF2-40B4-BE49-F238E27FC236}">
                <a16:creationId xmlns:a16="http://schemas.microsoft.com/office/drawing/2014/main" id="{5993502C-2FD2-9A1C-16DB-91139297EE9E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0085" y="1340664"/>
            <a:ext cx="4582852" cy="5118045"/>
          </a:xfrm>
        </p:spPr>
        <p:txBody>
          <a:bodyPr/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MazeBuilder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::</a:t>
            </a:r>
            <a:r>
              <a:rPr lang="en-US" altLang="en-US" sz="18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buildDoor</a:t>
            </a:r>
            <a:r>
              <a:rPr lang="en-US" altLang="en-US" sz="18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(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int r1, int r2)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final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//template method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{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Door* door;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Room *room1 = 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getMaze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().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getRoom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(r1);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Room *room2 = 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getMaze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().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getRoom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(r2);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room1=checkroom(room1);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room2=checkroom(room2);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door </a:t>
            </a:r>
            <a:r>
              <a:rPr lang="en-US" altLang="en-US" sz="18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=</a:t>
            </a:r>
            <a:r>
              <a:rPr lang="en-US" altLang="en-US" sz="18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makeDoor</a:t>
            </a:r>
            <a:r>
              <a:rPr lang="en-US" altLang="en-US" sz="18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(room1, room2);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room1-&gt;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setSide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commonWall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(r1,r2), door);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room2-&gt;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setSide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commonWall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(r1,r2), door); 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en-US" sz="1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class 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MazeBuilder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{ /….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</a:t>
            </a:r>
            <a:r>
              <a:rPr lang="en-US" altLang="en-US" sz="18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virtual Door* </a:t>
            </a:r>
            <a:r>
              <a:rPr lang="en-US" altLang="en-US" sz="18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makeDoor</a:t>
            </a:r>
            <a:r>
              <a:rPr lang="en-US" altLang="en-US" sz="18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=0;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 //primitive operation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E2A974D-5E9B-BC54-C233-8EE5E7E3FB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16016" y="1362368"/>
            <a:ext cx="4680520" cy="51180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lnSpc>
                <a:spcPct val="110000"/>
              </a:lnSpc>
            </a:pPr>
            <a:r>
              <a:rPr lang="en-US" altLang="en-US" sz="2000" kern="0" dirty="0" err="1">
                <a:latin typeface="+mj-lt"/>
                <a:ea typeface="Source Sans Pro" panose="020B0503030403020204" pitchFamily="34" charset="0"/>
              </a:rPr>
              <a:t>BombedMazeBuilder</a:t>
            </a:r>
            <a:r>
              <a:rPr lang="en-US" altLang="en-US" sz="2000" kern="0" dirty="0">
                <a:latin typeface="+mj-lt"/>
                <a:ea typeface="Source Sans Pro" panose="020B0503030403020204" pitchFamily="34" charset="0"/>
              </a:rPr>
              <a:t> cannot override </a:t>
            </a:r>
            <a:r>
              <a:rPr lang="en-US" altLang="en-US" sz="2000" b="1" kern="0" dirty="0" err="1">
                <a:latin typeface="+mj-lt"/>
                <a:ea typeface="Source Sans Pro" panose="020B0503030403020204" pitchFamily="34" charset="0"/>
              </a:rPr>
              <a:t>buildDoor</a:t>
            </a:r>
            <a:r>
              <a:rPr lang="en-US" altLang="en-US" sz="2000" b="1" kern="0" dirty="0">
                <a:latin typeface="+mj-lt"/>
                <a:ea typeface="Source Sans Pro" panose="020B0503030403020204" pitchFamily="34" charset="0"/>
              </a:rPr>
              <a:t>.</a:t>
            </a:r>
          </a:p>
          <a:p>
            <a:pPr>
              <a:lnSpc>
                <a:spcPct val="110000"/>
              </a:lnSpc>
            </a:pPr>
            <a:r>
              <a:rPr lang="en-US" altLang="en-US" sz="2000" kern="0" dirty="0" err="1">
                <a:latin typeface="+mj-lt"/>
                <a:ea typeface="Source Sans Pro" panose="020B0503030403020204" pitchFamily="34" charset="0"/>
              </a:rPr>
              <a:t>BombedMazeBuilder</a:t>
            </a:r>
            <a:r>
              <a:rPr lang="en-US" altLang="en-US" sz="2000" kern="0" dirty="0">
                <a:latin typeface="+mj-lt"/>
                <a:ea typeface="Source Sans Pro" panose="020B0503030403020204" pitchFamily="34" charset="0"/>
              </a:rPr>
              <a:t> cannot mess up the algorithm.</a:t>
            </a:r>
          </a:p>
          <a:p>
            <a:pPr>
              <a:lnSpc>
                <a:spcPct val="110000"/>
              </a:lnSpc>
            </a:pPr>
            <a:r>
              <a:rPr lang="en-US" altLang="en-US" sz="2000" kern="0" dirty="0">
                <a:latin typeface="+mj-lt"/>
                <a:ea typeface="Source Sans Pro" panose="020B0503030403020204" pitchFamily="34" charset="0"/>
              </a:rPr>
              <a:t>How does </a:t>
            </a:r>
            <a:r>
              <a:rPr lang="en-US" altLang="en-US" sz="2000" kern="0" dirty="0" err="1">
                <a:latin typeface="+mj-lt"/>
                <a:ea typeface="Source Sans Pro" panose="020B0503030403020204" pitchFamily="34" charset="0"/>
              </a:rPr>
              <a:t>BombedMazeBuilder</a:t>
            </a:r>
            <a:r>
              <a:rPr lang="en-US" altLang="en-US" sz="2000" kern="0" dirty="0">
                <a:latin typeface="+mj-lt"/>
                <a:ea typeface="Source Sans Pro" panose="020B0503030403020204" pitchFamily="34" charset="0"/>
              </a:rPr>
              <a:t> extends building doors to build bombed doors?</a:t>
            </a:r>
          </a:p>
          <a:p>
            <a:pPr marL="0" indent="0">
              <a:lnSpc>
                <a:spcPct val="110000"/>
              </a:lnSpc>
              <a:buNone/>
            </a:pPr>
            <a:endParaRPr lang="en-US" altLang="en-US" sz="2000" kern="0" dirty="0">
              <a:latin typeface="+mj-lt"/>
              <a:ea typeface="Source Sans Pro" panose="020B0503030403020204" pitchFamily="34" charset="0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virtual Door* 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BombedMazeBuilder</a:t>
            </a: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::</a:t>
            </a:r>
            <a:r>
              <a:rPr lang="en-US" altLang="en-US" sz="1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makeDoor</a:t>
            </a:r>
            <a:endParaRPr lang="en-US" altLang="en-US" sz="18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                          (Room* r1, Room* r2){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return new Door(r1,r2);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en-US" sz="1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en-US" sz="1800" dirty="0">
              <a:latin typeface="+mj-lt"/>
              <a:ea typeface="Source Sans Pro" panose="020B0503030403020204" pitchFamily="34" charset="0"/>
            </a:endParaRPr>
          </a:p>
          <a:p>
            <a:pPr>
              <a:lnSpc>
                <a:spcPct val="90000"/>
              </a:lnSpc>
            </a:pPr>
            <a:r>
              <a:rPr lang="en-US" altLang="en-US" sz="1800" dirty="0">
                <a:latin typeface="+mj-lt"/>
                <a:ea typeface="Source Sans Pro" panose="020B0503030403020204" pitchFamily="34" charset="0"/>
              </a:rPr>
              <a:t>Same goes for the </a:t>
            </a:r>
            <a:r>
              <a:rPr lang="en-US" altLang="en-US" sz="1800" dirty="0" err="1">
                <a:latin typeface="+mj-lt"/>
                <a:ea typeface="Source Sans Pro" panose="020B0503030403020204" pitchFamily="34" charset="0"/>
              </a:rPr>
              <a:t>DefaultMazeBuilder</a:t>
            </a:r>
            <a:endParaRPr lang="en-US" altLang="en-US" sz="1800" dirty="0">
              <a:latin typeface="+mj-lt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7821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D5831C-DE88-E3B5-8505-87920C62D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Best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2DF1F-D7FC-11F5-C82F-01920643DE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Keep the number of primitive operations minimal and focused.</a:t>
            </a:r>
          </a:p>
          <a:p>
            <a:r>
              <a:rPr lang="en-US" sz="2800" dirty="0"/>
              <a:t>Document the expected behavior and call order of hooks and primitives.</a:t>
            </a:r>
          </a:p>
          <a:p>
            <a:r>
              <a:rPr lang="en-US" sz="2800" dirty="0"/>
              <a:t>Prefer composition if subclassing becomes too complex.</a:t>
            </a:r>
          </a:p>
          <a:p>
            <a:r>
              <a:rPr lang="en-US" sz="2800" dirty="0"/>
              <a:t>Testing</a:t>
            </a:r>
          </a:p>
          <a:p>
            <a:pPr lvl="1"/>
            <a:r>
              <a:rPr lang="en-US" sz="2400" dirty="0"/>
              <a:t>Test the template method independently to verify the algorithm structure.</a:t>
            </a:r>
          </a:p>
          <a:p>
            <a:pPr lvl="1"/>
            <a:r>
              <a:rPr lang="en-US" sz="2400" dirty="0"/>
              <a:t>Use mock implementations of primitive operations to isolate behavior.</a:t>
            </a:r>
          </a:p>
        </p:txBody>
      </p:sp>
    </p:spTree>
    <p:extLst>
      <p:ext uri="{BB962C8B-B14F-4D97-AF65-F5344CB8AC3E}">
        <p14:creationId xmlns:p14="http://schemas.microsoft.com/office/powerpoint/2010/main" val="99280688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Title 1">
            <a:extLst>
              <a:ext uri="{FF2B5EF4-FFF2-40B4-BE49-F238E27FC236}">
                <a16:creationId xmlns:a16="http://schemas.microsoft.com/office/drawing/2014/main" id="{2C5F3AFD-E577-9725-45F8-81BBAE178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tr-TR" dirty="0"/>
              <a:t>Known uses</a:t>
            </a:r>
          </a:p>
        </p:txBody>
      </p:sp>
      <p:sp>
        <p:nvSpPr>
          <p:cNvPr id="62467" name="Content Placeholder 2">
            <a:extLst>
              <a:ext uri="{FF2B5EF4-FFF2-40B4-BE49-F238E27FC236}">
                <a16:creationId xmlns:a16="http://schemas.microsoft.com/office/drawing/2014/main" id="{69B90B86-F260-42F1-D55F-13452CEC2C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35291"/>
            <a:ext cx="8579296" cy="4532109"/>
          </a:xfrm>
        </p:spPr>
        <p:txBody>
          <a:bodyPr/>
          <a:lstStyle/>
          <a:p>
            <a:pPr eaLnBrk="1" hangingPunct="1"/>
            <a:r>
              <a:rPr lang="en-US" altLang="tr-TR" sz="2400" dirty="0"/>
              <a:t>Libraries and frameworks (e.g. Swing)</a:t>
            </a:r>
          </a:p>
          <a:p>
            <a:pPr eaLnBrk="1" hangingPunct="1"/>
            <a:r>
              <a:rPr lang="en-US" altLang="tr-TR" sz="2400" dirty="0"/>
              <a:t>All non-abstract methods of </a:t>
            </a:r>
            <a:r>
              <a:rPr lang="en-US" altLang="tr-TR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java.io.InputStream</a:t>
            </a:r>
            <a:r>
              <a:rPr lang="en-US" altLang="tr-T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, </a:t>
            </a:r>
            <a:r>
              <a:rPr lang="en-US" altLang="tr-TR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java.io.OutputStream</a:t>
            </a:r>
            <a:r>
              <a:rPr lang="en-US" altLang="tr-T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, </a:t>
            </a:r>
            <a:r>
              <a:rPr lang="en-US" altLang="tr-TR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java.io.Reader</a:t>
            </a:r>
            <a:r>
              <a:rPr lang="en-US" altLang="tr-T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r>
              <a:rPr lang="en-US" altLang="tr-TR" sz="2400" dirty="0">
                <a:latin typeface="+mj-lt"/>
                <a:ea typeface="Source Code Pro" panose="020B0509030403020204" pitchFamily="49" charset="0"/>
              </a:rPr>
              <a:t>and</a:t>
            </a:r>
            <a:r>
              <a:rPr lang="en-US" altLang="tr-T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r>
              <a:rPr lang="en-US" altLang="tr-TR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java.io.Writer</a:t>
            </a:r>
            <a:r>
              <a:rPr lang="en-US" altLang="tr-TR" sz="2400" dirty="0"/>
              <a:t>.</a:t>
            </a:r>
          </a:p>
          <a:p>
            <a:pPr eaLnBrk="1" hangingPunct="1"/>
            <a:r>
              <a:rPr lang="en-US" altLang="tr-TR" sz="2400" dirty="0"/>
              <a:t>All non-abstract methods of </a:t>
            </a:r>
            <a:r>
              <a:rPr lang="en-US" altLang="tr-TR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java.util.AbstractList</a:t>
            </a:r>
            <a:r>
              <a:rPr lang="en-US" altLang="tr-T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, </a:t>
            </a:r>
            <a:r>
              <a:rPr lang="en-US" altLang="tr-TR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java.util.AbstractSet</a:t>
            </a:r>
            <a:r>
              <a:rPr lang="en-US" altLang="tr-T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r>
              <a:rPr lang="en-US" altLang="tr-TR" sz="2400" dirty="0">
                <a:latin typeface="+mj-lt"/>
                <a:ea typeface="Source Code Pro" panose="020B0509030403020204" pitchFamily="49" charset="0"/>
              </a:rPr>
              <a:t>and</a:t>
            </a:r>
            <a:r>
              <a:rPr lang="en-US" altLang="tr-TR" sz="2400" dirty="0">
                <a:latin typeface="Source Code Pro" panose="020B0509030403020204" pitchFamily="49" charset="0"/>
                <a:ea typeface="Source Code Pro" panose="020B0509030403020204" pitchFamily="49" charset="0"/>
              </a:rPr>
              <a:t> </a:t>
            </a:r>
            <a:r>
              <a:rPr lang="en-US" altLang="tr-TR" sz="2400" dirty="0" err="1">
                <a:latin typeface="Source Code Pro" panose="020B0509030403020204" pitchFamily="49" charset="0"/>
                <a:ea typeface="Source Code Pro" panose="020B0509030403020204" pitchFamily="49" charset="0"/>
              </a:rPr>
              <a:t>java.util.AbstractMap</a:t>
            </a:r>
            <a:r>
              <a:rPr lang="en-US" altLang="tr-TR" sz="2400" dirty="0"/>
              <a:t>.</a:t>
            </a:r>
          </a:p>
          <a:p>
            <a:pPr eaLnBrk="1" hangingPunct="1"/>
            <a:endParaRPr lang="en-US" altLang="tr-TR" sz="2400" dirty="0"/>
          </a:p>
          <a:p>
            <a:pPr eaLnBrk="1" hangingPunct="1"/>
            <a:endParaRPr lang="en-US" altLang="tr-TR" sz="2400" dirty="0"/>
          </a:p>
          <a:p>
            <a:pPr eaLnBrk="1" hangingPunct="1"/>
            <a:r>
              <a:rPr lang="en-US" sz="2000" b="0" i="0" dirty="0">
                <a:solidFill>
                  <a:srgbClr val="444444"/>
                </a:solidFill>
                <a:effectLst/>
                <a:highlight>
                  <a:srgbClr val="FFFFFF"/>
                </a:highlight>
                <a:latin typeface="+mj-lt"/>
              </a:rPr>
              <a:t>Template Method can be recognized if you see a method in base class that calls a bunch of other methods that are either abstract or empty.</a:t>
            </a:r>
          </a:p>
          <a:p>
            <a:pPr marL="0" indent="0" eaLnBrk="1" hangingPunct="1">
              <a:buNone/>
            </a:pPr>
            <a:r>
              <a:rPr lang="en-US" altLang="tr-TR" sz="1400" dirty="0">
                <a:latin typeface="+mj-lt"/>
              </a:rPr>
              <a:t>https://refactoring.guru/design-patterns/template-method/java/example</a:t>
            </a:r>
          </a:p>
        </p:txBody>
      </p:sp>
    </p:spTree>
    <p:extLst>
      <p:ext uri="{BB962C8B-B14F-4D97-AF65-F5344CB8AC3E}">
        <p14:creationId xmlns:p14="http://schemas.microsoft.com/office/powerpoint/2010/main" val="1373382607"/>
      </p:ext>
    </p:extLst>
  </p:cSld>
  <p:clrMapOvr>
    <a:masterClrMapping/>
  </p:clrMapOvr>
  <p:transition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964C8DE-CDDD-261B-3738-AE1743B30E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512" y="1196752"/>
            <a:ext cx="6804501" cy="53997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61A9EA6-6FE4-77FF-E1E0-36E17D0A04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7216" y="6165304"/>
            <a:ext cx="5887272" cy="390580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49AFA24A-23F1-4013-66C9-A4E16D6EA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From </a:t>
            </a:r>
            <a:r>
              <a:rPr lang="en-US" sz="2800" dirty="0" err="1"/>
              <a:t>java.io.InputStream</a:t>
            </a:r>
            <a:r>
              <a:rPr lang="en-US" sz="2800" dirty="0"/>
              <a:t> source code:</a:t>
            </a:r>
          </a:p>
        </p:txBody>
      </p:sp>
    </p:spTree>
    <p:extLst>
      <p:ext uri="{BB962C8B-B14F-4D97-AF65-F5344CB8AC3E}">
        <p14:creationId xmlns:p14="http://schemas.microsoft.com/office/powerpoint/2010/main" val="35879125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BE71797-BEF3-7DB3-FD16-48C544096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algorithms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9A9F04-AF69-3797-6083-20156E5062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4670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>
            <a:extLst>
              <a:ext uri="{FF2B5EF4-FFF2-40B4-BE49-F238E27FC236}">
                <a16:creationId xmlns:a16="http://schemas.microsoft.com/office/drawing/2014/main" id="{80541403-BEC8-629A-601B-54C23F3C7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tr-TR" dirty="0"/>
              <a:t>Motivating Example</a:t>
            </a:r>
          </a:p>
        </p:txBody>
      </p:sp>
      <p:sp>
        <p:nvSpPr>
          <p:cNvPr id="4099" name="Content Placeholder 2">
            <a:extLst>
              <a:ext uri="{FF2B5EF4-FFF2-40B4-BE49-F238E27FC236}">
                <a16:creationId xmlns:a16="http://schemas.microsoft.com/office/drawing/2014/main" id="{DCD19CA5-1B0D-34FB-A8DE-BAF9C66C77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35291"/>
            <a:ext cx="8435280" cy="4532109"/>
          </a:xfrm>
        </p:spPr>
        <p:txBody>
          <a:bodyPr/>
          <a:lstStyle/>
          <a:p>
            <a:r>
              <a:rPr lang="en-US" altLang="tr-TR" sz="2800" dirty="0"/>
              <a:t>Users log in with password. We need to save these passwords in a DB in an encrypted form.</a:t>
            </a:r>
          </a:p>
          <a:p>
            <a:r>
              <a:rPr lang="en-US" altLang="tr-TR" sz="2800" dirty="0"/>
              <a:t>Currently we use 3 encryption algorithms. </a:t>
            </a:r>
          </a:p>
          <a:p>
            <a:pPr lvl="1"/>
            <a:r>
              <a:rPr lang="en-US" altLang="tr-TR" sz="2400" dirty="0"/>
              <a:t>Generate hash using one of them and then save in DB</a:t>
            </a:r>
          </a:p>
          <a:p>
            <a:r>
              <a:rPr lang="en-US" altLang="tr-TR" sz="2800" dirty="0"/>
              <a:t>Problem: How to write </a:t>
            </a:r>
            <a:r>
              <a:rPr lang="en-US" altLang="tr-TR" sz="2800" dirty="0" err="1"/>
              <a:t>setPassword</a:t>
            </a:r>
            <a:r>
              <a:rPr lang="en-US" altLang="tr-TR" sz="2800" dirty="0"/>
              <a:t> to support both encryption?</a:t>
            </a:r>
          </a:p>
          <a:p>
            <a:pPr lvl="1"/>
            <a:r>
              <a:rPr lang="en-US" altLang="tr-TR" sz="2400" dirty="0"/>
              <a:t>Later I may embed new encryptions </a:t>
            </a:r>
          </a:p>
          <a:p>
            <a:pPr marL="457200" lvl="1" indent="0">
              <a:buNone/>
            </a:pPr>
            <a:r>
              <a:rPr lang="en-US" altLang="tr-TR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class User{</a:t>
            </a:r>
          </a:p>
          <a:p>
            <a:pPr marL="457200" lvl="1" indent="0">
              <a:buNone/>
            </a:pPr>
            <a:r>
              <a:rPr lang="en-US" altLang="tr-TR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public:  virtual bool </a:t>
            </a:r>
            <a:r>
              <a:rPr lang="en-US" altLang="tr-TR" sz="2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setPassword</a:t>
            </a:r>
            <a:r>
              <a:rPr lang="en-US" altLang="tr-TR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(const String&amp; passwd);</a:t>
            </a:r>
          </a:p>
          <a:p>
            <a:pPr marL="457200" lvl="1" indent="0">
              <a:buNone/>
            </a:pPr>
            <a:r>
              <a:rPr lang="en-US" altLang="tr-TR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             virtual bool </a:t>
            </a:r>
            <a:r>
              <a:rPr lang="en-US" altLang="tr-TR" sz="2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checkPassword</a:t>
            </a:r>
            <a:r>
              <a:rPr lang="en-US" altLang="tr-TR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(const String&amp; passwd);</a:t>
            </a:r>
          </a:p>
          <a:p>
            <a:pPr marL="457200" lvl="1" indent="0">
              <a:buNone/>
            </a:pPr>
            <a:r>
              <a:rPr lang="en-US" altLang="tr-TR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….}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>
            <a:extLst>
              <a:ext uri="{FF2B5EF4-FFF2-40B4-BE49-F238E27FC236}">
                <a16:creationId xmlns:a16="http://schemas.microsoft.com/office/drawing/2014/main" id="{F3FB8896-F059-2467-AB8D-9C1A9A997A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tr-TR" sz="4000" dirty="0"/>
              <a:t>How to implement </a:t>
            </a:r>
            <a:r>
              <a:rPr lang="en-US" altLang="tr-TR" sz="4000" dirty="0" err="1"/>
              <a:t>setPassword</a:t>
            </a:r>
            <a:r>
              <a:rPr lang="en-US" altLang="tr-TR" sz="4000" dirty="0"/>
              <a:t>?</a:t>
            </a:r>
            <a:endParaRPr lang="en-GB" altLang="tr-TR" sz="4000" dirty="0"/>
          </a:p>
        </p:txBody>
      </p:sp>
      <p:sp>
        <p:nvSpPr>
          <p:cNvPr id="73731" name="Content Placeholder 2">
            <a:extLst>
              <a:ext uri="{FF2B5EF4-FFF2-40B4-BE49-F238E27FC236}">
                <a16:creationId xmlns:a16="http://schemas.microsoft.com/office/drawing/2014/main" id="{2B7F13DD-6C58-0225-5E56-B10B0C982A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tr-TR" dirty="0"/>
              <a:t>Soln1: conditionals in </a:t>
            </a:r>
            <a:r>
              <a:rPr lang="en-US" altLang="tr-TR" dirty="0" err="1"/>
              <a:t>setPassword</a:t>
            </a:r>
            <a:r>
              <a:rPr lang="en-US" altLang="tr-TR" dirty="0"/>
              <a:t> and </a:t>
            </a:r>
            <a:r>
              <a:rPr lang="en-US" altLang="tr-TR" dirty="0" err="1"/>
              <a:t>getPassword</a:t>
            </a:r>
            <a:r>
              <a:rPr lang="en-US" altLang="tr-TR" dirty="0"/>
              <a:t> method</a:t>
            </a:r>
          </a:p>
          <a:p>
            <a:pPr lvl="1" eaLnBrk="1" hangingPunct="1"/>
            <a:r>
              <a:rPr lang="en-US" altLang="tr-TR" dirty="0"/>
              <a:t>Switch and long ifs are not extensible</a:t>
            </a:r>
          </a:p>
          <a:p>
            <a:pPr eaLnBrk="1" hangingPunct="1"/>
            <a:r>
              <a:rPr lang="en-US" altLang="tr-TR" dirty="0"/>
              <a:t>Soln2: inheritance</a:t>
            </a:r>
          </a:p>
          <a:p>
            <a:pPr lvl="1" eaLnBrk="1" hangingPunct="1"/>
            <a:r>
              <a:rPr lang="en-US" altLang="tr-TR" dirty="0"/>
              <a:t>Abstract User and Subclasses override </a:t>
            </a:r>
            <a:r>
              <a:rPr lang="en-US" altLang="tr-TR" dirty="0" err="1"/>
              <a:t>setPassword</a:t>
            </a:r>
            <a:r>
              <a:rPr lang="en-US" altLang="tr-TR" dirty="0"/>
              <a:t> and </a:t>
            </a:r>
            <a:r>
              <a:rPr lang="en-US" altLang="tr-TR" dirty="0" err="1"/>
              <a:t>getPassword</a:t>
            </a:r>
            <a:endParaRPr lang="en-US" altLang="tr-TR" dirty="0"/>
          </a:p>
          <a:p>
            <a:pPr lvl="2" eaLnBrk="1" hangingPunct="1"/>
            <a:r>
              <a:rPr lang="en-US" altLang="tr-TR" dirty="0"/>
              <a:t>Too many subclasses! One for each encryption</a:t>
            </a:r>
          </a:p>
          <a:p>
            <a:pPr lvl="2" eaLnBrk="1" hangingPunct="1"/>
            <a:r>
              <a:rPr lang="en-US" altLang="tr-TR" dirty="0"/>
              <a:t>Should I use inheritance just to override 1 method?</a:t>
            </a:r>
          </a:p>
          <a:p>
            <a:pPr eaLnBrk="1" hangingPunct="1"/>
            <a:r>
              <a:rPr lang="en-US" altLang="tr-TR" dirty="0"/>
              <a:t>Soln3: encapsulate what varies</a:t>
            </a:r>
          </a:p>
          <a:p>
            <a:pPr lvl="1" eaLnBrk="1" hangingPunct="1"/>
            <a:r>
              <a:rPr lang="en-US" altLang="tr-TR" dirty="0"/>
              <a:t>What is varying?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5ACC651-9A20-47E0-C236-320996CB573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tr-TR" sz="4000" dirty="0"/>
              <a:t>How to implement </a:t>
            </a:r>
            <a:r>
              <a:rPr lang="en-GB" altLang="tr-TR" sz="4000" dirty="0" err="1"/>
              <a:t>setPassword</a:t>
            </a:r>
            <a:r>
              <a:rPr lang="en-GB" altLang="tr-TR" sz="4000" dirty="0"/>
              <a:t>?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AFEB6DE-2271-BD93-B49F-0D440BCEE3D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tr-TR" dirty="0"/>
              <a:t>What is varying? A function realization</a:t>
            </a:r>
          </a:p>
          <a:p>
            <a:pPr lvl="1" eaLnBrk="1" hangingPunct="1"/>
            <a:r>
              <a:rPr lang="en-US" altLang="tr-TR" dirty="0"/>
              <a:t>Put it in a class  -- a class for </a:t>
            </a:r>
            <a:r>
              <a:rPr lang="en-US" altLang="tr-TR" dirty="0" err="1"/>
              <a:t>generateHash</a:t>
            </a:r>
            <a:r>
              <a:rPr lang="en-US" altLang="tr-TR" dirty="0"/>
              <a:t>()</a:t>
            </a:r>
          </a:p>
          <a:p>
            <a:pPr lvl="1" eaLnBrk="1" hangingPunct="1"/>
            <a:r>
              <a:rPr lang="en-US" altLang="tr-TR" dirty="0"/>
              <a:t>Choose the suitable function at runtime</a:t>
            </a:r>
          </a:p>
          <a:p>
            <a:endParaRPr lang="en-US" altLang="tr-TR" dirty="0"/>
          </a:p>
          <a:p>
            <a:endParaRPr lang="en-US" altLang="tr-TR" dirty="0"/>
          </a:p>
          <a:p>
            <a:r>
              <a:rPr lang="en-US" altLang="tr-TR" dirty="0"/>
              <a:t>Choose a suitable one from the</a:t>
            </a:r>
          </a:p>
          <a:p>
            <a:pPr>
              <a:buFontTx/>
              <a:buNone/>
            </a:pPr>
            <a:r>
              <a:rPr lang="en-US" altLang="tr-TR" dirty="0"/>
              <a:t>     </a:t>
            </a:r>
            <a:r>
              <a:rPr lang="en-US" altLang="tr-TR" b="1" dirty="0"/>
              <a:t> algorithm family </a:t>
            </a:r>
            <a:r>
              <a:rPr lang="en-US" altLang="tr-TR" dirty="0"/>
              <a:t>at runtime</a:t>
            </a:r>
          </a:p>
          <a:p>
            <a:pPr lvl="1"/>
            <a:r>
              <a:rPr lang="en-US" altLang="tr-TR" dirty="0"/>
              <a:t>Delegation instead of inheritance</a:t>
            </a:r>
          </a:p>
          <a:p>
            <a:pPr lvl="1">
              <a:buFontTx/>
              <a:buNone/>
            </a:pPr>
            <a:endParaRPr lang="en-GB" altLang="tr-T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1FD25E8-0FE8-E9FD-B8DA-F8E71713AA23}"/>
              </a:ext>
            </a:extLst>
          </p:cNvPr>
          <p:cNvSpPr/>
          <p:nvPr/>
        </p:nvSpPr>
        <p:spPr bwMode="auto">
          <a:xfrm>
            <a:off x="1270915" y="3889473"/>
            <a:ext cx="1080120" cy="375667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Bcrypt</a:t>
            </a: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EAF9AF7-8DE3-73D8-FD97-6EA4CE80F366}"/>
              </a:ext>
            </a:extLst>
          </p:cNvPr>
          <p:cNvSpPr/>
          <p:nvPr/>
        </p:nvSpPr>
        <p:spPr bwMode="auto">
          <a:xfrm>
            <a:off x="3491880" y="3113012"/>
            <a:ext cx="1368152" cy="432048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Encryption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94BE9F-0692-CA08-C209-FB25C551F8DA}"/>
              </a:ext>
            </a:extLst>
          </p:cNvPr>
          <p:cNvSpPr/>
          <p:nvPr/>
        </p:nvSpPr>
        <p:spPr bwMode="auto">
          <a:xfrm>
            <a:off x="3632154" y="3889473"/>
            <a:ext cx="1080120" cy="375667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dirty="0" err="1">
                <a:latin typeface="Arial" charset="0"/>
              </a:rPr>
              <a:t>S</a:t>
            </a:r>
            <a:r>
              <a:rPr kumimoji="0" 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crypt</a:t>
            </a: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85AFAA-BA51-6799-B4FC-0A15902E1217}"/>
              </a:ext>
            </a:extLst>
          </p:cNvPr>
          <p:cNvSpPr/>
          <p:nvPr/>
        </p:nvSpPr>
        <p:spPr bwMode="auto">
          <a:xfrm>
            <a:off x="6040685" y="3889473"/>
            <a:ext cx="1080120" cy="375667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Argon2</a:t>
            </a:r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9F1BD5FF-65AC-F915-DAC4-8DF9AA4678F8}"/>
              </a:ext>
            </a:extLst>
          </p:cNvPr>
          <p:cNvSpPr/>
          <p:nvPr/>
        </p:nvSpPr>
        <p:spPr bwMode="auto">
          <a:xfrm>
            <a:off x="4067944" y="3545060"/>
            <a:ext cx="216024" cy="144017"/>
          </a:xfrm>
          <a:prstGeom prst="triangl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B31B48B-83F7-AE5B-A4C3-3CDC31102E76}"/>
              </a:ext>
            </a:extLst>
          </p:cNvPr>
          <p:cNvCxnSpPr/>
          <p:nvPr/>
        </p:nvCxnSpPr>
        <p:spPr bwMode="auto">
          <a:xfrm flipH="1">
            <a:off x="1763688" y="3689077"/>
            <a:ext cx="2376264" cy="20039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2EF73D0-7A08-2F2A-D4C2-5B63320C0A50}"/>
              </a:ext>
            </a:extLst>
          </p:cNvPr>
          <p:cNvCxnSpPr>
            <a:cxnSpLocks/>
            <a:endCxn id="4" idx="0"/>
          </p:cNvCxnSpPr>
          <p:nvPr/>
        </p:nvCxnSpPr>
        <p:spPr bwMode="auto">
          <a:xfrm>
            <a:off x="4172214" y="3725079"/>
            <a:ext cx="0" cy="16439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CEB4C6D-49F2-7B07-031B-76D37CFA2113}"/>
              </a:ext>
            </a:extLst>
          </p:cNvPr>
          <p:cNvCxnSpPr>
            <a:cxnSpLocks/>
            <a:stCxn id="6" idx="3"/>
          </p:cNvCxnSpPr>
          <p:nvPr/>
        </p:nvCxnSpPr>
        <p:spPr bwMode="auto">
          <a:xfrm>
            <a:off x="4175956" y="3689077"/>
            <a:ext cx="2404789" cy="20039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DCAE5FB2-22A8-EC09-8F18-38BA4BBF4F5B}"/>
              </a:ext>
            </a:extLst>
          </p:cNvPr>
          <p:cNvSpPr/>
          <p:nvPr/>
        </p:nvSpPr>
        <p:spPr bwMode="auto">
          <a:xfrm>
            <a:off x="471711" y="3107985"/>
            <a:ext cx="799204" cy="375667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User</a:t>
            </a:r>
          </a:p>
        </p:txBody>
      </p:sp>
      <p:sp>
        <p:nvSpPr>
          <p:cNvPr id="18" name="Diamond 17">
            <a:extLst>
              <a:ext uri="{FF2B5EF4-FFF2-40B4-BE49-F238E27FC236}">
                <a16:creationId xmlns:a16="http://schemas.microsoft.com/office/drawing/2014/main" id="{FC11F6A7-2B0D-FF49-893B-58EF8129A0FC}"/>
              </a:ext>
            </a:extLst>
          </p:cNvPr>
          <p:cNvSpPr/>
          <p:nvPr/>
        </p:nvSpPr>
        <p:spPr bwMode="auto">
          <a:xfrm>
            <a:off x="1270915" y="3212976"/>
            <a:ext cx="420765" cy="216024"/>
          </a:xfrm>
          <a:prstGeom prst="diamond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BCFB3F8-DBEB-AE56-D284-9D12B7A5974E}"/>
              </a:ext>
            </a:extLst>
          </p:cNvPr>
          <p:cNvCxnSpPr>
            <a:cxnSpLocks/>
            <a:endCxn id="18" idx="3"/>
          </p:cNvCxnSpPr>
          <p:nvPr/>
        </p:nvCxnSpPr>
        <p:spPr bwMode="auto">
          <a:xfrm flipH="1">
            <a:off x="1691680" y="3320988"/>
            <a:ext cx="18002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itle 1">
            <a:extLst>
              <a:ext uri="{FF2B5EF4-FFF2-40B4-BE49-F238E27FC236}">
                <a16:creationId xmlns:a16="http://schemas.microsoft.com/office/drawing/2014/main" id="{8EC12EA3-B86C-1602-13BB-E085F1432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tr-TR"/>
              <a:t>Strategy</a:t>
            </a:r>
          </a:p>
        </p:txBody>
      </p:sp>
      <p:sp>
        <p:nvSpPr>
          <p:cNvPr id="7171" name="Content Placeholder 2">
            <a:extLst>
              <a:ext uri="{FF2B5EF4-FFF2-40B4-BE49-F238E27FC236}">
                <a16:creationId xmlns:a16="http://schemas.microsoft.com/office/drawing/2014/main" id="{6660E0A1-2817-A14C-2B07-2301470C17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tr-TR" b="1" dirty="0"/>
              <a:t>Intent</a:t>
            </a:r>
            <a:r>
              <a:rPr lang="en-US" altLang="tr-TR" dirty="0"/>
              <a:t>:</a:t>
            </a:r>
          </a:p>
          <a:p>
            <a:pPr lvl="1" eaLnBrk="1" hangingPunct="1"/>
            <a:r>
              <a:rPr lang="en-US" altLang="tr-TR" dirty="0"/>
              <a:t>Define a family of algorithms, </a:t>
            </a:r>
            <a:r>
              <a:rPr lang="en-US" altLang="tr-TR" b="1" dirty="0"/>
              <a:t>encapsulate</a:t>
            </a:r>
            <a:r>
              <a:rPr lang="en-US" altLang="tr-TR" dirty="0"/>
              <a:t> each one, and make them interchangeable. </a:t>
            </a:r>
          </a:p>
          <a:p>
            <a:pPr lvl="1" eaLnBrk="1" hangingPunct="1"/>
            <a:r>
              <a:rPr lang="en-US" altLang="tr-TR" dirty="0"/>
              <a:t>Strategy lets the algorithm vary independently from clients that use it.</a:t>
            </a:r>
          </a:p>
          <a:p>
            <a:pPr lvl="1" eaLnBrk="1" hangingPunct="1"/>
            <a:endParaRPr lang="en-US" altLang="tr-TR" dirty="0"/>
          </a:p>
          <a:p>
            <a:r>
              <a:rPr lang="en-US" altLang="tr-TR" dirty="0"/>
              <a:t>A.k.a. Policy </a:t>
            </a:r>
          </a:p>
          <a:p>
            <a:pPr eaLnBrk="1" hangingPunct="1"/>
            <a:endParaRPr lang="en-US" altLang="tr-TR" sz="3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itle 1">
            <a:extLst>
              <a:ext uri="{FF2B5EF4-FFF2-40B4-BE49-F238E27FC236}">
                <a16:creationId xmlns:a16="http://schemas.microsoft.com/office/drawing/2014/main" id="{8EC12EA3-B86C-1602-13BB-E085F1432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tr-TR" dirty="0"/>
              <a:t>Strategy -Structure</a:t>
            </a:r>
          </a:p>
        </p:txBody>
      </p:sp>
      <p:sp>
        <p:nvSpPr>
          <p:cNvPr id="7171" name="Content Placeholder 2">
            <a:extLst>
              <a:ext uri="{FF2B5EF4-FFF2-40B4-BE49-F238E27FC236}">
                <a16:creationId xmlns:a16="http://schemas.microsoft.com/office/drawing/2014/main" id="{6660E0A1-2817-A14C-2B07-2301470C17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tr-TR" sz="2800" b="1" dirty="0"/>
              <a:t>Participants?</a:t>
            </a:r>
            <a:r>
              <a:rPr lang="en-US" altLang="tr-TR" sz="2400" dirty="0"/>
              <a:t> </a:t>
            </a:r>
          </a:p>
          <a:p>
            <a:pPr eaLnBrk="1" hangingPunct="1"/>
            <a:endParaRPr lang="en-US" altLang="tr-TR" dirty="0"/>
          </a:p>
        </p:txBody>
      </p:sp>
      <p:pic>
        <p:nvPicPr>
          <p:cNvPr id="7172" name="Picture 2">
            <a:extLst>
              <a:ext uri="{FF2B5EF4-FFF2-40B4-BE49-F238E27FC236}">
                <a16:creationId xmlns:a16="http://schemas.microsoft.com/office/drawing/2014/main" id="{0CD80DE9-27AF-73C7-B119-C595EDF53D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2420888"/>
            <a:ext cx="8134350" cy="300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6766619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>
            <a:extLst>
              <a:ext uri="{FF2B5EF4-FFF2-40B4-BE49-F238E27FC236}">
                <a16:creationId xmlns:a16="http://schemas.microsoft.com/office/drawing/2014/main" id="{805B9024-E2D2-BBF0-BE62-F0674298C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tr-TR" dirty="0" err="1"/>
              <a:t>setPassword</a:t>
            </a:r>
            <a:r>
              <a:rPr lang="en-US" altLang="tr-TR" dirty="0"/>
              <a:t>  with Strategy</a:t>
            </a:r>
          </a:p>
        </p:txBody>
      </p:sp>
      <p:sp>
        <p:nvSpPr>
          <p:cNvPr id="9219" name="Content Placeholder 2">
            <a:extLst>
              <a:ext uri="{FF2B5EF4-FFF2-40B4-BE49-F238E27FC236}">
                <a16:creationId xmlns:a16="http://schemas.microsoft.com/office/drawing/2014/main" id="{77234684-C932-6F9D-D342-D6A3185630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340768"/>
            <a:ext cx="6635080" cy="4532109"/>
          </a:xfrm>
        </p:spPr>
        <p:txBody>
          <a:bodyPr/>
          <a:lstStyle/>
          <a:p>
            <a:pPr marL="57150" indent="0">
              <a:buNone/>
            </a:pP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class User{</a:t>
            </a:r>
          </a:p>
          <a:p>
            <a:pPr marL="57150" indent="0">
              <a:buNone/>
            </a:pP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public: </a:t>
            </a:r>
          </a:p>
          <a:p>
            <a:pPr marL="57150" indent="0">
              <a:buNone/>
            </a:pP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virtual void </a:t>
            </a:r>
            <a:r>
              <a:rPr lang="en-US" altLang="tr-TR" sz="2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setPassword</a:t>
            </a: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(const String&amp; passwd);</a:t>
            </a:r>
          </a:p>
          <a:p>
            <a:pPr marL="57150" indent="0">
              <a:buNone/>
            </a:pP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virtual bool </a:t>
            </a:r>
            <a:r>
              <a:rPr lang="en-US" altLang="tr-TR" sz="2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checkPassword</a:t>
            </a: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(const String&amp; passwd);</a:t>
            </a:r>
          </a:p>
          <a:p>
            <a:pPr marL="57150" indent="0">
              <a:buNone/>
            </a:pP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User(Encryption* e); ~User()=default; </a:t>
            </a:r>
          </a:p>
          <a:p>
            <a:pPr marL="57150" indent="0">
              <a:buNone/>
            </a:pP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private:      </a:t>
            </a:r>
            <a:r>
              <a:rPr lang="en-US" altLang="tr-TR" sz="2200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Encryption* strategy</a:t>
            </a: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;</a:t>
            </a:r>
          </a:p>
          <a:p>
            <a:pPr marL="57150" indent="0">
              <a:buNone/>
            </a:pP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….}</a:t>
            </a:r>
          </a:p>
          <a:p>
            <a:pPr marL="57150" indent="0">
              <a:buNone/>
            </a:pP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User::</a:t>
            </a:r>
            <a:r>
              <a:rPr lang="en-US" altLang="tr-TR" sz="2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setPassword</a:t>
            </a: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(const String&amp; pass){</a:t>
            </a:r>
          </a:p>
          <a:p>
            <a:pPr marL="57150" indent="0">
              <a:buNone/>
            </a:pP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    </a:t>
            </a:r>
            <a:r>
              <a:rPr lang="en-US" altLang="tr-TR" sz="2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checkStrength</a:t>
            </a: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(pass);</a:t>
            </a:r>
          </a:p>
          <a:p>
            <a:pPr marL="57150" indent="0">
              <a:buNone/>
            </a:pP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    save(</a:t>
            </a:r>
            <a:r>
              <a:rPr lang="en-US" altLang="tr-TR" sz="2200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strategy -&gt;</a:t>
            </a:r>
            <a:r>
              <a:rPr lang="en-US" altLang="tr-TR" sz="2200" dirty="0" err="1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generateHash</a:t>
            </a: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(pass));</a:t>
            </a:r>
          </a:p>
          <a:p>
            <a:pPr marL="57150" indent="0">
              <a:buNone/>
            </a:pP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  <a:p>
            <a:pPr marL="57150" indent="0">
              <a:buNone/>
            </a:pP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User::</a:t>
            </a:r>
            <a:r>
              <a:rPr lang="en-US" altLang="tr-TR" sz="2200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User(Encryption* e</a:t>
            </a: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):strategy(e){…}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387B6C-B83E-7B8A-39A9-DBDC10E6B816}"/>
              </a:ext>
            </a:extLst>
          </p:cNvPr>
          <p:cNvSpPr txBox="1"/>
          <p:nvPr/>
        </p:nvSpPr>
        <p:spPr>
          <a:xfrm>
            <a:off x="6721197" y="1481408"/>
            <a:ext cx="19656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Participants?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A1699-AFDE-745F-7078-800898F71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Strategy - Collaborations</a:t>
            </a:r>
          </a:p>
        </p:txBody>
      </p:sp>
      <p:sp>
        <p:nvSpPr>
          <p:cNvPr id="8195" name="Content Placeholder 2">
            <a:extLst>
              <a:ext uri="{FF2B5EF4-FFF2-40B4-BE49-F238E27FC236}">
                <a16:creationId xmlns:a16="http://schemas.microsoft.com/office/drawing/2014/main" id="{078C83BB-8041-B22C-5721-C020A215A7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sz="2400" dirty="0"/>
              <a:t>The context object receives requests from the client and delegates them to the strategy object. </a:t>
            </a:r>
          </a:p>
          <a:p>
            <a:pPr lvl="1"/>
            <a:r>
              <a:rPr lang="en-US" altLang="en-US" sz="2000" dirty="0"/>
              <a:t>Usually, the </a:t>
            </a:r>
            <a:r>
              <a:rPr lang="en-US" altLang="en-US" sz="2000" dirty="0" err="1"/>
              <a:t>ConcreteStrategy</a:t>
            </a:r>
            <a:r>
              <a:rPr lang="en-US" altLang="en-US" sz="2000" dirty="0"/>
              <a:t> is created by the client and passed to the context. From this point the clients interacts only with the context.</a:t>
            </a:r>
            <a:endParaRPr lang="en-US" altLang="en-US" sz="2400" dirty="0"/>
          </a:p>
          <a:p>
            <a:r>
              <a:rPr lang="en-US" altLang="en-US" sz="2400" dirty="0"/>
              <a:t>The Context objects contains a reference to the </a:t>
            </a:r>
            <a:r>
              <a:rPr lang="en-US" altLang="en-US" sz="2400" dirty="0" err="1"/>
              <a:t>ConcreteStrategy</a:t>
            </a:r>
            <a:r>
              <a:rPr lang="en-US" altLang="en-US" sz="2400" dirty="0"/>
              <a:t> that should be used. </a:t>
            </a:r>
          </a:p>
          <a:p>
            <a:r>
              <a:rPr lang="en-US" altLang="en-US" sz="2400" dirty="0"/>
              <a:t>When an operation is required then the algorithm is run from the strategy object. </a:t>
            </a:r>
          </a:p>
          <a:p>
            <a:r>
              <a:rPr lang="en-US" altLang="en-US" sz="2400" dirty="0"/>
              <a:t>The Context is not aware of the strategy implementation. </a:t>
            </a:r>
          </a:p>
          <a:p>
            <a:r>
              <a:rPr lang="en-US" altLang="en-US" sz="2400" dirty="0"/>
              <a:t>If necessary, additional objects can be defined to pass data from context object to strategy. </a:t>
            </a:r>
            <a:endParaRPr lang="tr-TR" altLang="en-US" sz="2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Title 1">
            <a:extLst>
              <a:ext uri="{FF2B5EF4-FFF2-40B4-BE49-F238E27FC236}">
                <a16:creationId xmlns:a16="http://schemas.microsoft.com/office/drawing/2014/main" id="{DD792366-BFB8-C0E3-1EEB-489C2ECF419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39152"/>
            <a:ext cx="8686800" cy="1371600"/>
          </a:xfrm>
        </p:spPr>
        <p:txBody>
          <a:bodyPr/>
          <a:lstStyle/>
          <a:p>
            <a:pPr eaLnBrk="1" hangingPunct="1"/>
            <a:r>
              <a:rPr lang="en-US" altLang="tr-TR" dirty="0"/>
              <a:t>Recall the Car example 2</a:t>
            </a:r>
            <a:r>
              <a:rPr lang="en-US" altLang="tr-TR" baseline="30000" dirty="0"/>
              <a:t>nd</a:t>
            </a:r>
            <a:r>
              <a:rPr lang="en-US" altLang="tr-TR" dirty="0"/>
              <a:t> week</a:t>
            </a:r>
          </a:p>
        </p:txBody>
      </p:sp>
      <p:sp>
        <p:nvSpPr>
          <p:cNvPr id="60419" name="Content Placeholder 2">
            <a:extLst>
              <a:ext uri="{FF2B5EF4-FFF2-40B4-BE49-F238E27FC236}">
                <a16:creationId xmlns:a16="http://schemas.microsoft.com/office/drawing/2014/main" id="{AEC013ED-75C1-0F4B-E56A-0CDAA9B7F4B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tr-TR" dirty="0"/>
              <a:t>Car class and its 2 operations/behaviors:</a:t>
            </a:r>
          </a:p>
          <a:p>
            <a:pPr lvl="1" eaLnBrk="1" hangingPunct="1"/>
            <a:r>
              <a:rPr lang="en-US" altLang="tr-TR" dirty="0"/>
              <a:t>Brake and accelerate</a:t>
            </a:r>
          </a:p>
          <a:p>
            <a:pPr eaLnBrk="1" hangingPunct="1"/>
            <a:r>
              <a:rPr lang="en-US" altLang="tr-TR" dirty="0"/>
              <a:t>These behaviors change frequently between models, so implement these behaviors in subclasses: overriding</a:t>
            </a:r>
          </a:p>
          <a:p>
            <a:pPr lvl="1" eaLnBrk="1" hangingPunct="1"/>
            <a:r>
              <a:rPr lang="en-US" altLang="tr-TR" dirty="0"/>
              <a:t>For each new model, override</a:t>
            </a:r>
          </a:p>
          <a:p>
            <a:pPr lvl="2" eaLnBrk="1" hangingPunct="1"/>
            <a:r>
              <a:rPr lang="en-US" altLang="tr-TR" dirty="0"/>
              <a:t>Beware: Code duplication across models</a:t>
            </a:r>
          </a:p>
          <a:p>
            <a:pPr lvl="2" eaLnBrk="1" hangingPunct="1"/>
            <a:r>
              <a:rPr lang="en-US" altLang="tr-TR" dirty="0"/>
              <a:t>The work of managing these behaviors increases greatly as the number of models increases</a:t>
            </a:r>
          </a:p>
        </p:txBody>
      </p:sp>
    </p:spTree>
  </p:cSld>
  <p:clrMapOvr>
    <a:masterClrMapping/>
  </p:clrMapOvr>
  <p:transition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Title 1">
            <a:extLst>
              <a:ext uri="{FF2B5EF4-FFF2-40B4-BE49-F238E27FC236}">
                <a16:creationId xmlns:a16="http://schemas.microsoft.com/office/drawing/2014/main" id="{5E7207B2-C130-4394-A683-0D8403D1246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tr-TR" dirty="0"/>
              <a:t>Alternative1</a:t>
            </a:r>
          </a:p>
        </p:txBody>
      </p:sp>
      <p:sp>
        <p:nvSpPr>
          <p:cNvPr id="62467" name="Content Placeholder 2">
            <a:extLst>
              <a:ext uri="{FF2B5EF4-FFF2-40B4-BE49-F238E27FC236}">
                <a16:creationId xmlns:a16="http://schemas.microsoft.com/office/drawing/2014/main" id="{D883A714-18FD-3F94-A9A7-2842E5831420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>
          <a:xfrm>
            <a:off x="457200" y="1463045"/>
            <a:ext cx="4038600" cy="5394955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public class  Car{ 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public void break(){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switch(model){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case Simple: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//reduce speed 5 unit/sec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case </a:t>
            </a:r>
            <a:r>
              <a:rPr lang="en-US" altLang="tr-TR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Sportcar</a:t>
            </a: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:  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//….with ABS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case EV: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//regenerative breaking 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}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//other members</a:t>
            </a:r>
          </a:p>
          <a:p>
            <a:pPr>
              <a:buFont typeface="Wingdings" panose="05000000000000000000" pitchFamily="2" charset="2"/>
              <a:buNone/>
            </a:pPr>
            <a:endParaRPr lang="en-US" altLang="tr-TR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>
              <a:buFont typeface="Wingdings" panose="05000000000000000000" pitchFamily="2" charset="2"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</a:t>
            </a:r>
          </a:p>
        </p:txBody>
      </p:sp>
      <p:sp>
        <p:nvSpPr>
          <p:cNvPr id="62468" name="Content Placeholder 3">
            <a:extLst>
              <a:ext uri="{FF2B5EF4-FFF2-40B4-BE49-F238E27FC236}">
                <a16:creationId xmlns:a16="http://schemas.microsoft.com/office/drawing/2014/main" id="{39DA0E93-FE05-C6C4-5E19-78AB7BBA198A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>
          <a:xfrm>
            <a:off x="4648200" y="1700808"/>
            <a:ext cx="4038600" cy="2763838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public void accelerate(){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switch(model){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case Simple: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        //speed up  7u/s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case EV:  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  //smart speed up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case Sports: //….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tr-TR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  <a:p>
            <a:pPr>
              <a:buFont typeface="Wingdings" panose="05000000000000000000" pitchFamily="2" charset="2"/>
              <a:buNone/>
            </a:pPr>
            <a:endParaRPr lang="en-US" altLang="tr-TR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2469" name="TextBox 4">
            <a:extLst>
              <a:ext uri="{FF2B5EF4-FFF2-40B4-BE49-F238E27FC236}">
                <a16:creationId xmlns:a16="http://schemas.microsoft.com/office/drawing/2014/main" id="{6B5C4702-DD1B-88DC-B857-D6126D2DFE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5175" y="5375275"/>
            <a:ext cx="5838825" cy="1201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 typeface="Arial" panose="020B0604020202020204" pitchFamily="34" charset="0"/>
              <a:buChar char="•"/>
            </a:pPr>
            <a:r>
              <a:rPr lang="en-US" altLang="tr-TR" sz="2400"/>
              <a:t>as ugly as it gets, </a:t>
            </a:r>
          </a:p>
          <a:p>
            <a:pPr>
              <a:spcBef>
                <a:spcPct val="0"/>
              </a:spcBef>
              <a:buClrTx/>
              <a:buSzTx/>
              <a:buFont typeface="Arial" panose="020B0604020202020204" pitchFamily="34" charset="0"/>
              <a:buChar char="•"/>
            </a:pPr>
            <a:r>
              <a:rPr lang="en-US" altLang="tr-TR" sz="2400"/>
              <a:t>useless when it comes to extensibility </a:t>
            </a:r>
          </a:p>
          <a:p>
            <a:pPr>
              <a:spcBef>
                <a:spcPct val="0"/>
              </a:spcBef>
              <a:buClrTx/>
              <a:buSzTx/>
              <a:buFont typeface="Arial" panose="020B0604020202020204" pitchFamily="34" charset="0"/>
              <a:buChar char="•"/>
            </a:pPr>
            <a:r>
              <a:rPr lang="en-US" altLang="tr-TR" sz="2400"/>
              <a:t>throws out any hope of it being reusable.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2BC2F4-41F1-8E7A-8F32-75A87754E554}"/>
              </a:ext>
            </a:extLst>
          </p:cNvPr>
          <p:cNvSpPr txBox="1"/>
          <p:nvPr/>
        </p:nvSpPr>
        <p:spPr>
          <a:xfrm>
            <a:off x="7308304" y="476672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BAD!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5">
            <a:extLst>
              <a:ext uri="{FF2B5EF4-FFF2-40B4-BE49-F238E27FC236}">
                <a16:creationId xmlns:a16="http://schemas.microsoft.com/office/drawing/2014/main" id="{360E8F4F-CDC0-A9EE-E908-2010C15EB9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7425" y="3008313"/>
            <a:ext cx="1738313" cy="105886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tr-TR" sz="1800" dirty="0">
                <a:solidFill>
                  <a:schemeClr val="accent1"/>
                </a:solidFill>
                <a:latin typeface="Tahoma" panose="020B0604030504040204" pitchFamily="34" charset="0"/>
              </a:rPr>
              <a:t>Sports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tr-TR" sz="1800" dirty="0">
                <a:solidFill>
                  <a:schemeClr val="accent1"/>
                </a:solidFill>
                <a:latin typeface="Tahoma" panose="020B0604030504040204" pitchFamily="34" charset="0"/>
              </a:rPr>
              <a:t>+break</a:t>
            </a:r>
            <a:r>
              <a:rPr lang="en-US" altLang="tr-TR" sz="1800" dirty="0">
                <a:solidFill>
                  <a:schemeClr val="accent1"/>
                </a:solidFill>
                <a:latin typeface="Tahoma" panose="020B0604030504040204" pitchFamily="34" charset="0"/>
                <a:sym typeface="Wingdings" panose="05000000000000000000" pitchFamily="2" charset="2"/>
              </a:rPr>
              <a:t>()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tr-TR" sz="1800" dirty="0">
                <a:solidFill>
                  <a:schemeClr val="accent1"/>
                </a:solidFill>
                <a:latin typeface="Tahoma" panose="020B0604030504040204" pitchFamily="34" charset="0"/>
                <a:sym typeface="Wingdings" panose="05000000000000000000" pitchFamily="2" charset="2"/>
              </a:rPr>
              <a:t>+accelerate()</a:t>
            </a:r>
            <a:endParaRPr lang="en-US" altLang="tr-TR" sz="1800" dirty="0">
              <a:solidFill>
                <a:schemeClr val="accent1"/>
              </a:solidFill>
              <a:latin typeface="Tahoma" panose="020B0604030504040204" pitchFamily="34" charset="0"/>
            </a:endParaRPr>
          </a:p>
        </p:txBody>
      </p:sp>
      <p:sp>
        <p:nvSpPr>
          <p:cNvPr id="61443" name="Rectangle 6">
            <a:extLst>
              <a:ext uri="{FF2B5EF4-FFF2-40B4-BE49-F238E27FC236}">
                <a16:creationId xmlns:a16="http://schemas.microsoft.com/office/drawing/2014/main" id="{AF13D823-96DF-5A8A-3842-D9856FF1EB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11300" y="1323975"/>
            <a:ext cx="2159000" cy="8921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tr-TR" sz="1800">
                <a:solidFill>
                  <a:schemeClr val="accent1"/>
                </a:solidFill>
                <a:latin typeface="Tahoma" panose="020B0604030504040204" pitchFamily="34" charset="0"/>
              </a:rPr>
              <a:t>Car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tr-TR" sz="1800" i="1">
                <a:solidFill>
                  <a:schemeClr val="accent1"/>
                </a:solidFill>
                <a:latin typeface="Tahoma" panose="020B0604030504040204" pitchFamily="34" charset="0"/>
              </a:rPr>
              <a:t>+break</a:t>
            </a:r>
            <a:r>
              <a:rPr lang="en-US" altLang="tr-TR" sz="1800" i="1">
                <a:solidFill>
                  <a:schemeClr val="accent1"/>
                </a:solidFill>
                <a:latin typeface="Tahoma" panose="020B0604030504040204" pitchFamily="34" charset="0"/>
                <a:sym typeface="Wingdings" panose="05000000000000000000" pitchFamily="2" charset="2"/>
              </a:rPr>
              <a:t>()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tr-TR" sz="1800" i="1">
                <a:solidFill>
                  <a:schemeClr val="accent1"/>
                </a:solidFill>
                <a:latin typeface="Tahoma" panose="020B0604030504040204" pitchFamily="34" charset="0"/>
                <a:sym typeface="Wingdings" panose="05000000000000000000" pitchFamily="2" charset="2"/>
              </a:rPr>
              <a:t>+accelerate()</a:t>
            </a:r>
            <a:endParaRPr lang="en-US" altLang="tr-TR" sz="1800" i="1">
              <a:solidFill>
                <a:schemeClr val="accent1"/>
              </a:solidFill>
              <a:latin typeface="Tahoma" panose="020B0604030504040204" pitchFamily="34" charset="0"/>
            </a:endParaRPr>
          </a:p>
        </p:txBody>
      </p:sp>
      <p:sp>
        <p:nvSpPr>
          <p:cNvPr id="61444" name="Rectangle 7">
            <a:extLst>
              <a:ext uri="{FF2B5EF4-FFF2-40B4-BE49-F238E27FC236}">
                <a16:creationId xmlns:a16="http://schemas.microsoft.com/office/drawing/2014/main" id="{9855F22B-3D16-C805-6ECE-C7AAAACA8B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2738" y="3008313"/>
            <a:ext cx="1601787" cy="9334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tr-TR" sz="1800">
                <a:solidFill>
                  <a:schemeClr val="accent1"/>
                </a:solidFill>
                <a:latin typeface="Tahoma" panose="020B0604030504040204" pitchFamily="34" charset="0"/>
              </a:rPr>
              <a:t>simple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tr-TR" sz="1800">
                <a:solidFill>
                  <a:schemeClr val="accent1"/>
                </a:solidFill>
                <a:latin typeface="Tahoma" panose="020B0604030504040204" pitchFamily="34" charset="0"/>
              </a:rPr>
              <a:t>+break</a:t>
            </a:r>
            <a:r>
              <a:rPr lang="en-US" altLang="tr-TR" sz="1800">
                <a:solidFill>
                  <a:schemeClr val="accent1"/>
                </a:solidFill>
                <a:latin typeface="Tahoma" panose="020B0604030504040204" pitchFamily="34" charset="0"/>
                <a:sym typeface="Wingdings" panose="05000000000000000000" pitchFamily="2" charset="2"/>
              </a:rPr>
              <a:t>()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tr-TR" sz="1800">
                <a:solidFill>
                  <a:schemeClr val="accent1"/>
                </a:solidFill>
                <a:latin typeface="Tahoma" panose="020B0604030504040204" pitchFamily="34" charset="0"/>
                <a:sym typeface="Wingdings" panose="05000000000000000000" pitchFamily="2" charset="2"/>
              </a:rPr>
              <a:t>+accelerate()</a:t>
            </a:r>
            <a:endParaRPr lang="en-US" altLang="tr-TR" sz="1800">
              <a:solidFill>
                <a:schemeClr val="accent1"/>
              </a:solidFill>
              <a:latin typeface="Tahoma" panose="020B0604030504040204" pitchFamily="34" charset="0"/>
            </a:endParaRPr>
          </a:p>
        </p:txBody>
      </p:sp>
      <p:sp>
        <p:nvSpPr>
          <p:cNvPr id="61445" name="AutoShape 8">
            <a:extLst>
              <a:ext uri="{FF2B5EF4-FFF2-40B4-BE49-F238E27FC236}">
                <a16:creationId xmlns:a16="http://schemas.microsoft.com/office/drawing/2014/main" id="{005DA1B0-C7AA-0774-787D-A73618E3ED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19363" y="2214563"/>
            <a:ext cx="336550" cy="287337"/>
          </a:xfrm>
          <a:prstGeom prst="triangle">
            <a:avLst>
              <a:gd name="adj" fmla="val 50000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tr-TR" altLang="tr-TR" sz="1800"/>
          </a:p>
        </p:txBody>
      </p:sp>
      <p:cxnSp>
        <p:nvCxnSpPr>
          <p:cNvPr id="61446" name="AutoShape 9">
            <a:extLst>
              <a:ext uri="{FF2B5EF4-FFF2-40B4-BE49-F238E27FC236}">
                <a16:creationId xmlns:a16="http://schemas.microsoft.com/office/drawing/2014/main" id="{9C4E064F-4BF6-7A76-05A1-2DEAED1E1D5A}"/>
              </a:ext>
            </a:extLst>
          </p:cNvPr>
          <p:cNvCxnSpPr>
            <a:cxnSpLocks noChangeShapeType="1"/>
            <a:stCxn id="61445" idx="3"/>
            <a:endCxn id="61444" idx="0"/>
          </p:cNvCxnSpPr>
          <p:nvPr/>
        </p:nvCxnSpPr>
        <p:spPr bwMode="auto">
          <a:xfrm rot="5400000">
            <a:off x="2282825" y="2603500"/>
            <a:ext cx="506413" cy="303213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1447" name="AutoShape 10">
            <a:extLst>
              <a:ext uri="{FF2B5EF4-FFF2-40B4-BE49-F238E27FC236}">
                <a16:creationId xmlns:a16="http://schemas.microsoft.com/office/drawing/2014/main" id="{AF849481-3A9E-FCF5-3BC0-DB3298000B1E}"/>
              </a:ext>
            </a:extLst>
          </p:cNvPr>
          <p:cNvCxnSpPr>
            <a:cxnSpLocks noChangeShapeType="1"/>
            <a:stCxn id="61445" idx="3"/>
            <a:endCxn id="61442" idx="0"/>
          </p:cNvCxnSpPr>
          <p:nvPr/>
        </p:nvCxnSpPr>
        <p:spPr bwMode="auto">
          <a:xfrm rot="16200000" flipH="1">
            <a:off x="3289300" y="1900238"/>
            <a:ext cx="506413" cy="170973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1448" name="Line 11">
            <a:extLst>
              <a:ext uri="{FF2B5EF4-FFF2-40B4-BE49-F238E27FC236}">
                <a16:creationId xmlns:a16="http://schemas.microsoft.com/office/drawing/2014/main" id="{9A93615D-A10E-5342-D187-56204059C44E}"/>
              </a:ext>
            </a:extLst>
          </p:cNvPr>
          <p:cNvSpPr>
            <a:spLocks noChangeShapeType="1"/>
          </p:cNvSpPr>
          <p:nvPr/>
        </p:nvSpPr>
        <p:spPr bwMode="auto">
          <a:xfrm>
            <a:off x="1481138" y="1630363"/>
            <a:ext cx="215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49" name="Line 12">
            <a:extLst>
              <a:ext uri="{FF2B5EF4-FFF2-40B4-BE49-F238E27FC236}">
                <a16:creationId xmlns:a16="http://schemas.microsoft.com/office/drawing/2014/main" id="{1CCC782B-9D68-BD49-AF21-BA64FDFDA277}"/>
              </a:ext>
            </a:extLst>
          </p:cNvPr>
          <p:cNvSpPr>
            <a:spLocks noChangeShapeType="1"/>
          </p:cNvSpPr>
          <p:nvPr/>
        </p:nvSpPr>
        <p:spPr bwMode="auto">
          <a:xfrm>
            <a:off x="1497013" y="1576388"/>
            <a:ext cx="215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50" name="Line 13">
            <a:extLst>
              <a:ext uri="{FF2B5EF4-FFF2-40B4-BE49-F238E27FC236}">
                <a16:creationId xmlns:a16="http://schemas.microsoft.com/office/drawing/2014/main" id="{7502626D-630A-3BDB-27D5-91E27F3F0C00}"/>
              </a:ext>
            </a:extLst>
          </p:cNvPr>
          <p:cNvSpPr>
            <a:spLocks noChangeShapeType="1"/>
          </p:cNvSpPr>
          <p:nvPr/>
        </p:nvSpPr>
        <p:spPr bwMode="auto">
          <a:xfrm>
            <a:off x="1582738" y="3322638"/>
            <a:ext cx="165576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51" name="Line 14">
            <a:extLst>
              <a:ext uri="{FF2B5EF4-FFF2-40B4-BE49-F238E27FC236}">
                <a16:creationId xmlns:a16="http://schemas.microsoft.com/office/drawing/2014/main" id="{A278ABD9-6E79-1E52-3F32-BE8A13A555A7}"/>
              </a:ext>
            </a:extLst>
          </p:cNvPr>
          <p:cNvSpPr>
            <a:spLocks noChangeShapeType="1"/>
          </p:cNvSpPr>
          <p:nvPr/>
        </p:nvSpPr>
        <p:spPr bwMode="auto">
          <a:xfrm>
            <a:off x="1582738" y="3395663"/>
            <a:ext cx="165576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52" name="Line 15">
            <a:extLst>
              <a:ext uri="{FF2B5EF4-FFF2-40B4-BE49-F238E27FC236}">
                <a16:creationId xmlns:a16="http://schemas.microsoft.com/office/drawing/2014/main" id="{53099EA5-0AB6-6D2F-DF0D-2C8CE0D5D9DE}"/>
              </a:ext>
            </a:extLst>
          </p:cNvPr>
          <p:cNvSpPr>
            <a:spLocks noChangeShapeType="1"/>
          </p:cNvSpPr>
          <p:nvPr/>
        </p:nvSpPr>
        <p:spPr bwMode="auto">
          <a:xfrm>
            <a:off x="3575050" y="3386138"/>
            <a:ext cx="165576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53" name="Line 16">
            <a:extLst>
              <a:ext uri="{FF2B5EF4-FFF2-40B4-BE49-F238E27FC236}">
                <a16:creationId xmlns:a16="http://schemas.microsoft.com/office/drawing/2014/main" id="{40957892-3599-9DD0-9030-811076011DA6}"/>
              </a:ext>
            </a:extLst>
          </p:cNvPr>
          <p:cNvSpPr>
            <a:spLocks noChangeShapeType="1"/>
          </p:cNvSpPr>
          <p:nvPr/>
        </p:nvSpPr>
        <p:spPr bwMode="auto">
          <a:xfrm>
            <a:off x="3543300" y="3459163"/>
            <a:ext cx="165576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54" name="TextBox 19">
            <a:extLst>
              <a:ext uri="{FF2B5EF4-FFF2-40B4-BE49-F238E27FC236}">
                <a16:creationId xmlns:a16="http://schemas.microsoft.com/office/drawing/2014/main" id="{8BABC537-320E-A884-4C03-81FE28D63A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9613" y="5470525"/>
            <a:ext cx="4044950" cy="646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tr-TR" sz="1800"/>
              <a:t>break(){..//reduces speed 5unit/sec}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tr-TR" sz="1800"/>
              <a:t>accelerate(){..//speeds up 7 units/sec}</a:t>
            </a:r>
          </a:p>
        </p:txBody>
      </p:sp>
      <p:sp>
        <p:nvSpPr>
          <p:cNvPr id="61455" name="TextBox 20">
            <a:extLst>
              <a:ext uri="{FF2B5EF4-FFF2-40B4-BE49-F238E27FC236}">
                <a16:creationId xmlns:a16="http://schemas.microsoft.com/office/drawing/2014/main" id="{049F52CD-005C-1345-C9AE-854606449E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08488" y="4267200"/>
            <a:ext cx="4570412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tr-TR" sz="1800" dirty="0"/>
              <a:t>break(){..//uses ABS }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tr-TR" sz="1800" dirty="0"/>
              <a:t>accelerate(){..//smart speeds up}</a:t>
            </a:r>
          </a:p>
        </p:txBody>
      </p:sp>
      <p:cxnSp>
        <p:nvCxnSpPr>
          <p:cNvPr id="61456" name="Straight Connector 22">
            <a:extLst>
              <a:ext uri="{FF2B5EF4-FFF2-40B4-BE49-F238E27FC236}">
                <a16:creationId xmlns:a16="http://schemas.microsoft.com/office/drawing/2014/main" id="{383F0B26-F37A-F5AE-C77C-72BAB2403826}"/>
              </a:ext>
            </a:extLst>
          </p:cNvPr>
          <p:cNvCxnSpPr>
            <a:cxnSpLocks noChangeShapeType="1"/>
            <a:stCxn id="61454" idx="1"/>
            <a:endCxn id="61444" idx="1"/>
          </p:cNvCxnSpPr>
          <p:nvPr/>
        </p:nvCxnSpPr>
        <p:spPr bwMode="auto">
          <a:xfrm rot="10800000" flipH="1">
            <a:off x="709613" y="3475038"/>
            <a:ext cx="873125" cy="2319337"/>
          </a:xfrm>
          <a:prstGeom prst="line">
            <a:avLst/>
          </a:prstGeom>
          <a:noFill/>
          <a:ln w="9525" algn="ctr">
            <a:solidFill>
              <a:schemeClr val="tx1"/>
            </a:solidFill>
            <a:prstDash val="dash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1457" name="Straight Connector 23">
            <a:extLst>
              <a:ext uri="{FF2B5EF4-FFF2-40B4-BE49-F238E27FC236}">
                <a16:creationId xmlns:a16="http://schemas.microsoft.com/office/drawing/2014/main" id="{093CA2EB-074D-23E6-6D26-C83FB9405DF3}"/>
              </a:ext>
            </a:extLst>
          </p:cNvPr>
          <p:cNvCxnSpPr>
            <a:cxnSpLocks noChangeShapeType="1"/>
            <a:stCxn id="61455" idx="0"/>
            <a:endCxn id="61442" idx="3"/>
          </p:cNvCxnSpPr>
          <p:nvPr/>
        </p:nvCxnSpPr>
        <p:spPr bwMode="auto">
          <a:xfrm flipH="1" flipV="1">
            <a:off x="5265738" y="3537744"/>
            <a:ext cx="1427956" cy="729456"/>
          </a:xfrm>
          <a:prstGeom prst="line">
            <a:avLst/>
          </a:prstGeom>
          <a:noFill/>
          <a:ln w="9525" algn="ctr">
            <a:solidFill>
              <a:schemeClr val="tx1"/>
            </a:solidFill>
            <a:prstDash val="dash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" name="Snip Single Corner Rectangle 26">
            <a:extLst>
              <a:ext uri="{FF2B5EF4-FFF2-40B4-BE49-F238E27FC236}">
                <a16:creationId xmlns:a16="http://schemas.microsoft.com/office/drawing/2014/main" id="{A64C9BFF-DF77-46B9-A314-5C27FFAAD7A7}"/>
              </a:ext>
            </a:extLst>
          </p:cNvPr>
          <p:cNvSpPr/>
          <p:nvPr/>
        </p:nvSpPr>
        <p:spPr bwMode="auto">
          <a:xfrm>
            <a:off x="4287838" y="4271963"/>
            <a:ext cx="4430712" cy="724693"/>
          </a:xfrm>
          <a:prstGeom prst="snip1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pPr>
              <a:defRPr/>
            </a:pPr>
            <a:endParaRPr lang="en-US">
              <a:latin typeface="Arial" charset="0"/>
            </a:endParaRPr>
          </a:p>
        </p:txBody>
      </p:sp>
      <p:sp>
        <p:nvSpPr>
          <p:cNvPr id="29" name="Snip Single Corner Rectangle 28">
            <a:extLst>
              <a:ext uri="{FF2B5EF4-FFF2-40B4-BE49-F238E27FC236}">
                <a16:creationId xmlns:a16="http://schemas.microsoft.com/office/drawing/2014/main" id="{CB23366F-788B-415F-A58B-46F2B7652C96}"/>
              </a:ext>
            </a:extLst>
          </p:cNvPr>
          <p:cNvSpPr/>
          <p:nvPr/>
        </p:nvSpPr>
        <p:spPr bwMode="auto">
          <a:xfrm>
            <a:off x="657225" y="5418138"/>
            <a:ext cx="4040188" cy="698500"/>
          </a:xfrm>
          <a:prstGeom prst="snip1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pPr>
              <a:defRPr/>
            </a:pPr>
            <a:endParaRPr lang="en-US">
              <a:latin typeface="Arial" charset="0"/>
            </a:endParaRPr>
          </a:p>
        </p:txBody>
      </p:sp>
      <p:sp>
        <p:nvSpPr>
          <p:cNvPr id="61460" name="Rectangle 5">
            <a:extLst>
              <a:ext uri="{FF2B5EF4-FFF2-40B4-BE49-F238E27FC236}">
                <a16:creationId xmlns:a16="http://schemas.microsoft.com/office/drawing/2014/main" id="{53A674F8-4ED3-EB11-F2B1-8FB1CC2DD7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8063" y="3068638"/>
            <a:ext cx="1738312" cy="10588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tr-TR" sz="1800" dirty="0">
                <a:solidFill>
                  <a:schemeClr val="accent1"/>
                </a:solidFill>
                <a:latin typeface="Tahoma" panose="020B0604030504040204" pitchFamily="34" charset="0"/>
              </a:rPr>
              <a:t>EV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tr-TR" sz="1800" dirty="0">
                <a:solidFill>
                  <a:schemeClr val="accent1"/>
                </a:solidFill>
                <a:latin typeface="Tahoma" panose="020B0604030504040204" pitchFamily="34" charset="0"/>
              </a:rPr>
              <a:t>+break</a:t>
            </a:r>
            <a:r>
              <a:rPr lang="en-US" altLang="tr-TR" sz="1800" dirty="0">
                <a:solidFill>
                  <a:schemeClr val="accent1"/>
                </a:solidFill>
                <a:latin typeface="Tahoma" panose="020B0604030504040204" pitchFamily="34" charset="0"/>
                <a:sym typeface="Wingdings" panose="05000000000000000000" pitchFamily="2" charset="2"/>
              </a:rPr>
              <a:t>()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tr-TR" sz="1800" dirty="0">
                <a:solidFill>
                  <a:schemeClr val="accent1"/>
                </a:solidFill>
                <a:latin typeface="Tahoma" panose="020B0604030504040204" pitchFamily="34" charset="0"/>
                <a:sym typeface="Wingdings" panose="05000000000000000000" pitchFamily="2" charset="2"/>
              </a:rPr>
              <a:t>+accelerate()</a:t>
            </a:r>
            <a:endParaRPr lang="en-US" altLang="tr-TR" sz="1800" dirty="0">
              <a:solidFill>
                <a:schemeClr val="accent1"/>
              </a:solidFill>
              <a:latin typeface="Tahoma" panose="020B0604030504040204" pitchFamily="34" charset="0"/>
            </a:endParaRPr>
          </a:p>
        </p:txBody>
      </p:sp>
      <p:cxnSp>
        <p:nvCxnSpPr>
          <p:cNvPr id="61461" name="AutoShape 10">
            <a:extLst>
              <a:ext uri="{FF2B5EF4-FFF2-40B4-BE49-F238E27FC236}">
                <a16:creationId xmlns:a16="http://schemas.microsoft.com/office/drawing/2014/main" id="{2BA7CFEC-ACFB-205B-A5BB-8C83707A37D2}"/>
              </a:ext>
            </a:extLst>
          </p:cNvPr>
          <p:cNvCxnSpPr>
            <a:cxnSpLocks noChangeShapeType="1"/>
            <a:stCxn id="61445" idx="3"/>
            <a:endCxn id="61460" idx="0"/>
          </p:cNvCxnSpPr>
          <p:nvPr/>
        </p:nvCxnSpPr>
        <p:spPr bwMode="auto">
          <a:xfrm rot="16200000" flipH="1">
            <a:off x="4539059" y="650478"/>
            <a:ext cx="566738" cy="4269581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" name="Line 16">
            <a:extLst>
              <a:ext uri="{FF2B5EF4-FFF2-40B4-BE49-F238E27FC236}">
                <a16:creationId xmlns:a16="http://schemas.microsoft.com/office/drawing/2014/main" id="{79EC9167-B9C1-5C8C-4C3F-1CA1C9DFCFB6}"/>
              </a:ext>
            </a:extLst>
          </p:cNvPr>
          <p:cNvSpPr>
            <a:spLocks noChangeShapeType="1"/>
          </p:cNvSpPr>
          <p:nvPr/>
        </p:nvSpPr>
        <p:spPr bwMode="auto">
          <a:xfrm>
            <a:off x="6129337" y="3459163"/>
            <a:ext cx="165576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" name="Line 16">
            <a:extLst>
              <a:ext uri="{FF2B5EF4-FFF2-40B4-BE49-F238E27FC236}">
                <a16:creationId xmlns:a16="http://schemas.microsoft.com/office/drawing/2014/main" id="{053C4552-3E72-2F02-5265-08C3373AE71C}"/>
              </a:ext>
            </a:extLst>
          </p:cNvPr>
          <p:cNvSpPr>
            <a:spLocks noChangeShapeType="1"/>
          </p:cNvSpPr>
          <p:nvPr/>
        </p:nvSpPr>
        <p:spPr bwMode="auto">
          <a:xfrm>
            <a:off x="6129337" y="3489326"/>
            <a:ext cx="165576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24304F4-28A0-CAC2-1693-555B5CBD1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2: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B80CD3-4A5B-E142-15D4-D29DEB2C5C5A}"/>
              </a:ext>
            </a:extLst>
          </p:cNvPr>
          <p:cNvSpPr txBox="1"/>
          <p:nvPr/>
        </p:nvSpPr>
        <p:spPr>
          <a:xfrm>
            <a:off x="7308304" y="476672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BAD!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Rectangle 6">
            <a:extLst>
              <a:ext uri="{FF2B5EF4-FFF2-40B4-BE49-F238E27FC236}">
                <a16:creationId xmlns:a16="http://schemas.microsoft.com/office/drawing/2014/main" id="{22E4AF84-0615-0E8B-ADD4-5A8AE335A5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3766" y="1459384"/>
            <a:ext cx="2159000" cy="8921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tr-TR" sz="1800">
                <a:solidFill>
                  <a:schemeClr val="accent1"/>
                </a:solidFill>
                <a:latin typeface="Tahoma" panose="020B0604030504040204" pitchFamily="34" charset="0"/>
              </a:rPr>
              <a:t>Car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tr-TR" sz="1800">
                <a:solidFill>
                  <a:schemeClr val="accent1"/>
                </a:solidFill>
                <a:latin typeface="Tahoma" panose="020B0604030504040204" pitchFamily="34" charset="0"/>
              </a:rPr>
              <a:t>+break</a:t>
            </a:r>
            <a:r>
              <a:rPr lang="en-US" altLang="tr-TR" sz="1800">
                <a:solidFill>
                  <a:schemeClr val="accent1"/>
                </a:solidFill>
                <a:latin typeface="Tahoma" panose="020B0604030504040204" pitchFamily="34" charset="0"/>
                <a:sym typeface="Wingdings" panose="05000000000000000000" pitchFamily="2" charset="2"/>
              </a:rPr>
              <a:t>()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tr-TR" sz="1800">
                <a:solidFill>
                  <a:schemeClr val="accent1"/>
                </a:solidFill>
                <a:latin typeface="Tahoma" panose="020B0604030504040204" pitchFamily="34" charset="0"/>
                <a:sym typeface="Wingdings" panose="05000000000000000000" pitchFamily="2" charset="2"/>
              </a:rPr>
              <a:t>+accelerate()</a:t>
            </a:r>
            <a:endParaRPr lang="en-US" altLang="tr-TR" sz="1800">
              <a:solidFill>
                <a:schemeClr val="accent1"/>
              </a:solidFill>
              <a:latin typeface="Tahoma" panose="020B0604030504040204" pitchFamily="34" charset="0"/>
            </a:endParaRPr>
          </a:p>
        </p:txBody>
      </p:sp>
      <p:sp>
        <p:nvSpPr>
          <p:cNvPr id="65539" name="Line 11">
            <a:extLst>
              <a:ext uri="{FF2B5EF4-FFF2-40B4-BE49-F238E27FC236}">
                <a16:creationId xmlns:a16="http://schemas.microsoft.com/office/drawing/2014/main" id="{4B0B231A-E91C-C381-2126-E4FBFBE90528}"/>
              </a:ext>
            </a:extLst>
          </p:cNvPr>
          <p:cNvSpPr>
            <a:spLocks noChangeShapeType="1"/>
          </p:cNvSpPr>
          <p:nvPr/>
        </p:nvSpPr>
        <p:spPr bwMode="auto">
          <a:xfrm>
            <a:off x="2553766" y="1780059"/>
            <a:ext cx="215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40" name="Line 12">
            <a:extLst>
              <a:ext uri="{FF2B5EF4-FFF2-40B4-BE49-F238E27FC236}">
                <a16:creationId xmlns:a16="http://schemas.microsoft.com/office/drawing/2014/main" id="{437D0FD5-9C6B-0C0F-328A-F642031DE73F}"/>
              </a:ext>
            </a:extLst>
          </p:cNvPr>
          <p:cNvSpPr>
            <a:spLocks noChangeShapeType="1"/>
          </p:cNvSpPr>
          <p:nvPr/>
        </p:nvSpPr>
        <p:spPr bwMode="auto">
          <a:xfrm>
            <a:off x="2585516" y="1726084"/>
            <a:ext cx="215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65541" name="Group 35">
            <a:extLst>
              <a:ext uri="{FF2B5EF4-FFF2-40B4-BE49-F238E27FC236}">
                <a16:creationId xmlns:a16="http://schemas.microsoft.com/office/drawing/2014/main" id="{EB25DE2F-C1D1-FDD5-7D33-B94158FC3C52}"/>
              </a:ext>
            </a:extLst>
          </p:cNvPr>
          <p:cNvGrpSpPr>
            <a:grpSpLocks/>
          </p:cNvGrpSpPr>
          <p:nvPr/>
        </p:nvGrpSpPr>
        <p:grpSpPr bwMode="auto">
          <a:xfrm>
            <a:off x="5082846" y="1408624"/>
            <a:ext cx="3805237" cy="2543175"/>
            <a:chOff x="4544247" y="1334815"/>
            <a:chExt cx="3806222" cy="2543503"/>
          </a:xfrm>
        </p:grpSpPr>
        <p:sp>
          <p:nvSpPr>
            <p:cNvPr id="65561" name="Rectangle 6">
              <a:extLst>
                <a:ext uri="{FF2B5EF4-FFF2-40B4-BE49-F238E27FC236}">
                  <a16:creationId xmlns:a16="http://schemas.microsoft.com/office/drawing/2014/main" id="{4AB12E1C-CFCC-5877-374D-1DABA61569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6963" y="1334815"/>
              <a:ext cx="2159000" cy="89206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tr-TR" sz="1800" i="1">
                  <a:solidFill>
                    <a:schemeClr val="accent1"/>
                  </a:solidFill>
                  <a:latin typeface="Tahoma" panose="020B0604030504040204" pitchFamily="34" charset="0"/>
                </a:rPr>
                <a:t>Breaking</a:t>
              </a:r>
            </a:p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tr-TR" sz="1800">
                <a:solidFill>
                  <a:schemeClr val="accent1"/>
                </a:solidFill>
                <a:latin typeface="Tahoma" panose="020B0604030504040204" pitchFamily="34" charset="0"/>
              </a:endParaRPr>
            </a:p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tr-TR" sz="1800" i="1">
                  <a:solidFill>
                    <a:schemeClr val="accent1"/>
                  </a:solidFill>
                  <a:latin typeface="Tahoma" panose="020B0604030504040204" pitchFamily="34" charset="0"/>
                </a:rPr>
                <a:t>+break</a:t>
              </a:r>
              <a:r>
                <a:rPr lang="en-US" altLang="tr-TR" sz="1800" i="1">
                  <a:solidFill>
                    <a:schemeClr val="accent1"/>
                  </a:solidFill>
                  <a:latin typeface="Tahoma" panose="020B0604030504040204" pitchFamily="34" charset="0"/>
                  <a:sym typeface="Wingdings" panose="05000000000000000000" pitchFamily="2" charset="2"/>
                </a:rPr>
                <a:t>()</a:t>
              </a:r>
            </a:p>
          </p:txBody>
        </p:sp>
        <p:sp>
          <p:nvSpPr>
            <p:cNvPr id="65562" name="AutoShape 8">
              <a:extLst>
                <a:ext uri="{FF2B5EF4-FFF2-40B4-BE49-F238E27FC236}">
                  <a16:creationId xmlns:a16="http://schemas.microsoft.com/office/drawing/2014/main" id="{A49905AC-9864-F3FE-47EF-4D358DB086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35025" y="2225293"/>
              <a:ext cx="336550" cy="287338"/>
            </a:xfrm>
            <a:prstGeom prst="triangle">
              <a:avLst>
                <a:gd name="adj" fmla="val 50000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tr-TR" altLang="tr-TR" sz="1800"/>
            </a:p>
          </p:txBody>
        </p:sp>
        <p:sp>
          <p:nvSpPr>
            <p:cNvPr id="65563" name="Line 11">
              <a:extLst>
                <a:ext uri="{FF2B5EF4-FFF2-40B4-BE49-F238E27FC236}">
                  <a16:creationId xmlns:a16="http://schemas.microsoft.com/office/drawing/2014/main" id="{90320F63-10FF-90B0-F905-6A879974723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95434" y="1719812"/>
              <a:ext cx="2159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564" name="Line 12">
              <a:extLst>
                <a:ext uri="{FF2B5EF4-FFF2-40B4-BE49-F238E27FC236}">
                  <a16:creationId xmlns:a16="http://schemas.microsoft.com/office/drawing/2014/main" id="{71B6CA9E-9C29-C7A5-6221-0D732F35B3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11199" y="1822780"/>
              <a:ext cx="2159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grpSp>
          <p:nvGrpSpPr>
            <p:cNvPr id="65565" name="Group 22">
              <a:extLst>
                <a:ext uri="{FF2B5EF4-FFF2-40B4-BE49-F238E27FC236}">
                  <a16:creationId xmlns:a16="http://schemas.microsoft.com/office/drawing/2014/main" id="{16E6EEE3-519C-B67B-9CDC-575843B98D9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44247" y="3095298"/>
              <a:ext cx="1604305" cy="783020"/>
              <a:chOff x="3755972" y="3079532"/>
              <a:chExt cx="2169506" cy="783020"/>
            </a:xfrm>
          </p:grpSpPr>
          <p:sp>
            <p:nvSpPr>
              <p:cNvPr id="65572" name="Rectangle 6">
                <a:extLst>
                  <a:ext uri="{FF2B5EF4-FFF2-40B4-BE49-F238E27FC236}">
                    <a16:creationId xmlns:a16="http://schemas.microsoft.com/office/drawing/2014/main" id="{CF348BDC-22B0-8DAC-C282-5B9B02F7B0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771736" y="3079532"/>
                <a:ext cx="2140333" cy="78302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tr-TR" sz="1800">
                    <a:solidFill>
                      <a:schemeClr val="accent1"/>
                    </a:solidFill>
                    <a:latin typeface="Tahoma" panose="020B0604030504040204" pitchFamily="34" charset="0"/>
                  </a:rPr>
                  <a:t>Break1</a:t>
                </a:r>
              </a:p>
              <a:p>
                <a:pPr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tr-TR" sz="1800">
                    <a:solidFill>
                      <a:schemeClr val="accent1"/>
                    </a:solidFill>
                    <a:latin typeface="Tahoma" panose="020B0604030504040204" pitchFamily="34" charset="0"/>
                  </a:rPr>
                  <a:t>+break</a:t>
                </a:r>
                <a:r>
                  <a:rPr lang="en-US" altLang="tr-TR" sz="1800">
                    <a:solidFill>
                      <a:schemeClr val="accent1"/>
                    </a:solidFill>
                    <a:latin typeface="Tahoma" panose="020B0604030504040204" pitchFamily="34" charset="0"/>
                    <a:sym typeface="Wingdings" panose="05000000000000000000" pitchFamily="2" charset="2"/>
                  </a:rPr>
                  <a:t>()</a:t>
                </a:r>
              </a:p>
            </p:txBody>
          </p:sp>
          <p:sp>
            <p:nvSpPr>
              <p:cNvPr id="65573" name="Line 12">
                <a:extLst>
                  <a:ext uri="{FF2B5EF4-FFF2-40B4-BE49-F238E27FC236}">
                    <a16:creationId xmlns:a16="http://schemas.microsoft.com/office/drawing/2014/main" id="{290BCF19-9C06-FCED-F348-E3525C2B40F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55972" y="3425607"/>
                <a:ext cx="215900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574" name="Line 12">
                <a:extLst>
                  <a:ext uri="{FF2B5EF4-FFF2-40B4-BE49-F238E27FC236}">
                    <a16:creationId xmlns:a16="http://schemas.microsoft.com/office/drawing/2014/main" id="{DB093BBA-4D8E-46AF-4A34-86B5056DA65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66478" y="3499177"/>
                <a:ext cx="215900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65566" name="Group 23">
              <a:extLst>
                <a:ext uri="{FF2B5EF4-FFF2-40B4-BE49-F238E27FC236}">
                  <a16:creationId xmlns:a16="http://schemas.microsoft.com/office/drawing/2014/main" id="{E8BD1998-2404-B78A-E471-33ECDE187F9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46164" y="3090042"/>
              <a:ext cx="1604305" cy="783020"/>
              <a:chOff x="3755972" y="3079532"/>
              <a:chExt cx="2169506" cy="783020"/>
            </a:xfrm>
          </p:grpSpPr>
          <p:sp>
            <p:nvSpPr>
              <p:cNvPr id="65569" name="Rectangle 6">
                <a:extLst>
                  <a:ext uri="{FF2B5EF4-FFF2-40B4-BE49-F238E27FC236}">
                    <a16:creationId xmlns:a16="http://schemas.microsoft.com/office/drawing/2014/main" id="{48BD42C9-2911-D270-38B5-CDC0DEAAAF4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771736" y="3079532"/>
                <a:ext cx="2140333" cy="78302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tr-TR" sz="1800">
                    <a:solidFill>
                      <a:schemeClr val="accent1"/>
                    </a:solidFill>
                    <a:latin typeface="Tahoma" panose="020B0604030504040204" pitchFamily="34" charset="0"/>
                  </a:rPr>
                  <a:t>Break2</a:t>
                </a:r>
              </a:p>
              <a:p>
                <a:pPr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tr-TR" sz="1800">
                    <a:solidFill>
                      <a:schemeClr val="accent1"/>
                    </a:solidFill>
                    <a:latin typeface="Tahoma" panose="020B0604030504040204" pitchFamily="34" charset="0"/>
                  </a:rPr>
                  <a:t>+break</a:t>
                </a:r>
                <a:r>
                  <a:rPr lang="en-US" altLang="tr-TR" sz="1800">
                    <a:solidFill>
                      <a:schemeClr val="accent1"/>
                    </a:solidFill>
                    <a:latin typeface="Tahoma" panose="020B0604030504040204" pitchFamily="34" charset="0"/>
                    <a:sym typeface="Wingdings" panose="05000000000000000000" pitchFamily="2" charset="2"/>
                  </a:rPr>
                  <a:t>()</a:t>
                </a:r>
              </a:p>
            </p:txBody>
          </p:sp>
          <p:sp>
            <p:nvSpPr>
              <p:cNvPr id="65570" name="Line 12">
                <a:extLst>
                  <a:ext uri="{FF2B5EF4-FFF2-40B4-BE49-F238E27FC236}">
                    <a16:creationId xmlns:a16="http://schemas.microsoft.com/office/drawing/2014/main" id="{EF2D78AD-3D39-6CB5-905F-519F138C425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55972" y="3425607"/>
                <a:ext cx="215900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571" name="Line 12">
                <a:extLst>
                  <a:ext uri="{FF2B5EF4-FFF2-40B4-BE49-F238E27FC236}">
                    <a16:creationId xmlns:a16="http://schemas.microsoft.com/office/drawing/2014/main" id="{6D9457FF-105C-FE77-5D98-CA952B141C7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66478" y="3499177"/>
                <a:ext cx="215900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cxnSp>
          <p:nvCxnSpPr>
            <p:cNvPr id="65567" name="Elbow Connector 28">
              <a:extLst>
                <a:ext uri="{FF2B5EF4-FFF2-40B4-BE49-F238E27FC236}">
                  <a16:creationId xmlns:a16="http://schemas.microsoft.com/office/drawing/2014/main" id="{B3520BD4-A6E4-D9FC-FCC0-EBDE62CE53C7}"/>
                </a:ext>
              </a:extLst>
            </p:cNvPr>
            <p:cNvCxnSpPr>
              <a:cxnSpLocks noChangeShapeType="1"/>
              <a:stCxn id="65562" idx="3"/>
              <a:endCxn id="65572" idx="0"/>
            </p:cNvCxnSpPr>
            <p:nvPr/>
          </p:nvCxnSpPr>
          <p:spPr bwMode="auto">
            <a:xfrm rot="5400000">
              <a:off x="5733952" y="2125949"/>
              <a:ext cx="582667" cy="1356030"/>
            </a:xfrm>
            <a:prstGeom prst="bentConnector3">
              <a:avLst>
                <a:gd name="adj1" fmla="val 50000"/>
              </a:avLst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5568" name="Elbow Connector 31">
              <a:extLst>
                <a:ext uri="{FF2B5EF4-FFF2-40B4-BE49-F238E27FC236}">
                  <a16:creationId xmlns:a16="http://schemas.microsoft.com/office/drawing/2014/main" id="{1BCB9C22-6417-36EE-010F-DCD03333102F}"/>
                </a:ext>
              </a:extLst>
            </p:cNvPr>
            <p:cNvCxnSpPr>
              <a:cxnSpLocks noChangeShapeType="1"/>
              <a:stCxn id="65562" idx="3"/>
              <a:endCxn id="65569" idx="0"/>
            </p:cNvCxnSpPr>
            <p:nvPr/>
          </p:nvCxnSpPr>
          <p:spPr bwMode="auto">
            <a:xfrm rot="16200000" flipH="1">
              <a:off x="6837538" y="2378392"/>
              <a:ext cx="577411" cy="845887"/>
            </a:xfrm>
            <a:prstGeom prst="bentConnector3">
              <a:avLst>
                <a:gd name="adj1" fmla="val 50000"/>
              </a:avLst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65542" name="Straight Arrow Connector 34">
            <a:extLst>
              <a:ext uri="{FF2B5EF4-FFF2-40B4-BE49-F238E27FC236}">
                <a16:creationId xmlns:a16="http://schemas.microsoft.com/office/drawing/2014/main" id="{03501461-C086-5330-4D92-09BDC4B82AB8}"/>
              </a:ext>
            </a:extLst>
          </p:cNvPr>
          <p:cNvCxnSpPr>
            <a:cxnSpLocks noChangeShapeType="1"/>
            <a:stCxn id="65538" idx="3"/>
            <a:endCxn id="65561" idx="1"/>
          </p:cNvCxnSpPr>
          <p:nvPr/>
        </p:nvCxnSpPr>
        <p:spPr bwMode="auto">
          <a:xfrm flipV="1">
            <a:off x="4712766" y="1854600"/>
            <a:ext cx="1352542" cy="50872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65543" name="Group 36">
            <a:extLst>
              <a:ext uri="{FF2B5EF4-FFF2-40B4-BE49-F238E27FC236}">
                <a16:creationId xmlns:a16="http://schemas.microsoft.com/office/drawing/2014/main" id="{A1E14DD9-88DF-29CA-2F09-51A38EB908AA}"/>
              </a:ext>
            </a:extLst>
          </p:cNvPr>
          <p:cNvGrpSpPr>
            <a:grpSpLocks/>
          </p:cNvGrpSpPr>
          <p:nvPr/>
        </p:nvGrpSpPr>
        <p:grpSpPr bwMode="auto">
          <a:xfrm>
            <a:off x="4161895" y="4191881"/>
            <a:ext cx="3806825" cy="2543175"/>
            <a:chOff x="4544247" y="1334815"/>
            <a:chExt cx="3806222" cy="2543503"/>
          </a:xfrm>
        </p:grpSpPr>
        <p:sp>
          <p:nvSpPr>
            <p:cNvPr id="65547" name="Rectangle 6">
              <a:extLst>
                <a:ext uri="{FF2B5EF4-FFF2-40B4-BE49-F238E27FC236}">
                  <a16:creationId xmlns:a16="http://schemas.microsoft.com/office/drawing/2014/main" id="{47006D3A-8C35-42E3-6BE7-60729E8C0B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6963" y="1334815"/>
              <a:ext cx="2159000" cy="89206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tr-TR" sz="1800" i="1">
                  <a:solidFill>
                    <a:schemeClr val="accent1"/>
                  </a:solidFill>
                  <a:latin typeface="Tahoma" panose="020B0604030504040204" pitchFamily="34" charset="0"/>
                </a:rPr>
                <a:t>Accelarate</a:t>
              </a:r>
            </a:p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tr-TR" sz="1800">
                <a:solidFill>
                  <a:schemeClr val="accent1"/>
                </a:solidFill>
                <a:latin typeface="Tahoma" panose="020B0604030504040204" pitchFamily="34" charset="0"/>
              </a:endParaRPr>
            </a:p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tr-TR" sz="1800" i="1">
                  <a:solidFill>
                    <a:schemeClr val="accent1"/>
                  </a:solidFill>
                  <a:latin typeface="Tahoma" panose="020B0604030504040204" pitchFamily="34" charset="0"/>
                </a:rPr>
                <a:t>+accelerate</a:t>
              </a:r>
              <a:r>
                <a:rPr lang="en-US" altLang="tr-TR" sz="1800" i="1">
                  <a:solidFill>
                    <a:schemeClr val="accent1"/>
                  </a:solidFill>
                  <a:latin typeface="Tahoma" panose="020B0604030504040204" pitchFamily="34" charset="0"/>
                  <a:sym typeface="Wingdings" panose="05000000000000000000" pitchFamily="2" charset="2"/>
                </a:rPr>
                <a:t>()</a:t>
              </a:r>
            </a:p>
          </p:txBody>
        </p:sp>
        <p:sp>
          <p:nvSpPr>
            <p:cNvPr id="65548" name="AutoShape 8">
              <a:extLst>
                <a:ext uri="{FF2B5EF4-FFF2-40B4-BE49-F238E27FC236}">
                  <a16:creationId xmlns:a16="http://schemas.microsoft.com/office/drawing/2014/main" id="{DC058A03-4A23-C56C-0C81-6AADAB3349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35025" y="2225293"/>
              <a:ext cx="336550" cy="287338"/>
            </a:xfrm>
            <a:prstGeom prst="triangle">
              <a:avLst>
                <a:gd name="adj" fmla="val 50000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5000"/>
                <a:buFont typeface="Wingdings" panose="05000000000000000000" pitchFamily="2" charset="2"/>
                <a:buChar char="n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Char char="¨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bg2"/>
                </a:buClr>
                <a:buSzPct val="65000"/>
                <a:buFont typeface="Wingdings" panose="05000000000000000000" pitchFamily="2" charset="2"/>
                <a:buChar char="n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70000"/>
                <a:buFont typeface="Wingdings" panose="05000000000000000000" pitchFamily="2" charset="2"/>
                <a:buChar char="¨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bg2"/>
                </a:buClr>
                <a:buFont typeface="Wingdings" panose="05000000000000000000" pitchFamily="2" charset="2"/>
                <a:buChar char="§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endParaRPr lang="tr-TR" altLang="tr-TR" sz="1800"/>
            </a:p>
          </p:txBody>
        </p:sp>
        <p:sp>
          <p:nvSpPr>
            <p:cNvPr id="65549" name="Line 11">
              <a:extLst>
                <a:ext uri="{FF2B5EF4-FFF2-40B4-BE49-F238E27FC236}">
                  <a16:creationId xmlns:a16="http://schemas.microsoft.com/office/drawing/2014/main" id="{B47F2636-2000-2C30-FF0F-2809695707D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95434" y="1719812"/>
              <a:ext cx="2159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550" name="Line 12">
              <a:extLst>
                <a:ext uri="{FF2B5EF4-FFF2-40B4-BE49-F238E27FC236}">
                  <a16:creationId xmlns:a16="http://schemas.microsoft.com/office/drawing/2014/main" id="{756D9DB3-9670-B8FC-E44D-43739EF6AF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11199" y="1822780"/>
              <a:ext cx="2159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grpSp>
          <p:nvGrpSpPr>
            <p:cNvPr id="65551" name="Group 22">
              <a:extLst>
                <a:ext uri="{FF2B5EF4-FFF2-40B4-BE49-F238E27FC236}">
                  <a16:creationId xmlns:a16="http://schemas.microsoft.com/office/drawing/2014/main" id="{067CF35D-79EE-BE36-BD22-9D8FDFCC5FA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44247" y="3095298"/>
              <a:ext cx="1604305" cy="783020"/>
              <a:chOff x="3755972" y="3079532"/>
              <a:chExt cx="2169506" cy="783020"/>
            </a:xfrm>
          </p:grpSpPr>
          <p:sp>
            <p:nvSpPr>
              <p:cNvPr id="65558" name="Rectangle 6">
                <a:extLst>
                  <a:ext uri="{FF2B5EF4-FFF2-40B4-BE49-F238E27FC236}">
                    <a16:creationId xmlns:a16="http://schemas.microsoft.com/office/drawing/2014/main" id="{4A843C8A-674F-1866-FE84-0B783F8804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771736" y="3079532"/>
                <a:ext cx="2140333" cy="78302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tr-TR" sz="1800">
                    <a:solidFill>
                      <a:schemeClr val="accent1"/>
                    </a:solidFill>
                    <a:latin typeface="Tahoma" panose="020B0604030504040204" pitchFamily="34" charset="0"/>
                  </a:rPr>
                  <a:t>Accelarate1</a:t>
                </a:r>
              </a:p>
              <a:p>
                <a:pPr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tr-TR" sz="1800">
                    <a:solidFill>
                      <a:schemeClr val="accent1"/>
                    </a:solidFill>
                    <a:latin typeface="Tahoma" panose="020B0604030504040204" pitchFamily="34" charset="0"/>
                  </a:rPr>
                  <a:t>+accelerate</a:t>
                </a:r>
                <a:r>
                  <a:rPr lang="en-US" altLang="tr-TR" sz="1800">
                    <a:solidFill>
                      <a:schemeClr val="accent1"/>
                    </a:solidFill>
                    <a:latin typeface="Tahoma" panose="020B0604030504040204" pitchFamily="34" charset="0"/>
                    <a:sym typeface="Wingdings" panose="05000000000000000000" pitchFamily="2" charset="2"/>
                  </a:rPr>
                  <a:t>()</a:t>
                </a:r>
              </a:p>
            </p:txBody>
          </p:sp>
          <p:sp>
            <p:nvSpPr>
              <p:cNvPr id="65559" name="Line 12">
                <a:extLst>
                  <a:ext uri="{FF2B5EF4-FFF2-40B4-BE49-F238E27FC236}">
                    <a16:creationId xmlns:a16="http://schemas.microsoft.com/office/drawing/2014/main" id="{A2F7B5F3-7309-20AF-32AB-D0C752217D2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55972" y="3425607"/>
                <a:ext cx="215900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560" name="Line 12">
                <a:extLst>
                  <a:ext uri="{FF2B5EF4-FFF2-40B4-BE49-F238E27FC236}">
                    <a16:creationId xmlns:a16="http://schemas.microsoft.com/office/drawing/2014/main" id="{EDA59614-6A2C-ABDF-F52D-E244A66A5C2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66478" y="3499177"/>
                <a:ext cx="215900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65552" name="Group 23">
              <a:extLst>
                <a:ext uri="{FF2B5EF4-FFF2-40B4-BE49-F238E27FC236}">
                  <a16:creationId xmlns:a16="http://schemas.microsoft.com/office/drawing/2014/main" id="{28F2A09A-6898-FF90-CCC7-B5CD6B53B75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46164" y="3090042"/>
              <a:ext cx="1604305" cy="783020"/>
              <a:chOff x="3755972" y="3079532"/>
              <a:chExt cx="2169506" cy="783020"/>
            </a:xfrm>
          </p:grpSpPr>
          <p:sp>
            <p:nvSpPr>
              <p:cNvPr id="65555" name="Rectangle 6">
                <a:extLst>
                  <a:ext uri="{FF2B5EF4-FFF2-40B4-BE49-F238E27FC236}">
                    <a16:creationId xmlns:a16="http://schemas.microsoft.com/office/drawing/2014/main" id="{636FB542-544A-2745-0019-1601298439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771736" y="3079532"/>
                <a:ext cx="2140333" cy="78302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5000"/>
                  <a:buFont typeface="Wingdings" panose="05000000000000000000" pitchFamily="2" charset="2"/>
                  <a:buChar char="n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¨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bg2"/>
                  </a:buClr>
                  <a:buSzPct val="65000"/>
                  <a:buFont typeface="Wingdings" panose="05000000000000000000" pitchFamily="2" charset="2"/>
                  <a:buChar char="n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accent2"/>
                  </a:buClr>
                  <a:buSzPct val="70000"/>
                  <a:buFont typeface="Wingdings" panose="05000000000000000000" pitchFamily="2" charset="2"/>
                  <a:buChar char="¨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bg2"/>
                  </a:buClr>
                  <a:buFont typeface="Wingdings" panose="05000000000000000000" pitchFamily="2" charset="2"/>
                  <a:buChar char="§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tr-TR" sz="1800">
                    <a:solidFill>
                      <a:schemeClr val="accent1"/>
                    </a:solidFill>
                    <a:latin typeface="Tahoma" panose="020B0604030504040204" pitchFamily="34" charset="0"/>
                  </a:rPr>
                  <a:t>Accelarate2</a:t>
                </a:r>
              </a:p>
              <a:p>
                <a:pPr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tr-TR" sz="1800">
                    <a:solidFill>
                      <a:schemeClr val="accent1"/>
                    </a:solidFill>
                    <a:latin typeface="Tahoma" panose="020B0604030504040204" pitchFamily="34" charset="0"/>
                  </a:rPr>
                  <a:t>+accelerate</a:t>
                </a:r>
                <a:r>
                  <a:rPr lang="en-US" altLang="tr-TR" sz="1800">
                    <a:solidFill>
                      <a:schemeClr val="accent1"/>
                    </a:solidFill>
                    <a:latin typeface="Tahoma" panose="020B0604030504040204" pitchFamily="34" charset="0"/>
                    <a:sym typeface="Wingdings" panose="05000000000000000000" pitchFamily="2" charset="2"/>
                  </a:rPr>
                  <a:t>()</a:t>
                </a:r>
              </a:p>
            </p:txBody>
          </p:sp>
          <p:sp>
            <p:nvSpPr>
              <p:cNvPr id="65556" name="Line 12">
                <a:extLst>
                  <a:ext uri="{FF2B5EF4-FFF2-40B4-BE49-F238E27FC236}">
                    <a16:creationId xmlns:a16="http://schemas.microsoft.com/office/drawing/2014/main" id="{BAACE6CE-3D5D-92C2-FF1B-C1C6CACFB4D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55972" y="3425607"/>
                <a:ext cx="215900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557" name="Line 12">
                <a:extLst>
                  <a:ext uri="{FF2B5EF4-FFF2-40B4-BE49-F238E27FC236}">
                    <a16:creationId xmlns:a16="http://schemas.microsoft.com/office/drawing/2014/main" id="{94FFD23E-BC95-5E4C-3124-96013660E1B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66478" y="3499177"/>
                <a:ext cx="215900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cxnSp>
          <p:nvCxnSpPr>
            <p:cNvPr id="65553" name="Elbow Connector 43">
              <a:extLst>
                <a:ext uri="{FF2B5EF4-FFF2-40B4-BE49-F238E27FC236}">
                  <a16:creationId xmlns:a16="http://schemas.microsoft.com/office/drawing/2014/main" id="{2BF0B715-C9BE-A703-E77E-787E110F9F92}"/>
                </a:ext>
              </a:extLst>
            </p:cNvPr>
            <p:cNvCxnSpPr>
              <a:cxnSpLocks noChangeShapeType="1"/>
              <a:stCxn id="65548" idx="3"/>
              <a:endCxn id="65558" idx="0"/>
            </p:cNvCxnSpPr>
            <p:nvPr/>
          </p:nvCxnSpPr>
          <p:spPr bwMode="auto">
            <a:xfrm rot="5400000">
              <a:off x="5733952" y="2125949"/>
              <a:ext cx="582667" cy="1356030"/>
            </a:xfrm>
            <a:prstGeom prst="bentConnector3">
              <a:avLst>
                <a:gd name="adj1" fmla="val 50000"/>
              </a:avLst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5554" name="Elbow Connector 44">
              <a:extLst>
                <a:ext uri="{FF2B5EF4-FFF2-40B4-BE49-F238E27FC236}">
                  <a16:creationId xmlns:a16="http://schemas.microsoft.com/office/drawing/2014/main" id="{F0DC3F85-E548-84B9-024D-942623777A4B}"/>
                </a:ext>
              </a:extLst>
            </p:cNvPr>
            <p:cNvCxnSpPr>
              <a:cxnSpLocks noChangeShapeType="1"/>
              <a:stCxn id="65548" idx="3"/>
              <a:endCxn id="65555" idx="0"/>
            </p:cNvCxnSpPr>
            <p:nvPr/>
          </p:nvCxnSpPr>
          <p:spPr bwMode="auto">
            <a:xfrm rot="16200000" flipH="1">
              <a:off x="6837538" y="2378392"/>
              <a:ext cx="577411" cy="845887"/>
            </a:xfrm>
            <a:prstGeom prst="bentConnector3">
              <a:avLst>
                <a:gd name="adj1" fmla="val 50000"/>
              </a:avLst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65544" name="Straight Arrow Connector 51">
            <a:extLst>
              <a:ext uri="{FF2B5EF4-FFF2-40B4-BE49-F238E27FC236}">
                <a16:creationId xmlns:a16="http://schemas.microsoft.com/office/drawing/2014/main" id="{45F625B4-021D-57F1-A1BB-676CF53A2BC1}"/>
              </a:ext>
            </a:extLst>
          </p:cNvPr>
          <p:cNvCxnSpPr>
            <a:cxnSpLocks noChangeShapeType="1"/>
            <a:endCxn id="65547" idx="1"/>
          </p:cNvCxnSpPr>
          <p:nvPr/>
        </p:nvCxnSpPr>
        <p:spPr bwMode="auto">
          <a:xfrm rot="16200000" flipH="1">
            <a:off x="3198282" y="2691694"/>
            <a:ext cx="2879725" cy="1012825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4522" name="TextBox 57">
            <a:extLst>
              <a:ext uri="{FF2B5EF4-FFF2-40B4-BE49-F238E27FC236}">
                <a16:creationId xmlns:a16="http://schemas.microsoft.com/office/drawing/2014/main" id="{8FFC760C-5425-4AE1-9EB0-A0B2E0954C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1067" y="2147789"/>
            <a:ext cx="3730508" cy="48013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tr-TR" sz="1800" dirty="0">
                <a:latin typeface="Consolas" panose="020B0609020204030204" pitchFamily="49" charset="0"/>
                <a:ea typeface="Source Sans Pro" panose="020B0503030403020204" pitchFamily="34" charset="0"/>
                <a:cs typeface="Courier New" panose="02070309020205020404" pitchFamily="49" charset="0"/>
              </a:rPr>
              <a:t>class Car{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tr-TR" sz="1800" dirty="0">
                <a:latin typeface="Consolas" panose="020B0609020204030204" pitchFamily="49" charset="0"/>
                <a:ea typeface="Source Sans Pro" panose="020B0503030403020204" pitchFamily="34" charset="0"/>
                <a:cs typeface="Courier New" panose="02070309020205020404" pitchFamily="49" charset="0"/>
              </a:rPr>
              <a:t>private: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tr-TR" sz="1800" dirty="0">
                <a:latin typeface="Consolas" panose="020B0609020204030204" pitchFamily="49" charset="0"/>
                <a:ea typeface="Source Sans Pro" panose="020B0503030403020204" pitchFamily="34" charset="0"/>
                <a:cs typeface="Courier New" panose="02070309020205020404" pitchFamily="49" charset="0"/>
              </a:rPr>
              <a:t>Breaking* </a:t>
            </a:r>
            <a:r>
              <a:rPr lang="en-US" altLang="tr-TR" sz="1800" dirty="0" err="1">
                <a:latin typeface="Consolas" panose="020B0609020204030204" pitchFamily="49" charset="0"/>
                <a:ea typeface="Source Sans Pro" panose="020B0503030403020204" pitchFamily="34" charset="0"/>
                <a:cs typeface="Courier New" panose="02070309020205020404" pitchFamily="49" charset="0"/>
              </a:rPr>
              <a:t>breakS</a:t>
            </a:r>
            <a:r>
              <a:rPr lang="en-US" altLang="tr-TR" sz="1800" dirty="0">
                <a:latin typeface="Consolas" panose="020B0609020204030204" pitchFamily="49" charset="0"/>
                <a:ea typeface="Source Sans Pro" panose="020B0503030403020204" pitchFamily="34" charset="0"/>
                <a:cs typeface="Courier New" panose="02070309020205020404" pitchFamily="49" charset="0"/>
              </a:rPr>
              <a:t>;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tr-TR" sz="1800" dirty="0">
                <a:latin typeface="Consolas" panose="020B0609020204030204" pitchFamily="49" charset="0"/>
                <a:ea typeface="Source Sans Pro" panose="020B0503030403020204" pitchFamily="34" charset="0"/>
                <a:cs typeface="Courier New" panose="02070309020205020404" pitchFamily="49" charset="0"/>
              </a:rPr>
              <a:t>Accelerate( </a:t>
            </a:r>
            <a:r>
              <a:rPr lang="en-US" altLang="tr-TR" sz="1800" dirty="0" err="1">
                <a:latin typeface="Consolas" panose="020B0609020204030204" pitchFamily="49" charset="0"/>
                <a:ea typeface="Source Sans Pro" panose="020B0503030403020204" pitchFamily="34" charset="0"/>
                <a:cs typeface="Courier New" panose="02070309020205020404" pitchFamily="49" charset="0"/>
              </a:rPr>
              <a:t>accelS</a:t>
            </a:r>
            <a:r>
              <a:rPr lang="en-US" altLang="tr-TR" sz="1800" dirty="0">
                <a:latin typeface="Consolas" panose="020B0609020204030204" pitchFamily="49" charset="0"/>
                <a:ea typeface="Source Sans Pro" panose="020B0503030403020204" pitchFamily="34" charset="0"/>
                <a:cs typeface="Courier New" panose="02070309020205020404" pitchFamily="49" charset="0"/>
              </a:rPr>
              <a:t>;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tr-TR" sz="1800" dirty="0">
                <a:latin typeface="Consolas" panose="020B0609020204030204" pitchFamily="49" charset="0"/>
                <a:ea typeface="Source Sans Pro" panose="020B0503030403020204" pitchFamily="34" charset="0"/>
                <a:cs typeface="Courier New" panose="02070309020205020404" pitchFamily="49" charset="0"/>
              </a:rPr>
              <a:t>…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tr-TR" sz="1800" dirty="0">
                <a:latin typeface="Consolas" panose="020B0609020204030204" pitchFamily="49" charset="0"/>
                <a:ea typeface="Source Sans Pro" panose="020B0503030403020204" pitchFamily="34" charset="0"/>
                <a:cs typeface="Courier New" panose="02070309020205020404" pitchFamily="49" charset="0"/>
              </a:rPr>
              <a:t>public: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tr-TR" sz="1800" dirty="0">
                <a:latin typeface="Consolas" panose="020B0609020204030204" pitchFamily="49" charset="0"/>
                <a:ea typeface="Source Sans Pro" panose="020B0503030403020204" pitchFamily="34" charset="0"/>
                <a:cs typeface="Courier New" panose="02070309020205020404" pitchFamily="49" charset="0"/>
              </a:rPr>
              <a:t>break(){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tr-TR" sz="1800" dirty="0">
                <a:latin typeface="Consolas" panose="020B0609020204030204" pitchFamily="49" charset="0"/>
                <a:ea typeface="Source Sans Pro" panose="020B0503030403020204" pitchFamily="34" charset="0"/>
                <a:cs typeface="Courier New" panose="02070309020205020404" pitchFamily="49" charset="0"/>
              </a:rPr>
              <a:t>   </a:t>
            </a:r>
            <a:r>
              <a:rPr lang="en-US" altLang="tr-TR" sz="1800" dirty="0" err="1">
                <a:latin typeface="Consolas" panose="020B0609020204030204" pitchFamily="49" charset="0"/>
                <a:ea typeface="Source Sans Pro" panose="020B0503030403020204" pitchFamily="34" charset="0"/>
                <a:cs typeface="Courier New" panose="02070309020205020404" pitchFamily="49" charset="0"/>
              </a:rPr>
              <a:t>breakS</a:t>
            </a:r>
            <a:r>
              <a:rPr lang="en-US" altLang="tr-TR" sz="1800" dirty="0">
                <a:latin typeface="Consolas" panose="020B0609020204030204" pitchFamily="49" charset="0"/>
                <a:ea typeface="Source Sans Pro" panose="020B0503030403020204" pitchFamily="34" charset="0"/>
                <a:cs typeface="Courier New" panose="02070309020205020404" pitchFamily="49" charset="0"/>
              </a:rPr>
              <a:t>-&gt;break();}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tr-TR" sz="1800" dirty="0">
                <a:latin typeface="Consolas" panose="020B0609020204030204" pitchFamily="49" charset="0"/>
                <a:ea typeface="Source Sans Pro" panose="020B0503030403020204" pitchFamily="34" charset="0"/>
                <a:cs typeface="Courier New" panose="02070309020205020404" pitchFamily="49" charset="0"/>
              </a:rPr>
              <a:t>accelerate(){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tr-TR" sz="1800" dirty="0">
                <a:latin typeface="Consolas" panose="020B0609020204030204" pitchFamily="49" charset="0"/>
                <a:ea typeface="Source Sans Pro" panose="020B0503030403020204" pitchFamily="34" charset="0"/>
                <a:cs typeface="Courier New" panose="02070309020205020404" pitchFamily="49" charset="0"/>
              </a:rPr>
              <a:t>   </a:t>
            </a:r>
            <a:r>
              <a:rPr lang="en-US" altLang="tr-TR" sz="1800" dirty="0" err="1">
                <a:latin typeface="Consolas" panose="020B0609020204030204" pitchFamily="49" charset="0"/>
                <a:ea typeface="Source Sans Pro" panose="020B0503030403020204" pitchFamily="34" charset="0"/>
                <a:cs typeface="Courier New" panose="02070309020205020404" pitchFamily="49" charset="0"/>
              </a:rPr>
              <a:t>accelS</a:t>
            </a:r>
            <a:r>
              <a:rPr lang="en-US" altLang="tr-TR" sz="1800" dirty="0">
                <a:latin typeface="Consolas" panose="020B0609020204030204" pitchFamily="49" charset="0"/>
                <a:ea typeface="Source Sans Pro" panose="020B0503030403020204" pitchFamily="34" charset="0"/>
                <a:cs typeface="Courier New" panose="02070309020205020404" pitchFamily="49" charset="0"/>
              </a:rPr>
              <a:t>-&gt;accelerate();}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tr-TR" sz="1800" dirty="0">
                <a:latin typeface="Consolas" panose="020B0609020204030204" pitchFamily="49" charset="0"/>
                <a:ea typeface="Source Sans Pro" panose="020B0503030403020204" pitchFamily="34" charset="0"/>
                <a:cs typeface="Courier New" panose="02070309020205020404" pitchFamily="49" charset="0"/>
              </a:rPr>
              <a:t>Car(Breaking* b, 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tr-TR" sz="1800" dirty="0">
                <a:latin typeface="Consolas" panose="020B0609020204030204" pitchFamily="49" charset="0"/>
                <a:ea typeface="Source Sans Pro" panose="020B0503030403020204" pitchFamily="34" charset="0"/>
                <a:cs typeface="Courier New" panose="02070309020205020404" pitchFamily="49" charset="0"/>
              </a:rPr>
              <a:t>    Accelerate* a)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tr-TR" sz="1800" dirty="0">
                <a:latin typeface="Consolas" panose="020B0609020204030204" pitchFamily="49" charset="0"/>
                <a:ea typeface="Source Sans Pro" panose="020B0503030403020204" pitchFamily="34" charset="0"/>
                <a:cs typeface="Courier New" panose="02070309020205020404" pitchFamily="49" charset="0"/>
              </a:rPr>
              <a:t>    :</a:t>
            </a:r>
            <a:r>
              <a:rPr lang="en-US" altLang="tr-TR" sz="1800" dirty="0" err="1">
                <a:latin typeface="Consolas" panose="020B0609020204030204" pitchFamily="49" charset="0"/>
                <a:ea typeface="Source Sans Pro" panose="020B0503030403020204" pitchFamily="34" charset="0"/>
                <a:cs typeface="Courier New" panose="02070309020205020404" pitchFamily="49" charset="0"/>
              </a:rPr>
              <a:t>breakS</a:t>
            </a:r>
            <a:r>
              <a:rPr lang="en-US" altLang="tr-TR" sz="1800" dirty="0">
                <a:latin typeface="Consolas" panose="020B0609020204030204" pitchFamily="49" charset="0"/>
                <a:ea typeface="Source Sans Pro" panose="020B0503030403020204" pitchFamily="34" charset="0"/>
                <a:cs typeface="Courier New" panose="02070309020205020404" pitchFamily="49" charset="0"/>
              </a:rPr>
              <a:t>(b), </a:t>
            </a:r>
            <a:r>
              <a:rPr lang="en-US" altLang="tr-TR" sz="1800" dirty="0" err="1">
                <a:latin typeface="Consolas" panose="020B0609020204030204" pitchFamily="49" charset="0"/>
                <a:ea typeface="Source Sans Pro" panose="020B0503030403020204" pitchFamily="34" charset="0"/>
                <a:cs typeface="Courier New" panose="02070309020205020404" pitchFamily="49" charset="0"/>
              </a:rPr>
              <a:t>accelS</a:t>
            </a:r>
            <a:r>
              <a:rPr lang="en-US" altLang="tr-TR" sz="1800" dirty="0">
                <a:latin typeface="Consolas" panose="020B0609020204030204" pitchFamily="49" charset="0"/>
                <a:ea typeface="Source Sans Pro" panose="020B0503030403020204" pitchFamily="34" charset="0"/>
                <a:cs typeface="Courier New" panose="02070309020205020404" pitchFamily="49" charset="0"/>
              </a:rPr>
              <a:t>(a){}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tr-TR" sz="1800" dirty="0">
                <a:latin typeface="Consolas" panose="020B0609020204030204" pitchFamily="49" charset="0"/>
                <a:ea typeface="Source Sans Pro" panose="020B0503030403020204" pitchFamily="34" charset="0"/>
                <a:cs typeface="Courier New" panose="02070309020205020404" pitchFamily="49" charset="0"/>
              </a:rPr>
              <a:t>void </a:t>
            </a:r>
            <a:r>
              <a:rPr lang="en-US" altLang="tr-TR" sz="1800" dirty="0" err="1">
                <a:latin typeface="Consolas" panose="020B0609020204030204" pitchFamily="49" charset="0"/>
                <a:ea typeface="Source Sans Pro" panose="020B0503030403020204" pitchFamily="34" charset="0"/>
                <a:cs typeface="Courier New" panose="02070309020205020404" pitchFamily="49" charset="0"/>
              </a:rPr>
              <a:t>setBreakS</a:t>
            </a:r>
            <a:r>
              <a:rPr lang="en-US" altLang="tr-TR" sz="1800" dirty="0">
                <a:latin typeface="Consolas" panose="020B0609020204030204" pitchFamily="49" charset="0"/>
                <a:ea typeface="Source Sans Pro" panose="020B0503030403020204" pitchFamily="34" charset="0"/>
                <a:cs typeface="Courier New" panose="02070309020205020404" pitchFamily="49" charset="0"/>
              </a:rPr>
              <a:t>(Breaking* b){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tr-TR" sz="1800" dirty="0">
                <a:latin typeface="Consolas" panose="020B0609020204030204" pitchFamily="49" charset="0"/>
                <a:ea typeface="Source Sans Pro" panose="020B0503030403020204" pitchFamily="34" charset="0"/>
                <a:cs typeface="Courier New" panose="02070309020205020404" pitchFamily="49" charset="0"/>
              </a:rPr>
              <a:t>    </a:t>
            </a:r>
            <a:r>
              <a:rPr lang="en-US" altLang="tr-TR" sz="1800" dirty="0" err="1">
                <a:latin typeface="Consolas" panose="020B0609020204030204" pitchFamily="49" charset="0"/>
                <a:ea typeface="Source Sans Pro" panose="020B0503030403020204" pitchFamily="34" charset="0"/>
                <a:cs typeface="Courier New" panose="02070309020205020404" pitchFamily="49" charset="0"/>
              </a:rPr>
              <a:t>breakS</a:t>
            </a:r>
            <a:r>
              <a:rPr lang="en-US" altLang="tr-TR" sz="1800" dirty="0">
                <a:latin typeface="Consolas" panose="020B0609020204030204" pitchFamily="49" charset="0"/>
                <a:ea typeface="Source Sans Pro" panose="020B0503030403020204" pitchFamily="34" charset="0"/>
                <a:cs typeface="Courier New" panose="02070309020205020404" pitchFamily="49" charset="0"/>
              </a:rPr>
              <a:t>=b;} 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tr-TR" sz="1800" dirty="0">
                <a:latin typeface="Consolas" panose="020B0609020204030204" pitchFamily="49" charset="0"/>
                <a:ea typeface="Source Sans Pro" panose="020B0503030403020204" pitchFamily="34" charset="0"/>
                <a:cs typeface="Courier New" panose="02070309020205020404" pitchFamily="49" charset="0"/>
              </a:rPr>
              <a:t>…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  <a:defRPr/>
            </a:pPr>
            <a:r>
              <a:rPr lang="en-US" altLang="tr-TR" sz="1800" dirty="0">
                <a:latin typeface="Consolas" panose="020B0609020204030204" pitchFamily="49" charset="0"/>
                <a:ea typeface="Source Sans Pro" panose="020B0503030403020204" pitchFamily="34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8D0595C-8F9F-0BAA-2A12-0FF14CBCB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Strategy Solution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3">
            <a:extLst>
              <a:ext uri="{FF2B5EF4-FFF2-40B4-BE49-F238E27FC236}">
                <a16:creationId xmlns:a16="http://schemas.microsoft.com/office/drawing/2014/main" id="{EB4AE7C7-4790-FB41-04A2-77D9F7A0F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tr-TR" dirty="0"/>
              <a:t>Example 3: Strategy </a:t>
            </a:r>
          </a:p>
        </p:txBody>
      </p:sp>
      <p:pic>
        <p:nvPicPr>
          <p:cNvPr id="10243" name="Picture 2">
            <a:extLst>
              <a:ext uri="{FF2B5EF4-FFF2-40B4-BE49-F238E27FC236}">
                <a16:creationId xmlns:a16="http://schemas.microsoft.com/office/drawing/2014/main" id="{78DE5253-03B2-FDD3-4607-2DEBE34872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3" y="1685925"/>
            <a:ext cx="9134475" cy="3600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44" name="TextBox 5">
            <a:extLst>
              <a:ext uri="{FF2B5EF4-FFF2-40B4-BE49-F238E27FC236}">
                <a16:creationId xmlns:a16="http://schemas.microsoft.com/office/drawing/2014/main" id="{0E8E899D-F10D-A2C5-4A5B-697C7E0F01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8625" y="5643563"/>
            <a:ext cx="8334375" cy="738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tr-TR" sz="2400"/>
              <a:t>Application where the sorting algorithm is chosen at runtime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tr-TR" sz="180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Title 2">
            <a:extLst>
              <a:ext uri="{FF2B5EF4-FFF2-40B4-BE49-F238E27FC236}">
                <a16:creationId xmlns:a16="http://schemas.microsoft.com/office/drawing/2014/main" id="{3D20BF5E-7369-762D-1EF8-9BC2198C2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tr-TR" dirty="0"/>
              <a:t>Example 4</a:t>
            </a:r>
          </a:p>
        </p:txBody>
      </p:sp>
      <p:sp>
        <p:nvSpPr>
          <p:cNvPr id="11267" name="Content Placeholder 3">
            <a:extLst>
              <a:ext uri="{FF2B5EF4-FFF2-40B4-BE49-F238E27FC236}">
                <a16:creationId xmlns:a16="http://schemas.microsoft.com/office/drawing/2014/main" id="{3E89731D-FB8B-1CCD-1F1C-E025529C46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tr-TR" sz="2400"/>
              <a:t>A GUI text component object wants to decide at runtime what strategy it should use to validate user input. </a:t>
            </a:r>
          </a:p>
          <a:p>
            <a:r>
              <a:rPr lang="en-US" altLang="tr-TR" sz="2400"/>
              <a:t>Many different validation strategies are possible: numeric fields, alphanumeric fields, telephone-number fields, etc.</a:t>
            </a:r>
          </a:p>
        </p:txBody>
      </p:sp>
      <p:pic>
        <p:nvPicPr>
          <p:cNvPr id="80898" name="Picture 2">
            <a:extLst>
              <a:ext uri="{FF2B5EF4-FFF2-40B4-BE49-F238E27FC236}">
                <a16:creationId xmlns:a16="http://schemas.microsoft.com/office/drawing/2014/main" id="{A3D1C05F-2845-5D33-F07B-9B2196F5A9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594100"/>
            <a:ext cx="9144000" cy="2763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>
            <a:extLst>
              <a:ext uri="{FF2B5EF4-FFF2-40B4-BE49-F238E27FC236}">
                <a16:creationId xmlns:a16="http://schemas.microsoft.com/office/drawing/2014/main" id="{2B070331-1F79-9181-DDD4-C9B56249CB7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tr-TR" dirty="0"/>
              <a:t>Applicability -Strategy</a:t>
            </a:r>
          </a:p>
        </p:txBody>
      </p:sp>
      <p:sp>
        <p:nvSpPr>
          <p:cNvPr id="17411" name="Rectangle 3">
            <a:extLst>
              <a:ext uri="{FF2B5EF4-FFF2-40B4-BE49-F238E27FC236}">
                <a16:creationId xmlns:a16="http://schemas.microsoft.com/office/drawing/2014/main" id="{B3E813B8-9A87-37E6-AE76-58A01BA9684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tr-TR" sz="2800" dirty="0"/>
              <a:t>Many related classes differ only in behavior</a:t>
            </a:r>
          </a:p>
          <a:p>
            <a:pPr lvl="1"/>
            <a:r>
              <a:rPr lang="en-US" altLang="tr-TR" sz="2400" dirty="0"/>
              <a:t>you can reduce these several objects to one class that uses several Strategies.</a:t>
            </a:r>
          </a:p>
          <a:p>
            <a:r>
              <a:rPr lang="en-US" altLang="tr-TR" sz="2800" dirty="0"/>
              <a:t>Need different variants of an algorithm</a:t>
            </a:r>
          </a:p>
          <a:p>
            <a:pPr lvl="1"/>
            <a:r>
              <a:rPr lang="en-US" altLang="tr-TR" sz="2400" dirty="0"/>
              <a:t>switch from one algorithm to another during runtime</a:t>
            </a:r>
          </a:p>
          <a:p>
            <a:r>
              <a:rPr lang="en-US" altLang="tr-TR" sz="2800" dirty="0"/>
              <a:t>Avoid exposing complex, algorithm specific data structures</a:t>
            </a:r>
          </a:p>
          <a:p>
            <a:pPr lvl="1"/>
            <a:r>
              <a:rPr lang="en-US" altLang="tr-TR" sz="2400" dirty="0"/>
              <a:t>E.g. intermediate data structure used for compression</a:t>
            </a:r>
          </a:p>
          <a:p>
            <a:r>
              <a:rPr lang="en-US" altLang="tr-TR" sz="2800" dirty="0"/>
              <a:t>A class defines many behaviors and chooses one with conditionals	</a:t>
            </a:r>
          </a:p>
        </p:txBody>
      </p:sp>
    </p:spTree>
    <p:extLst>
      <p:ext uri="{BB962C8B-B14F-4D97-AF65-F5344CB8AC3E}">
        <p14:creationId xmlns:p14="http://schemas.microsoft.com/office/powerpoint/2010/main" val="107409550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4" name="Picture 2">
            <a:extLst>
              <a:ext uri="{FF2B5EF4-FFF2-40B4-BE49-F238E27FC236}">
                <a16:creationId xmlns:a16="http://schemas.microsoft.com/office/drawing/2014/main" id="{CEC40430-C17B-C3CB-8CC8-053C59ED7C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541" y="2636912"/>
            <a:ext cx="8426450" cy="2447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2EE1FA-FF96-C1CC-41EF-69841EA03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44" y="1412776"/>
            <a:ext cx="9073256" cy="4896544"/>
          </a:xfrm>
        </p:spPr>
        <p:txBody>
          <a:bodyPr/>
          <a:lstStyle/>
          <a:p>
            <a:pPr>
              <a:defRPr/>
            </a:pPr>
            <a:r>
              <a:rPr lang="en-US" sz="2800" dirty="0"/>
              <a:t> </a:t>
            </a:r>
            <a:r>
              <a:rPr lang="en-US" sz="2400" dirty="0"/>
              <a:t>A GUI container object wants to decide at run-time what strategy it should use to layout the GUI components it contains. Many different layout strategies are already available.</a:t>
            </a:r>
          </a:p>
          <a:p>
            <a:pPr>
              <a:defRPr/>
            </a:pPr>
            <a:endParaRPr lang="en-US" sz="2800" dirty="0"/>
          </a:p>
          <a:p>
            <a:pPr>
              <a:defRPr/>
            </a:pPr>
            <a:endParaRPr lang="en-US" sz="2800" dirty="0"/>
          </a:p>
          <a:p>
            <a:pPr marL="0" indent="0">
              <a:buFontTx/>
              <a:buNone/>
              <a:defRPr/>
            </a:pPr>
            <a:endParaRPr lang="en-US" sz="2400" dirty="0"/>
          </a:p>
          <a:p>
            <a:pPr marL="0" indent="0">
              <a:buFontTx/>
              <a:buNone/>
              <a:defRPr/>
            </a:pPr>
            <a:endParaRPr lang="en-US" sz="2400" dirty="0"/>
          </a:p>
          <a:p>
            <a:pPr marL="800100" lvl="2" indent="0">
              <a:lnSpc>
                <a:spcPct val="100000"/>
              </a:lnSpc>
              <a:buNone/>
              <a:defRPr/>
            </a:pPr>
            <a:r>
              <a:rPr lang="tr-TR" sz="2000" dirty="0" err="1">
                <a:latin typeface="Consolas" panose="020B0609020204030204" pitchFamily="49" charset="0"/>
              </a:rPr>
              <a:t>Frame</a:t>
            </a:r>
            <a:r>
              <a:rPr lang="tr-TR" sz="2000" dirty="0">
                <a:latin typeface="Consolas" panose="020B0609020204030204" pitchFamily="49" charset="0"/>
              </a:rPr>
              <a:t> f = new Frame();</a:t>
            </a:r>
          </a:p>
          <a:p>
            <a:pPr marL="800100" lvl="2" indent="0">
              <a:lnSpc>
                <a:spcPct val="100000"/>
              </a:lnSpc>
              <a:buNone/>
              <a:defRPr/>
            </a:pPr>
            <a:r>
              <a:rPr lang="tr-TR" sz="2000" dirty="0">
                <a:latin typeface="Consolas" panose="020B0609020204030204" pitchFamily="49" charset="0"/>
              </a:rPr>
              <a:t>f.setLayout(new FlowLayout());</a:t>
            </a:r>
          </a:p>
          <a:p>
            <a:pPr marL="800100" lvl="2" indent="0">
              <a:lnSpc>
                <a:spcPct val="100000"/>
              </a:lnSpc>
              <a:buNone/>
              <a:defRPr/>
            </a:pPr>
            <a:r>
              <a:rPr lang="tr-TR" sz="2000" dirty="0">
                <a:latin typeface="Consolas" panose="020B0609020204030204" pitchFamily="49" charset="0"/>
              </a:rPr>
              <a:t>f.add(new Button(“Press”));</a:t>
            </a:r>
          </a:p>
        </p:txBody>
      </p:sp>
      <p:sp>
        <p:nvSpPr>
          <p:cNvPr id="20482" name="Title 1">
            <a:extLst>
              <a:ext uri="{FF2B5EF4-FFF2-40B4-BE49-F238E27FC236}">
                <a16:creationId xmlns:a16="http://schemas.microsoft.com/office/drawing/2014/main" id="{503BEA70-D123-0167-1074-A876015A92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15888"/>
            <a:ext cx="8229600" cy="1143000"/>
          </a:xfrm>
        </p:spPr>
        <p:txBody>
          <a:bodyPr/>
          <a:lstStyle/>
          <a:p>
            <a:r>
              <a:rPr lang="en-US" altLang="en-US" dirty="0"/>
              <a:t>Example 5 – </a:t>
            </a:r>
            <a:r>
              <a:rPr lang="en-US" altLang="en-US" dirty="0" err="1"/>
              <a:t>javax.swing</a:t>
            </a:r>
            <a:endParaRPr lang="tr-TR" altLang="en-US" dirty="0"/>
          </a:p>
        </p:txBody>
      </p:sp>
    </p:spTree>
    <p:extLst>
      <p:ext uri="{BB962C8B-B14F-4D97-AF65-F5344CB8AC3E}">
        <p14:creationId xmlns:p14="http://schemas.microsoft.com/office/powerpoint/2010/main" val="31182549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>
            <a:extLst>
              <a:ext uri="{FF2B5EF4-FFF2-40B4-BE49-F238E27FC236}">
                <a16:creationId xmlns:a16="http://schemas.microsoft.com/office/drawing/2014/main" id="{0EA84428-7C3E-6B54-4EFC-0A7B35544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tr-TR"/>
              <a:t>Strategy – other examples</a:t>
            </a:r>
          </a:p>
        </p:txBody>
      </p:sp>
      <p:sp>
        <p:nvSpPr>
          <p:cNvPr id="12291" name="Content Placeholder 2">
            <a:extLst>
              <a:ext uri="{FF2B5EF4-FFF2-40B4-BE49-F238E27FC236}">
                <a16:creationId xmlns:a16="http://schemas.microsoft.com/office/drawing/2014/main" id="{1FDA3694-545C-50FB-2D98-BEFE7D16FF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tr-TR"/>
              <a:t>Application where the compressing algorithm is chosen at runtime</a:t>
            </a:r>
          </a:p>
          <a:p>
            <a:r>
              <a:rPr lang="en-US" altLang="tr-TR"/>
              <a:t>Application where the provisioning algorithm is chosen at runtime depending on the user type</a:t>
            </a:r>
          </a:p>
        </p:txBody>
      </p:sp>
    </p:spTree>
  </p:cSld>
  <p:clrMapOvr>
    <a:masterClrMapping/>
  </p:clrMapOvr>
  <p:transition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>
            <a:extLst>
              <a:ext uri="{FF2B5EF4-FFF2-40B4-BE49-F238E27FC236}">
                <a16:creationId xmlns:a16="http://schemas.microsoft.com/office/drawing/2014/main" id="{7E4F01EA-D841-A566-A6F7-667643D4581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tr-TR"/>
              <a:t>Strategy – another example</a:t>
            </a:r>
          </a:p>
        </p:txBody>
      </p:sp>
      <p:sp>
        <p:nvSpPr>
          <p:cNvPr id="13315" name="Text Box 4">
            <a:extLst>
              <a:ext uri="{FF2B5EF4-FFF2-40B4-BE49-F238E27FC236}">
                <a16:creationId xmlns:a16="http://schemas.microsoft.com/office/drawing/2014/main" id="{B605106E-599F-F555-83BE-F046314B08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9475" y="5897563"/>
            <a:ext cx="76136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tr-TR" sz="1800"/>
              <a:t>Composition is responsible for maintaining line breaks of a text displayed.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tr-TR" sz="1800"/>
              <a:t>Compositor class has line breaking algorithms in its subclasses.</a:t>
            </a:r>
          </a:p>
        </p:txBody>
      </p:sp>
      <p:pic>
        <p:nvPicPr>
          <p:cNvPr id="13316" name="Picture 1">
            <a:extLst>
              <a:ext uri="{FF2B5EF4-FFF2-40B4-BE49-F238E27FC236}">
                <a16:creationId xmlns:a16="http://schemas.microsoft.com/office/drawing/2014/main" id="{8D3F94D8-9CBE-E668-82C6-A0964A3C3E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213" y="1862138"/>
            <a:ext cx="8791575" cy="3133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CA9734B1-C6CC-4DFB-A39C-674C571D148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tr-TR" dirty="0"/>
              <a:t>Example 6 </a:t>
            </a:r>
          </a:p>
        </p:txBody>
      </p:sp>
      <p:sp>
        <p:nvSpPr>
          <p:cNvPr id="14339" name="Rectangle 3">
            <a:extLst>
              <a:ext uri="{FF2B5EF4-FFF2-40B4-BE49-F238E27FC236}">
                <a16:creationId xmlns:a16="http://schemas.microsoft.com/office/drawing/2014/main" id="{0D778FE6-13F2-0FF6-FADA-21FA60814E2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tr-TR" sz="2800"/>
              <a:t>There are numerous border types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tr-TR" sz="2400"/>
              <a:t>Line, titled, edged,…</a:t>
            </a:r>
          </a:p>
          <a:p>
            <a:pPr eaLnBrk="1" hangingPunct="1">
              <a:lnSpc>
                <a:spcPct val="90000"/>
              </a:lnSpc>
            </a:pPr>
            <a:endParaRPr lang="en-US" altLang="tr-TR" sz="2800"/>
          </a:p>
          <a:p>
            <a:pPr eaLnBrk="1" hangingPunct="1">
              <a:lnSpc>
                <a:spcPct val="90000"/>
              </a:lnSpc>
            </a:pPr>
            <a:r>
              <a:rPr lang="en-US" altLang="tr-TR" sz="2800"/>
              <a:t>Each visual component draws itself with different bordering (assume they are not decorated)</a:t>
            </a:r>
          </a:p>
          <a:p>
            <a:pPr eaLnBrk="1" hangingPunct="1">
              <a:lnSpc>
                <a:spcPct val="90000"/>
              </a:lnSpc>
            </a:pPr>
            <a:endParaRPr lang="en-US" altLang="tr-TR" sz="2800"/>
          </a:p>
          <a:p>
            <a:pPr eaLnBrk="1" hangingPunct="1">
              <a:lnSpc>
                <a:spcPct val="90000"/>
              </a:lnSpc>
            </a:pPr>
            <a:r>
              <a:rPr lang="en-US" altLang="tr-TR" sz="2800"/>
              <a:t>All they differ is border drawing algorithm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tr-TR" sz="2400"/>
              <a:t>There is a family of border drawing algorithm</a:t>
            </a:r>
          </a:p>
        </p:txBody>
      </p:sp>
    </p:spTree>
  </p:cSld>
  <p:clrMapOvr>
    <a:masterClrMapping/>
  </p:clrMapOvr>
  <p:transition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>
            <a:extLst>
              <a:ext uri="{FF2B5EF4-FFF2-40B4-BE49-F238E27FC236}">
                <a16:creationId xmlns:a16="http://schemas.microsoft.com/office/drawing/2014/main" id="{6F189CC0-A838-9A37-3A35-574A9FEFF7A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tr-TR"/>
              <a:t>Example</a:t>
            </a:r>
          </a:p>
        </p:txBody>
      </p:sp>
      <p:sp>
        <p:nvSpPr>
          <p:cNvPr id="182275" name="Rectangle 3">
            <a:extLst>
              <a:ext uri="{FF2B5EF4-FFF2-40B4-BE49-F238E27FC236}">
                <a16:creationId xmlns:a16="http://schemas.microsoft.com/office/drawing/2014/main" id="{6FC1C364-64BD-D246-D5DB-6E552AD1C69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  <a:buFontTx/>
              <a:buNone/>
            </a:pPr>
            <a:r>
              <a:rPr lang="en-US" altLang="tr-TR" sz="2000" dirty="0">
                <a:latin typeface="Courier New" panose="02070309020205020404" pitchFamily="49" charset="0"/>
              </a:rPr>
              <a:t>class </a:t>
            </a:r>
            <a:r>
              <a:rPr lang="en-US" altLang="tr-TR" sz="2000" dirty="0" err="1">
                <a:latin typeface="Courier New" panose="02070309020205020404" pitchFamily="49" charset="0"/>
              </a:rPr>
              <a:t>JComponent</a:t>
            </a:r>
            <a:r>
              <a:rPr lang="en-US" altLang="tr-TR" sz="2000" dirty="0">
                <a:latin typeface="Courier New" panose="02070309020205020404" pitchFamily="49" charset="0"/>
              </a:rPr>
              <a:t>{….</a:t>
            </a:r>
          </a:p>
          <a:p>
            <a:pPr eaLnBrk="1" hangingPunct="1">
              <a:lnSpc>
                <a:spcPct val="80000"/>
              </a:lnSpc>
              <a:buFontTx/>
              <a:buNone/>
            </a:pPr>
            <a:r>
              <a:rPr lang="en-US" altLang="tr-TR" sz="2000" dirty="0">
                <a:latin typeface="Courier New" panose="02070309020205020404" pitchFamily="49" charset="0"/>
              </a:rPr>
              <a:t> protected void </a:t>
            </a:r>
            <a:r>
              <a:rPr lang="en-US" altLang="tr-TR" sz="2000" b="1" dirty="0" err="1">
                <a:latin typeface="Courier New" panose="02070309020205020404" pitchFamily="49" charset="0"/>
              </a:rPr>
              <a:t>paintBorder</a:t>
            </a:r>
            <a:r>
              <a:rPr lang="en-US" altLang="tr-TR" sz="2000" dirty="0">
                <a:latin typeface="Courier New" panose="02070309020205020404" pitchFamily="49" charset="0"/>
              </a:rPr>
              <a:t>(Graphics g) {</a:t>
            </a:r>
            <a:br>
              <a:rPr lang="en-US" altLang="tr-TR" sz="2000" dirty="0">
                <a:latin typeface="Courier New" panose="02070309020205020404" pitchFamily="49" charset="0"/>
              </a:rPr>
            </a:br>
            <a:r>
              <a:rPr lang="en-US" altLang="tr-TR" sz="2000" dirty="0">
                <a:latin typeface="Courier New" panose="02070309020205020404" pitchFamily="49" charset="0"/>
              </a:rPr>
              <a:t>switch(</a:t>
            </a:r>
            <a:r>
              <a:rPr lang="en-US" altLang="tr-TR" sz="2000" dirty="0" err="1">
                <a:latin typeface="Courier New" panose="02070309020205020404" pitchFamily="49" charset="0"/>
              </a:rPr>
              <a:t>getBorderType</a:t>
            </a:r>
            <a:r>
              <a:rPr lang="en-US" altLang="tr-TR" sz="2000" dirty="0">
                <a:latin typeface="Courier New" panose="02070309020205020404" pitchFamily="49" charset="0"/>
              </a:rPr>
              <a:t>()) {</a:t>
            </a:r>
            <a:br>
              <a:rPr lang="en-US" altLang="tr-TR" sz="2000" dirty="0">
                <a:latin typeface="Courier New" panose="02070309020205020404" pitchFamily="49" charset="0"/>
              </a:rPr>
            </a:br>
            <a:r>
              <a:rPr lang="en-US" altLang="tr-TR" sz="2000" dirty="0">
                <a:latin typeface="Courier New" panose="02070309020205020404" pitchFamily="49" charset="0"/>
              </a:rPr>
              <a:t> case LINE_BORDER:   </a:t>
            </a:r>
            <a:r>
              <a:rPr lang="en-US" altLang="tr-TR" sz="2000" dirty="0" err="1">
                <a:latin typeface="Courier New" panose="02070309020205020404" pitchFamily="49" charset="0"/>
              </a:rPr>
              <a:t>paintLineBorder</a:t>
            </a:r>
            <a:r>
              <a:rPr lang="en-US" altLang="tr-TR" sz="2000" dirty="0">
                <a:latin typeface="Courier New" panose="02070309020205020404" pitchFamily="49" charset="0"/>
              </a:rPr>
              <a:t>(g); break;</a:t>
            </a:r>
            <a:br>
              <a:rPr lang="en-US" altLang="tr-TR" sz="2000" dirty="0">
                <a:latin typeface="Courier New" panose="02070309020205020404" pitchFamily="49" charset="0"/>
              </a:rPr>
            </a:br>
            <a:r>
              <a:rPr lang="en-US" altLang="tr-TR" sz="2000" dirty="0">
                <a:latin typeface="Courier New" panose="02070309020205020404" pitchFamily="49" charset="0"/>
              </a:rPr>
              <a:t> case ETCHED_BORDER: </a:t>
            </a:r>
            <a:r>
              <a:rPr lang="en-US" altLang="tr-TR" sz="2000" dirty="0" err="1">
                <a:latin typeface="Courier New" panose="02070309020205020404" pitchFamily="49" charset="0"/>
              </a:rPr>
              <a:t>paintEtchedBorder</a:t>
            </a:r>
            <a:r>
              <a:rPr lang="en-US" altLang="tr-TR" sz="2000" dirty="0">
                <a:latin typeface="Courier New" panose="02070309020205020404" pitchFamily="49" charset="0"/>
              </a:rPr>
              <a:t>(g); break;</a:t>
            </a:r>
            <a:br>
              <a:rPr lang="en-US" altLang="tr-TR" sz="2000" dirty="0">
                <a:latin typeface="Courier New" panose="02070309020205020404" pitchFamily="49" charset="0"/>
              </a:rPr>
            </a:br>
            <a:r>
              <a:rPr lang="en-US" altLang="tr-TR" sz="2000" dirty="0">
                <a:latin typeface="Courier New" panose="02070309020205020404" pitchFamily="49" charset="0"/>
              </a:rPr>
              <a:t> case TITLED_BORDER: </a:t>
            </a:r>
            <a:r>
              <a:rPr lang="en-US" altLang="tr-TR" sz="2000" dirty="0" err="1">
                <a:latin typeface="Courier New" panose="02070309020205020404" pitchFamily="49" charset="0"/>
              </a:rPr>
              <a:t>paintTitledBorder</a:t>
            </a:r>
            <a:r>
              <a:rPr lang="en-US" altLang="tr-TR" sz="2000" dirty="0">
                <a:latin typeface="Courier New" panose="02070309020205020404" pitchFamily="49" charset="0"/>
              </a:rPr>
              <a:t>(g); break;</a:t>
            </a:r>
            <a:br>
              <a:rPr lang="en-US" altLang="tr-TR" sz="2000" dirty="0">
                <a:latin typeface="Courier New" panose="02070309020205020404" pitchFamily="49" charset="0"/>
              </a:rPr>
            </a:br>
            <a:r>
              <a:rPr lang="en-US" altLang="tr-TR" sz="2000" dirty="0">
                <a:latin typeface="Courier New" panose="02070309020205020404" pitchFamily="49" charset="0"/>
              </a:rPr>
              <a:t> ...}</a:t>
            </a:r>
          </a:p>
          <a:p>
            <a:pPr eaLnBrk="1" hangingPunct="1">
              <a:lnSpc>
                <a:spcPct val="80000"/>
              </a:lnSpc>
              <a:buFontTx/>
              <a:buNone/>
            </a:pPr>
            <a:r>
              <a:rPr lang="en-US" altLang="tr-TR" sz="2000" dirty="0">
                <a:latin typeface="Courier New" panose="02070309020205020404" pitchFamily="49" charset="0"/>
              </a:rPr>
              <a:t>}</a:t>
            </a:r>
          </a:p>
          <a:p>
            <a:pPr eaLnBrk="1" hangingPunct="1">
              <a:lnSpc>
                <a:spcPct val="80000"/>
              </a:lnSpc>
              <a:buFontTx/>
              <a:buNone/>
            </a:pPr>
            <a:r>
              <a:rPr lang="en-US" altLang="tr-TR" sz="2000" dirty="0"/>
              <a:t>// The actual implementation of the </a:t>
            </a:r>
            <a:r>
              <a:rPr lang="en-US" altLang="tr-TR" sz="2000" dirty="0" err="1"/>
              <a:t>JComponent.paintBorder</a:t>
            </a:r>
            <a:r>
              <a:rPr lang="en-US" altLang="tr-TR" sz="2000" dirty="0"/>
              <a:t>() method</a:t>
            </a:r>
          </a:p>
          <a:p>
            <a:pPr eaLnBrk="1" hangingPunct="1">
              <a:buFontTx/>
              <a:buNone/>
            </a:pPr>
            <a:r>
              <a:rPr lang="en-US" altLang="tr-TR" sz="2000" dirty="0">
                <a:latin typeface="Courier New" panose="02070309020205020404" pitchFamily="49" charset="0"/>
              </a:rPr>
              <a:t>protected void </a:t>
            </a:r>
            <a:r>
              <a:rPr lang="en-US" altLang="tr-TR" sz="2000" b="1" dirty="0" err="1">
                <a:latin typeface="Courier New" panose="02070309020205020404" pitchFamily="49" charset="0"/>
              </a:rPr>
              <a:t>paintBorder</a:t>
            </a:r>
            <a:r>
              <a:rPr lang="en-US" altLang="tr-TR" sz="2000" dirty="0">
                <a:latin typeface="Courier New" panose="02070309020205020404" pitchFamily="49" charset="0"/>
              </a:rPr>
              <a:t>(Graphics g) {</a:t>
            </a:r>
          </a:p>
          <a:p>
            <a:pPr eaLnBrk="1" hangingPunct="1">
              <a:buFontTx/>
              <a:buNone/>
            </a:pPr>
            <a:r>
              <a:rPr lang="en-US" altLang="tr-TR" sz="2000" dirty="0">
                <a:latin typeface="Courier New" panose="02070309020205020404" pitchFamily="49" charset="0"/>
              </a:rPr>
              <a:t>  Border </a:t>
            </a:r>
            <a:r>
              <a:rPr lang="en-US" altLang="tr-TR" sz="2000" dirty="0" err="1">
                <a:latin typeface="Courier New" panose="02070309020205020404" pitchFamily="49" charset="0"/>
              </a:rPr>
              <a:t>border</a:t>
            </a:r>
            <a:r>
              <a:rPr lang="en-US" altLang="tr-TR" sz="2000" dirty="0">
                <a:latin typeface="Courier New" panose="02070309020205020404" pitchFamily="49" charset="0"/>
              </a:rPr>
              <a:t> = </a:t>
            </a:r>
            <a:r>
              <a:rPr lang="en-US" altLang="tr-TR" sz="2000" dirty="0" err="1">
                <a:latin typeface="Courier New" panose="02070309020205020404" pitchFamily="49" charset="0"/>
              </a:rPr>
              <a:t>getBorder</a:t>
            </a:r>
            <a:r>
              <a:rPr lang="en-US" altLang="tr-TR" sz="2000" dirty="0">
                <a:latin typeface="Courier New" panose="02070309020205020404" pitchFamily="49" charset="0"/>
              </a:rPr>
              <a:t>();</a:t>
            </a:r>
            <a:br>
              <a:rPr lang="en-US" altLang="tr-TR" sz="2000" dirty="0">
                <a:latin typeface="Courier New" panose="02070309020205020404" pitchFamily="49" charset="0"/>
              </a:rPr>
            </a:br>
            <a:r>
              <a:rPr lang="en-US" altLang="tr-TR" sz="2000" dirty="0">
                <a:latin typeface="Courier New" panose="02070309020205020404" pitchFamily="49" charset="0"/>
              </a:rPr>
              <a:t> if (border != null) {</a:t>
            </a:r>
            <a:br>
              <a:rPr lang="en-US" altLang="tr-TR" sz="2000" dirty="0">
                <a:latin typeface="Courier New" panose="02070309020205020404" pitchFamily="49" charset="0"/>
              </a:rPr>
            </a:br>
            <a:r>
              <a:rPr lang="en-US" altLang="tr-TR" sz="2000" dirty="0">
                <a:latin typeface="Courier New" panose="02070309020205020404" pitchFamily="49" charset="0"/>
              </a:rPr>
              <a:t>   </a:t>
            </a:r>
            <a:r>
              <a:rPr lang="en-US" altLang="tr-TR" sz="2000" b="1" dirty="0" err="1">
                <a:latin typeface="Courier New" panose="02070309020205020404" pitchFamily="49" charset="0"/>
              </a:rPr>
              <a:t>border.paintBorder</a:t>
            </a:r>
            <a:r>
              <a:rPr lang="en-US" altLang="tr-TR" sz="2000" dirty="0">
                <a:latin typeface="Courier New" panose="02070309020205020404" pitchFamily="49" charset="0"/>
              </a:rPr>
              <a:t>(</a:t>
            </a:r>
            <a:r>
              <a:rPr lang="en-US" altLang="tr-TR" sz="2000" b="1" dirty="0">
                <a:latin typeface="Courier New" panose="02070309020205020404" pitchFamily="49" charset="0"/>
              </a:rPr>
              <a:t>this</a:t>
            </a:r>
            <a:r>
              <a:rPr lang="en-US" altLang="tr-TR" sz="2000" dirty="0">
                <a:latin typeface="Courier New" panose="02070309020205020404" pitchFamily="49" charset="0"/>
              </a:rPr>
              <a:t>,g,0,0,getWidth(), </a:t>
            </a:r>
            <a:r>
              <a:rPr lang="en-US" altLang="tr-TR" sz="2000" dirty="0" err="1">
                <a:latin typeface="Courier New" panose="02070309020205020404" pitchFamily="49" charset="0"/>
              </a:rPr>
              <a:t>getHeight</a:t>
            </a:r>
            <a:r>
              <a:rPr lang="en-US" altLang="tr-TR" sz="2000" dirty="0">
                <a:latin typeface="Courier New" panose="02070309020205020404" pitchFamily="49" charset="0"/>
              </a:rPr>
              <a:t>()); }</a:t>
            </a:r>
          </a:p>
          <a:p>
            <a:pPr eaLnBrk="1" hangingPunct="1">
              <a:buFontTx/>
              <a:buNone/>
            </a:pPr>
            <a:r>
              <a:rPr lang="en-US" altLang="tr-TR" sz="2000" dirty="0">
                <a:latin typeface="Courier New" panose="02070309020205020404" pitchFamily="49" charset="0"/>
              </a:rPr>
              <a:t>} </a:t>
            </a:r>
          </a:p>
          <a:p>
            <a:pPr eaLnBrk="1" hangingPunct="1">
              <a:lnSpc>
                <a:spcPct val="80000"/>
              </a:lnSpc>
              <a:buFontTx/>
              <a:buNone/>
            </a:pPr>
            <a:r>
              <a:rPr lang="en-US" altLang="tr-TR" sz="2000" dirty="0"/>
              <a:t>Border Object has the drawing algorithm not the </a:t>
            </a:r>
            <a:r>
              <a:rPr lang="en-US" altLang="tr-TR" sz="2000" dirty="0" err="1"/>
              <a:t>JComponent</a:t>
            </a:r>
            <a:endParaRPr lang="en-US" altLang="tr-TR" sz="2000" dirty="0"/>
          </a:p>
        </p:txBody>
      </p:sp>
      <p:sp>
        <p:nvSpPr>
          <p:cNvPr id="182276" name="Line 4">
            <a:extLst>
              <a:ext uri="{FF2B5EF4-FFF2-40B4-BE49-F238E27FC236}">
                <a16:creationId xmlns:a16="http://schemas.microsoft.com/office/drawing/2014/main" id="{C6AC467F-8F66-3750-1CF1-5624C6743A3F}"/>
              </a:ext>
            </a:extLst>
          </p:cNvPr>
          <p:cNvSpPr>
            <a:spLocks noChangeShapeType="1"/>
          </p:cNvSpPr>
          <p:nvPr/>
        </p:nvSpPr>
        <p:spPr bwMode="auto">
          <a:xfrm>
            <a:off x="1331640" y="1335291"/>
            <a:ext cx="6048672" cy="1589653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2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2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2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2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2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>
            <a:extLst>
              <a:ext uri="{FF2B5EF4-FFF2-40B4-BE49-F238E27FC236}">
                <a16:creationId xmlns:a16="http://schemas.microsoft.com/office/drawing/2014/main" id="{AAD58E95-3E01-E500-AAB1-AE417341D07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tr-TR" dirty="0"/>
              <a:t>Strategy – Consequences-1</a:t>
            </a:r>
          </a:p>
        </p:txBody>
      </p:sp>
      <p:sp>
        <p:nvSpPr>
          <p:cNvPr id="18435" name="Rectangle 3">
            <a:extLst>
              <a:ext uri="{FF2B5EF4-FFF2-40B4-BE49-F238E27FC236}">
                <a16:creationId xmlns:a16="http://schemas.microsoft.com/office/drawing/2014/main" id="{2E127C90-DD8C-018C-0951-1EECBA0A3E5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tr-TR" sz="2800" dirty="0"/>
              <a:t>Eliminates conditional statements</a:t>
            </a:r>
          </a:p>
          <a:p>
            <a:pPr lvl="1" eaLnBrk="1" hangingPunct="1"/>
            <a:r>
              <a:rPr lang="en-US" altLang="tr-TR" sz="2400" dirty="0"/>
              <a:t>When you have several behaviors together in one class, you’ll use conditionals</a:t>
            </a:r>
          </a:p>
          <a:p>
            <a:pPr lvl="1" eaLnBrk="1" hangingPunct="1"/>
            <a:r>
              <a:rPr lang="en-US" altLang="tr-TR" sz="2400" dirty="0"/>
              <a:t>With Strategies you won't need to check for anything, since whatever the current strategy is just executes without asking questions </a:t>
            </a:r>
          </a:p>
          <a:p>
            <a:pPr eaLnBrk="1" hangingPunct="1"/>
            <a:r>
              <a:rPr lang="en-US" altLang="tr-TR" sz="2800" dirty="0"/>
              <a:t>Alternative to subclassing context object to achieve different behaviors </a:t>
            </a:r>
          </a:p>
          <a:p>
            <a:pPr lvl="1" eaLnBrk="1" hangingPunct="1"/>
            <a:r>
              <a:rPr lang="en-US" altLang="tr-TR" sz="2400" dirty="0"/>
              <a:t>With Strategies all you need to do is switch the context's strategy and it will immediately change how it behaves. 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>
            <a:extLst>
              <a:ext uri="{FF2B5EF4-FFF2-40B4-BE49-F238E27FC236}">
                <a16:creationId xmlns:a16="http://schemas.microsoft.com/office/drawing/2014/main" id="{AAD58E95-3E01-E500-AAB1-AE417341D07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tr-TR" dirty="0"/>
              <a:t>Strategy – Consequences-2</a:t>
            </a:r>
          </a:p>
        </p:txBody>
      </p:sp>
      <p:sp>
        <p:nvSpPr>
          <p:cNvPr id="18435" name="Rectangle 3">
            <a:extLst>
              <a:ext uri="{FF2B5EF4-FFF2-40B4-BE49-F238E27FC236}">
                <a16:creationId xmlns:a16="http://schemas.microsoft.com/office/drawing/2014/main" id="{2E127C90-DD8C-018C-0951-1EECBA0A3E5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tr-TR" sz="2800" dirty="0"/>
              <a:t>Change the algorithm on the fly</a:t>
            </a:r>
          </a:p>
          <a:p>
            <a:pPr eaLnBrk="1" hangingPunct="1"/>
            <a:r>
              <a:rPr lang="en-US" altLang="tr-TR" sz="2800" dirty="0"/>
              <a:t>We can introduce new strategies without having to change the context. (OCP)</a:t>
            </a:r>
          </a:p>
          <a:p>
            <a:pPr eaLnBrk="1" hangingPunct="1"/>
            <a:r>
              <a:rPr lang="en-US" altLang="tr-TR" sz="2800" dirty="0"/>
              <a:t>Strategies can be shared</a:t>
            </a:r>
            <a:endParaRPr lang="en-US" altLang="tr-TR" sz="2400" dirty="0"/>
          </a:p>
          <a:p>
            <a:pPr eaLnBrk="1" hangingPunct="1"/>
            <a:r>
              <a:rPr lang="en-US" altLang="tr-TR" sz="2800" dirty="0"/>
              <a:t>Increases number of objects and communication overhead btw strategy and context</a:t>
            </a:r>
          </a:p>
          <a:p>
            <a:pPr lvl="1"/>
            <a:r>
              <a:rPr lang="en-US" altLang="tr-TR" sz="2400" dirty="0"/>
              <a:t>See the implementation issues-2</a:t>
            </a:r>
          </a:p>
          <a:p>
            <a:pPr marL="0" indent="0" eaLnBrk="1" hangingPunct="1">
              <a:buNone/>
            </a:pPr>
            <a:endParaRPr lang="en-US" altLang="tr-TR" sz="2800" dirty="0"/>
          </a:p>
        </p:txBody>
      </p:sp>
    </p:spTree>
    <p:extLst>
      <p:ext uri="{BB962C8B-B14F-4D97-AF65-F5344CB8AC3E}">
        <p14:creationId xmlns:p14="http://schemas.microsoft.com/office/powerpoint/2010/main" val="348075795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1A7DA5-A6D0-1F95-A539-02DA020FB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issues-1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6E480-1B06-1006-CECC-E5DEC3831C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4664" y="1335291"/>
            <a:ext cx="8939336" cy="1805677"/>
          </a:xfrm>
        </p:spPr>
        <p:txBody>
          <a:bodyPr/>
          <a:lstStyle/>
          <a:p>
            <a:r>
              <a:rPr lang="en-US" sz="2800" dirty="0"/>
              <a:t>Lambda functions instead of explicit strategy classes</a:t>
            </a:r>
          </a:p>
          <a:p>
            <a:pPr lvl="1"/>
            <a:r>
              <a:rPr lang="en-US" sz="2400" dirty="0"/>
              <a:t>Cons: strategies will not be shared</a:t>
            </a:r>
          </a:p>
          <a:p>
            <a:pPr lvl="1"/>
            <a:r>
              <a:rPr lang="en-US" sz="2400" dirty="0"/>
              <a:t>Pro: less number of classes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98F6B0-7951-84A4-596E-BEF5AF42628A}"/>
              </a:ext>
            </a:extLst>
          </p:cNvPr>
          <p:cNvSpPr txBox="1"/>
          <p:nvPr/>
        </p:nvSpPr>
        <p:spPr>
          <a:xfrm>
            <a:off x="971600" y="2706891"/>
            <a:ext cx="6577442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class Car {</a:t>
            </a:r>
          </a:p>
          <a:p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public:</a:t>
            </a:r>
          </a:p>
          <a:p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std::function&lt;void()&gt; strategy;</a:t>
            </a:r>
          </a:p>
          <a:p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Car(</a:t>
            </a:r>
            <a:r>
              <a:rPr lang="en-US" sz="20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std::function&lt;void()&gt; strategy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) : strategy(strategy) {}</a:t>
            </a:r>
          </a:p>
          <a:p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void </a:t>
            </a:r>
            <a:r>
              <a:rPr lang="en-US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applyBrakes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 {  strategy(); }</a:t>
            </a:r>
          </a:p>
          <a:p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};</a:t>
            </a:r>
          </a:p>
          <a:p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int main() {</a:t>
            </a:r>
          </a:p>
          <a:p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Car </a:t>
            </a:r>
            <a:r>
              <a:rPr lang="en-US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sportsCar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 { std::</a:t>
            </a:r>
            <a:r>
              <a:rPr lang="en-US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cout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&lt;&lt; "Applying ABS brakes...\n"; });</a:t>
            </a:r>
          </a:p>
          <a:p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</a:t>
            </a:r>
            <a:r>
              <a:rPr lang="en-US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sportsCar.applyBrakes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();</a:t>
            </a:r>
          </a:p>
          <a:p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9041672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E5F1B0-9AE0-E20D-88E8-230D066FF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Lambda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C0C276-960B-8CF9-1396-5FBC4592AB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interface </a:t>
            </a:r>
            <a:r>
              <a:rPr lang="en-US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BrakingStrategy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{  void </a:t>
            </a:r>
            <a:r>
              <a:rPr lang="en-US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applyBrakes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();}</a:t>
            </a:r>
          </a:p>
          <a:p>
            <a:pPr marL="0" indent="0">
              <a:buNone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class Car {</a:t>
            </a:r>
          </a:p>
          <a:p>
            <a:pPr marL="0" indent="0">
              <a:buNone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private </a:t>
            </a:r>
            <a:r>
              <a:rPr lang="en-US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BrakingStrategy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strategy;</a:t>
            </a:r>
          </a:p>
          <a:p>
            <a:pPr marL="0" indent="0">
              <a:buNone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public Car(</a:t>
            </a:r>
            <a:r>
              <a:rPr lang="en-US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BrakingStrategy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strategy) {  </a:t>
            </a:r>
            <a:r>
              <a:rPr lang="en-US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this.strategy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= strategy;   }</a:t>
            </a:r>
          </a:p>
          <a:p>
            <a:pPr marL="0" indent="0">
              <a:buNone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public void </a:t>
            </a:r>
            <a:r>
              <a:rPr lang="en-US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applyBrakes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(){    </a:t>
            </a:r>
            <a:r>
              <a:rPr lang="en-US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strategy.applyBrakes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();    }</a:t>
            </a:r>
          </a:p>
          <a:p>
            <a:pPr marL="0" indent="0">
              <a:buNone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  <a:p>
            <a:pPr marL="0" indent="0">
              <a:buNone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public static void main(String[] </a:t>
            </a:r>
            <a:r>
              <a:rPr lang="en-US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args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) {</a:t>
            </a:r>
          </a:p>
          <a:p>
            <a:pPr marL="0" indent="0">
              <a:buNone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Car </a:t>
            </a:r>
            <a:r>
              <a:rPr lang="en-US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sportsCar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= new Car(</a:t>
            </a:r>
            <a:r>
              <a:rPr lang="en-US" sz="20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 -&gt; </a:t>
            </a:r>
          </a:p>
          <a:p>
            <a:pPr marL="0" indent="0">
              <a:buNone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                               </a:t>
            </a:r>
            <a:r>
              <a:rPr lang="en-US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System.out.println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("Applying ABS brakes..."));</a:t>
            </a:r>
          </a:p>
          <a:p>
            <a:pPr marL="0" indent="0">
              <a:buNone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</a:t>
            </a:r>
            <a:r>
              <a:rPr lang="en-US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sportsCar.applyBrakes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();</a:t>
            </a:r>
          </a:p>
          <a:p>
            <a:pPr marL="0" indent="0">
              <a:buNone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  <a:p>
            <a:pPr marL="0" indent="0">
              <a:buNone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//body of lambda implements a single abstract method</a:t>
            </a:r>
          </a:p>
          <a:p>
            <a:pPr marL="0" indent="0">
              <a:buNone/>
            </a:pP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224970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972B8-7D1A-2A2A-CE8F-6AF64B2B9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issues -2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A1F5A-7828-8C1F-9D06-0FDB6081D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from Context to Strategy</a:t>
            </a:r>
          </a:p>
          <a:p>
            <a:pPr lvl="1"/>
            <a:r>
              <a:rPr lang="en-US" dirty="0"/>
              <a:t>Example: sorting strategy needs data to sort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Pass data as parameter</a:t>
            </a:r>
          </a:p>
          <a:p>
            <a:pPr marL="1371600" lvl="2" indent="-514350"/>
            <a:r>
              <a:rPr lang="en-US" dirty="0"/>
              <a:t>Not all strategies may need the same data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Pass the context reference</a:t>
            </a:r>
          </a:p>
          <a:p>
            <a:pPr marL="1371600" lvl="2" indent="-514350"/>
            <a:r>
              <a:rPr lang="en-US" dirty="0"/>
              <a:t>Strategy would query context what data it needs</a:t>
            </a:r>
          </a:p>
          <a:p>
            <a:pPr marL="1371600" lvl="2" indent="-514350"/>
            <a:r>
              <a:rPr lang="en-US" dirty="0"/>
              <a:t>Context’s interface with getters</a:t>
            </a:r>
          </a:p>
          <a:p>
            <a:pPr marL="1371600" lvl="2" indent="-514350"/>
            <a:r>
              <a:rPr lang="en-US" dirty="0"/>
              <a:t>Strategy is coupled with context</a:t>
            </a:r>
          </a:p>
          <a:p>
            <a:pPr marL="971550" lvl="1" indent="-514350"/>
            <a:r>
              <a:rPr lang="en-US" dirty="0"/>
              <a:t>There is no best</a:t>
            </a:r>
          </a:p>
        </p:txBody>
      </p:sp>
    </p:spTree>
    <p:extLst>
      <p:ext uri="{BB962C8B-B14F-4D97-AF65-F5344CB8AC3E}">
        <p14:creationId xmlns:p14="http://schemas.microsoft.com/office/powerpoint/2010/main" val="395819803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E99BC-3086-B9A0-652C-9DCD73083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issues-3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ED705-D44B-025D-453D-06D22235CB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4340" y="1412776"/>
            <a:ext cx="8795320" cy="4532109"/>
          </a:xfrm>
        </p:spPr>
        <p:txBody>
          <a:bodyPr/>
          <a:lstStyle/>
          <a:p>
            <a:r>
              <a:rPr 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</a:rPr>
              <a:t>Default Strategy in the Context</a:t>
            </a:r>
          </a:p>
          <a:p>
            <a:pPr lvl="1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</a:rPr>
              <a:t>B</a:t>
            </a:r>
            <a:r>
              <a:rPr 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</a:rPr>
              <a:t>enefit:  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</a:rPr>
              <a:t>C</a:t>
            </a:r>
            <a:r>
              <a:rPr 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</a:rPr>
              <a:t>lients don't have to deal with Strategy objects at all </a:t>
            </a:r>
            <a:r>
              <a:rPr lang="en-US" b="0" i="1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</a:rPr>
              <a:t>unless</a:t>
            </a:r>
            <a:r>
              <a:rPr 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</a:rPr>
              <a:t> they don't like the default behavior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</a:rPr>
              <a:t>Make stateless Strategies</a:t>
            </a:r>
          </a:p>
          <a:p>
            <a:pPr lvl="1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</a:rPr>
              <a:t>When Strategies are stateless, they can be shared</a:t>
            </a:r>
          </a:p>
          <a:p>
            <a:pPr lvl="2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</a:rPr>
              <a:t>e.g. 3 users share 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</a:rPr>
              <a:t>Bcrypt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</a:rPr>
              <a:t> for hashing their password</a:t>
            </a:r>
          </a:p>
          <a:p>
            <a:pPr lvl="1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</a:rPr>
              <a:t>No need to clutter the memory with same objects</a:t>
            </a:r>
          </a:p>
          <a:p>
            <a:pPr lvl="1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</a:rPr>
              <a:t>Strategies make good flyweights</a:t>
            </a:r>
          </a:p>
        </p:txBody>
      </p:sp>
    </p:spTree>
    <p:extLst>
      <p:ext uri="{BB962C8B-B14F-4D97-AF65-F5344CB8AC3E}">
        <p14:creationId xmlns:p14="http://schemas.microsoft.com/office/powerpoint/2010/main" val="2184113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A6EF7-40E8-207E-D02B-84F48F54E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issues-4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3B0EEE-5B18-B69A-1BE4-BF4738F151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Using C++ templates : </a:t>
            </a:r>
            <a:r>
              <a:rPr lang="en-US" sz="2400" dirty="0"/>
              <a:t>Cannot change strategy</a:t>
            </a:r>
            <a:endParaRPr lang="en-US" dirty="0"/>
          </a:p>
          <a:p>
            <a:pPr marL="57150" indent="0">
              <a:buNone/>
            </a:pP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template &lt;class </a:t>
            </a:r>
            <a:r>
              <a:rPr lang="en-US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AStrategy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&gt;  class Context {</a:t>
            </a:r>
          </a:p>
          <a:p>
            <a:pPr marL="57150" indent="0">
              <a:buNone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    void operation() { </a:t>
            </a:r>
            <a:r>
              <a:rPr lang="en-US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theStrategy.DoAlgorithm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(); }</a:t>
            </a:r>
          </a:p>
          <a:p>
            <a:pPr marL="57150" indent="0">
              <a:buNone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private:</a:t>
            </a:r>
          </a:p>
          <a:p>
            <a:pPr marL="57150" indent="0">
              <a:buNone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     </a:t>
            </a:r>
            <a:r>
              <a:rPr lang="en-US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AStrategy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en-US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theStrategy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;</a:t>
            </a:r>
          </a:p>
          <a:p>
            <a:pPr marL="57150" indent="0">
              <a:buNone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};</a:t>
            </a:r>
          </a:p>
          <a:p>
            <a:pPr marL="57150" indent="0">
              <a:buNone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//The class is then configured with a Strategy class when it's instantiated:</a:t>
            </a:r>
          </a:p>
          <a:p>
            <a:pPr marL="57150" indent="0">
              <a:buNone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class </a:t>
            </a:r>
            <a:r>
              <a:rPr lang="en-US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MyStrategy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{</a:t>
            </a:r>
          </a:p>
          <a:p>
            <a:pPr marL="57150" indent="0">
              <a:buNone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   public: void </a:t>
            </a:r>
            <a:r>
              <a:rPr lang="en-US" sz="20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DoAlgorithm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();</a:t>
            </a:r>
          </a:p>
          <a:p>
            <a:pPr marL="57150" indent="0">
              <a:buNone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};</a:t>
            </a:r>
          </a:p>
          <a:p>
            <a:pPr marL="57150" indent="0">
              <a:buNone/>
            </a:pPr>
            <a:r>
              <a:rPr lang="en-US" sz="20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Context&lt;</a:t>
            </a:r>
            <a:r>
              <a:rPr lang="en-US" sz="20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MyStrategy</a:t>
            </a:r>
            <a:r>
              <a:rPr lang="en-US" sz="20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&gt; </a:t>
            </a:r>
            <a:r>
              <a:rPr lang="en-US" sz="20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aContext</a:t>
            </a:r>
            <a:r>
              <a:rPr lang="en-US" sz="20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40657643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>
            <a:extLst>
              <a:ext uri="{FF2B5EF4-FFF2-40B4-BE49-F238E27FC236}">
                <a16:creationId xmlns:a16="http://schemas.microsoft.com/office/drawing/2014/main" id="{D20BCC99-374F-9219-F5A8-5CC011FAC97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tr-TR" dirty="0"/>
              <a:t>Strategy: Key notes</a:t>
            </a:r>
          </a:p>
        </p:txBody>
      </p:sp>
      <p:sp>
        <p:nvSpPr>
          <p:cNvPr id="19459" name="Rectangle 3">
            <a:extLst>
              <a:ext uri="{FF2B5EF4-FFF2-40B4-BE49-F238E27FC236}">
                <a16:creationId xmlns:a16="http://schemas.microsoft.com/office/drawing/2014/main" id="{85254156-1379-F136-E6F8-98749BCC7A5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tr-TR"/>
              <a:t>Family of algorithms</a:t>
            </a:r>
          </a:p>
          <a:p>
            <a:pPr lvl="1"/>
            <a:r>
              <a:rPr lang="en-US" altLang="tr-TR"/>
              <a:t>One strategy class per algorithm</a:t>
            </a:r>
          </a:p>
          <a:p>
            <a:r>
              <a:rPr lang="en-US" altLang="tr-TR"/>
              <a:t>Make them interchangeable</a:t>
            </a:r>
          </a:p>
          <a:p>
            <a:pPr lvl="1"/>
            <a:r>
              <a:rPr lang="en-US" altLang="tr-TR"/>
              <a:t>Just change the current strategy object and the algorithm changes</a:t>
            </a:r>
          </a:p>
          <a:p>
            <a:r>
              <a:rPr lang="en-US" altLang="tr-TR"/>
              <a:t>Client of the context can use different algorithms easily</a:t>
            </a:r>
          </a:p>
          <a:p>
            <a:r>
              <a:rPr lang="en-US" altLang="tr-TR"/>
              <a:t>Alternative for subclassing</a:t>
            </a:r>
            <a:endParaRPr lang="en-GB" altLang="tr-TR"/>
          </a:p>
        </p:txBody>
      </p:sp>
    </p:spTree>
  </p:cSld>
  <p:clrMapOvr>
    <a:masterClrMapping/>
  </p:clrMapOvr>
  <p:transition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>
            <a:extLst>
              <a:ext uri="{FF2B5EF4-FFF2-40B4-BE49-F238E27FC236}">
                <a16:creationId xmlns:a16="http://schemas.microsoft.com/office/drawing/2014/main" id="{805B9024-E2D2-BBF0-BE62-F0674298C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tr-TR" dirty="0"/>
              <a:t>Question: why not delete?</a:t>
            </a:r>
          </a:p>
        </p:txBody>
      </p:sp>
      <p:sp>
        <p:nvSpPr>
          <p:cNvPr id="9219" name="Content Placeholder 2">
            <a:extLst>
              <a:ext uri="{FF2B5EF4-FFF2-40B4-BE49-F238E27FC236}">
                <a16:creationId xmlns:a16="http://schemas.microsoft.com/office/drawing/2014/main" id="{77234684-C932-6F9D-D342-D6A3185630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340768"/>
            <a:ext cx="6635080" cy="4532109"/>
          </a:xfrm>
        </p:spPr>
        <p:txBody>
          <a:bodyPr/>
          <a:lstStyle/>
          <a:p>
            <a:pPr marL="57150" indent="0">
              <a:buNone/>
            </a:pP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class User{</a:t>
            </a:r>
          </a:p>
          <a:p>
            <a:pPr marL="57150" indent="0">
              <a:buNone/>
            </a:pP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public: </a:t>
            </a:r>
          </a:p>
          <a:p>
            <a:pPr marL="57150" indent="0">
              <a:buNone/>
            </a:pP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virtual void </a:t>
            </a:r>
            <a:r>
              <a:rPr lang="en-US" altLang="tr-TR" sz="2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setPassword</a:t>
            </a: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(const String&amp; passwd);</a:t>
            </a:r>
          </a:p>
          <a:p>
            <a:pPr marL="57150" indent="0">
              <a:buNone/>
            </a:pP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virtual bool </a:t>
            </a:r>
            <a:r>
              <a:rPr lang="en-US" altLang="tr-TR" sz="2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checkPassword</a:t>
            </a: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(const String&amp; passwd);</a:t>
            </a:r>
          </a:p>
          <a:p>
            <a:pPr marL="57150" indent="0">
              <a:buNone/>
            </a:pP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User(Encryption* e); </a:t>
            </a:r>
            <a:r>
              <a:rPr lang="en-US" altLang="tr-TR" sz="22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~User()=default</a:t>
            </a: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; </a:t>
            </a:r>
          </a:p>
          <a:p>
            <a:pPr marL="57150" indent="0">
              <a:buNone/>
            </a:pP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private:      </a:t>
            </a:r>
            <a:r>
              <a:rPr lang="en-US" altLang="tr-TR" sz="2200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Encryption* strategy</a:t>
            </a: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;</a:t>
            </a:r>
          </a:p>
          <a:p>
            <a:pPr marL="57150" indent="0">
              <a:buNone/>
            </a:pP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….}</a:t>
            </a:r>
          </a:p>
          <a:p>
            <a:pPr marL="57150" indent="0">
              <a:buNone/>
            </a:pP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User::</a:t>
            </a:r>
            <a:r>
              <a:rPr lang="en-US" altLang="tr-TR" sz="2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setPassword</a:t>
            </a: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(const String&amp; pass){</a:t>
            </a:r>
          </a:p>
          <a:p>
            <a:pPr marL="57150" indent="0">
              <a:buNone/>
            </a:pP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    </a:t>
            </a:r>
            <a:r>
              <a:rPr lang="en-US" altLang="tr-TR" sz="2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checkStrength</a:t>
            </a: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(pass);</a:t>
            </a:r>
          </a:p>
          <a:p>
            <a:pPr marL="57150" indent="0">
              <a:buNone/>
            </a:pP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    save(</a:t>
            </a:r>
            <a:r>
              <a:rPr lang="en-US" altLang="tr-TR" sz="2200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strategy -&gt;</a:t>
            </a:r>
            <a:r>
              <a:rPr lang="en-US" altLang="tr-TR" sz="2200" dirty="0" err="1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generateHash</a:t>
            </a: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(pass));</a:t>
            </a:r>
          </a:p>
          <a:p>
            <a:pPr marL="57150" indent="0">
              <a:buNone/>
            </a:pP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  <a:p>
            <a:pPr marL="57150" indent="0">
              <a:buNone/>
            </a:pP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User::</a:t>
            </a:r>
            <a:r>
              <a:rPr lang="en-US" altLang="tr-TR" sz="2200" dirty="0">
                <a:solidFill>
                  <a:srgbClr val="0070C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User(Encryption* e</a:t>
            </a:r>
            <a:r>
              <a:rPr lang="en-US" altLang="tr-TR" sz="2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):strategy(e){…}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4BE7B4-D000-7DA5-278D-45ECC4F59318}"/>
              </a:ext>
            </a:extLst>
          </p:cNvPr>
          <p:cNvSpPr txBox="1"/>
          <p:nvPr/>
        </p:nvSpPr>
        <p:spPr>
          <a:xfrm>
            <a:off x="6886600" y="4293096"/>
            <a:ext cx="2005677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Strategies</a:t>
            </a:r>
          </a:p>
          <a:p>
            <a:r>
              <a:rPr lang="en-US" sz="2800" dirty="0">
                <a:solidFill>
                  <a:srgbClr val="C00000"/>
                </a:solidFill>
              </a:rPr>
              <a:t>are shared:</a:t>
            </a:r>
          </a:p>
          <a:p>
            <a:r>
              <a:rPr lang="en-US" sz="2800" dirty="0">
                <a:solidFill>
                  <a:srgbClr val="C00000"/>
                </a:solidFill>
              </a:rPr>
              <a:t>flyweight</a:t>
            </a:r>
          </a:p>
        </p:txBody>
      </p:sp>
    </p:spTree>
    <p:extLst>
      <p:ext uri="{BB962C8B-B14F-4D97-AF65-F5344CB8AC3E}">
        <p14:creationId xmlns:p14="http://schemas.microsoft.com/office/powerpoint/2010/main" val="2411830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 1">
            <a:extLst>
              <a:ext uri="{FF2B5EF4-FFF2-40B4-BE49-F238E27FC236}">
                <a16:creationId xmlns:a16="http://schemas.microsoft.com/office/drawing/2014/main" id="{574CD710-C1DC-7539-4D63-417DBFB5C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Strategy -Related patterns -1	</a:t>
            </a:r>
            <a:endParaRPr lang="tr-TR" altLang="en-US" dirty="0"/>
          </a:p>
        </p:txBody>
      </p:sp>
      <p:sp>
        <p:nvSpPr>
          <p:cNvPr id="21507" name="Content Placeholder 2">
            <a:extLst>
              <a:ext uri="{FF2B5EF4-FFF2-40B4-BE49-F238E27FC236}">
                <a16:creationId xmlns:a16="http://schemas.microsoft.com/office/drawing/2014/main" id="{7BB328EE-F969-A7F7-B731-0809DBCCCD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tr-TR" sz="2800" dirty="0"/>
              <a:t>Strategies can be </a:t>
            </a:r>
            <a:r>
              <a:rPr lang="en-US" altLang="tr-TR" sz="2800" b="1" dirty="0"/>
              <a:t>flyweights</a:t>
            </a:r>
          </a:p>
          <a:p>
            <a:r>
              <a:rPr lang="en-US" altLang="tr-TR" sz="2800" b="1" dirty="0"/>
              <a:t>Template M </a:t>
            </a:r>
            <a:r>
              <a:rPr lang="en-US" altLang="tr-TR" sz="2800" dirty="0"/>
              <a:t>vs</a:t>
            </a:r>
            <a:r>
              <a:rPr lang="en-US" altLang="tr-TR" sz="2800" b="1" dirty="0"/>
              <a:t> Strategy</a:t>
            </a:r>
          </a:p>
          <a:p>
            <a:pPr lvl="1"/>
            <a:r>
              <a:rPr lang="en-US" altLang="tr-TR" sz="2400" b="1" dirty="0"/>
              <a:t>Template Method </a:t>
            </a:r>
            <a:r>
              <a:rPr lang="en-US" altLang="tr-TR" sz="2400" dirty="0"/>
              <a:t>fixes skeleton of algorithm, variation in steps </a:t>
            </a:r>
          </a:p>
          <a:p>
            <a:pPr lvl="1"/>
            <a:r>
              <a:rPr lang="en-US" altLang="tr-TR" sz="2400" b="1" dirty="0"/>
              <a:t>Strategy </a:t>
            </a:r>
            <a:r>
              <a:rPr lang="en-US" altLang="tr-TR" sz="2400" dirty="0"/>
              <a:t>changes the algorithm completely</a:t>
            </a:r>
          </a:p>
          <a:p>
            <a:pPr lvl="2"/>
            <a:r>
              <a:rPr lang="en-US" altLang="tr-TR" sz="2000" dirty="0"/>
              <a:t>Change </a:t>
            </a:r>
            <a:r>
              <a:rPr lang="en-US" altLang="tr-TR" sz="2000" dirty="0" err="1"/>
              <a:t>mergesort</a:t>
            </a:r>
            <a:r>
              <a:rPr lang="en-US" altLang="tr-TR" sz="2000" dirty="0"/>
              <a:t> to </a:t>
            </a:r>
            <a:r>
              <a:rPr lang="en-US" altLang="tr-TR" sz="2000" dirty="0" err="1"/>
              <a:t>bublesort</a:t>
            </a:r>
            <a:endParaRPr lang="en-US" altLang="tr-TR" sz="2000" dirty="0"/>
          </a:p>
          <a:p>
            <a:r>
              <a:rPr lang="en-US" altLang="tr-TR" sz="2800" b="1" dirty="0"/>
              <a:t>Decorator</a:t>
            </a:r>
            <a:r>
              <a:rPr lang="en-US" altLang="tr-TR" sz="2800" dirty="0"/>
              <a:t> vs Strategy</a:t>
            </a:r>
          </a:p>
          <a:p>
            <a:pPr lvl="1"/>
            <a:r>
              <a:rPr lang="en-US" altLang="tr-TR" sz="2400" dirty="0"/>
              <a:t>Both alternative to inheritance</a:t>
            </a:r>
          </a:p>
          <a:p>
            <a:pPr lvl="1"/>
            <a:r>
              <a:rPr lang="en-US" altLang="tr-TR" sz="2400" dirty="0"/>
              <a:t>Decorator adds functionality on top -wrapper</a:t>
            </a:r>
          </a:p>
          <a:p>
            <a:pPr lvl="1"/>
            <a:r>
              <a:rPr lang="en-US" altLang="tr-TR" sz="2400" dirty="0"/>
              <a:t>Strategy replaces functionality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 1">
            <a:extLst>
              <a:ext uri="{FF2B5EF4-FFF2-40B4-BE49-F238E27FC236}">
                <a16:creationId xmlns:a16="http://schemas.microsoft.com/office/drawing/2014/main" id="{574CD710-C1DC-7539-4D63-417DBFB5C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Strategy -Related patterns -2	</a:t>
            </a:r>
            <a:endParaRPr lang="tr-TR" altLang="en-US" dirty="0"/>
          </a:p>
        </p:txBody>
      </p:sp>
      <p:sp>
        <p:nvSpPr>
          <p:cNvPr id="21507" name="Content Placeholder 2">
            <a:extLst>
              <a:ext uri="{FF2B5EF4-FFF2-40B4-BE49-F238E27FC236}">
                <a16:creationId xmlns:a16="http://schemas.microsoft.com/office/drawing/2014/main" id="{7BB328EE-F969-A7F7-B731-0809DBCCCD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b="1" dirty="0"/>
              <a:t>Bridge</a:t>
            </a:r>
            <a:r>
              <a:rPr lang="en-US" altLang="en-US" dirty="0"/>
              <a:t> and Strategy have the same Class diagram, but intent is different</a:t>
            </a:r>
          </a:p>
          <a:p>
            <a:pPr lvl="1"/>
            <a:r>
              <a:rPr lang="en-US" altLang="en-US" dirty="0"/>
              <a:t>strategy is related with the behavior and bridge is for structure. </a:t>
            </a:r>
          </a:p>
          <a:p>
            <a:pPr lvl="1"/>
            <a:r>
              <a:rPr lang="en-US" altLang="en-US" dirty="0"/>
              <a:t>the coupling between the context and strategies is tighter than the coupling between the abstraction and implementation in the bridge pattern.</a:t>
            </a:r>
          </a:p>
          <a:p>
            <a:r>
              <a:rPr lang="en-US" altLang="en-US" dirty="0"/>
              <a:t>State pattern (next) vs Strategy </a:t>
            </a:r>
          </a:p>
          <a:p>
            <a:r>
              <a:rPr lang="en-US" altLang="en-US" dirty="0"/>
              <a:t>Command (later)</a:t>
            </a:r>
            <a:endParaRPr lang="tr-TR" altLang="en-US" dirty="0"/>
          </a:p>
        </p:txBody>
      </p:sp>
    </p:spTree>
    <p:extLst>
      <p:ext uri="{BB962C8B-B14F-4D97-AF65-F5344CB8AC3E}">
        <p14:creationId xmlns:p14="http://schemas.microsoft.com/office/powerpoint/2010/main" val="149432408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678DD-D2BA-2668-A376-B5FB21D27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Strategy –Known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0A95C0-B39E-4D48-107D-C4C7DC6FB6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java.util.Comparator</a:t>
            </a:r>
            <a:r>
              <a:rPr lang="en-US" dirty="0"/>
              <a:t> with compare() method is a strategy used by many, e.g. sort method of Collections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Pixel 12">
      <a:dk1>
        <a:srgbClr val="000000"/>
      </a:dk1>
      <a:lt1>
        <a:srgbClr val="FFFFFF"/>
      </a:lt1>
      <a:dk2>
        <a:srgbClr val="000000"/>
      </a:dk2>
      <a:lt2>
        <a:srgbClr val="00007D"/>
      </a:lt2>
      <a:accent1>
        <a:srgbClr val="9999FF"/>
      </a:accent1>
      <a:accent2>
        <a:srgbClr val="9999CC"/>
      </a:accent2>
      <a:accent3>
        <a:srgbClr val="FFFFFF"/>
      </a:accent3>
      <a:accent4>
        <a:srgbClr val="000000"/>
      </a:accent4>
      <a:accent5>
        <a:srgbClr val="CACAFF"/>
      </a:accent5>
      <a:accent6>
        <a:srgbClr val="8A8AB9"/>
      </a:accent6>
      <a:hlink>
        <a:srgbClr val="666699"/>
      </a:hlink>
      <a:folHlink>
        <a:srgbClr val="CCCCE6"/>
      </a:folHlink>
    </a:clrScheme>
    <a:fontScheme name="Pixe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Pixel 1">
        <a:dk1>
          <a:srgbClr val="0066FF"/>
        </a:dk1>
        <a:lt1>
          <a:srgbClr val="FFFFFF"/>
        </a:lt1>
        <a:dk2>
          <a:srgbClr val="000066"/>
        </a:dk2>
        <a:lt2>
          <a:srgbClr val="FFFFFF"/>
        </a:lt2>
        <a:accent1>
          <a:srgbClr val="6699FF"/>
        </a:accent1>
        <a:accent2>
          <a:srgbClr val="3333FF"/>
        </a:accent2>
        <a:accent3>
          <a:srgbClr val="AAAAB8"/>
        </a:accent3>
        <a:accent4>
          <a:srgbClr val="DADADA"/>
        </a:accent4>
        <a:accent5>
          <a:srgbClr val="B8CAFF"/>
        </a:accent5>
        <a:accent6>
          <a:srgbClr val="2D2DE7"/>
        </a:accent6>
        <a:hlink>
          <a:srgbClr val="FFCC00"/>
        </a:hlink>
        <a:folHlink>
          <a:srgbClr val="00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2">
        <a:dk1>
          <a:srgbClr val="009999"/>
        </a:dk1>
        <a:lt1>
          <a:srgbClr val="FFFFFF"/>
        </a:lt1>
        <a:dk2>
          <a:srgbClr val="334B49"/>
        </a:dk2>
        <a:lt2>
          <a:srgbClr val="FFFFFF"/>
        </a:lt2>
        <a:accent1>
          <a:srgbClr val="33CCCC"/>
        </a:accent1>
        <a:accent2>
          <a:srgbClr val="008080"/>
        </a:accent2>
        <a:accent3>
          <a:srgbClr val="ADB1B1"/>
        </a:accent3>
        <a:accent4>
          <a:srgbClr val="DADADA"/>
        </a:accent4>
        <a:accent5>
          <a:srgbClr val="ADE2E2"/>
        </a:accent5>
        <a:accent6>
          <a:srgbClr val="007373"/>
        </a:accent6>
        <a:hlink>
          <a:srgbClr val="FFCC00"/>
        </a:hlink>
        <a:folHlink>
          <a:srgbClr val="0066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3">
        <a:dk1>
          <a:srgbClr val="006699"/>
        </a:dk1>
        <a:lt1>
          <a:srgbClr val="FFFFFF"/>
        </a:lt1>
        <a:dk2>
          <a:srgbClr val="333399"/>
        </a:dk2>
        <a:lt2>
          <a:srgbClr val="FFFFFF"/>
        </a:lt2>
        <a:accent1>
          <a:srgbClr val="0099CC"/>
        </a:accent1>
        <a:accent2>
          <a:srgbClr val="0386AF"/>
        </a:accent2>
        <a:accent3>
          <a:srgbClr val="ADADCA"/>
        </a:accent3>
        <a:accent4>
          <a:srgbClr val="DADADA"/>
        </a:accent4>
        <a:accent5>
          <a:srgbClr val="AACAE2"/>
        </a:accent5>
        <a:accent6>
          <a:srgbClr val="02799E"/>
        </a:accent6>
        <a:hlink>
          <a:srgbClr val="FFCC00"/>
        </a:hlink>
        <a:folHlink>
          <a:srgbClr val="6699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4">
        <a:dk1>
          <a:srgbClr val="008080"/>
        </a:dk1>
        <a:lt1>
          <a:srgbClr val="FFFFFF"/>
        </a:lt1>
        <a:dk2>
          <a:srgbClr val="2F978D"/>
        </a:dk2>
        <a:lt2>
          <a:srgbClr val="FFFFFF"/>
        </a:lt2>
        <a:accent1>
          <a:srgbClr val="0099FF"/>
        </a:accent1>
        <a:accent2>
          <a:srgbClr val="009999"/>
        </a:accent2>
        <a:accent3>
          <a:srgbClr val="ADC9C5"/>
        </a:accent3>
        <a:accent4>
          <a:srgbClr val="DADADA"/>
        </a:accent4>
        <a:accent5>
          <a:srgbClr val="AACAFF"/>
        </a:accent5>
        <a:accent6>
          <a:srgbClr val="008A8A"/>
        </a:accent6>
        <a:hlink>
          <a:srgbClr val="FFFFCC"/>
        </a:hlink>
        <a:folHlink>
          <a:srgbClr val="70CAC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5">
        <a:dk1>
          <a:srgbClr val="822504"/>
        </a:dk1>
        <a:lt1>
          <a:srgbClr val="FFFFFF"/>
        </a:lt1>
        <a:dk2>
          <a:srgbClr val="330000"/>
        </a:dk2>
        <a:lt2>
          <a:srgbClr val="FFFFFF"/>
        </a:lt2>
        <a:accent1>
          <a:srgbClr val="FF9900"/>
        </a:accent1>
        <a:accent2>
          <a:srgbClr val="9E2A06"/>
        </a:accent2>
        <a:accent3>
          <a:srgbClr val="ADAAAA"/>
        </a:accent3>
        <a:accent4>
          <a:srgbClr val="DADADA"/>
        </a:accent4>
        <a:accent5>
          <a:srgbClr val="FFCAAA"/>
        </a:accent5>
        <a:accent6>
          <a:srgbClr val="8F2505"/>
        </a:accent6>
        <a:hlink>
          <a:srgbClr val="FF3300"/>
        </a:hlink>
        <a:folHlink>
          <a:srgbClr val="7C070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6">
        <a:dk1>
          <a:srgbClr val="336600"/>
        </a:dk1>
        <a:lt1>
          <a:srgbClr val="FFFFFF"/>
        </a:lt1>
        <a:dk2>
          <a:srgbClr val="4A7911"/>
        </a:dk2>
        <a:lt2>
          <a:srgbClr val="FFFFFF"/>
        </a:lt2>
        <a:accent1>
          <a:srgbClr val="666633"/>
        </a:accent1>
        <a:accent2>
          <a:srgbClr val="669900"/>
        </a:accent2>
        <a:accent3>
          <a:srgbClr val="B1BEAA"/>
        </a:accent3>
        <a:accent4>
          <a:srgbClr val="DADADA"/>
        </a:accent4>
        <a:accent5>
          <a:srgbClr val="B8B8AD"/>
        </a:accent5>
        <a:accent6>
          <a:srgbClr val="5C8A00"/>
        </a:accent6>
        <a:hlink>
          <a:srgbClr val="FFCC00"/>
        </a:hlink>
        <a:folHlink>
          <a:srgbClr val="99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7">
        <a:dk1>
          <a:srgbClr val="000000"/>
        </a:dk1>
        <a:lt1>
          <a:srgbClr val="FFFFFF"/>
        </a:lt1>
        <a:dk2>
          <a:srgbClr val="000000"/>
        </a:dk2>
        <a:lt2>
          <a:srgbClr val="CC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6633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8">
        <a:dk1>
          <a:srgbClr val="003300"/>
        </a:dk1>
        <a:lt1>
          <a:srgbClr val="FFFFFF"/>
        </a:lt1>
        <a:dk2>
          <a:srgbClr val="000000"/>
        </a:dk2>
        <a:lt2>
          <a:srgbClr val="336600"/>
        </a:lt2>
        <a:accent1>
          <a:srgbClr val="CCCC00"/>
        </a:accent1>
        <a:accent2>
          <a:srgbClr val="669900"/>
        </a:accent2>
        <a:accent3>
          <a:srgbClr val="FFFFFF"/>
        </a:accent3>
        <a:accent4>
          <a:srgbClr val="002A00"/>
        </a:accent4>
        <a:accent5>
          <a:srgbClr val="E2E2AA"/>
        </a:accent5>
        <a:accent6>
          <a:srgbClr val="5C8A00"/>
        </a:accent6>
        <a:hlink>
          <a:srgbClr val="333300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9">
        <a:dk1>
          <a:srgbClr val="000000"/>
        </a:dk1>
        <a:lt1>
          <a:srgbClr val="FFFFFF"/>
        </a:lt1>
        <a:dk2>
          <a:srgbClr val="000000"/>
        </a:dk2>
        <a:lt2>
          <a:srgbClr val="440044"/>
        </a:lt2>
        <a:accent1>
          <a:srgbClr val="FFCCCC"/>
        </a:accent1>
        <a:accent2>
          <a:srgbClr val="790571"/>
        </a:accent2>
        <a:accent3>
          <a:srgbClr val="FFFFFF"/>
        </a:accent3>
        <a:accent4>
          <a:srgbClr val="000000"/>
        </a:accent4>
        <a:accent5>
          <a:srgbClr val="FFE2E2"/>
        </a:accent5>
        <a:accent6>
          <a:srgbClr val="6D0466"/>
        </a:accent6>
        <a:hlink>
          <a:srgbClr val="993366"/>
        </a:hlink>
        <a:folHlink>
          <a:srgbClr val="9F839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0">
        <a:dk1>
          <a:srgbClr val="000000"/>
        </a:dk1>
        <a:lt1>
          <a:srgbClr val="FFFFFF"/>
        </a:lt1>
        <a:dk2>
          <a:srgbClr val="000000"/>
        </a:dk2>
        <a:lt2>
          <a:srgbClr val="FF9900"/>
        </a:lt2>
        <a:accent1>
          <a:srgbClr val="FFCC99"/>
        </a:accent1>
        <a:accent2>
          <a:srgbClr val="FBA313"/>
        </a:accent2>
        <a:accent3>
          <a:srgbClr val="FFFFFF"/>
        </a:accent3>
        <a:accent4>
          <a:srgbClr val="000000"/>
        </a:accent4>
        <a:accent5>
          <a:srgbClr val="FFE2CA"/>
        </a:accent5>
        <a:accent6>
          <a:srgbClr val="E39310"/>
        </a:accent6>
        <a:hlink>
          <a:srgbClr val="CC3300"/>
        </a:hlink>
        <a:folHlink>
          <a:srgbClr val="FCC66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1">
        <a:dk1>
          <a:srgbClr val="000000"/>
        </a:dk1>
        <a:lt1>
          <a:srgbClr val="FFFFFF"/>
        </a:lt1>
        <a:dk2>
          <a:srgbClr val="000000"/>
        </a:dk2>
        <a:lt2>
          <a:srgbClr val="779F92"/>
        </a:lt2>
        <a:accent1>
          <a:srgbClr val="33CCCC"/>
        </a:accent1>
        <a:accent2>
          <a:srgbClr val="9DC2D7"/>
        </a:accent2>
        <a:accent3>
          <a:srgbClr val="FFFFFF"/>
        </a:accent3>
        <a:accent4>
          <a:srgbClr val="000000"/>
        </a:accent4>
        <a:accent5>
          <a:srgbClr val="ADE2E2"/>
        </a:accent5>
        <a:accent6>
          <a:srgbClr val="8EB0C3"/>
        </a:accent6>
        <a:hlink>
          <a:srgbClr val="006666"/>
        </a:hlink>
        <a:folHlink>
          <a:srgbClr val="CC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2">
        <a:dk1>
          <a:srgbClr val="000000"/>
        </a:dk1>
        <a:lt1>
          <a:srgbClr val="FFFFFF"/>
        </a:lt1>
        <a:dk2>
          <a:srgbClr val="000000"/>
        </a:dk2>
        <a:lt2>
          <a:srgbClr val="00007D"/>
        </a:lt2>
        <a:accent1>
          <a:srgbClr val="9999FF"/>
        </a:accent1>
        <a:accent2>
          <a:srgbClr val="9999CC"/>
        </a:accent2>
        <a:accent3>
          <a:srgbClr val="FFFFFF"/>
        </a:accent3>
        <a:accent4>
          <a:srgbClr val="000000"/>
        </a:accent4>
        <a:accent5>
          <a:srgbClr val="CACAFF"/>
        </a:accent5>
        <a:accent6>
          <a:srgbClr val="8A8AB9"/>
        </a:accent6>
        <a:hlink>
          <a:srgbClr val="666699"/>
        </a:hlink>
        <a:folHlink>
          <a:srgbClr val="CCCCE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heme1" id="{393727C7-4C0B-4C8A-960B-21573C88EF42}" vid="{72BF777F-C220-4904-8C2B-017C5ED9CE62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Theme1</Template>
  <TotalTime>5733</TotalTime>
  <Words>5381</Words>
  <Application>Microsoft Office PowerPoint</Application>
  <PresentationFormat>On-screen Show (4:3)</PresentationFormat>
  <Paragraphs>840</Paragraphs>
  <Slides>68</Slides>
  <Notes>24</Notes>
  <HiddenSlides>11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9" baseType="lpstr">
      <vt:lpstr>Arial</vt:lpstr>
      <vt:lpstr>Arial Black</vt:lpstr>
      <vt:lpstr>Consolas</vt:lpstr>
      <vt:lpstr>Courier New</vt:lpstr>
      <vt:lpstr>PT Sans</vt:lpstr>
      <vt:lpstr>Source Code Pro</vt:lpstr>
      <vt:lpstr>Source Sans Pro</vt:lpstr>
      <vt:lpstr>Tahoma</vt:lpstr>
      <vt:lpstr>Times New Roman</vt:lpstr>
      <vt:lpstr>Wingdings</vt:lpstr>
      <vt:lpstr>Theme1</vt:lpstr>
      <vt:lpstr>Behavioral Patterns</vt:lpstr>
      <vt:lpstr>Behavioral Patterns</vt:lpstr>
      <vt:lpstr>Behavioral Patterns</vt:lpstr>
      <vt:lpstr>Behavioral Patterns</vt:lpstr>
      <vt:lpstr>Algorithms sharing steps</vt:lpstr>
      <vt:lpstr>PowerPoint Presentation</vt:lpstr>
      <vt:lpstr>PowerPoint Presentation</vt:lpstr>
      <vt:lpstr>Algorithms sharing steps</vt:lpstr>
      <vt:lpstr>Structure –Template Method</vt:lpstr>
      <vt:lpstr>Example:Template Method</vt:lpstr>
      <vt:lpstr>Template Method</vt:lpstr>
      <vt:lpstr>Template Method</vt:lpstr>
      <vt:lpstr>Participants</vt:lpstr>
      <vt:lpstr>Exercise 1: print documents</vt:lpstr>
      <vt:lpstr>Exercise 1:Template Method</vt:lpstr>
      <vt:lpstr>Applicability: Template Method</vt:lpstr>
      <vt:lpstr>Applicability: Template Method</vt:lpstr>
      <vt:lpstr>Applicability: Template Method</vt:lpstr>
      <vt:lpstr>TM controls extensions</vt:lpstr>
      <vt:lpstr>Example: Hook method</vt:lpstr>
      <vt:lpstr>Hollywood principle</vt:lpstr>
      <vt:lpstr>Hollywood principle</vt:lpstr>
      <vt:lpstr>Hollywood Principle</vt:lpstr>
      <vt:lpstr>Consequences -Pros</vt:lpstr>
      <vt:lpstr>Consequences -Cons</vt:lpstr>
      <vt:lpstr>Example LSP violation</vt:lpstr>
      <vt:lpstr>Example: Travel Agency</vt:lpstr>
      <vt:lpstr>PowerPoint Presentation</vt:lpstr>
      <vt:lpstr>Related patterns</vt:lpstr>
      <vt:lpstr>Do not repeat code!</vt:lpstr>
      <vt:lpstr>Do not repeat code!</vt:lpstr>
      <vt:lpstr>Do not repeat code!</vt:lpstr>
      <vt:lpstr>Do not repeat code!</vt:lpstr>
      <vt:lpstr>Best Practices</vt:lpstr>
      <vt:lpstr>Known uses</vt:lpstr>
      <vt:lpstr>From java.io.InputStream source code:</vt:lpstr>
      <vt:lpstr>More algorithms</vt:lpstr>
      <vt:lpstr>Motivating Example</vt:lpstr>
      <vt:lpstr>How to implement setPassword?</vt:lpstr>
      <vt:lpstr>How to implement setPassword?</vt:lpstr>
      <vt:lpstr>Strategy</vt:lpstr>
      <vt:lpstr>Strategy -Structure</vt:lpstr>
      <vt:lpstr>setPassword  with Strategy</vt:lpstr>
      <vt:lpstr>Strategy - Collaborations</vt:lpstr>
      <vt:lpstr>Recall the Car example 2nd week</vt:lpstr>
      <vt:lpstr>Alternative1</vt:lpstr>
      <vt:lpstr>Alternative 2:</vt:lpstr>
      <vt:lpstr>Strategy Solution</vt:lpstr>
      <vt:lpstr>Example 3: Strategy </vt:lpstr>
      <vt:lpstr>Example 4</vt:lpstr>
      <vt:lpstr>Applicability -Strategy</vt:lpstr>
      <vt:lpstr>Example 5 – javax.swing</vt:lpstr>
      <vt:lpstr>Strategy – other examples</vt:lpstr>
      <vt:lpstr>Strategy – another example</vt:lpstr>
      <vt:lpstr>Example 6 </vt:lpstr>
      <vt:lpstr>Example</vt:lpstr>
      <vt:lpstr>Strategy – Consequences-1</vt:lpstr>
      <vt:lpstr>Strategy – Consequences-2</vt:lpstr>
      <vt:lpstr>Implementation issues-1</vt:lpstr>
      <vt:lpstr>Lambda</vt:lpstr>
      <vt:lpstr>Implementation issues -2</vt:lpstr>
      <vt:lpstr>Implementation issues-3</vt:lpstr>
      <vt:lpstr>Implementation issues-4</vt:lpstr>
      <vt:lpstr>Strategy: Key notes</vt:lpstr>
      <vt:lpstr>Question: why not delete?</vt:lpstr>
      <vt:lpstr>Strategy -Related patterns -1 </vt:lpstr>
      <vt:lpstr>Strategy -Related patterns -2 </vt:lpstr>
      <vt:lpstr>Strategy –Known Use</vt:lpstr>
    </vt:vector>
  </TitlesOfParts>
  <Company> 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Behavioral Patterns</dc:title>
  <dc:creator>Aysu Betin-Can</dc:creator>
  <cp:lastModifiedBy>Aysu Betin Can</cp:lastModifiedBy>
  <cp:revision>462</cp:revision>
  <dcterms:created xsi:type="dcterms:W3CDTF">2006-02-28T14:58:56Z</dcterms:created>
  <dcterms:modified xsi:type="dcterms:W3CDTF">2025-10-15T20:32:27Z</dcterms:modified>
</cp:coreProperties>
</file>