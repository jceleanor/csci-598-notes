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660" r:id="rId1"/>
  </p:sldMasterIdLst>
  <p:notesMasterIdLst>
    <p:notesMasterId r:id="rId69"/>
  </p:notesMasterIdLst>
  <p:handoutMasterIdLst>
    <p:handoutMasterId r:id="rId70"/>
  </p:handoutMasterIdLst>
  <p:sldIdLst>
    <p:sldId id="441" r:id="rId2"/>
    <p:sldId id="422" r:id="rId3"/>
    <p:sldId id="423" r:id="rId4"/>
    <p:sldId id="388" r:id="rId5"/>
    <p:sldId id="362" r:id="rId6"/>
    <p:sldId id="476" r:id="rId7"/>
    <p:sldId id="424" r:id="rId8"/>
    <p:sldId id="433" r:id="rId9"/>
    <p:sldId id="466" r:id="rId10"/>
    <p:sldId id="408" r:id="rId11"/>
    <p:sldId id="467" r:id="rId12"/>
    <p:sldId id="469" r:id="rId13"/>
    <p:sldId id="399" r:id="rId14"/>
    <p:sldId id="400" r:id="rId15"/>
    <p:sldId id="341" r:id="rId16"/>
    <p:sldId id="432" r:id="rId17"/>
    <p:sldId id="398" r:id="rId18"/>
    <p:sldId id="339" r:id="rId19"/>
    <p:sldId id="425" r:id="rId20"/>
    <p:sldId id="338" r:id="rId21"/>
    <p:sldId id="494" r:id="rId22"/>
    <p:sldId id="342" r:id="rId23"/>
    <p:sldId id="472" r:id="rId24"/>
    <p:sldId id="495" r:id="rId25"/>
    <p:sldId id="389" r:id="rId26"/>
    <p:sldId id="473" r:id="rId27"/>
    <p:sldId id="479" r:id="rId28"/>
    <p:sldId id="480" r:id="rId29"/>
    <p:sldId id="475" r:id="rId30"/>
    <p:sldId id="477" r:id="rId31"/>
    <p:sldId id="496" r:id="rId32"/>
    <p:sldId id="470" r:id="rId33"/>
    <p:sldId id="434" r:id="rId34"/>
    <p:sldId id="471" r:id="rId35"/>
    <p:sldId id="436" r:id="rId36"/>
    <p:sldId id="492" r:id="rId37"/>
    <p:sldId id="365" r:id="rId38"/>
    <p:sldId id="440" r:id="rId39"/>
    <p:sldId id="500" r:id="rId40"/>
    <p:sldId id="377" r:id="rId41"/>
    <p:sldId id="343" r:id="rId42"/>
    <p:sldId id="344" r:id="rId43"/>
    <p:sldId id="490" r:id="rId44"/>
    <p:sldId id="482" r:id="rId45"/>
    <p:sldId id="375" r:id="rId46"/>
    <p:sldId id="376" r:id="rId47"/>
    <p:sldId id="404" r:id="rId48"/>
    <p:sldId id="378" r:id="rId49"/>
    <p:sldId id="379" r:id="rId50"/>
    <p:sldId id="345" r:id="rId51"/>
    <p:sldId id="346" r:id="rId52"/>
    <p:sldId id="406" r:id="rId53"/>
    <p:sldId id="497" r:id="rId54"/>
    <p:sldId id="407" r:id="rId55"/>
    <p:sldId id="499" r:id="rId56"/>
    <p:sldId id="481" r:id="rId57"/>
    <p:sldId id="486" r:id="rId58"/>
    <p:sldId id="487" r:id="rId59"/>
    <p:sldId id="489" r:id="rId60"/>
    <p:sldId id="485" r:id="rId61"/>
    <p:sldId id="347" r:id="rId62"/>
    <p:sldId id="484" r:id="rId63"/>
    <p:sldId id="483" r:id="rId64"/>
    <p:sldId id="493" r:id="rId65"/>
    <p:sldId id="491" r:id="rId66"/>
    <p:sldId id="498" r:id="rId67"/>
    <p:sldId id="402" r:id="rId68"/>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500" autoAdjust="0"/>
  </p:normalViewPr>
  <p:slideViewPr>
    <p:cSldViewPr>
      <p:cViewPr varScale="1">
        <p:scale>
          <a:sx n="93" d="100"/>
          <a:sy n="93" d="100"/>
        </p:scale>
        <p:origin x="2124"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BFD49175-91ED-4E29-855E-3769109A8BC7}"/>
              </a:ext>
            </a:extLst>
          </p:cNvPr>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131075" name="Rectangle 3">
            <a:extLst>
              <a:ext uri="{FF2B5EF4-FFF2-40B4-BE49-F238E27FC236}">
                <a16:creationId xmlns:a16="http://schemas.microsoft.com/office/drawing/2014/main" id="{B5837284-A494-48BA-AECB-45854028F0D4}"/>
              </a:ext>
            </a:extLst>
          </p:cNvPr>
          <p:cNvSpPr>
            <a:spLocks noGrp="1" noChangeArrowheads="1"/>
          </p:cNvSpPr>
          <p:nvPr>
            <p:ph type="dt" sz="quarter"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131076" name="Rectangle 4">
            <a:extLst>
              <a:ext uri="{FF2B5EF4-FFF2-40B4-BE49-F238E27FC236}">
                <a16:creationId xmlns:a16="http://schemas.microsoft.com/office/drawing/2014/main" id="{C429F91F-89F3-431F-8619-4D7D11A69444}"/>
              </a:ext>
            </a:extLst>
          </p:cNvPr>
          <p:cNvSpPr>
            <a:spLocks noGrp="1" noChangeArrowheads="1"/>
          </p:cNvSpPr>
          <p:nvPr>
            <p:ph type="ftr" sz="quarter" idx="2"/>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131077" name="Rectangle 5">
            <a:extLst>
              <a:ext uri="{FF2B5EF4-FFF2-40B4-BE49-F238E27FC236}">
                <a16:creationId xmlns:a16="http://schemas.microsoft.com/office/drawing/2014/main" id="{6AE16597-BB30-41D6-B385-DA400A198DB1}"/>
              </a:ext>
            </a:extLst>
          </p:cNvPr>
          <p:cNvSpPr>
            <a:spLocks noGrp="1" noChangeArrowheads="1"/>
          </p:cNvSpPr>
          <p:nvPr>
            <p:ph type="sldNum" sz="quarter" idx="3"/>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1" hangingPunct="1">
              <a:defRPr sz="1300"/>
            </a:lvl1pPr>
          </a:lstStyle>
          <a:p>
            <a:fld id="{DBBF5F74-1435-4F5B-87F0-37FEDD603BC8}"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46EFD89-E621-45B9-961C-5F4271065B21}"/>
              </a:ext>
            </a:extLst>
          </p:cNvPr>
          <p:cNvSpPr>
            <a:spLocks noGrp="1" noChangeArrowheads="1"/>
          </p:cNvSpPr>
          <p:nvPr>
            <p:ph type="hdr" sz="quarter"/>
          </p:nvPr>
        </p:nvSpPr>
        <p:spPr bwMode="auto">
          <a:xfrm>
            <a:off x="0"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32771" name="Rectangle 3">
            <a:extLst>
              <a:ext uri="{FF2B5EF4-FFF2-40B4-BE49-F238E27FC236}">
                <a16:creationId xmlns:a16="http://schemas.microsoft.com/office/drawing/2014/main" id="{AB7433AF-0755-4ED6-A0F5-624E02EA1535}"/>
              </a:ext>
            </a:extLst>
          </p:cNvPr>
          <p:cNvSpPr>
            <a:spLocks noGrp="1" noChangeArrowheads="1"/>
          </p:cNvSpPr>
          <p:nvPr>
            <p:ph type="dt" idx="1"/>
          </p:nvPr>
        </p:nvSpPr>
        <p:spPr bwMode="auto">
          <a:xfrm>
            <a:off x="4143587" y="0"/>
            <a:ext cx="3169920" cy="4800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2052" name="Rectangle 4">
            <a:extLst>
              <a:ext uri="{FF2B5EF4-FFF2-40B4-BE49-F238E27FC236}">
                <a16:creationId xmlns:a16="http://schemas.microsoft.com/office/drawing/2014/main" id="{250F76DB-BE86-9630-CA56-C11BD7F1CBD3}"/>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3" name="Rectangle 5">
            <a:extLst>
              <a:ext uri="{FF2B5EF4-FFF2-40B4-BE49-F238E27FC236}">
                <a16:creationId xmlns:a16="http://schemas.microsoft.com/office/drawing/2014/main" id="{5A344A6C-00E2-4F70-8EA5-E0684D8FD53A}"/>
              </a:ext>
            </a:extLst>
          </p:cNvPr>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2774" name="Rectangle 6">
            <a:extLst>
              <a:ext uri="{FF2B5EF4-FFF2-40B4-BE49-F238E27FC236}">
                <a16:creationId xmlns:a16="http://schemas.microsoft.com/office/drawing/2014/main" id="{0BBEF5A8-B952-4A1E-B2FD-D164D960489B}"/>
              </a:ext>
            </a:extLst>
          </p:cNvPr>
          <p:cNvSpPr>
            <a:spLocks noGrp="1" noChangeArrowheads="1"/>
          </p:cNvSpPr>
          <p:nvPr>
            <p:ph type="ftr" sz="quarter" idx="4"/>
          </p:nvPr>
        </p:nvSpPr>
        <p:spPr bwMode="auto">
          <a:xfrm>
            <a:off x="0"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32775" name="Rectangle 7">
            <a:extLst>
              <a:ext uri="{FF2B5EF4-FFF2-40B4-BE49-F238E27FC236}">
                <a16:creationId xmlns:a16="http://schemas.microsoft.com/office/drawing/2014/main" id="{3401FB2A-5832-4D97-BA4B-6F50EB685C2F}"/>
              </a:ext>
            </a:extLst>
          </p:cNvPr>
          <p:cNvSpPr>
            <a:spLocks noGrp="1" noChangeArrowheads="1"/>
          </p:cNvSpPr>
          <p:nvPr>
            <p:ph type="sldNum" sz="quarter" idx="5"/>
          </p:nvPr>
        </p:nvSpPr>
        <p:spPr bwMode="auto">
          <a:xfrm>
            <a:off x="4143587" y="9119474"/>
            <a:ext cx="3169920" cy="480060"/>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eaLnBrk="1" hangingPunct="1">
              <a:defRPr sz="1300"/>
            </a:lvl1pPr>
          </a:lstStyle>
          <a:p>
            <a:fld id="{398F261E-68E1-442B-8BD3-47F1FF8ACD3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refactoring.guru/design-patterns/decorator"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refactoring.guru/design-patterns/strategy"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2</a:t>
            </a:fld>
            <a:endParaRPr lang="en-US" altLang="en-US"/>
          </a:p>
        </p:txBody>
      </p:sp>
    </p:spTree>
    <p:extLst>
      <p:ext uri="{BB962C8B-B14F-4D97-AF65-F5344CB8AC3E}">
        <p14:creationId xmlns:p14="http://schemas.microsoft.com/office/powerpoint/2010/main" val="1565270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buClrTx/>
              <a:buSzTx/>
              <a:buFontTx/>
              <a:buNone/>
              <a:defRPr/>
            </a:pPr>
            <a:r>
              <a:rPr lang="en-US" altLang="tr-TR" sz="1300" dirty="0">
                <a:latin typeface="Courier New" panose="02070309020205020404" pitchFamily="49" charset="0"/>
                <a:cs typeface="Courier New" panose="02070309020205020404" pitchFamily="49" charset="0"/>
              </a:rPr>
              <a:t>class Car{</a:t>
            </a:r>
          </a:p>
          <a:p>
            <a:pPr>
              <a:spcBef>
                <a:spcPct val="0"/>
              </a:spcBef>
              <a:buClrTx/>
              <a:buSzTx/>
              <a:buFontTx/>
              <a:buNone/>
              <a:defRPr/>
            </a:pPr>
            <a:r>
              <a:rPr lang="en-US" altLang="tr-TR" sz="1300" dirty="0">
                <a:latin typeface="Courier New" panose="02070309020205020404" pitchFamily="49" charset="0"/>
                <a:cs typeface="Courier New" panose="02070309020205020404" pitchFamily="49" charset="0"/>
              </a:rPr>
              <a:t>Breaking </a:t>
            </a:r>
            <a:r>
              <a:rPr lang="en-US" altLang="tr-TR" sz="1300" dirty="0" err="1">
                <a:latin typeface="Courier New" panose="02070309020205020404" pitchFamily="49" charset="0"/>
                <a:cs typeface="Courier New" panose="02070309020205020404" pitchFamily="49" charset="0"/>
              </a:rPr>
              <a:t>breakS</a:t>
            </a:r>
            <a:r>
              <a:rPr lang="en-US" altLang="tr-TR" sz="1300" dirty="0">
                <a:latin typeface="Courier New" panose="02070309020205020404" pitchFamily="49" charset="0"/>
                <a:cs typeface="Courier New" panose="02070309020205020404" pitchFamily="49" charset="0"/>
              </a:rPr>
              <a:t>;</a:t>
            </a:r>
          </a:p>
          <a:p>
            <a:pPr>
              <a:spcBef>
                <a:spcPct val="0"/>
              </a:spcBef>
              <a:buClrTx/>
              <a:buSzTx/>
              <a:buFontTx/>
              <a:buNone/>
              <a:defRPr/>
            </a:pPr>
            <a:r>
              <a:rPr lang="en-US" altLang="tr-TR" sz="1300" dirty="0">
                <a:latin typeface="Courier New" panose="02070309020205020404" pitchFamily="49" charset="0"/>
                <a:cs typeface="Courier New" panose="02070309020205020404" pitchFamily="49" charset="0"/>
              </a:rPr>
              <a:t>Accelerate </a:t>
            </a:r>
            <a:r>
              <a:rPr lang="en-US" altLang="tr-TR" sz="1300" dirty="0" err="1">
                <a:latin typeface="Courier New" panose="02070309020205020404" pitchFamily="49" charset="0"/>
                <a:cs typeface="Courier New" panose="02070309020205020404" pitchFamily="49" charset="0"/>
              </a:rPr>
              <a:t>accelS</a:t>
            </a:r>
            <a:r>
              <a:rPr lang="en-US" altLang="tr-TR" sz="1300" dirty="0">
                <a:latin typeface="Courier New" panose="02070309020205020404" pitchFamily="49" charset="0"/>
                <a:cs typeface="Courier New" panose="02070309020205020404" pitchFamily="49" charset="0"/>
              </a:rPr>
              <a:t>;</a:t>
            </a:r>
          </a:p>
          <a:p>
            <a:pPr>
              <a:spcBef>
                <a:spcPct val="0"/>
              </a:spcBef>
              <a:buClrTx/>
              <a:buSzTx/>
              <a:buFontTx/>
              <a:buNone/>
              <a:defRPr/>
            </a:pPr>
            <a:r>
              <a:rPr lang="en-US" altLang="tr-TR" sz="1300" dirty="0">
                <a:latin typeface="Courier New" panose="02070309020205020404" pitchFamily="49" charset="0"/>
                <a:cs typeface="Courier New" panose="02070309020205020404" pitchFamily="49" charset="0"/>
              </a:rPr>
              <a:t>…</a:t>
            </a:r>
          </a:p>
          <a:p>
            <a:pPr>
              <a:spcBef>
                <a:spcPct val="0"/>
              </a:spcBef>
              <a:buClrTx/>
              <a:buSzTx/>
              <a:buFontTx/>
              <a:buNone/>
              <a:defRPr/>
            </a:pPr>
            <a:r>
              <a:rPr lang="en-US" altLang="tr-TR" sz="1300" dirty="0">
                <a:latin typeface="Courier New" panose="02070309020205020404" pitchFamily="49" charset="0"/>
                <a:cs typeface="Courier New" panose="02070309020205020404" pitchFamily="49" charset="0"/>
              </a:rPr>
              <a:t>break(){</a:t>
            </a:r>
          </a:p>
          <a:p>
            <a:pPr>
              <a:spcBef>
                <a:spcPct val="0"/>
              </a:spcBef>
              <a:buClrTx/>
              <a:buSzTx/>
              <a:buFontTx/>
              <a:buNone/>
              <a:defRPr/>
            </a:pPr>
            <a:r>
              <a:rPr lang="en-US" altLang="tr-TR" sz="1300" dirty="0">
                <a:latin typeface="Courier New" panose="02070309020205020404" pitchFamily="49" charset="0"/>
                <a:cs typeface="Courier New" panose="02070309020205020404" pitchFamily="49" charset="0"/>
              </a:rPr>
              <a:t>   </a:t>
            </a:r>
            <a:r>
              <a:rPr lang="en-US" altLang="tr-TR" sz="1300" dirty="0" err="1">
                <a:latin typeface="Courier New" panose="02070309020205020404" pitchFamily="49" charset="0"/>
                <a:cs typeface="Courier New" panose="02070309020205020404" pitchFamily="49" charset="0"/>
              </a:rPr>
              <a:t>breakS.break</a:t>
            </a:r>
            <a:r>
              <a:rPr lang="en-US" altLang="tr-TR" sz="1300" dirty="0">
                <a:latin typeface="Courier New" panose="02070309020205020404" pitchFamily="49" charset="0"/>
                <a:cs typeface="Courier New" panose="02070309020205020404" pitchFamily="49" charset="0"/>
              </a:rPr>
              <a:t>();}</a:t>
            </a:r>
          </a:p>
          <a:p>
            <a:pPr>
              <a:spcBef>
                <a:spcPct val="0"/>
              </a:spcBef>
              <a:buClrTx/>
              <a:buSzTx/>
              <a:buFontTx/>
              <a:buNone/>
              <a:defRPr/>
            </a:pPr>
            <a:r>
              <a:rPr lang="en-US" altLang="tr-TR" sz="1300" dirty="0">
                <a:latin typeface="Courier New" panose="02070309020205020404" pitchFamily="49" charset="0"/>
                <a:cs typeface="Courier New" panose="02070309020205020404" pitchFamily="49" charset="0"/>
              </a:rPr>
              <a:t>accelerate(){</a:t>
            </a:r>
          </a:p>
          <a:p>
            <a:pPr>
              <a:spcBef>
                <a:spcPct val="0"/>
              </a:spcBef>
              <a:buClrTx/>
              <a:buSzTx/>
              <a:buFontTx/>
              <a:buNone/>
              <a:defRPr/>
            </a:pPr>
            <a:r>
              <a:rPr lang="en-US" altLang="tr-TR" sz="1300" dirty="0">
                <a:latin typeface="Courier New" panose="02070309020205020404" pitchFamily="49" charset="0"/>
                <a:cs typeface="Courier New" panose="02070309020205020404" pitchFamily="49" charset="0"/>
              </a:rPr>
              <a:t>   </a:t>
            </a:r>
            <a:r>
              <a:rPr lang="en-US" altLang="tr-TR" sz="1300" dirty="0" err="1">
                <a:latin typeface="Courier New" panose="02070309020205020404" pitchFamily="49" charset="0"/>
                <a:cs typeface="Courier New" panose="02070309020205020404" pitchFamily="49" charset="0"/>
              </a:rPr>
              <a:t>accelS.accelerate</a:t>
            </a:r>
            <a:r>
              <a:rPr lang="en-US" altLang="tr-TR" sz="1300" dirty="0">
                <a:latin typeface="Courier New" panose="02070309020205020404" pitchFamily="49" charset="0"/>
                <a:cs typeface="Courier New" panose="02070309020205020404" pitchFamily="49" charset="0"/>
              </a:rPr>
              <a:t>();}</a:t>
            </a:r>
          </a:p>
          <a:p>
            <a:endParaRPr lang="en-US" dirty="0"/>
          </a:p>
        </p:txBody>
      </p:sp>
      <p:sp>
        <p:nvSpPr>
          <p:cNvPr id="4" name="Slide Number Placeholder 3"/>
          <p:cNvSpPr>
            <a:spLocks noGrp="1"/>
          </p:cNvSpPr>
          <p:nvPr>
            <p:ph type="sldNum" sz="quarter" idx="5"/>
          </p:nvPr>
        </p:nvSpPr>
        <p:spPr/>
        <p:txBody>
          <a:bodyPr/>
          <a:lstStyle/>
          <a:p>
            <a:fld id="{5654FBDE-A9F9-4F5B-96DE-C51BD4646E22}" type="slidenum">
              <a:rPr lang="en-US" altLang="en-US" smtClean="0"/>
              <a:pPr/>
              <a:t>12</a:t>
            </a:fld>
            <a:endParaRPr lang="en-US" altLang="en-US"/>
          </a:p>
        </p:txBody>
      </p:sp>
    </p:spTree>
    <p:extLst>
      <p:ext uri="{BB962C8B-B14F-4D97-AF65-F5344CB8AC3E}">
        <p14:creationId xmlns:p14="http://schemas.microsoft.com/office/powerpoint/2010/main" val="2004017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tr-TR" sz="3000" dirty="0"/>
              <a:t>Need a family of algorithms</a:t>
            </a:r>
          </a:p>
          <a:p>
            <a:pPr lvl="1"/>
            <a:r>
              <a:rPr lang="en-US" altLang="tr-TR" sz="2500" dirty="0"/>
              <a:t>JPEG compression for images in a document, LZWR1 for text compression</a:t>
            </a:r>
          </a:p>
          <a:p>
            <a:r>
              <a:rPr lang="en-US" b="1" i="0" dirty="0">
                <a:solidFill>
                  <a:srgbClr val="444444"/>
                </a:solidFill>
                <a:effectLst/>
                <a:highlight>
                  <a:srgbClr val="FFFFFF"/>
                </a:highlight>
                <a:latin typeface="PT Sans" panose="020B0503020203020204" pitchFamily="34" charset="0"/>
              </a:rPr>
              <a:t>to isolate the business logic of a class from the implementation details of algorithms that may not be as important in the context of that logic.</a:t>
            </a:r>
          </a:p>
          <a:p>
            <a:r>
              <a:rPr lang="en-US" b="0" i="0" dirty="0">
                <a:solidFill>
                  <a:srgbClr val="444444"/>
                </a:solidFill>
                <a:effectLst/>
                <a:highlight>
                  <a:srgbClr val="FFFFFF"/>
                </a:highlight>
                <a:latin typeface="PT Sans" panose="020B0503020203020204" pitchFamily="34" charset="0"/>
              </a:rPr>
              <a:t> The Strategy pattern lets you isolate the code, internal data, and dependencies of various algorithms from the rest of the code. Various clients get a simple interface to execute the algorithms and switch them at runtime.</a:t>
            </a:r>
          </a:p>
          <a:p>
            <a:r>
              <a:rPr lang="en-US" b="0" i="0" dirty="0">
                <a:solidFill>
                  <a:srgbClr val="444444"/>
                </a:solidFill>
                <a:effectLst/>
                <a:highlight>
                  <a:srgbClr val="FFFFFF"/>
                </a:highlight>
                <a:latin typeface="PT Sans" panose="020B0503020203020204" pitchFamily="34" charset="0"/>
              </a:rPr>
              <a:t>e.g. Huffman coding uses priority queue e.g. LZW uses dictionary (hash table)</a:t>
            </a:r>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15</a:t>
            </a:fld>
            <a:endParaRPr lang="en-US" altLang="en-US"/>
          </a:p>
        </p:txBody>
      </p:sp>
    </p:spTree>
    <p:extLst>
      <p:ext uri="{BB962C8B-B14F-4D97-AF65-F5344CB8AC3E}">
        <p14:creationId xmlns:p14="http://schemas.microsoft.com/office/powerpoint/2010/main" val="39397819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b="1" i="0" dirty="0">
                <a:solidFill>
                  <a:srgbClr val="444444"/>
                </a:solidFill>
                <a:effectLst/>
                <a:highlight>
                  <a:srgbClr val="FFFFFF"/>
                </a:highlight>
                <a:latin typeface="PT Sans" panose="020B0503020203020204" pitchFamily="34" charset="0"/>
              </a:rPr>
              <a:t>to isolate the business logic of a class from the implementation details of algorithms that may not be as important in the context of that logic.</a:t>
            </a:r>
          </a:p>
          <a:p>
            <a:r>
              <a:rPr lang="en-US" dirty="0"/>
              <a:t>See the </a:t>
            </a:r>
            <a:r>
              <a:rPr lang="en-US" dirty="0" err="1"/>
              <a:t>GoF</a:t>
            </a:r>
            <a:r>
              <a:rPr lang="en-US" dirty="0"/>
              <a:t> book example Compositor</a:t>
            </a:r>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23</a:t>
            </a:fld>
            <a:endParaRPr lang="en-US" altLang="en-US"/>
          </a:p>
        </p:txBody>
      </p:sp>
    </p:spTree>
    <p:extLst>
      <p:ext uri="{BB962C8B-B14F-4D97-AF65-F5344CB8AC3E}">
        <p14:creationId xmlns:p14="http://schemas.microsoft.com/office/powerpoint/2010/main" val="351791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Alternative: </a:t>
            </a:r>
            <a:r>
              <a:rPr lang="en-US" b="0" i="1" dirty="0">
                <a:solidFill>
                  <a:srgbClr val="000000"/>
                </a:solidFill>
                <a:effectLst/>
                <a:highlight>
                  <a:srgbClr val="FFFFFF"/>
                </a:highlight>
                <a:latin typeface="Times New Roman" panose="02020603050405020304" pitchFamily="18" charset="0"/>
              </a:rPr>
              <a:t>Strategies as template parameters</a:t>
            </a:r>
            <a:r>
              <a:rPr lang="en-US" b="0" i="0" dirty="0">
                <a:solidFill>
                  <a:srgbClr val="000000"/>
                </a:solidFill>
                <a:effectLst/>
                <a:highlight>
                  <a:srgbClr val="FFFFFF"/>
                </a:highlight>
                <a:latin typeface="Times New Roman" panose="02020603050405020304" pitchFamily="18" charset="0"/>
              </a:rPr>
              <a:t> In C++ templates</a:t>
            </a:r>
          </a:p>
          <a:p>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26</a:t>
            </a:fld>
            <a:endParaRPr lang="en-US" altLang="en-US"/>
          </a:p>
        </p:txBody>
      </p:sp>
    </p:spTree>
    <p:extLst>
      <p:ext uri="{BB962C8B-B14F-4D97-AF65-F5344CB8AC3E}">
        <p14:creationId xmlns:p14="http://schemas.microsoft.com/office/powerpoint/2010/main" val="2730809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27</a:t>
            </a:fld>
            <a:endParaRPr lang="en-US" altLang="en-US"/>
          </a:p>
        </p:txBody>
      </p:sp>
    </p:spTree>
    <p:extLst>
      <p:ext uri="{BB962C8B-B14F-4D97-AF65-F5344CB8AC3E}">
        <p14:creationId xmlns:p14="http://schemas.microsoft.com/office/powerpoint/2010/main" val="1721374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flyweight</a:t>
            </a:r>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32</a:t>
            </a:fld>
            <a:endParaRPr lang="en-US" altLang="en-US"/>
          </a:p>
        </p:txBody>
      </p:sp>
    </p:spTree>
    <p:extLst>
      <p:ext uri="{BB962C8B-B14F-4D97-AF65-F5344CB8AC3E}">
        <p14:creationId xmlns:p14="http://schemas.microsoft.com/office/powerpoint/2010/main" val="842673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b="1" i="0" u="none" strike="noStrike" dirty="0">
                <a:solidFill>
                  <a:srgbClr val="444444"/>
                </a:solidFill>
                <a:effectLst/>
                <a:highlight>
                  <a:srgbClr val="FFFFFF"/>
                </a:highlight>
                <a:latin typeface="PT Sans" panose="020B0503020203020204" pitchFamily="34" charset="0"/>
                <a:hlinkClick r:id="rId3"/>
              </a:rPr>
              <a:t>Decorator</a:t>
            </a:r>
            <a:r>
              <a:rPr lang="en-US" b="0" i="0" dirty="0">
                <a:solidFill>
                  <a:srgbClr val="444444"/>
                </a:solidFill>
                <a:effectLst/>
                <a:highlight>
                  <a:srgbClr val="FFFFFF"/>
                </a:highlight>
                <a:latin typeface="PT Sans" panose="020B0503020203020204" pitchFamily="34" charset="0"/>
              </a:rPr>
              <a:t> lets you change the skin of an object, while </a:t>
            </a:r>
            <a:r>
              <a:rPr lang="en-US" b="1" i="0" u="none" strike="noStrike" dirty="0">
                <a:solidFill>
                  <a:srgbClr val="444444"/>
                </a:solidFill>
                <a:effectLst/>
                <a:highlight>
                  <a:srgbClr val="FFFFFF"/>
                </a:highlight>
                <a:latin typeface="PT Sans" panose="020B0503020203020204" pitchFamily="34" charset="0"/>
                <a:hlinkClick r:id="rId4"/>
              </a:rPr>
              <a:t>Strategy</a:t>
            </a:r>
            <a:r>
              <a:rPr lang="en-US" b="0" i="0" dirty="0">
                <a:solidFill>
                  <a:srgbClr val="444444"/>
                </a:solidFill>
                <a:effectLst/>
                <a:highlight>
                  <a:srgbClr val="FFFFFF"/>
                </a:highlight>
                <a:latin typeface="PT Sans" panose="020B0503020203020204" pitchFamily="34" charset="0"/>
              </a:rPr>
              <a:t> lets you change the guts.</a:t>
            </a:r>
          </a:p>
          <a:p>
            <a:pPr defTabSz="966612">
              <a:defRPr/>
            </a:pPr>
            <a:r>
              <a:rPr lang="en-US" b="0" i="0" dirty="0">
                <a:solidFill>
                  <a:srgbClr val="444444"/>
                </a:solidFill>
                <a:effectLst/>
                <a:highlight>
                  <a:srgbClr val="FFFFFF"/>
                </a:highlight>
                <a:latin typeface="PT Sans" panose="020B0503020203020204" pitchFamily="34" charset="0"/>
              </a:rPr>
              <a:t>TM  lets you alter parts of an algorithm by extending those parts in subclasses.,</a:t>
            </a:r>
          </a:p>
          <a:p>
            <a:pPr defTabSz="966612">
              <a:defRPr/>
            </a:pPr>
            <a:r>
              <a:rPr lang="en-US" b="0" i="0" dirty="0">
                <a:solidFill>
                  <a:srgbClr val="444444"/>
                </a:solidFill>
                <a:effectLst/>
                <a:highlight>
                  <a:srgbClr val="FFFFFF"/>
                </a:highlight>
                <a:latin typeface="PT Sans" panose="020B0503020203020204" pitchFamily="34" charset="0"/>
              </a:rPr>
              <a:t>Strategy alter parts of the object’s behavior by supplying it with different strategies that correspond to that behavior</a:t>
            </a:r>
          </a:p>
          <a:p>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33</a:t>
            </a:fld>
            <a:endParaRPr lang="en-US" altLang="en-US"/>
          </a:p>
        </p:txBody>
      </p:sp>
    </p:spTree>
    <p:extLst>
      <p:ext uri="{BB962C8B-B14F-4D97-AF65-F5344CB8AC3E}">
        <p14:creationId xmlns:p14="http://schemas.microsoft.com/office/powerpoint/2010/main" val="2916647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dirty="0" err="1"/>
              <a:t>javax.servlet.Filter</a:t>
            </a:r>
            <a:r>
              <a:rPr lang="en-US" dirty="0"/>
              <a:t> with </a:t>
            </a:r>
            <a:r>
              <a:rPr lang="en-US" dirty="0" err="1"/>
              <a:t>doFilter</a:t>
            </a:r>
            <a:r>
              <a:rPr lang="en-US" dirty="0"/>
              <a:t>()</a:t>
            </a:r>
          </a:p>
          <a:p>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35</a:t>
            </a:fld>
            <a:endParaRPr lang="en-US" altLang="en-US"/>
          </a:p>
        </p:txBody>
      </p:sp>
    </p:spTree>
    <p:extLst>
      <p:ext uri="{BB962C8B-B14F-4D97-AF65-F5344CB8AC3E}">
        <p14:creationId xmlns:p14="http://schemas.microsoft.com/office/powerpoint/2010/main" val="3925085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19B5DDC-7C9C-8E93-FF78-C738A6F409BF}"/>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13EC304B-90B5-C323-2F10-1655C443C2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tr-TR" dirty="0">
                <a:latin typeface="Arial" panose="020B0604020202020204" pitchFamily="34" charset="0"/>
              </a:rPr>
              <a:t>first, what is a state diagram.</a:t>
            </a:r>
          </a:p>
          <a:p>
            <a:r>
              <a:rPr lang="en-US" altLang="tr-TR" dirty="0">
                <a:latin typeface="Arial" panose="020B0604020202020204" pitchFamily="34" charset="0"/>
              </a:rPr>
              <a:t>States are different configurations of the vending machine that behave in a certain way </a:t>
            </a:r>
          </a:p>
          <a:p>
            <a:r>
              <a:rPr lang="en-US" altLang="tr-TR" dirty="0">
                <a:latin typeface="Arial" panose="020B0604020202020204" pitchFamily="34" charset="0"/>
              </a:rPr>
              <a:t>and need some action to take them to another state</a:t>
            </a:r>
          </a:p>
          <a:p>
            <a:endParaRPr lang="en-US" altLang="tr-TR" dirty="0">
              <a:latin typeface="Arial" panose="020B0604020202020204" pitchFamily="34" charset="0"/>
            </a:endParaRPr>
          </a:p>
          <a:p>
            <a:r>
              <a:rPr lang="en-US" altLang="tr-TR" dirty="0">
                <a:latin typeface="Arial" panose="020B0604020202020204" pitchFamily="34" charset="0"/>
              </a:rPr>
              <a:t>To go to another state you need to do something. </a:t>
            </a:r>
            <a:r>
              <a:rPr lang="en-US" altLang="tr-TR" dirty="0" err="1">
                <a:latin typeface="Arial" panose="020B0604020202020204" pitchFamily="34" charset="0"/>
              </a:rPr>
              <a:t>E.g</a:t>
            </a:r>
            <a:r>
              <a:rPr lang="en-US" altLang="tr-TR" dirty="0">
                <a:latin typeface="Arial" panose="020B0604020202020204" pitchFamily="34" charset="0"/>
              </a:rPr>
              <a:t> insert coin</a:t>
            </a:r>
          </a:p>
          <a:p>
            <a:r>
              <a:rPr lang="en-US" altLang="tr-TR" dirty="0">
                <a:latin typeface="Arial" panose="020B0604020202020204" pitchFamily="34" charset="0"/>
              </a:rPr>
              <a:t>This is state transition</a:t>
            </a:r>
            <a:endParaRPr lang="en-GB" altLang="tr-TR"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515D3731-D1F2-33D4-97B1-DCA5C8DAA74C}"/>
              </a:ext>
            </a:extLst>
          </p:cNvPr>
          <p:cNvSpPr>
            <a:spLocks noGrp="1" noRot="1" noChangeAspect="1" noChangeArrowheads="1" noTextEdit="1"/>
          </p:cNvSpPr>
          <p:nvPr>
            <p:ph type="sldImg"/>
          </p:nvPr>
        </p:nvSpPr>
        <p:spPr>
          <a:ln/>
        </p:spPr>
      </p:sp>
      <p:sp>
        <p:nvSpPr>
          <p:cNvPr id="16387" name="Notes Placeholder 2">
            <a:extLst>
              <a:ext uri="{FF2B5EF4-FFF2-40B4-BE49-F238E27FC236}">
                <a16:creationId xmlns:a16="http://schemas.microsoft.com/office/drawing/2014/main" id="{709E4398-2BFE-2853-1C39-08627AB1CE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6388" name="Slide Number Placeholder 3">
            <a:extLst>
              <a:ext uri="{FF2B5EF4-FFF2-40B4-BE49-F238E27FC236}">
                <a16:creationId xmlns:a16="http://schemas.microsoft.com/office/drawing/2014/main" id="{BC99BD86-8361-020E-E126-AB3394DA8C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85372" indent="-302066">
              <a:defRPr>
                <a:solidFill>
                  <a:schemeClr val="tx1"/>
                </a:solidFill>
                <a:latin typeface="Arial" panose="020B0604020202020204" pitchFamily="34" charset="0"/>
              </a:defRPr>
            </a:lvl2pPr>
            <a:lvl3pPr marL="1208265" indent="-241653">
              <a:defRPr>
                <a:solidFill>
                  <a:schemeClr val="tx1"/>
                </a:solidFill>
                <a:latin typeface="Arial" panose="020B0604020202020204" pitchFamily="34" charset="0"/>
              </a:defRPr>
            </a:lvl3pPr>
            <a:lvl4pPr marL="1691571" indent="-241653">
              <a:defRPr>
                <a:solidFill>
                  <a:schemeClr val="tx1"/>
                </a:solidFill>
                <a:latin typeface="Arial" panose="020B0604020202020204" pitchFamily="34" charset="0"/>
              </a:defRPr>
            </a:lvl4pPr>
            <a:lvl5pPr marL="2174878" indent="-241653">
              <a:defRPr>
                <a:solidFill>
                  <a:schemeClr val="tx1"/>
                </a:solidFill>
                <a:latin typeface="Arial" panose="020B0604020202020204" pitchFamily="34" charset="0"/>
              </a:defRPr>
            </a:lvl5pPr>
            <a:lvl6pPr marL="2658184" indent="-241653" eaLnBrk="0" fontAlgn="base" hangingPunct="0">
              <a:spcBef>
                <a:spcPct val="0"/>
              </a:spcBef>
              <a:spcAft>
                <a:spcPct val="0"/>
              </a:spcAft>
              <a:defRPr>
                <a:solidFill>
                  <a:schemeClr val="tx1"/>
                </a:solidFill>
                <a:latin typeface="Arial" panose="020B0604020202020204" pitchFamily="34" charset="0"/>
              </a:defRPr>
            </a:lvl6pPr>
            <a:lvl7pPr marL="3141490" indent="-241653" eaLnBrk="0" fontAlgn="base" hangingPunct="0">
              <a:spcBef>
                <a:spcPct val="0"/>
              </a:spcBef>
              <a:spcAft>
                <a:spcPct val="0"/>
              </a:spcAft>
              <a:defRPr>
                <a:solidFill>
                  <a:schemeClr val="tx1"/>
                </a:solidFill>
                <a:latin typeface="Arial" panose="020B0604020202020204" pitchFamily="34" charset="0"/>
              </a:defRPr>
            </a:lvl7pPr>
            <a:lvl8pPr marL="3624796" indent="-241653" eaLnBrk="0" fontAlgn="base" hangingPunct="0">
              <a:spcBef>
                <a:spcPct val="0"/>
              </a:spcBef>
              <a:spcAft>
                <a:spcPct val="0"/>
              </a:spcAft>
              <a:defRPr>
                <a:solidFill>
                  <a:schemeClr val="tx1"/>
                </a:solidFill>
                <a:latin typeface="Arial" panose="020B0604020202020204" pitchFamily="34" charset="0"/>
              </a:defRPr>
            </a:lvl8pPr>
            <a:lvl9pPr marL="4108102" indent="-241653" eaLnBrk="0" fontAlgn="base" hangingPunct="0">
              <a:spcBef>
                <a:spcPct val="0"/>
              </a:spcBef>
              <a:spcAft>
                <a:spcPct val="0"/>
              </a:spcAft>
              <a:defRPr>
                <a:solidFill>
                  <a:schemeClr val="tx1"/>
                </a:solidFill>
                <a:latin typeface="Arial" panose="020B0604020202020204" pitchFamily="34" charset="0"/>
              </a:defRPr>
            </a:lvl9pPr>
          </a:lstStyle>
          <a:p>
            <a:fld id="{C55E661D-6138-49B1-8A68-DF52B1A08D11}" type="slidenum">
              <a:rPr lang="en-US" altLang="en-US"/>
              <a:pPr/>
              <a:t>38</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b="0" i="0" dirty="0">
                <a:solidFill>
                  <a:srgbClr val="000000"/>
                </a:solidFill>
                <a:effectLst/>
                <a:latin typeface="Times New Roman" panose="02020603050405020304" pitchFamily="18" charset="0"/>
              </a:rPr>
              <a:t>Operations have large, multipart conditional statements that depend on the object's state. This state is usually represented by one or more enumerated constants. Often, several operations will contain this same conditional structure. The State pattern puts each branch of the conditional in a separate class. This lets you treat the object's state as an object in its own right that can vary independently from other objects.</a:t>
            </a:r>
          </a:p>
          <a:p>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41</a:t>
            </a:fld>
            <a:endParaRPr lang="en-US" altLang="en-US"/>
          </a:p>
        </p:txBody>
      </p:sp>
    </p:spTree>
    <p:extLst>
      <p:ext uri="{BB962C8B-B14F-4D97-AF65-F5344CB8AC3E}">
        <p14:creationId xmlns:p14="http://schemas.microsoft.com/office/powerpoint/2010/main" val="983285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b="0" i="0" dirty="0">
                <a:solidFill>
                  <a:srgbClr val="000000"/>
                </a:solidFill>
                <a:effectLst/>
                <a:latin typeface="Times New Roman" panose="02020603050405020304" pitchFamily="18" charset="0"/>
              </a:rPr>
              <a:t>Operations have large, multipart conditional statements that depend on the object's state. This state is usually represented by one or more enumerated constants. Often, several operations will contain this same conditional structure. The State pattern puts each branch of the conditional in a separate class. This lets you treat the object's state as an object in its own right that can vary independently from other objects.</a:t>
            </a:r>
          </a:p>
          <a:p>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43</a:t>
            </a:fld>
            <a:endParaRPr lang="en-US" altLang="en-US"/>
          </a:p>
        </p:txBody>
      </p:sp>
    </p:spTree>
    <p:extLst>
      <p:ext uri="{BB962C8B-B14F-4D97-AF65-F5344CB8AC3E}">
        <p14:creationId xmlns:p14="http://schemas.microsoft.com/office/powerpoint/2010/main" val="40432691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transition operations are package public. This may be a problem.</a:t>
            </a:r>
          </a:p>
          <a:p>
            <a:r>
              <a:rPr lang="en-US" dirty="0"/>
              <a:t>In </a:t>
            </a:r>
            <a:r>
              <a:rPr lang="en-US" dirty="0" err="1"/>
              <a:t>c++</a:t>
            </a:r>
            <a:r>
              <a:rPr lang="en-US" dirty="0"/>
              <a:t> we can declare them private and make friends with state</a:t>
            </a:r>
          </a:p>
          <a:p>
            <a:endParaRPr lang="en-US" dirty="0"/>
          </a:p>
          <a:p>
            <a:r>
              <a:rPr lang="en-US" dirty="0"/>
              <a:t>How to overcome? Maybe state as inner class?</a:t>
            </a:r>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45</a:t>
            </a:fld>
            <a:endParaRPr lang="en-US" altLang="en-US"/>
          </a:p>
        </p:txBody>
      </p:sp>
    </p:spTree>
    <p:extLst>
      <p:ext uri="{BB962C8B-B14F-4D97-AF65-F5344CB8AC3E}">
        <p14:creationId xmlns:p14="http://schemas.microsoft.com/office/powerpoint/2010/main" val="2338793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altLang="tr-TR" dirty="0">
                <a:latin typeface="Arial" panose="020B0604020202020204" pitchFamily="34" charset="0"/>
              </a:rPr>
              <a:t>Easy to forbit unallowed actions in a state….eject quarter in a </a:t>
            </a:r>
            <a:r>
              <a:rPr lang="en-US" altLang="tr-TR" dirty="0" err="1">
                <a:latin typeface="Arial" panose="020B0604020202020204" pitchFamily="34" charset="0"/>
              </a:rPr>
              <a:t>noquarter</a:t>
            </a:r>
            <a:r>
              <a:rPr lang="en-US" altLang="tr-TR" dirty="0">
                <a:latin typeface="Arial" panose="020B0604020202020204" pitchFamily="34" charset="0"/>
              </a:rPr>
              <a:t> state</a:t>
            </a:r>
          </a:p>
          <a:p>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46</a:t>
            </a:fld>
            <a:endParaRPr lang="en-US" altLang="en-US"/>
          </a:p>
        </p:txBody>
      </p:sp>
    </p:spTree>
    <p:extLst>
      <p:ext uri="{BB962C8B-B14F-4D97-AF65-F5344CB8AC3E}">
        <p14:creationId xmlns:p14="http://schemas.microsoft.com/office/powerpoint/2010/main" val="27649498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you see flyweight?</a:t>
            </a:r>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47</a:t>
            </a:fld>
            <a:endParaRPr lang="en-US" altLang="en-US"/>
          </a:p>
        </p:txBody>
      </p:sp>
    </p:spTree>
    <p:extLst>
      <p:ext uri="{BB962C8B-B14F-4D97-AF65-F5344CB8AC3E}">
        <p14:creationId xmlns:p14="http://schemas.microsoft.com/office/powerpoint/2010/main" val="1591776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B93135E3-AA4D-5DE4-5C6B-9BBAA77A2267}"/>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AE527CAD-E70E-BF2F-8AC7-D663FEEABB0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tr-TR">
                <a:latin typeface="Arial" panose="020B0604020202020204" pitchFamily="34" charset="0"/>
              </a:rPr>
              <a:t>First one is user</a:t>
            </a:r>
          </a:p>
          <a:p>
            <a:r>
              <a:rPr lang="en-US" altLang="tr-TR">
                <a:latin typeface="Arial" panose="020B0604020202020204" pitchFamily="34" charset="0"/>
              </a:rPr>
              <a:t>After user, pass or quit</a:t>
            </a:r>
          </a:p>
          <a:p>
            <a:r>
              <a:rPr lang="en-US" altLang="tr-TR">
                <a:latin typeface="Arial" panose="020B0604020202020204" pitchFamily="34" charset="0"/>
              </a:rPr>
              <a:t>If user and pass ok, you can use other commands like list and retrieve until quit</a:t>
            </a:r>
          </a:p>
        </p:txBody>
      </p:sp>
      <p:sp>
        <p:nvSpPr>
          <p:cNvPr id="27652" name="Slide Number Placeholder 3">
            <a:extLst>
              <a:ext uri="{FF2B5EF4-FFF2-40B4-BE49-F238E27FC236}">
                <a16:creationId xmlns:a16="http://schemas.microsoft.com/office/drawing/2014/main" id="{90CB47F7-074C-B569-B955-57EDA053996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300">
                <a:solidFill>
                  <a:schemeClr val="tx1"/>
                </a:solidFill>
                <a:latin typeface="Arial" panose="020B0604020202020204" pitchFamily="34" charset="0"/>
              </a:defRPr>
            </a:lvl1pPr>
            <a:lvl2pPr marL="785372" indent="-302066">
              <a:spcBef>
                <a:spcPct val="30000"/>
              </a:spcBef>
              <a:defRPr sz="1300">
                <a:solidFill>
                  <a:schemeClr val="tx1"/>
                </a:solidFill>
                <a:latin typeface="Arial" panose="020B0604020202020204" pitchFamily="34" charset="0"/>
              </a:defRPr>
            </a:lvl2pPr>
            <a:lvl3pPr marL="1208265" indent="-241653">
              <a:spcBef>
                <a:spcPct val="30000"/>
              </a:spcBef>
              <a:defRPr sz="1300">
                <a:solidFill>
                  <a:schemeClr val="tx1"/>
                </a:solidFill>
                <a:latin typeface="Arial" panose="020B0604020202020204" pitchFamily="34" charset="0"/>
              </a:defRPr>
            </a:lvl3pPr>
            <a:lvl4pPr marL="1691571" indent="-241653">
              <a:spcBef>
                <a:spcPct val="30000"/>
              </a:spcBef>
              <a:defRPr sz="1300">
                <a:solidFill>
                  <a:schemeClr val="tx1"/>
                </a:solidFill>
                <a:latin typeface="Arial" panose="020B0604020202020204" pitchFamily="34" charset="0"/>
              </a:defRPr>
            </a:lvl4pPr>
            <a:lvl5pPr marL="2174878" indent="-241653">
              <a:spcBef>
                <a:spcPct val="30000"/>
              </a:spcBef>
              <a:defRPr sz="1300">
                <a:solidFill>
                  <a:schemeClr val="tx1"/>
                </a:solidFill>
                <a:latin typeface="Arial" panose="020B0604020202020204" pitchFamily="34" charset="0"/>
              </a:defRPr>
            </a:lvl5pPr>
            <a:lvl6pPr marL="2658184" indent="-241653" eaLnBrk="0" fontAlgn="base" hangingPunct="0">
              <a:spcBef>
                <a:spcPct val="30000"/>
              </a:spcBef>
              <a:spcAft>
                <a:spcPct val="0"/>
              </a:spcAft>
              <a:defRPr sz="1300">
                <a:solidFill>
                  <a:schemeClr val="tx1"/>
                </a:solidFill>
                <a:latin typeface="Arial" panose="020B0604020202020204" pitchFamily="34" charset="0"/>
              </a:defRPr>
            </a:lvl6pPr>
            <a:lvl7pPr marL="3141490" indent="-241653" eaLnBrk="0" fontAlgn="base" hangingPunct="0">
              <a:spcBef>
                <a:spcPct val="30000"/>
              </a:spcBef>
              <a:spcAft>
                <a:spcPct val="0"/>
              </a:spcAft>
              <a:defRPr sz="1300">
                <a:solidFill>
                  <a:schemeClr val="tx1"/>
                </a:solidFill>
                <a:latin typeface="Arial" panose="020B0604020202020204" pitchFamily="34" charset="0"/>
              </a:defRPr>
            </a:lvl7pPr>
            <a:lvl8pPr marL="3624796" indent="-241653" eaLnBrk="0" fontAlgn="base" hangingPunct="0">
              <a:spcBef>
                <a:spcPct val="30000"/>
              </a:spcBef>
              <a:spcAft>
                <a:spcPct val="0"/>
              </a:spcAft>
              <a:defRPr sz="1300">
                <a:solidFill>
                  <a:schemeClr val="tx1"/>
                </a:solidFill>
                <a:latin typeface="Arial" panose="020B0604020202020204" pitchFamily="34" charset="0"/>
              </a:defRPr>
            </a:lvl8pPr>
            <a:lvl9pPr marL="4108102" indent="-241653" eaLnBrk="0" fontAlgn="base" hangingPunct="0">
              <a:spcBef>
                <a:spcPct val="30000"/>
              </a:spcBef>
              <a:spcAft>
                <a:spcPct val="0"/>
              </a:spcAft>
              <a:defRPr sz="1300">
                <a:solidFill>
                  <a:schemeClr val="tx1"/>
                </a:solidFill>
                <a:latin typeface="Arial" panose="020B0604020202020204" pitchFamily="34" charset="0"/>
              </a:defRPr>
            </a:lvl9pPr>
          </a:lstStyle>
          <a:p>
            <a:pPr>
              <a:spcBef>
                <a:spcPct val="0"/>
              </a:spcBef>
            </a:pPr>
            <a:fld id="{C1F7A0A9-9B2B-4FFC-A6FA-37C485C933C2}" type="slidenum">
              <a:rPr lang="en-US" altLang="tr-TR"/>
              <a:pPr>
                <a:spcBef>
                  <a:spcPct val="0"/>
                </a:spcBef>
              </a:pPr>
              <a:t>50</a:t>
            </a:fld>
            <a:endParaRPr lang="en-US" altLang="tr-T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States are </a:t>
            </a:r>
            <a:r>
              <a:rPr lang="en-US" dirty="0" err="1"/>
              <a:t>flyweghts</a:t>
            </a:r>
            <a:r>
              <a:rPr lang="en-US" dirty="0"/>
              <a:t>. Who is the flyweight manager?</a:t>
            </a:r>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52</a:t>
            </a:fld>
            <a:endParaRPr lang="en-US" altLang="en-US"/>
          </a:p>
        </p:txBody>
      </p:sp>
    </p:spTree>
    <p:extLst>
      <p:ext uri="{BB962C8B-B14F-4D97-AF65-F5344CB8AC3E}">
        <p14:creationId xmlns:p14="http://schemas.microsoft.com/office/powerpoint/2010/main" val="9075639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513FE-FA5B-D531-1D0F-330A9778B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61B41-E270-8B63-F97B-AF2589122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FA11B-A6A5-78F5-297E-6B7176F6F56A}"/>
              </a:ext>
            </a:extLst>
          </p:cNvPr>
          <p:cNvSpPr>
            <a:spLocks noGrp="1"/>
          </p:cNvSpPr>
          <p:nvPr>
            <p:ph type="body" idx="1"/>
          </p:nvPr>
        </p:nvSpPr>
        <p:spPr/>
        <p:txBody>
          <a:bodyPr/>
          <a:lstStyle/>
          <a:p>
            <a:r>
              <a:rPr lang="en-US" dirty="0"/>
              <a:t>States are </a:t>
            </a:r>
            <a:r>
              <a:rPr lang="en-US" dirty="0" err="1"/>
              <a:t>flyweghts</a:t>
            </a:r>
            <a:r>
              <a:rPr lang="en-US" dirty="0"/>
              <a:t>. Who is the flyweight manager?</a:t>
            </a:r>
          </a:p>
        </p:txBody>
      </p:sp>
      <p:sp>
        <p:nvSpPr>
          <p:cNvPr id="4" name="Slide Number Placeholder 3">
            <a:extLst>
              <a:ext uri="{FF2B5EF4-FFF2-40B4-BE49-F238E27FC236}">
                <a16:creationId xmlns:a16="http://schemas.microsoft.com/office/drawing/2014/main" id="{8EFCED0F-3430-3ADF-56DC-CAE6FD97A2A7}"/>
              </a:ext>
            </a:extLst>
          </p:cNvPr>
          <p:cNvSpPr>
            <a:spLocks noGrp="1"/>
          </p:cNvSpPr>
          <p:nvPr>
            <p:ph type="sldNum" sz="quarter" idx="5"/>
          </p:nvPr>
        </p:nvSpPr>
        <p:spPr/>
        <p:txBody>
          <a:bodyPr/>
          <a:lstStyle/>
          <a:p>
            <a:fld id="{398F261E-68E1-442B-8BD3-47F1FF8ACD3C}" type="slidenum">
              <a:rPr lang="en-US" altLang="en-US" smtClean="0"/>
              <a:pPr/>
              <a:t>53</a:t>
            </a:fld>
            <a:endParaRPr lang="en-US" altLang="en-US"/>
          </a:p>
        </p:txBody>
      </p:sp>
    </p:spTree>
    <p:extLst>
      <p:ext uri="{BB962C8B-B14F-4D97-AF65-F5344CB8AC3E}">
        <p14:creationId xmlns:p14="http://schemas.microsoft.com/office/powerpoint/2010/main" val="855469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54</a:t>
            </a:fld>
            <a:endParaRPr lang="en-US" altLang="en-US"/>
          </a:p>
        </p:txBody>
      </p:sp>
    </p:spTree>
    <p:extLst>
      <p:ext uri="{BB962C8B-B14F-4D97-AF65-F5344CB8AC3E}">
        <p14:creationId xmlns:p14="http://schemas.microsoft.com/office/powerpoint/2010/main" val="417103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friend?</a:t>
            </a:r>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57</a:t>
            </a:fld>
            <a:endParaRPr lang="en-US" altLang="en-US"/>
          </a:p>
        </p:txBody>
      </p:sp>
    </p:spTree>
    <p:extLst>
      <p:ext uri="{BB962C8B-B14F-4D97-AF65-F5344CB8AC3E}">
        <p14:creationId xmlns:p14="http://schemas.microsoft.com/office/powerpoint/2010/main" val="6524123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default action could be exception or some message</a:t>
            </a:r>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58</a:t>
            </a:fld>
            <a:endParaRPr lang="en-US" altLang="en-US"/>
          </a:p>
        </p:txBody>
      </p:sp>
    </p:spTree>
    <p:extLst>
      <p:ext uri="{BB962C8B-B14F-4D97-AF65-F5344CB8AC3E}">
        <p14:creationId xmlns:p14="http://schemas.microsoft.com/office/powerpoint/2010/main" val="27955248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highlight>
                  <a:srgbClr val="FFFFFF"/>
                </a:highlight>
                <a:latin typeface="Times New Roman" panose="02020603050405020304" pitchFamily="18" charset="0"/>
              </a:rPr>
              <a:t>After performing state-specific work, these operations call the </a:t>
            </a:r>
            <a:r>
              <a:rPr lang="en-US" dirty="0" err="1"/>
              <a:t>ChangeState</a:t>
            </a:r>
            <a:r>
              <a:rPr lang="en-US" b="0" i="0" dirty="0">
                <a:solidFill>
                  <a:srgbClr val="000000"/>
                </a:solidFill>
                <a:effectLst/>
                <a:highlight>
                  <a:srgbClr val="FFFFFF"/>
                </a:highlight>
                <a:latin typeface="Times New Roman" panose="02020603050405020304" pitchFamily="18" charset="0"/>
              </a:rPr>
              <a:t> operation to change the state of the </a:t>
            </a:r>
            <a:r>
              <a:rPr lang="en-US" dirty="0" err="1"/>
              <a:t>TCPConnection</a:t>
            </a:r>
            <a:r>
              <a:rPr lang="en-US" b="0" i="0" dirty="0">
                <a:solidFill>
                  <a:srgbClr val="000000"/>
                </a:solidFill>
                <a:effectLst/>
                <a:highlight>
                  <a:srgbClr val="FFFFFF"/>
                </a:highlight>
                <a:latin typeface="Times New Roman" panose="02020603050405020304" pitchFamily="18" charset="0"/>
              </a:rPr>
              <a:t>. </a:t>
            </a:r>
            <a:r>
              <a:rPr lang="en-US" dirty="0" err="1"/>
              <a:t>TCPConnection</a:t>
            </a:r>
            <a:r>
              <a:rPr lang="en-US" b="0" i="0" dirty="0">
                <a:solidFill>
                  <a:srgbClr val="000000"/>
                </a:solidFill>
                <a:effectLst/>
                <a:highlight>
                  <a:srgbClr val="FFFFFF"/>
                </a:highlight>
                <a:latin typeface="Times New Roman" panose="02020603050405020304" pitchFamily="18" charset="0"/>
              </a:rPr>
              <a:t> itself doesn't know a thing about the TCP connection protocol; it's the </a:t>
            </a:r>
            <a:r>
              <a:rPr lang="en-US" dirty="0" err="1"/>
              <a:t>TCPState</a:t>
            </a:r>
            <a:r>
              <a:rPr lang="en-US" b="0" i="0" dirty="0">
                <a:solidFill>
                  <a:srgbClr val="000000"/>
                </a:solidFill>
                <a:effectLst/>
                <a:highlight>
                  <a:srgbClr val="FFFFFF"/>
                </a:highlight>
                <a:latin typeface="Times New Roman" panose="02020603050405020304" pitchFamily="18" charset="0"/>
              </a:rPr>
              <a:t> subclasses that define each state transition and action in TCP.</a:t>
            </a:r>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59</a:t>
            </a:fld>
            <a:endParaRPr lang="en-US" altLang="en-US"/>
          </a:p>
        </p:txBody>
      </p:sp>
    </p:spTree>
    <p:extLst>
      <p:ext uri="{BB962C8B-B14F-4D97-AF65-F5344CB8AC3E}">
        <p14:creationId xmlns:p14="http://schemas.microsoft.com/office/powerpoint/2010/main" val="24028223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300" dirty="0"/>
              <a:t>Encapsulating each state transition and action in a class elevates the idea of an execution state to full object status. That imposes structure on the code and makes its intent clearer.</a:t>
            </a:r>
          </a:p>
          <a:p>
            <a:pPr algn="l">
              <a:buFont typeface="Arial" panose="020B0604020202020204" pitchFamily="34" charset="0"/>
              <a:buChar char="•"/>
            </a:pPr>
            <a:r>
              <a:rPr lang="en-US" b="0" i="0" dirty="0">
                <a:solidFill>
                  <a:srgbClr val="444444"/>
                </a:solidFill>
                <a:effectLst/>
                <a:highlight>
                  <a:srgbClr val="FFFFFF"/>
                </a:highlight>
                <a:latin typeface="PT Sans" panose="020B0503020203020204" pitchFamily="34" charset="0"/>
              </a:rPr>
              <a:t> </a:t>
            </a:r>
            <a:r>
              <a:rPr lang="en-US" b="0" i="1" dirty="0">
                <a:solidFill>
                  <a:srgbClr val="444444"/>
                </a:solidFill>
                <a:effectLst/>
                <a:highlight>
                  <a:srgbClr val="FFFFFF"/>
                </a:highlight>
                <a:latin typeface="PT Sans" panose="020B0503020203020204" pitchFamily="34" charset="0"/>
              </a:rPr>
              <a:t>Single Responsibility Principle</a:t>
            </a:r>
            <a:r>
              <a:rPr lang="en-US" b="0" i="0" dirty="0">
                <a:solidFill>
                  <a:srgbClr val="444444"/>
                </a:solidFill>
                <a:effectLst/>
                <a:highlight>
                  <a:srgbClr val="FFFFFF"/>
                </a:highlight>
                <a:latin typeface="PT Sans" panose="020B0503020203020204" pitchFamily="34" charset="0"/>
              </a:rPr>
              <a:t>. Organize the code related to particular states into separate classes.</a:t>
            </a:r>
          </a:p>
          <a:p>
            <a:pPr algn="l">
              <a:buFont typeface="Arial" panose="020B0604020202020204" pitchFamily="34" charset="0"/>
              <a:buChar char="•"/>
            </a:pPr>
            <a:r>
              <a:rPr lang="en-US" b="0" i="0" dirty="0">
                <a:solidFill>
                  <a:srgbClr val="444444"/>
                </a:solidFill>
                <a:effectLst/>
                <a:highlight>
                  <a:srgbClr val="FFFFFF"/>
                </a:highlight>
                <a:latin typeface="PT Sans" panose="020B0503020203020204" pitchFamily="34" charset="0"/>
              </a:rPr>
              <a:t> </a:t>
            </a:r>
            <a:r>
              <a:rPr lang="en-US" b="0" i="1" dirty="0">
                <a:solidFill>
                  <a:srgbClr val="444444"/>
                </a:solidFill>
                <a:effectLst/>
                <a:highlight>
                  <a:srgbClr val="FFFFFF"/>
                </a:highlight>
                <a:latin typeface="PT Sans" panose="020B0503020203020204" pitchFamily="34" charset="0"/>
              </a:rPr>
              <a:t>Open/Closed Principle</a:t>
            </a:r>
            <a:r>
              <a:rPr lang="en-US" b="0" i="0" dirty="0">
                <a:solidFill>
                  <a:srgbClr val="444444"/>
                </a:solidFill>
                <a:effectLst/>
                <a:highlight>
                  <a:srgbClr val="FFFFFF"/>
                </a:highlight>
                <a:latin typeface="PT Sans" panose="020B0503020203020204" pitchFamily="34" charset="0"/>
              </a:rPr>
              <a:t>. Introduce new states without changing existing state classes or the context.</a:t>
            </a:r>
          </a:p>
          <a:p>
            <a:pPr algn="l">
              <a:buFont typeface="Arial" panose="020B0604020202020204" pitchFamily="34" charset="0"/>
              <a:buChar char="•"/>
            </a:pPr>
            <a:r>
              <a:rPr lang="en-US" b="0" i="0" dirty="0">
                <a:solidFill>
                  <a:srgbClr val="444444"/>
                </a:solidFill>
                <a:effectLst/>
                <a:highlight>
                  <a:srgbClr val="FFFFFF"/>
                </a:highlight>
                <a:latin typeface="PT Sans" panose="020B0503020203020204" pitchFamily="34" charset="0"/>
              </a:rPr>
              <a:t> Simplify the code of the context by eliminating bulky state machine conditionals.</a:t>
            </a:r>
          </a:p>
          <a:p>
            <a:pPr defTabSz="966612">
              <a:defRPr/>
            </a:pPr>
            <a:endParaRPr lang="en-US" sz="1300" dirty="0"/>
          </a:p>
          <a:p>
            <a:endParaRPr lang="en-US" dirty="0"/>
          </a:p>
        </p:txBody>
      </p:sp>
      <p:sp>
        <p:nvSpPr>
          <p:cNvPr id="4" name="Slide Number Placeholder 3"/>
          <p:cNvSpPr>
            <a:spLocks noGrp="1"/>
          </p:cNvSpPr>
          <p:nvPr>
            <p:ph type="sldNum" sz="quarter" idx="5"/>
          </p:nvPr>
        </p:nvSpPr>
        <p:spPr/>
        <p:txBody>
          <a:bodyPr/>
          <a:lstStyle/>
          <a:p>
            <a:fld id="{398F261E-68E1-442B-8BD3-47F1FF8ACD3C}" type="slidenum">
              <a:rPr lang="en-US" altLang="en-US" smtClean="0"/>
              <a:pPr/>
              <a:t>60</a:t>
            </a:fld>
            <a:endParaRPr lang="en-US" altLang="en-US"/>
          </a:p>
        </p:txBody>
      </p:sp>
    </p:spTree>
    <p:extLst>
      <p:ext uri="{BB962C8B-B14F-4D97-AF65-F5344CB8AC3E}">
        <p14:creationId xmlns:p14="http://schemas.microsoft.com/office/powerpoint/2010/main" val="35058000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29231E6-D6BE-7CFB-44AA-6FEEF0565FED}"/>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0B9722C6-0939-C8ED-C6E2-38B607FE9E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r>
              <a:rPr lang="en-US" sz="1300" dirty="0">
                <a:solidFill>
                  <a:srgbClr val="000000"/>
                </a:solidFill>
                <a:highlight>
                  <a:srgbClr val="FFFFFF"/>
                </a:highlight>
                <a:latin typeface="Times New Roman" panose="02020603050405020304" pitchFamily="18" charset="0"/>
              </a:rPr>
              <a:t>when an object defines its current state solely in terms of internal data values, its state transitions have no explicit representation; they only show up as assignments to some variables. Introducing separate objects for different states makes the transitions more explicit. Also, State objects can protect the Context from inconsistent internal states, because state transitions are atomic from the Context's perspective—they happen by rebinding </a:t>
            </a:r>
            <a:r>
              <a:rPr lang="en-US" sz="1300" i="1" dirty="0">
                <a:solidFill>
                  <a:srgbClr val="000000"/>
                </a:solidFill>
                <a:highlight>
                  <a:srgbClr val="FFFFFF"/>
                </a:highlight>
                <a:latin typeface="Times New Roman" panose="02020603050405020304" pitchFamily="18" charset="0"/>
              </a:rPr>
              <a:t>one</a:t>
            </a:r>
            <a:r>
              <a:rPr lang="en-US" sz="1300" dirty="0">
                <a:solidFill>
                  <a:srgbClr val="000000"/>
                </a:solidFill>
                <a:highlight>
                  <a:srgbClr val="FFFFFF"/>
                </a:highlight>
                <a:latin typeface="Times New Roman" panose="02020603050405020304" pitchFamily="18" charset="0"/>
              </a:rPr>
              <a:t> variable (the Context's State object variable), not several</a:t>
            </a:r>
            <a:endParaRPr lang="en-US" altLang="tr-TR" sz="2100" dirty="0"/>
          </a:p>
          <a:p>
            <a:endParaRPr lang="en-GB" altLang="tr-TR" dirty="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29231E6-D6BE-7CFB-44AA-6FEEF0565FED}"/>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0B9722C6-0939-C8ED-C6E2-38B607FE9E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tr-TR" dirty="0">
              <a:latin typeface="Arial" panose="020B0604020202020204" pitchFamily="34" charset="0"/>
            </a:endParaRPr>
          </a:p>
        </p:txBody>
      </p:sp>
    </p:spTree>
    <p:extLst>
      <p:ext uri="{BB962C8B-B14F-4D97-AF65-F5344CB8AC3E}">
        <p14:creationId xmlns:p14="http://schemas.microsoft.com/office/powerpoint/2010/main" val="29311187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29231E6-D6BE-7CFB-44AA-6FEEF0565FED}"/>
              </a:ext>
            </a:extLst>
          </p:cNvPr>
          <p:cNvSpPr>
            <a:spLocks noGrp="1" noRot="1" noChangeAspect="1" noChangeArrowheads="1" noTextEdit="1"/>
          </p:cNvSpPr>
          <p:nvPr>
            <p:ph type="sldImg"/>
          </p:nvPr>
        </p:nvSpPr>
        <p:spPr>
          <a:ln/>
        </p:spPr>
      </p:sp>
      <p:sp>
        <p:nvSpPr>
          <p:cNvPr id="32771" name="Rectangle 3">
            <a:extLst>
              <a:ext uri="{FF2B5EF4-FFF2-40B4-BE49-F238E27FC236}">
                <a16:creationId xmlns:a16="http://schemas.microsoft.com/office/drawing/2014/main" id="{0B9722C6-0939-C8ED-C6E2-38B607FE9E5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tr-TR" dirty="0">
                <a:latin typeface="Arial" panose="020B0604020202020204" pitchFamily="34" charset="0"/>
              </a:rPr>
              <a:t>Alternative to State pattern: State table.</a:t>
            </a:r>
          </a:p>
          <a:p>
            <a:r>
              <a:rPr lang="en-US" b="0" i="0" dirty="0">
                <a:solidFill>
                  <a:srgbClr val="000000"/>
                </a:solidFill>
                <a:effectLst/>
                <a:highlight>
                  <a:srgbClr val="FFFFFF"/>
                </a:highlight>
                <a:latin typeface="Times New Roman" panose="02020603050405020304" pitchFamily="18" charset="0"/>
              </a:rPr>
              <a:t>. For each state, a table maps every possible input to a succeeding state. In effect, this approach converts conditional code (and virtual functions, in the case of the State pattern) into a table look-up.</a:t>
            </a:r>
            <a:endParaRPr lang="en-GB" altLang="tr-TR" dirty="0">
              <a:latin typeface="Arial" panose="020B0604020202020204" pitchFamily="34" charset="0"/>
            </a:endParaRPr>
          </a:p>
          <a:p>
            <a:r>
              <a:rPr lang="en-US" b="0" i="0" dirty="0">
                <a:solidFill>
                  <a:srgbClr val="000000"/>
                </a:solidFill>
                <a:effectLst/>
                <a:highlight>
                  <a:srgbClr val="FFFFFF"/>
                </a:highlight>
                <a:latin typeface="Times New Roman" panose="02020603050405020304" pitchFamily="18" charset="0"/>
              </a:rPr>
              <a:t>The State pattern models state-specific behavior, whereas the table-driven approach focuses on defining state transitions.</a:t>
            </a:r>
            <a:endParaRPr lang="en-GB" altLang="tr-TR" dirty="0">
              <a:latin typeface="Arial" panose="020B0604020202020204" pitchFamily="34" charset="0"/>
            </a:endParaRPr>
          </a:p>
        </p:txBody>
      </p:sp>
    </p:spTree>
    <p:extLst>
      <p:ext uri="{BB962C8B-B14F-4D97-AF65-F5344CB8AC3E}">
        <p14:creationId xmlns:p14="http://schemas.microsoft.com/office/powerpoint/2010/main" val="28929814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9C2FE64-870E-969B-77A4-BAD248F77B22}"/>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006B6361-39DE-6ABD-6798-FCBCDCAD74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tr-TR">
                <a:latin typeface="Arial" panose="020B0604020202020204" pitchFamily="34" charset="0"/>
              </a:rPr>
              <a:t>State: set of behaviors encapsulated in state objects. Context will change state and hence context behavior will change. However, the client of the context knows nothing or very little about the state objects</a:t>
            </a:r>
          </a:p>
          <a:p>
            <a:endParaRPr lang="en-US" altLang="tr-TR">
              <a:latin typeface="Arial" panose="020B0604020202020204" pitchFamily="34" charset="0"/>
            </a:endParaRPr>
          </a:p>
          <a:p>
            <a:r>
              <a:rPr lang="en-US" altLang="tr-TR">
                <a:latin typeface="Arial" panose="020B0604020202020204" pitchFamily="34" charset="0"/>
              </a:rPr>
              <a:t>State transitions is well defined, there is an order. Strategy may change but there is no order in the strategy changes</a:t>
            </a:r>
          </a:p>
          <a:p>
            <a:endParaRPr lang="en-US" altLang="tr-TR">
              <a:latin typeface="Arial" panose="020B0604020202020204" pitchFamily="34" charset="0"/>
            </a:endParaRPr>
          </a:p>
          <a:p>
            <a:r>
              <a:rPr lang="en-US" altLang="tr-TR">
                <a:latin typeface="Arial" panose="020B0604020202020204" pitchFamily="34" charset="0"/>
              </a:rPr>
              <a:t>Either context or state decides to next state. In strategy, client is also in play</a:t>
            </a:r>
          </a:p>
          <a:p>
            <a:endParaRPr lang="en-US" altLang="tr-TR">
              <a:latin typeface="Arial" panose="020B0604020202020204" pitchFamily="34" charset="0"/>
            </a:endParaRPr>
          </a:p>
          <a:p>
            <a:r>
              <a:rPr lang="en-US" altLang="tr-TR">
                <a:latin typeface="Arial" panose="020B0604020202020204" pitchFamily="34" charset="0"/>
              </a:rPr>
              <a:t>Strategy: client specifies which strategy the context will use. Client will make the context change its behavior with a strategy. It is alternative to subclassing… attaching a behavior at runtime</a:t>
            </a:r>
          </a:p>
          <a:p>
            <a:endParaRPr lang="en-US" altLang="tr-TR">
              <a:latin typeface="Arial" panose="020B0604020202020204" pitchFamily="34" charset="0"/>
            </a:endParaRPr>
          </a:p>
          <a:p>
            <a:r>
              <a:rPr lang="en-US" altLang="tr-TR">
                <a:latin typeface="Arial" panose="020B0604020202020204" pitchFamily="34" charset="0"/>
              </a:rPr>
              <a:t>Stragety: alternative to subclassing</a:t>
            </a:r>
          </a:p>
          <a:p>
            <a:r>
              <a:rPr lang="en-US" altLang="tr-TR">
                <a:latin typeface="Arial" panose="020B0604020202020204" pitchFamily="34" charset="0"/>
              </a:rPr>
              <a:t>State: alternative to lots of conditionals</a:t>
            </a:r>
            <a:endParaRPr lang="en-GB" altLang="tr-TR">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933B59C-C21A-EFF7-079C-36DC23EE087B}"/>
              </a:ext>
            </a:extLst>
          </p:cNvPr>
          <p:cNvGrpSpPr>
            <a:grpSpLocks/>
          </p:cNvGrpSpPr>
          <p:nvPr/>
        </p:nvGrpSpPr>
        <p:grpSpPr bwMode="auto">
          <a:xfrm>
            <a:off x="0" y="0"/>
            <a:ext cx="9144000" cy="6858000"/>
            <a:chOff x="0" y="0"/>
            <a:chExt cx="5760" cy="4320"/>
          </a:xfrm>
        </p:grpSpPr>
        <p:sp>
          <p:nvSpPr>
            <p:cNvPr id="3" name="Rectangle 3">
              <a:extLst>
                <a:ext uri="{FF2B5EF4-FFF2-40B4-BE49-F238E27FC236}">
                  <a16:creationId xmlns:a16="http://schemas.microsoft.com/office/drawing/2014/main" id="{8812F79E-FF62-E510-396A-C6BFF8246D74}"/>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tr-TR" altLang="tr-TR" sz="2400">
                <a:latin typeface="Times New Roman" pitchFamily="18" charset="0"/>
              </a:endParaRPr>
            </a:p>
          </p:txBody>
        </p:sp>
        <p:sp>
          <p:nvSpPr>
            <p:cNvPr id="4" name="Rectangle 4">
              <a:extLst>
                <a:ext uri="{FF2B5EF4-FFF2-40B4-BE49-F238E27FC236}">
                  <a16:creationId xmlns:a16="http://schemas.microsoft.com/office/drawing/2014/main" id="{8384749C-74BF-0084-E8B6-9285624CAF26}"/>
                </a:ext>
              </a:extLst>
            </p:cNvPr>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grpSp>
          <p:nvGrpSpPr>
            <p:cNvPr id="5" name="Group 5">
              <a:extLst>
                <a:ext uri="{FF2B5EF4-FFF2-40B4-BE49-F238E27FC236}">
                  <a16:creationId xmlns:a16="http://schemas.microsoft.com/office/drawing/2014/main" id="{164DD8CE-944C-179B-CB16-B5BA3531336C}"/>
                </a:ext>
              </a:extLst>
            </p:cNvPr>
            <p:cNvGrpSpPr>
              <a:grpSpLocks/>
            </p:cNvGrpSpPr>
            <p:nvPr/>
          </p:nvGrpSpPr>
          <p:grpSpPr bwMode="auto">
            <a:xfrm>
              <a:off x="0" y="672"/>
              <a:ext cx="1806" cy="1989"/>
              <a:chOff x="0" y="672"/>
              <a:chExt cx="1806" cy="1989"/>
            </a:xfrm>
          </p:grpSpPr>
          <p:sp>
            <p:nvSpPr>
              <p:cNvPr id="6" name="Rectangle 6">
                <a:extLst>
                  <a:ext uri="{FF2B5EF4-FFF2-40B4-BE49-F238E27FC236}">
                    <a16:creationId xmlns:a16="http://schemas.microsoft.com/office/drawing/2014/main" id="{B05A5323-8585-B6BD-AC93-A049C167CD8C}"/>
                  </a:ext>
                </a:extLst>
              </p:cNvPr>
              <p:cNvSpPr>
                <a:spLocks noChangeArrowheads="1"/>
              </p:cNvSpPr>
              <p:nvPr/>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7" name="Rectangle 7">
                <a:extLst>
                  <a:ext uri="{FF2B5EF4-FFF2-40B4-BE49-F238E27FC236}">
                    <a16:creationId xmlns:a16="http://schemas.microsoft.com/office/drawing/2014/main" id="{AA23FA9B-52FD-2B96-5E71-BB72606D655E}"/>
                  </a:ext>
                </a:extLst>
              </p:cNvPr>
              <p:cNvSpPr>
                <a:spLocks noChangeArrowheads="1"/>
              </p:cNvSpPr>
              <p:nvPr/>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8" name="Rectangle 8">
                <a:extLst>
                  <a:ext uri="{FF2B5EF4-FFF2-40B4-BE49-F238E27FC236}">
                    <a16:creationId xmlns:a16="http://schemas.microsoft.com/office/drawing/2014/main" id="{D8D678C9-6F3B-C7A9-1EAA-9699903B1B76}"/>
                  </a:ext>
                </a:extLst>
              </p:cNvPr>
              <p:cNvSpPr>
                <a:spLocks noChangeArrowheads="1"/>
              </p:cNvSpPr>
              <p:nvPr/>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9" name="Rectangle 9">
                <a:extLst>
                  <a:ext uri="{FF2B5EF4-FFF2-40B4-BE49-F238E27FC236}">
                    <a16:creationId xmlns:a16="http://schemas.microsoft.com/office/drawing/2014/main" id="{5143ABB3-F426-2AC8-BB1F-191FB4CAE0A4}"/>
                  </a:ext>
                </a:extLst>
              </p:cNvPr>
              <p:cNvSpPr>
                <a:spLocks noChangeArrowheads="1"/>
              </p:cNvSpPr>
              <p:nvPr/>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 name="Rectangle 10">
                <a:extLst>
                  <a:ext uri="{FF2B5EF4-FFF2-40B4-BE49-F238E27FC236}">
                    <a16:creationId xmlns:a16="http://schemas.microsoft.com/office/drawing/2014/main" id="{7AA1FBF0-4FD8-2BB7-4C49-347E1D331F55}"/>
                  </a:ext>
                </a:extLst>
              </p:cNvPr>
              <p:cNvSpPr>
                <a:spLocks noChangeArrowheads="1"/>
              </p:cNvSpPr>
              <p:nvPr/>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1" name="Rectangle 11">
                <a:extLst>
                  <a:ext uri="{FF2B5EF4-FFF2-40B4-BE49-F238E27FC236}">
                    <a16:creationId xmlns:a16="http://schemas.microsoft.com/office/drawing/2014/main" id="{41C0CB80-437C-A2B0-4899-417F6BFD07D6}"/>
                  </a:ext>
                </a:extLst>
              </p:cNvPr>
              <p:cNvSpPr>
                <a:spLocks noChangeArrowheads="1"/>
              </p:cNvSpPr>
              <p:nvPr/>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2" name="Rectangle 12">
                <a:extLst>
                  <a:ext uri="{FF2B5EF4-FFF2-40B4-BE49-F238E27FC236}">
                    <a16:creationId xmlns:a16="http://schemas.microsoft.com/office/drawing/2014/main" id="{E2510295-A619-5795-3ABE-3DEF02A6816C}"/>
                  </a:ext>
                </a:extLst>
              </p:cNvPr>
              <p:cNvSpPr>
                <a:spLocks noChangeArrowheads="1"/>
              </p:cNvSpPr>
              <p:nvPr/>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3" name="Rectangle 13">
                <a:extLst>
                  <a:ext uri="{FF2B5EF4-FFF2-40B4-BE49-F238E27FC236}">
                    <a16:creationId xmlns:a16="http://schemas.microsoft.com/office/drawing/2014/main" id="{4EEE409E-3190-DDAC-3C95-B847DC50C356}"/>
                  </a:ext>
                </a:extLst>
              </p:cNvPr>
              <p:cNvSpPr>
                <a:spLocks noChangeArrowheads="1"/>
              </p:cNvSpPr>
              <p:nvPr/>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4" name="Rectangle 14">
                <a:extLst>
                  <a:ext uri="{FF2B5EF4-FFF2-40B4-BE49-F238E27FC236}">
                    <a16:creationId xmlns:a16="http://schemas.microsoft.com/office/drawing/2014/main" id="{D050F70B-926A-5D79-113A-950E4AB98DC7}"/>
                  </a:ext>
                </a:extLst>
              </p:cNvPr>
              <p:cNvSpPr>
                <a:spLocks noChangeArrowheads="1"/>
              </p:cNvSpPr>
              <p:nvPr/>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5" name="Rectangle 15">
                <a:extLst>
                  <a:ext uri="{FF2B5EF4-FFF2-40B4-BE49-F238E27FC236}">
                    <a16:creationId xmlns:a16="http://schemas.microsoft.com/office/drawing/2014/main" id="{76D42C04-ABE0-77B6-EA6E-681474BFC483}"/>
                  </a:ext>
                </a:extLst>
              </p:cNvPr>
              <p:cNvSpPr>
                <a:spLocks noChangeArrowheads="1"/>
              </p:cNvSpPr>
              <p:nvPr/>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grpSp>
      </p:grpSp>
      <p:sp>
        <p:nvSpPr>
          <p:cNvPr id="275475"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en-US"/>
              <a:t>Click to edit Master title style</a:t>
            </a:r>
          </a:p>
        </p:txBody>
      </p:sp>
      <p:sp>
        <p:nvSpPr>
          <p:cNvPr id="275476"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en-US"/>
              <a:t>Click to edit Master subtitle style</a:t>
            </a:r>
          </a:p>
        </p:txBody>
      </p:sp>
      <p:sp>
        <p:nvSpPr>
          <p:cNvPr id="16" name="Rectangle 16">
            <a:extLst>
              <a:ext uri="{FF2B5EF4-FFF2-40B4-BE49-F238E27FC236}">
                <a16:creationId xmlns:a16="http://schemas.microsoft.com/office/drawing/2014/main" id="{4F73EBD4-CCE7-9750-88B2-4F42B3E6B5A5}"/>
              </a:ext>
            </a:extLst>
          </p:cNvPr>
          <p:cNvSpPr>
            <a:spLocks noGrp="1" noChangeArrowheads="1"/>
          </p:cNvSpPr>
          <p:nvPr>
            <p:ph type="dt" sz="half" idx="10"/>
          </p:nvPr>
        </p:nvSpPr>
        <p:spPr>
          <a:xfrm>
            <a:off x="457200" y="6248400"/>
            <a:ext cx="2133600" cy="457200"/>
          </a:xfrm>
        </p:spPr>
        <p:txBody>
          <a:bodyPr/>
          <a:lstStyle>
            <a:lvl1pPr>
              <a:defRPr/>
            </a:lvl1pPr>
          </a:lstStyle>
          <a:p>
            <a:pPr>
              <a:defRPr/>
            </a:pPr>
            <a:endParaRPr lang="en-US"/>
          </a:p>
        </p:txBody>
      </p:sp>
      <p:sp>
        <p:nvSpPr>
          <p:cNvPr id="17" name="Rectangle 17">
            <a:extLst>
              <a:ext uri="{FF2B5EF4-FFF2-40B4-BE49-F238E27FC236}">
                <a16:creationId xmlns:a16="http://schemas.microsoft.com/office/drawing/2014/main" id="{9D7DF7F7-A2C1-53AF-62C8-9F821F0ABD28}"/>
              </a:ext>
            </a:extLst>
          </p:cNvPr>
          <p:cNvSpPr>
            <a:spLocks noGrp="1" noChangeArrowheads="1"/>
          </p:cNvSpPr>
          <p:nvPr>
            <p:ph type="ftr" sz="quarter" idx="11"/>
          </p:nvPr>
        </p:nvSpPr>
        <p:spPr/>
        <p:txBody>
          <a:bodyPr/>
          <a:lstStyle>
            <a:lvl1pPr>
              <a:defRPr/>
            </a:lvl1pPr>
          </a:lstStyle>
          <a:p>
            <a:pPr>
              <a:defRPr/>
            </a:pPr>
            <a:endParaRPr lang="en-US"/>
          </a:p>
        </p:txBody>
      </p:sp>
      <p:sp>
        <p:nvSpPr>
          <p:cNvPr id="18" name="Rectangle 18">
            <a:extLst>
              <a:ext uri="{FF2B5EF4-FFF2-40B4-BE49-F238E27FC236}">
                <a16:creationId xmlns:a16="http://schemas.microsoft.com/office/drawing/2014/main" id="{70CF21F3-917C-9218-B2BE-4E927D4358E1}"/>
              </a:ext>
            </a:extLst>
          </p:cNvPr>
          <p:cNvSpPr>
            <a:spLocks noGrp="1" noChangeArrowheads="1"/>
          </p:cNvSpPr>
          <p:nvPr>
            <p:ph type="sldNum" sz="quarter" idx="12"/>
          </p:nvPr>
        </p:nvSpPr>
        <p:spPr/>
        <p:txBody>
          <a:bodyPr/>
          <a:lstStyle>
            <a:lvl1pPr>
              <a:defRPr/>
            </a:lvl1pPr>
          </a:lstStyle>
          <a:p>
            <a:fld id="{500027D9-A7B9-41D3-84E1-CFFBAAAF113F}" type="slidenum">
              <a:rPr lang="en-US" altLang="en-US" smtClean="0"/>
              <a:pPr/>
              <a:t>‹#›</a:t>
            </a:fld>
            <a:endParaRPr lang="en-US" altLang="en-US"/>
          </a:p>
        </p:txBody>
      </p:sp>
    </p:spTree>
    <p:extLst>
      <p:ext uri="{BB962C8B-B14F-4D97-AF65-F5344CB8AC3E}">
        <p14:creationId xmlns:p14="http://schemas.microsoft.com/office/powerpoint/2010/main" val="2128287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39152"/>
            <a:ext cx="8229600" cy="1371600"/>
          </a:xfrm>
        </p:spPr>
        <p:txBody>
          <a:bodyPr/>
          <a:lstStyle/>
          <a:p>
            <a:r>
              <a:rPr lang="en-US"/>
              <a:t>Click to edit Master title style</a:t>
            </a:r>
          </a:p>
        </p:txBody>
      </p:sp>
      <p:sp>
        <p:nvSpPr>
          <p:cNvPr id="3" name="Content Placeholder 2"/>
          <p:cNvSpPr>
            <a:spLocks noGrp="1"/>
          </p:cNvSpPr>
          <p:nvPr>
            <p:ph idx="1"/>
          </p:nvPr>
        </p:nvSpPr>
        <p:spPr>
          <a:xfrm>
            <a:off x="457200" y="1335291"/>
            <a:ext cx="8229600" cy="4532109"/>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2">
            <a:extLst>
              <a:ext uri="{FF2B5EF4-FFF2-40B4-BE49-F238E27FC236}">
                <a16:creationId xmlns:a16="http://schemas.microsoft.com/office/drawing/2014/main" id="{0EC5D840-B6D3-623A-8343-93C530153A9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0E189FA2-29A5-C5CE-0D92-C90FF73CF759}"/>
              </a:ext>
            </a:extLst>
          </p:cNvPr>
          <p:cNvSpPr>
            <a:spLocks noGrp="1" noChangeArrowheads="1"/>
          </p:cNvSpPr>
          <p:nvPr>
            <p:ph type="sldNum" sz="quarter" idx="11"/>
          </p:nvPr>
        </p:nvSpPr>
        <p:spPr>
          <a:ln/>
        </p:spPr>
        <p:txBody>
          <a:bodyPr/>
          <a:lstStyle>
            <a:lvl1pPr>
              <a:defRPr/>
            </a:lvl1pPr>
          </a:lstStyle>
          <a:p>
            <a:fld id="{2FD4C0CD-8187-444C-A87D-0357AF39910D}" type="slidenum">
              <a:rPr lang="en-US" altLang="en-US" smtClean="0"/>
              <a:pPr/>
              <a:t>‹#›</a:t>
            </a:fld>
            <a:endParaRPr lang="en-US" altLang="en-US"/>
          </a:p>
        </p:txBody>
      </p:sp>
      <p:sp>
        <p:nvSpPr>
          <p:cNvPr id="6" name="Rectangle 16">
            <a:extLst>
              <a:ext uri="{FF2B5EF4-FFF2-40B4-BE49-F238E27FC236}">
                <a16:creationId xmlns:a16="http://schemas.microsoft.com/office/drawing/2014/main" id="{31D4348B-EA71-879E-8203-54391C73D5E5}"/>
              </a:ext>
            </a:extLst>
          </p:cNvPr>
          <p:cNvSpPr>
            <a:spLocks noGrp="1" noChangeArrowheads="1"/>
          </p:cNvSpPr>
          <p:nvPr>
            <p:ph type="dt" sz="half" idx="12"/>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447597C-5350-48B6-DCBD-9BF1411017F9}"/>
              </a:ext>
            </a:extLst>
          </p:cNvPr>
          <p:cNvSpPr/>
          <p:nvPr/>
        </p:nvSpPr>
        <p:spPr>
          <a:xfrm>
            <a:off x="457200" y="1235278"/>
            <a:ext cx="8370500"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3909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a:extLst>
              <a:ext uri="{FF2B5EF4-FFF2-40B4-BE49-F238E27FC236}">
                <a16:creationId xmlns:a16="http://schemas.microsoft.com/office/drawing/2014/main" id="{F9AD54EF-3FC5-3272-FE54-D0E3F9534B35}"/>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FC321292-8B6B-0F21-263A-B1B9598BB422}"/>
              </a:ext>
            </a:extLst>
          </p:cNvPr>
          <p:cNvSpPr>
            <a:spLocks noGrp="1" noChangeArrowheads="1"/>
          </p:cNvSpPr>
          <p:nvPr>
            <p:ph type="sldNum" sz="quarter" idx="11"/>
          </p:nvPr>
        </p:nvSpPr>
        <p:spPr>
          <a:ln/>
        </p:spPr>
        <p:txBody>
          <a:bodyPr/>
          <a:lstStyle>
            <a:lvl1pPr>
              <a:defRPr/>
            </a:lvl1pPr>
          </a:lstStyle>
          <a:p>
            <a:fld id="{D37831AA-D7B0-4946-9E61-04D18421D4A6}" type="slidenum">
              <a:rPr lang="en-US" altLang="en-US" smtClean="0"/>
              <a:pPr/>
              <a:t>‹#›</a:t>
            </a:fld>
            <a:endParaRPr lang="en-US" altLang="en-US"/>
          </a:p>
        </p:txBody>
      </p:sp>
      <p:sp>
        <p:nvSpPr>
          <p:cNvPr id="6" name="Rectangle 16">
            <a:extLst>
              <a:ext uri="{FF2B5EF4-FFF2-40B4-BE49-F238E27FC236}">
                <a16:creationId xmlns:a16="http://schemas.microsoft.com/office/drawing/2014/main" id="{383AEF31-1D37-5B40-3DEC-C3679BA6A474}"/>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931030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5"/>
            <a:ext cx="8229600" cy="1371600"/>
          </a:xfrm>
        </p:spPr>
        <p:txBody>
          <a:bodyPr/>
          <a:lstStyle/>
          <a:p>
            <a:r>
              <a:rPr lang="en-US"/>
              <a:t>Click to edit Master title style</a:t>
            </a:r>
          </a:p>
        </p:txBody>
      </p:sp>
      <p:sp>
        <p:nvSpPr>
          <p:cNvPr id="3" name="Content Placeholder 2"/>
          <p:cNvSpPr>
            <a:spLocks noGrp="1"/>
          </p:cNvSpPr>
          <p:nvPr>
            <p:ph sz="half" idx="1"/>
          </p:nvPr>
        </p:nvSpPr>
        <p:spPr>
          <a:xfrm>
            <a:off x="457200" y="1272209"/>
            <a:ext cx="4038600" cy="4595191"/>
          </a:xfrm>
        </p:spPr>
        <p:txBody>
          <a:bodyPr/>
          <a:lstStyle>
            <a:lvl1pPr>
              <a:lnSpc>
                <a:spcPct val="110000"/>
              </a:lnSpc>
              <a:defRPr sz="2800"/>
            </a:lvl1pPr>
            <a:lvl2pPr>
              <a:lnSpc>
                <a:spcPct val="110000"/>
              </a:lnSpc>
              <a:defRPr sz="2400"/>
            </a:lvl2pPr>
            <a:lvl3pPr>
              <a:lnSpc>
                <a:spcPct val="110000"/>
              </a:lnSpc>
              <a:defRPr sz="2000"/>
            </a:lvl3pPr>
            <a:lvl4pPr>
              <a:lnSpc>
                <a:spcPct val="110000"/>
              </a:lnSpc>
              <a:defRPr sz="1800"/>
            </a:lvl4pPr>
            <a:lvl5pPr>
              <a:lnSpc>
                <a:spcPct val="110000"/>
              </a:lnSpc>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272209"/>
            <a:ext cx="4038600" cy="4595191"/>
          </a:xfrm>
        </p:spPr>
        <p:txBody>
          <a:bodyPr/>
          <a:lstStyle>
            <a:lvl1pPr>
              <a:lnSpc>
                <a:spcPct val="110000"/>
              </a:lnSpc>
              <a:defRPr sz="2800"/>
            </a:lvl1pPr>
            <a:lvl2pPr>
              <a:lnSpc>
                <a:spcPct val="110000"/>
              </a:lnSpc>
              <a:defRPr sz="2400"/>
            </a:lvl2pPr>
            <a:lvl3pPr>
              <a:lnSpc>
                <a:spcPct val="110000"/>
              </a:lnSpc>
              <a:defRPr sz="2000"/>
            </a:lvl3pPr>
            <a:lvl4pPr>
              <a:lnSpc>
                <a:spcPct val="110000"/>
              </a:lnSpc>
              <a:defRPr sz="1800"/>
            </a:lvl4pPr>
            <a:lvl5pPr>
              <a:lnSpc>
                <a:spcPct val="110000"/>
              </a:lnSpc>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2">
            <a:extLst>
              <a:ext uri="{FF2B5EF4-FFF2-40B4-BE49-F238E27FC236}">
                <a16:creationId xmlns:a16="http://schemas.microsoft.com/office/drawing/2014/main" id="{00A05A1D-7095-7E52-0847-E1EB13A8AB9B}"/>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E573A413-50AA-E10E-D1C4-54AB2929A249}"/>
              </a:ext>
            </a:extLst>
          </p:cNvPr>
          <p:cNvSpPr>
            <a:spLocks noGrp="1" noChangeArrowheads="1"/>
          </p:cNvSpPr>
          <p:nvPr>
            <p:ph type="sldNum" sz="quarter" idx="11"/>
          </p:nvPr>
        </p:nvSpPr>
        <p:spPr>
          <a:ln/>
        </p:spPr>
        <p:txBody>
          <a:bodyPr/>
          <a:lstStyle>
            <a:lvl1pPr>
              <a:defRPr/>
            </a:lvl1pPr>
          </a:lstStyle>
          <a:p>
            <a:fld id="{E05F53F9-B9DA-4AE7-A66E-E0A97EDB4B66}" type="slidenum">
              <a:rPr lang="en-US" altLang="en-US" smtClean="0"/>
              <a:pPr/>
              <a:t>‹#›</a:t>
            </a:fld>
            <a:endParaRPr lang="en-US" altLang="en-US"/>
          </a:p>
        </p:txBody>
      </p:sp>
      <p:sp>
        <p:nvSpPr>
          <p:cNvPr id="7" name="Rectangle 16">
            <a:extLst>
              <a:ext uri="{FF2B5EF4-FFF2-40B4-BE49-F238E27FC236}">
                <a16:creationId xmlns:a16="http://schemas.microsoft.com/office/drawing/2014/main" id="{6DC26CCE-5CF2-05E4-A18F-AF9D89E652A9}"/>
              </a:ext>
            </a:extLst>
          </p:cNvPr>
          <p:cNvSpPr>
            <a:spLocks noGrp="1" noChangeArrowheads="1"/>
          </p:cNvSpPr>
          <p:nvPr>
            <p:ph type="dt" sz="half" idx="12"/>
          </p:nvPr>
        </p:nvSpPr>
        <p:spPr>
          <a:ln/>
        </p:spPr>
        <p:txBody>
          <a:bodyPr/>
          <a:lstStyle>
            <a:lvl1pPr>
              <a:defRPr/>
            </a:lvl1pPr>
          </a:lstStyle>
          <a:p>
            <a:pPr>
              <a:defRPr/>
            </a:pPr>
            <a:endParaRPr lang="en-US"/>
          </a:p>
        </p:txBody>
      </p:sp>
      <p:sp>
        <p:nvSpPr>
          <p:cNvPr id="8" name="Rectangle 7">
            <a:extLst>
              <a:ext uri="{FF2B5EF4-FFF2-40B4-BE49-F238E27FC236}">
                <a16:creationId xmlns:a16="http://schemas.microsoft.com/office/drawing/2014/main" id="{DC8178A5-120B-E6E0-32D5-B9979205E616}"/>
              </a:ext>
            </a:extLst>
          </p:cNvPr>
          <p:cNvSpPr/>
          <p:nvPr/>
        </p:nvSpPr>
        <p:spPr>
          <a:xfrm>
            <a:off x="393589" y="1116008"/>
            <a:ext cx="8370500"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3056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
            <a:extLst>
              <a:ext uri="{FF2B5EF4-FFF2-40B4-BE49-F238E27FC236}">
                <a16:creationId xmlns:a16="http://schemas.microsoft.com/office/drawing/2014/main" id="{596FBAD0-FE05-8FD5-F008-8D91060EE18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8" name="Rectangle 3">
            <a:extLst>
              <a:ext uri="{FF2B5EF4-FFF2-40B4-BE49-F238E27FC236}">
                <a16:creationId xmlns:a16="http://schemas.microsoft.com/office/drawing/2014/main" id="{D3F60B54-4634-BE12-F781-52C02402AE84}"/>
              </a:ext>
            </a:extLst>
          </p:cNvPr>
          <p:cNvSpPr>
            <a:spLocks noGrp="1" noChangeArrowheads="1"/>
          </p:cNvSpPr>
          <p:nvPr>
            <p:ph type="sldNum" sz="quarter" idx="11"/>
          </p:nvPr>
        </p:nvSpPr>
        <p:spPr>
          <a:ln/>
        </p:spPr>
        <p:txBody>
          <a:bodyPr/>
          <a:lstStyle>
            <a:lvl1pPr>
              <a:defRPr/>
            </a:lvl1pPr>
          </a:lstStyle>
          <a:p>
            <a:fld id="{75192845-4063-40B6-A3BF-841AD9E3644D}" type="slidenum">
              <a:rPr lang="en-US" altLang="en-US" smtClean="0"/>
              <a:pPr/>
              <a:t>‹#›</a:t>
            </a:fld>
            <a:endParaRPr lang="en-US" altLang="en-US"/>
          </a:p>
        </p:txBody>
      </p:sp>
      <p:sp>
        <p:nvSpPr>
          <p:cNvPr id="9" name="Rectangle 16">
            <a:extLst>
              <a:ext uri="{FF2B5EF4-FFF2-40B4-BE49-F238E27FC236}">
                <a16:creationId xmlns:a16="http://schemas.microsoft.com/office/drawing/2014/main" id="{DA344AEB-D089-F4D4-7617-091325A689F7}"/>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616609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59631"/>
            <a:ext cx="8229600" cy="1371600"/>
          </a:xfrm>
        </p:spPr>
        <p:txBody>
          <a:bodyPr/>
          <a:lstStyle/>
          <a:p>
            <a:r>
              <a:rPr lang="en-US"/>
              <a:t>Click to edit Master title style</a:t>
            </a:r>
          </a:p>
        </p:txBody>
      </p:sp>
      <p:sp>
        <p:nvSpPr>
          <p:cNvPr id="3" name="Rectangle 2">
            <a:extLst>
              <a:ext uri="{FF2B5EF4-FFF2-40B4-BE49-F238E27FC236}">
                <a16:creationId xmlns:a16="http://schemas.microsoft.com/office/drawing/2014/main" id="{54877D71-2F49-0598-EF2D-EBDFDC849CDC}"/>
              </a:ext>
            </a:extLst>
          </p:cNvPr>
          <p:cNvSpPr>
            <a:spLocks noGrp="1" noChangeArrowheads="1"/>
          </p:cNvSpPr>
          <p:nvPr>
            <p:ph type="ftr" sz="quarter" idx="10"/>
          </p:nvPr>
        </p:nvSpPr>
        <p:spPr>
          <a:ln/>
        </p:spPr>
        <p:txBody>
          <a:bodyPr/>
          <a:lstStyle>
            <a:lvl1pPr>
              <a:defRPr/>
            </a:lvl1pPr>
          </a:lstStyle>
          <a:p>
            <a:pPr>
              <a:defRPr/>
            </a:pPr>
            <a:endParaRPr lang="en-US"/>
          </a:p>
        </p:txBody>
      </p:sp>
      <p:sp>
        <p:nvSpPr>
          <p:cNvPr id="4" name="Rectangle 3">
            <a:extLst>
              <a:ext uri="{FF2B5EF4-FFF2-40B4-BE49-F238E27FC236}">
                <a16:creationId xmlns:a16="http://schemas.microsoft.com/office/drawing/2014/main" id="{4366AE2E-7FBB-CFF0-6AB7-FC12419D5308}"/>
              </a:ext>
            </a:extLst>
          </p:cNvPr>
          <p:cNvSpPr>
            <a:spLocks noGrp="1" noChangeArrowheads="1"/>
          </p:cNvSpPr>
          <p:nvPr>
            <p:ph type="sldNum" sz="quarter" idx="11"/>
          </p:nvPr>
        </p:nvSpPr>
        <p:spPr>
          <a:ln/>
        </p:spPr>
        <p:txBody>
          <a:bodyPr/>
          <a:lstStyle>
            <a:lvl1pPr>
              <a:defRPr/>
            </a:lvl1pPr>
          </a:lstStyle>
          <a:p>
            <a:fld id="{F13AC0A9-7F6F-4F37-8AE2-189480CF0EB9}" type="slidenum">
              <a:rPr lang="en-US" altLang="en-US" smtClean="0"/>
              <a:pPr/>
              <a:t>‹#›</a:t>
            </a:fld>
            <a:endParaRPr lang="en-US" altLang="en-US"/>
          </a:p>
        </p:txBody>
      </p:sp>
      <p:sp>
        <p:nvSpPr>
          <p:cNvPr id="5" name="Rectangle 16">
            <a:extLst>
              <a:ext uri="{FF2B5EF4-FFF2-40B4-BE49-F238E27FC236}">
                <a16:creationId xmlns:a16="http://schemas.microsoft.com/office/drawing/2014/main" id="{5F852CBA-CBBB-399C-F561-B565F6D8807B}"/>
              </a:ext>
            </a:extLst>
          </p:cNvPr>
          <p:cNvSpPr>
            <a:spLocks noGrp="1" noChangeArrowheads="1"/>
          </p:cNvSpPr>
          <p:nvPr>
            <p:ph type="dt" sz="half" idx="12"/>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1283EA4-DAA1-6A9A-377D-4591821B0A48}"/>
              </a:ext>
            </a:extLst>
          </p:cNvPr>
          <p:cNvSpPr/>
          <p:nvPr/>
        </p:nvSpPr>
        <p:spPr>
          <a:xfrm>
            <a:off x="457200" y="1123965"/>
            <a:ext cx="8370500"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385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74475522-F225-2F07-54B2-1A858EEC50C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3" name="Rectangle 3">
            <a:extLst>
              <a:ext uri="{FF2B5EF4-FFF2-40B4-BE49-F238E27FC236}">
                <a16:creationId xmlns:a16="http://schemas.microsoft.com/office/drawing/2014/main" id="{93A36220-D3BB-2220-E328-1BDC3ECBD9A3}"/>
              </a:ext>
            </a:extLst>
          </p:cNvPr>
          <p:cNvSpPr>
            <a:spLocks noGrp="1" noChangeArrowheads="1"/>
          </p:cNvSpPr>
          <p:nvPr>
            <p:ph type="sldNum" sz="quarter" idx="11"/>
          </p:nvPr>
        </p:nvSpPr>
        <p:spPr>
          <a:ln/>
        </p:spPr>
        <p:txBody>
          <a:bodyPr/>
          <a:lstStyle>
            <a:lvl1pPr>
              <a:defRPr/>
            </a:lvl1pPr>
          </a:lstStyle>
          <a:p>
            <a:fld id="{A319B9D0-F568-4EE3-9DDD-C24B984C35CD}" type="slidenum">
              <a:rPr lang="en-US" altLang="en-US" smtClean="0"/>
              <a:pPr/>
              <a:t>‹#›</a:t>
            </a:fld>
            <a:endParaRPr lang="en-US" altLang="en-US"/>
          </a:p>
        </p:txBody>
      </p:sp>
      <p:sp>
        <p:nvSpPr>
          <p:cNvPr id="4" name="Rectangle 16">
            <a:extLst>
              <a:ext uri="{FF2B5EF4-FFF2-40B4-BE49-F238E27FC236}">
                <a16:creationId xmlns:a16="http://schemas.microsoft.com/office/drawing/2014/main" id="{C69C6519-7D7E-1C39-19BF-6118A091BF04}"/>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735991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C22C61B4-AE33-53ED-41FE-79C0EE9343BF}"/>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0E4B1558-DE88-2783-2867-4510C41576C6}"/>
              </a:ext>
            </a:extLst>
          </p:cNvPr>
          <p:cNvSpPr>
            <a:spLocks noGrp="1" noChangeArrowheads="1"/>
          </p:cNvSpPr>
          <p:nvPr>
            <p:ph type="sldNum" sz="quarter" idx="11"/>
          </p:nvPr>
        </p:nvSpPr>
        <p:spPr>
          <a:ln/>
        </p:spPr>
        <p:txBody>
          <a:bodyPr/>
          <a:lstStyle>
            <a:lvl1pPr>
              <a:defRPr/>
            </a:lvl1pPr>
          </a:lstStyle>
          <a:p>
            <a:fld id="{30993AD8-6236-41DF-9450-9338E867CDF0}" type="slidenum">
              <a:rPr lang="en-US" altLang="en-US" smtClean="0"/>
              <a:pPr/>
              <a:t>‹#›</a:t>
            </a:fld>
            <a:endParaRPr lang="en-US" altLang="en-US"/>
          </a:p>
        </p:txBody>
      </p:sp>
      <p:sp>
        <p:nvSpPr>
          <p:cNvPr id="7" name="Rectangle 16">
            <a:extLst>
              <a:ext uri="{FF2B5EF4-FFF2-40B4-BE49-F238E27FC236}">
                <a16:creationId xmlns:a16="http://schemas.microsoft.com/office/drawing/2014/main" id="{77726854-7C99-0A3F-EDA6-7BF7556D1817}"/>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798123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a:extLst>
              <a:ext uri="{FF2B5EF4-FFF2-40B4-BE49-F238E27FC236}">
                <a16:creationId xmlns:a16="http://schemas.microsoft.com/office/drawing/2014/main" id="{7D913869-D610-825F-F9E5-B607130B6F12}"/>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F017CFA3-154C-A10B-09C3-3B57E49AF1F5}"/>
              </a:ext>
            </a:extLst>
          </p:cNvPr>
          <p:cNvSpPr>
            <a:spLocks noGrp="1" noChangeArrowheads="1"/>
          </p:cNvSpPr>
          <p:nvPr>
            <p:ph type="sldNum" sz="quarter" idx="11"/>
          </p:nvPr>
        </p:nvSpPr>
        <p:spPr>
          <a:ln/>
        </p:spPr>
        <p:txBody>
          <a:bodyPr/>
          <a:lstStyle>
            <a:lvl1pPr>
              <a:defRPr/>
            </a:lvl1pPr>
          </a:lstStyle>
          <a:p>
            <a:fld id="{101AE89A-4489-4E14-9A47-C3DD0A222C3C}" type="slidenum">
              <a:rPr lang="en-US" altLang="en-US" smtClean="0"/>
              <a:pPr/>
              <a:t>‹#›</a:t>
            </a:fld>
            <a:endParaRPr lang="en-US" altLang="en-US"/>
          </a:p>
        </p:txBody>
      </p:sp>
      <p:sp>
        <p:nvSpPr>
          <p:cNvPr id="7" name="Rectangle 16">
            <a:extLst>
              <a:ext uri="{FF2B5EF4-FFF2-40B4-BE49-F238E27FC236}">
                <a16:creationId xmlns:a16="http://schemas.microsoft.com/office/drawing/2014/main" id="{3C3434A0-709E-9E6E-7071-5493364FC1E4}"/>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9356400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9CF0EAA2-82E3-02C6-88F1-73BB7BF71727}"/>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18EA639E-141C-5355-9BB9-53EDDE383098}"/>
              </a:ext>
            </a:extLst>
          </p:cNvPr>
          <p:cNvSpPr>
            <a:spLocks noGrp="1" noChangeArrowheads="1"/>
          </p:cNvSpPr>
          <p:nvPr>
            <p:ph type="sldNum" sz="quarter" idx="11"/>
          </p:nvPr>
        </p:nvSpPr>
        <p:spPr>
          <a:ln/>
        </p:spPr>
        <p:txBody>
          <a:bodyPr/>
          <a:lstStyle>
            <a:lvl1pPr>
              <a:defRPr/>
            </a:lvl1pPr>
          </a:lstStyle>
          <a:p>
            <a:fld id="{056CC64C-1ECB-48AA-8134-B93572608A93}" type="slidenum">
              <a:rPr lang="en-US" altLang="en-US" smtClean="0"/>
              <a:pPr/>
              <a:t>‹#›</a:t>
            </a:fld>
            <a:endParaRPr lang="en-US" altLang="en-US"/>
          </a:p>
        </p:txBody>
      </p:sp>
      <p:sp>
        <p:nvSpPr>
          <p:cNvPr id="6" name="Rectangle 16">
            <a:extLst>
              <a:ext uri="{FF2B5EF4-FFF2-40B4-BE49-F238E27FC236}">
                <a16:creationId xmlns:a16="http://schemas.microsoft.com/office/drawing/2014/main" id="{40486604-361D-BDC1-D24E-D3F5D2116CB6}"/>
              </a:ext>
            </a:extLst>
          </p:cNvPr>
          <p:cNvSpPr>
            <a:spLocks noGrp="1" noChangeArrowheads="1"/>
          </p:cNvSpPr>
          <p:nvPr>
            <p:ph type="dt" sz="half" idx="12"/>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A654C8D-54CF-CA81-68E7-A81525D4F2D8}"/>
              </a:ext>
            </a:extLst>
          </p:cNvPr>
          <p:cNvSpPr/>
          <p:nvPr/>
        </p:nvSpPr>
        <p:spPr>
          <a:xfrm>
            <a:off x="457200" y="1489718"/>
            <a:ext cx="8370500"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3000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
            <a:extLst>
              <a:ext uri="{FF2B5EF4-FFF2-40B4-BE49-F238E27FC236}">
                <a16:creationId xmlns:a16="http://schemas.microsoft.com/office/drawing/2014/main" id="{617D27DD-053B-89C8-0CDD-8B6FC2AA33E3}"/>
              </a:ext>
            </a:extLst>
          </p:cNvPr>
          <p:cNvSpPr>
            <a:spLocks noGrp="1" noChangeArrowheads="1"/>
          </p:cNvSpPr>
          <p:nvPr>
            <p:ph type="ftr" sz="quarter" idx="10"/>
          </p:nvPr>
        </p:nvSpPr>
        <p:spPr>
          <a:ln/>
        </p:spPr>
        <p:txBody>
          <a:bodyPr/>
          <a:lstStyle>
            <a:lvl1pPr>
              <a:defRPr/>
            </a:lvl1pPr>
          </a:lstStyle>
          <a:p>
            <a:pPr>
              <a:defRPr/>
            </a:pPr>
            <a:endParaRPr lang="en-US"/>
          </a:p>
        </p:txBody>
      </p:sp>
      <p:sp>
        <p:nvSpPr>
          <p:cNvPr id="5" name="Rectangle 3">
            <a:extLst>
              <a:ext uri="{FF2B5EF4-FFF2-40B4-BE49-F238E27FC236}">
                <a16:creationId xmlns:a16="http://schemas.microsoft.com/office/drawing/2014/main" id="{91E5CC0D-020C-9B72-2432-4E828F0DC860}"/>
              </a:ext>
            </a:extLst>
          </p:cNvPr>
          <p:cNvSpPr>
            <a:spLocks noGrp="1" noChangeArrowheads="1"/>
          </p:cNvSpPr>
          <p:nvPr>
            <p:ph type="sldNum" sz="quarter" idx="11"/>
          </p:nvPr>
        </p:nvSpPr>
        <p:spPr>
          <a:ln/>
        </p:spPr>
        <p:txBody>
          <a:bodyPr/>
          <a:lstStyle>
            <a:lvl1pPr>
              <a:defRPr/>
            </a:lvl1pPr>
          </a:lstStyle>
          <a:p>
            <a:fld id="{5BC6D271-BE5E-4A7C-A375-F5D987A65602}" type="slidenum">
              <a:rPr lang="en-US" altLang="en-US" smtClean="0"/>
              <a:pPr/>
              <a:t>‹#›</a:t>
            </a:fld>
            <a:endParaRPr lang="en-US" altLang="en-US"/>
          </a:p>
        </p:txBody>
      </p:sp>
      <p:sp>
        <p:nvSpPr>
          <p:cNvPr id="6" name="Rectangle 16">
            <a:extLst>
              <a:ext uri="{FF2B5EF4-FFF2-40B4-BE49-F238E27FC236}">
                <a16:creationId xmlns:a16="http://schemas.microsoft.com/office/drawing/2014/main" id="{9E509658-25AD-20B6-AFBB-7F6CECBCBA90}"/>
              </a:ext>
            </a:extLst>
          </p:cNvPr>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40438612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979"/>
            <a:ext cx="8229600" cy="1371600"/>
          </a:xfrm>
        </p:spPr>
        <p:txBody>
          <a:bodyPr/>
          <a:lstStyle/>
          <a:p>
            <a:r>
              <a:rPr lang="en-US"/>
              <a:t>Click to edit Master title style</a:t>
            </a:r>
          </a:p>
        </p:txBody>
      </p:sp>
      <p:sp>
        <p:nvSpPr>
          <p:cNvPr id="3" name="Text Placeholder 2"/>
          <p:cNvSpPr>
            <a:spLocks noGrp="1"/>
          </p:cNvSpPr>
          <p:nvPr>
            <p:ph type="body" sz="half" idx="1"/>
          </p:nvPr>
        </p:nvSpPr>
        <p:spPr>
          <a:xfrm>
            <a:off x="457200" y="1367621"/>
            <a:ext cx="4038600" cy="44997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67621"/>
            <a:ext cx="4038600" cy="44997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
            <a:extLst>
              <a:ext uri="{FF2B5EF4-FFF2-40B4-BE49-F238E27FC236}">
                <a16:creationId xmlns:a16="http://schemas.microsoft.com/office/drawing/2014/main" id="{2F719EAA-249E-4846-9B33-E1E9151C6F68}"/>
              </a:ext>
            </a:extLst>
          </p:cNvPr>
          <p:cNvSpPr>
            <a:spLocks noGrp="1" noChangeArrowheads="1"/>
          </p:cNvSpPr>
          <p:nvPr>
            <p:ph type="ftr" sz="quarter" idx="10"/>
          </p:nvPr>
        </p:nvSpPr>
        <p:spPr>
          <a:ln/>
        </p:spPr>
        <p:txBody>
          <a:bodyPr/>
          <a:lstStyle>
            <a:lvl1pPr>
              <a:defRPr/>
            </a:lvl1pPr>
          </a:lstStyle>
          <a:p>
            <a:pPr>
              <a:defRPr/>
            </a:pPr>
            <a:endParaRPr lang="en-US"/>
          </a:p>
        </p:txBody>
      </p:sp>
      <p:sp>
        <p:nvSpPr>
          <p:cNvPr id="6" name="Rectangle 3">
            <a:extLst>
              <a:ext uri="{FF2B5EF4-FFF2-40B4-BE49-F238E27FC236}">
                <a16:creationId xmlns:a16="http://schemas.microsoft.com/office/drawing/2014/main" id="{8E8C8794-0110-F974-AD1D-4DCD32757EE5}"/>
              </a:ext>
            </a:extLst>
          </p:cNvPr>
          <p:cNvSpPr>
            <a:spLocks noGrp="1" noChangeArrowheads="1"/>
          </p:cNvSpPr>
          <p:nvPr>
            <p:ph type="sldNum" sz="quarter" idx="11"/>
          </p:nvPr>
        </p:nvSpPr>
        <p:spPr>
          <a:ln/>
        </p:spPr>
        <p:txBody>
          <a:bodyPr/>
          <a:lstStyle>
            <a:lvl1pPr>
              <a:defRPr/>
            </a:lvl1pPr>
          </a:lstStyle>
          <a:p>
            <a:fld id="{7E7F1A9A-EBB2-4F60-B62F-EBFF54642175}" type="slidenum">
              <a:rPr lang="en-US" altLang="en-US" smtClean="0"/>
              <a:pPr/>
              <a:t>‹#›</a:t>
            </a:fld>
            <a:endParaRPr lang="en-US" altLang="en-US"/>
          </a:p>
        </p:txBody>
      </p:sp>
      <p:sp>
        <p:nvSpPr>
          <p:cNvPr id="7" name="Rectangle 16">
            <a:extLst>
              <a:ext uri="{FF2B5EF4-FFF2-40B4-BE49-F238E27FC236}">
                <a16:creationId xmlns:a16="http://schemas.microsoft.com/office/drawing/2014/main" id="{61220F6A-C0D2-982C-0CC2-BB2367B1A201}"/>
              </a:ext>
            </a:extLst>
          </p:cNvPr>
          <p:cNvSpPr>
            <a:spLocks noGrp="1" noChangeArrowheads="1"/>
          </p:cNvSpPr>
          <p:nvPr>
            <p:ph type="dt" sz="half" idx="12"/>
          </p:nvPr>
        </p:nvSpPr>
        <p:spPr>
          <a:ln/>
        </p:spPr>
        <p:txBody>
          <a:bodyPr/>
          <a:lstStyle>
            <a:lvl1pPr>
              <a:defRPr/>
            </a:lvl1pPr>
          </a:lstStyle>
          <a:p>
            <a:pPr>
              <a:defRPr/>
            </a:pPr>
            <a:endParaRPr lang="en-US"/>
          </a:p>
        </p:txBody>
      </p:sp>
      <p:sp>
        <p:nvSpPr>
          <p:cNvPr id="8" name="Rectangle 7">
            <a:extLst>
              <a:ext uri="{FF2B5EF4-FFF2-40B4-BE49-F238E27FC236}">
                <a16:creationId xmlns:a16="http://schemas.microsoft.com/office/drawing/2014/main" id="{FD10BF89-6D8F-274F-4F19-5735B86ED250}"/>
              </a:ext>
            </a:extLst>
          </p:cNvPr>
          <p:cNvSpPr/>
          <p:nvPr/>
        </p:nvSpPr>
        <p:spPr>
          <a:xfrm>
            <a:off x="457200" y="1123958"/>
            <a:ext cx="8370500" cy="100013"/>
          </a:xfrm>
          <a:prstGeom prst="rect">
            <a:avLst/>
          </a:prstGeom>
          <a:solidFill>
            <a:srgbClr val="9999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1626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839B0420-276A-4BBA-9B8D-2581239FCA9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Arial" charset="0"/>
              </a:defRPr>
            </a:lvl1pPr>
          </a:lstStyle>
          <a:p>
            <a:pPr>
              <a:defRPr/>
            </a:pPr>
            <a:endParaRPr lang="en-US"/>
          </a:p>
        </p:txBody>
      </p:sp>
      <p:sp>
        <p:nvSpPr>
          <p:cNvPr id="274435" name="Rectangle 3">
            <a:extLst>
              <a:ext uri="{FF2B5EF4-FFF2-40B4-BE49-F238E27FC236}">
                <a16:creationId xmlns:a16="http://schemas.microsoft.com/office/drawing/2014/main" id="{C6836D65-D844-48C1-BD51-5896174C9132}"/>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fld id="{7E7F1A9A-EBB2-4F60-B62F-EBFF54642175}" type="slidenum">
              <a:rPr lang="en-US" altLang="en-US" smtClean="0"/>
              <a:pPr/>
              <a:t>‹#›</a:t>
            </a:fld>
            <a:endParaRPr lang="en-US" altLang="en-US"/>
          </a:p>
        </p:txBody>
      </p:sp>
      <p:grpSp>
        <p:nvGrpSpPr>
          <p:cNvPr id="1028" name="Group 4">
            <a:extLst>
              <a:ext uri="{FF2B5EF4-FFF2-40B4-BE49-F238E27FC236}">
                <a16:creationId xmlns:a16="http://schemas.microsoft.com/office/drawing/2014/main" id="{FEE57E7A-C80A-0755-2089-2C53E3FA96DB}"/>
              </a:ext>
            </a:extLst>
          </p:cNvPr>
          <p:cNvGrpSpPr>
            <a:grpSpLocks/>
          </p:cNvGrpSpPr>
          <p:nvPr/>
        </p:nvGrpSpPr>
        <p:grpSpPr bwMode="auto">
          <a:xfrm>
            <a:off x="0" y="0"/>
            <a:ext cx="9144000" cy="546100"/>
            <a:chOff x="0" y="0"/>
            <a:chExt cx="5760" cy="344"/>
          </a:xfrm>
        </p:grpSpPr>
        <p:sp>
          <p:nvSpPr>
            <p:cNvPr id="1032" name="Rectangle 5">
              <a:extLst>
                <a:ext uri="{FF2B5EF4-FFF2-40B4-BE49-F238E27FC236}">
                  <a16:creationId xmlns:a16="http://schemas.microsoft.com/office/drawing/2014/main" id="{B653B317-0A87-4CCC-9571-2F709F322035}"/>
                </a:ext>
              </a:extLst>
            </p:cNvPr>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endParaRPr lang="tr-TR" altLang="tr-TR" sz="2400">
                <a:latin typeface="Times New Roman" pitchFamily="18" charset="0"/>
              </a:endParaRPr>
            </a:p>
          </p:txBody>
        </p:sp>
        <p:sp>
          <p:nvSpPr>
            <p:cNvPr id="1033" name="Rectangle 6">
              <a:extLst>
                <a:ext uri="{FF2B5EF4-FFF2-40B4-BE49-F238E27FC236}">
                  <a16:creationId xmlns:a16="http://schemas.microsoft.com/office/drawing/2014/main" id="{4A1A39B1-7157-46C7-80EE-A6A6C6068A8C}"/>
                </a:ext>
              </a:extLst>
            </p:cNvPr>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34" name="Rectangle 7">
              <a:extLst>
                <a:ext uri="{FF2B5EF4-FFF2-40B4-BE49-F238E27FC236}">
                  <a16:creationId xmlns:a16="http://schemas.microsoft.com/office/drawing/2014/main" id="{DFC27E1E-7B31-4EF5-90FB-EAF7F2E3ACFD}"/>
                </a:ext>
              </a:extLst>
            </p:cNvPr>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5" name="Rectangle 8">
              <a:extLst>
                <a:ext uri="{FF2B5EF4-FFF2-40B4-BE49-F238E27FC236}">
                  <a16:creationId xmlns:a16="http://schemas.microsoft.com/office/drawing/2014/main" id="{85D778C1-1BD5-4A50-8DAF-E49C9C92C5CD}"/>
                </a:ext>
              </a:extLst>
            </p:cNvPr>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6" name="Rectangle 9">
              <a:extLst>
                <a:ext uri="{FF2B5EF4-FFF2-40B4-BE49-F238E27FC236}">
                  <a16:creationId xmlns:a16="http://schemas.microsoft.com/office/drawing/2014/main" id="{FD8969B2-448C-46E3-BC56-5143A8B3FA36}"/>
                </a:ext>
              </a:extLst>
            </p:cNvPr>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sp>
          <p:nvSpPr>
            <p:cNvPr id="1037" name="Rectangle 10">
              <a:extLst>
                <a:ext uri="{FF2B5EF4-FFF2-40B4-BE49-F238E27FC236}">
                  <a16:creationId xmlns:a16="http://schemas.microsoft.com/office/drawing/2014/main" id="{B4792188-569F-498A-8387-6928A2C1BBB0}"/>
                </a:ext>
              </a:extLst>
            </p:cNvPr>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hlink"/>
                </a:solidFill>
              </a:endParaRPr>
            </a:p>
          </p:txBody>
        </p:sp>
        <p:sp>
          <p:nvSpPr>
            <p:cNvPr id="1038" name="Rectangle 11">
              <a:extLst>
                <a:ext uri="{FF2B5EF4-FFF2-40B4-BE49-F238E27FC236}">
                  <a16:creationId xmlns:a16="http://schemas.microsoft.com/office/drawing/2014/main" id="{3524B95B-5120-4208-9243-49F80DD33196}"/>
                </a:ext>
              </a:extLst>
            </p:cNvPr>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sz="2400">
                <a:latin typeface="Times New Roman" pitchFamily="18" charset="0"/>
              </a:endParaRPr>
            </a:p>
          </p:txBody>
        </p:sp>
        <p:sp>
          <p:nvSpPr>
            <p:cNvPr id="1039" name="Rectangle 12">
              <a:extLst>
                <a:ext uri="{FF2B5EF4-FFF2-40B4-BE49-F238E27FC236}">
                  <a16:creationId xmlns:a16="http://schemas.microsoft.com/office/drawing/2014/main" id="{53832FA5-0898-4881-A7EA-D17A82CD83D4}"/>
                </a:ext>
              </a:extLst>
            </p:cNvPr>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sp>
          <p:nvSpPr>
            <p:cNvPr id="1040" name="Rectangle 13">
              <a:extLst>
                <a:ext uri="{FF2B5EF4-FFF2-40B4-BE49-F238E27FC236}">
                  <a16:creationId xmlns:a16="http://schemas.microsoft.com/office/drawing/2014/main" id="{20A8BA7D-3BED-4998-AB4F-0059C14654B8}"/>
                </a:ext>
              </a:extLst>
            </p:cNvPr>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tr-TR" altLang="tr-TR">
                <a:solidFill>
                  <a:schemeClr val="accent2"/>
                </a:solidFill>
              </a:endParaRPr>
            </a:p>
          </p:txBody>
        </p:sp>
      </p:grpSp>
      <p:sp>
        <p:nvSpPr>
          <p:cNvPr id="1029" name="Rectangle 14">
            <a:extLst>
              <a:ext uri="{FF2B5EF4-FFF2-40B4-BE49-F238E27FC236}">
                <a16:creationId xmlns:a16="http://schemas.microsoft.com/office/drawing/2014/main" id="{3CB25864-D50C-C571-C6CD-72975AC5545F}"/>
              </a:ext>
            </a:extLst>
          </p:cNvPr>
          <p:cNvSpPr>
            <a:spLocks noGrp="1" noChangeArrowheads="1"/>
          </p:cNvSpPr>
          <p:nvPr>
            <p:ph type="title"/>
          </p:nvPr>
        </p:nvSpPr>
        <p:spPr bwMode="auto">
          <a:xfrm>
            <a:off x="457200" y="457200"/>
            <a:ext cx="8229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tr-TR"/>
              <a:t>Click to edit Master title style</a:t>
            </a:r>
          </a:p>
        </p:txBody>
      </p:sp>
      <p:sp>
        <p:nvSpPr>
          <p:cNvPr id="1030" name="Rectangle 15">
            <a:extLst>
              <a:ext uri="{FF2B5EF4-FFF2-40B4-BE49-F238E27FC236}">
                <a16:creationId xmlns:a16="http://schemas.microsoft.com/office/drawing/2014/main" id="{105057BF-8809-45AA-6DAD-6465C3A20B0B}"/>
              </a:ext>
            </a:extLst>
          </p:cNvPr>
          <p:cNvSpPr>
            <a:spLocks noGrp="1" noChangeArrowheads="1"/>
          </p:cNvSpPr>
          <p:nvPr>
            <p:ph type="body" idx="1"/>
          </p:nvPr>
        </p:nvSpPr>
        <p:spPr bwMode="auto">
          <a:xfrm>
            <a:off x="457200" y="1981200"/>
            <a:ext cx="8229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a:t>Click to edit Master text styles</a:t>
            </a:r>
          </a:p>
          <a:p>
            <a:pPr lvl="1"/>
            <a:r>
              <a:rPr lang="en-US" altLang="tr-TR"/>
              <a:t>Second level</a:t>
            </a:r>
          </a:p>
          <a:p>
            <a:pPr lvl="2"/>
            <a:r>
              <a:rPr lang="en-US" altLang="tr-TR"/>
              <a:t>Third level</a:t>
            </a:r>
          </a:p>
          <a:p>
            <a:pPr lvl="3"/>
            <a:r>
              <a:rPr lang="en-US" altLang="tr-TR"/>
              <a:t>Fourth level</a:t>
            </a:r>
          </a:p>
          <a:p>
            <a:pPr lvl="4"/>
            <a:r>
              <a:rPr lang="en-US" altLang="tr-TR"/>
              <a:t>Fifth level</a:t>
            </a:r>
          </a:p>
        </p:txBody>
      </p:sp>
      <p:sp>
        <p:nvSpPr>
          <p:cNvPr id="274448" name="Rectangle 16">
            <a:extLst>
              <a:ext uri="{FF2B5EF4-FFF2-40B4-BE49-F238E27FC236}">
                <a16:creationId xmlns:a16="http://schemas.microsoft.com/office/drawing/2014/main" id="{353943DA-78F6-4B90-86EF-119FC03DFEB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Tree>
    <p:extLst>
      <p:ext uri="{BB962C8B-B14F-4D97-AF65-F5344CB8AC3E}">
        <p14:creationId xmlns:p14="http://schemas.microsoft.com/office/powerpoint/2010/main" val="21604339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fontAlgn="base" hangingPunct="1">
        <a:spcBef>
          <a:spcPct val="0"/>
        </a:spcBef>
        <a:spcAft>
          <a:spcPct val="0"/>
        </a:spcAft>
        <a:defRPr sz="44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Arial" charset="0"/>
        </a:defRPr>
      </a:lvl2pPr>
      <a:lvl3pPr algn="l" rtl="0" eaLnBrk="1" fontAlgn="base" hangingPunct="1">
        <a:spcBef>
          <a:spcPct val="0"/>
        </a:spcBef>
        <a:spcAft>
          <a:spcPct val="0"/>
        </a:spcAft>
        <a:defRPr sz="4400">
          <a:solidFill>
            <a:schemeClr val="tx1"/>
          </a:solidFill>
          <a:latin typeface="Arial" charset="0"/>
        </a:defRPr>
      </a:lvl3pPr>
      <a:lvl4pPr algn="l" rtl="0" eaLnBrk="1" fontAlgn="base" hangingPunct="1">
        <a:spcBef>
          <a:spcPct val="0"/>
        </a:spcBef>
        <a:spcAft>
          <a:spcPct val="0"/>
        </a:spcAft>
        <a:defRPr sz="4400">
          <a:solidFill>
            <a:schemeClr val="tx1"/>
          </a:solidFill>
          <a:latin typeface="Arial" charset="0"/>
        </a:defRPr>
      </a:lvl4pPr>
      <a:lvl5pPr algn="l" rtl="0" eaLnBrk="1" fontAlgn="base" hangingPunct="1">
        <a:spcBef>
          <a:spcPct val="0"/>
        </a:spcBef>
        <a:spcAft>
          <a:spcPct val="0"/>
        </a:spcAft>
        <a:defRPr sz="4400">
          <a:solidFill>
            <a:schemeClr val="tx1"/>
          </a:solidFill>
          <a:latin typeface="Arial" charset="0"/>
        </a:defRPr>
      </a:lvl5pPr>
      <a:lvl6pPr marL="457200" algn="l" rtl="0" eaLnBrk="1" fontAlgn="base" hangingPunct="1">
        <a:spcBef>
          <a:spcPct val="0"/>
        </a:spcBef>
        <a:spcAft>
          <a:spcPct val="0"/>
        </a:spcAft>
        <a:defRPr sz="4400">
          <a:solidFill>
            <a:schemeClr val="tx1"/>
          </a:solidFill>
          <a:latin typeface="Arial" charset="0"/>
        </a:defRPr>
      </a:lvl6pPr>
      <a:lvl7pPr marL="914400" algn="l" rtl="0" eaLnBrk="1" fontAlgn="base" hangingPunct="1">
        <a:spcBef>
          <a:spcPct val="0"/>
        </a:spcBef>
        <a:spcAft>
          <a:spcPct val="0"/>
        </a:spcAft>
        <a:defRPr sz="4400">
          <a:solidFill>
            <a:schemeClr val="tx1"/>
          </a:solidFill>
          <a:latin typeface="Arial" charset="0"/>
        </a:defRPr>
      </a:lvl7pPr>
      <a:lvl8pPr marL="1371600" algn="l" rtl="0" eaLnBrk="1" fontAlgn="base" hangingPunct="1">
        <a:spcBef>
          <a:spcPct val="0"/>
        </a:spcBef>
        <a:spcAft>
          <a:spcPct val="0"/>
        </a:spcAft>
        <a:defRPr sz="4400">
          <a:solidFill>
            <a:schemeClr val="tx1"/>
          </a:solidFill>
          <a:latin typeface="Arial" charset="0"/>
        </a:defRPr>
      </a:lvl8pPr>
      <a:lvl9pPr marL="1828800" algn="l" rtl="0" eaLnBrk="1" fontAlgn="base" hangingPunct="1">
        <a:spcBef>
          <a:spcPct val="0"/>
        </a:spcBef>
        <a:spcAft>
          <a:spcPct val="0"/>
        </a:spcAft>
        <a:defRPr sz="4400">
          <a:solidFill>
            <a:schemeClr val="tx1"/>
          </a:solidFill>
          <a:latin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defRPr>
      </a:lvl2pPr>
      <a:lvl3pPr marL="1143000" indent="-228600" algn="l" rtl="0" eaLnBrk="1" fontAlgn="base" hangingPunct="1">
        <a:spcBef>
          <a:spcPct val="20000"/>
        </a:spcBef>
        <a:spcAft>
          <a:spcPct val="0"/>
        </a:spcAft>
        <a:buClr>
          <a:schemeClr val="bg2"/>
        </a:buClr>
        <a:buSzPct val="65000"/>
        <a:buFont typeface="Wingdings" panose="05000000000000000000" pitchFamily="2" charset="2"/>
        <a:buChar char="n"/>
        <a:defRPr sz="2400">
          <a:solidFill>
            <a:schemeClr val="tx1"/>
          </a:solidFill>
          <a:latin typeface="+mn-lt"/>
        </a:defRPr>
      </a:lvl3pPr>
      <a:lvl4pPr marL="1600200" indent="-228600" algn="l" rtl="0" eaLnBrk="1" fontAlgn="base" hangingPunct="1">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defRPr>
      </a:lvl4pPr>
      <a:lvl5pPr marL="20574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6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5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46C7C3-158D-34DE-DA28-6150F4F36646}"/>
              </a:ext>
            </a:extLst>
          </p:cNvPr>
          <p:cNvSpPr>
            <a:spLocks noGrp="1"/>
          </p:cNvSpPr>
          <p:nvPr>
            <p:ph type="ctrTitle"/>
          </p:nvPr>
        </p:nvSpPr>
        <p:spPr/>
        <p:txBody>
          <a:bodyPr/>
          <a:lstStyle/>
          <a:p>
            <a:r>
              <a:rPr lang="en-US" dirty="0"/>
              <a:t>Behavioral Patterns</a:t>
            </a:r>
          </a:p>
        </p:txBody>
      </p:sp>
      <p:sp>
        <p:nvSpPr>
          <p:cNvPr id="5" name="Subtitle 4">
            <a:extLst>
              <a:ext uri="{FF2B5EF4-FFF2-40B4-BE49-F238E27FC236}">
                <a16:creationId xmlns:a16="http://schemas.microsoft.com/office/drawing/2014/main" id="{F67EECC3-821C-035F-C418-B859BE082FE7}"/>
              </a:ext>
            </a:extLst>
          </p:cNvPr>
          <p:cNvSpPr>
            <a:spLocks noGrp="1"/>
          </p:cNvSpPr>
          <p:nvPr>
            <p:ph type="subTitle" idx="1"/>
          </p:nvPr>
        </p:nvSpPr>
        <p:spPr/>
        <p:txBody>
          <a:bodyPr/>
          <a:lstStyle/>
          <a:p>
            <a:r>
              <a:rPr lang="en-US" dirty="0"/>
              <a:t>Strategy</a:t>
            </a:r>
          </a:p>
          <a:p>
            <a:r>
              <a:rPr lang="en-US" dirty="0"/>
              <a:t>State</a:t>
            </a:r>
          </a:p>
        </p:txBody>
      </p:sp>
    </p:spTree>
    <p:extLst>
      <p:ext uri="{BB962C8B-B14F-4D97-AF65-F5344CB8AC3E}">
        <p14:creationId xmlns:p14="http://schemas.microsoft.com/office/powerpoint/2010/main" val="356241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80541403-BEC8-629A-601B-54C23F3C79F6}"/>
              </a:ext>
            </a:extLst>
          </p:cNvPr>
          <p:cNvSpPr>
            <a:spLocks noGrp="1"/>
          </p:cNvSpPr>
          <p:nvPr>
            <p:ph type="title"/>
          </p:nvPr>
        </p:nvSpPr>
        <p:spPr/>
        <p:txBody>
          <a:bodyPr/>
          <a:lstStyle/>
          <a:p>
            <a:r>
              <a:rPr lang="en-US" altLang="tr-TR" dirty="0"/>
              <a:t>Motivating Example</a:t>
            </a:r>
          </a:p>
        </p:txBody>
      </p:sp>
      <p:sp>
        <p:nvSpPr>
          <p:cNvPr id="4099" name="Content Placeholder 2">
            <a:extLst>
              <a:ext uri="{FF2B5EF4-FFF2-40B4-BE49-F238E27FC236}">
                <a16:creationId xmlns:a16="http://schemas.microsoft.com/office/drawing/2014/main" id="{DCD19CA5-1B0D-34FB-A8DE-BAF9C66C77E6}"/>
              </a:ext>
            </a:extLst>
          </p:cNvPr>
          <p:cNvSpPr>
            <a:spLocks noGrp="1"/>
          </p:cNvSpPr>
          <p:nvPr>
            <p:ph idx="1"/>
          </p:nvPr>
        </p:nvSpPr>
        <p:spPr>
          <a:xfrm>
            <a:off x="457200" y="1335291"/>
            <a:ext cx="8435280" cy="4532109"/>
          </a:xfrm>
        </p:spPr>
        <p:txBody>
          <a:bodyPr/>
          <a:lstStyle/>
          <a:p>
            <a:r>
              <a:rPr lang="en-US" altLang="tr-TR" sz="2800" dirty="0"/>
              <a:t>Users log in with password. We need to save these passwords in a DB in an encrypted form.</a:t>
            </a:r>
          </a:p>
          <a:p>
            <a:r>
              <a:rPr lang="en-US" altLang="tr-TR" sz="2800" dirty="0"/>
              <a:t>Currently we use 3 encryption algorithms. </a:t>
            </a:r>
          </a:p>
          <a:p>
            <a:pPr lvl="1"/>
            <a:r>
              <a:rPr lang="en-US" altLang="tr-TR" sz="2400" dirty="0"/>
              <a:t>Generate hash using one of them and then save in DB</a:t>
            </a:r>
          </a:p>
          <a:p>
            <a:r>
              <a:rPr lang="en-US" altLang="tr-TR" sz="2800" dirty="0"/>
              <a:t>Problem: How to write </a:t>
            </a:r>
            <a:r>
              <a:rPr lang="en-US" altLang="tr-TR" sz="2800" dirty="0" err="1"/>
              <a:t>setPassword</a:t>
            </a:r>
            <a:r>
              <a:rPr lang="en-US" altLang="tr-TR" sz="2800" dirty="0"/>
              <a:t> to support both encryption?</a:t>
            </a:r>
          </a:p>
          <a:p>
            <a:pPr lvl="1"/>
            <a:r>
              <a:rPr lang="en-US" altLang="tr-TR" sz="2400" dirty="0"/>
              <a:t>Later I may embed new encryptions </a:t>
            </a:r>
          </a:p>
          <a:p>
            <a:pPr marL="457200" lvl="1" indent="0">
              <a:buNone/>
            </a:pPr>
            <a:r>
              <a:rPr lang="en-US" altLang="tr-TR" sz="2400" dirty="0">
                <a:latin typeface="Source Sans Pro" panose="020B0503030403020204" pitchFamily="34" charset="0"/>
                <a:ea typeface="Source Sans Pro" panose="020B0503030403020204" pitchFamily="34" charset="0"/>
              </a:rPr>
              <a:t>class User{</a:t>
            </a:r>
          </a:p>
          <a:p>
            <a:pPr marL="457200" lvl="1" indent="0">
              <a:buNone/>
            </a:pPr>
            <a:r>
              <a:rPr lang="en-US" altLang="tr-TR" sz="2400" dirty="0">
                <a:latin typeface="Source Sans Pro" panose="020B0503030403020204" pitchFamily="34" charset="0"/>
                <a:ea typeface="Source Sans Pro" panose="020B0503030403020204" pitchFamily="34" charset="0"/>
              </a:rPr>
              <a:t>    public:  virtual bool </a:t>
            </a:r>
            <a:r>
              <a:rPr lang="en-US" altLang="tr-TR" sz="2400" dirty="0" err="1">
                <a:latin typeface="Source Sans Pro" panose="020B0503030403020204" pitchFamily="34" charset="0"/>
                <a:ea typeface="Source Sans Pro" panose="020B0503030403020204" pitchFamily="34" charset="0"/>
              </a:rPr>
              <a:t>setPassword</a:t>
            </a:r>
            <a:r>
              <a:rPr lang="en-US" altLang="tr-TR" sz="2400" dirty="0">
                <a:latin typeface="Source Sans Pro" panose="020B0503030403020204" pitchFamily="34" charset="0"/>
                <a:ea typeface="Source Sans Pro" panose="020B0503030403020204" pitchFamily="34" charset="0"/>
              </a:rPr>
              <a:t>(const String&amp; passwd);</a:t>
            </a:r>
          </a:p>
          <a:p>
            <a:pPr marL="457200" lvl="1" indent="0">
              <a:buNone/>
            </a:pPr>
            <a:r>
              <a:rPr lang="en-US" altLang="tr-TR" sz="2400" dirty="0">
                <a:latin typeface="Source Sans Pro" panose="020B0503030403020204" pitchFamily="34" charset="0"/>
                <a:ea typeface="Source Sans Pro" panose="020B0503030403020204" pitchFamily="34" charset="0"/>
              </a:rPr>
              <a:t>                     virtual bool </a:t>
            </a:r>
            <a:r>
              <a:rPr lang="en-US" altLang="tr-TR" sz="2400" dirty="0" err="1">
                <a:latin typeface="Source Sans Pro" panose="020B0503030403020204" pitchFamily="34" charset="0"/>
                <a:ea typeface="Source Sans Pro" panose="020B0503030403020204" pitchFamily="34" charset="0"/>
              </a:rPr>
              <a:t>checkPassword</a:t>
            </a:r>
            <a:r>
              <a:rPr lang="en-US" altLang="tr-TR" sz="2400" dirty="0">
                <a:latin typeface="Source Sans Pro" panose="020B0503030403020204" pitchFamily="34" charset="0"/>
                <a:ea typeface="Source Sans Pro" panose="020B0503030403020204" pitchFamily="34" charset="0"/>
              </a:rPr>
              <a:t>(const String&amp; passwd);</a:t>
            </a:r>
          </a:p>
          <a:p>
            <a:pPr marL="457200" lvl="1" indent="0">
              <a:buNone/>
            </a:pPr>
            <a:r>
              <a:rPr lang="en-US" altLang="tr-TR" sz="2400" dirty="0">
                <a:latin typeface="Source Sans Pro" panose="020B0503030403020204" pitchFamily="34" charset="0"/>
                <a:ea typeface="Source Sans Pro" panose="020B0503030403020204" pitchFamily="34"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F3FB8896-F059-2467-AB8D-9C1A9A997AE3}"/>
              </a:ext>
            </a:extLst>
          </p:cNvPr>
          <p:cNvSpPr>
            <a:spLocks noGrp="1"/>
          </p:cNvSpPr>
          <p:nvPr>
            <p:ph type="title"/>
          </p:nvPr>
        </p:nvSpPr>
        <p:spPr/>
        <p:txBody>
          <a:bodyPr/>
          <a:lstStyle/>
          <a:p>
            <a:pPr eaLnBrk="1" hangingPunct="1"/>
            <a:r>
              <a:rPr lang="en-US" altLang="tr-TR" sz="4000" dirty="0"/>
              <a:t>How to implement </a:t>
            </a:r>
            <a:r>
              <a:rPr lang="en-US" altLang="tr-TR" sz="4000" dirty="0" err="1"/>
              <a:t>setPassword</a:t>
            </a:r>
            <a:r>
              <a:rPr lang="en-US" altLang="tr-TR" sz="4000" dirty="0"/>
              <a:t>?</a:t>
            </a:r>
            <a:endParaRPr lang="en-GB" altLang="tr-TR" sz="4000" dirty="0"/>
          </a:p>
        </p:txBody>
      </p:sp>
      <p:sp>
        <p:nvSpPr>
          <p:cNvPr id="73731" name="Content Placeholder 2">
            <a:extLst>
              <a:ext uri="{FF2B5EF4-FFF2-40B4-BE49-F238E27FC236}">
                <a16:creationId xmlns:a16="http://schemas.microsoft.com/office/drawing/2014/main" id="{2B7F13DD-6C58-0225-5E56-B10B0C982A73}"/>
              </a:ext>
            </a:extLst>
          </p:cNvPr>
          <p:cNvSpPr>
            <a:spLocks noGrp="1"/>
          </p:cNvSpPr>
          <p:nvPr>
            <p:ph idx="1"/>
          </p:nvPr>
        </p:nvSpPr>
        <p:spPr/>
        <p:txBody>
          <a:bodyPr/>
          <a:lstStyle/>
          <a:p>
            <a:pPr eaLnBrk="1" hangingPunct="1"/>
            <a:r>
              <a:rPr lang="en-US" altLang="tr-TR" dirty="0"/>
              <a:t>Soln1: conditionals in </a:t>
            </a:r>
            <a:r>
              <a:rPr lang="en-US" altLang="tr-TR" dirty="0" err="1"/>
              <a:t>setPassword</a:t>
            </a:r>
            <a:r>
              <a:rPr lang="en-US" altLang="tr-TR" dirty="0"/>
              <a:t> and </a:t>
            </a:r>
            <a:r>
              <a:rPr lang="en-US" altLang="tr-TR" dirty="0" err="1"/>
              <a:t>getPassword</a:t>
            </a:r>
            <a:r>
              <a:rPr lang="en-US" altLang="tr-TR" dirty="0"/>
              <a:t> method</a:t>
            </a:r>
          </a:p>
          <a:p>
            <a:pPr lvl="1" eaLnBrk="1" hangingPunct="1"/>
            <a:r>
              <a:rPr lang="en-US" altLang="tr-TR" dirty="0"/>
              <a:t>Switch and long ifs are not extensible</a:t>
            </a:r>
          </a:p>
          <a:p>
            <a:pPr eaLnBrk="1" hangingPunct="1"/>
            <a:r>
              <a:rPr lang="en-US" altLang="tr-TR" dirty="0"/>
              <a:t>Soln2: inheritance</a:t>
            </a:r>
          </a:p>
          <a:p>
            <a:pPr lvl="1" eaLnBrk="1" hangingPunct="1"/>
            <a:r>
              <a:rPr lang="en-US" altLang="tr-TR" dirty="0"/>
              <a:t>Abstract User and Subclasses override </a:t>
            </a:r>
            <a:r>
              <a:rPr lang="en-US" altLang="tr-TR" dirty="0" err="1"/>
              <a:t>setPassword</a:t>
            </a:r>
            <a:r>
              <a:rPr lang="en-US" altLang="tr-TR" dirty="0"/>
              <a:t> and </a:t>
            </a:r>
            <a:r>
              <a:rPr lang="en-US" altLang="tr-TR" dirty="0" err="1"/>
              <a:t>getPassword</a:t>
            </a:r>
            <a:endParaRPr lang="en-US" altLang="tr-TR" dirty="0"/>
          </a:p>
          <a:p>
            <a:pPr lvl="2" eaLnBrk="1" hangingPunct="1"/>
            <a:r>
              <a:rPr lang="en-US" altLang="tr-TR" dirty="0"/>
              <a:t>Too many subclasses! One for each encryption</a:t>
            </a:r>
          </a:p>
          <a:p>
            <a:pPr lvl="2" eaLnBrk="1" hangingPunct="1"/>
            <a:r>
              <a:rPr lang="en-US" altLang="tr-TR" dirty="0"/>
              <a:t>Should I use inheritance just to override 1 method?</a:t>
            </a:r>
          </a:p>
          <a:p>
            <a:pPr eaLnBrk="1" hangingPunct="1"/>
            <a:r>
              <a:rPr lang="en-US" altLang="tr-TR" dirty="0"/>
              <a:t>Soln3: encapsulate what varies</a:t>
            </a:r>
          </a:p>
          <a:p>
            <a:pPr lvl="1" eaLnBrk="1" hangingPunct="1"/>
            <a:r>
              <a:rPr lang="en-US" altLang="tr-TR" dirty="0"/>
              <a:t>What is varying?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373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31">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73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731">
                                            <p:txEl>
                                              <p:pRg st="5" end="5"/>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73731">
                                            <p:txEl>
                                              <p:pRg st="6" end="6"/>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37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5ACC651-9A20-47E0-C236-320996CB5738}"/>
              </a:ext>
            </a:extLst>
          </p:cNvPr>
          <p:cNvSpPr>
            <a:spLocks noGrp="1" noChangeArrowheads="1"/>
          </p:cNvSpPr>
          <p:nvPr>
            <p:ph type="title"/>
          </p:nvPr>
        </p:nvSpPr>
        <p:spPr/>
        <p:txBody>
          <a:bodyPr/>
          <a:lstStyle/>
          <a:p>
            <a:r>
              <a:rPr lang="en-GB" altLang="tr-TR" sz="4000" dirty="0"/>
              <a:t>How to implement </a:t>
            </a:r>
            <a:r>
              <a:rPr lang="en-GB" altLang="tr-TR" sz="4000" dirty="0" err="1"/>
              <a:t>setPassword</a:t>
            </a:r>
            <a:r>
              <a:rPr lang="en-GB" altLang="tr-TR" sz="4000" dirty="0"/>
              <a:t>?</a:t>
            </a:r>
          </a:p>
        </p:txBody>
      </p:sp>
      <p:sp>
        <p:nvSpPr>
          <p:cNvPr id="6147" name="Rectangle 3">
            <a:extLst>
              <a:ext uri="{FF2B5EF4-FFF2-40B4-BE49-F238E27FC236}">
                <a16:creationId xmlns:a16="http://schemas.microsoft.com/office/drawing/2014/main" id="{3AFEB6DE-2271-BD93-B49F-0D440BCEE3D7}"/>
              </a:ext>
            </a:extLst>
          </p:cNvPr>
          <p:cNvSpPr>
            <a:spLocks noGrp="1" noChangeArrowheads="1"/>
          </p:cNvSpPr>
          <p:nvPr>
            <p:ph type="body" idx="1"/>
          </p:nvPr>
        </p:nvSpPr>
        <p:spPr/>
        <p:txBody>
          <a:bodyPr/>
          <a:lstStyle/>
          <a:p>
            <a:pPr eaLnBrk="1" hangingPunct="1"/>
            <a:r>
              <a:rPr lang="en-US" altLang="tr-TR" dirty="0"/>
              <a:t>What is varying? A function realization</a:t>
            </a:r>
          </a:p>
          <a:p>
            <a:pPr lvl="1" eaLnBrk="1" hangingPunct="1"/>
            <a:r>
              <a:rPr lang="en-US" altLang="tr-TR" dirty="0"/>
              <a:t>Put it in a class  -- a class for </a:t>
            </a:r>
            <a:r>
              <a:rPr lang="en-US" altLang="tr-TR" dirty="0" err="1"/>
              <a:t>generateHash</a:t>
            </a:r>
            <a:r>
              <a:rPr lang="en-US" altLang="tr-TR" dirty="0"/>
              <a:t>()</a:t>
            </a:r>
          </a:p>
          <a:p>
            <a:pPr lvl="1" eaLnBrk="1" hangingPunct="1"/>
            <a:r>
              <a:rPr lang="en-US" altLang="tr-TR" dirty="0"/>
              <a:t>Choose the suitable function at runtime</a:t>
            </a:r>
          </a:p>
          <a:p>
            <a:endParaRPr lang="en-US" altLang="tr-TR" dirty="0"/>
          </a:p>
          <a:p>
            <a:endParaRPr lang="en-US" altLang="tr-TR" dirty="0"/>
          </a:p>
          <a:p>
            <a:r>
              <a:rPr lang="en-US" altLang="tr-TR" dirty="0"/>
              <a:t>Choose a suitable one from the</a:t>
            </a:r>
          </a:p>
          <a:p>
            <a:pPr>
              <a:buFontTx/>
              <a:buNone/>
            </a:pPr>
            <a:r>
              <a:rPr lang="en-US" altLang="tr-TR" dirty="0"/>
              <a:t>     </a:t>
            </a:r>
            <a:r>
              <a:rPr lang="en-US" altLang="tr-TR" b="1" dirty="0"/>
              <a:t> algorithm family </a:t>
            </a:r>
            <a:r>
              <a:rPr lang="en-US" altLang="tr-TR" dirty="0"/>
              <a:t>at runtime</a:t>
            </a:r>
          </a:p>
          <a:p>
            <a:pPr lvl="1"/>
            <a:r>
              <a:rPr lang="en-US" altLang="tr-TR" dirty="0"/>
              <a:t>Delegation instead of inheritance</a:t>
            </a:r>
          </a:p>
          <a:p>
            <a:pPr lvl="1">
              <a:buFontTx/>
              <a:buNone/>
            </a:pPr>
            <a:endParaRPr lang="en-GB" altLang="tr-TR" dirty="0"/>
          </a:p>
        </p:txBody>
      </p:sp>
      <p:sp>
        <p:nvSpPr>
          <p:cNvPr id="2" name="Rectangle 1">
            <a:extLst>
              <a:ext uri="{FF2B5EF4-FFF2-40B4-BE49-F238E27FC236}">
                <a16:creationId xmlns:a16="http://schemas.microsoft.com/office/drawing/2014/main" id="{F1FD25E8-0FE8-E9FD-B8DA-F8E71713AA23}"/>
              </a:ext>
            </a:extLst>
          </p:cNvPr>
          <p:cNvSpPr/>
          <p:nvPr/>
        </p:nvSpPr>
        <p:spPr bwMode="auto">
          <a:xfrm>
            <a:off x="1270915" y="3889473"/>
            <a:ext cx="1080120" cy="375667"/>
          </a:xfrm>
          <a:prstGeom prst="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Arial" charset="0"/>
              </a:rPr>
              <a:t>Bcrypt</a:t>
            </a:r>
            <a:endParaRPr kumimoji="0" lang="en-US" sz="1800" b="0" i="0" u="none" strike="noStrike" cap="none" normalizeH="0" baseline="0" dirty="0">
              <a:ln>
                <a:noFill/>
              </a:ln>
              <a:solidFill>
                <a:schemeClr val="tx1"/>
              </a:solidFill>
              <a:effectLst/>
              <a:latin typeface="Arial" charset="0"/>
            </a:endParaRPr>
          </a:p>
        </p:txBody>
      </p:sp>
      <p:sp>
        <p:nvSpPr>
          <p:cNvPr id="3" name="Rectangle 2">
            <a:extLst>
              <a:ext uri="{FF2B5EF4-FFF2-40B4-BE49-F238E27FC236}">
                <a16:creationId xmlns:a16="http://schemas.microsoft.com/office/drawing/2014/main" id="{FEAF9AF7-8DE3-73D8-FD97-6EA4CE80F366}"/>
              </a:ext>
            </a:extLst>
          </p:cNvPr>
          <p:cNvSpPr/>
          <p:nvPr/>
        </p:nvSpPr>
        <p:spPr bwMode="auto">
          <a:xfrm>
            <a:off x="3491880" y="3113012"/>
            <a:ext cx="1368152" cy="432048"/>
          </a:xfrm>
          <a:prstGeom prst="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Encryption</a:t>
            </a:r>
          </a:p>
        </p:txBody>
      </p:sp>
      <p:sp>
        <p:nvSpPr>
          <p:cNvPr id="4" name="Rectangle 3">
            <a:extLst>
              <a:ext uri="{FF2B5EF4-FFF2-40B4-BE49-F238E27FC236}">
                <a16:creationId xmlns:a16="http://schemas.microsoft.com/office/drawing/2014/main" id="{BB94BE9F-0692-CA08-C209-FB25C551F8DA}"/>
              </a:ext>
            </a:extLst>
          </p:cNvPr>
          <p:cNvSpPr/>
          <p:nvPr/>
        </p:nvSpPr>
        <p:spPr bwMode="auto">
          <a:xfrm>
            <a:off x="3632154" y="3889473"/>
            <a:ext cx="1080120" cy="375667"/>
          </a:xfrm>
          <a:prstGeom prst="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err="1">
                <a:latin typeface="Arial" charset="0"/>
              </a:rPr>
              <a:t>S</a:t>
            </a:r>
            <a:r>
              <a:rPr kumimoji="0" lang="en-US" sz="1800" b="0" i="0" u="none" strike="noStrike" cap="none" normalizeH="0" baseline="0" dirty="0" err="1">
                <a:ln>
                  <a:noFill/>
                </a:ln>
                <a:solidFill>
                  <a:schemeClr val="tx1"/>
                </a:solidFill>
                <a:effectLst/>
                <a:latin typeface="Arial" charset="0"/>
              </a:rPr>
              <a:t>crypt</a:t>
            </a:r>
            <a:endParaRPr kumimoji="0" lang="en-US" sz="1800" b="0" i="0" u="none" strike="noStrike" cap="none" normalizeH="0" baseline="0" dirty="0">
              <a:ln>
                <a:noFill/>
              </a:ln>
              <a:solidFill>
                <a:schemeClr val="tx1"/>
              </a:solidFill>
              <a:effectLst/>
              <a:latin typeface="Arial" charset="0"/>
            </a:endParaRPr>
          </a:p>
        </p:txBody>
      </p:sp>
      <p:sp>
        <p:nvSpPr>
          <p:cNvPr id="5" name="Rectangle 4">
            <a:extLst>
              <a:ext uri="{FF2B5EF4-FFF2-40B4-BE49-F238E27FC236}">
                <a16:creationId xmlns:a16="http://schemas.microsoft.com/office/drawing/2014/main" id="{E685AFAA-BA51-6799-B4FC-0A15902E1217}"/>
              </a:ext>
            </a:extLst>
          </p:cNvPr>
          <p:cNvSpPr/>
          <p:nvPr/>
        </p:nvSpPr>
        <p:spPr bwMode="auto">
          <a:xfrm>
            <a:off x="6040685" y="3889473"/>
            <a:ext cx="1080120" cy="375667"/>
          </a:xfrm>
          <a:prstGeom prst="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Argon2</a:t>
            </a:r>
          </a:p>
        </p:txBody>
      </p:sp>
      <p:sp>
        <p:nvSpPr>
          <p:cNvPr id="6" name="Isosceles Triangle 5">
            <a:extLst>
              <a:ext uri="{FF2B5EF4-FFF2-40B4-BE49-F238E27FC236}">
                <a16:creationId xmlns:a16="http://schemas.microsoft.com/office/drawing/2014/main" id="{9F1BD5FF-65AC-F915-DAC4-8DF9AA4678F8}"/>
              </a:ext>
            </a:extLst>
          </p:cNvPr>
          <p:cNvSpPr/>
          <p:nvPr/>
        </p:nvSpPr>
        <p:spPr bwMode="auto">
          <a:xfrm>
            <a:off x="4067944" y="3545060"/>
            <a:ext cx="216024" cy="144017"/>
          </a:xfrm>
          <a:prstGeom prst="triangle">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8" name="Straight Connector 7">
            <a:extLst>
              <a:ext uri="{FF2B5EF4-FFF2-40B4-BE49-F238E27FC236}">
                <a16:creationId xmlns:a16="http://schemas.microsoft.com/office/drawing/2014/main" id="{AB31B48B-83F7-AE5B-A4C3-3CDC31102E76}"/>
              </a:ext>
            </a:extLst>
          </p:cNvPr>
          <p:cNvCxnSpPr/>
          <p:nvPr/>
        </p:nvCxnSpPr>
        <p:spPr bwMode="auto">
          <a:xfrm flipH="1">
            <a:off x="1763688" y="3689077"/>
            <a:ext cx="2376264" cy="20039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9" name="Straight Connector 8">
            <a:extLst>
              <a:ext uri="{FF2B5EF4-FFF2-40B4-BE49-F238E27FC236}">
                <a16:creationId xmlns:a16="http://schemas.microsoft.com/office/drawing/2014/main" id="{82EF73D0-7A08-2F2A-D4C2-5B63320C0A50}"/>
              </a:ext>
            </a:extLst>
          </p:cNvPr>
          <p:cNvCxnSpPr>
            <a:cxnSpLocks/>
            <a:endCxn id="4" idx="0"/>
          </p:cNvCxnSpPr>
          <p:nvPr/>
        </p:nvCxnSpPr>
        <p:spPr bwMode="auto">
          <a:xfrm>
            <a:off x="4172214" y="3725079"/>
            <a:ext cx="0" cy="164394"/>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2CEB4C6D-49F2-7B07-031B-76D37CFA2113}"/>
              </a:ext>
            </a:extLst>
          </p:cNvPr>
          <p:cNvCxnSpPr>
            <a:cxnSpLocks/>
            <a:stCxn id="6" idx="3"/>
          </p:cNvCxnSpPr>
          <p:nvPr/>
        </p:nvCxnSpPr>
        <p:spPr bwMode="auto">
          <a:xfrm>
            <a:off x="4175956" y="3689077"/>
            <a:ext cx="2404789" cy="20039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7" name="Rectangle 16">
            <a:extLst>
              <a:ext uri="{FF2B5EF4-FFF2-40B4-BE49-F238E27FC236}">
                <a16:creationId xmlns:a16="http://schemas.microsoft.com/office/drawing/2014/main" id="{DCAE5FB2-22A8-EC09-8F18-38BA4BBF4F5B}"/>
              </a:ext>
            </a:extLst>
          </p:cNvPr>
          <p:cNvSpPr/>
          <p:nvPr/>
        </p:nvSpPr>
        <p:spPr bwMode="auto">
          <a:xfrm>
            <a:off x="471711" y="3107985"/>
            <a:ext cx="799204" cy="375667"/>
          </a:xfrm>
          <a:prstGeom prst="rect">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User</a:t>
            </a:r>
          </a:p>
        </p:txBody>
      </p:sp>
      <p:sp>
        <p:nvSpPr>
          <p:cNvPr id="18" name="Diamond 17">
            <a:extLst>
              <a:ext uri="{FF2B5EF4-FFF2-40B4-BE49-F238E27FC236}">
                <a16:creationId xmlns:a16="http://schemas.microsoft.com/office/drawing/2014/main" id="{FC11F6A7-2B0D-FF49-893B-58EF8129A0FC}"/>
              </a:ext>
            </a:extLst>
          </p:cNvPr>
          <p:cNvSpPr/>
          <p:nvPr/>
        </p:nvSpPr>
        <p:spPr bwMode="auto">
          <a:xfrm>
            <a:off x="1270915" y="3212976"/>
            <a:ext cx="420765" cy="216024"/>
          </a:xfrm>
          <a:prstGeom prst="diamond">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19" name="Straight Connector 18">
            <a:extLst>
              <a:ext uri="{FF2B5EF4-FFF2-40B4-BE49-F238E27FC236}">
                <a16:creationId xmlns:a16="http://schemas.microsoft.com/office/drawing/2014/main" id="{1BCFB3F8-DBEB-AE56-D284-9D12B7A5974E}"/>
              </a:ext>
            </a:extLst>
          </p:cNvPr>
          <p:cNvCxnSpPr>
            <a:cxnSpLocks/>
            <a:endCxn id="18" idx="3"/>
          </p:cNvCxnSpPr>
          <p:nvPr/>
        </p:nvCxnSpPr>
        <p:spPr bwMode="auto">
          <a:xfrm flipH="1">
            <a:off x="1691680" y="3320988"/>
            <a:ext cx="18002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par>
                                <p:cTn id="21" presetID="1" presetClass="entr" presetSubtype="0" fill="hold" nodeType="withEffect">
                                  <p:stCondLst>
                                    <p:cond delay="0"/>
                                  </p:stCondLst>
                                  <p:childTnLst>
                                    <p:set>
                                      <p:cBhvr>
                                        <p:cTn id="22" dur="1" fill="hold">
                                          <p:stCondLst>
                                            <p:cond delay="0"/>
                                          </p:stCondLst>
                                        </p:cTn>
                                        <p:tgtEl>
                                          <p:spTgt spid="614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8EC12EA3-B86C-1602-13BB-E085F1432BCA}"/>
              </a:ext>
            </a:extLst>
          </p:cNvPr>
          <p:cNvSpPr>
            <a:spLocks noGrp="1"/>
          </p:cNvSpPr>
          <p:nvPr>
            <p:ph type="title"/>
          </p:nvPr>
        </p:nvSpPr>
        <p:spPr/>
        <p:txBody>
          <a:bodyPr/>
          <a:lstStyle/>
          <a:p>
            <a:pPr eaLnBrk="1" hangingPunct="1"/>
            <a:r>
              <a:rPr lang="en-US" altLang="tr-TR"/>
              <a:t>Strategy</a:t>
            </a:r>
          </a:p>
        </p:txBody>
      </p:sp>
      <p:sp>
        <p:nvSpPr>
          <p:cNvPr id="7171" name="Content Placeholder 2">
            <a:extLst>
              <a:ext uri="{FF2B5EF4-FFF2-40B4-BE49-F238E27FC236}">
                <a16:creationId xmlns:a16="http://schemas.microsoft.com/office/drawing/2014/main" id="{6660E0A1-2817-A14C-2B07-2301470C1760}"/>
              </a:ext>
            </a:extLst>
          </p:cNvPr>
          <p:cNvSpPr>
            <a:spLocks noGrp="1"/>
          </p:cNvSpPr>
          <p:nvPr>
            <p:ph idx="1"/>
          </p:nvPr>
        </p:nvSpPr>
        <p:spPr/>
        <p:txBody>
          <a:bodyPr/>
          <a:lstStyle/>
          <a:p>
            <a:pPr eaLnBrk="1" hangingPunct="1"/>
            <a:r>
              <a:rPr lang="en-US" altLang="tr-TR" b="1" dirty="0"/>
              <a:t>Intent</a:t>
            </a:r>
            <a:r>
              <a:rPr lang="en-US" altLang="tr-TR" dirty="0"/>
              <a:t>:</a:t>
            </a:r>
          </a:p>
          <a:p>
            <a:pPr lvl="1" eaLnBrk="1" hangingPunct="1"/>
            <a:r>
              <a:rPr lang="en-US" altLang="tr-TR" dirty="0"/>
              <a:t>Define a family of algorithms, </a:t>
            </a:r>
            <a:r>
              <a:rPr lang="en-US" altLang="tr-TR" b="1" dirty="0"/>
              <a:t>encapsulate</a:t>
            </a:r>
            <a:r>
              <a:rPr lang="en-US" altLang="tr-TR" dirty="0"/>
              <a:t> each one, and make them interchangeable. </a:t>
            </a:r>
          </a:p>
          <a:p>
            <a:pPr lvl="1" eaLnBrk="1" hangingPunct="1"/>
            <a:r>
              <a:rPr lang="en-US" altLang="tr-TR" dirty="0"/>
              <a:t>Strategy lets the algorithm vary independently from clients that use it.</a:t>
            </a:r>
          </a:p>
          <a:p>
            <a:pPr lvl="1" eaLnBrk="1" hangingPunct="1"/>
            <a:endParaRPr lang="en-US" altLang="tr-TR" dirty="0"/>
          </a:p>
          <a:p>
            <a:r>
              <a:rPr lang="en-US" altLang="tr-TR" dirty="0"/>
              <a:t>A.k.a. Policy </a:t>
            </a:r>
          </a:p>
          <a:p>
            <a:pPr eaLnBrk="1" hangingPunct="1"/>
            <a:endParaRPr lang="en-US" altLang="tr-TR"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8EC12EA3-B86C-1602-13BB-E085F1432BCA}"/>
              </a:ext>
            </a:extLst>
          </p:cNvPr>
          <p:cNvSpPr>
            <a:spLocks noGrp="1"/>
          </p:cNvSpPr>
          <p:nvPr>
            <p:ph type="title"/>
          </p:nvPr>
        </p:nvSpPr>
        <p:spPr/>
        <p:txBody>
          <a:bodyPr/>
          <a:lstStyle/>
          <a:p>
            <a:pPr eaLnBrk="1" hangingPunct="1"/>
            <a:r>
              <a:rPr lang="en-US" altLang="tr-TR" dirty="0"/>
              <a:t>Strategy -Structure</a:t>
            </a:r>
          </a:p>
        </p:txBody>
      </p:sp>
      <p:sp>
        <p:nvSpPr>
          <p:cNvPr id="7171" name="Content Placeholder 2">
            <a:extLst>
              <a:ext uri="{FF2B5EF4-FFF2-40B4-BE49-F238E27FC236}">
                <a16:creationId xmlns:a16="http://schemas.microsoft.com/office/drawing/2014/main" id="{6660E0A1-2817-A14C-2B07-2301470C1760}"/>
              </a:ext>
            </a:extLst>
          </p:cNvPr>
          <p:cNvSpPr>
            <a:spLocks noGrp="1"/>
          </p:cNvSpPr>
          <p:nvPr>
            <p:ph idx="1"/>
          </p:nvPr>
        </p:nvSpPr>
        <p:spPr/>
        <p:txBody>
          <a:bodyPr/>
          <a:lstStyle/>
          <a:p>
            <a:pPr eaLnBrk="1" hangingPunct="1">
              <a:lnSpc>
                <a:spcPct val="90000"/>
              </a:lnSpc>
            </a:pPr>
            <a:r>
              <a:rPr lang="en-US" altLang="tr-TR" sz="2800" b="1" dirty="0"/>
              <a:t>Participants?</a:t>
            </a:r>
            <a:r>
              <a:rPr lang="en-US" altLang="tr-TR" sz="2400" dirty="0"/>
              <a:t> </a:t>
            </a:r>
          </a:p>
          <a:p>
            <a:pPr eaLnBrk="1" hangingPunct="1"/>
            <a:endParaRPr lang="en-US" altLang="tr-TR" dirty="0"/>
          </a:p>
        </p:txBody>
      </p:sp>
      <p:pic>
        <p:nvPicPr>
          <p:cNvPr id="7172" name="Picture 2">
            <a:extLst>
              <a:ext uri="{FF2B5EF4-FFF2-40B4-BE49-F238E27FC236}">
                <a16:creationId xmlns:a16="http://schemas.microsoft.com/office/drawing/2014/main" id="{0CD80DE9-27AF-73C7-B119-C595EDF53D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420888"/>
            <a:ext cx="813435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7666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805B9024-E2D2-BBF0-BE62-F0674298C79D}"/>
              </a:ext>
            </a:extLst>
          </p:cNvPr>
          <p:cNvSpPr>
            <a:spLocks noGrp="1"/>
          </p:cNvSpPr>
          <p:nvPr>
            <p:ph type="title"/>
          </p:nvPr>
        </p:nvSpPr>
        <p:spPr/>
        <p:txBody>
          <a:bodyPr/>
          <a:lstStyle/>
          <a:p>
            <a:r>
              <a:rPr lang="en-US" altLang="tr-TR" dirty="0" err="1"/>
              <a:t>setPassword</a:t>
            </a:r>
            <a:r>
              <a:rPr lang="en-US" altLang="tr-TR" dirty="0"/>
              <a:t>  with Strategy</a:t>
            </a:r>
          </a:p>
        </p:txBody>
      </p:sp>
      <p:sp>
        <p:nvSpPr>
          <p:cNvPr id="9219" name="Content Placeholder 2">
            <a:extLst>
              <a:ext uri="{FF2B5EF4-FFF2-40B4-BE49-F238E27FC236}">
                <a16:creationId xmlns:a16="http://schemas.microsoft.com/office/drawing/2014/main" id="{77234684-C932-6F9D-D342-D6A31856309A}"/>
              </a:ext>
            </a:extLst>
          </p:cNvPr>
          <p:cNvSpPr>
            <a:spLocks noGrp="1"/>
          </p:cNvSpPr>
          <p:nvPr>
            <p:ph idx="1"/>
          </p:nvPr>
        </p:nvSpPr>
        <p:spPr>
          <a:xfrm>
            <a:off x="251520" y="1340768"/>
            <a:ext cx="6635080" cy="4532109"/>
          </a:xfrm>
        </p:spPr>
        <p:txBody>
          <a:bodyPr/>
          <a:lstStyle/>
          <a:p>
            <a:pPr marL="57150" indent="0">
              <a:buNone/>
            </a:pPr>
            <a:r>
              <a:rPr lang="en-US" altLang="tr-TR" sz="2200" dirty="0">
                <a:latin typeface="Source Sans Pro" panose="020B0503030403020204" pitchFamily="34" charset="0"/>
                <a:ea typeface="Source Sans Pro" panose="020B0503030403020204" pitchFamily="34" charset="0"/>
              </a:rPr>
              <a:t>class User{</a:t>
            </a:r>
          </a:p>
          <a:p>
            <a:pPr marL="57150" indent="0">
              <a:buNone/>
            </a:pPr>
            <a:r>
              <a:rPr lang="en-US" altLang="tr-TR" sz="2200" dirty="0">
                <a:latin typeface="Source Sans Pro" panose="020B0503030403020204" pitchFamily="34" charset="0"/>
                <a:ea typeface="Source Sans Pro" panose="020B0503030403020204" pitchFamily="34" charset="0"/>
              </a:rPr>
              <a:t> public: </a:t>
            </a:r>
          </a:p>
          <a:p>
            <a:pPr marL="57150" indent="0">
              <a:buNone/>
            </a:pPr>
            <a:r>
              <a:rPr lang="en-US" altLang="tr-TR" sz="2200" dirty="0">
                <a:latin typeface="Source Sans Pro" panose="020B0503030403020204" pitchFamily="34" charset="0"/>
                <a:ea typeface="Source Sans Pro" panose="020B0503030403020204" pitchFamily="34" charset="0"/>
              </a:rPr>
              <a:t>     virtual void </a:t>
            </a:r>
            <a:r>
              <a:rPr lang="en-US" altLang="tr-TR" sz="2200" dirty="0" err="1">
                <a:latin typeface="Source Sans Pro" panose="020B0503030403020204" pitchFamily="34" charset="0"/>
                <a:ea typeface="Source Sans Pro" panose="020B0503030403020204" pitchFamily="34" charset="0"/>
              </a:rPr>
              <a:t>setPassword</a:t>
            </a:r>
            <a:r>
              <a:rPr lang="en-US" altLang="tr-TR" sz="2200" dirty="0">
                <a:latin typeface="Source Sans Pro" panose="020B0503030403020204" pitchFamily="34" charset="0"/>
                <a:ea typeface="Source Sans Pro" panose="020B0503030403020204" pitchFamily="34" charset="0"/>
              </a:rPr>
              <a:t>(const String&amp; passwd);</a:t>
            </a:r>
          </a:p>
          <a:p>
            <a:pPr marL="57150" indent="0">
              <a:buNone/>
            </a:pPr>
            <a:r>
              <a:rPr lang="en-US" altLang="tr-TR" sz="2200" dirty="0">
                <a:latin typeface="Source Sans Pro" panose="020B0503030403020204" pitchFamily="34" charset="0"/>
                <a:ea typeface="Source Sans Pro" panose="020B0503030403020204" pitchFamily="34" charset="0"/>
              </a:rPr>
              <a:t>     virtual bool </a:t>
            </a:r>
            <a:r>
              <a:rPr lang="en-US" altLang="tr-TR" sz="2200" dirty="0" err="1">
                <a:latin typeface="Source Sans Pro" panose="020B0503030403020204" pitchFamily="34" charset="0"/>
                <a:ea typeface="Source Sans Pro" panose="020B0503030403020204" pitchFamily="34" charset="0"/>
              </a:rPr>
              <a:t>checkPassword</a:t>
            </a:r>
            <a:r>
              <a:rPr lang="en-US" altLang="tr-TR" sz="2200" dirty="0">
                <a:latin typeface="Source Sans Pro" panose="020B0503030403020204" pitchFamily="34" charset="0"/>
                <a:ea typeface="Source Sans Pro" panose="020B0503030403020204" pitchFamily="34" charset="0"/>
              </a:rPr>
              <a:t>(const String&amp; passwd);</a:t>
            </a:r>
          </a:p>
          <a:p>
            <a:pPr marL="57150" indent="0">
              <a:buNone/>
            </a:pPr>
            <a:r>
              <a:rPr lang="en-US" altLang="tr-TR" sz="2200" dirty="0">
                <a:latin typeface="Source Sans Pro" panose="020B0503030403020204" pitchFamily="34" charset="0"/>
                <a:ea typeface="Source Sans Pro" panose="020B0503030403020204" pitchFamily="34" charset="0"/>
              </a:rPr>
              <a:t>      User(Encryption* e); ~User()=default; </a:t>
            </a:r>
          </a:p>
          <a:p>
            <a:pPr marL="57150" indent="0">
              <a:buNone/>
            </a:pPr>
            <a:r>
              <a:rPr lang="en-US" altLang="tr-TR" sz="2200" dirty="0">
                <a:latin typeface="Source Sans Pro" panose="020B0503030403020204" pitchFamily="34" charset="0"/>
                <a:ea typeface="Source Sans Pro" panose="020B0503030403020204" pitchFamily="34" charset="0"/>
              </a:rPr>
              <a:t>private:      </a:t>
            </a:r>
            <a:r>
              <a:rPr lang="en-US" altLang="tr-TR" sz="2200" dirty="0">
                <a:solidFill>
                  <a:srgbClr val="0070C0"/>
                </a:solidFill>
                <a:latin typeface="Source Sans Pro" panose="020B0503030403020204" pitchFamily="34" charset="0"/>
                <a:ea typeface="Source Sans Pro" panose="020B0503030403020204" pitchFamily="34" charset="0"/>
              </a:rPr>
              <a:t>Encryption* strategy</a:t>
            </a:r>
            <a:r>
              <a:rPr lang="en-US" altLang="tr-TR" sz="2200" dirty="0">
                <a:latin typeface="Source Sans Pro" panose="020B0503030403020204" pitchFamily="34" charset="0"/>
                <a:ea typeface="Source Sans Pro" panose="020B0503030403020204" pitchFamily="34" charset="0"/>
              </a:rPr>
              <a:t>;</a:t>
            </a:r>
          </a:p>
          <a:p>
            <a:pPr marL="57150" indent="0">
              <a:buNone/>
            </a:pPr>
            <a:r>
              <a:rPr lang="en-US" altLang="tr-TR" sz="2200" dirty="0">
                <a:latin typeface="Source Sans Pro" panose="020B0503030403020204" pitchFamily="34" charset="0"/>
                <a:ea typeface="Source Sans Pro" panose="020B0503030403020204" pitchFamily="34" charset="0"/>
              </a:rPr>
              <a:t>….}</a:t>
            </a:r>
          </a:p>
          <a:p>
            <a:pPr marL="57150" indent="0">
              <a:buNone/>
            </a:pPr>
            <a:r>
              <a:rPr lang="en-US" altLang="tr-TR" sz="2200" dirty="0">
                <a:latin typeface="Source Sans Pro" panose="020B0503030403020204" pitchFamily="34" charset="0"/>
                <a:ea typeface="Source Sans Pro" panose="020B0503030403020204" pitchFamily="34" charset="0"/>
              </a:rPr>
              <a:t>void User::</a:t>
            </a:r>
            <a:r>
              <a:rPr lang="en-US" altLang="tr-TR" sz="2200" dirty="0" err="1">
                <a:latin typeface="Source Sans Pro" panose="020B0503030403020204" pitchFamily="34" charset="0"/>
                <a:ea typeface="Source Sans Pro" panose="020B0503030403020204" pitchFamily="34" charset="0"/>
              </a:rPr>
              <a:t>setPassword</a:t>
            </a:r>
            <a:r>
              <a:rPr lang="en-US" altLang="tr-TR" sz="2200" dirty="0">
                <a:latin typeface="Source Sans Pro" panose="020B0503030403020204" pitchFamily="34" charset="0"/>
                <a:ea typeface="Source Sans Pro" panose="020B0503030403020204" pitchFamily="34" charset="0"/>
              </a:rPr>
              <a:t>(const String&amp; pass){</a:t>
            </a:r>
          </a:p>
          <a:p>
            <a:pPr marL="57150" indent="0">
              <a:buNone/>
            </a:pPr>
            <a:r>
              <a:rPr lang="en-US" altLang="tr-TR" sz="2200" dirty="0">
                <a:latin typeface="Source Sans Pro" panose="020B0503030403020204" pitchFamily="34" charset="0"/>
                <a:ea typeface="Source Sans Pro" panose="020B0503030403020204" pitchFamily="34" charset="0"/>
              </a:rPr>
              <a:t>            </a:t>
            </a:r>
            <a:r>
              <a:rPr lang="en-US" altLang="tr-TR" sz="2200" dirty="0" err="1">
                <a:latin typeface="Source Sans Pro" panose="020B0503030403020204" pitchFamily="34" charset="0"/>
                <a:ea typeface="Source Sans Pro" panose="020B0503030403020204" pitchFamily="34" charset="0"/>
              </a:rPr>
              <a:t>checkStrength</a:t>
            </a:r>
            <a:r>
              <a:rPr lang="en-US" altLang="tr-TR" sz="2200" dirty="0">
                <a:latin typeface="Source Sans Pro" panose="020B0503030403020204" pitchFamily="34" charset="0"/>
                <a:ea typeface="Source Sans Pro" panose="020B0503030403020204" pitchFamily="34" charset="0"/>
              </a:rPr>
              <a:t>(pass);</a:t>
            </a:r>
          </a:p>
          <a:p>
            <a:pPr marL="57150" indent="0">
              <a:buNone/>
            </a:pPr>
            <a:r>
              <a:rPr lang="en-US" altLang="tr-TR" sz="2200" dirty="0">
                <a:latin typeface="Source Sans Pro" panose="020B0503030403020204" pitchFamily="34" charset="0"/>
                <a:ea typeface="Source Sans Pro" panose="020B0503030403020204" pitchFamily="34" charset="0"/>
              </a:rPr>
              <a:t>            save(</a:t>
            </a:r>
            <a:r>
              <a:rPr lang="en-US" altLang="tr-TR" sz="2200" dirty="0">
                <a:solidFill>
                  <a:srgbClr val="0070C0"/>
                </a:solidFill>
                <a:latin typeface="Source Sans Pro" panose="020B0503030403020204" pitchFamily="34" charset="0"/>
                <a:ea typeface="Source Sans Pro" panose="020B0503030403020204" pitchFamily="34" charset="0"/>
              </a:rPr>
              <a:t>strategy -&gt;</a:t>
            </a:r>
            <a:r>
              <a:rPr lang="en-US" altLang="tr-TR" sz="2200" dirty="0" err="1">
                <a:solidFill>
                  <a:srgbClr val="0070C0"/>
                </a:solidFill>
                <a:latin typeface="Source Sans Pro" panose="020B0503030403020204" pitchFamily="34" charset="0"/>
                <a:ea typeface="Source Sans Pro" panose="020B0503030403020204" pitchFamily="34" charset="0"/>
              </a:rPr>
              <a:t>generateHash</a:t>
            </a:r>
            <a:r>
              <a:rPr lang="en-US" altLang="tr-TR" sz="2200" dirty="0">
                <a:latin typeface="Source Sans Pro" panose="020B0503030403020204" pitchFamily="34" charset="0"/>
                <a:ea typeface="Source Sans Pro" panose="020B0503030403020204" pitchFamily="34" charset="0"/>
              </a:rPr>
              <a:t>(pass));</a:t>
            </a:r>
          </a:p>
          <a:p>
            <a:pPr marL="57150" indent="0">
              <a:buNone/>
            </a:pPr>
            <a:r>
              <a:rPr lang="en-US" altLang="tr-TR" sz="2200" dirty="0">
                <a:latin typeface="Source Sans Pro" panose="020B0503030403020204" pitchFamily="34" charset="0"/>
                <a:ea typeface="Source Sans Pro" panose="020B0503030403020204" pitchFamily="34" charset="0"/>
              </a:rPr>
              <a:t>}</a:t>
            </a:r>
          </a:p>
          <a:p>
            <a:pPr marL="57150" indent="0">
              <a:buNone/>
            </a:pPr>
            <a:r>
              <a:rPr lang="en-US" altLang="tr-TR" sz="2200" dirty="0">
                <a:latin typeface="Source Sans Pro" panose="020B0503030403020204" pitchFamily="34" charset="0"/>
                <a:ea typeface="Source Sans Pro" panose="020B0503030403020204" pitchFamily="34" charset="0"/>
              </a:rPr>
              <a:t>User::</a:t>
            </a:r>
            <a:r>
              <a:rPr lang="en-US" altLang="tr-TR" sz="2200" dirty="0">
                <a:solidFill>
                  <a:srgbClr val="0070C0"/>
                </a:solidFill>
                <a:latin typeface="Source Sans Pro" panose="020B0503030403020204" pitchFamily="34" charset="0"/>
                <a:ea typeface="Source Sans Pro" panose="020B0503030403020204" pitchFamily="34" charset="0"/>
              </a:rPr>
              <a:t>User(Encryption* e</a:t>
            </a:r>
            <a:r>
              <a:rPr lang="en-US" altLang="tr-TR" sz="2200" dirty="0">
                <a:latin typeface="Source Sans Pro" panose="020B0503030403020204" pitchFamily="34" charset="0"/>
                <a:ea typeface="Source Sans Pro" panose="020B0503030403020204" pitchFamily="34" charset="0"/>
              </a:rPr>
              <a:t>):strategy(e){…}</a:t>
            </a:r>
          </a:p>
        </p:txBody>
      </p:sp>
      <p:sp>
        <p:nvSpPr>
          <p:cNvPr id="3" name="TextBox 2">
            <a:extLst>
              <a:ext uri="{FF2B5EF4-FFF2-40B4-BE49-F238E27FC236}">
                <a16:creationId xmlns:a16="http://schemas.microsoft.com/office/drawing/2014/main" id="{56387B6C-B83E-7B8A-39A9-DBDC10E6B816}"/>
              </a:ext>
            </a:extLst>
          </p:cNvPr>
          <p:cNvSpPr txBox="1"/>
          <p:nvPr/>
        </p:nvSpPr>
        <p:spPr>
          <a:xfrm>
            <a:off x="6721197" y="1481408"/>
            <a:ext cx="1965603" cy="461665"/>
          </a:xfrm>
          <a:prstGeom prst="rect">
            <a:avLst/>
          </a:prstGeom>
          <a:noFill/>
        </p:spPr>
        <p:txBody>
          <a:bodyPr wrap="none" rtlCol="0">
            <a:spAutoFit/>
          </a:bodyPr>
          <a:lstStyle/>
          <a:p>
            <a:r>
              <a:rPr lang="en-US" sz="2400" dirty="0">
                <a:solidFill>
                  <a:srgbClr val="C00000"/>
                </a:solidFill>
              </a:rPr>
              <a:t>Participants?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A1699-AFDE-745F-7078-800898F7144F}"/>
              </a:ext>
            </a:extLst>
          </p:cNvPr>
          <p:cNvSpPr>
            <a:spLocks noGrp="1"/>
          </p:cNvSpPr>
          <p:nvPr>
            <p:ph type="title"/>
          </p:nvPr>
        </p:nvSpPr>
        <p:spPr/>
        <p:txBody>
          <a:bodyPr/>
          <a:lstStyle/>
          <a:p>
            <a:r>
              <a:rPr lang="en-US" dirty="0"/>
              <a:t>Strategy - Collaborations</a:t>
            </a:r>
          </a:p>
        </p:txBody>
      </p:sp>
      <p:sp>
        <p:nvSpPr>
          <p:cNvPr id="8195" name="Content Placeholder 2">
            <a:extLst>
              <a:ext uri="{FF2B5EF4-FFF2-40B4-BE49-F238E27FC236}">
                <a16:creationId xmlns:a16="http://schemas.microsoft.com/office/drawing/2014/main" id="{078C83BB-8041-B22C-5721-C020A215A74D}"/>
              </a:ext>
            </a:extLst>
          </p:cNvPr>
          <p:cNvSpPr>
            <a:spLocks noGrp="1"/>
          </p:cNvSpPr>
          <p:nvPr>
            <p:ph idx="1"/>
          </p:nvPr>
        </p:nvSpPr>
        <p:spPr/>
        <p:txBody>
          <a:bodyPr/>
          <a:lstStyle/>
          <a:p>
            <a:r>
              <a:rPr lang="en-US" altLang="en-US" sz="2400" dirty="0"/>
              <a:t>The context object receives requests from the client and delegates them to the strategy object. </a:t>
            </a:r>
          </a:p>
          <a:p>
            <a:pPr lvl="1"/>
            <a:r>
              <a:rPr lang="en-US" altLang="en-US" sz="2000" dirty="0"/>
              <a:t>Usually, the </a:t>
            </a:r>
            <a:r>
              <a:rPr lang="en-US" altLang="en-US" sz="2000" dirty="0" err="1"/>
              <a:t>ConcreteStrategy</a:t>
            </a:r>
            <a:r>
              <a:rPr lang="en-US" altLang="en-US" sz="2000" dirty="0"/>
              <a:t> is created by the client and passed to the context. From this point the clients interacts only with the context.</a:t>
            </a:r>
            <a:endParaRPr lang="en-US" altLang="en-US" sz="2400" dirty="0"/>
          </a:p>
          <a:p>
            <a:r>
              <a:rPr lang="en-US" altLang="en-US" sz="2400" dirty="0"/>
              <a:t>The Context objects contains a reference to the </a:t>
            </a:r>
            <a:r>
              <a:rPr lang="en-US" altLang="en-US" sz="2400" dirty="0" err="1"/>
              <a:t>ConcreteStrategy</a:t>
            </a:r>
            <a:r>
              <a:rPr lang="en-US" altLang="en-US" sz="2400" dirty="0"/>
              <a:t> that should be used. </a:t>
            </a:r>
          </a:p>
          <a:p>
            <a:r>
              <a:rPr lang="en-US" altLang="en-US" sz="2400" dirty="0"/>
              <a:t>When an operation is required then the algorithm is run from the strategy object. </a:t>
            </a:r>
          </a:p>
          <a:p>
            <a:r>
              <a:rPr lang="en-US" altLang="en-US" sz="2400" dirty="0"/>
              <a:t>The Context is not aware of the strategy implementation. </a:t>
            </a:r>
          </a:p>
          <a:p>
            <a:r>
              <a:rPr lang="en-US" altLang="en-US" sz="2400" dirty="0"/>
              <a:t>If necessary, additional objects can be defined to pass data from context object to strategy. </a:t>
            </a:r>
            <a:endParaRPr lang="tr-TR"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DD792366-BFB8-C0E3-1EEB-489C2ECF419F}"/>
              </a:ext>
            </a:extLst>
          </p:cNvPr>
          <p:cNvSpPr>
            <a:spLocks noGrp="1" noChangeArrowheads="1"/>
          </p:cNvSpPr>
          <p:nvPr>
            <p:ph type="title"/>
          </p:nvPr>
        </p:nvSpPr>
        <p:spPr>
          <a:xfrm>
            <a:off x="457200" y="139152"/>
            <a:ext cx="8686800" cy="1371600"/>
          </a:xfrm>
        </p:spPr>
        <p:txBody>
          <a:bodyPr/>
          <a:lstStyle/>
          <a:p>
            <a:pPr eaLnBrk="1" hangingPunct="1"/>
            <a:r>
              <a:rPr lang="en-US" altLang="tr-TR" dirty="0"/>
              <a:t>Recall the Car example 2</a:t>
            </a:r>
            <a:r>
              <a:rPr lang="en-US" altLang="tr-TR" baseline="30000" dirty="0"/>
              <a:t>nd</a:t>
            </a:r>
            <a:r>
              <a:rPr lang="en-US" altLang="tr-TR" dirty="0"/>
              <a:t> week</a:t>
            </a:r>
          </a:p>
        </p:txBody>
      </p:sp>
      <p:sp>
        <p:nvSpPr>
          <p:cNvPr id="60419" name="Content Placeholder 2">
            <a:extLst>
              <a:ext uri="{FF2B5EF4-FFF2-40B4-BE49-F238E27FC236}">
                <a16:creationId xmlns:a16="http://schemas.microsoft.com/office/drawing/2014/main" id="{AEC013ED-75C1-0F4B-E56A-0CDAA9B7F4BB}"/>
              </a:ext>
            </a:extLst>
          </p:cNvPr>
          <p:cNvSpPr>
            <a:spLocks noGrp="1" noChangeArrowheads="1"/>
          </p:cNvSpPr>
          <p:nvPr>
            <p:ph idx="1"/>
          </p:nvPr>
        </p:nvSpPr>
        <p:spPr/>
        <p:txBody>
          <a:bodyPr/>
          <a:lstStyle/>
          <a:p>
            <a:pPr eaLnBrk="1" hangingPunct="1"/>
            <a:r>
              <a:rPr lang="en-US" altLang="tr-TR" dirty="0"/>
              <a:t>Car class and its 2 operations/behaviors:</a:t>
            </a:r>
          </a:p>
          <a:p>
            <a:pPr lvl="1" eaLnBrk="1" hangingPunct="1"/>
            <a:r>
              <a:rPr lang="en-US" altLang="tr-TR" dirty="0"/>
              <a:t>Brake and accelerate</a:t>
            </a:r>
          </a:p>
          <a:p>
            <a:pPr eaLnBrk="1" hangingPunct="1"/>
            <a:r>
              <a:rPr lang="en-US" altLang="tr-TR" dirty="0"/>
              <a:t>These behaviors change frequently between models, so implement these behaviors in subclasses: overriding</a:t>
            </a:r>
          </a:p>
          <a:p>
            <a:pPr lvl="1" eaLnBrk="1" hangingPunct="1"/>
            <a:r>
              <a:rPr lang="en-US" altLang="tr-TR" dirty="0"/>
              <a:t>For each new model, override</a:t>
            </a:r>
          </a:p>
          <a:p>
            <a:pPr lvl="2" eaLnBrk="1" hangingPunct="1"/>
            <a:r>
              <a:rPr lang="en-US" altLang="tr-TR" dirty="0"/>
              <a:t>Beware: Code duplication across models</a:t>
            </a:r>
          </a:p>
          <a:p>
            <a:pPr lvl="2" eaLnBrk="1" hangingPunct="1"/>
            <a:r>
              <a:rPr lang="en-US" altLang="tr-TR" dirty="0"/>
              <a:t>The work of managing these behaviors increases greatly as the number of models increases</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5E7207B2-C130-4394-A683-0D8403D12465}"/>
              </a:ext>
            </a:extLst>
          </p:cNvPr>
          <p:cNvSpPr>
            <a:spLocks noGrp="1" noChangeArrowheads="1"/>
          </p:cNvSpPr>
          <p:nvPr>
            <p:ph type="title"/>
          </p:nvPr>
        </p:nvSpPr>
        <p:spPr/>
        <p:txBody>
          <a:bodyPr/>
          <a:lstStyle/>
          <a:p>
            <a:r>
              <a:rPr lang="en-US" altLang="tr-TR" dirty="0"/>
              <a:t>Alternative1</a:t>
            </a:r>
          </a:p>
        </p:txBody>
      </p:sp>
      <p:sp>
        <p:nvSpPr>
          <p:cNvPr id="62467" name="Content Placeholder 2">
            <a:extLst>
              <a:ext uri="{FF2B5EF4-FFF2-40B4-BE49-F238E27FC236}">
                <a16:creationId xmlns:a16="http://schemas.microsoft.com/office/drawing/2014/main" id="{D883A714-18FD-3F94-A9A7-2842E5831420}"/>
              </a:ext>
            </a:extLst>
          </p:cNvPr>
          <p:cNvSpPr>
            <a:spLocks noGrp="1" noChangeArrowheads="1"/>
          </p:cNvSpPr>
          <p:nvPr>
            <p:ph sz="half" idx="1"/>
          </p:nvPr>
        </p:nvSpPr>
        <p:spPr>
          <a:xfrm>
            <a:off x="457200" y="1463045"/>
            <a:ext cx="4038600" cy="5394955"/>
          </a:xfrm>
        </p:spPr>
        <p:txBody>
          <a:bodyPr/>
          <a:lstStyle/>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public class  Car{ </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public void break(){</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switch(model){</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case Simple:</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//reduce speed 5 unit/sec</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case </a:t>
            </a:r>
            <a:r>
              <a:rPr lang="en-US" altLang="tr-TR" sz="2000" dirty="0" err="1">
                <a:latin typeface="Source Sans Pro" panose="020B0503030403020204" pitchFamily="34" charset="0"/>
                <a:ea typeface="Source Sans Pro" panose="020B0503030403020204" pitchFamily="34" charset="0"/>
              </a:rPr>
              <a:t>Sportcar</a:t>
            </a:r>
            <a:r>
              <a:rPr lang="en-US" altLang="tr-TR" sz="2000" dirty="0">
                <a:latin typeface="Source Sans Pro" panose="020B0503030403020204" pitchFamily="34" charset="0"/>
                <a:ea typeface="Source Sans Pro" panose="020B0503030403020204" pitchFamily="34" charset="0"/>
              </a:rPr>
              <a:t>:  </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//….with ABS</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case EV:</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//regenerative breaking </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//other members</a:t>
            </a:r>
          </a:p>
          <a:p>
            <a:pPr>
              <a:buFont typeface="Wingdings" panose="05000000000000000000" pitchFamily="2" charset="2"/>
              <a:buNone/>
            </a:pPr>
            <a:endParaRPr lang="en-US" altLang="tr-TR" sz="2000" dirty="0">
              <a:latin typeface="Source Sans Pro" panose="020B0503030403020204" pitchFamily="34" charset="0"/>
              <a:ea typeface="Source Sans Pro" panose="020B0503030403020204" pitchFamily="34" charset="0"/>
            </a:endParaRP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a:t>
            </a:r>
          </a:p>
        </p:txBody>
      </p:sp>
      <p:sp>
        <p:nvSpPr>
          <p:cNvPr id="62468" name="Content Placeholder 3">
            <a:extLst>
              <a:ext uri="{FF2B5EF4-FFF2-40B4-BE49-F238E27FC236}">
                <a16:creationId xmlns:a16="http://schemas.microsoft.com/office/drawing/2014/main" id="{39DA0E93-FE05-C6C4-5E19-78AB7BBA198A}"/>
              </a:ext>
            </a:extLst>
          </p:cNvPr>
          <p:cNvSpPr>
            <a:spLocks noGrp="1" noChangeArrowheads="1"/>
          </p:cNvSpPr>
          <p:nvPr>
            <p:ph sz="half" idx="2"/>
          </p:nvPr>
        </p:nvSpPr>
        <p:spPr>
          <a:xfrm>
            <a:off x="4648200" y="1700808"/>
            <a:ext cx="4038600" cy="2763838"/>
          </a:xfrm>
        </p:spPr>
        <p:txBody>
          <a:bodyPr/>
          <a:lstStyle/>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public void accelerate(){</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switch(model){</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case Simple:</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//speed up  7u/s</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case EV:  </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//smart speed up</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      case Sports: //….</a:t>
            </a:r>
          </a:p>
          <a:p>
            <a:pPr>
              <a:buFont typeface="Wingdings" panose="05000000000000000000" pitchFamily="2" charset="2"/>
              <a:buNone/>
            </a:pPr>
            <a:r>
              <a:rPr lang="en-US" altLang="tr-TR" sz="2000" dirty="0">
                <a:latin typeface="Source Sans Pro" panose="020B0503030403020204" pitchFamily="34" charset="0"/>
                <a:ea typeface="Source Sans Pro" panose="020B0503030403020204" pitchFamily="34" charset="0"/>
              </a:rPr>
              <a:t>}</a:t>
            </a:r>
          </a:p>
          <a:p>
            <a:pPr>
              <a:buFont typeface="Wingdings" panose="05000000000000000000" pitchFamily="2" charset="2"/>
              <a:buNone/>
            </a:pPr>
            <a:endParaRPr lang="en-US" altLang="tr-TR" sz="2000" dirty="0">
              <a:latin typeface="Source Sans Pro" panose="020B0503030403020204" pitchFamily="34" charset="0"/>
              <a:ea typeface="Source Sans Pro" panose="020B0503030403020204" pitchFamily="34" charset="0"/>
            </a:endParaRPr>
          </a:p>
        </p:txBody>
      </p:sp>
      <p:sp>
        <p:nvSpPr>
          <p:cNvPr id="62469" name="TextBox 4">
            <a:extLst>
              <a:ext uri="{FF2B5EF4-FFF2-40B4-BE49-F238E27FC236}">
                <a16:creationId xmlns:a16="http://schemas.microsoft.com/office/drawing/2014/main" id="{6B5C4702-DD1B-88DC-B857-D6126D2DFE48}"/>
              </a:ext>
            </a:extLst>
          </p:cNvPr>
          <p:cNvSpPr txBox="1">
            <a:spLocks noChangeArrowheads="1"/>
          </p:cNvSpPr>
          <p:nvPr/>
        </p:nvSpPr>
        <p:spPr bwMode="auto">
          <a:xfrm>
            <a:off x="3305175" y="5375275"/>
            <a:ext cx="5838825"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 typeface="Arial" panose="020B0604020202020204" pitchFamily="34" charset="0"/>
              <a:buChar char="•"/>
            </a:pPr>
            <a:r>
              <a:rPr lang="en-US" altLang="tr-TR" sz="2400"/>
              <a:t>as ugly as it gets, </a:t>
            </a:r>
          </a:p>
          <a:p>
            <a:pPr>
              <a:spcBef>
                <a:spcPct val="0"/>
              </a:spcBef>
              <a:buClrTx/>
              <a:buSzTx/>
              <a:buFont typeface="Arial" panose="020B0604020202020204" pitchFamily="34" charset="0"/>
              <a:buChar char="•"/>
            </a:pPr>
            <a:r>
              <a:rPr lang="en-US" altLang="tr-TR" sz="2400"/>
              <a:t>useless when it comes to extensibility </a:t>
            </a:r>
          </a:p>
          <a:p>
            <a:pPr>
              <a:spcBef>
                <a:spcPct val="0"/>
              </a:spcBef>
              <a:buClrTx/>
              <a:buSzTx/>
              <a:buFont typeface="Arial" panose="020B0604020202020204" pitchFamily="34" charset="0"/>
              <a:buChar char="•"/>
            </a:pPr>
            <a:r>
              <a:rPr lang="en-US" altLang="tr-TR" sz="2400"/>
              <a:t>throws out any hope of it being reusable.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5">
            <a:extLst>
              <a:ext uri="{FF2B5EF4-FFF2-40B4-BE49-F238E27FC236}">
                <a16:creationId xmlns:a16="http://schemas.microsoft.com/office/drawing/2014/main" id="{360E8F4F-CDC0-A9EE-E908-2010C15EB9F0}"/>
              </a:ext>
            </a:extLst>
          </p:cNvPr>
          <p:cNvSpPr>
            <a:spLocks noChangeArrowheads="1"/>
          </p:cNvSpPr>
          <p:nvPr/>
        </p:nvSpPr>
        <p:spPr bwMode="auto">
          <a:xfrm>
            <a:off x="3527425" y="3008313"/>
            <a:ext cx="1738313" cy="10588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dirty="0">
                <a:solidFill>
                  <a:schemeClr val="accent1"/>
                </a:solidFill>
                <a:latin typeface="Tahoma" panose="020B0604030504040204" pitchFamily="34" charset="0"/>
              </a:rPr>
              <a:t>Sports</a:t>
            </a:r>
          </a:p>
          <a:p>
            <a:pPr>
              <a:spcBef>
                <a:spcPct val="0"/>
              </a:spcBef>
              <a:buClrTx/>
              <a:buSzTx/>
              <a:buFontTx/>
              <a:buNone/>
            </a:pPr>
            <a:r>
              <a:rPr lang="en-US" altLang="tr-TR" sz="1800" dirty="0">
                <a:solidFill>
                  <a:schemeClr val="accent1"/>
                </a:solidFill>
                <a:latin typeface="Tahoma" panose="020B0604030504040204" pitchFamily="34" charset="0"/>
              </a:rPr>
              <a:t>+break</a:t>
            </a:r>
            <a:r>
              <a:rPr lang="en-US" altLang="tr-TR" sz="1800" dirty="0">
                <a:solidFill>
                  <a:schemeClr val="accent1"/>
                </a:solidFill>
                <a:latin typeface="Tahoma" panose="020B0604030504040204" pitchFamily="34" charset="0"/>
                <a:sym typeface="Wingdings" panose="05000000000000000000" pitchFamily="2" charset="2"/>
              </a:rPr>
              <a:t>()</a:t>
            </a:r>
          </a:p>
          <a:p>
            <a:pPr>
              <a:spcBef>
                <a:spcPct val="0"/>
              </a:spcBef>
              <a:buClrTx/>
              <a:buSzTx/>
              <a:buFontTx/>
              <a:buNone/>
            </a:pPr>
            <a:r>
              <a:rPr lang="en-US" altLang="tr-TR" sz="1800" dirty="0">
                <a:solidFill>
                  <a:schemeClr val="accent1"/>
                </a:solidFill>
                <a:latin typeface="Tahoma" panose="020B0604030504040204" pitchFamily="34" charset="0"/>
                <a:sym typeface="Wingdings" panose="05000000000000000000" pitchFamily="2" charset="2"/>
              </a:rPr>
              <a:t>+accelerate()</a:t>
            </a:r>
            <a:endParaRPr lang="en-US" altLang="tr-TR" sz="1800" dirty="0">
              <a:solidFill>
                <a:schemeClr val="accent1"/>
              </a:solidFill>
              <a:latin typeface="Tahoma" panose="020B0604030504040204" pitchFamily="34" charset="0"/>
            </a:endParaRPr>
          </a:p>
        </p:txBody>
      </p:sp>
      <p:sp>
        <p:nvSpPr>
          <p:cNvPr id="61443" name="Rectangle 6">
            <a:extLst>
              <a:ext uri="{FF2B5EF4-FFF2-40B4-BE49-F238E27FC236}">
                <a16:creationId xmlns:a16="http://schemas.microsoft.com/office/drawing/2014/main" id="{AF13D823-96DF-5A8A-3842-D9856FF1EBEC}"/>
              </a:ext>
            </a:extLst>
          </p:cNvPr>
          <p:cNvSpPr>
            <a:spLocks noChangeArrowheads="1"/>
          </p:cNvSpPr>
          <p:nvPr/>
        </p:nvSpPr>
        <p:spPr bwMode="auto">
          <a:xfrm>
            <a:off x="1511300" y="1323975"/>
            <a:ext cx="2159000" cy="8921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a:solidFill>
                  <a:schemeClr val="accent1"/>
                </a:solidFill>
                <a:latin typeface="Tahoma" panose="020B0604030504040204" pitchFamily="34" charset="0"/>
              </a:rPr>
              <a:t>Car</a:t>
            </a:r>
          </a:p>
          <a:p>
            <a:pPr>
              <a:spcBef>
                <a:spcPct val="0"/>
              </a:spcBef>
              <a:buClrTx/>
              <a:buSzTx/>
              <a:buFontTx/>
              <a:buNone/>
            </a:pPr>
            <a:r>
              <a:rPr lang="en-US" altLang="tr-TR" sz="1800" i="1">
                <a:solidFill>
                  <a:schemeClr val="accent1"/>
                </a:solidFill>
                <a:latin typeface="Tahoma" panose="020B0604030504040204" pitchFamily="34" charset="0"/>
              </a:rPr>
              <a:t>+break</a:t>
            </a:r>
            <a:r>
              <a:rPr lang="en-US" altLang="tr-TR" sz="1800" i="1">
                <a:solidFill>
                  <a:schemeClr val="accent1"/>
                </a:solidFill>
                <a:latin typeface="Tahoma" panose="020B0604030504040204" pitchFamily="34" charset="0"/>
                <a:sym typeface="Wingdings" panose="05000000000000000000" pitchFamily="2" charset="2"/>
              </a:rPr>
              <a:t>()</a:t>
            </a:r>
          </a:p>
          <a:p>
            <a:pPr>
              <a:spcBef>
                <a:spcPct val="0"/>
              </a:spcBef>
              <a:buClrTx/>
              <a:buSzTx/>
              <a:buFontTx/>
              <a:buNone/>
            </a:pPr>
            <a:r>
              <a:rPr lang="en-US" altLang="tr-TR" sz="1800" i="1">
                <a:solidFill>
                  <a:schemeClr val="accent1"/>
                </a:solidFill>
                <a:latin typeface="Tahoma" panose="020B0604030504040204" pitchFamily="34" charset="0"/>
                <a:sym typeface="Wingdings" panose="05000000000000000000" pitchFamily="2" charset="2"/>
              </a:rPr>
              <a:t>+accelerate()</a:t>
            </a:r>
            <a:endParaRPr lang="en-US" altLang="tr-TR" sz="1800" i="1">
              <a:solidFill>
                <a:schemeClr val="accent1"/>
              </a:solidFill>
              <a:latin typeface="Tahoma" panose="020B0604030504040204" pitchFamily="34" charset="0"/>
            </a:endParaRPr>
          </a:p>
        </p:txBody>
      </p:sp>
      <p:sp>
        <p:nvSpPr>
          <p:cNvPr id="61444" name="Rectangle 7">
            <a:extLst>
              <a:ext uri="{FF2B5EF4-FFF2-40B4-BE49-F238E27FC236}">
                <a16:creationId xmlns:a16="http://schemas.microsoft.com/office/drawing/2014/main" id="{9855F22B-3D16-C805-6ECE-C7AAAACA8B7F}"/>
              </a:ext>
            </a:extLst>
          </p:cNvPr>
          <p:cNvSpPr>
            <a:spLocks noChangeArrowheads="1"/>
          </p:cNvSpPr>
          <p:nvPr/>
        </p:nvSpPr>
        <p:spPr bwMode="auto">
          <a:xfrm>
            <a:off x="1582738" y="3008313"/>
            <a:ext cx="1601787" cy="933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a:solidFill>
                  <a:schemeClr val="accent1"/>
                </a:solidFill>
                <a:latin typeface="Tahoma" panose="020B0604030504040204" pitchFamily="34" charset="0"/>
              </a:rPr>
              <a:t>simple</a:t>
            </a:r>
          </a:p>
          <a:p>
            <a:pPr>
              <a:spcBef>
                <a:spcPct val="0"/>
              </a:spcBef>
              <a:buClrTx/>
              <a:buSzTx/>
              <a:buFontTx/>
              <a:buNone/>
            </a:pPr>
            <a:r>
              <a:rPr lang="en-US" altLang="tr-TR" sz="1800">
                <a:solidFill>
                  <a:schemeClr val="accent1"/>
                </a:solidFill>
                <a:latin typeface="Tahoma" panose="020B0604030504040204" pitchFamily="34" charset="0"/>
              </a:rPr>
              <a:t>+break</a:t>
            </a:r>
            <a:r>
              <a:rPr lang="en-US" altLang="tr-TR" sz="1800">
                <a:solidFill>
                  <a:schemeClr val="accent1"/>
                </a:solidFill>
                <a:latin typeface="Tahoma" panose="020B0604030504040204" pitchFamily="34" charset="0"/>
                <a:sym typeface="Wingdings" panose="05000000000000000000" pitchFamily="2" charset="2"/>
              </a:rPr>
              <a:t>()</a:t>
            </a:r>
          </a:p>
          <a:p>
            <a:pPr>
              <a:spcBef>
                <a:spcPct val="0"/>
              </a:spcBef>
              <a:buClrTx/>
              <a:buSzTx/>
              <a:buFontTx/>
              <a:buNone/>
            </a:pPr>
            <a:r>
              <a:rPr lang="en-US" altLang="tr-TR" sz="1800">
                <a:solidFill>
                  <a:schemeClr val="accent1"/>
                </a:solidFill>
                <a:latin typeface="Tahoma" panose="020B0604030504040204" pitchFamily="34" charset="0"/>
                <a:sym typeface="Wingdings" panose="05000000000000000000" pitchFamily="2" charset="2"/>
              </a:rPr>
              <a:t>+accelerate()</a:t>
            </a:r>
            <a:endParaRPr lang="en-US" altLang="tr-TR" sz="1800">
              <a:solidFill>
                <a:schemeClr val="accent1"/>
              </a:solidFill>
              <a:latin typeface="Tahoma" panose="020B0604030504040204" pitchFamily="34" charset="0"/>
            </a:endParaRPr>
          </a:p>
        </p:txBody>
      </p:sp>
      <p:sp>
        <p:nvSpPr>
          <p:cNvPr id="61445" name="AutoShape 8">
            <a:extLst>
              <a:ext uri="{FF2B5EF4-FFF2-40B4-BE49-F238E27FC236}">
                <a16:creationId xmlns:a16="http://schemas.microsoft.com/office/drawing/2014/main" id="{005DA1B0-C7AA-0774-787D-A73618E3ED4D}"/>
              </a:ext>
            </a:extLst>
          </p:cNvPr>
          <p:cNvSpPr>
            <a:spLocks noChangeArrowheads="1"/>
          </p:cNvSpPr>
          <p:nvPr/>
        </p:nvSpPr>
        <p:spPr bwMode="auto">
          <a:xfrm>
            <a:off x="2519363" y="2214563"/>
            <a:ext cx="336550" cy="287337"/>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tr-TR" altLang="tr-TR" sz="1800"/>
          </a:p>
        </p:txBody>
      </p:sp>
      <p:cxnSp>
        <p:nvCxnSpPr>
          <p:cNvPr id="61446" name="AutoShape 9">
            <a:extLst>
              <a:ext uri="{FF2B5EF4-FFF2-40B4-BE49-F238E27FC236}">
                <a16:creationId xmlns:a16="http://schemas.microsoft.com/office/drawing/2014/main" id="{9C4E064F-4BF6-7A76-05A1-2DEAED1E1D5A}"/>
              </a:ext>
            </a:extLst>
          </p:cNvPr>
          <p:cNvCxnSpPr>
            <a:cxnSpLocks noChangeShapeType="1"/>
            <a:stCxn id="61445" idx="3"/>
            <a:endCxn id="61444" idx="0"/>
          </p:cNvCxnSpPr>
          <p:nvPr/>
        </p:nvCxnSpPr>
        <p:spPr bwMode="auto">
          <a:xfrm rot="5400000">
            <a:off x="2282825" y="2603500"/>
            <a:ext cx="506413" cy="303213"/>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cxnSp>
        <p:nvCxnSpPr>
          <p:cNvPr id="61447" name="AutoShape 10">
            <a:extLst>
              <a:ext uri="{FF2B5EF4-FFF2-40B4-BE49-F238E27FC236}">
                <a16:creationId xmlns:a16="http://schemas.microsoft.com/office/drawing/2014/main" id="{AF849481-3A9E-FCF5-3BC0-DB3298000B1E}"/>
              </a:ext>
            </a:extLst>
          </p:cNvPr>
          <p:cNvCxnSpPr>
            <a:cxnSpLocks noChangeShapeType="1"/>
            <a:stCxn id="61445" idx="3"/>
            <a:endCxn id="61442" idx="0"/>
          </p:cNvCxnSpPr>
          <p:nvPr/>
        </p:nvCxnSpPr>
        <p:spPr bwMode="auto">
          <a:xfrm rot="16200000" flipH="1">
            <a:off x="3289300" y="1900238"/>
            <a:ext cx="506413" cy="1709737"/>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61448" name="Line 11">
            <a:extLst>
              <a:ext uri="{FF2B5EF4-FFF2-40B4-BE49-F238E27FC236}">
                <a16:creationId xmlns:a16="http://schemas.microsoft.com/office/drawing/2014/main" id="{9A93615D-A10E-5342-D187-56204059C44E}"/>
              </a:ext>
            </a:extLst>
          </p:cNvPr>
          <p:cNvSpPr>
            <a:spLocks noChangeShapeType="1"/>
          </p:cNvSpPr>
          <p:nvPr/>
        </p:nvSpPr>
        <p:spPr bwMode="auto">
          <a:xfrm>
            <a:off x="1481138" y="1630363"/>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49" name="Line 12">
            <a:extLst>
              <a:ext uri="{FF2B5EF4-FFF2-40B4-BE49-F238E27FC236}">
                <a16:creationId xmlns:a16="http://schemas.microsoft.com/office/drawing/2014/main" id="{1CCC782B-9D68-BD49-AF21-BA64FDFDA277}"/>
              </a:ext>
            </a:extLst>
          </p:cNvPr>
          <p:cNvSpPr>
            <a:spLocks noChangeShapeType="1"/>
          </p:cNvSpPr>
          <p:nvPr/>
        </p:nvSpPr>
        <p:spPr bwMode="auto">
          <a:xfrm>
            <a:off x="1497013" y="1576388"/>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0" name="Line 13">
            <a:extLst>
              <a:ext uri="{FF2B5EF4-FFF2-40B4-BE49-F238E27FC236}">
                <a16:creationId xmlns:a16="http://schemas.microsoft.com/office/drawing/2014/main" id="{7502626D-630A-3BDB-27D5-91E27F3F0C00}"/>
              </a:ext>
            </a:extLst>
          </p:cNvPr>
          <p:cNvSpPr>
            <a:spLocks noChangeShapeType="1"/>
          </p:cNvSpPr>
          <p:nvPr/>
        </p:nvSpPr>
        <p:spPr bwMode="auto">
          <a:xfrm>
            <a:off x="1582738" y="3322638"/>
            <a:ext cx="16557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1" name="Line 14">
            <a:extLst>
              <a:ext uri="{FF2B5EF4-FFF2-40B4-BE49-F238E27FC236}">
                <a16:creationId xmlns:a16="http://schemas.microsoft.com/office/drawing/2014/main" id="{A278ABD9-6E79-1E52-3F32-BE8A13A555A7}"/>
              </a:ext>
            </a:extLst>
          </p:cNvPr>
          <p:cNvSpPr>
            <a:spLocks noChangeShapeType="1"/>
          </p:cNvSpPr>
          <p:nvPr/>
        </p:nvSpPr>
        <p:spPr bwMode="auto">
          <a:xfrm>
            <a:off x="1582738" y="3395663"/>
            <a:ext cx="16557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2" name="Line 15">
            <a:extLst>
              <a:ext uri="{FF2B5EF4-FFF2-40B4-BE49-F238E27FC236}">
                <a16:creationId xmlns:a16="http://schemas.microsoft.com/office/drawing/2014/main" id="{53099EA5-0AB6-6D2F-DF0D-2C8CE0D5D9DE}"/>
              </a:ext>
            </a:extLst>
          </p:cNvPr>
          <p:cNvSpPr>
            <a:spLocks noChangeShapeType="1"/>
          </p:cNvSpPr>
          <p:nvPr/>
        </p:nvSpPr>
        <p:spPr bwMode="auto">
          <a:xfrm>
            <a:off x="3575050" y="3386138"/>
            <a:ext cx="16557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3" name="Line 16">
            <a:extLst>
              <a:ext uri="{FF2B5EF4-FFF2-40B4-BE49-F238E27FC236}">
                <a16:creationId xmlns:a16="http://schemas.microsoft.com/office/drawing/2014/main" id="{40957892-3599-9DD0-9030-811076011DA6}"/>
              </a:ext>
            </a:extLst>
          </p:cNvPr>
          <p:cNvSpPr>
            <a:spLocks noChangeShapeType="1"/>
          </p:cNvSpPr>
          <p:nvPr/>
        </p:nvSpPr>
        <p:spPr bwMode="auto">
          <a:xfrm>
            <a:off x="3543300" y="3459163"/>
            <a:ext cx="16557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54" name="TextBox 19">
            <a:extLst>
              <a:ext uri="{FF2B5EF4-FFF2-40B4-BE49-F238E27FC236}">
                <a16:creationId xmlns:a16="http://schemas.microsoft.com/office/drawing/2014/main" id="{8BABC537-320E-A884-4C03-81FE28D63AC8}"/>
              </a:ext>
            </a:extLst>
          </p:cNvPr>
          <p:cNvSpPr txBox="1">
            <a:spLocks noChangeArrowheads="1"/>
          </p:cNvSpPr>
          <p:nvPr/>
        </p:nvSpPr>
        <p:spPr bwMode="auto">
          <a:xfrm>
            <a:off x="709613" y="5470525"/>
            <a:ext cx="40449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a:t>break(){..//reduces speed 5unit/sec}</a:t>
            </a:r>
          </a:p>
          <a:p>
            <a:pPr>
              <a:spcBef>
                <a:spcPct val="0"/>
              </a:spcBef>
              <a:buClrTx/>
              <a:buSzTx/>
              <a:buFontTx/>
              <a:buNone/>
            </a:pPr>
            <a:r>
              <a:rPr lang="en-US" altLang="tr-TR" sz="1800"/>
              <a:t>accelerate(){..//speeds up 7 units/sec}</a:t>
            </a:r>
          </a:p>
        </p:txBody>
      </p:sp>
      <p:sp>
        <p:nvSpPr>
          <p:cNvPr id="61455" name="TextBox 20">
            <a:extLst>
              <a:ext uri="{FF2B5EF4-FFF2-40B4-BE49-F238E27FC236}">
                <a16:creationId xmlns:a16="http://schemas.microsoft.com/office/drawing/2014/main" id="{049F52CD-005C-1345-C9AE-854606449E3C}"/>
              </a:ext>
            </a:extLst>
          </p:cNvPr>
          <p:cNvSpPr txBox="1">
            <a:spLocks noChangeArrowheads="1"/>
          </p:cNvSpPr>
          <p:nvPr/>
        </p:nvSpPr>
        <p:spPr bwMode="auto">
          <a:xfrm>
            <a:off x="4408488" y="4267200"/>
            <a:ext cx="45704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dirty="0"/>
              <a:t>break(){..//uses ABS }</a:t>
            </a:r>
          </a:p>
          <a:p>
            <a:pPr>
              <a:spcBef>
                <a:spcPct val="0"/>
              </a:spcBef>
              <a:buClrTx/>
              <a:buSzTx/>
              <a:buFontTx/>
              <a:buNone/>
            </a:pPr>
            <a:r>
              <a:rPr lang="en-US" altLang="tr-TR" sz="1800" dirty="0"/>
              <a:t>accelerate(){..//smart speeds up}</a:t>
            </a:r>
          </a:p>
        </p:txBody>
      </p:sp>
      <p:cxnSp>
        <p:nvCxnSpPr>
          <p:cNvPr id="61456" name="Straight Connector 22">
            <a:extLst>
              <a:ext uri="{FF2B5EF4-FFF2-40B4-BE49-F238E27FC236}">
                <a16:creationId xmlns:a16="http://schemas.microsoft.com/office/drawing/2014/main" id="{383F0B26-F37A-F5AE-C77C-72BAB2403826}"/>
              </a:ext>
            </a:extLst>
          </p:cNvPr>
          <p:cNvCxnSpPr>
            <a:cxnSpLocks noChangeShapeType="1"/>
            <a:stCxn id="61454" idx="1"/>
            <a:endCxn id="61444" idx="1"/>
          </p:cNvCxnSpPr>
          <p:nvPr/>
        </p:nvCxnSpPr>
        <p:spPr bwMode="auto">
          <a:xfrm rot="10800000" flipH="1">
            <a:off x="709613" y="3475038"/>
            <a:ext cx="873125" cy="2319337"/>
          </a:xfrm>
          <a:prstGeom prst="line">
            <a:avLst/>
          </a:prstGeom>
          <a:noFill/>
          <a:ln w="9525" algn="ctr">
            <a:solidFill>
              <a:schemeClr val="tx1"/>
            </a:solidFill>
            <a:prstDash val="dash"/>
            <a:round/>
            <a:headEnd/>
            <a:tailEnd type="triangle" w="med" len="med"/>
          </a:ln>
          <a:extLst>
            <a:ext uri="{909E8E84-426E-40DD-AFC4-6F175D3DCCD1}">
              <a14:hiddenFill xmlns:a14="http://schemas.microsoft.com/office/drawing/2010/main">
                <a:noFill/>
              </a14:hiddenFill>
            </a:ext>
          </a:extLst>
        </p:spPr>
      </p:cxnSp>
      <p:cxnSp>
        <p:nvCxnSpPr>
          <p:cNvPr id="61457" name="Straight Connector 23">
            <a:extLst>
              <a:ext uri="{FF2B5EF4-FFF2-40B4-BE49-F238E27FC236}">
                <a16:creationId xmlns:a16="http://schemas.microsoft.com/office/drawing/2014/main" id="{093CA2EB-074D-23E6-6D26-C83FB9405DF3}"/>
              </a:ext>
            </a:extLst>
          </p:cNvPr>
          <p:cNvCxnSpPr>
            <a:cxnSpLocks noChangeShapeType="1"/>
            <a:stCxn id="61455" idx="0"/>
            <a:endCxn id="61442" idx="3"/>
          </p:cNvCxnSpPr>
          <p:nvPr/>
        </p:nvCxnSpPr>
        <p:spPr bwMode="auto">
          <a:xfrm flipH="1" flipV="1">
            <a:off x="5265738" y="3537744"/>
            <a:ext cx="1427956" cy="729456"/>
          </a:xfrm>
          <a:prstGeom prst="line">
            <a:avLst/>
          </a:prstGeom>
          <a:noFill/>
          <a:ln w="9525" algn="ctr">
            <a:solidFill>
              <a:schemeClr val="tx1"/>
            </a:solidFill>
            <a:prstDash val="dash"/>
            <a:round/>
            <a:headEnd/>
            <a:tailEnd type="triangle" w="med" len="med"/>
          </a:ln>
          <a:extLst>
            <a:ext uri="{909E8E84-426E-40DD-AFC4-6F175D3DCCD1}">
              <a14:hiddenFill xmlns:a14="http://schemas.microsoft.com/office/drawing/2010/main">
                <a:noFill/>
              </a14:hiddenFill>
            </a:ext>
          </a:extLst>
        </p:spPr>
      </p:cxnSp>
      <p:sp>
        <p:nvSpPr>
          <p:cNvPr id="27" name="Snip Single Corner Rectangle 26">
            <a:extLst>
              <a:ext uri="{FF2B5EF4-FFF2-40B4-BE49-F238E27FC236}">
                <a16:creationId xmlns:a16="http://schemas.microsoft.com/office/drawing/2014/main" id="{A64C9BFF-DF77-46B9-A314-5C27FFAAD7A7}"/>
              </a:ext>
            </a:extLst>
          </p:cNvPr>
          <p:cNvSpPr/>
          <p:nvPr/>
        </p:nvSpPr>
        <p:spPr bwMode="auto">
          <a:xfrm>
            <a:off x="4287838" y="4271963"/>
            <a:ext cx="4430712" cy="724693"/>
          </a:xfrm>
          <a:prstGeom prst="snip1Rect">
            <a:avLst/>
          </a:prstGeom>
          <a:noFill/>
          <a:ln w="9525" cap="flat" cmpd="sng" algn="ctr">
            <a:solidFill>
              <a:schemeClr val="tx1"/>
            </a:solidFill>
            <a:prstDash val="solid"/>
            <a:round/>
            <a:headEnd type="none" w="med" len="med"/>
            <a:tailEnd type="triangle" w="med" len="med"/>
          </a:ln>
          <a:effectLst/>
        </p:spPr>
        <p:txBody>
          <a:bodyPr/>
          <a:lstStyle/>
          <a:p>
            <a:pPr>
              <a:defRPr/>
            </a:pPr>
            <a:endParaRPr lang="en-US">
              <a:latin typeface="Arial" charset="0"/>
            </a:endParaRPr>
          </a:p>
        </p:txBody>
      </p:sp>
      <p:sp>
        <p:nvSpPr>
          <p:cNvPr id="29" name="Snip Single Corner Rectangle 28">
            <a:extLst>
              <a:ext uri="{FF2B5EF4-FFF2-40B4-BE49-F238E27FC236}">
                <a16:creationId xmlns:a16="http://schemas.microsoft.com/office/drawing/2014/main" id="{CB23366F-788B-415F-A58B-46F2B7652C96}"/>
              </a:ext>
            </a:extLst>
          </p:cNvPr>
          <p:cNvSpPr/>
          <p:nvPr/>
        </p:nvSpPr>
        <p:spPr bwMode="auto">
          <a:xfrm>
            <a:off x="657225" y="5418138"/>
            <a:ext cx="4040188" cy="698500"/>
          </a:xfrm>
          <a:prstGeom prst="snip1Rect">
            <a:avLst/>
          </a:prstGeom>
          <a:noFill/>
          <a:ln w="9525" cap="flat" cmpd="sng" algn="ctr">
            <a:solidFill>
              <a:schemeClr val="tx1"/>
            </a:solidFill>
            <a:prstDash val="solid"/>
            <a:round/>
            <a:headEnd type="none" w="med" len="med"/>
            <a:tailEnd type="triangle" w="med" len="med"/>
          </a:ln>
          <a:effectLst/>
        </p:spPr>
        <p:txBody>
          <a:bodyPr/>
          <a:lstStyle/>
          <a:p>
            <a:pPr>
              <a:defRPr/>
            </a:pPr>
            <a:endParaRPr lang="en-US">
              <a:latin typeface="Arial" charset="0"/>
            </a:endParaRPr>
          </a:p>
        </p:txBody>
      </p:sp>
      <p:sp>
        <p:nvSpPr>
          <p:cNvPr id="61460" name="Rectangle 5">
            <a:extLst>
              <a:ext uri="{FF2B5EF4-FFF2-40B4-BE49-F238E27FC236}">
                <a16:creationId xmlns:a16="http://schemas.microsoft.com/office/drawing/2014/main" id="{53A674F8-4ED3-EB11-F2B1-8FB1CC2DD77F}"/>
              </a:ext>
            </a:extLst>
          </p:cNvPr>
          <p:cNvSpPr>
            <a:spLocks noChangeArrowheads="1"/>
          </p:cNvSpPr>
          <p:nvPr/>
        </p:nvSpPr>
        <p:spPr bwMode="auto">
          <a:xfrm>
            <a:off x="6088063" y="3068638"/>
            <a:ext cx="1738312" cy="10588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dirty="0">
                <a:solidFill>
                  <a:schemeClr val="accent1"/>
                </a:solidFill>
                <a:latin typeface="Tahoma" panose="020B0604030504040204" pitchFamily="34" charset="0"/>
              </a:rPr>
              <a:t>EV</a:t>
            </a:r>
          </a:p>
          <a:p>
            <a:pPr>
              <a:spcBef>
                <a:spcPct val="0"/>
              </a:spcBef>
              <a:buClrTx/>
              <a:buSzTx/>
              <a:buFontTx/>
              <a:buNone/>
            </a:pPr>
            <a:r>
              <a:rPr lang="en-US" altLang="tr-TR" sz="1800" dirty="0">
                <a:solidFill>
                  <a:schemeClr val="accent1"/>
                </a:solidFill>
                <a:latin typeface="Tahoma" panose="020B0604030504040204" pitchFamily="34" charset="0"/>
              </a:rPr>
              <a:t>+break</a:t>
            </a:r>
            <a:r>
              <a:rPr lang="en-US" altLang="tr-TR" sz="1800" dirty="0">
                <a:solidFill>
                  <a:schemeClr val="accent1"/>
                </a:solidFill>
                <a:latin typeface="Tahoma" panose="020B0604030504040204" pitchFamily="34" charset="0"/>
                <a:sym typeface="Wingdings" panose="05000000000000000000" pitchFamily="2" charset="2"/>
              </a:rPr>
              <a:t>()</a:t>
            </a:r>
          </a:p>
          <a:p>
            <a:pPr>
              <a:spcBef>
                <a:spcPct val="0"/>
              </a:spcBef>
              <a:buClrTx/>
              <a:buSzTx/>
              <a:buFontTx/>
              <a:buNone/>
            </a:pPr>
            <a:r>
              <a:rPr lang="en-US" altLang="tr-TR" sz="1800" dirty="0">
                <a:solidFill>
                  <a:schemeClr val="accent1"/>
                </a:solidFill>
                <a:latin typeface="Tahoma" panose="020B0604030504040204" pitchFamily="34" charset="0"/>
                <a:sym typeface="Wingdings" panose="05000000000000000000" pitchFamily="2" charset="2"/>
              </a:rPr>
              <a:t>+accelerate()</a:t>
            </a:r>
            <a:endParaRPr lang="en-US" altLang="tr-TR" sz="1800" dirty="0">
              <a:solidFill>
                <a:schemeClr val="accent1"/>
              </a:solidFill>
              <a:latin typeface="Tahoma" panose="020B0604030504040204" pitchFamily="34" charset="0"/>
            </a:endParaRPr>
          </a:p>
        </p:txBody>
      </p:sp>
      <p:cxnSp>
        <p:nvCxnSpPr>
          <p:cNvPr id="61461" name="AutoShape 10">
            <a:extLst>
              <a:ext uri="{FF2B5EF4-FFF2-40B4-BE49-F238E27FC236}">
                <a16:creationId xmlns:a16="http://schemas.microsoft.com/office/drawing/2014/main" id="{2BA7CFEC-ACFB-205B-A5BB-8C83707A37D2}"/>
              </a:ext>
            </a:extLst>
          </p:cNvPr>
          <p:cNvCxnSpPr>
            <a:cxnSpLocks noChangeShapeType="1"/>
            <a:stCxn id="61445" idx="3"/>
            <a:endCxn id="61460" idx="0"/>
          </p:cNvCxnSpPr>
          <p:nvPr/>
        </p:nvCxnSpPr>
        <p:spPr bwMode="auto">
          <a:xfrm rot="16200000" flipH="1">
            <a:off x="4539059" y="650478"/>
            <a:ext cx="566738" cy="4269581"/>
          </a:xfrm>
          <a:prstGeom prst="bentConnector3">
            <a:avLst>
              <a:gd name="adj1" fmla="val 50000"/>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2" name="Line 16">
            <a:extLst>
              <a:ext uri="{FF2B5EF4-FFF2-40B4-BE49-F238E27FC236}">
                <a16:creationId xmlns:a16="http://schemas.microsoft.com/office/drawing/2014/main" id="{79EC9167-B9C1-5C8C-4C3F-1CA1C9DFCFB6}"/>
              </a:ext>
            </a:extLst>
          </p:cNvPr>
          <p:cNvSpPr>
            <a:spLocks noChangeShapeType="1"/>
          </p:cNvSpPr>
          <p:nvPr/>
        </p:nvSpPr>
        <p:spPr bwMode="auto">
          <a:xfrm>
            <a:off x="6129337" y="3459163"/>
            <a:ext cx="16557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 name="Line 16">
            <a:extLst>
              <a:ext uri="{FF2B5EF4-FFF2-40B4-BE49-F238E27FC236}">
                <a16:creationId xmlns:a16="http://schemas.microsoft.com/office/drawing/2014/main" id="{053C4552-3E72-2F02-5265-08C3373AE71C}"/>
              </a:ext>
            </a:extLst>
          </p:cNvPr>
          <p:cNvSpPr>
            <a:spLocks noChangeShapeType="1"/>
          </p:cNvSpPr>
          <p:nvPr/>
        </p:nvSpPr>
        <p:spPr bwMode="auto">
          <a:xfrm>
            <a:off x="6129337" y="3489326"/>
            <a:ext cx="16557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 name="Title 3">
            <a:extLst>
              <a:ext uri="{FF2B5EF4-FFF2-40B4-BE49-F238E27FC236}">
                <a16:creationId xmlns:a16="http://schemas.microsoft.com/office/drawing/2014/main" id="{424304F4-28A0-CAC2-1693-555B5CBD125F}"/>
              </a:ext>
            </a:extLst>
          </p:cNvPr>
          <p:cNvSpPr>
            <a:spLocks noGrp="1"/>
          </p:cNvSpPr>
          <p:nvPr>
            <p:ph type="title"/>
          </p:nvPr>
        </p:nvSpPr>
        <p:spPr/>
        <p:txBody>
          <a:bodyPr/>
          <a:lstStyle/>
          <a:p>
            <a:r>
              <a:rPr lang="en-US" dirty="0"/>
              <a:t>Alternative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6">
            <a:extLst>
              <a:ext uri="{FF2B5EF4-FFF2-40B4-BE49-F238E27FC236}">
                <a16:creationId xmlns:a16="http://schemas.microsoft.com/office/drawing/2014/main" id="{22E4AF84-0615-0E8B-ADD4-5A8AE335A522}"/>
              </a:ext>
            </a:extLst>
          </p:cNvPr>
          <p:cNvSpPr>
            <a:spLocks noChangeArrowheads="1"/>
          </p:cNvSpPr>
          <p:nvPr/>
        </p:nvSpPr>
        <p:spPr bwMode="auto">
          <a:xfrm>
            <a:off x="2553766" y="1459384"/>
            <a:ext cx="2159000" cy="8921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a:solidFill>
                  <a:schemeClr val="accent1"/>
                </a:solidFill>
                <a:latin typeface="Tahoma" panose="020B0604030504040204" pitchFamily="34" charset="0"/>
              </a:rPr>
              <a:t>Car</a:t>
            </a:r>
          </a:p>
          <a:p>
            <a:pPr>
              <a:spcBef>
                <a:spcPct val="0"/>
              </a:spcBef>
              <a:buClrTx/>
              <a:buSzTx/>
              <a:buFontTx/>
              <a:buNone/>
            </a:pPr>
            <a:r>
              <a:rPr lang="en-US" altLang="tr-TR" sz="1800">
                <a:solidFill>
                  <a:schemeClr val="accent1"/>
                </a:solidFill>
                <a:latin typeface="Tahoma" panose="020B0604030504040204" pitchFamily="34" charset="0"/>
              </a:rPr>
              <a:t>+break</a:t>
            </a:r>
            <a:r>
              <a:rPr lang="en-US" altLang="tr-TR" sz="1800">
                <a:solidFill>
                  <a:schemeClr val="accent1"/>
                </a:solidFill>
                <a:latin typeface="Tahoma" panose="020B0604030504040204" pitchFamily="34" charset="0"/>
                <a:sym typeface="Wingdings" panose="05000000000000000000" pitchFamily="2" charset="2"/>
              </a:rPr>
              <a:t>()</a:t>
            </a:r>
          </a:p>
          <a:p>
            <a:pPr>
              <a:spcBef>
                <a:spcPct val="0"/>
              </a:spcBef>
              <a:buClrTx/>
              <a:buSzTx/>
              <a:buFontTx/>
              <a:buNone/>
            </a:pPr>
            <a:r>
              <a:rPr lang="en-US" altLang="tr-TR" sz="1800">
                <a:solidFill>
                  <a:schemeClr val="accent1"/>
                </a:solidFill>
                <a:latin typeface="Tahoma" panose="020B0604030504040204" pitchFamily="34" charset="0"/>
                <a:sym typeface="Wingdings" panose="05000000000000000000" pitchFamily="2" charset="2"/>
              </a:rPr>
              <a:t>+accelerate()</a:t>
            </a:r>
            <a:endParaRPr lang="en-US" altLang="tr-TR" sz="1800">
              <a:solidFill>
                <a:schemeClr val="accent1"/>
              </a:solidFill>
              <a:latin typeface="Tahoma" panose="020B0604030504040204" pitchFamily="34" charset="0"/>
            </a:endParaRPr>
          </a:p>
        </p:txBody>
      </p:sp>
      <p:sp>
        <p:nvSpPr>
          <p:cNvPr id="65539" name="Line 11">
            <a:extLst>
              <a:ext uri="{FF2B5EF4-FFF2-40B4-BE49-F238E27FC236}">
                <a16:creationId xmlns:a16="http://schemas.microsoft.com/office/drawing/2014/main" id="{4B0B231A-E91C-C381-2126-E4FBFBE90528}"/>
              </a:ext>
            </a:extLst>
          </p:cNvPr>
          <p:cNvSpPr>
            <a:spLocks noChangeShapeType="1"/>
          </p:cNvSpPr>
          <p:nvPr/>
        </p:nvSpPr>
        <p:spPr bwMode="auto">
          <a:xfrm>
            <a:off x="2553766" y="1780059"/>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40" name="Line 12">
            <a:extLst>
              <a:ext uri="{FF2B5EF4-FFF2-40B4-BE49-F238E27FC236}">
                <a16:creationId xmlns:a16="http://schemas.microsoft.com/office/drawing/2014/main" id="{437D0FD5-9C6B-0C0F-328A-F642031DE73F}"/>
              </a:ext>
            </a:extLst>
          </p:cNvPr>
          <p:cNvSpPr>
            <a:spLocks noChangeShapeType="1"/>
          </p:cNvSpPr>
          <p:nvPr/>
        </p:nvSpPr>
        <p:spPr bwMode="auto">
          <a:xfrm>
            <a:off x="2585516" y="1726084"/>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5541" name="Group 35">
            <a:extLst>
              <a:ext uri="{FF2B5EF4-FFF2-40B4-BE49-F238E27FC236}">
                <a16:creationId xmlns:a16="http://schemas.microsoft.com/office/drawing/2014/main" id="{EB25DE2F-C1D1-FDD5-7D33-B94158FC3C52}"/>
              </a:ext>
            </a:extLst>
          </p:cNvPr>
          <p:cNvGrpSpPr>
            <a:grpSpLocks/>
          </p:cNvGrpSpPr>
          <p:nvPr/>
        </p:nvGrpSpPr>
        <p:grpSpPr bwMode="auto">
          <a:xfrm>
            <a:off x="5082846" y="1408624"/>
            <a:ext cx="3805237" cy="2543175"/>
            <a:chOff x="4544247" y="1334815"/>
            <a:chExt cx="3806222" cy="2543503"/>
          </a:xfrm>
        </p:grpSpPr>
        <p:sp>
          <p:nvSpPr>
            <p:cNvPr id="65561" name="Rectangle 6">
              <a:extLst>
                <a:ext uri="{FF2B5EF4-FFF2-40B4-BE49-F238E27FC236}">
                  <a16:creationId xmlns:a16="http://schemas.microsoft.com/office/drawing/2014/main" id="{4AB12E1C-CFCC-5877-374D-1DABA615692C}"/>
                </a:ext>
              </a:extLst>
            </p:cNvPr>
            <p:cNvSpPr>
              <a:spLocks noChangeArrowheads="1"/>
            </p:cNvSpPr>
            <p:nvPr/>
          </p:nvSpPr>
          <p:spPr bwMode="auto">
            <a:xfrm>
              <a:off x="5526963" y="1334815"/>
              <a:ext cx="2159000" cy="8920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i="1">
                  <a:solidFill>
                    <a:schemeClr val="accent1"/>
                  </a:solidFill>
                  <a:latin typeface="Tahoma" panose="020B0604030504040204" pitchFamily="34" charset="0"/>
                </a:rPr>
                <a:t>Breaking</a:t>
              </a:r>
            </a:p>
            <a:p>
              <a:pPr>
                <a:spcBef>
                  <a:spcPct val="0"/>
                </a:spcBef>
                <a:buClrTx/>
                <a:buSzTx/>
                <a:buFontTx/>
                <a:buNone/>
              </a:pPr>
              <a:endParaRPr lang="en-US" altLang="tr-TR" sz="1800">
                <a:solidFill>
                  <a:schemeClr val="accent1"/>
                </a:solidFill>
                <a:latin typeface="Tahoma" panose="020B0604030504040204" pitchFamily="34" charset="0"/>
              </a:endParaRPr>
            </a:p>
            <a:p>
              <a:pPr>
                <a:spcBef>
                  <a:spcPct val="0"/>
                </a:spcBef>
                <a:buClrTx/>
                <a:buSzTx/>
                <a:buFontTx/>
                <a:buNone/>
              </a:pPr>
              <a:r>
                <a:rPr lang="en-US" altLang="tr-TR" sz="1800" i="1">
                  <a:solidFill>
                    <a:schemeClr val="accent1"/>
                  </a:solidFill>
                  <a:latin typeface="Tahoma" panose="020B0604030504040204" pitchFamily="34" charset="0"/>
                </a:rPr>
                <a:t>+break</a:t>
              </a:r>
              <a:r>
                <a:rPr lang="en-US" altLang="tr-TR" sz="1800" i="1">
                  <a:solidFill>
                    <a:schemeClr val="accent1"/>
                  </a:solidFill>
                  <a:latin typeface="Tahoma" panose="020B0604030504040204" pitchFamily="34" charset="0"/>
                  <a:sym typeface="Wingdings" panose="05000000000000000000" pitchFamily="2" charset="2"/>
                </a:rPr>
                <a:t>()</a:t>
              </a:r>
            </a:p>
          </p:txBody>
        </p:sp>
        <p:sp>
          <p:nvSpPr>
            <p:cNvPr id="65562" name="AutoShape 8">
              <a:extLst>
                <a:ext uri="{FF2B5EF4-FFF2-40B4-BE49-F238E27FC236}">
                  <a16:creationId xmlns:a16="http://schemas.microsoft.com/office/drawing/2014/main" id="{A49905AC-9864-F3FE-47EF-4D358DB0865D}"/>
                </a:ext>
              </a:extLst>
            </p:cNvPr>
            <p:cNvSpPr>
              <a:spLocks noChangeArrowheads="1"/>
            </p:cNvSpPr>
            <p:nvPr/>
          </p:nvSpPr>
          <p:spPr bwMode="auto">
            <a:xfrm>
              <a:off x="6535025" y="2225293"/>
              <a:ext cx="336550" cy="287338"/>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tr-TR" altLang="tr-TR" sz="1800"/>
            </a:p>
          </p:txBody>
        </p:sp>
        <p:sp>
          <p:nvSpPr>
            <p:cNvPr id="65563" name="Line 11">
              <a:extLst>
                <a:ext uri="{FF2B5EF4-FFF2-40B4-BE49-F238E27FC236}">
                  <a16:creationId xmlns:a16="http://schemas.microsoft.com/office/drawing/2014/main" id="{90320F63-10FF-90B0-F905-6A879974723C}"/>
                </a:ext>
              </a:extLst>
            </p:cNvPr>
            <p:cNvSpPr>
              <a:spLocks noChangeShapeType="1"/>
            </p:cNvSpPr>
            <p:nvPr/>
          </p:nvSpPr>
          <p:spPr bwMode="auto">
            <a:xfrm>
              <a:off x="5495434" y="1719812"/>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4" name="Line 12">
              <a:extLst>
                <a:ext uri="{FF2B5EF4-FFF2-40B4-BE49-F238E27FC236}">
                  <a16:creationId xmlns:a16="http://schemas.microsoft.com/office/drawing/2014/main" id="{71B6CA9E-9C29-C7A5-6221-0D732F35B3E1}"/>
                </a:ext>
              </a:extLst>
            </p:cNvPr>
            <p:cNvSpPr>
              <a:spLocks noChangeShapeType="1"/>
            </p:cNvSpPr>
            <p:nvPr/>
          </p:nvSpPr>
          <p:spPr bwMode="auto">
            <a:xfrm>
              <a:off x="5511199" y="1822780"/>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5565" name="Group 22">
              <a:extLst>
                <a:ext uri="{FF2B5EF4-FFF2-40B4-BE49-F238E27FC236}">
                  <a16:creationId xmlns:a16="http://schemas.microsoft.com/office/drawing/2014/main" id="{16E6EEE3-519C-B67B-9CDC-575843B98D99}"/>
                </a:ext>
              </a:extLst>
            </p:cNvPr>
            <p:cNvGrpSpPr>
              <a:grpSpLocks/>
            </p:cNvGrpSpPr>
            <p:nvPr/>
          </p:nvGrpSpPr>
          <p:grpSpPr bwMode="auto">
            <a:xfrm>
              <a:off x="4544247" y="3095298"/>
              <a:ext cx="1604305" cy="783020"/>
              <a:chOff x="3755972" y="3079532"/>
              <a:chExt cx="2169506" cy="783020"/>
            </a:xfrm>
          </p:grpSpPr>
          <p:sp>
            <p:nvSpPr>
              <p:cNvPr id="65572" name="Rectangle 6">
                <a:extLst>
                  <a:ext uri="{FF2B5EF4-FFF2-40B4-BE49-F238E27FC236}">
                    <a16:creationId xmlns:a16="http://schemas.microsoft.com/office/drawing/2014/main" id="{CF348BDC-22B0-8DAC-C282-5B9B02F7B0FE}"/>
                  </a:ext>
                </a:extLst>
              </p:cNvPr>
              <p:cNvSpPr>
                <a:spLocks noChangeArrowheads="1"/>
              </p:cNvSpPr>
              <p:nvPr/>
            </p:nvSpPr>
            <p:spPr bwMode="auto">
              <a:xfrm>
                <a:off x="3771736" y="3079532"/>
                <a:ext cx="2140333" cy="7830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a:solidFill>
                      <a:schemeClr val="accent1"/>
                    </a:solidFill>
                    <a:latin typeface="Tahoma" panose="020B0604030504040204" pitchFamily="34" charset="0"/>
                  </a:rPr>
                  <a:t>Break1</a:t>
                </a:r>
              </a:p>
              <a:p>
                <a:pPr>
                  <a:spcBef>
                    <a:spcPct val="0"/>
                  </a:spcBef>
                  <a:buClrTx/>
                  <a:buSzTx/>
                  <a:buFontTx/>
                  <a:buNone/>
                </a:pPr>
                <a:r>
                  <a:rPr lang="en-US" altLang="tr-TR" sz="1800">
                    <a:solidFill>
                      <a:schemeClr val="accent1"/>
                    </a:solidFill>
                    <a:latin typeface="Tahoma" panose="020B0604030504040204" pitchFamily="34" charset="0"/>
                  </a:rPr>
                  <a:t>+break</a:t>
                </a:r>
                <a:r>
                  <a:rPr lang="en-US" altLang="tr-TR" sz="1800">
                    <a:solidFill>
                      <a:schemeClr val="accent1"/>
                    </a:solidFill>
                    <a:latin typeface="Tahoma" panose="020B0604030504040204" pitchFamily="34" charset="0"/>
                    <a:sym typeface="Wingdings" panose="05000000000000000000" pitchFamily="2" charset="2"/>
                  </a:rPr>
                  <a:t>()</a:t>
                </a:r>
              </a:p>
            </p:txBody>
          </p:sp>
          <p:sp>
            <p:nvSpPr>
              <p:cNvPr id="65573" name="Line 12">
                <a:extLst>
                  <a:ext uri="{FF2B5EF4-FFF2-40B4-BE49-F238E27FC236}">
                    <a16:creationId xmlns:a16="http://schemas.microsoft.com/office/drawing/2014/main" id="{290BCF19-9C06-FCED-F348-E3525C2B40FD}"/>
                  </a:ext>
                </a:extLst>
              </p:cNvPr>
              <p:cNvSpPr>
                <a:spLocks noChangeShapeType="1"/>
              </p:cNvSpPr>
              <p:nvPr/>
            </p:nvSpPr>
            <p:spPr bwMode="auto">
              <a:xfrm>
                <a:off x="3755972" y="3425607"/>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74" name="Line 12">
                <a:extLst>
                  <a:ext uri="{FF2B5EF4-FFF2-40B4-BE49-F238E27FC236}">
                    <a16:creationId xmlns:a16="http://schemas.microsoft.com/office/drawing/2014/main" id="{DB093BBA-4D8E-46AF-4A34-86B5056DA65D}"/>
                  </a:ext>
                </a:extLst>
              </p:cNvPr>
              <p:cNvSpPr>
                <a:spLocks noChangeShapeType="1"/>
              </p:cNvSpPr>
              <p:nvPr/>
            </p:nvSpPr>
            <p:spPr bwMode="auto">
              <a:xfrm>
                <a:off x="3766478" y="3499177"/>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5566" name="Group 23">
              <a:extLst>
                <a:ext uri="{FF2B5EF4-FFF2-40B4-BE49-F238E27FC236}">
                  <a16:creationId xmlns:a16="http://schemas.microsoft.com/office/drawing/2014/main" id="{E8BD1998-2404-B78A-E471-33ECDE187F9C}"/>
                </a:ext>
              </a:extLst>
            </p:cNvPr>
            <p:cNvGrpSpPr>
              <a:grpSpLocks/>
            </p:cNvGrpSpPr>
            <p:nvPr/>
          </p:nvGrpSpPr>
          <p:grpSpPr bwMode="auto">
            <a:xfrm>
              <a:off x="6746164" y="3090042"/>
              <a:ext cx="1604305" cy="783020"/>
              <a:chOff x="3755972" y="3079532"/>
              <a:chExt cx="2169506" cy="783020"/>
            </a:xfrm>
          </p:grpSpPr>
          <p:sp>
            <p:nvSpPr>
              <p:cNvPr id="65569" name="Rectangle 6">
                <a:extLst>
                  <a:ext uri="{FF2B5EF4-FFF2-40B4-BE49-F238E27FC236}">
                    <a16:creationId xmlns:a16="http://schemas.microsoft.com/office/drawing/2014/main" id="{48BD42C9-2911-D270-38B5-CDC0DEAAAF4A}"/>
                  </a:ext>
                </a:extLst>
              </p:cNvPr>
              <p:cNvSpPr>
                <a:spLocks noChangeArrowheads="1"/>
              </p:cNvSpPr>
              <p:nvPr/>
            </p:nvSpPr>
            <p:spPr bwMode="auto">
              <a:xfrm>
                <a:off x="3771736" y="3079532"/>
                <a:ext cx="2140333" cy="7830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a:solidFill>
                      <a:schemeClr val="accent1"/>
                    </a:solidFill>
                    <a:latin typeface="Tahoma" panose="020B0604030504040204" pitchFamily="34" charset="0"/>
                  </a:rPr>
                  <a:t>Break2</a:t>
                </a:r>
              </a:p>
              <a:p>
                <a:pPr>
                  <a:spcBef>
                    <a:spcPct val="0"/>
                  </a:spcBef>
                  <a:buClrTx/>
                  <a:buSzTx/>
                  <a:buFontTx/>
                  <a:buNone/>
                </a:pPr>
                <a:r>
                  <a:rPr lang="en-US" altLang="tr-TR" sz="1800">
                    <a:solidFill>
                      <a:schemeClr val="accent1"/>
                    </a:solidFill>
                    <a:latin typeface="Tahoma" panose="020B0604030504040204" pitchFamily="34" charset="0"/>
                  </a:rPr>
                  <a:t>+break</a:t>
                </a:r>
                <a:r>
                  <a:rPr lang="en-US" altLang="tr-TR" sz="1800">
                    <a:solidFill>
                      <a:schemeClr val="accent1"/>
                    </a:solidFill>
                    <a:latin typeface="Tahoma" panose="020B0604030504040204" pitchFamily="34" charset="0"/>
                    <a:sym typeface="Wingdings" panose="05000000000000000000" pitchFamily="2" charset="2"/>
                  </a:rPr>
                  <a:t>()</a:t>
                </a:r>
              </a:p>
            </p:txBody>
          </p:sp>
          <p:sp>
            <p:nvSpPr>
              <p:cNvPr id="65570" name="Line 12">
                <a:extLst>
                  <a:ext uri="{FF2B5EF4-FFF2-40B4-BE49-F238E27FC236}">
                    <a16:creationId xmlns:a16="http://schemas.microsoft.com/office/drawing/2014/main" id="{EF2D78AD-3D39-6CB5-905F-519F138C4254}"/>
                  </a:ext>
                </a:extLst>
              </p:cNvPr>
              <p:cNvSpPr>
                <a:spLocks noChangeShapeType="1"/>
              </p:cNvSpPr>
              <p:nvPr/>
            </p:nvSpPr>
            <p:spPr bwMode="auto">
              <a:xfrm>
                <a:off x="3755972" y="3425607"/>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71" name="Line 12">
                <a:extLst>
                  <a:ext uri="{FF2B5EF4-FFF2-40B4-BE49-F238E27FC236}">
                    <a16:creationId xmlns:a16="http://schemas.microsoft.com/office/drawing/2014/main" id="{6D9457FF-105C-FE77-5D98-CA952B141C7C}"/>
                  </a:ext>
                </a:extLst>
              </p:cNvPr>
              <p:cNvSpPr>
                <a:spLocks noChangeShapeType="1"/>
              </p:cNvSpPr>
              <p:nvPr/>
            </p:nvSpPr>
            <p:spPr bwMode="auto">
              <a:xfrm>
                <a:off x="3766478" y="3499177"/>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65567" name="Elbow Connector 28">
              <a:extLst>
                <a:ext uri="{FF2B5EF4-FFF2-40B4-BE49-F238E27FC236}">
                  <a16:creationId xmlns:a16="http://schemas.microsoft.com/office/drawing/2014/main" id="{B3520BD4-A6E4-D9FC-FCC0-EBDE62CE53C7}"/>
                </a:ext>
              </a:extLst>
            </p:cNvPr>
            <p:cNvCxnSpPr>
              <a:cxnSpLocks noChangeShapeType="1"/>
              <a:stCxn id="65562" idx="3"/>
              <a:endCxn id="65572" idx="0"/>
            </p:cNvCxnSpPr>
            <p:nvPr/>
          </p:nvCxnSpPr>
          <p:spPr bwMode="auto">
            <a:xfrm rot="5400000">
              <a:off x="5733952" y="2125949"/>
              <a:ext cx="582667" cy="1356030"/>
            </a:xfrm>
            <a:prstGeom prst="bentConnector3">
              <a:avLst>
                <a:gd name="adj1" fmla="val 50000"/>
              </a:avLst>
            </a:prstGeom>
            <a:noFill/>
            <a:ln w="9525" algn="ctr">
              <a:solidFill>
                <a:schemeClr val="tx1"/>
              </a:solidFill>
              <a:prstDash val="dash"/>
              <a:round/>
              <a:headEnd/>
              <a:tailEnd type="none" w="med" len="med"/>
            </a:ln>
            <a:extLst>
              <a:ext uri="{909E8E84-426E-40DD-AFC4-6F175D3DCCD1}">
                <a14:hiddenFill xmlns:a14="http://schemas.microsoft.com/office/drawing/2010/main">
                  <a:noFill/>
                </a14:hiddenFill>
              </a:ext>
            </a:extLst>
          </p:spPr>
        </p:cxnSp>
        <p:cxnSp>
          <p:nvCxnSpPr>
            <p:cNvPr id="65568" name="Elbow Connector 31">
              <a:extLst>
                <a:ext uri="{FF2B5EF4-FFF2-40B4-BE49-F238E27FC236}">
                  <a16:creationId xmlns:a16="http://schemas.microsoft.com/office/drawing/2014/main" id="{1BCB9C22-6417-36EE-010F-DCD03333102F}"/>
                </a:ext>
              </a:extLst>
            </p:cNvPr>
            <p:cNvCxnSpPr>
              <a:cxnSpLocks noChangeShapeType="1"/>
              <a:stCxn id="65562" idx="3"/>
              <a:endCxn id="65569" idx="0"/>
            </p:cNvCxnSpPr>
            <p:nvPr/>
          </p:nvCxnSpPr>
          <p:spPr bwMode="auto">
            <a:xfrm rot="16200000" flipH="1">
              <a:off x="6837538" y="2378392"/>
              <a:ext cx="577411" cy="845887"/>
            </a:xfrm>
            <a:prstGeom prst="bentConnector3">
              <a:avLst>
                <a:gd name="adj1" fmla="val 50000"/>
              </a:avLst>
            </a:prstGeom>
            <a:noFill/>
            <a:ln w="9525" algn="ctr">
              <a:solidFill>
                <a:schemeClr val="tx1"/>
              </a:solidFill>
              <a:prstDash val="dash"/>
              <a:round/>
              <a:headEnd/>
              <a:tailEnd type="none" w="med" len="med"/>
            </a:ln>
            <a:extLst>
              <a:ext uri="{909E8E84-426E-40DD-AFC4-6F175D3DCCD1}">
                <a14:hiddenFill xmlns:a14="http://schemas.microsoft.com/office/drawing/2010/main">
                  <a:noFill/>
                </a14:hiddenFill>
              </a:ext>
            </a:extLst>
          </p:spPr>
        </p:cxnSp>
      </p:grpSp>
      <p:cxnSp>
        <p:nvCxnSpPr>
          <p:cNvPr id="65542" name="Straight Arrow Connector 34">
            <a:extLst>
              <a:ext uri="{FF2B5EF4-FFF2-40B4-BE49-F238E27FC236}">
                <a16:creationId xmlns:a16="http://schemas.microsoft.com/office/drawing/2014/main" id="{03501461-C086-5330-4D92-09BDC4B82AB8}"/>
              </a:ext>
            </a:extLst>
          </p:cNvPr>
          <p:cNvCxnSpPr>
            <a:cxnSpLocks noChangeShapeType="1"/>
            <a:stCxn id="65538" idx="3"/>
            <a:endCxn id="65561" idx="1"/>
          </p:cNvCxnSpPr>
          <p:nvPr/>
        </p:nvCxnSpPr>
        <p:spPr bwMode="auto">
          <a:xfrm flipV="1">
            <a:off x="4712766" y="1854600"/>
            <a:ext cx="1352542" cy="50872"/>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nvGrpSpPr>
          <p:cNvPr id="65543" name="Group 36">
            <a:extLst>
              <a:ext uri="{FF2B5EF4-FFF2-40B4-BE49-F238E27FC236}">
                <a16:creationId xmlns:a16="http://schemas.microsoft.com/office/drawing/2014/main" id="{A1E14DD9-88DF-29CA-2F09-51A38EB908AA}"/>
              </a:ext>
            </a:extLst>
          </p:cNvPr>
          <p:cNvGrpSpPr>
            <a:grpSpLocks/>
          </p:cNvGrpSpPr>
          <p:nvPr/>
        </p:nvGrpSpPr>
        <p:grpSpPr bwMode="auto">
          <a:xfrm>
            <a:off x="4161895" y="4191881"/>
            <a:ext cx="3806825" cy="2543175"/>
            <a:chOff x="4544247" y="1334815"/>
            <a:chExt cx="3806222" cy="2543503"/>
          </a:xfrm>
        </p:grpSpPr>
        <p:sp>
          <p:nvSpPr>
            <p:cNvPr id="65547" name="Rectangle 6">
              <a:extLst>
                <a:ext uri="{FF2B5EF4-FFF2-40B4-BE49-F238E27FC236}">
                  <a16:creationId xmlns:a16="http://schemas.microsoft.com/office/drawing/2014/main" id="{47006D3A-8C35-42E3-6BE7-60729E8C0B0C}"/>
                </a:ext>
              </a:extLst>
            </p:cNvPr>
            <p:cNvSpPr>
              <a:spLocks noChangeArrowheads="1"/>
            </p:cNvSpPr>
            <p:nvPr/>
          </p:nvSpPr>
          <p:spPr bwMode="auto">
            <a:xfrm>
              <a:off x="5526963" y="1334815"/>
              <a:ext cx="2159000" cy="89206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i="1">
                  <a:solidFill>
                    <a:schemeClr val="accent1"/>
                  </a:solidFill>
                  <a:latin typeface="Tahoma" panose="020B0604030504040204" pitchFamily="34" charset="0"/>
                </a:rPr>
                <a:t>Accelarate</a:t>
              </a:r>
            </a:p>
            <a:p>
              <a:pPr>
                <a:spcBef>
                  <a:spcPct val="0"/>
                </a:spcBef>
                <a:buClrTx/>
                <a:buSzTx/>
                <a:buFontTx/>
                <a:buNone/>
              </a:pPr>
              <a:endParaRPr lang="en-US" altLang="tr-TR" sz="1800">
                <a:solidFill>
                  <a:schemeClr val="accent1"/>
                </a:solidFill>
                <a:latin typeface="Tahoma" panose="020B0604030504040204" pitchFamily="34" charset="0"/>
              </a:endParaRPr>
            </a:p>
            <a:p>
              <a:pPr>
                <a:spcBef>
                  <a:spcPct val="0"/>
                </a:spcBef>
                <a:buClrTx/>
                <a:buSzTx/>
                <a:buFontTx/>
                <a:buNone/>
              </a:pPr>
              <a:r>
                <a:rPr lang="en-US" altLang="tr-TR" sz="1800" i="1">
                  <a:solidFill>
                    <a:schemeClr val="accent1"/>
                  </a:solidFill>
                  <a:latin typeface="Tahoma" panose="020B0604030504040204" pitchFamily="34" charset="0"/>
                </a:rPr>
                <a:t>+accelerate</a:t>
              </a:r>
              <a:r>
                <a:rPr lang="en-US" altLang="tr-TR" sz="1800" i="1">
                  <a:solidFill>
                    <a:schemeClr val="accent1"/>
                  </a:solidFill>
                  <a:latin typeface="Tahoma" panose="020B0604030504040204" pitchFamily="34" charset="0"/>
                  <a:sym typeface="Wingdings" panose="05000000000000000000" pitchFamily="2" charset="2"/>
                </a:rPr>
                <a:t>()</a:t>
              </a:r>
            </a:p>
          </p:txBody>
        </p:sp>
        <p:sp>
          <p:nvSpPr>
            <p:cNvPr id="65548" name="AutoShape 8">
              <a:extLst>
                <a:ext uri="{FF2B5EF4-FFF2-40B4-BE49-F238E27FC236}">
                  <a16:creationId xmlns:a16="http://schemas.microsoft.com/office/drawing/2014/main" id="{DC058A03-4A23-C56C-0C81-6AADAB33491B}"/>
                </a:ext>
              </a:extLst>
            </p:cNvPr>
            <p:cNvSpPr>
              <a:spLocks noChangeArrowheads="1"/>
            </p:cNvSpPr>
            <p:nvPr/>
          </p:nvSpPr>
          <p:spPr bwMode="auto">
            <a:xfrm>
              <a:off x="6535025" y="2225293"/>
              <a:ext cx="336550" cy="287338"/>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endParaRPr lang="tr-TR" altLang="tr-TR" sz="1800"/>
            </a:p>
          </p:txBody>
        </p:sp>
        <p:sp>
          <p:nvSpPr>
            <p:cNvPr id="65549" name="Line 11">
              <a:extLst>
                <a:ext uri="{FF2B5EF4-FFF2-40B4-BE49-F238E27FC236}">
                  <a16:creationId xmlns:a16="http://schemas.microsoft.com/office/drawing/2014/main" id="{B47F2636-2000-2C30-FF0F-2809695707D2}"/>
                </a:ext>
              </a:extLst>
            </p:cNvPr>
            <p:cNvSpPr>
              <a:spLocks noChangeShapeType="1"/>
            </p:cNvSpPr>
            <p:nvPr/>
          </p:nvSpPr>
          <p:spPr bwMode="auto">
            <a:xfrm>
              <a:off x="5495434" y="1719812"/>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0" name="Line 12">
              <a:extLst>
                <a:ext uri="{FF2B5EF4-FFF2-40B4-BE49-F238E27FC236}">
                  <a16:creationId xmlns:a16="http://schemas.microsoft.com/office/drawing/2014/main" id="{756D9DB3-9670-B8FC-E44D-43739EF6AFA7}"/>
                </a:ext>
              </a:extLst>
            </p:cNvPr>
            <p:cNvSpPr>
              <a:spLocks noChangeShapeType="1"/>
            </p:cNvSpPr>
            <p:nvPr/>
          </p:nvSpPr>
          <p:spPr bwMode="auto">
            <a:xfrm>
              <a:off x="5511199" y="1822780"/>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5551" name="Group 22">
              <a:extLst>
                <a:ext uri="{FF2B5EF4-FFF2-40B4-BE49-F238E27FC236}">
                  <a16:creationId xmlns:a16="http://schemas.microsoft.com/office/drawing/2014/main" id="{067CF35D-79EE-BE36-BD22-9D8FDFCC5FA9}"/>
                </a:ext>
              </a:extLst>
            </p:cNvPr>
            <p:cNvGrpSpPr>
              <a:grpSpLocks/>
            </p:cNvGrpSpPr>
            <p:nvPr/>
          </p:nvGrpSpPr>
          <p:grpSpPr bwMode="auto">
            <a:xfrm>
              <a:off x="4544247" y="3095298"/>
              <a:ext cx="1604305" cy="783020"/>
              <a:chOff x="3755972" y="3079532"/>
              <a:chExt cx="2169506" cy="783020"/>
            </a:xfrm>
          </p:grpSpPr>
          <p:sp>
            <p:nvSpPr>
              <p:cNvPr id="65558" name="Rectangle 6">
                <a:extLst>
                  <a:ext uri="{FF2B5EF4-FFF2-40B4-BE49-F238E27FC236}">
                    <a16:creationId xmlns:a16="http://schemas.microsoft.com/office/drawing/2014/main" id="{4A843C8A-674F-1866-FE84-0B783F8804EA}"/>
                  </a:ext>
                </a:extLst>
              </p:cNvPr>
              <p:cNvSpPr>
                <a:spLocks noChangeArrowheads="1"/>
              </p:cNvSpPr>
              <p:nvPr/>
            </p:nvSpPr>
            <p:spPr bwMode="auto">
              <a:xfrm>
                <a:off x="3771736" y="3079532"/>
                <a:ext cx="2140333" cy="7830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a:solidFill>
                      <a:schemeClr val="accent1"/>
                    </a:solidFill>
                    <a:latin typeface="Tahoma" panose="020B0604030504040204" pitchFamily="34" charset="0"/>
                  </a:rPr>
                  <a:t>Accelarate1</a:t>
                </a:r>
              </a:p>
              <a:p>
                <a:pPr>
                  <a:spcBef>
                    <a:spcPct val="0"/>
                  </a:spcBef>
                  <a:buClrTx/>
                  <a:buSzTx/>
                  <a:buFontTx/>
                  <a:buNone/>
                </a:pPr>
                <a:r>
                  <a:rPr lang="en-US" altLang="tr-TR" sz="1800">
                    <a:solidFill>
                      <a:schemeClr val="accent1"/>
                    </a:solidFill>
                    <a:latin typeface="Tahoma" panose="020B0604030504040204" pitchFamily="34" charset="0"/>
                  </a:rPr>
                  <a:t>+accelerate</a:t>
                </a:r>
                <a:r>
                  <a:rPr lang="en-US" altLang="tr-TR" sz="1800">
                    <a:solidFill>
                      <a:schemeClr val="accent1"/>
                    </a:solidFill>
                    <a:latin typeface="Tahoma" panose="020B0604030504040204" pitchFamily="34" charset="0"/>
                    <a:sym typeface="Wingdings" panose="05000000000000000000" pitchFamily="2" charset="2"/>
                  </a:rPr>
                  <a:t>()</a:t>
                </a:r>
              </a:p>
            </p:txBody>
          </p:sp>
          <p:sp>
            <p:nvSpPr>
              <p:cNvPr id="65559" name="Line 12">
                <a:extLst>
                  <a:ext uri="{FF2B5EF4-FFF2-40B4-BE49-F238E27FC236}">
                    <a16:creationId xmlns:a16="http://schemas.microsoft.com/office/drawing/2014/main" id="{A2F7B5F3-7309-20AF-32AB-D0C752217D26}"/>
                  </a:ext>
                </a:extLst>
              </p:cNvPr>
              <p:cNvSpPr>
                <a:spLocks noChangeShapeType="1"/>
              </p:cNvSpPr>
              <p:nvPr/>
            </p:nvSpPr>
            <p:spPr bwMode="auto">
              <a:xfrm>
                <a:off x="3755972" y="3425607"/>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60" name="Line 12">
                <a:extLst>
                  <a:ext uri="{FF2B5EF4-FFF2-40B4-BE49-F238E27FC236}">
                    <a16:creationId xmlns:a16="http://schemas.microsoft.com/office/drawing/2014/main" id="{EDA59614-6A2C-ABDF-F52D-E244A66A5C20}"/>
                  </a:ext>
                </a:extLst>
              </p:cNvPr>
              <p:cNvSpPr>
                <a:spLocks noChangeShapeType="1"/>
              </p:cNvSpPr>
              <p:nvPr/>
            </p:nvSpPr>
            <p:spPr bwMode="auto">
              <a:xfrm>
                <a:off x="3766478" y="3499177"/>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5552" name="Group 23">
              <a:extLst>
                <a:ext uri="{FF2B5EF4-FFF2-40B4-BE49-F238E27FC236}">
                  <a16:creationId xmlns:a16="http://schemas.microsoft.com/office/drawing/2014/main" id="{28F2A09A-6898-FF90-CCC7-B5CD6B53B757}"/>
                </a:ext>
              </a:extLst>
            </p:cNvPr>
            <p:cNvGrpSpPr>
              <a:grpSpLocks/>
            </p:cNvGrpSpPr>
            <p:nvPr/>
          </p:nvGrpSpPr>
          <p:grpSpPr bwMode="auto">
            <a:xfrm>
              <a:off x="6746164" y="3090042"/>
              <a:ext cx="1604305" cy="783020"/>
              <a:chOff x="3755972" y="3079532"/>
              <a:chExt cx="2169506" cy="783020"/>
            </a:xfrm>
          </p:grpSpPr>
          <p:sp>
            <p:nvSpPr>
              <p:cNvPr id="65555" name="Rectangle 6">
                <a:extLst>
                  <a:ext uri="{FF2B5EF4-FFF2-40B4-BE49-F238E27FC236}">
                    <a16:creationId xmlns:a16="http://schemas.microsoft.com/office/drawing/2014/main" id="{636FB542-544A-2745-0019-16012984393C}"/>
                  </a:ext>
                </a:extLst>
              </p:cNvPr>
              <p:cNvSpPr>
                <a:spLocks noChangeArrowheads="1"/>
              </p:cNvSpPr>
              <p:nvPr/>
            </p:nvSpPr>
            <p:spPr bwMode="auto">
              <a:xfrm>
                <a:off x="3771736" y="3079532"/>
                <a:ext cx="2140333" cy="78302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r>
                  <a:rPr lang="en-US" altLang="tr-TR" sz="1800">
                    <a:solidFill>
                      <a:schemeClr val="accent1"/>
                    </a:solidFill>
                    <a:latin typeface="Tahoma" panose="020B0604030504040204" pitchFamily="34" charset="0"/>
                  </a:rPr>
                  <a:t>Accelarate2</a:t>
                </a:r>
              </a:p>
              <a:p>
                <a:pPr>
                  <a:spcBef>
                    <a:spcPct val="0"/>
                  </a:spcBef>
                  <a:buClrTx/>
                  <a:buSzTx/>
                  <a:buFontTx/>
                  <a:buNone/>
                </a:pPr>
                <a:r>
                  <a:rPr lang="en-US" altLang="tr-TR" sz="1800">
                    <a:solidFill>
                      <a:schemeClr val="accent1"/>
                    </a:solidFill>
                    <a:latin typeface="Tahoma" panose="020B0604030504040204" pitchFamily="34" charset="0"/>
                  </a:rPr>
                  <a:t>+accelerate</a:t>
                </a:r>
                <a:r>
                  <a:rPr lang="en-US" altLang="tr-TR" sz="1800">
                    <a:solidFill>
                      <a:schemeClr val="accent1"/>
                    </a:solidFill>
                    <a:latin typeface="Tahoma" panose="020B0604030504040204" pitchFamily="34" charset="0"/>
                    <a:sym typeface="Wingdings" panose="05000000000000000000" pitchFamily="2" charset="2"/>
                  </a:rPr>
                  <a:t>()</a:t>
                </a:r>
              </a:p>
            </p:txBody>
          </p:sp>
          <p:sp>
            <p:nvSpPr>
              <p:cNvPr id="65556" name="Line 12">
                <a:extLst>
                  <a:ext uri="{FF2B5EF4-FFF2-40B4-BE49-F238E27FC236}">
                    <a16:creationId xmlns:a16="http://schemas.microsoft.com/office/drawing/2014/main" id="{BAACE6CE-3D5D-92C2-FF1B-C1C6CACFB4D1}"/>
                  </a:ext>
                </a:extLst>
              </p:cNvPr>
              <p:cNvSpPr>
                <a:spLocks noChangeShapeType="1"/>
              </p:cNvSpPr>
              <p:nvPr/>
            </p:nvSpPr>
            <p:spPr bwMode="auto">
              <a:xfrm>
                <a:off x="3755972" y="3425607"/>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5557" name="Line 12">
                <a:extLst>
                  <a:ext uri="{FF2B5EF4-FFF2-40B4-BE49-F238E27FC236}">
                    <a16:creationId xmlns:a16="http://schemas.microsoft.com/office/drawing/2014/main" id="{94FFD23E-BC95-5E4C-3124-96013660E1B6}"/>
                  </a:ext>
                </a:extLst>
              </p:cNvPr>
              <p:cNvSpPr>
                <a:spLocks noChangeShapeType="1"/>
              </p:cNvSpPr>
              <p:nvPr/>
            </p:nvSpPr>
            <p:spPr bwMode="auto">
              <a:xfrm>
                <a:off x="3766478" y="3499177"/>
                <a:ext cx="2159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cxnSp>
          <p:nvCxnSpPr>
            <p:cNvPr id="65553" name="Elbow Connector 43">
              <a:extLst>
                <a:ext uri="{FF2B5EF4-FFF2-40B4-BE49-F238E27FC236}">
                  <a16:creationId xmlns:a16="http://schemas.microsoft.com/office/drawing/2014/main" id="{2BF0B715-C9BE-A703-E77E-787E110F9F92}"/>
                </a:ext>
              </a:extLst>
            </p:cNvPr>
            <p:cNvCxnSpPr>
              <a:cxnSpLocks noChangeShapeType="1"/>
              <a:stCxn id="65548" idx="3"/>
              <a:endCxn id="65558" idx="0"/>
            </p:cNvCxnSpPr>
            <p:nvPr/>
          </p:nvCxnSpPr>
          <p:spPr bwMode="auto">
            <a:xfrm rot="5400000">
              <a:off x="5733952" y="2125949"/>
              <a:ext cx="582667" cy="1356030"/>
            </a:xfrm>
            <a:prstGeom prst="bentConnector3">
              <a:avLst>
                <a:gd name="adj1" fmla="val 50000"/>
              </a:avLst>
            </a:prstGeom>
            <a:noFill/>
            <a:ln w="9525" algn="ctr">
              <a:solidFill>
                <a:schemeClr val="tx1"/>
              </a:solidFill>
              <a:prstDash val="dash"/>
              <a:round/>
              <a:headEnd/>
              <a:tailEnd type="none" w="med" len="med"/>
            </a:ln>
            <a:extLst>
              <a:ext uri="{909E8E84-426E-40DD-AFC4-6F175D3DCCD1}">
                <a14:hiddenFill xmlns:a14="http://schemas.microsoft.com/office/drawing/2010/main">
                  <a:noFill/>
                </a14:hiddenFill>
              </a:ext>
            </a:extLst>
          </p:spPr>
        </p:cxnSp>
        <p:cxnSp>
          <p:nvCxnSpPr>
            <p:cNvPr id="65554" name="Elbow Connector 44">
              <a:extLst>
                <a:ext uri="{FF2B5EF4-FFF2-40B4-BE49-F238E27FC236}">
                  <a16:creationId xmlns:a16="http://schemas.microsoft.com/office/drawing/2014/main" id="{F0DC3F85-E548-84B9-024D-942623777A4B}"/>
                </a:ext>
              </a:extLst>
            </p:cNvPr>
            <p:cNvCxnSpPr>
              <a:cxnSpLocks noChangeShapeType="1"/>
              <a:stCxn id="65548" idx="3"/>
              <a:endCxn id="65555" idx="0"/>
            </p:cNvCxnSpPr>
            <p:nvPr/>
          </p:nvCxnSpPr>
          <p:spPr bwMode="auto">
            <a:xfrm rot="16200000" flipH="1">
              <a:off x="6837538" y="2378392"/>
              <a:ext cx="577411" cy="845887"/>
            </a:xfrm>
            <a:prstGeom prst="bentConnector3">
              <a:avLst>
                <a:gd name="adj1" fmla="val 50000"/>
              </a:avLst>
            </a:prstGeom>
            <a:noFill/>
            <a:ln w="9525" algn="ctr">
              <a:solidFill>
                <a:schemeClr val="tx1"/>
              </a:solidFill>
              <a:prstDash val="dash"/>
              <a:round/>
              <a:headEnd/>
              <a:tailEnd type="none" w="med" len="med"/>
            </a:ln>
            <a:extLst>
              <a:ext uri="{909E8E84-426E-40DD-AFC4-6F175D3DCCD1}">
                <a14:hiddenFill xmlns:a14="http://schemas.microsoft.com/office/drawing/2010/main">
                  <a:noFill/>
                </a14:hiddenFill>
              </a:ext>
            </a:extLst>
          </p:spPr>
        </p:cxnSp>
      </p:grpSp>
      <p:cxnSp>
        <p:nvCxnSpPr>
          <p:cNvPr id="65544" name="Straight Arrow Connector 51">
            <a:extLst>
              <a:ext uri="{FF2B5EF4-FFF2-40B4-BE49-F238E27FC236}">
                <a16:creationId xmlns:a16="http://schemas.microsoft.com/office/drawing/2014/main" id="{45F625B4-021D-57F1-A1BB-676CF53A2BC1}"/>
              </a:ext>
            </a:extLst>
          </p:cNvPr>
          <p:cNvCxnSpPr>
            <a:cxnSpLocks noChangeShapeType="1"/>
            <a:endCxn id="65547" idx="1"/>
          </p:cNvCxnSpPr>
          <p:nvPr/>
        </p:nvCxnSpPr>
        <p:spPr bwMode="auto">
          <a:xfrm rot="16200000" flipH="1">
            <a:off x="3198282" y="2691694"/>
            <a:ext cx="2879725" cy="101282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64522" name="TextBox 57">
            <a:extLst>
              <a:ext uri="{FF2B5EF4-FFF2-40B4-BE49-F238E27FC236}">
                <a16:creationId xmlns:a16="http://schemas.microsoft.com/office/drawing/2014/main" id="{8FFC760C-5425-4AE1-9EB0-A0B2E0954CCF}"/>
              </a:ext>
            </a:extLst>
          </p:cNvPr>
          <p:cNvSpPr txBox="1">
            <a:spLocks noChangeArrowheads="1"/>
          </p:cNvSpPr>
          <p:nvPr/>
        </p:nvSpPr>
        <p:spPr bwMode="auto">
          <a:xfrm>
            <a:off x="281067" y="2147789"/>
            <a:ext cx="3730508" cy="4801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class Car{</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private:</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Breaking* </a:t>
            </a:r>
            <a:r>
              <a:rPr lang="en-US" altLang="tr-TR" sz="1800" dirty="0" err="1">
                <a:latin typeface="Consolas" panose="020B0609020204030204" pitchFamily="49" charset="0"/>
                <a:ea typeface="Source Sans Pro" panose="020B0503030403020204" pitchFamily="34" charset="0"/>
                <a:cs typeface="Courier New" panose="02070309020205020404" pitchFamily="49" charset="0"/>
              </a:rPr>
              <a:t>breakS</a:t>
            </a:r>
            <a:r>
              <a:rPr lang="en-US" altLang="tr-TR" sz="1800" dirty="0">
                <a:latin typeface="Consolas" panose="020B0609020204030204" pitchFamily="49" charset="0"/>
                <a:ea typeface="Source Sans Pro" panose="020B0503030403020204" pitchFamily="34" charset="0"/>
                <a:cs typeface="Courier New" panose="02070309020205020404" pitchFamily="49" charset="0"/>
              </a:rPr>
              <a:t>;</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Accelerate( </a:t>
            </a:r>
            <a:r>
              <a:rPr lang="en-US" altLang="tr-TR" sz="1800" dirty="0" err="1">
                <a:latin typeface="Consolas" panose="020B0609020204030204" pitchFamily="49" charset="0"/>
                <a:ea typeface="Source Sans Pro" panose="020B0503030403020204" pitchFamily="34" charset="0"/>
                <a:cs typeface="Courier New" panose="02070309020205020404" pitchFamily="49" charset="0"/>
              </a:rPr>
              <a:t>accelS</a:t>
            </a:r>
            <a:r>
              <a:rPr lang="en-US" altLang="tr-TR" sz="1800" dirty="0">
                <a:latin typeface="Consolas" panose="020B0609020204030204" pitchFamily="49" charset="0"/>
                <a:ea typeface="Source Sans Pro" panose="020B0503030403020204" pitchFamily="34" charset="0"/>
                <a:cs typeface="Courier New" panose="02070309020205020404" pitchFamily="49" charset="0"/>
              </a:rPr>
              <a:t>;</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public:</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break(){</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   </a:t>
            </a:r>
            <a:r>
              <a:rPr lang="en-US" altLang="tr-TR" sz="1800" dirty="0" err="1">
                <a:latin typeface="Consolas" panose="020B0609020204030204" pitchFamily="49" charset="0"/>
                <a:ea typeface="Source Sans Pro" panose="020B0503030403020204" pitchFamily="34" charset="0"/>
                <a:cs typeface="Courier New" panose="02070309020205020404" pitchFamily="49" charset="0"/>
              </a:rPr>
              <a:t>breakS</a:t>
            </a:r>
            <a:r>
              <a:rPr lang="en-US" altLang="tr-TR" sz="1800" dirty="0">
                <a:latin typeface="Consolas" panose="020B0609020204030204" pitchFamily="49" charset="0"/>
                <a:ea typeface="Source Sans Pro" panose="020B0503030403020204" pitchFamily="34" charset="0"/>
                <a:cs typeface="Courier New" panose="02070309020205020404" pitchFamily="49" charset="0"/>
              </a:rPr>
              <a:t>-&gt;break();}</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accelerate(){</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   </a:t>
            </a:r>
            <a:r>
              <a:rPr lang="en-US" altLang="tr-TR" sz="1800" dirty="0" err="1">
                <a:latin typeface="Consolas" panose="020B0609020204030204" pitchFamily="49" charset="0"/>
                <a:ea typeface="Source Sans Pro" panose="020B0503030403020204" pitchFamily="34" charset="0"/>
                <a:cs typeface="Courier New" panose="02070309020205020404" pitchFamily="49" charset="0"/>
              </a:rPr>
              <a:t>accelS</a:t>
            </a:r>
            <a:r>
              <a:rPr lang="en-US" altLang="tr-TR" sz="1800" dirty="0">
                <a:latin typeface="Consolas" panose="020B0609020204030204" pitchFamily="49" charset="0"/>
                <a:ea typeface="Source Sans Pro" panose="020B0503030403020204" pitchFamily="34" charset="0"/>
                <a:cs typeface="Courier New" panose="02070309020205020404" pitchFamily="49" charset="0"/>
              </a:rPr>
              <a:t>-&gt;accelerate();}</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Car(Breaking* b, </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    Accelerate* a)</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    :</a:t>
            </a:r>
            <a:r>
              <a:rPr lang="en-US" altLang="tr-TR" sz="1800" dirty="0" err="1">
                <a:latin typeface="Consolas" panose="020B0609020204030204" pitchFamily="49" charset="0"/>
                <a:ea typeface="Source Sans Pro" panose="020B0503030403020204" pitchFamily="34" charset="0"/>
                <a:cs typeface="Courier New" panose="02070309020205020404" pitchFamily="49" charset="0"/>
              </a:rPr>
              <a:t>breakS</a:t>
            </a:r>
            <a:r>
              <a:rPr lang="en-US" altLang="tr-TR" sz="1800" dirty="0">
                <a:latin typeface="Consolas" panose="020B0609020204030204" pitchFamily="49" charset="0"/>
                <a:ea typeface="Source Sans Pro" panose="020B0503030403020204" pitchFamily="34" charset="0"/>
                <a:cs typeface="Courier New" panose="02070309020205020404" pitchFamily="49" charset="0"/>
              </a:rPr>
              <a:t>(b), </a:t>
            </a:r>
            <a:r>
              <a:rPr lang="en-US" altLang="tr-TR" sz="1800" dirty="0" err="1">
                <a:latin typeface="Consolas" panose="020B0609020204030204" pitchFamily="49" charset="0"/>
                <a:ea typeface="Source Sans Pro" panose="020B0503030403020204" pitchFamily="34" charset="0"/>
                <a:cs typeface="Courier New" panose="02070309020205020404" pitchFamily="49" charset="0"/>
              </a:rPr>
              <a:t>accelS</a:t>
            </a:r>
            <a:r>
              <a:rPr lang="en-US" altLang="tr-TR" sz="1800" dirty="0">
                <a:latin typeface="Consolas" panose="020B0609020204030204" pitchFamily="49" charset="0"/>
                <a:ea typeface="Source Sans Pro" panose="020B0503030403020204" pitchFamily="34" charset="0"/>
                <a:cs typeface="Courier New" panose="02070309020205020404" pitchFamily="49" charset="0"/>
              </a:rPr>
              <a:t>(a){}</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void </a:t>
            </a:r>
            <a:r>
              <a:rPr lang="en-US" altLang="tr-TR" sz="1800" dirty="0" err="1">
                <a:latin typeface="Consolas" panose="020B0609020204030204" pitchFamily="49" charset="0"/>
                <a:ea typeface="Source Sans Pro" panose="020B0503030403020204" pitchFamily="34" charset="0"/>
                <a:cs typeface="Courier New" panose="02070309020205020404" pitchFamily="49" charset="0"/>
              </a:rPr>
              <a:t>setBreakS</a:t>
            </a:r>
            <a:r>
              <a:rPr lang="en-US" altLang="tr-TR" sz="1800" dirty="0">
                <a:latin typeface="Consolas" panose="020B0609020204030204" pitchFamily="49" charset="0"/>
                <a:ea typeface="Source Sans Pro" panose="020B0503030403020204" pitchFamily="34" charset="0"/>
                <a:cs typeface="Courier New" panose="02070309020205020404" pitchFamily="49" charset="0"/>
              </a:rPr>
              <a:t>(Breaking* b){</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    </a:t>
            </a:r>
            <a:r>
              <a:rPr lang="en-US" altLang="tr-TR" sz="1800" dirty="0" err="1">
                <a:latin typeface="Consolas" panose="020B0609020204030204" pitchFamily="49" charset="0"/>
                <a:ea typeface="Source Sans Pro" panose="020B0503030403020204" pitchFamily="34" charset="0"/>
                <a:cs typeface="Courier New" panose="02070309020205020404" pitchFamily="49" charset="0"/>
              </a:rPr>
              <a:t>breakS</a:t>
            </a:r>
            <a:r>
              <a:rPr lang="en-US" altLang="tr-TR" sz="1800" dirty="0">
                <a:latin typeface="Consolas" panose="020B0609020204030204" pitchFamily="49" charset="0"/>
                <a:ea typeface="Source Sans Pro" panose="020B0503030403020204" pitchFamily="34" charset="0"/>
                <a:cs typeface="Courier New" panose="02070309020205020404" pitchFamily="49" charset="0"/>
              </a:rPr>
              <a:t>=b;} </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a:t>
            </a:r>
          </a:p>
          <a:p>
            <a:pPr>
              <a:spcBef>
                <a:spcPct val="0"/>
              </a:spcBef>
              <a:buClrTx/>
              <a:buSzTx/>
              <a:buFontTx/>
              <a:buNone/>
              <a:defRPr/>
            </a:pPr>
            <a:r>
              <a:rPr lang="en-US" altLang="tr-TR" sz="1800" dirty="0">
                <a:latin typeface="Consolas" panose="020B0609020204030204" pitchFamily="49" charset="0"/>
                <a:ea typeface="Source Sans Pro" panose="020B0503030403020204" pitchFamily="34" charset="0"/>
                <a:cs typeface="Courier New" panose="02070309020205020404" pitchFamily="49" charset="0"/>
              </a:rPr>
              <a:t>}</a:t>
            </a:r>
          </a:p>
        </p:txBody>
      </p:sp>
      <p:sp>
        <p:nvSpPr>
          <p:cNvPr id="2" name="Title 1">
            <a:extLst>
              <a:ext uri="{FF2B5EF4-FFF2-40B4-BE49-F238E27FC236}">
                <a16:creationId xmlns:a16="http://schemas.microsoft.com/office/drawing/2014/main" id="{F8D0595C-8F9F-0BAA-2A12-0FF14CBCBA3E}"/>
              </a:ext>
            </a:extLst>
          </p:cNvPr>
          <p:cNvSpPr>
            <a:spLocks noGrp="1"/>
          </p:cNvSpPr>
          <p:nvPr>
            <p:ph type="title"/>
          </p:nvPr>
        </p:nvSpPr>
        <p:spPr/>
        <p:txBody>
          <a:bodyPr/>
          <a:lstStyle/>
          <a:p>
            <a:r>
              <a:rPr lang="en-US" dirty="0"/>
              <a:t>Strategy Solution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EB4AE7C7-4790-FB41-04A2-77D9F7A0F650}"/>
              </a:ext>
            </a:extLst>
          </p:cNvPr>
          <p:cNvSpPr>
            <a:spLocks noGrp="1"/>
          </p:cNvSpPr>
          <p:nvPr>
            <p:ph type="title"/>
          </p:nvPr>
        </p:nvSpPr>
        <p:spPr/>
        <p:txBody>
          <a:bodyPr/>
          <a:lstStyle/>
          <a:p>
            <a:r>
              <a:rPr lang="en-US" altLang="tr-TR" dirty="0"/>
              <a:t>Example 3: Strategy </a:t>
            </a:r>
          </a:p>
        </p:txBody>
      </p:sp>
      <p:pic>
        <p:nvPicPr>
          <p:cNvPr id="10243" name="Picture 2">
            <a:extLst>
              <a:ext uri="{FF2B5EF4-FFF2-40B4-BE49-F238E27FC236}">
                <a16:creationId xmlns:a16="http://schemas.microsoft.com/office/drawing/2014/main" id="{78DE5253-03B2-FDD3-4607-2DEBE34872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1685925"/>
            <a:ext cx="91344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5">
            <a:extLst>
              <a:ext uri="{FF2B5EF4-FFF2-40B4-BE49-F238E27FC236}">
                <a16:creationId xmlns:a16="http://schemas.microsoft.com/office/drawing/2014/main" id="{0E8E899D-F10D-A2C5-4A5B-697C7E0F01EC}"/>
              </a:ext>
            </a:extLst>
          </p:cNvPr>
          <p:cNvSpPr txBox="1">
            <a:spLocks noChangeArrowheads="1"/>
          </p:cNvSpPr>
          <p:nvPr/>
        </p:nvSpPr>
        <p:spPr bwMode="auto">
          <a:xfrm>
            <a:off x="428625" y="5643563"/>
            <a:ext cx="833437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2400"/>
              <a:t>Application where the sorting algorithm is chosen at runtime</a:t>
            </a:r>
          </a:p>
          <a:p>
            <a:pPr eaLnBrk="1" hangingPunct="1">
              <a:spcBef>
                <a:spcPct val="0"/>
              </a:spcBef>
              <a:buFontTx/>
              <a:buNone/>
            </a:pPr>
            <a:endParaRPr lang="en-US" altLang="tr-TR"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2">
            <a:extLst>
              <a:ext uri="{FF2B5EF4-FFF2-40B4-BE49-F238E27FC236}">
                <a16:creationId xmlns:a16="http://schemas.microsoft.com/office/drawing/2014/main" id="{3D20BF5E-7369-762D-1EF8-9BC2198C2123}"/>
              </a:ext>
            </a:extLst>
          </p:cNvPr>
          <p:cNvSpPr>
            <a:spLocks noGrp="1"/>
          </p:cNvSpPr>
          <p:nvPr>
            <p:ph type="title"/>
          </p:nvPr>
        </p:nvSpPr>
        <p:spPr/>
        <p:txBody>
          <a:bodyPr/>
          <a:lstStyle/>
          <a:p>
            <a:r>
              <a:rPr lang="en-US" altLang="tr-TR" dirty="0"/>
              <a:t>Example 4</a:t>
            </a:r>
          </a:p>
        </p:txBody>
      </p:sp>
      <p:sp>
        <p:nvSpPr>
          <p:cNvPr id="11267" name="Content Placeholder 3">
            <a:extLst>
              <a:ext uri="{FF2B5EF4-FFF2-40B4-BE49-F238E27FC236}">
                <a16:creationId xmlns:a16="http://schemas.microsoft.com/office/drawing/2014/main" id="{3E89731D-FB8B-1CCD-1F1C-E025529C46A3}"/>
              </a:ext>
            </a:extLst>
          </p:cNvPr>
          <p:cNvSpPr>
            <a:spLocks noGrp="1"/>
          </p:cNvSpPr>
          <p:nvPr>
            <p:ph idx="1"/>
          </p:nvPr>
        </p:nvSpPr>
        <p:spPr/>
        <p:txBody>
          <a:bodyPr/>
          <a:lstStyle/>
          <a:p>
            <a:r>
              <a:rPr lang="en-US" altLang="tr-TR" sz="2400"/>
              <a:t>A GUI text component object wants to decide at runtime what strategy it should use to validate user input. </a:t>
            </a:r>
          </a:p>
          <a:p>
            <a:r>
              <a:rPr lang="en-US" altLang="tr-TR" sz="2400"/>
              <a:t>Many different validation strategies are possible: numeric fields, alphanumeric fields, telephone-number fields, etc.</a:t>
            </a:r>
          </a:p>
        </p:txBody>
      </p:sp>
      <p:pic>
        <p:nvPicPr>
          <p:cNvPr id="80898" name="Picture 2">
            <a:extLst>
              <a:ext uri="{FF2B5EF4-FFF2-40B4-BE49-F238E27FC236}">
                <a16:creationId xmlns:a16="http://schemas.microsoft.com/office/drawing/2014/main" id="{A3D1C05F-2845-5D33-F07B-9B2196F5A9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94100"/>
            <a:ext cx="9144000" cy="2763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8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2B070331-1F79-9181-DDD4-C9B56249CB77}"/>
              </a:ext>
            </a:extLst>
          </p:cNvPr>
          <p:cNvSpPr>
            <a:spLocks noGrp="1" noChangeArrowheads="1"/>
          </p:cNvSpPr>
          <p:nvPr>
            <p:ph type="title"/>
          </p:nvPr>
        </p:nvSpPr>
        <p:spPr/>
        <p:txBody>
          <a:bodyPr/>
          <a:lstStyle/>
          <a:p>
            <a:pPr eaLnBrk="1" hangingPunct="1"/>
            <a:r>
              <a:rPr lang="en-US" altLang="tr-TR" dirty="0"/>
              <a:t>Applicability -Strategy</a:t>
            </a:r>
          </a:p>
        </p:txBody>
      </p:sp>
      <p:sp>
        <p:nvSpPr>
          <p:cNvPr id="17411" name="Rectangle 3">
            <a:extLst>
              <a:ext uri="{FF2B5EF4-FFF2-40B4-BE49-F238E27FC236}">
                <a16:creationId xmlns:a16="http://schemas.microsoft.com/office/drawing/2014/main" id="{B3E813B8-9A87-37E6-AE76-58A01BA96843}"/>
              </a:ext>
            </a:extLst>
          </p:cNvPr>
          <p:cNvSpPr>
            <a:spLocks noGrp="1" noChangeArrowheads="1"/>
          </p:cNvSpPr>
          <p:nvPr>
            <p:ph idx="1"/>
          </p:nvPr>
        </p:nvSpPr>
        <p:spPr/>
        <p:txBody>
          <a:bodyPr/>
          <a:lstStyle/>
          <a:p>
            <a:r>
              <a:rPr lang="en-US" altLang="tr-TR" sz="2800" dirty="0"/>
              <a:t>Many related classes differ only in behavior</a:t>
            </a:r>
          </a:p>
          <a:p>
            <a:pPr lvl="1"/>
            <a:r>
              <a:rPr lang="en-US" altLang="tr-TR" sz="2400" dirty="0"/>
              <a:t>you can reduce these several objects to one class that uses several Strategies.</a:t>
            </a:r>
          </a:p>
          <a:p>
            <a:r>
              <a:rPr lang="en-US" altLang="tr-TR" sz="2800" dirty="0"/>
              <a:t>Need different variants of an algorithm</a:t>
            </a:r>
          </a:p>
          <a:p>
            <a:pPr lvl="1"/>
            <a:r>
              <a:rPr lang="en-US" altLang="tr-TR" sz="2400" dirty="0"/>
              <a:t>switch from one algorithm to another during runtime</a:t>
            </a:r>
          </a:p>
          <a:p>
            <a:r>
              <a:rPr lang="en-US" altLang="tr-TR" sz="2800" dirty="0"/>
              <a:t>Avoid exposing complex, algorithm specific data structures</a:t>
            </a:r>
          </a:p>
          <a:p>
            <a:pPr lvl="1"/>
            <a:r>
              <a:rPr lang="en-US" altLang="tr-TR" sz="2400" dirty="0"/>
              <a:t>E.g. intermediate data structure used for compression</a:t>
            </a:r>
          </a:p>
          <a:p>
            <a:r>
              <a:rPr lang="en-US" altLang="tr-TR" sz="2800" dirty="0"/>
              <a:t>A class defines many behaviors and chooses one with conditionals	</a:t>
            </a:r>
          </a:p>
        </p:txBody>
      </p:sp>
    </p:spTree>
    <p:extLst>
      <p:ext uri="{BB962C8B-B14F-4D97-AF65-F5344CB8AC3E}">
        <p14:creationId xmlns:p14="http://schemas.microsoft.com/office/powerpoint/2010/main" val="1074095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4" name="Picture 2">
            <a:extLst>
              <a:ext uri="{FF2B5EF4-FFF2-40B4-BE49-F238E27FC236}">
                <a16:creationId xmlns:a16="http://schemas.microsoft.com/office/drawing/2014/main" id="{CEC40430-C17B-C3CB-8CC8-053C59ED7C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112" y="3224212"/>
            <a:ext cx="8426450" cy="2447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482" name="Title 1">
            <a:extLst>
              <a:ext uri="{FF2B5EF4-FFF2-40B4-BE49-F238E27FC236}">
                <a16:creationId xmlns:a16="http://schemas.microsoft.com/office/drawing/2014/main" id="{503BEA70-D123-0167-1074-A876015A9240}"/>
              </a:ext>
            </a:extLst>
          </p:cNvPr>
          <p:cNvSpPr>
            <a:spLocks noGrp="1"/>
          </p:cNvSpPr>
          <p:nvPr>
            <p:ph type="title"/>
          </p:nvPr>
        </p:nvSpPr>
        <p:spPr>
          <a:xfrm>
            <a:off x="457200" y="115888"/>
            <a:ext cx="8229600" cy="1143000"/>
          </a:xfrm>
        </p:spPr>
        <p:txBody>
          <a:bodyPr/>
          <a:lstStyle/>
          <a:p>
            <a:r>
              <a:rPr lang="en-US" altLang="en-US" dirty="0"/>
              <a:t>Example 5 – </a:t>
            </a:r>
            <a:r>
              <a:rPr lang="en-US" altLang="en-US" dirty="0" err="1"/>
              <a:t>javax.swing</a:t>
            </a:r>
            <a:endParaRPr lang="tr-TR" altLang="en-US" dirty="0"/>
          </a:p>
        </p:txBody>
      </p:sp>
      <p:sp>
        <p:nvSpPr>
          <p:cNvPr id="3" name="Content Placeholder 2">
            <a:extLst>
              <a:ext uri="{FF2B5EF4-FFF2-40B4-BE49-F238E27FC236}">
                <a16:creationId xmlns:a16="http://schemas.microsoft.com/office/drawing/2014/main" id="{E52EE1FA-FF96-C1CC-41EF-69841EA03773}"/>
              </a:ext>
            </a:extLst>
          </p:cNvPr>
          <p:cNvSpPr>
            <a:spLocks noGrp="1"/>
          </p:cNvSpPr>
          <p:nvPr>
            <p:ph idx="1"/>
          </p:nvPr>
        </p:nvSpPr>
        <p:spPr>
          <a:xfrm>
            <a:off x="395288" y="1185863"/>
            <a:ext cx="8229600" cy="4525962"/>
          </a:xfrm>
        </p:spPr>
        <p:txBody>
          <a:bodyPr/>
          <a:lstStyle/>
          <a:p>
            <a:pPr>
              <a:defRPr/>
            </a:pPr>
            <a:r>
              <a:rPr lang="en-US" sz="2800" dirty="0"/>
              <a:t> A GUI container object wants to decide at run-time what strategy it should use to layout the GUI components it contains. Many different layout strategies are already available.</a:t>
            </a:r>
          </a:p>
          <a:p>
            <a:pPr>
              <a:defRPr/>
            </a:pPr>
            <a:endParaRPr lang="en-US" sz="2800" dirty="0"/>
          </a:p>
          <a:p>
            <a:pPr>
              <a:defRPr/>
            </a:pPr>
            <a:endParaRPr lang="en-US" sz="2800" dirty="0"/>
          </a:p>
          <a:p>
            <a:pPr>
              <a:defRPr/>
            </a:pPr>
            <a:endParaRPr lang="en-US" sz="2800" dirty="0"/>
          </a:p>
          <a:p>
            <a:pPr marL="0" indent="0">
              <a:buFontTx/>
              <a:buNone/>
              <a:defRPr/>
            </a:pPr>
            <a:endParaRPr lang="en-US" sz="2400" dirty="0"/>
          </a:p>
          <a:p>
            <a:pPr marL="0" indent="0">
              <a:buFontTx/>
              <a:buNone/>
              <a:defRPr/>
            </a:pPr>
            <a:endParaRPr lang="en-US" sz="2400" dirty="0"/>
          </a:p>
          <a:p>
            <a:pPr marL="0" indent="0">
              <a:lnSpc>
                <a:spcPct val="100000"/>
              </a:lnSpc>
              <a:buFontTx/>
              <a:buNone/>
              <a:defRPr/>
            </a:pPr>
            <a:r>
              <a:rPr lang="tr-TR" sz="2000" dirty="0" err="1">
                <a:latin typeface="Consolas" panose="020B0609020204030204" pitchFamily="49" charset="0"/>
              </a:rPr>
              <a:t>Frame</a:t>
            </a:r>
            <a:r>
              <a:rPr lang="tr-TR" sz="2000" dirty="0">
                <a:latin typeface="Consolas" panose="020B0609020204030204" pitchFamily="49" charset="0"/>
              </a:rPr>
              <a:t> f = new Frame();</a:t>
            </a:r>
          </a:p>
          <a:p>
            <a:pPr marL="0" indent="0">
              <a:lnSpc>
                <a:spcPct val="100000"/>
              </a:lnSpc>
              <a:buFontTx/>
              <a:buNone/>
              <a:defRPr/>
            </a:pPr>
            <a:r>
              <a:rPr lang="tr-TR" sz="2000" dirty="0">
                <a:latin typeface="Consolas" panose="020B0609020204030204" pitchFamily="49" charset="0"/>
              </a:rPr>
              <a:t>f.setLayout(new FlowLayout());</a:t>
            </a:r>
          </a:p>
          <a:p>
            <a:pPr marL="0" indent="0">
              <a:lnSpc>
                <a:spcPct val="100000"/>
              </a:lnSpc>
              <a:buFontTx/>
              <a:buNone/>
              <a:defRPr/>
            </a:pPr>
            <a:r>
              <a:rPr lang="tr-TR" sz="2000" dirty="0">
                <a:latin typeface="Consolas" panose="020B0609020204030204" pitchFamily="49" charset="0"/>
              </a:rPr>
              <a:t>f.add(new Button(“Press”));</a:t>
            </a:r>
          </a:p>
        </p:txBody>
      </p:sp>
    </p:spTree>
    <p:extLst>
      <p:ext uri="{BB962C8B-B14F-4D97-AF65-F5344CB8AC3E}">
        <p14:creationId xmlns:p14="http://schemas.microsoft.com/office/powerpoint/2010/main" val="3118254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0EA84428-7C3E-6B54-4EFC-0A7B35544E81}"/>
              </a:ext>
            </a:extLst>
          </p:cNvPr>
          <p:cNvSpPr>
            <a:spLocks noGrp="1"/>
          </p:cNvSpPr>
          <p:nvPr>
            <p:ph type="title"/>
          </p:nvPr>
        </p:nvSpPr>
        <p:spPr/>
        <p:txBody>
          <a:bodyPr/>
          <a:lstStyle/>
          <a:p>
            <a:r>
              <a:rPr lang="en-US" altLang="tr-TR"/>
              <a:t>Strategy – other examples</a:t>
            </a:r>
          </a:p>
        </p:txBody>
      </p:sp>
      <p:sp>
        <p:nvSpPr>
          <p:cNvPr id="12291" name="Content Placeholder 2">
            <a:extLst>
              <a:ext uri="{FF2B5EF4-FFF2-40B4-BE49-F238E27FC236}">
                <a16:creationId xmlns:a16="http://schemas.microsoft.com/office/drawing/2014/main" id="{1FDA3694-545C-50FB-2D98-BEFE7D16FF27}"/>
              </a:ext>
            </a:extLst>
          </p:cNvPr>
          <p:cNvSpPr>
            <a:spLocks noGrp="1"/>
          </p:cNvSpPr>
          <p:nvPr>
            <p:ph idx="1"/>
          </p:nvPr>
        </p:nvSpPr>
        <p:spPr/>
        <p:txBody>
          <a:bodyPr/>
          <a:lstStyle/>
          <a:p>
            <a:r>
              <a:rPr lang="en-US" altLang="tr-TR"/>
              <a:t>Application where the compressing algorithm is chosen at runtime</a:t>
            </a:r>
          </a:p>
          <a:p>
            <a:r>
              <a:rPr lang="en-US" altLang="tr-TR"/>
              <a:t>Application where the provisioning algorithm is chosen at runtime depending on the user type</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E4F01EA-D841-A566-A6F7-667643D45816}"/>
              </a:ext>
            </a:extLst>
          </p:cNvPr>
          <p:cNvSpPr>
            <a:spLocks noGrp="1" noChangeArrowheads="1"/>
          </p:cNvSpPr>
          <p:nvPr>
            <p:ph type="title"/>
          </p:nvPr>
        </p:nvSpPr>
        <p:spPr/>
        <p:txBody>
          <a:bodyPr/>
          <a:lstStyle/>
          <a:p>
            <a:pPr eaLnBrk="1" hangingPunct="1"/>
            <a:r>
              <a:rPr lang="en-US" altLang="tr-TR"/>
              <a:t>Strategy – another example</a:t>
            </a:r>
          </a:p>
        </p:txBody>
      </p:sp>
      <p:sp>
        <p:nvSpPr>
          <p:cNvPr id="13315" name="Text Box 4">
            <a:extLst>
              <a:ext uri="{FF2B5EF4-FFF2-40B4-BE49-F238E27FC236}">
                <a16:creationId xmlns:a16="http://schemas.microsoft.com/office/drawing/2014/main" id="{B605106E-599F-F555-83BE-F046314B08A1}"/>
              </a:ext>
            </a:extLst>
          </p:cNvPr>
          <p:cNvSpPr txBox="1">
            <a:spLocks noChangeArrowheads="1"/>
          </p:cNvSpPr>
          <p:nvPr/>
        </p:nvSpPr>
        <p:spPr bwMode="auto">
          <a:xfrm>
            <a:off x="879475" y="5897563"/>
            <a:ext cx="7613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1800"/>
              <a:t>Composition is responsible for maintaining line breaks of a text displayed.</a:t>
            </a:r>
          </a:p>
          <a:p>
            <a:pPr eaLnBrk="1" hangingPunct="1">
              <a:spcBef>
                <a:spcPct val="0"/>
              </a:spcBef>
              <a:buFontTx/>
              <a:buNone/>
            </a:pPr>
            <a:r>
              <a:rPr lang="en-US" altLang="tr-TR" sz="1800"/>
              <a:t>Compositor class has line breaking algorithms in its subclasses.</a:t>
            </a:r>
          </a:p>
        </p:txBody>
      </p:sp>
      <p:pic>
        <p:nvPicPr>
          <p:cNvPr id="13316" name="Picture 1">
            <a:extLst>
              <a:ext uri="{FF2B5EF4-FFF2-40B4-BE49-F238E27FC236}">
                <a16:creationId xmlns:a16="http://schemas.microsoft.com/office/drawing/2014/main" id="{8D3F94D8-9CBE-E668-82C6-A0964A3C3EE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6213" y="1862138"/>
            <a:ext cx="8791575" cy="313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A9734B1-C6CC-4DFB-A39C-674C571D148B}"/>
              </a:ext>
            </a:extLst>
          </p:cNvPr>
          <p:cNvSpPr>
            <a:spLocks noGrp="1" noChangeArrowheads="1"/>
          </p:cNvSpPr>
          <p:nvPr>
            <p:ph type="title"/>
          </p:nvPr>
        </p:nvSpPr>
        <p:spPr/>
        <p:txBody>
          <a:bodyPr/>
          <a:lstStyle/>
          <a:p>
            <a:pPr eaLnBrk="1" hangingPunct="1"/>
            <a:r>
              <a:rPr lang="en-US" altLang="tr-TR" dirty="0"/>
              <a:t>Example 6 </a:t>
            </a:r>
          </a:p>
        </p:txBody>
      </p:sp>
      <p:sp>
        <p:nvSpPr>
          <p:cNvPr id="14339" name="Rectangle 3">
            <a:extLst>
              <a:ext uri="{FF2B5EF4-FFF2-40B4-BE49-F238E27FC236}">
                <a16:creationId xmlns:a16="http://schemas.microsoft.com/office/drawing/2014/main" id="{0D778FE6-13F2-0FF6-FADA-21FA60814E27}"/>
              </a:ext>
            </a:extLst>
          </p:cNvPr>
          <p:cNvSpPr>
            <a:spLocks noGrp="1" noChangeArrowheads="1"/>
          </p:cNvSpPr>
          <p:nvPr>
            <p:ph type="body" idx="1"/>
          </p:nvPr>
        </p:nvSpPr>
        <p:spPr/>
        <p:txBody>
          <a:bodyPr/>
          <a:lstStyle/>
          <a:p>
            <a:pPr eaLnBrk="1" hangingPunct="1">
              <a:lnSpc>
                <a:spcPct val="90000"/>
              </a:lnSpc>
            </a:pPr>
            <a:r>
              <a:rPr lang="en-US" altLang="tr-TR" sz="2800"/>
              <a:t>There are numerous border types</a:t>
            </a:r>
          </a:p>
          <a:p>
            <a:pPr lvl="1" eaLnBrk="1" hangingPunct="1">
              <a:lnSpc>
                <a:spcPct val="90000"/>
              </a:lnSpc>
            </a:pPr>
            <a:r>
              <a:rPr lang="en-US" altLang="tr-TR" sz="2400"/>
              <a:t>Line, titled, edged,…</a:t>
            </a:r>
          </a:p>
          <a:p>
            <a:pPr eaLnBrk="1" hangingPunct="1">
              <a:lnSpc>
                <a:spcPct val="90000"/>
              </a:lnSpc>
            </a:pPr>
            <a:endParaRPr lang="en-US" altLang="tr-TR" sz="2800"/>
          </a:p>
          <a:p>
            <a:pPr eaLnBrk="1" hangingPunct="1">
              <a:lnSpc>
                <a:spcPct val="90000"/>
              </a:lnSpc>
            </a:pPr>
            <a:r>
              <a:rPr lang="en-US" altLang="tr-TR" sz="2800"/>
              <a:t>Each visual component draws itself with different bordering (assume they are not decorated)</a:t>
            </a:r>
          </a:p>
          <a:p>
            <a:pPr eaLnBrk="1" hangingPunct="1">
              <a:lnSpc>
                <a:spcPct val="90000"/>
              </a:lnSpc>
            </a:pPr>
            <a:endParaRPr lang="en-US" altLang="tr-TR" sz="2800"/>
          </a:p>
          <a:p>
            <a:pPr eaLnBrk="1" hangingPunct="1">
              <a:lnSpc>
                <a:spcPct val="90000"/>
              </a:lnSpc>
            </a:pPr>
            <a:r>
              <a:rPr lang="en-US" altLang="tr-TR" sz="2800"/>
              <a:t>All they differ is border drawing algorithm</a:t>
            </a:r>
          </a:p>
          <a:p>
            <a:pPr lvl="1" eaLnBrk="1" hangingPunct="1">
              <a:lnSpc>
                <a:spcPct val="90000"/>
              </a:lnSpc>
            </a:pPr>
            <a:r>
              <a:rPr lang="en-US" altLang="tr-TR" sz="2400"/>
              <a:t>There is a family of border drawing algorithm</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6F189CC0-A838-9A37-3A35-574A9FEFF7AD}"/>
              </a:ext>
            </a:extLst>
          </p:cNvPr>
          <p:cNvSpPr>
            <a:spLocks noGrp="1" noChangeArrowheads="1"/>
          </p:cNvSpPr>
          <p:nvPr>
            <p:ph type="title"/>
          </p:nvPr>
        </p:nvSpPr>
        <p:spPr/>
        <p:txBody>
          <a:bodyPr/>
          <a:lstStyle/>
          <a:p>
            <a:pPr eaLnBrk="1" hangingPunct="1"/>
            <a:r>
              <a:rPr lang="en-US" altLang="tr-TR"/>
              <a:t>Example</a:t>
            </a:r>
          </a:p>
        </p:txBody>
      </p:sp>
      <p:sp>
        <p:nvSpPr>
          <p:cNvPr id="182275" name="Rectangle 3">
            <a:extLst>
              <a:ext uri="{FF2B5EF4-FFF2-40B4-BE49-F238E27FC236}">
                <a16:creationId xmlns:a16="http://schemas.microsoft.com/office/drawing/2014/main" id="{6FC1C364-64BD-D246-D5DB-6E552AD1C693}"/>
              </a:ext>
            </a:extLst>
          </p:cNvPr>
          <p:cNvSpPr>
            <a:spLocks noGrp="1" noChangeArrowheads="1"/>
          </p:cNvSpPr>
          <p:nvPr>
            <p:ph idx="1"/>
          </p:nvPr>
        </p:nvSpPr>
        <p:spPr/>
        <p:txBody>
          <a:bodyPr/>
          <a:lstStyle/>
          <a:p>
            <a:pPr eaLnBrk="1" hangingPunct="1">
              <a:lnSpc>
                <a:spcPct val="80000"/>
              </a:lnSpc>
              <a:buFontTx/>
              <a:buNone/>
            </a:pPr>
            <a:r>
              <a:rPr lang="en-US" altLang="tr-TR" sz="2000" dirty="0">
                <a:latin typeface="Courier New" panose="02070309020205020404" pitchFamily="49" charset="0"/>
              </a:rPr>
              <a:t>class </a:t>
            </a:r>
            <a:r>
              <a:rPr lang="en-US" altLang="tr-TR" sz="2000" dirty="0" err="1">
                <a:latin typeface="Courier New" panose="02070309020205020404" pitchFamily="49" charset="0"/>
              </a:rPr>
              <a:t>JComponent</a:t>
            </a:r>
            <a:r>
              <a:rPr lang="en-US" altLang="tr-TR" sz="2000" dirty="0">
                <a:latin typeface="Courier New" panose="02070309020205020404" pitchFamily="49" charset="0"/>
              </a:rPr>
              <a:t>{….</a:t>
            </a:r>
          </a:p>
          <a:p>
            <a:pPr eaLnBrk="1" hangingPunct="1">
              <a:lnSpc>
                <a:spcPct val="80000"/>
              </a:lnSpc>
              <a:buFontTx/>
              <a:buNone/>
            </a:pPr>
            <a:r>
              <a:rPr lang="en-US" altLang="tr-TR" sz="2000" dirty="0">
                <a:latin typeface="Courier New" panose="02070309020205020404" pitchFamily="49" charset="0"/>
              </a:rPr>
              <a:t> protected void </a:t>
            </a:r>
            <a:r>
              <a:rPr lang="en-US" altLang="tr-TR" sz="2000" b="1" dirty="0" err="1">
                <a:latin typeface="Courier New" panose="02070309020205020404" pitchFamily="49" charset="0"/>
              </a:rPr>
              <a:t>paintBorder</a:t>
            </a:r>
            <a:r>
              <a:rPr lang="en-US" altLang="tr-TR" sz="2000" dirty="0">
                <a:latin typeface="Courier New" panose="02070309020205020404" pitchFamily="49" charset="0"/>
              </a:rPr>
              <a:t>(Graphics g) {</a:t>
            </a:r>
            <a:br>
              <a:rPr lang="en-US" altLang="tr-TR" sz="2000" dirty="0">
                <a:latin typeface="Courier New" panose="02070309020205020404" pitchFamily="49" charset="0"/>
              </a:rPr>
            </a:br>
            <a:r>
              <a:rPr lang="en-US" altLang="tr-TR" sz="2000" dirty="0">
                <a:latin typeface="Courier New" panose="02070309020205020404" pitchFamily="49" charset="0"/>
              </a:rPr>
              <a:t>switch(</a:t>
            </a:r>
            <a:r>
              <a:rPr lang="en-US" altLang="tr-TR" sz="2000" dirty="0" err="1">
                <a:latin typeface="Courier New" panose="02070309020205020404" pitchFamily="49" charset="0"/>
              </a:rPr>
              <a:t>getBorderType</a:t>
            </a:r>
            <a:r>
              <a:rPr lang="en-US" altLang="tr-TR" sz="2000" dirty="0">
                <a:latin typeface="Courier New" panose="02070309020205020404" pitchFamily="49" charset="0"/>
              </a:rPr>
              <a:t>()) {</a:t>
            </a:r>
            <a:br>
              <a:rPr lang="en-US" altLang="tr-TR" sz="2000" dirty="0">
                <a:latin typeface="Courier New" panose="02070309020205020404" pitchFamily="49" charset="0"/>
              </a:rPr>
            </a:br>
            <a:r>
              <a:rPr lang="en-US" altLang="tr-TR" sz="2000" dirty="0">
                <a:latin typeface="Courier New" panose="02070309020205020404" pitchFamily="49" charset="0"/>
              </a:rPr>
              <a:t> case LINE_BORDER:   </a:t>
            </a:r>
            <a:r>
              <a:rPr lang="en-US" altLang="tr-TR" sz="2000" dirty="0" err="1">
                <a:latin typeface="Courier New" panose="02070309020205020404" pitchFamily="49" charset="0"/>
              </a:rPr>
              <a:t>paintLineBorder</a:t>
            </a:r>
            <a:r>
              <a:rPr lang="en-US" altLang="tr-TR" sz="2000" dirty="0">
                <a:latin typeface="Courier New" panose="02070309020205020404" pitchFamily="49" charset="0"/>
              </a:rPr>
              <a:t>(g); break;</a:t>
            </a:r>
            <a:br>
              <a:rPr lang="en-US" altLang="tr-TR" sz="2000" dirty="0">
                <a:latin typeface="Courier New" panose="02070309020205020404" pitchFamily="49" charset="0"/>
              </a:rPr>
            </a:br>
            <a:r>
              <a:rPr lang="en-US" altLang="tr-TR" sz="2000" dirty="0">
                <a:latin typeface="Courier New" panose="02070309020205020404" pitchFamily="49" charset="0"/>
              </a:rPr>
              <a:t> case ETCHED_BORDER: </a:t>
            </a:r>
            <a:r>
              <a:rPr lang="en-US" altLang="tr-TR" sz="2000" dirty="0" err="1">
                <a:latin typeface="Courier New" panose="02070309020205020404" pitchFamily="49" charset="0"/>
              </a:rPr>
              <a:t>paintEtchedBorder</a:t>
            </a:r>
            <a:r>
              <a:rPr lang="en-US" altLang="tr-TR" sz="2000" dirty="0">
                <a:latin typeface="Courier New" panose="02070309020205020404" pitchFamily="49" charset="0"/>
              </a:rPr>
              <a:t>(g); break;</a:t>
            </a:r>
            <a:br>
              <a:rPr lang="en-US" altLang="tr-TR" sz="2000" dirty="0">
                <a:latin typeface="Courier New" panose="02070309020205020404" pitchFamily="49" charset="0"/>
              </a:rPr>
            </a:br>
            <a:r>
              <a:rPr lang="en-US" altLang="tr-TR" sz="2000" dirty="0">
                <a:latin typeface="Courier New" panose="02070309020205020404" pitchFamily="49" charset="0"/>
              </a:rPr>
              <a:t> case TITLED_BORDER: </a:t>
            </a:r>
            <a:r>
              <a:rPr lang="en-US" altLang="tr-TR" sz="2000" dirty="0" err="1">
                <a:latin typeface="Courier New" panose="02070309020205020404" pitchFamily="49" charset="0"/>
              </a:rPr>
              <a:t>paintTitledBorder</a:t>
            </a:r>
            <a:r>
              <a:rPr lang="en-US" altLang="tr-TR" sz="2000" dirty="0">
                <a:latin typeface="Courier New" panose="02070309020205020404" pitchFamily="49" charset="0"/>
              </a:rPr>
              <a:t>(g); break;</a:t>
            </a:r>
            <a:br>
              <a:rPr lang="en-US" altLang="tr-TR" sz="2000" dirty="0">
                <a:latin typeface="Courier New" panose="02070309020205020404" pitchFamily="49" charset="0"/>
              </a:rPr>
            </a:br>
            <a:r>
              <a:rPr lang="en-US" altLang="tr-TR" sz="2000" dirty="0">
                <a:latin typeface="Courier New" panose="02070309020205020404" pitchFamily="49" charset="0"/>
              </a:rPr>
              <a:t> ...}</a:t>
            </a:r>
          </a:p>
          <a:p>
            <a:pPr eaLnBrk="1" hangingPunct="1">
              <a:lnSpc>
                <a:spcPct val="80000"/>
              </a:lnSpc>
              <a:buFontTx/>
              <a:buNone/>
            </a:pPr>
            <a:r>
              <a:rPr lang="en-US" altLang="tr-TR" sz="2000" dirty="0">
                <a:latin typeface="Courier New" panose="02070309020205020404" pitchFamily="49" charset="0"/>
              </a:rPr>
              <a:t>}</a:t>
            </a:r>
          </a:p>
          <a:p>
            <a:pPr eaLnBrk="1" hangingPunct="1">
              <a:lnSpc>
                <a:spcPct val="80000"/>
              </a:lnSpc>
              <a:buFontTx/>
              <a:buNone/>
            </a:pPr>
            <a:r>
              <a:rPr lang="en-US" altLang="tr-TR" sz="2000" dirty="0"/>
              <a:t>// The actual implementation of the </a:t>
            </a:r>
            <a:r>
              <a:rPr lang="en-US" altLang="tr-TR" sz="2000" dirty="0" err="1"/>
              <a:t>JComponent.paintBorder</a:t>
            </a:r>
            <a:r>
              <a:rPr lang="en-US" altLang="tr-TR" sz="2000" dirty="0"/>
              <a:t>() method</a:t>
            </a:r>
          </a:p>
          <a:p>
            <a:pPr eaLnBrk="1" hangingPunct="1">
              <a:buFontTx/>
              <a:buNone/>
            </a:pPr>
            <a:r>
              <a:rPr lang="en-US" altLang="tr-TR" sz="2000" dirty="0">
                <a:latin typeface="Courier New" panose="02070309020205020404" pitchFamily="49" charset="0"/>
              </a:rPr>
              <a:t>protected void </a:t>
            </a:r>
            <a:r>
              <a:rPr lang="en-US" altLang="tr-TR" sz="2000" b="1" dirty="0" err="1">
                <a:latin typeface="Courier New" panose="02070309020205020404" pitchFamily="49" charset="0"/>
              </a:rPr>
              <a:t>paintBorder</a:t>
            </a:r>
            <a:r>
              <a:rPr lang="en-US" altLang="tr-TR" sz="2000" dirty="0">
                <a:latin typeface="Courier New" panose="02070309020205020404" pitchFamily="49" charset="0"/>
              </a:rPr>
              <a:t>(Graphics g) {</a:t>
            </a:r>
          </a:p>
          <a:p>
            <a:pPr eaLnBrk="1" hangingPunct="1">
              <a:buFontTx/>
              <a:buNone/>
            </a:pPr>
            <a:r>
              <a:rPr lang="en-US" altLang="tr-TR" sz="2000" dirty="0">
                <a:latin typeface="Courier New" panose="02070309020205020404" pitchFamily="49" charset="0"/>
              </a:rPr>
              <a:t>  Border </a:t>
            </a:r>
            <a:r>
              <a:rPr lang="en-US" altLang="tr-TR" sz="2000" dirty="0" err="1">
                <a:latin typeface="Courier New" panose="02070309020205020404" pitchFamily="49" charset="0"/>
              </a:rPr>
              <a:t>border</a:t>
            </a:r>
            <a:r>
              <a:rPr lang="en-US" altLang="tr-TR" sz="2000" dirty="0">
                <a:latin typeface="Courier New" panose="02070309020205020404" pitchFamily="49" charset="0"/>
              </a:rPr>
              <a:t> = </a:t>
            </a:r>
            <a:r>
              <a:rPr lang="en-US" altLang="tr-TR" sz="2000" dirty="0" err="1">
                <a:latin typeface="Courier New" panose="02070309020205020404" pitchFamily="49" charset="0"/>
              </a:rPr>
              <a:t>getBorder</a:t>
            </a:r>
            <a:r>
              <a:rPr lang="en-US" altLang="tr-TR" sz="2000" dirty="0">
                <a:latin typeface="Courier New" panose="02070309020205020404" pitchFamily="49" charset="0"/>
              </a:rPr>
              <a:t>();</a:t>
            </a:r>
            <a:br>
              <a:rPr lang="en-US" altLang="tr-TR" sz="2000" dirty="0">
                <a:latin typeface="Courier New" panose="02070309020205020404" pitchFamily="49" charset="0"/>
              </a:rPr>
            </a:br>
            <a:r>
              <a:rPr lang="en-US" altLang="tr-TR" sz="2000" dirty="0">
                <a:latin typeface="Courier New" panose="02070309020205020404" pitchFamily="49" charset="0"/>
              </a:rPr>
              <a:t> if (border != null) {</a:t>
            </a:r>
            <a:br>
              <a:rPr lang="en-US" altLang="tr-TR" sz="2000" dirty="0">
                <a:latin typeface="Courier New" panose="02070309020205020404" pitchFamily="49" charset="0"/>
              </a:rPr>
            </a:br>
            <a:r>
              <a:rPr lang="en-US" altLang="tr-TR" sz="2000" dirty="0">
                <a:latin typeface="Courier New" panose="02070309020205020404" pitchFamily="49" charset="0"/>
              </a:rPr>
              <a:t>   </a:t>
            </a:r>
            <a:r>
              <a:rPr lang="en-US" altLang="tr-TR" sz="2000" b="1" dirty="0" err="1">
                <a:latin typeface="Courier New" panose="02070309020205020404" pitchFamily="49" charset="0"/>
              </a:rPr>
              <a:t>border.paintBorder</a:t>
            </a:r>
            <a:r>
              <a:rPr lang="en-US" altLang="tr-TR" sz="2000" dirty="0">
                <a:latin typeface="Courier New" panose="02070309020205020404" pitchFamily="49" charset="0"/>
              </a:rPr>
              <a:t>(</a:t>
            </a:r>
            <a:r>
              <a:rPr lang="en-US" altLang="tr-TR" sz="2000" b="1" dirty="0">
                <a:latin typeface="Courier New" panose="02070309020205020404" pitchFamily="49" charset="0"/>
              </a:rPr>
              <a:t>this</a:t>
            </a:r>
            <a:r>
              <a:rPr lang="en-US" altLang="tr-TR" sz="2000" dirty="0">
                <a:latin typeface="Courier New" panose="02070309020205020404" pitchFamily="49" charset="0"/>
              </a:rPr>
              <a:t>,g,0,0,getWidth(), </a:t>
            </a:r>
            <a:r>
              <a:rPr lang="en-US" altLang="tr-TR" sz="2000" dirty="0" err="1">
                <a:latin typeface="Courier New" panose="02070309020205020404" pitchFamily="49" charset="0"/>
              </a:rPr>
              <a:t>getHeight</a:t>
            </a:r>
            <a:r>
              <a:rPr lang="en-US" altLang="tr-TR" sz="2000" dirty="0">
                <a:latin typeface="Courier New" panose="02070309020205020404" pitchFamily="49" charset="0"/>
              </a:rPr>
              <a:t>()); }</a:t>
            </a:r>
          </a:p>
          <a:p>
            <a:pPr eaLnBrk="1" hangingPunct="1">
              <a:buFontTx/>
              <a:buNone/>
            </a:pPr>
            <a:r>
              <a:rPr lang="en-US" altLang="tr-TR" sz="2000" dirty="0">
                <a:latin typeface="Courier New" panose="02070309020205020404" pitchFamily="49" charset="0"/>
              </a:rPr>
              <a:t>} </a:t>
            </a:r>
          </a:p>
          <a:p>
            <a:pPr eaLnBrk="1" hangingPunct="1">
              <a:lnSpc>
                <a:spcPct val="80000"/>
              </a:lnSpc>
              <a:buFontTx/>
              <a:buNone/>
            </a:pPr>
            <a:r>
              <a:rPr lang="en-US" altLang="tr-TR" sz="2000" dirty="0"/>
              <a:t>Border Object has the drawing algorithm not the </a:t>
            </a:r>
            <a:r>
              <a:rPr lang="en-US" altLang="tr-TR" sz="2000" dirty="0" err="1"/>
              <a:t>JComponent</a:t>
            </a:r>
            <a:endParaRPr lang="en-US" altLang="tr-TR" sz="2000" dirty="0"/>
          </a:p>
        </p:txBody>
      </p:sp>
      <p:sp>
        <p:nvSpPr>
          <p:cNvPr id="182276" name="Line 4">
            <a:extLst>
              <a:ext uri="{FF2B5EF4-FFF2-40B4-BE49-F238E27FC236}">
                <a16:creationId xmlns:a16="http://schemas.microsoft.com/office/drawing/2014/main" id="{C6AC467F-8F66-3750-1CF1-5624C6743A3F}"/>
              </a:ext>
            </a:extLst>
          </p:cNvPr>
          <p:cNvSpPr>
            <a:spLocks noChangeShapeType="1"/>
          </p:cNvSpPr>
          <p:nvPr/>
        </p:nvSpPr>
        <p:spPr bwMode="auto">
          <a:xfrm>
            <a:off x="1331640" y="1335291"/>
            <a:ext cx="6048672" cy="1589653"/>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22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227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227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227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227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22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3E2F0-AE58-0D93-36C2-A873B16C731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252914B-15E3-A9E8-D213-A2BBFE1B202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28401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AD58E95-3E01-E500-AAB1-AE417341D07C}"/>
              </a:ext>
            </a:extLst>
          </p:cNvPr>
          <p:cNvSpPr>
            <a:spLocks noGrp="1" noChangeArrowheads="1"/>
          </p:cNvSpPr>
          <p:nvPr>
            <p:ph type="title"/>
          </p:nvPr>
        </p:nvSpPr>
        <p:spPr/>
        <p:txBody>
          <a:bodyPr/>
          <a:lstStyle/>
          <a:p>
            <a:pPr eaLnBrk="1" hangingPunct="1"/>
            <a:r>
              <a:rPr lang="en-US" altLang="tr-TR" dirty="0"/>
              <a:t>Strategy – Consequences-1</a:t>
            </a:r>
          </a:p>
        </p:txBody>
      </p:sp>
      <p:sp>
        <p:nvSpPr>
          <p:cNvPr id="18435" name="Rectangle 3">
            <a:extLst>
              <a:ext uri="{FF2B5EF4-FFF2-40B4-BE49-F238E27FC236}">
                <a16:creationId xmlns:a16="http://schemas.microsoft.com/office/drawing/2014/main" id="{2E127C90-DD8C-018C-0951-1EECBA0A3E5A}"/>
              </a:ext>
            </a:extLst>
          </p:cNvPr>
          <p:cNvSpPr>
            <a:spLocks noGrp="1" noChangeArrowheads="1"/>
          </p:cNvSpPr>
          <p:nvPr>
            <p:ph idx="1"/>
          </p:nvPr>
        </p:nvSpPr>
        <p:spPr/>
        <p:txBody>
          <a:bodyPr/>
          <a:lstStyle/>
          <a:p>
            <a:pPr eaLnBrk="1" hangingPunct="1"/>
            <a:r>
              <a:rPr lang="en-US" altLang="tr-TR" sz="2800" dirty="0"/>
              <a:t>Eliminates conditional statements</a:t>
            </a:r>
          </a:p>
          <a:p>
            <a:pPr lvl="1" eaLnBrk="1" hangingPunct="1"/>
            <a:r>
              <a:rPr lang="en-US" altLang="tr-TR" sz="2400" dirty="0"/>
              <a:t>When you have several behaviors together in one class, you’ll use conditionals</a:t>
            </a:r>
          </a:p>
          <a:p>
            <a:pPr lvl="1" eaLnBrk="1" hangingPunct="1"/>
            <a:r>
              <a:rPr lang="en-US" altLang="tr-TR" sz="2400" dirty="0"/>
              <a:t>With Strategies you won't need to check for anything, since whatever the current strategy is just executes without asking questions </a:t>
            </a:r>
          </a:p>
          <a:p>
            <a:pPr eaLnBrk="1" hangingPunct="1"/>
            <a:r>
              <a:rPr lang="en-US" altLang="tr-TR" sz="2800" dirty="0"/>
              <a:t>Alternative to subclassing context object to achieve different behaviors </a:t>
            </a:r>
          </a:p>
          <a:p>
            <a:pPr lvl="1" eaLnBrk="1" hangingPunct="1"/>
            <a:r>
              <a:rPr lang="en-US" altLang="tr-TR" sz="2400" dirty="0"/>
              <a:t>With Strategies all you need to do is switch the context's strategy and it will immediately change how it behaves.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AD58E95-3E01-E500-AAB1-AE417341D07C}"/>
              </a:ext>
            </a:extLst>
          </p:cNvPr>
          <p:cNvSpPr>
            <a:spLocks noGrp="1" noChangeArrowheads="1"/>
          </p:cNvSpPr>
          <p:nvPr>
            <p:ph type="title"/>
          </p:nvPr>
        </p:nvSpPr>
        <p:spPr/>
        <p:txBody>
          <a:bodyPr/>
          <a:lstStyle/>
          <a:p>
            <a:pPr eaLnBrk="1" hangingPunct="1"/>
            <a:r>
              <a:rPr lang="en-US" altLang="tr-TR" dirty="0"/>
              <a:t>Strategy – Consequences-2</a:t>
            </a:r>
          </a:p>
        </p:txBody>
      </p:sp>
      <p:sp>
        <p:nvSpPr>
          <p:cNvPr id="18435" name="Rectangle 3">
            <a:extLst>
              <a:ext uri="{FF2B5EF4-FFF2-40B4-BE49-F238E27FC236}">
                <a16:creationId xmlns:a16="http://schemas.microsoft.com/office/drawing/2014/main" id="{2E127C90-DD8C-018C-0951-1EECBA0A3E5A}"/>
              </a:ext>
            </a:extLst>
          </p:cNvPr>
          <p:cNvSpPr>
            <a:spLocks noGrp="1" noChangeArrowheads="1"/>
          </p:cNvSpPr>
          <p:nvPr>
            <p:ph idx="1"/>
          </p:nvPr>
        </p:nvSpPr>
        <p:spPr/>
        <p:txBody>
          <a:bodyPr/>
          <a:lstStyle/>
          <a:p>
            <a:pPr eaLnBrk="1" hangingPunct="1"/>
            <a:r>
              <a:rPr lang="en-US" altLang="tr-TR" sz="2800" dirty="0"/>
              <a:t>Change the algorithm on the fly</a:t>
            </a:r>
          </a:p>
          <a:p>
            <a:pPr eaLnBrk="1" hangingPunct="1"/>
            <a:r>
              <a:rPr lang="en-US" altLang="tr-TR" sz="2800" dirty="0"/>
              <a:t>We can introduce new strategies without having to change the context. (OCP)</a:t>
            </a:r>
          </a:p>
          <a:p>
            <a:pPr eaLnBrk="1" hangingPunct="1"/>
            <a:r>
              <a:rPr lang="en-US" altLang="tr-TR" sz="2800" dirty="0"/>
              <a:t>Strategies can be shared</a:t>
            </a:r>
            <a:endParaRPr lang="en-US" altLang="tr-TR" sz="2400" dirty="0"/>
          </a:p>
          <a:p>
            <a:pPr eaLnBrk="1" hangingPunct="1"/>
            <a:r>
              <a:rPr lang="en-US" altLang="tr-TR" sz="2800" dirty="0"/>
              <a:t>Increases number of objects and communication overhead btw strategy and context</a:t>
            </a:r>
          </a:p>
          <a:p>
            <a:pPr lvl="1"/>
            <a:r>
              <a:rPr lang="en-US" altLang="tr-TR" sz="2400" dirty="0"/>
              <a:t>See the implementation issues-2</a:t>
            </a:r>
          </a:p>
          <a:p>
            <a:pPr marL="0" indent="0" eaLnBrk="1" hangingPunct="1">
              <a:buNone/>
            </a:pPr>
            <a:endParaRPr lang="en-US" altLang="tr-TR" sz="2800" dirty="0"/>
          </a:p>
        </p:txBody>
      </p:sp>
    </p:spTree>
    <p:extLst>
      <p:ext uri="{BB962C8B-B14F-4D97-AF65-F5344CB8AC3E}">
        <p14:creationId xmlns:p14="http://schemas.microsoft.com/office/powerpoint/2010/main" val="3480757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C5FEF-60DF-B972-9AF4-6F8A5DBFAF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F27AAD-1E87-5B47-8B9C-58C84176CCE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90473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20BCC99-374F-9219-F5A8-5CC011FAC97A}"/>
              </a:ext>
            </a:extLst>
          </p:cNvPr>
          <p:cNvSpPr>
            <a:spLocks noGrp="1" noChangeArrowheads="1"/>
          </p:cNvSpPr>
          <p:nvPr>
            <p:ph type="title"/>
          </p:nvPr>
        </p:nvSpPr>
        <p:spPr/>
        <p:txBody>
          <a:bodyPr/>
          <a:lstStyle/>
          <a:p>
            <a:r>
              <a:rPr lang="en-GB" altLang="tr-TR" dirty="0"/>
              <a:t>Strategy: Key notes</a:t>
            </a:r>
          </a:p>
        </p:txBody>
      </p:sp>
      <p:sp>
        <p:nvSpPr>
          <p:cNvPr id="19459" name="Rectangle 3">
            <a:extLst>
              <a:ext uri="{FF2B5EF4-FFF2-40B4-BE49-F238E27FC236}">
                <a16:creationId xmlns:a16="http://schemas.microsoft.com/office/drawing/2014/main" id="{85254156-1379-F136-E6F8-98749BCC7A5C}"/>
              </a:ext>
            </a:extLst>
          </p:cNvPr>
          <p:cNvSpPr>
            <a:spLocks noGrp="1" noChangeArrowheads="1"/>
          </p:cNvSpPr>
          <p:nvPr>
            <p:ph type="body" idx="1"/>
          </p:nvPr>
        </p:nvSpPr>
        <p:spPr/>
        <p:txBody>
          <a:bodyPr/>
          <a:lstStyle/>
          <a:p>
            <a:r>
              <a:rPr lang="en-US" altLang="tr-TR" sz="2800" dirty="0"/>
              <a:t>Family of algorithms</a:t>
            </a:r>
          </a:p>
          <a:p>
            <a:pPr lvl="1"/>
            <a:r>
              <a:rPr lang="en-US" altLang="tr-TR" sz="2400" dirty="0"/>
              <a:t>One strategy class per algorithm</a:t>
            </a:r>
          </a:p>
          <a:p>
            <a:r>
              <a:rPr lang="en-US" altLang="tr-TR" sz="2800" dirty="0"/>
              <a:t>Make them interchangeable</a:t>
            </a:r>
          </a:p>
          <a:p>
            <a:pPr lvl="1"/>
            <a:r>
              <a:rPr lang="en-US" altLang="tr-TR" sz="2400" dirty="0"/>
              <a:t>Just change the current strategy object and the algorithm changes</a:t>
            </a:r>
          </a:p>
          <a:p>
            <a:r>
              <a:rPr lang="en-US" altLang="tr-TR" sz="2800" dirty="0"/>
              <a:t>Client of the context can use different algorithms easily</a:t>
            </a:r>
          </a:p>
          <a:p>
            <a:r>
              <a:rPr lang="en-US" altLang="tr-TR" sz="2800" dirty="0"/>
              <a:t>Strategy is about delegating </a:t>
            </a:r>
            <a:r>
              <a:rPr lang="en-US" altLang="tr-TR" sz="2800" b="1" dirty="0"/>
              <a:t>how</a:t>
            </a:r>
            <a:r>
              <a:rPr lang="en-US" altLang="tr-TR" sz="2800" dirty="0"/>
              <a:t> an action is performed.</a:t>
            </a:r>
          </a:p>
          <a:p>
            <a:r>
              <a:rPr lang="en-US" altLang="tr-TR" sz="2800" dirty="0"/>
              <a:t>Alternative for subclassing</a:t>
            </a:r>
            <a:endParaRPr lang="en-GB" altLang="tr-TR" sz="2800" dirty="0"/>
          </a:p>
        </p:txBody>
      </p:sp>
    </p:spTree>
    <p:extLst>
      <p:ext uri="{BB962C8B-B14F-4D97-AF65-F5344CB8AC3E}">
        <p14:creationId xmlns:p14="http://schemas.microsoft.com/office/powerpoint/2010/main" val="115621967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A7DA5-A6D0-1F95-A539-02DA020FBCC0}"/>
              </a:ext>
            </a:extLst>
          </p:cNvPr>
          <p:cNvSpPr>
            <a:spLocks noGrp="1"/>
          </p:cNvSpPr>
          <p:nvPr>
            <p:ph type="title"/>
          </p:nvPr>
        </p:nvSpPr>
        <p:spPr/>
        <p:txBody>
          <a:bodyPr/>
          <a:lstStyle/>
          <a:p>
            <a:r>
              <a:rPr lang="en-US" dirty="0"/>
              <a:t>Implementation issues-1</a:t>
            </a:r>
          </a:p>
        </p:txBody>
      </p:sp>
      <p:sp>
        <p:nvSpPr>
          <p:cNvPr id="3" name="Content Placeholder 2">
            <a:extLst>
              <a:ext uri="{FF2B5EF4-FFF2-40B4-BE49-F238E27FC236}">
                <a16:creationId xmlns:a16="http://schemas.microsoft.com/office/drawing/2014/main" id="{4316E480-1B06-1006-CECC-E5DEC3831C5F}"/>
              </a:ext>
            </a:extLst>
          </p:cNvPr>
          <p:cNvSpPr>
            <a:spLocks noGrp="1"/>
          </p:cNvSpPr>
          <p:nvPr>
            <p:ph idx="1"/>
          </p:nvPr>
        </p:nvSpPr>
        <p:spPr>
          <a:xfrm>
            <a:off x="0" y="1412776"/>
            <a:ext cx="9227368" cy="1805677"/>
          </a:xfrm>
        </p:spPr>
        <p:txBody>
          <a:bodyPr/>
          <a:lstStyle/>
          <a:p>
            <a:r>
              <a:rPr lang="en-US" sz="2800" dirty="0"/>
              <a:t>Lambda functions instead of explicit strategy classes</a:t>
            </a:r>
          </a:p>
          <a:p>
            <a:pPr lvl="1"/>
            <a:r>
              <a:rPr lang="en-US" sz="2400" dirty="0"/>
              <a:t>Cons: strategies will not be shared</a:t>
            </a:r>
          </a:p>
          <a:p>
            <a:pPr lvl="1"/>
            <a:r>
              <a:rPr lang="en-US" sz="2400" dirty="0"/>
              <a:t>Pro: less number of classes </a:t>
            </a:r>
          </a:p>
        </p:txBody>
      </p:sp>
      <p:sp>
        <p:nvSpPr>
          <p:cNvPr id="8" name="TextBox 7">
            <a:extLst>
              <a:ext uri="{FF2B5EF4-FFF2-40B4-BE49-F238E27FC236}">
                <a16:creationId xmlns:a16="http://schemas.microsoft.com/office/drawing/2014/main" id="{EC98F6B0-7951-84A4-596E-BEF5AF42628A}"/>
              </a:ext>
            </a:extLst>
          </p:cNvPr>
          <p:cNvSpPr txBox="1"/>
          <p:nvPr/>
        </p:nvSpPr>
        <p:spPr>
          <a:xfrm>
            <a:off x="1283279" y="2924944"/>
            <a:ext cx="6577442" cy="3477875"/>
          </a:xfrm>
          <a:prstGeom prst="rect">
            <a:avLst/>
          </a:prstGeom>
          <a:noFill/>
        </p:spPr>
        <p:txBody>
          <a:bodyPr wrap="none" rtlCol="0">
            <a:spAutoFit/>
          </a:bodyPr>
          <a:lstStyle/>
          <a:p>
            <a:r>
              <a:rPr lang="en-US" sz="2000" dirty="0">
                <a:latin typeface="Source Sans Pro" panose="020B0503030403020204" pitchFamily="34" charset="0"/>
                <a:ea typeface="Source Sans Pro" panose="020B0503030403020204" pitchFamily="34" charset="0"/>
              </a:rPr>
              <a:t>class Car {</a:t>
            </a:r>
          </a:p>
          <a:p>
            <a:r>
              <a:rPr lang="en-US" sz="2000" dirty="0">
                <a:latin typeface="Source Sans Pro" panose="020B0503030403020204" pitchFamily="34" charset="0"/>
                <a:ea typeface="Source Sans Pro" panose="020B0503030403020204" pitchFamily="34" charset="0"/>
              </a:rPr>
              <a:t>public:</a:t>
            </a:r>
          </a:p>
          <a:p>
            <a:r>
              <a:rPr lang="en-US" sz="2000" dirty="0">
                <a:latin typeface="Source Sans Pro" panose="020B0503030403020204" pitchFamily="34" charset="0"/>
                <a:ea typeface="Source Sans Pro" panose="020B0503030403020204" pitchFamily="34" charset="0"/>
              </a:rPr>
              <a:t>    std::function&lt;void()&gt; strategy;</a:t>
            </a:r>
          </a:p>
          <a:p>
            <a:r>
              <a:rPr lang="en-US" sz="2000" dirty="0">
                <a:latin typeface="Source Sans Pro" panose="020B0503030403020204" pitchFamily="34" charset="0"/>
                <a:ea typeface="Source Sans Pro" panose="020B0503030403020204" pitchFamily="34" charset="0"/>
              </a:rPr>
              <a:t>    Car(</a:t>
            </a:r>
            <a:r>
              <a:rPr lang="en-US" sz="2000" b="1" dirty="0">
                <a:latin typeface="Source Sans Pro" panose="020B0503030403020204" pitchFamily="34" charset="0"/>
                <a:ea typeface="Source Sans Pro" panose="020B0503030403020204" pitchFamily="34" charset="0"/>
              </a:rPr>
              <a:t>std::function&lt;void()&gt; </a:t>
            </a:r>
            <a:r>
              <a:rPr lang="en-US" sz="2000" dirty="0">
                <a:latin typeface="Source Sans Pro" panose="020B0503030403020204" pitchFamily="34" charset="0"/>
                <a:ea typeface="Source Sans Pro" panose="020B0503030403020204" pitchFamily="34" charset="0"/>
              </a:rPr>
              <a:t>strategy) : strategy(strategy) {}</a:t>
            </a:r>
          </a:p>
          <a:p>
            <a:r>
              <a:rPr lang="en-US" sz="2000" dirty="0">
                <a:latin typeface="Source Sans Pro" panose="020B0503030403020204" pitchFamily="34" charset="0"/>
                <a:ea typeface="Source Sans Pro" panose="020B0503030403020204" pitchFamily="34" charset="0"/>
              </a:rPr>
              <a:t>    void </a:t>
            </a:r>
            <a:r>
              <a:rPr lang="en-US" sz="2000" dirty="0" err="1">
                <a:latin typeface="Source Sans Pro" panose="020B0503030403020204" pitchFamily="34" charset="0"/>
                <a:ea typeface="Source Sans Pro" panose="020B0503030403020204" pitchFamily="34" charset="0"/>
              </a:rPr>
              <a:t>applyBrakes</a:t>
            </a:r>
            <a:r>
              <a:rPr lang="en-US" sz="2000" dirty="0">
                <a:latin typeface="Source Sans Pro" panose="020B0503030403020204" pitchFamily="34" charset="0"/>
                <a:ea typeface="Source Sans Pro" panose="020B0503030403020204" pitchFamily="34" charset="0"/>
              </a:rPr>
              <a:t>() {  strategy(); }</a:t>
            </a:r>
          </a:p>
          <a:p>
            <a:r>
              <a:rPr lang="en-US" sz="2000" dirty="0">
                <a:latin typeface="Source Sans Pro" panose="020B0503030403020204" pitchFamily="34" charset="0"/>
                <a:ea typeface="Source Sans Pro" panose="020B0503030403020204" pitchFamily="34" charset="0"/>
              </a:rPr>
              <a:t>};</a:t>
            </a:r>
          </a:p>
          <a:p>
            <a:endParaRPr lang="en-US" sz="2000" dirty="0">
              <a:latin typeface="Source Sans Pro" panose="020B0503030403020204" pitchFamily="34" charset="0"/>
              <a:ea typeface="Source Sans Pro" panose="020B0503030403020204" pitchFamily="34" charset="0"/>
            </a:endParaRPr>
          </a:p>
          <a:p>
            <a:r>
              <a:rPr lang="en-US" sz="2000" dirty="0">
                <a:latin typeface="Source Sans Pro" panose="020B0503030403020204" pitchFamily="34" charset="0"/>
                <a:ea typeface="Source Sans Pro" panose="020B0503030403020204" pitchFamily="34" charset="0"/>
              </a:rPr>
              <a:t>int main() {</a:t>
            </a:r>
          </a:p>
          <a:p>
            <a:r>
              <a:rPr lang="en-US" sz="2000" dirty="0">
                <a:latin typeface="Source Sans Pro" panose="020B0503030403020204" pitchFamily="34" charset="0"/>
                <a:ea typeface="Source Sans Pro" panose="020B0503030403020204" pitchFamily="34" charset="0"/>
              </a:rPr>
              <a:t>    Car </a:t>
            </a:r>
            <a:r>
              <a:rPr lang="en-US" sz="2000" dirty="0" err="1">
                <a:latin typeface="Source Sans Pro" panose="020B0503030403020204" pitchFamily="34" charset="0"/>
                <a:ea typeface="Source Sans Pro" panose="020B0503030403020204" pitchFamily="34" charset="0"/>
              </a:rPr>
              <a:t>sportsCar</a:t>
            </a:r>
            <a:r>
              <a:rPr lang="en-US" sz="2000" dirty="0">
                <a:latin typeface="Source Sans Pro" panose="020B0503030403020204" pitchFamily="34" charset="0"/>
                <a:ea typeface="Source Sans Pro" panose="020B0503030403020204" pitchFamily="34" charset="0"/>
              </a:rPr>
              <a:t>( </a:t>
            </a:r>
            <a:r>
              <a:rPr lang="en-US" sz="2000" b="1" dirty="0">
                <a:latin typeface="Source Sans Pro" panose="020B0503030403020204" pitchFamily="34" charset="0"/>
                <a:ea typeface="Source Sans Pro" panose="020B0503030403020204" pitchFamily="34" charset="0"/>
              </a:rPr>
              <a:t>{ </a:t>
            </a:r>
            <a:r>
              <a:rPr lang="en-US" sz="2000" dirty="0">
                <a:latin typeface="Source Sans Pro" panose="020B0503030403020204" pitchFamily="34" charset="0"/>
                <a:ea typeface="Source Sans Pro" panose="020B0503030403020204" pitchFamily="34" charset="0"/>
              </a:rPr>
              <a:t>std::</a:t>
            </a:r>
            <a:r>
              <a:rPr lang="en-US" sz="2000" dirty="0" err="1">
                <a:latin typeface="Source Sans Pro" panose="020B0503030403020204" pitchFamily="34" charset="0"/>
                <a:ea typeface="Source Sans Pro" panose="020B0503030403020204" pitchFamily="34" charset="0"/>
              </a:rPr>
              <a:t>cout</a:t>
            </a:r>
            <a:r>
              <a:rPr lang="en-US" sz="2000" dirty="0">
                <a:latin typeface="Source Sans Pro" panose="020B0503030403020204" pitchFamily="34" charset="0"/>
                <a:ea typeface="Source Sans Pro" panose="020B0503030403020204" pitchFamily="34" charset="0"/>
              </a:rPr>
              <a:t> &lt;&lt; "Applying ABS brakes...\n"; </a:t>
            </a:r>
            <a:r>
              <a:rPr lang="en-US" sz="2000" b="1" dirty="0">
                <a:latin typeface="Source Sans Pro" panose="020B0503030403020204" pitchFamily="34" charset="0"/>
                <a:ea typeface="Source Sans Pro" panose="020B0503030403020204" pitchFamily="34" charset="0"/>
              </a:rPr>
              <a:t>}</a:t>
            </a:r>
            <a:r>
              <a:rPr lang="en-US" sz="2000" dirty="0">
                <a:latin typeface="Source Sans Pro" panose="020B0503030403020204" pitchFamily="34" charset="0"/>
                <a:ea typeface="Source Sans Pro" panose="020B0503030403020204" pitchFamily="34" charset="0"/>
              </a:rPr>
              <a:t>);</a:t>
            </a:r>
          </a:p>
          <a:p>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sportsCar.applyBrakes</a:t>
            </a:r>
            <a:r>
              <a:rPr lang="en-US" sz="2000" dirty="0">
                <a:latin typeface="Source Sans Pro" panose="020B0503030403020204" pitchFamily="34" charset="0"/>
                <a:ea typeface="Source Sans Pro" panose="020B0503030403020204" pitchFamily="34" charset="0"/>
              </a:rPr>
              <a:t>();</a:t>
            </a:r>
          </a:p>
          <a:p>
            <a:r>
              <a:rPr lang="en-US" sz="2000" dirty="0">
                <a:latin typeface="Source Sans Pro" panose="020B0503030403020204" pitchFamily="34" charset="0"/>
                <a:ea typeface="Source Sans Pro" panose="020B0503030403020204" pitchFamily="34" charset="0"/>
              </a:rPr>
              <a:t>}</a:t>
            </a:r>
          </a:p>
        </p:txBody>
      </p:sp>
    </p:spTree>
    <p:extLst>
      <p:ext uri="{BB962C8B-B14F-4D97-AF65-F5344CB8AC3E}">
        <p14:creationId xmlns:p14="http://schemas.microsoft.com/office/powerpoint/2010/main" val="1090416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5F1B0-9AE0-E20D-88E8-230D066FF73A}"/>
              </a:ext>
            </a:extLst>
          </p:cNvPr>
          <p:cNvSpPr>
            <a:spLocks noGrp="1"/>
          </p:cNvSpPr>
          <p:nvPr>
            <p:ph type="title"/>
          </p:nvPr>
        </p:nvSpPr>
        <p:spPr/>
        <p:txBody>
          <a:bodyPr/>
          <a:lstStyle/>
          <a:p>
            <a:r>
              <a:rPr lang="en-US" dirty="0"/>
              <a:t>Lambda</a:t>
            </a:r>
          </a:p>
        </p:txBody>
      </p:sp>
      <p:sp>
        <p:nvSpPr>
          <p:cNvPr id="3" name="Content Placeholder 2">
            <a:extLst>
              <a:ext uri="{FF2B5EF4-FFF2-40B4-BE49-F238E27FC236}">
                <a16:creationId xmlns:a16="http://schemas.microsoft.com/office/drawing/2014/main" id="{55C0C276-960B-8CF9-1396-5FBC4592ABD9}"/>
              </a:ext>
            </a:extLst>
          </p:cNvPr>
          <p:cNvSpPr>
            <a:spLocks noGrp="1"/>
          </p:cNvSpPr>
          <p:nvPr>
            <p:ph idx="1"/>
          </p:nvPr>
        </p:nvSpPr>
        <p:spPr/>
        <p:txBody>
          <a:bodyPr/>
          <a:lstStyle/>
          <a:p>
            <a:pPr marL="0" indent="0">
              <a:buNone/>
            </a:pPr>
            <a:r>
              <a:rPr lang="en-US" sz="2000" dirty="0">
                <a:latin typeface="Source Sans Pro" panose="020B0503030403020204" pitchFamily="34" charset="0"/>
                <a:ea typeface="Source Sans Pro" panose="020B0503030403020204" pitchFamily="34" charset="0"/>
              </a:rPr>
              <a:t>interface </a:t>
            </a:r>
            <a:r>
              <a:rPr lang="en-US" sz="2000" dirty="0" err="1">
                <a:latin typeface="Source Sans Pro" panose="020B0503030403020204" pitchFamily="34" charset="0"/>
                <a:ea typeface="Source Sans Pro" panose="020B0503030403020204" pitchFamily="34" charset="0"/>
              </a:rPr>
              <a:t>BrakingStrategy</a:t>
            </a:r>
            <a:r>
              <a:rPr lang="en-US" sz="2000" dirty="0">
                <a:latin typeface="Source Sans Pro" panose="020B0503030403020204" pitchFamily="34" charset="0"/>
                <a:ea typeface="Source Sans Pro" panose="020B0503030403020204" pitchFamily="34" charset="0"/>
              </a:rPr>
              <a:t> {      void </a:t>
            </a:r>
            <a:r>
              <a:rPr lang="en-US" sz="2000" dirty="0" err="1">
                <a:latin typeface="Source Sans Pro" panose="020B0503030403020204" pitchFamily="34" charset="0"/>
                <a:ea typeface="Source Sans Pro" panose="020B0503030403020204" pitchFamily="34" charset="0"/>
              </a:rPr>
              <a:t>applyBrakes</a:t>
            </a:r>
            <a:r>
              <a:rPr lang="en-US" sz="2000" dirty="0">
                <a:latin typeface="Source Sans Pro" panose="020B0503030403020204" pitchFamily="34" charset="0"/>
                <a:ea typeface="Source Sans Pro" panose="020B0503030403020204" pitchFamily="34" charset="0"/>
              </a:rPr>
              <a:t>();}   //JAVA</a:t>
            </a:r>
          </a:p>
          <a:p>
            <a:pPr marL="0" indent="0">
              <a:buNone/>
            </a:pPr>
            <a:r>
              <a:rPr lang="en-US" sz="2000" dirty="0">
                <a:latin typeface="Source Sans Pro" panose="020B0503030403020204" pitchFamily="34" charset="0"/>
                <a:ea typeface="Source Sans Pro" panose="020B0503030403020204" pitchFamily="34" charset="0"/>
              </a:rPr>
              <a:t>class Car {</a:t>
            </a:r>
          </a:p>
          <a:p>
            <a:pPr marL="0" indent="0">
              <a:buNone/>
            </a:pPr>
            <a:r>
              <a:rPr lang="en-US" sz="2000" dirty="0">
                <a:latin typeface="Source Sans Pro" panose="020B0503030403020204" pitchFamily="34" charset="0"/>
                <a:ea typeface="Source Sans Pro" panose="020B0503030403020204" pitchFamily="34" charset="0"/>
              </a:rPr>
              <a:t>   private </a:t>
            </a:r>
            <a:r>
              <a:rPr lang="en-US" sz="2000" dirty="0" err="1">
                <a:latin typeface="Source Sans Pro" panose="020B0503030403020204" pitchFamily="34" charset="0"/>
                <a:ea typeface="Source Sans Pro" panose="020B0503030403020204" pitchFamily="34" charset="0"/>
              </a:rPr>
              <a:t>BrakingStrategy</a:t>
            </a:r>
            <a:r>
              <a:rPr lang="en-US" sz="2000" dirty="0">
                <a:latin typeface="Source Sans Pro" panose="020B0503030403020204" pitchFamily="34" charset="0"/>
                <a:ea typeface="Source Sans Pro" panose="020B0503030403020204" pitchFamily="34" charset="0"/>
              </a:rPr>
              <a:t> strategy;</a:t>
            </a:r>
          </a:p>
          <a:p>
            <a:pPr marL="0" indent="0">
              <a:buNone/>
            </a:pPr>
            <a:r>
              <a:rPr lang="en-US" sz="2000" dirty="0">
                <a:latin typeface="Source Sans Pro" panose="020B0503030403020204" pitchFamily="34" charset="0"/>
                <a:ea typeface="Source Sans Pro" panose="020B0503030403020204" pitchFamily="34" charset="0"/>
              </a:rPr>
              <a:t>    public Car(</a:t>
            </a:r>
            <a:r>
              <a:rPr lang="en-US" sz="2000" dirty="0" err="1">
                <a:latin typeface="Source Sans Pro" panose="020B0503030403020204" pitchFamily="34" charset="0"/>
                <a:ea typeface="Source Sans Pro" panose="020B0503030403020204" pitchFamily="34" charset="0"/>
              </a:rPr>
              <a:t>BrakingStrategy</a:t>
            </a:r>
            <a:r>
              <a:rPr lang="en-US" sz="2000" dirty="0">
                <a:latin typeface="Source Sans Pro" panose="020B0503030403020204" pitchFamily="34" charset="0"/>
                <a:ea typeface="Source Sans Pro" panose="020B0503030403020204" pitchFamily="34" charset="0"/>
              </a:rPr>
              <a:t> strategy) {  </a:t>
            </a:r>
            <a:r>
              <a:rPr lang="en-US" sz="2000" dirty="0" err="1">
                <a:latin typeface="Source Sans Pro" panose="020B0503030403020204" pitchFamily="34" charset="0"/>
                <a:ea typeface="Source Sans Pro" panose="020B0503030403020204" pitchFamily="34" charset="0"/>
              </a:rPr>
              <a:t>this.strategy</a:t>
            </a:r>
            <a:r>
              <a:rPr lang="en-US" sz="2000" dirty="0">
                <a:latin typeface="Source Sans Pro" panose="020B0503030403020204" pitchFamily="34" charset="0"/>
                <a:ea typeface="Source Sans Pro" panose="020B0503030403020204" pitchFamily="34" charset="0"/>
              </a:rPr>
              <a:t> = strategy;   }</a:t>
            </a:r>
          </a:p>
          <a:p>
            <a:pPr marL="0" indent="0">
              <a:buNone/>
            </a:pPr>
            <a:r>
              <a:rPr lang="en-US" sz="2000" dirty="0">
                <a:latin typeface="Source Sans Pro" panose="020B0503030403020204" pitchFamily="34" charset="0"/>
                <a:ea typeface="Source Sans Pro" panose="020B0503030403020204" pitchFamily="34" charset="0"/>
              </a:rPr>
              <a:t>    public void </a:t>
            </a:r>
            <a:r>
              <a:rPr lang="en-US" sz="2000" dirty="0" err="1">
                <a:latin typeface="Source Sans Pro" panose="020B0503030403020204" pitchFamily="34" charset="0"/>
                <a:ea typeface="Source Sans Pro" panose="020B0503030403020204" pitchFamily="34" charset="0"/>
              </a:rPr>
              <a:t>applyBrakes</a:t>
            </a: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strategy.applyBrakes</a:t>
            </a: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public static void main(String[] </a:t>
            </a:r>
            <a:r>
              <a:rPr lang="en-US" sz="2000" dirty="0" err="1">
                <a:latin typeface="Source Sans Pro" panose="020B0503030403020204" pitchFamily="34" charset="0"/>
                <a:ea typeface="Source Sans Pro" panose="020B0503030403020204" pitchFamily="34" charset="0"/>
              </a:rPr>
              <a:t>args</a:t>
            </a: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    Car </a:t>
            </a:r>
            <a:r>
              <a:rPr lang="en-US" sz="2000" dirty="0" err="1">
                <a:latin typeface="Source Sans Pro" panose="020B0503030403020204" pitchFamily="34" charset="0"/>
                <a:ea typeface="Source Sans Pro" panose="020B0503030403020204" pitchFamily="34" charset="0"/>
              </a:rPr>
              <a:t>sportsCar</a:t>
            </a:r>
            <a:r>
              <a:rPr lang="en-US" sz="2000" dirty="0">
                <a:latin typeface="Source Sans Pro" panose="020B0503030403020204" pitchFamily="34" charset="0"/>
                <a:ea typeface="Source Sans Pro" panose="020B0503030403020204" pitchFamily="34" charset="0"/>
              </a:rPr>
              <a:t> = new Car(</a:t>
            </a:r>
            <a:r>
              <a:rPr lang="en-US" sz="2000" b="1" dirty="0">
                <a:latin typeface="Source Sans Pro" panose="020B0503030403020204" pitchFamily="34" charset="0"/>
                <a:ea typeface="Source Sans Pro" panose="020B0503030403020204" pitchFamily="34" charset="0"/>
              </a:rPr>
              <a:t>() -&gt;</a:t>
            </a:r>
            <a:r>
              <a:rPr lang="en-US" sz="2000" dirty="0">
                <a:latin typeface="Source Sans Pro" panose="020B0503030403020204" pitchFamily="34" charset="0"/>
                <a:ea typeface="Source Sans Pro" panose="020B0503030403020204" pitchFamily="34" charset="0"/>
              </a:rPr>
              <a:t> </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System.out.println</a:t>
            </a:r>
            <a:r>
              <a:rPr lang="en-US" sz="2000" dirty="0">
                <a:latin typeface="Source Sans Pro" panose="020B0503030403020204" pitchFamily="34" charset="0"/>
                <a:ea typeface="Source Sans Pro" panose="020B0503030403020204" pitchFamily="34" charset="0"/>
              </a:rPr>
              <a:t>("Applying ABS brakes..."));</a:t>
            </a:r>
          </a:p>
          <a:p>
            <a:pPr marL="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sportsCar.applyBrakes</a:t>
            </a: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a:t>
            </a:r>
          </a:p>
          <a:p>
            <a:pPr marL="0" indent="0">
              <a:buNone/>
            </a:pPr>
            <a:r>
              <a:rPr lang="en-US" sz="2000" dirty="0">
                <a:latin typeface="Source Sans Pro" panose="020B0503030403020204" pitchFamily="34" charset="0"/>
                <a:ea typeface="Source Sans Pro" panose="020B0503030403020204" pitchFamily="34" charset="0"/>
              </a:rPr>
              <a:t>//body of lambda implements a single abstract method</a:t>
            </a:r>
          </a:p>
          <a:p>
            <a:pPr marL="0" indent="0">
              <a:buNone/>
            </a:pPr>
            <a:endParaRPr lang="en-US" sz="20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8422497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A6EF7-40E8-207E-D02B-84F48F54E981}"/>
              </a:ext>
            </a:extLst>
          </p:cNvPr>
          <p:cNvSpPr>
            <a:spLocks noGrp="1"/>
          </p:cNvSpPr>
          <p:nvPr>
            <p:ph type="title"/>
          </p:nvPr>
        </p:nvSpPr>
        <p:spPr/>
        <p:txBody>
          <a:bodyPr/>
          <a:lstStyle/>
          <a:p>
            <a:r>
              <a:rPr lang="en-US" dirty="0"/>
              <a:t>Using C++ templates </a:t>
            </a:r>
          </a:p>
        </p:txBody>
      </p:sp>
      <p:sp>
        <p:nvSpPr>
          <p:cNvPr id="3" name="Content Placeholder 2">
            <a:extLst>
              <a:ext uri="{FF2B5EF4-FFF2-40B4-BE49-F238E27FC236}">
                <a16:creationId xmlns:a16="http://schemas.microsoft.com/office/drawing/2014/main" id="{B73B0EEE-5B18-B69A-1BE4-BF4738F15197}"/>
              </a:ext>
            </a:extLst>
          </p:cNvPr>
          <p:cNvSpPr>
            <a:spLocks noGrp="1"/>
          </p:cNvSpPr>
          <p:nvPr>
            <p:ph sz="half" idx="1"/>
          </p:nvPr>
        </p:nvSpPr>
        <p:spPr>
          <a:xfrm>
            <a:off x="457200" y="1272209"/>
            <a:ext cx="8229600" cy="1148679"/>
          </a:xfrm>
        </p:spPr>
        <p:txBody>
          <a:bodyPr/>
          <a:lstStyle/>
          <a:p>
            <a:pPr lvl="1"/>
            <a:r>
              <a:rPr lang="en-US" dirty="0"/>
              <a:t>Cons: Cannot change strategy</a:t>
            </a:r>
          </a:p>
          <a:p>
            <a:pPr marL="57150" indent="0">
              <a:buNone/>
            </a:pPr>
            <a:r>
              <a:rPr lang="en-US" sz="2400" dirty="0">
                <a:latin typeface="Source Sans Pro" panose="020B0503030403020204" pitchFamily="34" charset="0"/>
                <a:ea typeface="Source Sans Pro" panose="020B0503030403020204" pitchFamily="34" charset="0"/>
              </a:rPr>
              <a:t>    </a:t>
            </a:r>
            <a:endParaRPr lang="en-US" sz="2000" dirty="0">
              <a:latin typeface="Source Sans Pro" panose="020B0503030403020204" pitchFamily="34" charset="0"/>
              <a:ea typeface="Source Sans Pro" panose="020B0503030403020204" pitchFamily="34" charset="0"/>
            </a:endParaRPr>
          </a:p>
        </p:txBody>
      </p:sp>
      <p:sp>
        <p:nvSpPr>
          <p:cNvPr id="4" name="Content Placeholder 3">
            <a:extLst>
              <a:ext uri="{FF2B5EF4-FFF2-40B4-BE49-F238E27FC236}">
                <a16:creationId xmlns:a16="http://schemas.microsoft.com/office/drawing/2014/main" id="{7CE90247-CC9D-B28D-79CE-5519CA5B4570}"/>
              </a:ext>
            </a:extLst>
          </p:cNvPr>
          <p:cNvSpPr>
            <a:spLocks noGrp="1"/>
          </p:cNvSpPr>
          <p:nvPr>
            <p:ph sz="half" idx="2"/>
          </p:nvPr>
        </p:nvSpPr>
        <p:spPr>
          <a:xfrm>
            <a:off x="4797749" y="2180503"/>
            <a:ext cx="4168695" cy="4032448"/>
          </a:xfrm>
        </p:spPr>
        <p:txBody>
          <a:bodyPr/>
          <a:lstStyle/>
          <a:p>
            <a:pPr marL="57150" indent="0">
              <a:buNone/>
            </a:pPr>
            <a:r>
              <a:rPr lang="en-US" sz="2200" dirty="0">
                <a:latin typeface="Source Sans Pro" panose="020B0503030403020204" pitchFamily="34" charset="0"/>
                <a:ea typeface="Source Sans Pro" panose="020B0503030403020204" pitchFamily="34" charset="0"/>
              </a:rPr>
              <a:t>class </a:t>
            </a:r>
            <a:r>
              <a:rPr lang="en-US" sz="2200" dirty="0" err="1">
                <a:latin typeface="Source Sans Pro" panose="020B0503030403020204" pitchFamily="34" charset="0"/>
                <a:ea typeface="Source Sans Pro" panose="020B0503030403020204" pitchFamily="34" charset="0"/>
              </a:rPr>
              <a:t>MyStrategy</a:t>
            </a:r>
            <a:r>
              <a:rPr lang="en-US" sz="2200" dirty="0">
                <a:latin typeface="Source Sans Pro" panose="020B0503030403020204" pitchFamily="34" charset="0"/>
                <a:ea typeface="Source Sans Pro" panose="020B0503030403020204" pitchFamily="34" charset="0"/>
              </a:rPr>
              <a:t> {</a:t>
            </a:r>
          </a:p>
          <a:p>
            <a:pPr marL="57150" indent="0">
              <a:buNone/>
            </a:pPr>
            <a:r>
              <a:rPr lang="en-US" sz="2200" dirty="0">
                <a:latin typeface="Source Sans Pro" panose="020B0503030403020204" pitchFamily="34" charset="0"/>
                <a:ea typeface="Source Sans Pro" panose="020B0503030403020204" pitchFamily="34" charset="0"/>
              </a:rPr>
              <a:t>    public: void </a:t>
            </a:r>
            <a:r>
              <a:rPr lang="en-US" sz="2200" dirty="0" err="1">
                <a:latin typeface="Source Sans Pro" panose="020B0503030403020204" pitchFamily="34" charset="0"/>
                <a:ea typeface="Source Sans Pro" panose="020B0503030403020204" pitchFamily="34" charset="0"/>
              </a:rPr>
              <a:t>DoAlgorithm</a:t>
            </a:r>
            <a:r>
              <a:rPr lang="en-US" sz="2200" dirty="0">
                <a:latin typeface="Source Sans Pro" panose="020B0503030403020204" pitchFamily="34" charset="0"/>
                <a:ea typeface="Source Sans Pro" panose="020B0503030403020204" pitchFamily="34" charset="0"/>
              </a:rPr>
              <a:t>();</a:t>
            </a:r>
          </a:p>
          <a:p>
            <a:pPr marL="57150" indent="0">
              <a:buNone/>
            </a:pPr>
            <a:r>
              <a:rPr lang="en-US" sz="2200" dirty="0">
                <a:latin typeface="Source Sans Pro" panose="020B0503030403020204" pitchFamily="34" charset="0"/>
                <a:ea typeface="Source Sans Pro" panose="020B0503030403020204" pitchFamily="34" charset="0"/>
              </a:rPr>
              <a:t> };</a:t>
            </a:r>
          </a:p>
          <a:p>
            <a:pPr marL="57150" indent="0">
              <a:buNone/>
            </a:pPr>
            <a:endParaRPr lang="en-US" sz="2200" dirty="0">
              <a:latin typeface="Source Sans Pro" panose="020B0503030403020204" pitchFamily="34" charset="0"/>
              <a:ea typeface="Source Sans Pro" panose="020B0503030403020204" pitchFamily="34" charset="0"/>
            </a:endParaRPr>
          </a:p>
          <a:p>
            <a:pPr marL="57150" indent="0">
              <a:buNone/>
            </a:pPr>
            <a:r>
              <a:rPr lang="en-US" sz="2200" dirty="0">
                <a:latin typeface="Source Sans Pro" panose="020B0503030403020204" pitchFamily="34" charset="0"/>
                <a:ea typeface="Source Sans Pro" panose="020B0503030403020204" pitchFamily="34" charset="0"/>
              </a:rPr>
              <a:t>//The class is then configured //with a Strategy class when it’s //instantiated:</a:t>
            </a:r>
          </a:p>
          <a:p>
            <a:pPr marL="57150" indent="0">
              <a:buNone/>
            </a:pPr>
            <a:r>
              <a:rPr lang="en-US" sz="2200" dirty="0">
                <a:latin typeface="Source Sans Pro" panose="020B0503030403020204" pitchFamily="34" charset="0"/>
                <a:ea typeface="Source Sans Pro" panose="020B0503030403020204" pitchFamily="34" charset="0"/>
              </a:rPr>
              <a:t>  Context</a:t>
            </a:r>
            <a:r>
              <a:rPr lang="en-US" sz="2200" b="1" dirty="0">
                <a:latin typeface="Source Sans Pro" panose="020B0503030403020204" pitchFamily="34" charset="0"/>
                <a:ea typeface="Source Sans Pro" panose="020B0503030403020204" pitchFamily="34" charset="0"/>
              </a:rPr>
              <a:t>&lt;</a:t>
            </a:r>
            <a:r>
              <a:rPr lang="en-US" sz="2200" b="1" dirty="0" err="1">
                <a:latin typeface="Source Sans Pro" panose="020B0503030403020204" pitchFamily="34" charset="0"/>
                <a:ea typeface="Source Sans Pro" panose="020B0503030403020204" pitchFamily="34" charset="0"/>
              </a:rPr>
              <a:t>MyStrategy</a:t>
            </a:r>
            <a:r>
              <a:rPr lang="en-US" sz="2200" b="1" dirty="0">
                <a:latin typeface="Source Sans Pro" panose="020B0503030403020204" pitchFamily="34" charset="0"/>
                <a:ea typeface="Source Sans Pro" panose="020B0503030403020204" pitchFamily="34" charset="0"/>
              </a:rPr>
              <a:t>&gt;</a:t>
            </a:r>
            <a:r>
              <a:rPr lang="en-US" sz="2200" dirty="0">
                <a:latin typeface="Source Sans Pro" panose="020B0503030403020204" pitchFamily="34" charset="0"/>
                <a:ea typeface="Source Sans Pro" panose="020B0503030403020204" pitchFamily="34" charset="0"/>
              </a:rPr>
              <a:t> </a:t>
            </a:r>
            <a:r>
              <a:rPr lang="en-US" sz="2200" dirty="0" err="1">
                <a:latin typeface="Source Sans Pro" panose="020B0503030403020204" pitchFamily="34" charset="0"/>
                <a:ea typeface="Source Sans Pro" panose="020B0503030403020204" pitchFamily="34" charset="0"/>
              </a:rPr>
              <a:t>aContext</a:t>
            </a:r>
            <a:r>
              <a:rPr lang="en-US" sz="2200" dirty="0">
                <a:latin typeface="Source Sans Pro" panose="020B0503030403020204" pitchFamily="34" charset="0"/>
                <a:ea typeface="Source Sans Pro" panose="020B0503030403020204" pitchFamily="34" charset="0"/>
              </a:rPr>
              <a:t>;</a:t>
            </a:r>
            <a:endParaRPr lang="en-US" sz="2200" dirty="0"/>
          </a:p>
        </p:txBody>
      </p:sp>
      <p:sp>
        <p:nvSpPr>
          <p:cNvPr id="5" name="Content Placeholder 2">
            <a:extLst>
              <a:ext uri="{FF2B5EF4-FFF2-40B4-BE49-F238E27FC236}">
                <a16:creationId xmlns:a16="http://schemas.microsoft.com/office/drawing/2014/main" id="{47DA9D8C-B313-1744-AA42-5707F78DB68B}"/>
              </a:ext>
            </a:extLst>
          </p:cNvPr>
          <p:cNvSpPr txBox="1">
            <a:spLocks/>
          </p:cNvSpPr>
          <p:nvPr/>
        </p:nvSpPr>
        <p:spPr bwMode="auto">
          <a:xfrm>
            <a:off x="309609" y="2204864"/>
            <a:ext cx="4038600" cy="3729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lnSpc>
                <a:spcPct val="110000"/>
              </a:lnSpc>
              <a:spcBef>
                <a:spcPct val="20000"/>
              </a:spcBef>
              <a:spcAft>
                <a:spcPct val="0"/>
              </a:spcAft>
              <a:buClr>
                <a:schemeClr val="bg2"/>
              </a:buClr>
              <a:buSzPct val="75000"/>
              <a:buFont typeface="Wingdings" panose="05000000000000000000" pitchFamily="2" charset="2"/>
              <a:buChar char="n"/>
              <a:defRPr sz="2800">
                <a:solidFill>
                  <a:schemeClr val="tx1"/>
                </a:solidFill>
                <a:latin typeface="+mn-lt"/>
                <a:ea typeface="+mn-ea"/>
                <a:cs typeface="+mn-cs"/>
              </a:defRPr>
            </a:lvl1pPr>
            <a:lvl2pPr marL="742950" indent="-285750" algn="l" rtl="0" eaLnBrk="1" fontAlgn="base" hangingPunct="1">
              <a:lnSpc>
                <a:spcPct val="110000"/>
              </a:lnSpc>
              <a:spcBef>
                <a:spcPct val="20000"/>
              </a:spcBef>
              <a:spcAft>
                <a:spcPct val="0"/>
              </a:spcAft>
              <a:buClr>
                <a:schemeClr val="accent2"/>
              </a:buClr>
              <a:buSzPct val="80000"/>
              <a:buFont typeface="Wingdings" panose="05000000000000000000" pitchFamily="2" charset="2"/>
              <a:buChar char="¨"/>
              <a:defRPr sz="2400">
                <a:solidFill>
                  <a:schemeClr val="tx1"/>
                </a:solidFill>
                <a:latin typeface="+mn-lt"/>
              </a:defRPr>
            </a:lvl2pPr>
            <a:lvl3pPr marL="1143000" indent="-228600" algn="l" rtl="0" eaLnBrk="1" fontAlgn="base" hangingPunct="1">
              <a:lnSpc>
                <a:spcPct val="110000"/>
              </a:lnSpc>
              <a:spcBef>
                <a:spcPct val="20000"/>
              </a:spcBef>
              <a:spcAft>
                <a:spcPct val="0"/>
              </a:spcAft>
              <a:buClr>
                <a:schemeClr val="bg2"/>
              </a:buClr>
              <a:buSzPct val="65000"/>
              <a:buFont typeface="Wingdings" panose="05000000000000000000" pitchFamily="2" charset="2"/>
              <a:buChar char="n"/>
              <a:defRPr sz="2000">
                <a:solidFill>
                  <a:schemeClr val="tx1"/>
                </a:solidFill>
                <a:latin typeface="+mn-lt"/>
              </a:defRPr>
            </a:lvl3pPr>
            <a:lvl4pPr marL="1600200" indent="-228600" algn="l" rtl="0" eaLnBrk="1" fontAlgn="base" hangingPunct="1">
              <a:lnSpc>
                <a:spcPct val="110000"/>
              </a:lnSpc>
              <a:spcBef>
                <a:spcPct val="20000"/>
              </a:spcBef>
              <a:spcAft>
                <a:spcPct val="0"/>
              </a:spcAft>
              <a:buClr>
                <a:schemeClr val="accent2"/>
              </a:buClr>
              <a:buSzPct val="70000"/>
              <a:buFont typeface="Wingdings" panose="05000000000000000000" pitchFamily="2" charset="2"/>
              <a:buChar char="¨"/>
              <a:defRPr sz="1800">
                <a:solidFill>
                  <a:schemeClr val="tx1"/>
                </a:solidFill>
                <a:latin typeface="+mn-lt"/>
              </a:defRPr>
            </a:lvl4pPr>
            <a:lvl5pPr marL="2057400" indent="-228600" algn="l" rtl="0" eaLnBrk="1" fontAlgn="base" hangingPunct="1">
              <a:lnSpc>
                <a:spcPct val="110000"/>
              </a:lnSpc>
              <a:spcBef>
                <a:spcPct val="20000"/>
              </a:spcBef>
              <a:spcAft>
                <a:spcPct val="0"/>
              </a:spcAft>
              <a:buClr>
                <a:schemeClr val="bg2"/>
              </a:buClr>
              <a:buFont typeface="Wingdings" panose="05000000000000000000" pitchFamily="2" charset="2"/>
              <a:buChar char="§"/>
              <a:defRPr sz="1800">
                <a:solidFill>
                  <a:schemeClr val="tx1"/>
                </a:solidFill>
                <a:latin typeface="+mn-lt"/>
              </a:defRPr>
            </a:lvl5pPr>
            <a:lvl6pPr marL="2514600" indent="-228600" algn="l" rtl="0" eaLnBrk="1" fontAlgn="base" hangingPunct="1">
              <a:spcBef>
                <a:spcPct val="20000"/>
              </a:spcBef>
              <a:spcAft>
                <a:spcPct val="0"/>
              </a:spcAft>
              <a:buClr>
                <a:schemeClr val="bg2"/>
              </a:buClr>
              <a:buFont typeface="Wingdings" pitchFamily="2" charset="2"/>
              <a:buChar char="§"/>
              <a:defRPr sz="1800">
                <a:solidFill>
                  <a:schemeClr val="tx1"/>
                </a:solidFill>
                <a:latin typeface="+mn-lt"/>
              </a:defRPr>
            </a:lvl6pPr>
            <a:lvl7pPr marL="2971800" indent="-228600" algn="l" rtl="0" eaLnBrk="1" fontAlgn="base" hangingPunct="1">
              <a:spcBef>
                <a:spcPct val="20000"/>
              </a:spcBef>
              <a:spcAft>
                <a:spcPct val="0"/>
              </a:spcAft>
              <a:buClr>
                <a:schemeClr val="bg2"/>
              </a:buClr>
              <a:buFont typeface="Wingdings" pitchFamily="2" charset="2"/>
              <a:buChar char="§"/>
              <a:defRPr sz="1800">
                <a:solidFill>
                  <a:schemeClr val="tx1"/>
                </a:solidFill>
                <a:latin typeface="+mn-lt"/>
              </a:defRPr>
            </a:lvl7pPr>
            <a:lvl8pPr marL="3429000" indent="-228600" algn="l" rtl="0" eaLnBrk="1" fontAlgn="base" hangingPunct="1">
              <a:spcBef>
                <a:spcPct val="20000"/>
              </a:spcBef>
              <a:spcAft>
                <a:spcPct val="0"/>
              </a:spcAft>
              <a:buClr>
                <a:schemeClr val="bg2"/>
              </a:buClr>
              <a:buFont typeface="Wingdings" pitchFamily="2" charset="2"/>
              <a:buChar char="§"/>
              <a:defRPr sz="1800">
                <a:solidFill>
                  <a:schemeClr val="tx1"/>
                </a:solidFill>
                <a:latin typeface="+mn-lt"/>
              </a:defRPr>
            </a:lvl8pPr>
            <a:lvl9pPr marL="3886200" indent="-228600" algn="l" rtl="0" eaLnBrk="1" fontAlgn="base" hangingPunct="1">
              <a:spcBef>
                <a:spcPct val="20000"/>
              </a:spcBef>
              <a:spcAft>
                <a:spcPct val="0"/>
              </a:spcAft>
              <a:buClr>
                <a:schemeClr val="bg2"/>
              </a:buClr>
              <a:buFont typeface="Wingdings" pitchFamily="2" charset="2"/>
              <a:buChar char="§"/>
              <a:defRPr sz="1800">
                <a:solidFill>
                  <a:schemeClr val="tx1"/>
                </a:solidFill>
                <a:latin typeface="+mn-lt"/>
              </a:defRPr>
            </a:lvl9pPr>
          </a:lstStyle>
          <a:p>
            <a:pPr marL="57150" indent="0">
              <a:buNone/>
            </a:pPr>
            <a:r>
              <a:rPr lang="en-US" sz="2000" dirty="0">
                <a:latin typeface="Source Sans Pro" panose="020B0503030403020204" pitchFamily="34" charset="0"/>
                <a:ea typeface="Source Sans Pro" panose="020B0503030403020204" pitchFamily="34" charset="0"/>
              </a:rPr>
              <a:t>template &lt;class </a:t>
            </a:r>
            <a:r>
              <a:rPr lang="en-US" sz="2000" dirty="0" err="1">
                <a:latin typeface="Source Sans Pro" panose="020B0503030403020204" pitchFamily="34" charset="0"/>
                <a:ea typeface="Source Sans Pro" panose="020B0503030403020204" pitchFamily="34" charset="0"/>
              </a:rPr>
              <a:t>AStrategy</a:t>
            </a:r>
            <a:r>
              <a:rPr lang="en-US" sz="2000" dirty="0">
                <a:latin typeface="Source Sans Pro" panose="020B0503030403020204" pitchFamily="34" charset="0"/>
                <a:ea typeface="Source Sans Pro" panose="020B0503030403020204" pitchFamily="34" charset="0"/>
              </a:rPr>
              <a:t>&gt;  class Context {</a:t>
            </a:r>
          </a:p>
          <a:p>
            <a:pPr marL="57150" indent="0">
              <a:buNone/>
            </a:pPr>
            <a:r>
              <a:rPr lang="en-US" sz="2000" dirty="0">
                <a:latin typeface="Source Sans Pro" panose="020B0503030403020204" pitchFamily="34" charset="0"/>
                <a:ea typeface="Source Sans Pro" panose="020B0503030403020204" pitchFamily="34" charset="0"/>
              </a:rPr>
              <a:t>        void operation() { </a:t>
            </a:r>
          </a:p>
          <a:p>
            <a:pPr marL="5715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theStrategy.DoAlgorithm</a:t>
            </a:r>
            <a:r>
              <a:rPr lang="en-US" sz="2000" dirty="0">
                <a:latin typeface="Source Sans Pro" panose="020B0503030403020204" pitchFamily="34" charset="0"/>
                <a:ea typeface="Source Sans Pro" panose="020B0503030403020204" pitchFamily="34" charset="0"/>
              </a:rPr>
              <a:t>(); </a:t>
            </a:r>
          </a:p>
          <a:p>
            <a:pPr marL="57150" indent="0">
              <a:buNone/>
            </a:pPr>
            <a:r>
              <a:rPr lang="en-US" sz="2000" dirty="0">
                <a:latin typeface="Source Sans Pro" panose="020B0503030403020204" pitchFamily="34" charset="0"/>
                <a:ea typeface="Source Sans Pro" panose="020B0503030403020204" pitchFamily="34" charset="0"/>
              </a:rPr>
              <a:t>              //delegate to strategy</a:t>
            </a:r>
          </a:p>
          <a:p>
            <a:pPr marL="57150" indent="0">
              <a:buNone/>
            </a:pPr>
            <a:r>
              <a:rPr lang="en-US" sz="2000" dirty="0">
                <a:latin typeface="Source Sans Pro" panose="020B0503030403020204" pitchFamily="34" charset="0"/>
                <a:ea typeface="Source Sans Pro" panose="020B0503030403020204" pitchFamily="34" charset="0"/>
              </a:rPr>
              <a:t>       }</a:t>
            </a:r>
          </a:p>
          <a:p>
            <a:pPr marL="57150" indent="0">
              <a:buNone/>
            </a:pPr>
            <a:r>
              <a:rPr lang="en-US" sz="2000" dirty="0">
                <a:latin typeface="Source Sans Pro" panose="020B0503030403020204" pitchFamily="34" charset="0"/>
                <a:ea typeface="Source Sans Pro" panose="020B0503030403020204" pitchFamily="34" charset="0"/>
              </a:rPr>
              <a:t>    private:</a:t>
            </a:r>
          </a:p>
          <a:p>
            <a:pPr marL="57150" indent="0">
              <a:buNone/>
            </a:pP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AStrategy</a:t>
            </a:r>
            <a:r>
              <a:rPr lang="en-US" sz="2000" dirty="0">
                <a:latin typeface="Source Sans Pro" panose="020B0503030403020204" pitchFamily="34" charset="0"/>
                <a:ea typeface="Source Sans Pro" panose="020B0503030403020204" pitchFamily="34" charset="0"/>
              </a:rPr>
              <a:t> </a:t>
            </a:r>
            <a:r>
              <a:rPr lang="en-US" sz="2000" dirty="0" err="1">
                <a:latin typeface="Source Sans Pro" panose="020B0503030403020204" pitchFamily="34" charset="0"/>
                <a:ea typeface="Source Sans Pro" panose="020B0503030403020204" pitchFamily="34" charset="0"/>
              </a:rPr>
              <a:t>theStrategy</a:t>
            </a:r>
            <a:r>
              <a:rPr lang="en-US" sz="2000" dirty="0">
                <a:latin typeface="Source Sans Pro" panose="020B0503030403020204" pitchFamily="34" charset="0"/>
                <a:ea typeface="Source Sans Pro" panose="020B0503030403020204" pitchFamily="34" charset="0"/>
              </a:rPr>
              <a:t>;</a:t>
            </a:r>
          </a:p>
          <a:p>
            <a:pPr marL="57150" indent="0">
              <a:buNone/>
            </a:pPr>
            <a:r>
              <a:rPr lang="en-US" sz="2000" dirty="0">
                <a:latin typeface="Source Sans Pro" panose="020B0503030403020204" pitchFamily="34" charset="0"/>
                <a:ea typeface="Source Sans Pro" panose="020B0503030403020204" pitchFamily="34" charset="0"/>
              </a:rPr>
              <a:t>};</a:t>
            </a:r>
          </a:p>
          <a:p>
            <a:pPr marL="0" indent="0">
              <a:buNone/>
            </a:pPr>
            <a:endParaRPr lang="en-US" sz="2000" kern="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406576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972B8-7D1A-2A2A-CE8F-6AF64B2B9BA4}"/>
              </a:ext>
            </a:extLst>
          </p:cNvPr>
          <p:cNvSpPr>
            <a:spLocks noGrp="1"/>
          </p:cNvSpPr>
          <p:nvPr>
            <p:ph type="title"/>
          </p:nvPr>
        </p:nvSpPr>
        <p:spPr/>
        <p:txBody>
          <a:bodyPr/>
          <a:lstStyle/>
          <a:p>
            <a:r>
              <a:rPr lang="en-US" dirty="0"/>
              <a:t>Implementation issues -2</a:t>
            </a:r>
          </a:p>
        </p:txBody>
      </p:sp>
      <p:sp>
        <p:nvSpPr>
          <p:cNvPr id="3" name="Content Placeholder 2">
            <a:extLst>
              <a:ext uri="{FF2B5EF4-FFF2-40B4-BE49-F238E27FC236}">
                <a16:creationId xmlns:a16="http://schemas.microsoft.com/office/drawing/2014/main" id="{AE6A1F5A-7828-8C1F-9D06-0FDB6081D571}"/>
              </a:ext>
            </a:extLst>
          </p:cNvPr>
          <p:cNvSpPr>
            <a:spLocks noGrp="1"/>
          </p:cNvSpPr>
          <p:nvPr>
            <p:ph idx="1"/>
          </p:nvPr>
        </p:nvSpPr>
        <p:spPr/>
        <p:txBody>
          <a:bodyPr/>
          <a:lstStyle/>
          <a:p>
            <a:r>
              <a:rPr lang="en-US" dirty="0"/>
              <a:t>Data from Context to Strategy</a:t>
            </a:r>
          </a:p>
          <a:p>
            <a:pPr marL="971550" lvl="1" indent="-514350">
              <a:buFont typeface="+mj-lt"/>
              <a:buAutoNum type="arabicPeriod"/>
            </a:pPr>
            <a:r>
              <a:rPr lang="en-US" dirty="0"/>
              <a:t>Pass data as parameter</a:t>
            </a:r>
          </a:p>
          <a:p>
            <a:pPr marL="1371600" lvl="2" indent="-514350"/>
            <a:r>
              <a:rPr lang="en-US" dirty="0">
                <a:latin typeface="Consolas" panose="020B0609020204030204" pitchFamily="49" charset="0"/>
              </a:rPr>
              <a:t>strategy-&gt;execute(data1, data2);</a:t>
            </a:r>
          </a:p>
          <a:p>
            <a:pPr marL="1371600" lvl="2" indent="-514350"/>
            <a:r>
              <a:rPr lang="en-US" dirty="0"/>
              <a:t>Not all strategies may need the same data</a:t>
            </a:r>
          </a:p>
          <a:p>
            <a:pPr marL="971550" lvl="1" indent="-514350">
              <a:buFont typeface="+mj-lt"/>
              <a:buAutoNum type="arabicPeriod"/>
            </a:pPr>
            <a:r>
              <a:rPr lang="en-US" dirty="0"/>
              <a:t>Pass the context reference</a:t>
            </a:r>
          </a:p>
          <a:p>
            <a:pPr marL="1371600" lvl="2" indent="-514350"/>
            <a:r>
              <a:rPr lang="en-US" dirty="0">
                <a:latin typeface="Consolas" panose="020B0609020204030204" pitchFamily="49" charset="0"/>
              </a:rPr>
              <a:t>strategy-&gt;execute(this);</a:t>
            </a:r>
          </a:p>
          <a:p>
            <a:pPr marL="1371600" lvl="2" indent="-514350"/>
            <a:r>
              <a:rPr lang="en-US" dirty="0"/>
              <a:t>Strategy would query context what data it needs</a:t>
            </a:r>
          </a:p>
          <a:p>
            <a:pPr marL="1371600" lvl="2" indent="-514350"/>
            <a:r>
              <a:rPr lang="en-US" dirty="0"/>
              <a:t>Context’s interface with getters</a:t>
            </a:r>
          </a:p>
          <a:p>
            <a:pPr marL="1371600" lvl="2" indent="-514350"/>
            <a:r>
              <a:rPr lang="en-US" dirty="0"/>
              <a:t>Strategy is tightly coupled with context</a:t>
            </a:r>
          </a:p>
          <a:p>
            <a:pPr marL="971550" lvl="1" indent="-514350"/>
            <a:r>
              <a:rPr lang="en-US" dirty="0"/>
              <a:t>There is no best</a:t>
            </a:r>
          </a:p>
        </p:txBody>
      </p:sp>
    </p:spTree>
    <p:extLst>
      <p:ext uri="{BB962C8B-B14F-4D97-AF65-F5344CB8AC3E}">
        <p14:creationId xmlns:p14="http://schemas.microsoft.com/office/powerpoint/2010/main" val="3958198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E99BC-3086-B9A0-652C-9DCD73083561}"/>
              </a:ext>
            </a:extLst>
          </p:cNvPr>
          <p:cNvSpPr>
            <a:spLocks noGrp="1"/>
          </p:cNvSpPr>
          <p:nvPr>
            <p:ph type="title"/>
          </p:nvPr>
        </p:nvSpPr>
        <p:spPr/>
        <p:txBody>
          <a:bodyPr/>
          <a:lstStyle/>
          <a:p>
            <a:r>
              <a:rPr lang="en-US" dirty="0"/>
              <a:t>Implementation issues-3</a:t>
            </a:r>
          </a:p>
        </p:txBody>
      </p:sp>
      <p:sp>
        <p:nvSpPr>
          <p:cNvPr id="3" name="Content Placeholder 2">
            <a:extLst>
              <a:ext uri="{FF2B5EF4-FFF2-40B4-BE49-F238E27FC236}">
                <a16:creationId xmlns:a16="http://schemas.microsoft.com/office/drawing/2014/main" id="{FD9ED705-D44B-025D-453D-06D22235CB11}"/>
              </a:ext>
            </a:extLst>
          </p:cNvPr>
          <p:cNvSpPr>
            <a:spLocks noGrp="1"/>
          </p:cNvSpPr>
          <p:nvPr>
            <p:ph idx="1"/>
          </p:nvPr>
        </p:nvSpPr>
        <p:spPr>
          <a:xfrm>
            <a:off x="457200" y="1335291"/>
            <a:ext cx="8686800" cy="4532109"/>
          </a:xfrm>
        </p:spPr>
        <p:txBody>
          <a:bodyPr/>
          <a:lstStyle/>
          <a:p>
            <a:r>
              <a:rPr lang="en-US" sz="2800" b="0" i="0" dirty="0">
                <a:solidFill>
                  <a:srgbClr val="000000"/>
                </a:solidFill>
                <a:effectLst/>
                <a:highlight>
                  <a:srgbClr val="FFFFFF"/>
                </a:highlight>
                <a:latin typeface="Times New Roman" panose="02020603050405020304" pitchFamily="18" charset="0"/>
              </a:rPr>
              <a:t>Default Strategy in the Context</a:t>
            </a:r>
          </a:p>
          <a:p>
            <a:pPr lvl="1"/>
            <a:r>
              <a:rPr lang="en-US" sz="2400" dirty="0">
                <a:solidFill>
                  <a:srgbClr val="000000"/>
                </a:solidFill>
                <a:highlight>
                  <a:srgbClr val="FFFFFF"/>
                </a:highlight>
                <a:latin typeface="Times New Roman" panose="02020603050405020304" pitchFamily="18" charset="0"/>
              </a:rPr>
              <a:t>B</a:t>
            </a:r>
            <a:r>
              <a:rPr lang="en-US" sz="2400" b="0" i="0" dirty="0">
                <a:solidFill>
                  <a:srgbClr val="000000"/>
                </a:solidFill>
                <a:effectLst/>
                <a:highlight>
                  <a:srgbClr val="FFFFFF"/>
                </a:highlight>
                <a:latin typeface="Times New Roman" panose="02020603050405020304" pitchFamily="18" charset="0"/>
              </a:rPr>
              <a:t>enefit:  </a:t>
            </a:r>
            <a:r>
              <a:rPr lang="en-US" sz="2400" dirty="0">
                <a:solidFill>
                  <a:srgbClr val="000000"/>
                </a:solidFill>
                <a:highlight>
                  <a:srgbClr val="FFFFFF"/>
                </a:highlight>
                <a:latin typeface="Times New Roman" panose="02020603050405020304" pitchFamily="18" charset="0"/>
              </a:rPr>
              <a:t>C</a:t>
            </a:r>
            <a:r>
              <a:rPr lang="en-US" sz="2400" b="0" i="0" dirty="0">
                <a:solidFill>
                  <a:srgbClr val="000000"/>
                </a:solidFill>
                <a:effectLst/>
                <a:highlight>
                  <a:srgbClr val="FFFFFF"/>
                </a:highlight>
                <a:latin typeface="Times New Roman" panose="02020603050405020304" pitchFamily="18" charset="0"/>
              </a:rPr>
              <a:t>lients don't have to deal with Strategy objects at all </a:t>
            </a:r>
            <a:r>
              <a:rPr lang="en-US" sz="2400" b="0" i="1" dirty="0">
                <a:solidFill>
                  <a:srgbClr val="000000"/>
                </a:solidFill>
                <a:effectLst/>
                <a:highlight>
                  <a:srgbClr val="FFFFFF"/>
                </a:highlight>
                <a:latin typeface="Times New Roman" panose="02020603050405020304" pitchFamily="18" charset="0"/>
              </a:rPr>
              <a:t>unless</a:t>
            </a:r>
            <a:r>
              <a:rPr lang="en-US" sz="2400" b="0" i="0" dirty="0">
                <a:solidFill>
                  <a:srgbClr val="000000"/>
                </a:solidFill>
                <a:effectLst/>
                <a:highlight>
                  <a:srgbClr val="FFFFFF"/>
                </a:highlight>
                <a:latin typeface="Times New Roman" panose="02020603050405020304" pitchFamily="18" charset="0"/>
              </a:rPr>
              <a:t> they don't like the default behavior</a:t>
            </a:r>
          </a:p>
          <a:p>
            <a:r>
              <a:rPr lang="en-US" dirty="0">
                <a:solidFill>
                  <a:srgbClr val="000000"/>
                </a:solidFill>
                <a:highlight>
                  <a:srgbClr val="FFFFFF"/>
                </a:highlight>
                <a:latin typeface="Times New Roman" panose="02020603050405020304" pitchFamily="18" charset="0"/>
              </a:rPr>
              <a:t>Make </a:t>
            </a:r>
            <a:r>
              <a:rPr lang="en-US" b="1" dirty="0">
                <a:solidFill>
                  <a:srgbClr val="000000"/>
                </a:solidFill>
                <a:highlight>
                  <a:srgbClr val="FFFFFF"/>
                </a:highlight>
                <a:latin typeface="Times New Roman" panose="02020603050405020304" pitchFamily="18" charset="0"/>
              </a:rPr>
              <a:t>stateless</a:t>
            </a:r>
            <a:r>
              <a:rPr lang="en-US" dirty="0">
                <a:solidFill>
                  <a:srgbClr val="000000"/>
                </a:solidFill>
                <a:highlight>
                  <a:srgbClr val="FFFFFF"/>
                </a:highlight>
                <a:latin typeface="Times New Roman" panose="02020603050405020304" pitchFamily="18" charset="0"/>
              </a:rPr>
              <a:t> Strategies</a:t>
            </a:r>
          </a:p>
          <a:p>
            <a:pPr lvl="1"/>
            <a:r>
              <a:rPr lang="en-US" dirty="0">
                <a:solidFill>
                  <a:srgbClr val="000000"/>
                </a:solidFill>
                <a:highlight>
                  <a:srgbClr val="FFFFFF"/>
                </a:highlight>
                <a:latin typeface="Times New Roman" panose="02020603050405020304" pitchFamily="18" charset="0"/>
              </a:rPr>
              <a:t>When Strategies are stateless, they can be shared</a:t>
            </a:r>
          </a:p>
          <a:p>
            <a:pPr lvl="1"/>
            <a:r>
              <a:rPr lang="en-US" dirty="0">
                <a:solidFill>
                  <a:srgbClr val="000000"/>
                </a:solidFill>
                <a:highlight>
                  <a:srgbClr val="FFFFFF"/>
                </a:highlight>
                <a:latin typeface="Times New Roman" panose="02020603050405020304" pitchFamily="18" charset="0"/>
              </a:rPr>
              <a:t>E.g. 3 users share </a:t>
            </a:r>
            <a:r>
              <a:rPr lang="en-US" dirty="0" err="1">
                <a:solidFill>
                  <a:srgbClr val="000000"/>
                </a:solidFill>
                <a:highlight>
                  <a:srgbClr val="FFFFFF"/>
                </a:highlight>
                <a:latin typeface="Times New Roman" panose="02020603050405020304" pitchFamily="18" charset="0"/>
              </a:rPr>
              <a:t>Bcrypt</a:t>
            </a:r>
            <a:r>
              <a:rPr lang="en-US" dirty="0">
                <a:solidFill>
                  <a:srgbClr val="000000"/>
                </a:solidFill>
                <a:highlight>
                  <a:srgbClr val="FFFFFF"/>
                </a:highlight>
                <a:latin typeface="Times New Roman" panose="02020603050405020304" pitchFamily="18" charset="0"/>
              </a:rPr>
              <a:t> for hashing their password</a:t>
            </a:r>
          </a:p>
          <a:p>
            <a:pPr lvl="1"/>
            <a:r>
              <a:rPr lang="en-US" dirty="0">
                <a:solidFill>
                  <a:srgbClr val="000000"/>
                </a:solidFill>
                <a:highlight>
                  <a:srgbClr val="FFFFFF"/>
                </a:highlight>
                <a:latin typeface="Times New Roman" panose="02020603050405020304" pitchFamily="18" charset="0"/>
              </a:rPr>
              <a:t>No need to clutter the memory with same objects</a:t>
            </a:r>
          </a:p>
          <a:p>
            <a:pPr lvl="1"/>
            <a:r>
              <a:rPr lang="en-US" dirty="0">
                <a:solidFill>
                  <a:srgbClr val="000000"/>
                </a:solidFill>
                <a:highlight>
                  <a:srgbClr val="FFFFFF"/>
                </a:highlight>
                <a:latin typeface="Times New Roman" panose="02020603050405020304" pitchFamily="18" charset="0"/>
              </a:rPr>
              <a:t>Strategies make good flyweights</a:t>
            </a:r>
          </a:p>
        </p:txBody>
      </p:sp>
    </p:spTree>
    <p:extLst>
      <p:ext uri="{BB962C8B-B14F-4D97-AF65-F5344CB8AC3E}">
        <p14:creationId xmlns:p14="http://schemas.microsoft.com/office/powerpoint/2010/main" val="2184113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3A4DD-D9E7-7050-5FBD-F8A036155179}"/>
              </a:ext>
            </a:extLst>
          </p:cNvPr>
          <p:cNvSpPr>
            <a:spLocks noGrp="1"/>
          </p:cNvSpPr>
          <p:nvPr>
            <p:ph type="title"/>
          </p:nvPr>
        </p:nvSpPr>
        <p:spPr/>
        <p:txBody>
          <a:bodyPr/>
          <a:lstStyle/>
          <a:p>
            <a:r>
              <a:rPr lang="en-US" dirty="0"/>
              <a:t>Stateless strategies</a:t>
            </a:r>
          </a:p>
        </p:txBody>
      </p:sp>
      <p:sp>
        <p:nvSpPr>
          <p:cNvPr id="3" name="Content Placeholder 2">
            <a:extLst>
              <a:ext uri="{FF2B5EF4-FFF2-40B4-BE49-F238E27FC236}">
                <a16:creationId xmlns:a16="http://schemas.microsoft.com/office/drawing/2014/main" id="{C1810B91-62DD-8090-F457-CF7C364EFB06}"/>
              </a:ext>
            </a:extLst>
          </p:cNvPr>
          <p:cNvSpPr>
            <a:spLocks noGrp="1"/>
          </p:cNvSpPr>
          <p:nvPr>
            <p:ph idx="1"/>
          </p:nvPr>
        </p:nvSpPr>
        <p:spPr>
          <a:xfrm>
            <a:off x="457200" y="1335291"/>
            <a:ext cx="8686800" cy="4532109"/>
          </a:xfrm>
        </p:spPr>
        <p:txBody>
          <a:bodyPr/>
          <a:lstStyle/>
          <a:p>
            <a:pPr marL="0" indent="0">
              <a:buNone/>
            </a:pPr>
            <a:r>
              <a:rPr lang="en-US" sz="2400" dirty="0"/>
              <a:t>If a Strategy object has no instance variables, it is </a:t>
            </a:r>
            <a:r>
              <a:rPr lang="en-US" sz="2400" b="1" dirty="0"/>
              <a:t>stateless.</a:t>
            </a:r>
          </a:p>
          <a:p>
            <a:r>
              <a:rPr lang="en-US" sz="2400" dirty="0"/>
              <a:t>  All its data comes from parameters (or the Context).</a:t>
            </a:r>
          </a:p>
          <a:p>
            <a:r>
              <a:rPr lang="en-US" sz="2400" dirty="0"/>
              <a:t>  We can share a single instance of a stateless strategy across all Context objects.</a:t>
            </a:r>
          </a:p>
          <a:p>
            <a:r>
              <a:rPr lang="en-US" sz="2400" dirty="0"/>
              <a:t>  This is the </a:t>
            </a:r>
            <a:r>
              <a:rPr lang="en-US" sz="2400" b="1" dirty="0"/>
              <a:t>Flyweight</a:t>
            </a:r>
            <a:r>
              <a:rPr lang="en-US" sz="2400" dirty="0"/>
              <a:t> pattern.</a:t>
            </a:r>
          </a:p>
          <a:p>
            <a:pPr lvl="1"/>
            <a:r>
              <a:rPr lang="en-US" sz="2000" dirty="0"/>
              <a:t>public static final Strategy FAST_STRATEGY = new </a:t>
            </a:r>
            <a:r>
              <a:rPr lang="en-US" sz="2000" dirty="0" err="1"/>
              <a:t>FastStrategy</a:t>
            </a:r>
            <a:r>
              <a:rPr lang="en-US" sz="2000" dirty="0"/>
              <a:t>();</a:t>
            </a:r>
          </a:p>
          <a:p>
            <a:pPr lvl="1"/>
            <a:r>
              <a:rPr lang="en-US" sz="2000" dirty="0"/>
              <a:t>public static final Strategy ACCURATE_STRATEGY = new </a:t>
            </a:r>
            <a:r>
              <a:rPr lang="en-US" sz="2000" dirty="0" err="1"/>
              <a:t>AccurateStrategy</a:t>
            </a:r>
            <a:r>
              <a:rPr lang="en-US" sz="2000" dirty="0"/>
              <a:t>();</a:t>
            </a:r>
          </a:p>
          <a:p>
            <a:pPr lvl="1"/>
            <a:r>
              <a:rPr lang="en-US" sz="2000" dirty="0"/>
              <a:t>A good flyweight implementation would use a Flyweight factory.</a:t>
            </a:r>
          </a:p>
        </p:txBody>
      </p:sp>
    </p:spTree>
    <p:extLst>
      <p:ext uri="{BB962C8B-B14F-4D97-AF65-F5344CB8AC3E}">
        <p14:creationId xmlns:p14="http://schemas.microsoft.com/office/powerpoint/2010/main" val="37717998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805B9024-E2D2-BBF0-BE62-F0674298C79D}"/>
              </a:ext>
            </a:extLst>
          </p:cNvPr>
          <p:cNvSpPr>
            <a:spLocks noGrp="1"/>
          </p:cNvSpPr>
          <p:nvPr>
            <p:ph type="title"/>
          </p:nvPr>
        </p:nvSpPr>
        <p:spPr/>
        <p:txBody>
          <a:bodyPr/>
          <a:lstStyle/>
          <a:p>
            <a:r>
              <a:rPr lang="en-US" altLang="tr-TR" dirty="0"/>
              <a:t>Question: why not delete?</a:t>
            </a:r>
          </a:p>
        </p:txBody>
      </p:sp>
      <p:sp>
        <p:nvSpPr>
          <p:cNvPr id="9219" name="Content Placeholder 2">
            <a:extLst>
              <a:ext uri="{FF2B5EF4-FFF2-40B4-BE49-F238E27FC236}">
                <a16:creationId xmlns:a16="http://schemas.microsoft.com/office/drawing/2014/main" id="{77234684-C932-6F9D-D342-D6A31856309A}"/>
              </a:ext>
            </a:extLst>
          </p:cNvPr>
          <p:cNvSpPr>
            <a:spLocks noGrp="1"/>
          </p:cNvSpPr>
          <p:nvPr>
            <p:ph idx="1"/>
          </p:nvPr>
        </p:nvSpPr>
        <p:spPr>
          <a:xfrm>
            <a:off x="251520" y="1340768"/>
            <a:ext cx="6635080" cy="4532109"/>
          </a:xfrm>
        </p:spPr>
        <p:txBody>
          <a:bodyPr/>
          <a:lstStyle/>
          <a:p>
            <a:pPr marL="57150" indent="0">
              <a:buNone/>
            </a:pPr>
            <a:r>
              <a:rPr lang="en-US" altLang="tr-TR" sz="2200" dirty="0">
                <a:latin typeface="Source Sans Pro" panose="020B0503030403020204" pitchFamily="34" charset="0"/>
                <a:ea typeface="Source Sans Pro" panose="020B0503030403020204" pitchFamily="34" charset="0"/>
              </a:rPr>
              <a:t>class User{</a:t>
            </a:r>
          </a:p>
          <a:p>
            <a:pPr marL="57150" indent="0">
              <a:buNone/>
            </a:pPr>
            <a:r>
              <a:rPr lang="en-US" altLang="tr-TR" sz="2200" dirty="0">
                <a:latin typeface="Source Sans Pro" panose="020B0503030403020204" pitchFamily="34" charset="0"/>
                <a:ea typeface="Source Sans Pro" panose="020B0503030403020204" pitchFamily="34" charset="0"/>
              </a:rPr>
              <a:t> public: </a:t>
            </a:r>
          </a:p>
          <a:p>
            <a:pPr marL="57150" indent="0">
              <a:buNone/>
            </a:pPr>
            <a:r>
              <a:rPr lang="en-US" altLang="tr-TR" sz="2200" dirty="0">
                <a:latin typeface="Source Sans Pro" panose="020B0503030403020204" pitchFamily="34" charset="0"/>
                <a:ea typeface="Source Sans Pro" panose="020B0503030403020204" pitchFamily="34" charset="0"/>
              </a:rPr>
              <a:t>     virtual void </a:t>
            </a:r>
            <a:r>
              <a:rPr lang="en-US" altLang="tr-TR" sz="2200" dirty="0" err="1">
                <a:latin typeface="Source Sans Pro" panose="020B0503030403020204" pitchFamily="34" charset="0"/>
                <a:ea typeface="Source Sans Pro" panose="020B0503030403020204" pitchFamily="34" charset="0"/>
              </a:rPr>
              <a:t>setPassword</a:t>
            </a:r>
            <a:r>
              <a:rPr lang="en-US" altLang="tr-TR" sz="2200" dirty="0">
                <a:latin typeface="Source Sans Pro" panose="020B0503030403020204" pitchFamily="34" charset="0"/>
                <a:ea typeface="Source Sans Pro" panose="020B0503030403020204" pitchFamily="34" charset="0"/>
              </a:rPr>
              <a:t>(const String&amp; passwd);</a:t>
            </a:r>
          </a:p>
          <a:p>
            <a:pPr marL="57150" indent="0">
              <a:buNone/>
            </a:pPr>
            <a:r>
              <a:rPr lang="en-US" altLang="tr-TR" sz="2200" dirty="0">
                <a:latin typeface="Source Sans Pro" panose="020B0503030403020204" pitchFamily="34" charset="0"/>
                <a:ea typeface="Source Sans Pro" panose="020B0503030403020204" pitchFamily="34" charset="0"/>
              </a:rPr>
              <a:t>     virtual bool </a:t>
            </a:r>
            <a:r>
              <a:rPr lang="en-US" altLang="tr-TR" sz="2200" dirty="0" err="1">
                <a:latin typeface="Source Sans Pro" panose="020B0503030403020204" pitchFamily="34" charset="0"/>
                <a:ea typeface="Source Sans Pro" panose="020B0503030403020204" pitchFamily="34" charset="0"/>
              </a:rPr>
              <a:t>checkPassword</a:t>
            </a:r>
            <a:r>
              <a:rPr lang="en-US" altLang="tr-TR" sz="2200" dirty="0">
                <a:latin typeface="Source Sans Pro" panose="020B0503030403020204" pitchFamily="34" charset="0"/>
                <a:ea typeface="Source Sans Pro" panose="020B0503030403020204" pitchFamily="34" charset="0"/>
              </a:rPr>
              <a:t>(const String&amp; passwd);</a:t>
            </a:r>
          </a:p>
          <a:p>
            <a:pPr marL="57150" indent="0">
              <a:buNone/>
            </a:pPr>
            <a:r>
              <a:rPr lang="en-US" altLang="tr-TR" sz="2200" dirty="0">
                <a:latin typeface="Source Sans Pro" panose="020B0503030403020204" pitchFamily="34" charset="0"/>
                <a:ea typeface="Source Sans Pro" panose="020B0503030403020204" pitchFamily="34" charset="0"/>
              </a:rPr>
              <a:t>      User(Encryption* e); </a:t>
            </a:r>
            <a:r>
              <a:rPr lang="en-US" altLang="tr-TR" sz="2200" b="1" dirty="0">
                <a:latin typeface="Source Sans Pro" panose="020B0503030403020204" pitchFamily="34" charset="0"/>
                <a:ea typeface="Source Sans Pro" panose="020B0503030403020204" pitchFamily="34" charset="0"/>
              </a:rPr>
              <a:t>~User()=default</a:t>
            </a:r>
            <a:r>
              <a:rPr lang="en-US" altLang="tr-TR" sz="2200" dirty="0">
                <a:latin typeface="Source Sans Pro" panose="020B0503030403020204" pitchFamily="34" charset="0"/>
                <a:ea typeface="Source Sans Pro" panose="020B0503030403020204" pitchFamily="34" charset="0"/>
              </a:rPr>
              <a:t>; </a:t>
            </a:r>
          </a:p>
          <a:p>
            <a:pPr marL="57150" indent="0">
              <a:buNone/>
            </a:pPr>
            <a:r>
              <a:rPr lang="en-US" altLang="tr-TR" sz="2200" dirty="0">
                <a:latin typeface="Source Sans Pro" panose="020B0503030403020204" pitchFamily="34" charset="0"/>
                <a:ea typeface="Source Sans Pro" panose="020B0503030403020204" pitchFamily="34" charset="0"/>
              </a:rPr>
              <a:t>private:      </a:t>
            </a:r>
            <a:r>
              <a:rPr lang="en-US" altLang="tr-TR" sz="2200" dirty="0">
                <a:solidFill>
                  <a:srgbClr val="0070C0"/>
                </a:solidFill>
                <a:latin typeface="Source Sans Pro" panose="020B0503030403020204" pitchFamily="34" charset="0"/>
                <a:ea typeface="Source Sans Pro" panose="020B0503030403020204" pitchFamily="34" charset="0"/>
              </a:rPr>
              <a:t>Encryption* strategy</a:t>
            </a:r>
            <a:r>
              <a:rPr lang="en-US" altLang="tr-TR" sz="2200" dirty="0">
                <a:latin typeface="Source Sans Pro" panose="020B0503030403020204" pitchFamily="34" charset="0"/>
                <a:ea typeface="Source Sans Pro" panose="020B0503030403020204" pitchFamily="34" charset="0"/>
              </a:rPr>
              <a:t>;</a:t>
            </a:r>
          </a:p>
          <a:p>
            <a:pPr marL="57150" indent="0">
              <a:buNone/>
            </a:pPr>
            <a:r>
              <a:rPr lang="en-US" altLang="tr-TR" sz="2200" dirty="0">
                <a:latin typeface="Source Sans Pro" panose="020B0503030403020204" pitchFamily="34" charset="0"/>
                <a:ea typeface="Source Sans Pro" panose="020B0503030403020204" pitchFamily="34" charset="0"/>
              </a:rPr>
              <a:t>….}</a:t>
            </a:r>
          </a:p>
          <a:p>
            <a:pPr marL="57150" indent="0">
              <a:buNone/>
            </a:pPr>
            <a:r>
              <a:rPr lang="en-US" altLang="tr-TR" sz="2200" dirty="0">
                <a:latin typeface="Source Sans Pro" panose="020B0503030403020204" pitchFamily="34" charset="0"/>
                <a:ea typeface="Source Sans Pro" panose="020B0503030403020204" pitchFamily="34" charset="0"/>
              </a:rPr>
              <a:t>void User::</a:t>
            </a:r>
            <a:r>
              <a:rPr lang="en-US" altLang="tr-TR" sz="2200" dirty="0" err="1">
                <a:latin typeface="Source Sans Pro" panose="020B0503030403020204" pitchFamily="34" charset="0"/>
                <a:ea typeface="Source Sans Pro" panose="020B0503030403020204" pitchFamily="34" charset="0"/>
              </a:rPr>
              <a:t>setPassword</a:t>
            </a:r>
            <a:r>
              <a:rPr lang="en-US" altLang="tr-TR" sz="2200" dirty="0">
                <a:latin typeface="Source Sans Pro" panose="020B0503030403020204" pitchFamily="34" charset="0"/>
                <a:ea typeface="Source Sans Pro" panose="020B0503030403020204" pitchFamily="34" charset="0"/>
              </a:rPr>
              <a:t>(const String&amp; pass){</a:t>
            </a:r>
          </a:p>
          <a:p>
            <a:pPr marL="57150" indent="0">
              <a:buNone/>
            </a:pPr>
            <a:r>
              <a:rPr lang="en-US" altLang="tr-TR" sz="2200" dirty="0">
                <a:latin typeface="Source Sans Pro" panose="020B0503030403020204" pitchFamily="34" charset="0"/>
                <a:ea typeface="Source Sans Pro" panose="020B0503030403020204" pitchFamily="34" charset="0"/>
              </a:rPr>
              <a:t>            </a:t>
            </a:r>
            <a:r>
              <a:rPr lang="en-US" altLang="tr-TR" sz="2200" dirty="0" err="1">
                <a:latin typeface="Source Sans Pro" panose="020B0503030403020204" pitchFamily="34" charset="0"/>
                <a:ea typeface="Source Sans Pro" panose="020B0503030403020204" pitchFamily="34" charset="0"/>
              </a:rPr>
              <a:t>checkStrength</a:t>
            </a:r>
            <a:r>
              <a:rPr lang="en-US" altLang="tr-TR" sz="2200" dirty="0">
                <a:latin typeface="Source Sans Pro" panose="020B0503030403020204" pitchFamily="34" charset="0"/>
                <a:ea typeface="Source Sans Pro" panose="020B0503030403020204" pitchFamily="34" charset="0"/>
              </a:rPr>
              <a:t>(pass);</a:t>
            </a:r>
          </a:p>
          <a:p>
            <a:pPr marL="57150" indent="0">
              <a:buNone/>
            </a:pPr>
            <a:r>
              <a:rPr lang="en-US" altLang="tr-TR" sz="2200" dirty="0">
                <a:latin typeface="Source Sans Pro" panose="020B0503030403020204" pitchFamily="34" charset="0"/>
                <a:ea typeface="Source Sans Pro" panose="020B0503030403020204" pitchFamily="34" charset="0"/>
              </a:rPr>
              <a:t>            save(</a:t>
            </a:r>
            <a:r>
              <a:rPr lang="en-US" altLang="tr-TR" sz="2200" dirty="0">
                <a:solidFill>
                  <a:srgbClr val="0070C0"/>
                </a:solidFill>
                <a:latin typeface="Source Sans Pro" panose="020B0503030403020204" pitchFamily="34" charset="0"/>
                <a:ea typeface="Source Sans Pro" panose="020B0503030403020204" pitchFamily="34" charset="0"/>
              </a:rPr>
              <a:t>strategy -&gt;</a:t>
            </a:r>
            <a:r>
              <a:rPr lang="en-US" altLang="tr-TR" sz="2200" dirty="0" err="1">
                <a:solidFill>
                  <a:srgbClr val="0070C0"/>
                </a:solidFill>
                <a:latin typeface="Source Sans Pro" panose="020B0503030403020204" pitchFamily="34" charset="0"/>
                <a:ea typeface="Source Sans Pro" panose="020B0503030403020204" pitchFamily="34" charset="0"/>
              </a:rPr>
              <a:t>generateHash</a:t>
            </a:r>
            <a:r>
              <a:rPr lang="en-US" altLang="tr-TR" sz="2200" dirty="0">
                <a:latin typeface="Source Sans Pro" panose="020B0503030403020204" pitchFamily="34" charset="0"/>
                <a:ea typeface="Source Sans Pro" panose="020B0503030403020204" pitchFamily="34" charset="0"/>
              </a:rPr>
              <a:t>(pass));</a:t>
            </a:r>
          </a:p>
          <a:p>
            <a:pPr marL="57150" indent="0">
              <a:buNone/>
            </a:pPr>
            <a:r>
              <a:rPr lang="en-US" altLang="tr-TR" sz="2200" dirty="0">
                <a:latin typeface="Source Sans Pro" panose="020B0503030403020204" pitchFamily="34" charset="0"/>
                <a:ea typeface="Source Sans Pro" panose="020B0503030403020204" pitchFamily="34" charset="0"/>
              </a:rPr>
              <a:t>}</a:t>
            </a:r>
          </a:p>
          <a:p>
            <a:pPr marL="57150" indent="0">
              <a:buNone/>
            </a:pPr>
            <a:r>
              <a:rPr lang="en-US" altLang="tr-TR" sz="2200" dirty="0">
                <a:latin typeface="Source Sans Pro" panose="020B0503030403020204" pitchFamily="34" charset="0"/>
                <a:ea typeface="Source Sans Pro" panose="020B0503030403020204" pitchFamily="34" charset="0"/>
              </a:rPr>
              <a:t>User::</a:t>
            </a:r>
            <a:r>
              <a:rPr lang="en-US" altLang="tr-TR" sz="2200" dirty="0">
                <a:solidFill>
                  <a:srgbClr val="0070C0"/>
                </a:solidFill>
                <a:latin typeface="Source Sans Pro" panose="020B0503030403020204" pitchFamily="34" charset="0"/>
                <a:ea typeface="Source Sans Pro" panose="020B0503030403020204" pitchFamily="34" charset="0"/>
              </a:rPr>
              <a:t>User(Encryption* e</a:t>
            </a:r>
            <a:r>
              <a:rPr lang="en-US" altLang="tr-TR" sz="2200" dirty="0">
                <a:latin typeface="Source Sans Pro" panose="020B0503030403020204" pitchFamily="34" charset="0"/>
                <a:ea typeface="Source Sans Pro" panose="020B0503030403020204" pitchFamily="34" charset="0"/>
              </a:rPr>
              <a:t>):strategy(e){…}</a:t>
            </a:r>
          </a:p>
        </p:txBody>
      </p:sp>
      <p:sp>
        <p:nvSpPr>
          <p:cNvPr id="2" name="TextBox 1">
            <a:extLst>
              <a:ext uri="{FF2B5EF4-FFF2-40B4-BE49-F238E27FC236}">
                <a16:creationId xmlns:a16="http://schemas.microsoft.com/office/drawing/2014/main" id="{474BE7B4-D000-7DA5-278D-45ECC4F59318}"/>
              </a:ext>
            </a:extLst>
          </p:cNvPr>
          <p:cNvSpPr txBox="1"/>
          <p:nvPr/>
        </p:nvSpPr>
        <p:spPr>
          <a:xfrm>
            <a:off x="6886600" y="4293096"/>
            <a:ext cx="2005677" cy="1384995"/>
          </a:xfrm>
          <a:prstGeom prst="rect">
            <a:avLst/>
          </a:prstGeom>
          <a:noFill/>
        </p:spPr>
        <p:txBody>
          <a:bodyPr wrap="none" rtlCol="0">
            <a:spAutoFit/>
          </a:bodyPr>
          <a:lstStyle/>
          <a:p>
            <a:r>
              <a:rPr lang="en-US" sz="2800" dirty="0">
                <a:solidFill>
                  <a:srgbClr val="C00000"/>
                </a:solidFill>
              </a:rPr>
              <a:t>Strategies</a:t>
            </a:r>
          </a:p>
          <a:p>
            <a:r>
              <a:rPr lang="en-US" sz="2800" dirty="0">
                <a:solidFill>
                  <a:srgbClr val="C00000"/>
                </a:solidFill>
              </a:rPr>
              <a:t>are shared:</a:t>
            </a:r>
          </a:p>
          <a:p>
            <a:r>
              <a:rPr lang="en-US" sz="2800" dirty="0">
                <a:solidFill>
                  <a:srgbClr val="C00000"/>
                </a:solidFill>
              </a:rPr>
              <a:t>flyweight</a:t>
            </a:r>
          </a:p>
        </p:txBody>
      </p:sp>
    </p:spTree>
    <p:extLst>
      <p:ext uri="{BB962C8B-B14F-4D97-AF65-F5344CB8AC3E}">
        <p14:creationId xmlns:p14="http://schemas.microsoft.com/office/powerpoint/2010/main" val="2411830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574CD710-C1DC-7539-4D63-417DBFB5CB0A}"/>
              </a:ext>
            </a:extLst>
          </p:cNvPr>
          <p:cNvSpPr>
            <a:spLocks noGrp="1"/>
          </p:cNvSpPr>
          <p:nvPr>
            <p:ph type="title"/>
          </p:nvPr>
        </p:nvSpPr>
        <p:spPr/>
        <p:txBody>
          <a:bodyPr/>
          <a:lstStyle/>
          <a:p>
            <a:r>
              <a:rPr lang="en-US" altLang="en-US" dirty="0"/>
              <a:t>Strategy -Related patterns -1	</a:t>
            </a:r>
            <a:endParaRPr lang="tr-TR" altLang="en-US" dirty="0"/>
          </a:p>
        </p:txBody>
      </p:sp>
      <p:sp>
        <p:nvSpPr>
          <p:cNvPr id="21507" name="Content Placeholder 2">
            <a:extLst>
              <a:ext uri="{FF2B5EF4-FFF2-40B4-BE49-F238E27FC236}">
                <a16:creationId xmlns:a16="http://schemas.microsoft.com/office/drawing/2014/main" id="{7BB328EE-F969-A7F7-B731-0809DBCCCDE2}"/>
              </a:ext>
            </a:extLst>
          </p:cNvPr>
          <p:cNvSpPr>
            <a:spLocks noGrp="1"/>
          </p:cNvSpPr>
          <p:nvPr>
            <p:ph idx="1"/>
          </p:nvPr>
        </p:nvSpPr>
        <p:spPr/>
        <p:txBody>
          <a:bodyPr/>
          <a:lstStyle/>
          <a:p>
            <a:r>
              <a:rPr lang="en-US" altLang="tr-TR" sz="2800" dirty="0"/>
              <a:t>Strategies can be </a:t>
            </a:r>
            <a:r>
              <a:rPr lang="en-US" altLang="tr-TR" sz="2800" b="1" dirty="0"/>
              <a:t>flyweights</a:t>
            </a:r>
          </a:p>
          <a:p>
            <a:r>
              <a:rPr lang="en-US" altLang="tr-TR" sz="2800" b="1" dirty="0"/>
              <a:t>Template M </a:t>
            </a:r>
            <a:r>
              <a:rPr lang="en-US" altLang="tr-TR" sz="2800" dirty="0"/>
              <a:t>vs</a:t>
            </a:r>
            <a:r>
              <a:rPr lang="en-US" altLang="tr-TR" sz="2800" b="1" dirty="0"/>
              <a:t> Strategy</a:t>
            </a:r>
          </a:p>
          <a:p>
            <a:pPr lvl="1"/>
            <a:r>
              <a:rPr lang="en-US" altLang="tr-TR" sz="2400" b="1" dirty="0"/>
              <a:t>Template Method </a:t>
            </a:r>
            <a:r>
              <a:rPr lang="en-US" altLang="tr-TR" sz="2400" dirty="0"/>
              <a:t>fixes skeleton of algorithm, variation in steps </a:t>
            </a:r>
          </a:p>
          <a:p>
            <a:pPr lvl="1"/>
            <a:r>
              <a:rPr lang="en-US" altLang="tr-TR" sz="2400" b="1" dirty="0"/>
              <a:t>Strategy </a:t>
            </a:r>
            <a:r>
              <a:rPr lang="en-US" altLang="tr-TR" sz="2400" dirty="0"/>
              <a:t>changes the algorithm completely</a:t>
            </a:r>
          </a:p>
          <a:p>
            <a:pPr lvl="2"/>
            <a:r>
              <a:rPr lang="en-US" altLang="tr-TR" sz="2000" dirty="0"/>
              <a:t>Change </a:t>
            </a:r>
            <a:r>
              <a:rPr lang="en-US" altLang="tr-TR" sz="2000" dirty="0" err="1"/>
              <a:t>mergesort</a:t>
            </a:r>
            <a:r>
              <a:rPr lang="en-US" altLang="tr-TR" sz="2000" dirty="0"/>
              <a:t> to </a:t>
            </a:r>
            <a:r>
              <a:rPr lang="en-US" altLang="tr-TR" sz="2000" dirty="0" err="1"/>
              <a:t>bublesort</a:t>
            </a:r>
            <a:endParaRPr lang="en-US" altLang="tr-TR" sz="2000" dirty="0"/>
          </a:p>
          <a:p>
            <a:r>
              <a:rPr lang="en-US" altLang="tr-TR" sz="2800" b="1" dirty="0"/>
              <a:t>Decorator</a:t>
            </a:r>
            <a:r>
              <a:rPr lang="en-US" altLang="tr-TR" sz="2800" dirty="0"/>
              <a:t> vs Strategy</a:t>
            </a:r>
          </a:p>
          <a:p>
            <a:pPr lvl="1"/>
            <a:r>
              <a:rPr lang="en-US" altLang="tr-TR" sz="2400" dirty="0"/>
              <a:t>Both alternative to inheritance</a:t>
            </a:r>
          </a:p>
          <a:p>
            <a:pPr lvl="1"/>
            <a:r>
              <a:rPr lang="en-US" altLang="tr-TR" sz="2400" dirty="0"/>
              <a:t>Decorator adds functionality on top -wrapper</a:t>
            </a:r>
          </a:p>
          <a:p>
            <a:pPr lvl="1"/>
            <a:r>
              <a:rPr lang="en-US" altLang="tr-TR" sz="2400" dirty="0"/>
              <a:t>Strategy replaces functionality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574CD710-C1DC-7539-4D63-417DBFB5CB0A}"/>
              </a:ext>
            </a:extLst>
          </p:cNvPr>
          <p:cNvSpPr>
            <a:spLocks noGrp="1"/>
          </p:cNvSpPr>
          <p:nvPr>
            <p:ph type="title"/>
          </p:nvPr>
        </p:nvSpPr>
        <p:spPr/>
        <p:txBody>
          <a:bodyPr/>
          <a:lstStyle/>
          <a:p>
            <a:r>
              <a:rPr lang="en-US" altLang="en-US" dirty="0"/>
              <a:t>Strategy -Related patterns -2	</a:t>
            </a:r>
            <a:endParaRPr lang="tr-TR" altLang="en-US" dirty="0"/>
          </a:p>
        </p:txBody>
      </p:sp>
      <p:sp>
        <p:nvSpPr>
          <p:cNvPr id="21507" name="Content Placeholder 2">
            <a:extLst>
              <a:ext uri="{FF2B5EF4-FFF2-40B4-BE49-F238E27FC236}">
                <a16:creationId xmlns:a16="http://schemas.microsoft.com/office/drawing/2014/main" id="{7BB328EE-F969-A7F7-B731-0809DBCCCDE2}"/>
              </a:ext>
            </a:extLst>
          </p:cNvPr>
          <p:cNvSpPr>
            <a:spLocks noGrp="1"/>
          </p:cNvSpPr>
          <p:nvPr>
            <p:ph idx="1"/>
          </p:nvPr>
        </p:nvSpPr>
        <p:spPr/>
        <p:txBody>
          <a:bodyPr/>
          <a:lstStyle/>
          <a:p>
            <a:r>
              <a:rPr lang="en-US" altLang="en-US" b="1" dirty="0"/>
              <a:t>Bridge</a:t>
            </a:r>
            <a:r>
              <a:rPr lang="en-US" altLang="en-US" dirty="0"/>
              <a:t> and Strategy have the same Class diagram, but intent is different</a:t>
            </a:r>
          </a:p>
          <a:p>
            <a:pPr lvl="1"/>
            <a:r>
              <a:rPr lang="en-US" altLang="en-US" dirty="0"/>
              <a:t>strategy is related with the behavior and bridge is for structure. </a:t>
            </a:r>
          </a:p>
          <a:p>
            <a:pPr lvl="1"/>
            <a:r>
              <a:rPr lang="en-US" altLang="en-US" dirty="0"/>
              <a:t>the coupling between the context and strategies is tighter than the coupling between the abstraction and implementation in the bridge pattern.</a:t>
            </a:r>
          </a:p>
          <a:p>
            <a:r>
              <a:rPr lang="en-US" altLang="en-US" dirty="0"/>
              <a:t>State pattern (next) vs Strategy </a:t>
            </a:r>
          </a:p>
          <a:p>
            <a:r>
              <a:rPr lang="en-US" altLang="en-US" dirty="0"/>
              <a:t>Command (later)</a:t>
            </a:r>
            <a:endParaRPr lang="tr-TR" altLang="en-US" dirty="0"/>
          </a:p>
        </p:txBody>
      </p:sp>
    </p:spTree>
    <p:extLst>
      <p:ext uri="{BB962C8B-B14F-4D97-AF65-F5344CB8AC3E}">
        <p14:creationId xmlns:p14="http://schemas.microsoft.com/office/powerpoint/2010/main" val="14943240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678DD-D2BA-2668-A376-B5FB21D277F4}"/>
              </a:ext>
            </a:extLst>
          </p:cNvPr>
          <p:cNvSpPr>
            <a:spLocks noGrp="1"/>
          </p:cNvSpPr>
          <p:nvPr>
            <p:ph type="title"/>
          </p:nvPr>
        </p:nvSpPr>
        <p:spPr/>
        <p:txBody>
          <a:bodyPr/>
          <a:lstStyle/>
          <a:p>
            <a:r>
              <a:rPr lang="en-US" dirty="0"/>
              <a:t>Strategy –Known Use</a:t>
            </a:r>
          </a:p>
        </p:txBody>
      </p:sp>
      <p:sp>
        <p:nvSpPr>
          <p:cNvPr id="3" name="Content Placeholder 2">
            <a:extLst>
              <a:ext uri="{FF2B5EF4-FFF2-40B4-BE49-F238E27FC236}">
                <a16:creationId xmlns:a16="http://schemas.microsoft.com/office/drawing/2014/main" id="{120A95C0-B39E-4D48-107D-C4C7DC6FB692}"/>
              </a:ext>
            </a:extLst>
          </p:cNvPr>
          <p:cNvSpPr>
            <a:spLocks noGrp="1"/>
          </p:cNvSpPr>
          <p:nvPr>
            <p:ph idx="1"/>
          </p:nvPr>
        </p:nvSpPr>
        <p:spPr/>
        <p:txBody>
          <a:bodyPr/>
          <a:lstStyle/>
          <a:p>
            <a:r>
              <a:rPr lang="en-US" dirty="0" err="1"/>
              <a:t>java.util.Comparator</a:t>
            </a:r>
            <a:r>
              <a:rPr lang="en-US" dirty="0"/>
              <a:t> with compare() method is a strategy used by many, e.g. sort method of Collections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289C5-BE44-E76D-0D8F-C5D57637AFBC}"/>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4398A2A-0732-1745-CDE0-19D3B6137B6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798074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61DC5-E69D-E6EB-CF48-0FDBC8E661B8}"/>
              </a:ext>
            </a:extLst>
          </p:cNvPr>
          <p:cNvSpPr>
            <a:spLocks noGrp="1"/>
          </p:cNvSpPr>
          <p:nvPr>
            <p:ph type="title"/>
          </p:nvPr>
        </p:nvSpPr>
        <p:spPr/>
        <p:txBody>
          <a:bodyPr/>
          <a:lstStyle/>
          <a:p>
            <a:r>
              <a:rPr lang="en-US" dirty="0"/>
              <a:t>Objects with modes </a:t>
            </a:r>
          </a:p>
        </p:txBody>
      </p:sp>
      <p:sp>
        <p:nvSpPr>
          <p:cNvPr id="13314" name="Content Placeholder 2">
            <a:extLst>
              <a:ext uri="{FF2B5EF4-FFF2-40B4-BE49-F238E27FC236}">
                <a16:creationId xmlns:a16="http://schemas.microsoft.com/office/drawing/2014/main" id="{4D29DDAD-3773-8B43-FC28-DF8E8C462641}"/>
              </a:ext>
            </a:extLst>
          </p:cNvPr>
          <p:cNvSpPr>
            <a:spLocks noGrp="1" noChangeArrowheads="1"/>
          </p:cNvSpPr>
          <p:nvPr>
            <p:ph idx="1"/>
          </p:nvPr>
        </p:nvSpPr>
        <p:spPr/>
        <p:txBody>
          <a:bodyPr/>
          <a:lstStyle/>
          <a:p>
            <a:pPr eaLnBrk="1" hangingPunct="1"/>
            <a:r>
              <a:rPr lang="en-US" altLang="tr-TR" dirty="0"/>
              <a:t>Objects may respond differently to the same event in different modes</a:t>
            </a:r>
          </a:p>
          <a:p>
            <a:pPr eaLnBrk="1" hangingPunct="1"/>
            <a:endParaRPr lang="en-US" altLang="tr-TR" sz="1100" dirty="0"/>
          </a:p>
          <a:p>
            <a:pPr eaLnBrk="1" hangingPunct="1"/>
            <a:r>
              <a:rPr lang="en-US" altLang="tr-TR" sz="2800" dirty="0"/>
              <a:t>Example: a Vending machine button press</a:t>
            </a:r>
          </a:p>
          <a:p>
            <a:pPr lvl="1" eaLnBrk="1" hangingPunct="1"/>
            <a:r>
              <a:rPr lang="en-US" altLang="tr-TR" sz="2400" dirty="0"/>
              <a:t>If no coins inserted, ask for payment</a:t>
            </a:r>
          </a:p>
          <a:p>
            <a:pPr lvl="1" eaLnBrk="1" hangingPunct="1"/>
            <a:r>
              <a:rPr lang="en-US" altLang="tr-TR" sz="2400" dirty="0"/>
              <a:t>If correct payment, dispense the product</a:t>
            </a:r>
          </a:p>
          <a:p>
            <a:pPr lvl="1" eaLnBrk="1" hangingPunct="1"/>
            <a:r>
              <a:rPr lang="en-US" altLang="tr-TR" sz="2400" dirty="0"/>
              <a:t>If out of product, return coins</a:t>
            </a:r>
          </a:p>
          <a:p>
            <a:pPr lvl="1" eaLnBrk="1" hangingPunct="1">
              <a:buFontTx/>
              <a:buNone/>
            </a:pPr>
            <a:endParaRPr lang="en-US" altLang="tr-TR" sz="2400" dirty="0"/>
          </a:p>
          <a:p>
            <a:pPr lvl="1" eaLnBrk="1" hangingPunct="1">
              <a:buFontTx/>
              <a:buNone/>
            </a:pPr>
            <a:r>
              <a:rPr lang="en-US" altLang="tr-TR" sz="2400" dirty="0"/>
              <a:t>Let’s draw a state diagram: </a:t>
            </a:r>
            <a:r>
              <a:rPr lang="en-US" altLang="tr-TR" sz="2400" dirty="0" err="1"/>
              <a:t>nocoins</a:t>
            </a:r>
            <a:r>
              <a:rPr lang="en-US" altLang="tr-TR" sz="2400" dirty="0"/>
              <a:t>, </a:t>
            </a:r>
            <a:r>
              <a:rPr lang="en-US" altLang="tr-TR" sz="2400" dirty="0" err="1"/>
              <a:t>soldOut</a:t>
            </a:r>
            <a:r>
              <a:rPr lang="en-US" altLang="tr-TR" sz="2400" dirty="0"/>
              <a:t>,… </a:t>
            </a:r>
          </a:p>
          <a:p>
            <a:pPr lvl="1" eaLnBrk="1" hangingPunct="1">
              <a:buFontTx/>
              <a:buNone/>
            </a:pPr>
            <a:endParaRPr lang="en-US" altLang="tr-TR" sz="2400" dirty="0"/>
          </a:p>
          <a:p>
            <a:pPr lvl="1" eaLnBrk="1" hangingPunct="1">
              <a:buFontTx/>
              <a:buNone/>
            </a:pPr>
            <a:r>
              <a:rPr lang="en-US" altLang="tr-TR" sz="2400" dirty="0"/>
              <a:t>How would you </a:t>
            </a:r>
            <a:r>
              <a:rPr lang="en-US" altLang="tr-TR" sz="2400" b="1" dirty="0"/>
              <a:t>implement</a:t>
            </a:r>
            <a:r>
              <a:rPr lang="en-US" altLang="tr-TR" sz="2400" dirty="0"/>
              <a:t> the dispense method?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A6FC8D8-5784-4E82-AC94-611FF6630EA4}"/>
              </a:ext>
            </a:extLst>
          </p:cNvPr>
          <p:cNvSpPr/>
          <p:nvPr/>
        </p:nvSpPr>
        <p:spPr>
          <a:xfrm>
            <a:off x="1408112" y="1308249"/>
            <a:ext cx="1295400" cy="7921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idle</a:t>
            </a:r>
          </a:p>
        </p:txBody>
      </p:sp>
      <p:sp>
        <p:nvSpPr>
          <p:cNvPr id="5" name="Oval 4">
            <a:extLst>
              <a:ext uri="{FF2B5EF4-FFF2-40B4-BE49-F238E27FC236}">
                <a16:creationId xmlns:a16="http://schemas.microsoft.com/office/drawing/2014/main" id="{237DF952-1B75-4BA6-8C59-4E246C27FA64}"/>
              </a:ext>
            </a:extLst>
          </p:cNvPr>
          <p:cNvSpPr/>
          <p:nvPr/>
        </p:nvSpPr>
        <p:spPr>
          <a:xfrm>
            <a:off x="5151437" y="1308249"/>
            <a:ext cx="1728788" cy="7921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has1coin</a:t>
            </a:r>
          </a:p>
        </p:txBody>
      </p:sp>
      <p:sp>
        <p:nvSpPr>
          <p:cNvPr id="15364" name="TextBox 5">
            <a:extLst>
              <a:ext uri="{FF2B5EF4-FFF2-40B4-BE49-F238E27FC236}">
                <a16:creationId xmlns:a16="http://schemas.microsoft.com/office/drawing/2014/main" id="{23F75BFE-434A-329F-C562-B9140010E5AC}"/>
              </a:ext>
            </a:extLst>
          </p:cNvPr>
          <p:cNvSpPr txBox="1">
            <a:spLocks noChangeArrowheads="1"/>
          </p:cNvSpPr>
          <p:nvPr/>
        </p:nvSpPr>
        <p:spPr bwMode="auto">
          <a:xfrm>
            <a:off x="3348037" y="1308249"/>
            <a:ext cx="7489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insert</a:t>
            </a:r>
          </a:p>
        </p:txBody>
      </p:sp>
      <p:sp>
        <p:nvSpPr>
          <p:cNvPr id="7" name="Oval 6">
            <a:extLst>
              <a:ext uri="{FF2B5EF4-FFF2-40B4-BE49-F238E27FC236}">
                <a16:creationId xmlns:a16="http://schemas.microsoft.com/office/drawing/2014/main" id="{62937F8B-54D7-465E-8FAC-130B426A54A3}"/>
              </a:ext>
            </a:extLst>
          </p:cNvPr>
          <p:cNvSpPr/>
          <p:nvPr/>
        </p:nvSpPr>
        <p:spPr>
          <a:xfrm>
            <a:off x="3446462" y="3900636"/>
            <a:ext cx="1728788" cy="79216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has2coin</a:t>
            </a:r>
          </a:p>
        </p:txBody>
      </p:sp>
      <p:sp>
        <p:nvSpPr>
          <p:cNvPr id="15366" name="TextBox 7">
            <a:extLst>
              <a:ext uri="{FF2B5EF4-FFF2-40B4-BE49-F238E27FC236}">
                <a16:creationId xmlns:a16="http://schemas.microsoft.com/office/drawing/2014/main" id="{2DF2DB7D-B530-5DC9-D0E3-6346744FB4F8}"/>
              </a:ext>
            </a:extLst>
          </p:cNvPr>
          <p:cNvSpPr txBox="1">
            <a:spLocks noChangeArrowheads="1"/>
          </p:cNvSpPr>
          <p:nvPr/>
        </p:nvSpPr>
        <p:spPr bwMode="auto">
          <a:xfrm>
            <a:off x="5302250" y="3059261"/>
            <a:ext cx="7489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insert</a:t>
            </a:r>
          </a:p>
        </p:txBody>
      </p:sp>
      <p:cxnSp>
        <p:nvCxnSpPr>
          <p:cNvPr id="10" name="Connector: Elbow 9">
            <a:extLst>
              <a:ext uri="{FF2B5EF4-FFF2-40B4-BE49-F238E27FC236}">
                <a16:creationId xmlns:a16="http://schemas.microsoft.com/office/drawing/2014/main" id="{3B235983-77B1-42B8-B3B7-3D91D2638273}"/>
              </a:ext>
            </a:extLst>
          </p:cNvPr>
          <p:cNvCxnSpPr>
            <a:cxnSpLocks/>
            <a:stCxn id="4" idx="6"/>
            <a:endCxn id="5" idx="2"/>
          </p:cNvCxnSpPr>
          <p:nvPr/>
        </p:nvCxnSpPr>
        <p:spPr>
          <a:xfrm>
            <a:off x="2703512" y="1705124"/>
            <a:ext cx="2447925" cy="1270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61C34ECA-F231-4E04-8000-9A5414E0EB5B}"/>
              </a:ext>
            </a:extLst>
          </p:cNvPr>
          <p:cNvCxnSpPr>
            <a:stCxn id="5" idx="4"/>
            <a:endCxn id="7" idx="7"/>
          </p:cNvCxnSpPr>
          <p:nvPr/>
        </p:nvCxnSpPr>
        <p:spPr>
          <a:xfrm flipH="1">
            <a:off x="4921250" y="2100411"/>
            <a:ext cx="1095375" cy="19161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nector: Curved 15">
            <a:extLst>
              <a:ext uri="{FF2B5EF4-FFF2-40B4-BE49-F238E27FC236}">
                <a16:creationId xmlns:a16="http://schemas.microsoft.com/office/drawing/2014/main" id="{F44D7BDD-B9B2-4443-B5CF-59505D6DD981}"/>
              </a:ext>
            </a:extLst>
          </p:cNvPr>
          <p:cNvCxnSpPr>
            <a:cxnSpLocks/>
            <a:stCxn id="4" idx="2"/>
            <a:endCxn id="4" idx="4"/>
          </p:cNvCxnSpPr>
          <p:nvPr/>
        </p:nvCxnSpPr>
        <p:spPr>
          <a:xfrm rot="10800000" flipH="1" flipV="1">
            <a:off x="1408112" y="1705124"/>
            <a:ext cx="647700" cy="395287"/>
          </a:xfrm>
          <a:prstGeom prst="curvedConnector4">
            <a:avLst>
              <a:gd name="adj1" fmla="val -35274"/>
              <a:gd name="adj2" fmla="val 157721"/>
            </a:avLst>
          </a:prstGeom>
          <a:ln>
            <a:tailEnd type="triangle"/>
          </a:ln>
        </p:spPr>
        <p:style>
          <a:lnRef idx="1">
            <a:schemeClr val="dk1"/>
          </a:lnRef>
          <a:fillRef idx="0">
            <a:schemeClr val="dk1"/>
          </a:fillRef>
          <a:effectRef idx="0">
            <a:schemeClr val="dk1"/>
          </a:effectRef>
          <a:fontRef idx="minor">
            <a:schemeClr val="tx1"/>
          </a:fontRef>
        </p:style>
      </p:cxnSp>
      <p:sp>
        <p:nvSpPr>
          <p:cNvPr id="15370" name="TextBox 17">
            <a:extLst>
              <a:ext uri="{FF2B5EF4-FFF2-40B4-BE49-F238E27FC236}">
                <a16:creationId xmlns:a16="http://schemas.microsoft.com/office/drawing/2014/main" id="{880B0F41-E17B-F72A-B857-97E115A049EA}"/>
              </a:ext>
            </a:extLst>
          </p:cNvPr>
          <p:cNvSpPr txBox="1">
            <a:spLocks noChangeArrowheads="1"/>
          </p:cNvSpPr>
          <p:nvPr/>
        </p:nvSpPr>
        <p:spPr bwMode="auto">
          <a:xfrm>
            <a:off x="712787" y="2311549"/>
            <a:ext cx="15176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pressbutton1</a:t>
            </a:r>
          </a:p>
        </p:txBody>
      </p:sp>
      <p:sp>
        <p:nvSpPr>
          <p:cNvPr id="19" name="Rectangle 18">
            <a:extLst>
              <a:ext uri="{FF2B5EF4-FFF2-40B4-BE49-F238E27FC236}">
                <a16:creationId xmlns:a16="http://schemas.microsoft.com/office/drawing/2014/main" id="{6DDBE2E0-20B3-4BD8-9C4E-5CC31AF99702}"/>
              </a:ext>
            </a:extLst>
          </p:cNvPr>
          <p:cNvSpPr/>
          <p:nvPr/>
        </p:nvSpPr>
        <p:spPr>
          <a:xfrm>
            <a:off x="6880225" y="4295924"/>
            <a:ext cx="1511300" cy="2484437"/>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0" name="Oval 19">
            <a:extLst>
              <a:ext uri="{FF2B5EF4-FFF2-40B4-BE49-F238E27FC236}">
                <a16:creationId xmlns:a16="http://schemas.microsoft.com/office/drawing/2014/main" id="{1649E116-921A-49AA-A756-B8D266F238AA}"/>
              </a:ext>
            </a:extLst>
          </p:cNvPr>
          <p:cNvSpPr/>
          <p:nvPr/>
        </p:nvSpPr>
        <p:spPr>
          <a:xfrm>
            <a:off x="7888287" y="4692799"/>
            <a:ext cx="360363" cy="3603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1</a:t>
            </a:r>
          </a:p>
        </p:txBody>
      </p:sp>
      <p:sp>
        <p:nvSpPr>
          <p:cNvPr id="21" name="Oval 20">
            <a:extLst>
              <a:ext uri="{FF2B5EF4-FFF2-40B4-BE49-F238E27FC236}">
                <a16:creationId xmlns:a16="http://schemas.microsoft.com/office/drawing/2014/main" id="{BCFD09AE-2317-49AE-90FF-3061B4508E19}"/>
              </a:ext>
            </a:extLst>
          </p:cNvPr>
          <p:cNvSpPr/>
          <p:nvPr/>
        </p:nvSpPr>
        <p:spPr>
          <a:xfrm>
            <a:off x="7888287" y="5737374"/>
            <a:ext cx="360363" cy="358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rPr>
              <a:t>2</a:t>
            </a:r>
          </a:p>
        </p:txBody>
      </p:sp>
      <p:sp>
        <p:nvSpPr>
          <p:cNvPr id="22" name="Rectangle 21">
            <a:extLst>
              <a:ext uri="{FF2B5EF4-FFF2-40B4-BE49-F238E27FC236}">
                <a16:creationId xmlns:a16="http://schemas.microsoft.com/office/drawing/2014/main" id="{35028370-D4D9-4519-8692-5AAB22378538}"/>
              </a:ext>
            </a:extLst>
          </p:cNvPr>
          <p:cNvSpPr/>
          <p:nvPr/>
        </p:nvSpPr>
        <p:spPr>
          <a:xfrm>
            <a:off x="7240587" y="6348561"/>
            <a:ext cx="935038" cy="431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375" name="TextBox 22">
            <a:extLst>
              <a:ext uri="{FF2B5EF4-FFF2-40B4-BE49-F238E27FC236}">
                <a16:creationId xmlns:a16="http://schemas.microsoft.com/office/drawing/2014/main" id="{5E7A8FEE-5548-3828-FB00-3DA2372AAEB9}"/>
              </a:ext>
            </a:extLst>
          </p:cNvPr>
          <p:cNvSpPr txBox="1">
            <a:spLocks noChangeArrowheads="1"/>
          </p:cNvSpPr>
          <p:nvPr/>
        </p:nvSpPr>
        <p:spPr bwMode="auto">
          <a:xfrm>
            <a:off x="7008812" y="4713436"/>
            <a:ext cx="8604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Coffee</a:t>
            </a:r>
          </a:p>
        </p:txBody>
      </p:sp>
      <p:sp>
        <p:nvSpPr>
          <p:cNvPr id="15376" name="TextBox 23">
            <a:extLst>
              <a:ext uri="{FF2B5EF4-FFF2-40B4-BE49-F238E27FC236}">
                <a16:creationId xmlns:a16="http://schemas.microsoft.com/office/drawing/2014/main" id="{A84C4C1F-728C-BA29-6306-81C8865DE77F}"/>
              </a:ext>
            </a:extLst>
          </p:cNvPr>
          <p:cNvSpPr txBox="1">
            <a:spLocks noChangeArrowheads="1"/>
          </p:cNvSpPr>
          <p:nvPr/>
        </p:nvSpPr>
        <p:spPr bwMode="auto">
          <a:xfrm>
            <a:off x="7116762" y="5727849"/>
            <a:ext cx="6985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Latte</a:t>
            </a:r>
          </a:p>
        </p:txBody>
      </p:sp>
      <p:sp>
        <p:nvSpPr>
          <p:cNvPr id="25" name="Isosceles Triangle 24">
            <a:extLst>
              <a:ext uri="{FF2B5EF4-FFF2-40B4-BE49-F238E27FC236}">
                <a16:creationId xmlns:a16="http://schemas.microsoft.com/office/drawing/2014/main" id="{1D68AD05-DAAB-4C78-8F7A-A77692C5CB2A}"/>
              </a:ext>
            </a:extLst>
          </p:cNvPr>
          <p:cNvSpPr/>
          <p:nvPr/>
        </p:nvSpPr>
        <p:spPr>
          <a:xfrm>
            <a:off x="7008812" y="4405461"/>
            <a:ext cx="231775" cy="14287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6" name="Connector: Curved 25">
            <a:extLst>
              <a:ext uri="{FF2B5EF4-FFF2-40B4-BE49-F238E27FC236}">
                <a16:creationId xmlns:a16="http://schemas.microsoft.com/office/drawing/2014/main" id="{C59F295A-905A-47FB-AE20-C85B7E601EE5}"/>
              </a:ext>
            </a:extLst>
          </p:cNvPr>
          <p:cNvCxnSpPr>
            <a:cxnSpLocks/>
            <a:stCxn id="4" idx="1"/>
            <a:endCxn id="4" idx="0"/>
          </p:cNvCxnSpPr>
          <p:nvPr/>
        </p:nvCxnSpPr>
        <p:spPr>
          <a:xfrm rot="5400000" flipH="1" flipV="1">
            <a:off x="1768475" y="1136799"/>
            <a:ext cx="115887" cy="458787"/>
          </a:xfrm>
          <a:prstGeom prst="curvedConnector3">
            <a:avLst>
              <a:gd name="adj1" fmla="val 297071"/>
            </a:avLst>
          </a:prstGeom>
          <a:ln>
            <a:tailEnd type="triangle"/>
          </a:ln>
        </p:spPr>
        <p:style>
          <a:lnRef idx="1">
            <a:schemeClr val="dk1"/>
          </a:lnRef>
          <a:fillRef idx="0">
            <a:schemeClr val="dk1"/>
          </a:fillRef>
          <a:effectRef idx="0">
            <a:schemeClr val="dk1"/>
          </a:effectRef>
          <a:fontRef idx="minor">
            <a:schemeClr val="tx1"/>
          </a:fontRef>
        </p:style>
      </p:cxnSp>
      <p:sp>
        <p:nvSpPr>
          <p:cNvPr id="15379" name="TextBox 28">
            <a:extLst>
              <a:ext uri="{FF2B5EF4-FFF2-40B4-BE49-F238E27FC236}">
                <a16:creationId xmlns:a16="http://schemas.microsoft.com/office/drawing/2014/main" id="{18FAF224-CC72-F666-75DC-45C61171C3DD}"/>
              </a:ext>
            </a:extLst>
          </p:cNvPr>
          <p:cNvSpPr txBox="1">
            <a:spLocks noChangeArrowheads="1"/>
          </p:cNvSpPr>
          <p:nvPr/>
        </p:nvSpPr>
        <p:spPr bwMode="auto">
          <a:xfrm>
            <a:off x="865187" y="684361"/>
            <a:ext cx="1517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pressbutton2</a:t>
            </a:r>
          </a:p>
        </p:txBody>
      </p:sp>
      <p:cxnSp>
        <p:nvCxnSpPr>
          <p:cNvPr id="31" name="Connector: Elbow 30">
            <a:extLst>
              <a:ext uri="{FF2B5EF4-FFF2-40B4-BE49-F238E27FC236}">
                <a16:creationId xmlns:a16="http://schemas.microsoft.com/office/drawing/2014/main" id="{A99E60BF-7513-4A48-92DE-332AA7636AB2}"/>
              </a:ext>
            </a:extLst>
          </p:cNvPr>
          <p:cNvCxnSpPr>
            <a:cxnSpLocks/>
            <a:stCxn id="5" idx="3"/>
            <a:endCxn id="4" idx="5"/>
          </p:cNvCxnSpPr>
          <p:nvPr/>
        </p:nvCxnSpPr>
        <p:spPr>
          <a:xfrm rot="5400000">
            <a:off x="3959225" y="538311"/>
            <a:ext cx="12700" cy="2892425"/>
          </a:xfrm>
          <a:prstGeom prst="bentConnector3">
            <a:avLst>
              <a:gd name="adj1" fmla="val 2713378"/>
            </a:avLst>
          </a:prstGeom>
          <a:ln>
            <a:tailEnd type="triangle"/>
          </a:ln>
        </p:spPr>
        <p:style>
          <a:lnRef idx="1">
            <a:schemeClr val="dk1"/>
          </a:lnRef>
          <a:fillRef idx="0">
            <a:schemeClr val="dk1"/>
          </a:fillRef>
          <a:effectRef idx="0">
            <a:schemeClr val="dk1"/>
          </a:effectRef>
          <a:fontRef idx="minor">
            <a:schemeClr val="tx1"/>
          </a:fontRef>
        </p:style>
      </p:cxnSp>
      <p:sp>
        <p:nvSpPr>
          <p:cNvPr id="15381" name="TextBox 32">
            <a:extLst>
              <a:ext uri="{FF2B5EF4-FFF2-40B4-BE49-F238E27FC236}">
                <a16:creationId xmlns:a16="http://schemas.microsoft.com/office/drawing/2014/main" id="{209D4162-68AC-C5FA-FF0C-EC4F4FD35D3C}"/>
              </a:ext>
            </a:extLst>
          </p:cNvPr>
          <p:cNvSpPr txBox="1">
            <a:spLocks noChangeArrowheads="1"/>
          </p:cNvSpPr>
          <p:nvPr/>
        </p:nvSpPr>
        <p:spPr bwMode="auto">
          <a:xfrm>
            <a:off x="3052762" y="1990874"/>
            <a:ext cx="15192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pressbutton1</a:t>
            </a:r>
          </a:p>
        </p:txBody>
      </p:sp>
      <p:cxnSp>
        <p:nvCxnSpPr>
          <p:cNvPr id="35" name="Connector: Curved 34">
            <a:extLst>
              <a:ext uri="{FF2B5EF4-FFF2-40B4-BE49-F238E27FC236}">
                <a16:creationId xmlns:a16="http://schemas.microsoft.com/office/drawing/2014/main" id="{AA741F4F-D359-48E0-9A2B-CDA66AA02C8C}"/>
              </a:ext>
            </a:extLst>
          </p:cNvPr>
          <p:cNvCxnSpPr>
            <a:stCxn id="5" idx="6"/>
            <a:endCxn id="5" idx="7"/>
          </p:cNvCxnSpPr>
          <p:nvPr/>
        </p:nvCxnSpPr>
        <p:spPr>
          <a:xfrm flipH="1" flipV="1">
            <a:off x="6626225" y="1424136"/>
            <a:ext cx="254000" cy="280988"/>
          </a:xfrm>
          <a:prstGeom prst="curvedConnector4">
            <a:avLst>
              <a:gd name="adj1" fmla="val -90324"/>
              <a:gd name="adj2" fmla="val 223051"/>
            </a:avLst>
          </a:prstGeom>
          <a:ln>
            <a:tailEnd type="triangle"/>
          </a:ln>
        </p:spPr>
        <p:style>
          <a:lnRef idx="1">
            <a:schemeClr val="dk1"/>
          </a:lnRef>
          <a:fillRef idx="0">
            <a:schemeClr val="dk1"/>
          </a:fillRef>
          <a:effectRef idx="0">
            <a:schemeClr val="dk1"/>
          </a:effectRef>
          <a:fontRef idx="minor">
            <a:schemeClr val="tx1"/>
          </a:fontRef>
        </p:style>
      </p:cxnSp>
      <p:sp>
        <p:nvSpPr>
          <p:cNvPr id="15383" name="TextBox 35">
            <a:extLst>
              <a:ext uri="{FF2B5EF4-FFF2-40B4-BE49-F238E27FC236}">
                <a16:creationId xmlns:a16="http://schemas.microsoft.com/office/drawing/2014/main" id="{9B6E45EC-96CC-B0DD-4AB2-0C13F2D301EB}"/>
              </a:ext>
            </a:extLst>
          </p:cNvPr>
          <p:cNvSpPr txBox="1">
            <a:spLocks noChangeArrowheads="1"/>
          </p:cNvSpPr>
          <p:nvPr/>
        </p:nvSpPr>
        <p:spPr bwMode="auto">
          <a:xfrm>
            <a:off x="6707187" y="744686"/>
            <a:ext cx="15176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pressbutton2</a:t>
            </a:r>
          </a:p>
        </p:txBody>
      </p:sp>
      <p:sp>
        <p:nvSpPr>
          <p:cNvPr id="15384" name="TextBox 36">
            <a:extLst>
              <a:ext uri="{FF2B5EF4-FFF2-40B4-BE49-F238E27FC236}">
                <a16:creationId xmlns:a16="http://schemas.microsoft.com/office/drawing/2014/main" id="{68C69123-49E6-77E9-2635-088BB6DCBCE2}"/>
              </a:ext>
            </a:extLst>
          </p:cNvPr>
          <p:cNvSpPr txBox="1">
            <a:spLocks noChangeArrowheads="1"/>
          </p:cNvSpPr>
          <p:nvPr/>
        </p:nvSpPr>
        <p:spPr bwMode="auto">
          <a:xfrm>
            <a:off x="782637" y="4008586"/>
            <a:ext cx="1519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pressbutton2</a:t>
            </a:r>
          </a:p>
        </p:txBody>
      </p:sp>
      <p:cxnSp>
        <p:nvCxnSpPr>
          <p:cNvPr id="39" name="Connector: Elbow 38">
            <a:extLst>
              <a:ext uri="{FF2B5EF4-FFF2-40B4-BE49-F238E27FC236}">
                <a16:creationId xmlns:a16="http://schemas.microsoft.com/office/drawing/2014/main" id="{B2441F2E-DF35-4CFE-82A1-7D1E1469D4A6}"/>
              </a:ext>
            </a:extLst>
          </p:cNvPr>
          <p:cNvCxnSpPr>
            <a:stCxn id="7" idx="2"/>
          </p:cNvCxnSpPr>
          <p:nvPr/>
        </p:nvCxnSpPr>
        <p:spPr>
          <a:xfrm rot="10800000">
            <a:off x="2230437" y="2100411"/>
            <a:ext cx="1216025" cy="219551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41" name="Connector: Elbow 40">
            <a:extLst>
              <a:ext uri="{FF2B5EF4-FFF2-40B4-BE49-F238E27FC236}">
                <a16:creationId xmlns:a16="http://schemas.microsoft.com/office/drawing/2014/main" id="{3EBFE4F2-5EFD-4EB0-8F90-33FE5D538CFF}"/>
              </a:ext>
            </a:extLst>
          </p:cNvPr>
          <p:cNvCxnSpPr>
            <a:stCxn id="7" idx="6"/>
            <a:endCxn id="5" idx="5"/>
          </p:cNvCxnSpPr>
          <p:nvPr/>
        </p:nvCxnSpPr>
        <p:spPr>
          <a:xfrm flipV="1">
            <a:off x="5175250" y="1984524"/>
            <a:ext cx="1450975" cy="231140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5387" name="TextBox 41">
            <a:extLst>
              <a:ext uri="{FF2B5EF4-FFF2-40B4-BE49-F238E27FC236}">
                <a16:creationId xmlns:a16="http://schemas.microsoft.com/office/drawing/2014/main" id="{6332B34B-EB30-4112-E13B-AA1436503EBB}"/>
              </a:ext>
            </a:extLst>
          </p:cNvPr>
          <p:cNvSpPr txBox="1">
            <a:spLocks noChangeArrowheads="1"/>
          </p:cNvSpPr>
          <p:nvPr/>
        </p:nvSpPr>
        <p:spPr bwMode="auto">
          <a:xfrm>
            <a:off x="6605587" y="2781449"/>
            <a:ext cx="15192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pressbutton1</a:t>
            </a:r>
          </a:p>
        </p:txBody>
      </p:sp>
      <p:sp>
        <p:nvSpPr>
          <p:cNvPr id="15388" name="TextBox 42">
            <a:extLst>
              <a:ext uri="{FF2B5EF4-FFF2-40B4-BE49-F238E27FC236}">
                <a16:creationId xmlns:a16="http://schemas.microsoft.com/office/drawing/2014/main" id="{CDD8D797-58FA-A484-FE18-0244050FE407}"/>
              </a:ext>
            </a:extLst>
          </p:cNvPr>
          <p:cNvSpPr txBox="1">
            <a:spLocks noChangeArrowheads="1"/>
          </p:cNvSpPr>
          <p:nvPr/>
        </p:nvSpPr>
        <p:spPr bwMode="auto">
          <a:xfrm>
            <a:off x="865187" y="5911999"/>
            <a:ext cx="15176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t>insert1coin</a:t>
            </a:r>
          </a:p>
          <a:p>
            <a:r>
              <a:rPr lang="en-US" altLang="en-US" dirty="0"/>
              <a:t>pressbutton1</a:t>
            </a:r>
          </a:p>
          <a:p>
            <a:r>
              <a:rPr lang="en-US" altLang="en-US" dirty="0"/>
              <a:t>pressbutton2</a:t>
            </a:r>
          </a:p>
        </p:txBody>
      </p:sp>
      <p:cxnSp>
        <p:nvCxnSpPr>
          <p:cNvPr id="3" name="Straight Arrow Connector 2">
            <a:extLst>
              <a:ext uri="{FF2B5EF4-FFF2-40B4-BE49-F238E27FC236}">
                <a16:creationId xmlns:a16="http://schemas.microsoft.com/office/drawing/2014/main" id="{4DB1BAFF-D15F-E4E5-61B4-4D611EAEF178}"/>
              </a:ext>
            </a:extLst>
          </p:cNvPr>
          <p:cNvCxnSpPr/>
          <p:nvPr/>
        </p:nvCxnSpPr>
        <p:spPr bwMode="auto">
          <a:xfrm>
            <a:off x="1043608" y="1556792"/>
            <a:ext cx="364503"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0B627-AF05-EDBF-C143-1C1D93CFEAB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6512749-C4C1-9137-05DD-96EFE0528700}"/>
              </a:ext>
            </a:extLst>
          </p:cNvPr>
          <p:cNvSpPr>
            <a:spLocks noGrp="1"/>
          </p:cNvSpPr>
          <p:nvPr>
            <p:ph idx="1"/>
          </p:nvPr>
        </p:nvSpPr>
        <p:spPr/>
        <p:txBody>
          <a:bodyPr/>
          <a:lstStyle/>
          <a:p>
            <a:pPr marL="0" indent="0">
              <a:buNone/>
            </a:pPr>
            <a:r>
              <a:rPr lang="en-US" sz="2200" b="1" dirty="0"/>
              <a:t>Problem: a class whose behavior depends on some internal state.</a:t>
            </a:r>
          </a:p>
          <a:p>
            <a:r>
              <a:rPr lang="en-US" sz="2200" dirty="0"/>
              <a:t> A FSM implemented with a long if/else or switch statement.</a:t>
            </a:r>
          </a:p>
          <a:p>
            <a:pPr marL="0" indent="0">
              <a:buNone/>
            </a:pPr>
            <a:r>
              <a:rPr lang="en-US" sz="2200" dirty="0"/>
              <a:t>void handle(Event e) {`</a:t>
            </a:r>
          </a:p>
          <a:p>
            <a:pPr marL="0" indent="0">
              <a:buNone/>
            </a:pPr>
            <a:r>
              <a:rPr lang="en-US" sz="2200" dirty="0"/>
              <a:t>     if (state == STATE_A) { ... if (e == X) state = STATE_B; }`</a:t>
            </a:r>
          </a:p>
          <a:p>
            <a:pPr marL="0" indent="0">
              <a:buNone/>
            </a:pPr>
            <a:r>
              <a:rPr lang="en-US" sz="2200" dirty="0"/>
              <a:t>     else if (state == STATE_B) { ... if (e == Y) state = STATE_A; }</a:t>
            </a:r>
          </a:p>
          <a:p>
            <a:pPr marL="0" indent="0">
              <a:buNone/>
            </a:pPr>
            <a:r>
              <a:rPr lang="en-US" sz="2200" dirty="0"/>
              <a:t>}</a:t>
            </a:r>
          </a:p>
          <a:p>
            <a:r>
              <a:rPr lang="en-US" sz="2200" dirty="0"/>
              <a:t>This is hard to maintain and violates the Open-Closed Principle.</a:t>
            </a:r>
          </a:p>
        </p:txBody>
      </p:sp>
    </p:spTree>
    <p:extLst>
      <p:ext uri="{BB962C8B-B14F-4D97-AF65-F5344CB8AC3E}">
        <p14:creationId xmlns:p14="http://schemas.microsoft.com/office/powerpoint/2010/main" val="13862343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D007E8BD-8B9A-E210-8FE8-0485E0677C61}"/>
              </a:ext>
            </a:extLst>
          </p:cNvPr>
          <p:cNvSpPr>
            <a:spLocks noGrp="1" noChangeArrowheads="1"/>
          </p:cNvSpPr>
          <p:nvPr>
            <p:ph type="title"/>
          </p:nvPr>
        </p:nvSpPr>
        <p:spPr/>
        <p:txBody>
          <a:bodyPr/>
          <a:lstStyle/>
          <a:p>
            <a:r>
              <a:rPr lang="en-US" altLang="tr-TR" dirty="0"/>
              <a:t>Change the behavior…</a:t>
            </a:r>
          </a:p>
        </p:txBody>
      </p:sp>
      <p:sp>
        <p:nvSpPr>
          <p:cNvPr id="17411" name="Rectangle 3">
            <a:extLst>
              <a:ext uri="{FF2B5EF4-FFF2-40B4-BE49-F238E27FC236}">
                <a16:creationId xmlns:a16="http://schemas.microsoft.com/office/drawing/2014/main" id="{0AFB3CB4-9533-5B36-C1AA-D29A90CB0429}"/>
              </a:ext>
            </a:extLst>
          </p:cNvPr>
          <p:cNvSpPr>
            <a:spLocks noGrp="1" noChangeArrowheads="1"/>
          </p:cNvSpPr>
          <p:nvPr>
            <p:ph idx="1"/>
          </p:nvPr>
        </p:nvSpPr>
        <p:spPr/>
        <p:txBody>
          <a:bodyPr/>
          <a:lstStyle/>
          <a:p>
            <a:r>
              <a:rPr lang="en-US" altLang="tr-TR" dirty="0"/>
              <a:t>Now, I need to change the behavior of the vending machine to ask for 3 coins as payment</a:t>
            </a:r>
          </a:p>
          <a:p>
            <a:r>
              <a:rPr lang="en-US" altLang="tr-TR" dirty="0"/>
              <a:t>How will your code get effected?</a:t>
            </a:r>
          </a:p>
          <a:p>
            <a:r>
              <a:rPr lang="en-US" altLang="tr-TR" dirty="0"/>
              <a:t>How many places need to change?</a:t>
            </a:r>
            <a:endParaRPr lang="en-GB" altLang="tr-T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4A24CC6-7488-27C3-1EC6-9D7E1EB1019D}"/>
              </a:ext>
            </a:extLst>
          </p:cNvPr>
          <p:cNvSpPr>
            <a:spLocks noGrp="1" noChangeArrowheads="1"/>
          </p:cNvSpPr>
          <p:nvPr>
            <p:ph type="title"/>
          </p:nvPr>
        </p:nvSpPr>
        <p:spPr/>
        <p:txBody>
          <a:bodyPr/>
          <a:lstStyle/>
          <a:p>
            <a:pPr eaLnBrk="1" hangingPunct="1"/>
            <a:r>
              <a:rPr lang="en-US" altLang="tr-TR"/>
              <a:t>State Pattern</a:t>
            </a:r>
          </a:p>
        </p:txBody>
      </p:sp>
      <p:sp>
        <p:nvSpPr>
          <p:cNvPr id="18435" name="Rectangle 3">
            <a:extLst>
              <a:ext uri="{FF2B5EF4-FFF2-40B4-BE49-F238E27FC236}">
                <a16:creationId xmlns:a16="http://schemas.microsoft.com/office/drawing/2014/main" id="{32D2B412-F224-5C46-D4D2-8C67CEFA5067}"/>
              </a:ext>
            </a:extLst>
          </p:cNvPr>
          <p:cNvSpPr>
            <a:spLocks noGrp="1" noChangeArrowheads="1"/>
          </p:cNvSpPr>
          <p:nvPr>
            <p:ph idx="1"/>
          </p:nvPr>
        </p:nvSpPr>
        <p:spPr/>
        <p:txBody>
          <a:bodyPr/>
          <a:lstStyle/>
          <a:p>
            <a:pPr eaLnBrk="1" hangingPunct="1"/>
            <a:r>
              <a:rPr lang="en-US" altLang="tr-TR" b="1" dirty="0"/>
              <a:t>Intent</a:t>
            </a:r>
          </a:p>
          <a:p>
            <a:pPr lvl="1" eaLnBrk="1" hangingPunct="1"/>
            <a:r>
              <a:rPr lang="en-US" altLang="tr-TR" dirty="0"/>
              <a:t>Allow an object to alter its behavior when its internal state changes.</a:t>
            </a:r>
          </a:p>
          <a:p>
            <a:pPr lvl="1" eaLnBrk="1" hangingPunct="1"/>
            <a:r>
              <a:rPr lang="en-US" altLang="tr-TR" dirty="0"/>
              <a:t>The object will appear to change its class. </a:t>
            </a:r>
          </a:p>
          <a:p>
            <a:pPr lvl="2" eaLnBrk="1" hangingPunct="1"/>
            <a:r>
              <a:rPr lang="en-US" altLang="tr-TR" dirty="0"/>
              <a:t>As if a totally different implementation has taken place at runtime</a:t>
            </a:r>
          </a:p>
          <a:p>
            <a:pPr lvl="2" eaLnBrk="1" hangingPunct="1"/>
            <a:endParaRPr lang="en-US" altLang="tr-TR" dirty="0"/>
          </a:p>
          <a:p>
            <a:r>
              <a:rPr lang="en-US" altLang="tr-TR" sz="2800" dirty="0" err="1"/>
              <a:t>Soln</a:t>
            </a:r>
            <a:r>
              <a:rPr lang="en-US" altLang="tr-TR" sz="2800" dirty="0"/>
              <a:t>: encapsulate each state in its own object.</a:t>
            </a:r>
          </a:p>
          <a:p>
            <a:r>
              <a:rPr lang="en-US" altLang="tr-TR" sz="2800" dirty="0"/>
              <a:t>The Context (the FSM) will delegate all state-specific behavior to its </a:t>
            </a:r>
            <a:r>
              <a:rPr lang="en-US" altLang="tr-TR" sz="2800" b="1" dirty="0"/>
              <a:t>current state object.</a:t>
            </a:r>
          </a:p>
          <a:p>
            <a:endParaRPr lang="en-US" altLang="tr-T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
            <a:extLst>
              <a:ext uri="{FF2B5EF4-FFF2-40B4-BE49-F238E27FC236}">
                <a16:creationId xmlns:a16="http://schemas.microsoft.com/office/drawing/2014/main" id="{73E93D3E-C110-EB0A-7028-962B59E971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614488"/>
            <a:ext cx="63817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Rectangle 2">
            <a:extLst>
              <a:ext uri="{FF2B5EF4-FFF2-40B4-BE49-F238E27FC236}">
                <a16:creationId xmlns:a16="http://schemas.microsoft.com/office/drawing/2014/main" id="{B3EEDBFC-501E-2620-16C7-48D86BF6B4D8}"/>
              </a:ext>
            </a:extLst>
          </p:cNvPr>
          <p:cNvSpPr>
            <a:spLocks noGrp="1" noChangeArrowheads="1"/>
          </p:cNvSpPr>
          <p:nvPr>
            <p:ph type="title"/>
          </p:nvPr>
        </p:nvSpPr>
        <p:spPr/>
        <p:txBody>
          <a:bodyPr/>
          <a:lstStyle/>
          <a:p>
            <a:pPr eaLnBrk="1" hangingPunct="1"/>
            <a:r>
              <a:rPr lang="en-US" altLang="tr-TR"/>
              <a:t>State -Structure</a:t>
            </a:r>
          </a:p>
        </p:txBody>
      </p:sp>
      <p:sp>
        <p:nvSpPr>
          <p:cNvPr id="19460" name="Text Box 7">
            <a:extLst>
              <a:ext uri="{FF2B5EF4-FFF2-40B4-BE49-F238E27FC236}">
                <a16:creationId xmlns:a16="http://schemas.microsoft.com/office/drawing/2014/main" id="{67E19A30-5CED-875A-C70D-22C4E1AA7332}"/>
              </a:ext>
            </a:extLst>
          </p:cNvPr>
          <p:cNvSpPr txBox="1">
            <a:spLocks noChangeArrowheads="1"/>
          </p:cNvSpPr>
          <p:nvPr/>
        </p:nvSpPr>
        <p:spPr bwMode="auto">
          <a:xfrm>
            <a:off x="663575" y="4384675"/>
            <a:ext cx="370005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2000" dirty="0"/>
              <a:t>Context is the class that</a:t>
            </a:r>
          </a:p>
          <a:p>
            <a:pPr eaLnBrk="1" hangingPunct="1">
              <a:spcBef>
                <a:spcPct val="0"/>
              </a:spcBef>
              <a:buFontTx/>
              <a:buNone/>
            </a:pPr>
            <a:r>
              <a:rPr lang="en-US" altLang="tr-TR" sz="2000" dirty="0"/>
              <a:t>has a number of internal states</a:t>
            </a:r>
          </a:p>
          <a:p>
            <a:pPr eaLnBrk="1" hangingPunct="1">
              <a:spcBef>
                <a:spcPct val="0"/>
              </a:spcBef>
              <a:buFontTx/>
              <a:buNone/>
            </a:pPr>
            <a:r>
              <a:rPr lang="en-US" altLang="tr-TR" sz="2000" dirty="0"/>
              <a:t>It is delegating the behavior</a:t>
            </a:r>
          </a:p>
          <a:p>
            <a:pPr eaLnBrk="1" hangingPunct="1">
              <a:spcBef>
                <a:spcPct val="0"/>
              </a:spcBef>
              <a:buFontTx/>
              <a:buNone/>
            </a:pPr>
            <a:r>
              <a:rPr lang="en-US" altLang="tr-TR" sz="2000" dirty="0"/>
              <a:t>To a state instance</a:t>
            </a:r>
            <a:endParaRPr lang="en-GB" altLang="tr-TR" sz="2000" dirty="0"/>
          </a:p>
        </p:txBody>
      </p:sp>
      <p:sp>
        <p:nvSpPr>
          <p:cNvPr id="19461" name="Text Box 8">
            <a:extLst>
              <a:ext uri="{FF2B5EF4-FFF2-40B4-BE49-F238E27FC236}">
                <a16:creationId xmlns:a16="http://schemas.microsoft.com/office/drawing/2014/main" id="{5A0EAD8C-15A7-F467-6A9C-EEBCA15E92C0}"/>
              </a:ext>
            </a:extLst>
          </p:cNvPr>
          <p:cNvSpPr txBox="1">
            <a:spLocks noChangeArrowheads="1"/>
          </p:cNvSpPr>
          <p:nvPr/>
        </p:nvSpPr>
        <p:spPr bwMode="auto">
          <a:xfrm>
            <a:off x="5960426" y="5046394"/>
            <a:ext cx="321754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2000" dirty="0"/>
              <a:t>Handle each request </a:t>
            </a:r>
          </a:p>
          <a:p>
            <a:pPr eaLnBrk="1" hangingPunct="1">
              <a:spcBef>
                <a:spcPct val="0"/>
              </a:spcBef>
              <a:buFontTx/>
              <a:buNone/>
            </a:pPr>
            <a:r>
              <a:rPr lang="en-US" altLang="tr-TR" sz="2000" dirty="0"/>
              <a:t>based on the specific state</a:t>
            </a:r>
            <a:endParaRPr lang="en-GB" altLang="tr-TR"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4A24CC6-7488-27C3-1EC6-9D7E1EB1019D}"/>
              </a:ext>
            </a:extLst>
          </p:cNvPr>
          <p:cNvSpPr>
            <a:spLocks noGrp="1" noChangeArrowheads="1"/>
          </p:cNvSpPr>
          <p:nvPr>
            <p:ph type="title"/>
          </p:nvPr>
        </p:nvSpPr>
        <p:spPr/>
        <p:txBody>
          <a:bodyPr/>
          <a:lstStyle/>
          <a:p>
            <a:pPr eaLnBrk="1" hangingPunct="1"/>
            <a:r>
              <a:rPr lang="en-US" altLang="tr-TR"/>
              <a:t>State Pattern</a:t>
            </a:r>
          </a:p>
        </p:txBody>
      </p:sp>
      <p:sp>
        <p:nvSpPr>
          <p:cNvPr id="18435" name="Rectangle 3">
            <a:extLst>
              <a:ext uri="{FF2B5EF4-FFF2-40B4-BE49-F238E27FC236}">
                <a16:creationId xmlns:a16="http://schemas.microsoft.com/office/drawing/2014/main" id="{32D2B412-F224-5C46-D4D2-8C67CEFA5067}"/>
              </a:ext>
            </a:extLst>
          </p:cNvPr>
          <p:cNvSpPr>
            <a:spLocks noGrp="1" noChangeArrowheads="1"/>
          </p:cNvSpPr>
          <p:nvPr>
            <p:ph idx="1"/>
          </p:nvPr>
        </p:nvSpPr>
        <p:spPr/>
        <p:txBody>
          <a:bodyPr/>
          <a:lstStyle/>
          <a:p>
            <a:pPr eaLnBrk="1" hangingPunct="1">
              <a:lnSpc>
                <a:spcPct val="90000"/>
              </a:lnSpc>
            </a:pPr>
            <a:r>
              <a:rPr lang="en-US" altLang="tr-TR" sz="2800" b="1" dirty="0"/>
              <a:t>Intent</a:t>
            </a:r>
          </a:p>
          <a:p>
            <a:pPr lvl="1" eaLnBrk="1" hangingPunct="1">
              <a:lnSpc>
                <a:spcPct val="90000"/>
              </a:lnSpc>
            </a:pPr>
            <a:r>
              <a:rPr lang="en-US" altLang="tr-TR" sz="2400" dirty="0"/>
              <a:t>Allow an object to alter its behavior when its internal state changes.</a:t>
            </a:r>
          </a:p>
          <a:p>
            <a:pPr eaLnBrk="1" hangingPunct="1">
              <a:lnSpc>
                <a:spcPct val="90000"/>
              </a:lnSpc>
            </a:pPr>
            <a:r>
              <a:rPr lang="en-US" altLang="tr-TR" b="1" dirty="0"/>
              <a:t>Applicability</a:t>
            </a:r>
          </a:p>
          <a:p>
            <a:pPr lvl="1" eaLnBrk="1" hangingPunct="1">
              <a:lnSpc>
                <a:spcPct val="90000"/>
              </a:lnSpc>
            </a:pPr>
            <a:r>
              <a:rPr lang="en-US" altLang="tr-TR" dirty="0"/>
              <a:t>An object's behavior depends on its state, and </a:t>
            </a:r>
            <a:r>
              <a:rPr lang="en-US" altLang="tr-TR" u="sng" dirty="0"/>
              <a:t>it must change its behavior at run-time </a:t>
            </a:r>
            <a:r>
              <a:rPr lang="en-US" altLang="tr-TR" dirty="0"/>
              <a:t>depending on that state</a:t>
            </a:r>
          </a:p>
          <a:p>
            <a:pPr lvl="1" eaLnBrk="1" hangingPunct="1">
              <a:lnSpc>
                <a:spcPct val="90000"/>
              </a:lnSpc>
            </a:pPr>
            <a:r>
              <a:rPr lang="en-US" altLang="tr-TR" dirty="0"/>
              <a:t>Operations have large, multipart conditional statements that depend on the object's state. </a:t>
            </a:r>
          </a:p>
          <a:p>
            <a:pPr lvl="2" eaLnBrk="1" hangingPunct="1">
              <a:lnSpc>
                <a:spcPct val="90000"/>
              </a:lnSpc>
            </a:pPr>
            <a:r>
              <a:rPr lang="en-US" altLang="tr-TR" dirty="0"/>
              <a:t>The State pattern puts each branch of the conditional in a separate class.</a:t>
            </a:r>
          </a:p>
          <a:p>
            <a:pPr lvl="2" eaLnBrk="1" hangingPunct="1">
              <a:lnSpc>
                <a:spcPct val="90000"/>
              </a:lnSpc>
            </a:pPr>
            <a:r>
              <a:rPr lang="en-US" altLang="tr-TR" i="1" dirty="0">
                <a:solidFill>
                  <a:srgbClr val="0070C0"/>
                </a:solidFill>
              </a:rPr>
              <a:t>Especially useful when state-specific code change frequently</a:t>
            </a:r>
          </a:p>
        </p:txBody>
      </p:sp>
    </p:spTree>
    <p:extLst>
      <p:ext uri="{BB962C8B-B14F-4D97-AF65-F5344CB8AC3E}">
        <p14:creationId xmlns:p14="http://schemas.microsoft.com/office/powerpoint/2010/main" val="2887485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901FD9-BD2C-0852-2610-F2E645F29B9C}"/>
              </a:ext>
            </a:extLst>
          </p:cNvPr>
          <p:cNvSpPr>
            <a:spLocks noGrp="1"/>
          </p:cNvSpPr>
          <p:nvPr>
            <p:ph type="title"/>
          </p:nvPr>
        </p:nvSpPr>
        <p:spPr/>
        <p:txBody>
          <a:bodyPr/>
          <a:lstStyle/>
          <a:p>
            <a:r>
              <a:rPr lang="en-US" dirty="0"/>
              <a:t>State-Collaborations</a:t>
            </a:r>
          </a:p>
        </p:txBody>
      </p:sp>
      <p:sp>
        <p:nvSpPr>
          <p:cNvPr id="4" name="Content Placeholder 3">
            <a:extLst>
              <a:ext uri="{FF2B5EF4-FFF2-40B4-BE49-F238E27FC236}">
                <a16:creationId xmlns:a16="http://schemas.microsoft.com/office/drawing/2014/main" id="{7E013751-A34D-B39D-EE3E-CFB0A27CC3FE}"/>
              </a:ext>
            </a:extLst>
          </p:cNvPr>
          <p:cNvSpPr>
            <a:spLocks noGrp="1"/>
          </p:cNvSpPr>
          <p:nvPr>
            <p:ph idx="1"/>
          </p:nvPr>
        </p:nvSpPr>
        <p:spPr/>
        <p:txBody>
          <a:bodyPr/>
          <a:lstStyle/>
          <a:p>
            <a:r>
              <a:rPr lang="en-US" sz="2400" dirty="0"/>
              <a:t>Context delegates state-specific requests to the current </a:t>
            </a:r>
            <a:r>
              <a:rPr lang="en-US" sz="2400" dirty="0" err="1"/>
              <a:t>ConcreteState</a:t>
            </a:r>
            <a:r>
              <a:rPr lang="en-US" sz="2400" dirty="0"/>
              <a:t> object.</a:t>
            </a:r>
          </a:p>
          <a:p>
            <a:r>
              <a:rPr lang="en-US" sz="2400" dirty="0"/>
              <a:t>A context may pass itself as an argument to the State object handling the request.</a:t>
            </a:r>
          </a:p>
          <a:p>
            <a:pPr lvl="1"/>
            <a:r>
              <a:rPr lang="en-US" sz="2000" dirty="0"/>
              <a:t>This lets the State object access the context if necessary.</a:t>
            </a:r>
          </a:p>
          <a:p>
            <a:r>
              <a:rPr lang="en-US" sz="2400" dirty="0"/>
              <a:t>Context is the primary interface for clients. Clients can configure a context with State objects. </a:t>
            </a:r>
          </a:p>
          <a:p>
            <a:pPr lvl="1"/>
            <a:r>
              <a:rPr lang="en-US" sz="2000" dirty="0"/>
              <a:t>Once a context is configured, its clients don't have to deal with the State objects directly.</a:t>
            </a:r>
          </a:p>
          <a:p>
            <a:r>
              <a:rPr lang="en-US" sz="2400" dirty="0"/>
              <a:t>Either Context or the </a:t>
            </a:r>
            <a:r>
              <a:rPr lang="en-US" sz="2400" dirty="0" err="1"/>
              <a:t>ConcreteState</a:t>
            </a:r>
            <a:r>
              <a:rPr lang="en-US" sz="2400" dirty="0"/>
              <a:t> subclasses can decide which state succeeds another and under what circumstances.</a:t>
            </a:r>
          </a:p>
        </p:txBody>
      </p:sp>
    </p:spTree>
    <p:extLst>
      <p:ext uri="{BB962C8B-B14F-4D97-AF65-F5344CB8AC3E}">
        <p14:creationId xmlns:p14="http://schemas.microsoft.com/office/powerpoint/2010/main" val="39894761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6A93965F-312A-B24B-3C50-6A537C0914BC}"/>
              </a:ext>
            </a:extLst>
          </p:cNvPr>
          <p:cNvSpPr>
            <a:spLocks noGrp="1" noChangeArrowheads="1"/>
          </p:cNvSpPr>
          <p:nvPr>
            <p:ph idx="4294967295"/>
          </p:nvPr>
        </p:nvSpPr>
        <p:spPr>
          <a:xfrm>
            <a:off x="323528" y="404664"/>
            <a:ext cx="9515400" cy="6301060"/>
          </a:xfrm>
        </p:spPr>
        <p:txBody>
          <a:bodyPr/>
          <a:lstStyle/>
          <a:p>
            <a:pPr>
              <a:lnSpc>
                <a:spcPct val="90000"/>
              </a:lnSpc>
              <a:buFontTx/>
              <a:buNone/>
            </a:pPr>
            <a:r>
              <a:rPr lang="en-US" altLang="tr-TR" sz="2000" dirty="0">
                <a:latin typeface="Source Code Pro" panose="020B0509030403020204" pitchFamily="49" charset="0"/>
                <a:ea typeface="Source Code Pro" panose="020B0509030403020204" pitchFamily="49" charset="0"/>
              </a:rPr>
              <a:t>public class </a:t>
            </a:r>
            <a:r>
              <a:rPr lang="en-US" altLang="tr-TR" sz="2000" dirty="0" err="1">
                <a:latin typeface="Source Code Pro" panose="020B0509030403020204" pitchFamily="49" charset="0"/>
                <a:ea typeface="Source Code Pro" panose="020B0509030403020204" pitchFamily="49" charset="0"/>
              </a:rPr>
              <a:t>VendingMachine</a:t>
            </a:r>
            <a:r>
              <a:rPr lang="en-US" altLang="tr-TR" sz="2000" dirty="0">
                <a:latin typeface="Source Code Pro" panose="020B0509030403020204" pitchFamily="49" charset="0"/>
                <a:ea typeface="Source Code Pro" panose="020B0509030403020204" pitchFamily="49" charset="0"/>
              </a:rPr>
              <a:t>{   //the Context</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public final State </a:t>
            </a:r>
            <a:r>
              <a:rPr lang="en-US" altLang="tr-TR" sz="2000" dirty="0" err="1">
                <a:solidFill>
                  <a:srgbClr val="0070C0"/>
                </a:solidFill>
                <a:latin typeface="Source Code Pro" panose="020B0509030403020204" pitchFamily="49" charset="0"/>
                <a:ea typeface="Source Code Pro" panose="020B0509030403020204" pitchFamily="49" charset="0"/>
              </a:rPr>
              <a:t>nocoins</a:t>
            </a:r>
            <a:r>
              <a:rPr lang="en-US" altLang="tr-TR" sz="2000" dirty="0">
                <a:latin typeface="Source Code Pro" panose="020B0509030403020204" pitchFamily="49" charset="0"/>
                <a:ea typeface="Source Code Pro" panose="020B0509030403020204" pitchFamily="49" charset="0"/>
              </a:rPr>
              <a:t>=new </a:t>
            </a:r>
            <a:r>
              <a:rPr lang="en-US" altLang="tr-TR" sz="2000" dirty="0" err="1">
                <a:latin typeface="Source Code Pro" panose="020B0509030403020204" pitchFamily="49" charset="0"/>
                <a:ea typeface="Source Code Pro" panose="020B0509030403020204" pitchFamily="49" charset="0"/>
              </a:rPr>
              <a:t>NoCoinState</a:t>
            </a:r>
            <a:r>
              <a:rPr lang="en-US" altLang="tr-TR" sz="2000" dirty="0">
                <a:latin typeface="Source Code Pro" panose="020B0509030403020204" pitchFamily="49" charset="0"/>
                <a:ea typeface="Source Code Pro" panose="020B0509030403020204" pitchFamily="49" charset="0"/>
              </a:rPr>
              <a:t>(); </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//states as flyweights</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a:t>
            </a:r>
          </a:p>
          <a:p>
            <a:pPr>
              <a:lnSpc>
                <a:spcPct val="90000"/>
              </a:lnSpc>
              <a:buFontTx/>
              <a:buNone/>
            </a:pPr>
            <a:r>
              <a:rPr lang="en-US" altLang="tr-TR" sz="2000" dirty="0">
                <a:solidFill>
                  <a:srgbClr val="0070C0"/>
                </a:solidFill>
                <a:latin typeface="Source Code Pro" panose="020B0509030403020204" pitchFamily="49" charset="0"/>
                <a:ea typeface="Source Code Pro" panose="020B0509030403020204" pitchFamily="49" charset="0"/>
              </a:rPr>
              <a:t>  State </a:t>
            </a:r>
            <a:r>
              <a:rPr lang="en-US" altLang="tr-TR" sz="2000" dirty="0" err="1">
                <a:solidFill>
                  <a:srgbClr val="0070C0"/>
                </a:solidFill>
                <a:latin typeface="Source Code Pro" panose="020B0509030403020204" pitchFamily="49" charset="0"/>
                <a:ea typeface="Source Code Pro" panose="020B0509030403020204" pitchFamily="49" charset="0"/>
              </a:rPr>
              <a:t>currentState</a:t>
            </a:r>
            <a:r>
              <a:rPr lang="en-US" altLang="tr-TR" sz="2000" dirty="0">
                <a:solidFill>
                  <a:srgbClr val="0070C0"/>
                </a:solidFill>
                <a:latin typeface="Source Code Pro" panose="020B0509030403020204" pitchFamily="49" charset="0"/>
                <a:ea typeface="Source Code Pro" panose="020B0509030403020204" pitchFamily="49" charset="0"/>
              </a:rPr>
              <a:t>;</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public </a:t>
            </a:r>
            <a:r>
              <a:rPr lang="en-US" altLang="tr-TR" sz="2000" dirty="0" err="1">
                <a:latin typeface="Source Code Pro" panose="020B0509030403020204" pitchFamily="49" charset="0"/>
                <a:ea typeface="Source Code Pro" panose="020B0509030403020204" pitchFamily="49" charset="0"/>
              </a:rPr>
              <a:t>VendingMachine</a:t>
            </a:r>
            <a:r>
              <a:rPr lang="en-US" altLang="tr-TR" sz="2000" dirty="0">
                <a:latin typeface="Source Code Pro" panose="020B0509030403020204" pitchFamily="49" charset="0"/>
                <a:ea typeface="Source Code Pro" panose="020B0509030403020204" pitchFamily="49" charset="0"/>
              </a:rPr>
              <a:t>(){ …  </a:t>
            </a:r>
            <a:r>
              <a:rPr lang="en-US" altLang="tr-TR" sz="2000" dirty="0" err="1">
                <a:latin typeface="Source Code Pro" panose="020B0509030403020204" pitchFamily="49" charset="0"/>
                <a:ea typeface="Source Code Pro" panose="020B0509030403020204" pitchFamily="49" charset="0"/>
              </a:rPr>
              <a:t>currentState</a:t>
            </a:r>
            <a:r>
              <a:rPr lang="en-US" altLang="tr-TR" sz="2000" dirty="0">
                <a:latin typeface="Source Code Pro" panose="020B0509030403020204" pitchFamily="49" charset="0"/>
                <a:ea typeface="Source Code Pro" panose="020B0509030403020204" pitchFamily="49" charset="0"/>
              </a:rPr>
              <a:t>=</a:t>
            </a:r>
            <a:r>
              <a:rPr lang="en-US" altLang="tr-TR" sz="2000" dirty="0" err="1">
                <a:latin typeface="Source Code Pro" panose="020B0509030403020204" pitchFamily="49" charset="0"/>
                <a:ea typeface="Source Code Pro" panose="020B0509030403020204" pitchFamily="49" charset="0"/>
              </a:rPr>
              <a:t>noCoins</a:t>
            </a:r>
            <a:r>
              <a:rPr lang="en-US" altLang="tr-TR" sz="2000" dirty="0">
                <a:latin typeface="Source Code Pro" panose="020B0509030403020204" pitchFamily="49" charset="0"/>
                <a:ea typeface="Source Code Pro" panose="020B0509030403020204" pitchFamily="49" charset="0"/>
              </a:rPr>
              <a:t>; …}</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public  void </a:t>
            </a:r>
            <a:r>
              <a:rPr lang="en-US" altLang="tr-TR" sz="2000" dirty="0" err="1">
                <a:latin typeface="Source Code Pro" panose="020B0509030403020204" pitchFamily="49" charset="0"/>
                <a:ea typeface="Source Code Pro" panose="020B0509030403020204" pitchFamily="49" charset="0"/>
              </a:rPr>
              <a:t>insertCoin</a:t>
            </a:r>
            <a:r>
              <a:rPr lang="en-US" altLang="tr-TR" sz="2000" dirty="0">
                <a:latin typeface="Source Code Pro" panose="020B0509030403020204" pitchFamily="49" charset="0"/>
                <a:ea typeface="Source Code Pro" panose="020B0509030403020204" pitchFamily="49" charset="0"/>
              </a:rPr>
              <a:t>(){</a:t>
            </a:r>
          </a:p>
          <a:p>
            <a:pPr>
              <a:lnSpc>
                <a:spcPct val="90000"/>
              </a:lnSpc>
              <a:buFontTx/>
              <a:buNone/>
            </a:pPr>
            <a:r>
              <a:rPr lang="en-US" altLang="tr-TR" sz="2000" dirty="0">
                <a:solidFill>
                  <a:srgbClr val="FF0000"/>
                </a:solidFill>
                <a:latin typeface="Source Code Pro" panose="020B0509030403020204" pitchFamily="49" charset="0"/>
                <a:ea typeface="Source Code Pro" panose="020B0509030403020204" pitchFamily="49" charset="0"/>
              </a:rPr>
              <a:t>      </a:t>
            </a:r>
            <a:r>
              <a:rPr lang="en-US" altLang="tr-TR" sz="2000" dirty="0" err="1">
                <a:solidFill>
                  <a:srgbClr val="FF0000"/>
                </a:solidFill>
                <a:latin typeface="Source Code Pro" panose="020B0509030403020204" pitchFamily="49" charset="0"/>
                <a:ea typeface="Source Code Pro" panose="020B0509030403020204" pitchFamily="49" charset="0"/>
              </a:rPr>
              <a:t>currentState.insertCoin</a:t>
            </a:r>
            <a:r>
              <a:rPr lang="en-US" altLang="tr-TR" sz="2000" dirty="0">
                <a:solidFill>
                  <a:srgbClr val="FF0000"/>
                </a:solidFill>
                <a:latin typeface="Source Code Pro" panose="020B0509030403020204" pitchFamily="49" charset="0"/>
                <a:ea typeface="Source Code Pro" panose="020B0509030403020204" pitchFamily="49" charset="0"/>
              </a:rPr>
              <a:t>(this); </a:t>
            </a:r>
            <a:r>
              <a:rPr lang="en-US" altLang="tr-TR" sz="2000" dirty="0">
                <a:latin typeface="Source Code Pro" panose="020B0509030403020204" pitchFamily="49" charset="0"/>
                <a:ea typeface="Source Code Pro" panose="020B0509030403020204" pitchFamily="49" charset="0"/>
              </a:rPr>
              <a:t>//delegate action</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public void </a:t>
            </a:r>
            <a:r>
              <a:rPr lang="en-US" altLang="tr-TR" sz="2000" dirty="0" err="1">
                <a:latin typeface="Source Code Pro" panose="020B0509030403020204" pitchFamily="49" charset="0"/>
                <a:ea typeface="Source Code Pro" panose="020B0509030403020204" pitchFamily="49" charset="0"/>
              </a:rPr>
              <a:t>buttonpressed</a:t>
            </a:r>
            <a:r>
              <a:rPr lang="en-US" altLang="tr-TR" sz="2000" dirty="0">
                <a:latin typeface="Source Code Pro" panose="020B0509030403020204" pitchFamily="49" charset="0"/>
                <a:ea typeface="Source Code Pro" panose="020B0509030403020204" pitchFamily="49" charset="0"/>
              </a:rPr>
              <a:t>(){</a:t>
            </a:r>
          </a:p>
          <a:p>
            <a:pPr>
              <a:lnSpc>
                <a:spcPct val="90000"/>
              </a:lnSpc>
              <a:buFontTx/>
              <a:buNone/>
            </a:pPr>
            <a:r>
              <a:rPr lang="en-US" altLang="tr-TR" sz="2000" dirty="0">
                <a:solidFill>
                  <a:srgbClr val="FF0000"/>
                </a:solidFill>
                <a:latin typeface="Source Code Pro" panose="020B0509030403020204" pitchFamily="49" charset="0"/>
                <a:ea typeface="Source Code Pro" panose="020B0509030403020204" pitchFamily="49" charset="0"/>
              </a:rPr>
              <a:t>	   </a:t>
            </a:r>
            <a:r>
              <a:rPr lang="en-US" altLang="tr-TR" sz="2000" dirty="0" err="1">
                <a:solidFill>
                  <a:srgbClr val="FF0000"/>
                </a:solidFill>
                <a:latin typeface="Source Code Pro" panose="020B0509030403020204" pitchFamily="49" charset="0"/>
                <a:ea typeface="Source Code Pro" panose="020B0509030403020204" pitchFamily="49" charset="0"/>
              </a:rPr>
              <a:t>currentState.buttonpressed</a:t>
            </a:r>
            <a:r>
              <a:rPr lang="en-US" altLang="tr-TR" sz="2000" dirty="0">
                <a:solidFill>
                  <a:srgbClr val="FF0000"/>
                </a:solidFill>
                <a:latin typeface="Source Code Pro" panose="020B0509030403020204" pitchFamily="49" charset="0"/>
                <a:ea typeface="Source Code Pro" panose="020B0509030403020204" pitchFamily="49" charset="0"/>
              </a:rPr>
              <a:t>(this); </a:t>
            </a:r>
            <a:r>
              <a:rPr lang="en-US" altLang="tr-TR" sz="2000" dirty="0">
                <a:latin typeface="Source Code Pro" panose="020B0509030403020204" pitchFamily="49" charset="0"/>
                <a:ea typeface="Source Code Pro" panose="020B0509030403020204" pitchFamily="49" charset="0"/>
              </a:rPr>
              <a:t>//delegate</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//methods for state transition </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a:t>
            </a:r>
            <a:r>
              <a:rPr lang="en-US" altLang="tr-TR" sz="2000" dirty="0">
                <a:solidFill>
                  <a:srgbClr val="0070C0"/>
                </a:solidFill>
                <a:latin typeface="Source Code Pro" panose="020B0509030403020204" pitchFamily="49" charset="0"/>
                <a:ea typeface="Source Code Pro" panose="020B0509030403020204" pitchFamily="49" charset="0"/>
              </a:rPr>
              <a:t>void </a:t>
            </a:r>
            <a:r>
              <a:rPr lang="en-US" altLang="tr-TR" sz="2000" dirty="0" err="1">
                <a:solidFill>
                  <a:srgbClr val="0070C0"/>
                </a:solidFill>
                <a:latin typeface="Source Code Pro" panose="020B0509030403020204" pitchFamily="49" charset="0"/>
                <a:ea typeface="Source Code Pro" panose="020B0509030403020204" pitchFamily="49" charset="0"/>
              </a:rPr>
              <a:t>setState</a:t>
            </a:r>
            <a:r>
              <a:rPr lang="en-US" altLang="tr-TR" sz="2000" dirty="0">
                <a:solidFill>
                  <a:srgbClr val="0070C0"/>
                </a:solidFill>
                <a:latin typeface="Source Code Pro" panose="020B0509030403020204" pitchFamily="49" charset="0"/>
                <a:ea typeface="Source Code Pro" panose="020B0509030403020204" pitchFamily="49" charset="0"/>
              </a:rPr>
              <a:t>(State s){</a:t>
            </a:r>
            <a:r>
              <a:rPr lang="en-US" altLang="tr-TR" sz="2000" dirty="0" err="1">
                <a:solidFill>
                  <a:srgbClr val="0070C0"/>
                </a:solidFill>
                <a:latin typeface="Source Code Pro" panose="020B0509030403020204" pitchFamily="49" charset="0"/>
                <a:ea typeface="Source Code Pro" panose="020B0509030403020204" pitchFamily="49" charset="0"/>
              </a:rPr>
              <a:t>currentState</a:t>
            </a:r>
            <a:r>
              <a:rPr lang="en-US" altLang="tr-TR" sz="2000" dirty="0">
                <a:solidFill>
                  <a:srgbClr val="0070C0"/>
                </a:solidFill>
                <a:latin typeface="Source Code Pro" panose="020B0509030403020204" pitchFamily="49" charset="0"/>
                <a:ea typeface="Source Code Pro" panose="020B0509030403020204" pitchFamily="49" charset="0"/>
              </a:rPr>
              <a:t>=s;}</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State </a:t>
            </a:r>
            <a:r>
              <a:rPr lang="en-US" altLang="tr-TR" sz="2000" dirty="0" err="1">
                <a:solidFill>
                  <a:srgbClr val="0070C0"/>
                </a:solidFill>
                <a:latin typeface="Source Code Pro" panose="020B0509030403020204" pitchFamily="49" charset="0"/>
                <a:ea typeface="Source Code Pro" panose="020B0509030403020204" pitchFamily="49" charset="0"/>
              </a:rPr>
              <a:t>getNoCoinState</a:t>
            </a:r>
            <a:r>
              <a:rPr lang="en-US" altLang="tr-TR" sz="2000" dirty="0">
                <a:latin typeface="Source Code Pro" panose="020B0509030403020204" pitchFamily="49" charset="0"/>
                <a:ea typeface="Source Code Pro" panose="020B0509030403020204" pitchFamily="49" charset="0"/>
              </a:rPr>
              <a:t>(){return </a:t>
            </a:r>
            <a:r>
              <a:rPr lang="en-US" altLang="tr-TR" sz="2000" dirty="0" err="1">
                <a:latin typeface="Source Code Pro" panose="020B0509030403020204" pitchFamily="49" charset="0"/>
                <a:ea typeface="Source Code Pro" panose="020B0509030403020204" pitchFamily="49" charset="0"/>
              </a:rPr>
              <a:t>nocoins</a:t>
            </a:r>
            <a:r>
              <a:rPr lang="en-US" altLang="tr-TR" sz="2000" dirty="0">
                <a:latin typeface="Source Code Pro" panose="020B0509030403020204" pitchFamily="49" charset="0"/>
                <a:ea typeface="Source Code Pro" panose="020B0509030403020204" pitchFamily="49" charset="0"/>
              </a:rPr>
              <a:t>;}</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…//other </a:t>
            </a:r>
            <a:r>
              <a:rPr lang="en-US" altLang="tr-TR" sz="2000" dirty="0" err="1">
                <a:latin typeface="Source Code Pro" panose="020B0509030403020204" pitchFamily="49" charset="0"/>
                <a:ea typeface="Source Code Pro" panose="020B0509030403020204" pitchFamily="49" charset="0"/>
              </a:rPr>
              <a:t>getstate</a:t>
            </a:r>
            <a:r>
              <a:rPr lang="en-US" altLang="tr-TR" sz="2000" dirty="0">
                <a:latin typeface="Source Code Pro" panose="020B0509030403020204" pitchFamily="49" charset="0"/>
                <a:ea typeface="Source Code Pro" panose="020B0509030403020204" pitchFamily="49" charset="0"/>
              </a:rPr>
              <a:t> methods</a:t>
            </a:r>
            <a:endParaRPr lang="en-GB" altLang="tr-TR" sz="2000" dirty="0">
              <a:latin typeface="Source Code Pro" panose="020B0509030403020204" pitchFamily="49" charset="0"/>
              <a:ea typeface="Source Code Pro" panose="020B0509030403020204"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BF2164BB-C12E-70DF-47F4-616C8D0C2876}"/>
              </a:ext>
            </a:extLst>
          </p:cNvPr>
          <p:cNvSpPr>
            <a:spLocks noGrp="1" noChangeArrowheads="1"/>
          </p:cNvSpPr>
          <p:nvPr>
            <p:ph idx="4294967295"/>
          </p:nvPr>
        </p:nvSpPr>
        <p:spPr>
          <a:xfrm>
            <a:off x="457200" y="365919"/>
            <a:ext cx="8686800" cy="6126162"/>
          </a:xfrm>
        </p:spPr>
        <p:txBody>
          <a:bodyPr/>
          <a:lstStyle/>
          <a:p>
            <a:pPr>
              <a:lnSpc>
                <a:spcPct val="90000"/>
              </a:lnSpc>
              <a:buFontTx/>
              <a:buNone/>
            </a:pPr>
            <a:r>
              <a:rPr lang="en-US" altLang="tr-TR" sz="2000" dirty="0">
                <a:latin typeface="Source Code Pro" panose="020B0509030403020204" pitchFamily="49" charset="0"/>
                <a:ea typeface="Source Code Pro" panose="020B0509030403020204" pitchFamily="49" charset="0"/>
              </a:rPr>
              <a:t>public interface State{ //issue-should this be a class?</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void </a:t>
            </a:r>
            <a:r>
              <a:rPr lang="en-US" altLang="tr-TR" sz="2000" dirty="0" err="1">
                <a:latin typeface="Source Code Pro" panose="020B0509030403020204" pitchFamily="49" charset="0"/>
                <a:ea typeface="Source Code Pro" panose="020B0509030403020204" pitchFamily="49" charset="0"/>
              </a:rPr>
              <a:t>insertCoin</a:t>
            </a:r>
            <a:r>
              <a:rPr lang="en-US" altLang="tr-TR" sz="2000" dirty="0">
                <a:latin typeface="Source Code Pro" panose="020B0509030403020204" pitchFamily="49" charset="0"/>
                <a:ea typeface="Source Code Pro" panose="020B0509030403020204" pitchFamily="49" charset="0"/>
              </a:rPr>
              <a:t>(</a:t>
            </a:r>
            <a:r>
              <a:rPr lang="en-US" altLang="tr-TR" sz="2000" dirty="0" err="1">
                <a:latin typeface="Source Code Pro" panose="020B0509030403020204" pitchFamily="49" charset="0"/>
                <a:ea typeface="Source Code Pro" panose="020B0509030403020204" pitchFamily="49" charset="0"/>
              </a:rPr>
              <a:t>VendingMachine</a:t>
            </a:r>
            <a:r>
              <a:rPr lang="en-US" altLang="tr-TR" sz="2000" dirty="0">
                <a:latin typeface="Source Code Pro" panose="020B0509030403020204" pitchFamily="49" charset="0"/>
                <a:ea typeface="Source Code Pro" panose="020B0509030403020204" pitchFamily="49" charset="0"/>
              </a:rPr>
              <a:t> machine);</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void </a:t>
            </a:r>
            <a:r>
              <a:rPr lang="en-US" altLang="tr-TR" sz="2000" dirty="0" err="1">
                <a:latin typeface="Source Code Pro" panose="020B0509030403020204" pitchFamily="49" charset="0"/>
                <a:ea typeface="Source Code Pro" panose="020B0509030403020204" pitchFamily="49" charset="0"/>
              </a:rPr>
              <a:t>buttonPressed</a:t>
            </a:r>
            <a:r>
              <a:rPr lang="en-US" altLang="tr-TR" sz="2000" dirty="0">
                <a:latin typeface="Source Code Pro" panose="020B0509030403020204" pitchFamily="49" charset="0"/>
                <a:ea typeface="Source Code Pro" panose="020B0509030403020204" pitchFamily="49" charset="0"/>
              </a:rPr>
              <a:t>(</a:t>
            </a:r>
            <a:r>
              <a:rPr lang="en-US" altLang="tr-TR" sz="2000" dirty="0" err="1">
                <a:latin typeface="Source Code Pro" panose="020B0509030403020204" pitchFamily="49" charset="0"/>
                <a:ea typeface="Source Code Pro" panose="020B0509030403020204" pitchFamily="49" charset="0"/>
              </a:rPr>
              <a:t>VendingMachine</a:t>
            </a:r>
            <a:r>
              <a:rPr lang="en-US" altLang="tr-TR" sz="2000" dirty="0">
                <a:latin typeface="Source Code Pro" panose="020B0509030403020204" pitchFamily="49" charset="0"/>
                <a:ea typeface="Source Code Pro" panose="020B0509030403020204" pitchFamily="49" charset="0"/>
              </a:rPr>
              <a:t> machine);</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//other actions</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a:t>
            </a:r>
          </a:p>
          <a:p>
            <a:pPr>
              <a:lnSpc>
                <a:spcPct val="90000"/>
              </a:lnSpc>
              <a:buFontTx/>
              <a:buNone/>
            </a:pPr>
            <a:endParaRPr lang="en-US" altLang="tr-TR" sz="2000" dirty="0">
              <a:latin typeface="Source Code Pro" panose="020B0509030403020204" pitchFamily="49" charset="0"/>
              <a:ea typeface="Source Code Pro" panose="020B0509030403020204" pitchFamily="49" charset="0"/>
            </a:endParaRPr>
          </a:p>
          <a:p>
            <a:pPr>
              <a:lnSpc>
                <a:spcPct val="90000"/>
              </a:lnSpc>
              <a:buFontTx/>
              <a:buNone/>
            </a:pPr>
            <a:r>
              <a:rPr lang="en-US" altLang="tr-TR" sz="2000" dirty="0">
                <a:latin typeface="Source Code Pro" panose="020B0509030403020204" pitchFamily="49" charset="0"/>
                <a:ea typeface="Source Code Pro" panose="020B0509030403020204" pitchFamily="49" charset="0"/>
              </a:rPr>
              <a:t>public class </a:t>
            </a:r>
            <a:r>
              <a:rPr lang="en-US" altLang="tr-TR" sz="2000" dirty="0" err="1">
                <a:latin typeface="Source Code Pro" panose="020B0509030403020204" pitchFamily="49" charset="0"/>
                <a:ea typeface="Source Code Pro" panose="020B0509030403020204" pitchFamily="49" charset="0"/>
              </a:rPr>
              <a:t>NoCoinState</a:t>
            </a:r>
            <a:r>
              <a:rPr lang="en-US" altLang="tr-TR" sz="2000" dirty="0">
                <a:latin typeface="Source Code Pro" panose="020B0509030403020204" pitchFamily="49" charset="0"/>
                <a:ea typeface="Source Code Pro" panose="020B0509030403020204" pitchFamily="49" charset="0"/>
              </a:rPr>
              <a:t> implements State{</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    void </a:t>
            </a:r>
            <a:r>
              <a:rPr lang="en-US" altLang="tr-TR" sz="2000" dirty="0" err="1">
                <a:latin typeface="Source Code Pro" panose="020B0509030403020204" pitchFamily="49" charset="0"/>
                <a:ea typeface="Source Code Pro" panose="020B0509030403020204" pitchFamily="49" charset="0"/>
              </a:rPr>
              <a:t>insertCoin</a:t>
            </a:r>
            <a:r>
              <a:rPr lang="en-US" altLang="tr-TR" sz="2000" dirty="0">
                <a:latin typeface="Source Code Pro" panose="020B0509030403020204" pitchFamily="49" charset="0"/>
                <a:ea typeface="Source Code Pro" panose="020B0509030403020204" pitchFamily="49" charset="0"/>
              </a:rPr>
              <a:t>(</a:t>
            </a:r>
            <a:r>
              <a:rPr lang="en-US" altLang="tr-TR" sz="2000" dirty="0" err="1">
                <a:latin typeface="Source Code Pro" panose="020B0509030403020204" pitchFamily="49" charset="0"/>
                <a:ea typeface="Source Code Pro" panose="020B0509030403020204" pitchFamily="49" charset="0"/>
              </a:rPr>
              <a:t>VendingMachine</a:t>
            </a:r>
            <a:r>
              <a:rPr lang="en-US" altLang="tr-TR" sz="2000" dirty="0">
                <a:latin typeface="Source Code Pro" panose="020B0509030403020204" pitchFamily="49" charset="0"/>
                <a:ea typeface="Source Code Pro" panose="020B0509030403020204" pitchFamily="49" charset="0"/>
              </a:rPr>
              <a:t> machine){ </a:t>
            </a:r>
          </a:p>
          <a:p>
            <a:pPr lvl="1">
              <a:lnSpc>
                <a:spcPct val="90000"/>
              </a:lnSpc>
              <a:buFontTx/>
              <a:buNone/>
            </a:pPr>
            <a:r>
              <a:rPr lang="en-US" altLang="tr-TR" sz="2000" dirty="0">
                <a:latin typeface="Source Code Pro" panose="020B0509030403020204" pitchFamily="49" charset="0"/>
                <a:ea typeface="Source Code Pro" panose="020B0509030403020204" pitchFamily="49" charset="0"/>
              </a:rPr>
              <a:t>    //do the state transition</a:t>
            </a:r>
          </a:p>
          <a:p>
            <a:pPr lvl="1">
              <a:lnSpc>
                <a:spcPct val="90000"/>
              </a:lnSpc>
              <a:buFontTx/>
              <a:buNone/>
            </a:pPr>
            <a:r>
              <a:rPr lang="en-US" altLang="tr-TR" sz="2000" dirty="0">
                <a:latin typeface="Source Code Pro" panose="020B0509030403020204" pitchFamily="49" charset="0"/>
                <a:ea typeface="Source Code Pro" panose="020B0509030403020204" pitchFamily="49" charset="0"/>
              </a:rPr>
              <a:t>     </a:t>
            </a:r>
            <a:r>
              <a:rPr lang="en-US" altLang="tr-TR" sz="2000" dirty="0" err="1">
                <a:latin typeface="Source Code Pro" panose="020B0509030403020204" pitchFamily="49" charset="0"/>
                <a:ea typeface="Source Code Pro" panose="020B0509030403020204" pitchFamily="49" charset="0"/>
              </a:rPr>
              <a:t>machine.setState</a:t>
            </a:r>
            <a:r>
              <a:rPr lang="en-US" altLang="tr-TR" sz="2000" dirty="0">
                <a:latin typeface="Source Code Pro" panose="020B0509030403020204" pitchFamily="49" charset="0"/>
                <a:ea typeface="Source Code Pro" panose="020B0509030403020204" pitchFamily="49" charset="0"/>
              </a:rPr>
              <a:t>( new </a:t>
            </a:r>
            <a:r>
              <a:rPr lang="en-US" altLang="tr-TR" sz="2000" dirty="0" err="1">
                <a:latin typeface="Source Code Pro" panose="020B0509030403020204" pitchFamily="49" charset="0"/>
                <a:ea typeface="Source Code Pro" panose="020B0509030403020204" pitchFamily="49" charset="0"/>
              </a:rPr>
              <a:t>HasCoinState</a:t>
            </a:r>
            <a:r>
              <a:rPr lang="en-US" altLang="tr-TR" sz="2000" dirty="0">
                <a:latin typeface="Source Code Pro" panose="020B0509030403020204" pitchFamily="49" charset="0"/>
                <a:ea typeface="Source Code Pro" panose="020B0509030403020204" pitchFamily="49" charset="0"/>
              </a:rPr>
              <a:t>()); //issue</a:t>
            </a:r>
          </a:p>
          <a:p>
            <a:pPr lvl="1">
              <a:lnSpc>
                <a:spcPct val="90000"/>
              </a:lnSpc>
              <a:buFontTx/>
              <a:buNone/>
            </a:pPr>
            <a:r>
              <a:rPr lang="en-US" altLang="tr-TR" sz="2000" dirty="0">
                <a:latin typeface="Source Code Pro" panose="020B0509030403020204" pitchFamily="49" charset="0"/>
                <a:ea typeface="Source Code Pro" panose="020B0509030403020204" pitchFamily="49" charset="0"/>
              </a:rPr>
              <a:t>  }</a:t>
            </a:r>
          </a:p>
          <a:p>
            <a:pPr lvl="1">
              <a:lnSpc>
                <a:spcPct val="90000"/>
              </a:lnSpc>
              <a:buFontTx/>
              <a:buNone/>
            </a:pPr>
            <a:r>
              <a:rPr lang="en-US" altLang="tr-TR" sz="2000" dirty="0">
                <a:latin typeface="Source Code Pro" panose="020B0509030403020204" pitchFamily="49" charset="0"/>
                <a:ea typeface="Source Code Pro" panose="020B0509030403020204" pitchFamily="49" charset="0"/>
              </a:rPr>
              <a:t>  void </a:t>
            </a:r>
            <a:r>
              <a:rPr lang="en-US" altLang="tr-TR" sz="2000" dirty="0" err="1">
                <a:latin typeface="Source Code Pro" panose="020B0509030403020204" pitchFamily="49" charset="0"/>
                <a:ea typeface="Source Code Pro" panose="020B0509030403020204" pitchFamily="49" charset="0"/>
              </a:rPr>
              <a:t>buttonpressed</a:t>
            </a:r>
            <a:r>
              <a:rPr lang="en-US" altLang="tr-TR" sz="2000" dirty="0">
                <a:latin typeface="Source Code Pro" panose="020B0509030403020204" pitchFamily="49" charset="0"/>
                <a:ea typeface="Source Code Pro" panose="020B0509030403020204" pitchFamily="49" charset="0"/>
              </a:rPr>
              <a:t>(</a:t>
            </a:r>
            <a:r>
              <a:rPr lang="en-US" altLang="tr-TR" sz="2000" dirty="0" err="1">
                <a:latin typeface="Source Code Pro" panose="020B0509030403020204" pitchFamily="49" charset="0"/>
                <a:ea typeface="Source Code Pro" panose="020B0509030403020204" pitchFamily="49" charset="0"/>
              </a:rPr>
              <a:t>VendingMachine</a:t>
            </a:r>
            <a:r>
              <a:rPr lang="en-US" altLang="tr-TR" sz="2000" dirty="0">
                <a:latin typeface="Source Code Pro" panose="020B0509030403020204" pitchFamily="49" charset="0"/>
                <a:ea typeface="Source Code Pro" panose="020B0509030403020204" pitchFamily="49" charset="0"/>
              </a:rPr>
              <a:t> machine){</a:t>
            </a:r>
          </a:p>
          <a:p>
            <a:pPr lvl="1">
              <a:lnSpc>
                <a:spcPct val="90000"/>
              </a:lnSpc>
              <a:buFontTx/>
              <a:buNone/>
            </a:pPr>
            <a:r>
              <a:rPr lang="en-US" altLang="tr-TR" sz="2000" dirty="0">
                <a:latin typeface="Source Code Pro" panose="020B0509030403020204" pitchFamily="49" charset="0"/>
                <a:ea typeface="Source Code Pro" panose="020B0509030403020204" pitchFamily="49" charset="0"/>
              </a:rPr>
              <a:t>      print(“sorry, no coins in the machine”);</a:t>
            </a:r>
          </a:p>
          <a:p>
            <a:pPr lvl="1">
              <a:lnSpc>
                <a:spcPct val="90000"/>
              </a:lnSpc>
              <a:buFontTx/>
              <a:buNone/>
            </a:pPr>
            <a:r>
              <a:rPr lang="en-US" altLang="tr-TR" sz="2000" dirty="0">
                <a:latin typeface="Source Code Pro" panose="020B0509030403020204" pitchFamily="49" charset="0"/>
                <a:ea typeface="Source Code Pro" panose="020B0509030403020204" pitchFamily="49" charset="0"/>
              </a:rPr>
              <a:t> }</a:t>
            </a:r>
          </a:p>
          <a:p>
            <a:pPr>
              <a:lnSpc>
                <a:spcPct val="90000"/>
              </a:lnSpc>
              <a:buFontTx/>
              <a:buNone/>
            </a:pPr>
            <a:r>
              <a:rPr lang="en-US" altLang="tr-TR" sz="2000" dirty="0">
                <a:latin typeface="Source Code Pro" panose="020B0509030403020204" pitchFamily="49" charset="0"/>
                <a:ea typeface="Source Code Pro" panose="020B0509030403020204" pitchFamily="49" charset="0"/>
              </a:rPr>
              <a:t>}</a:t>
            </a:r>
            <a:endParaRPr lang="en-GB" altLang="tr-TR" sz="2000" dirty="0">
              <a:latin typeface="Source Code Pro" panose="020B0509030403020204" pitchFamily="49" charset="0"/>
              <a:ea typeface="Source Code Pro" panose="020B0509030403020204" pitchFamily="49"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D74666BB-D3BC-DA89-D781-B862EED4CA16}"/>
              </a:ext>
            </a:extLst>
          </p:cNvPr>
          <p:cNvSpPr>
            <a:spLocks noGrp="1" noChangeArrowheads="1"/>
          </p:cNvSpPr>
          <p:nvPr>
            <p:ph type="title"/>
          </p:nvPr>
        </p:nvSpPr>
        <p:spPr/>
        <p:txBody>
          <a:bodyPr/>
          <a:lstStyle/>
          <a:p>
            <a:pPr eaLnBrk="1" hangingPunct="1"/>
            <a:r>
              <a:rPr lang="en-US" altLang="tr-TR" dirty="0"/>
              <a:t>Who determines the next state?</a:t>
            </a:r>
          </a:p>
        </p:txBody>
      </p:sp>
      <p:sp>
        <p:nvSpPr>
          <p:cNvPr id="22531" name="Content Placeholder 2">
            <a:extLst>
              <a:ext uri="{FF2B5EF4-FFF2-40B4-BE49-F238E27FC236}">
                <a16:creationId xmlns:a16="http://schemas.microsoft.com/office/drawing/2014/main" id="{E1312A0A-31F3-47AC-D65C-BE9AA637F2C2}"/>
              </a:ext>
            </a:extLst>
          </p:cNvPr>
          <p:cNvSpPr>
            <a:spLocks noGrp="1" noChangeArrowheads="1"/>
          </p:cNvSpPr>
          <p:nvPr>
            <p:ph idx="1"/>
          </p:nvPr>
        </p:nvSpPr>
        <p:spPr/>
        <p:txBody>
          <a:bodyPr/>
          <a:lstStyle/>
          <a:p>
            <a:pPr marL="514350" indent="-514350" eaLnBrk="1" hangingPunct="1">
              <a:lnSpc>
                <a:spcPct val="100000"/>
              </a:lnSpc>
              <a:buFontTx/>
              <a:buAutoNum type="arabicPeriod"/>
            </a:pPr>
            <a:r>
              <a:rPr lang="en-US" altLang="tr-TR" sz="2800" dirty="0"/>
              <a:t>Context</a:t>
            </a:r>
          </a:p>
          <a:p>
            <a:pPr marL="914400" lvl="1" indent="-514350" eaLnBrk="1" hangingPunct="1">
              <a:lnSpc>
                <a:spcPct val="100000"/>
              </a:lnSpc>
            </a:pPr>
            <a:r>
              <a:rPr lang="en-US" altLang="tr-TR" sz="2400" dirty="0"/>
              <a:t>If the state transition is fixed yes, but it is not flexible</a:t>
            </a:r>
          </a:p>
          <a:p>
            <a:pPr marL="914400" lvl="1" indent="-514350" eaLnBrk="1" hangingPunct="1">
              <a:lnSpc>
                <a:spcPct val="100000"/>
              </a:lnSpc>
            </a:pPr>
            <a:r>
              <a:rPr lang="en-US" altLang="en-US" sz="2400" dirty="0"/>
              <a:t>If the states will be used in different state machines with different transitions</a:t>
            </a:r>
            <a:endParaRPr lang="en-US" altLang="tr-TR" sz="2400" dirty="0"/>
          </a:p>
          <a:p>
            <a:pPr marL="914400" lvl="1" indent="-514350" eaLnBrk="1" hangingPunct="1">
              <a:lnSpc>
                <a:spcPct val="100000"/>
              </a:lnSpc>
            </a:pPr>
            <a:r>
              <a:rPr lang="en-US" altLang="tr-TR" sz="2400" dirty="0"/>
              <a:t>Centralized and visible transitions</a:t>
            </a:r>
          </a:p>
          <a:p>
            <a:pPr marL="914400" lvl="1" indent="-514350" eaLnBrk="1" hangingPunct="1">
              <a:lnSpc>
                <a:spcPct val="100000"/>
              </a:lnSpc>
              <a:buFontTx/>
              <a:buNone/>
            </a:pPr>
            <a:r>
              <a:rPr lang="en-US" altLang="tr-TR" sz="2000" dirty="0">
                <a:latin typeface="Comic Sans MS" panose="030F0702030302020204" pitchFamily="66" charset="0"/>
              </a:rPr>
              <a:t>Context:: </a:t>
            </a:r>
            <a:r>
              <a:rPr lang="en-US" altLang="tr-TR" sz="2000" dirty="0" err="1">
                <a:latin typeface="Comic Sans MS" panose="030F0702030302020204" pitchFamily="66" charset="0"/>
              </a:rPr>
              <a:t>changeState</a:t>
            </a:r>
            <a:r>
              <a:rPr lang="en-US" altLang="tr-TR" sz="2000" dirty="0">
                <a:latin typeface="Comic Sans MS" panose="030F0702030302020204" pitchFamily="66" charset="0"/>
              </a:rPr>
              <a:t>(){</a:t>
            </a:r>
            <a:r>
              <a:rPr lang="en-US" altLang="tr-TR" sz="2000" dirty="0" err="1">
                <a:latin typeface="Comic Sans MS" panose="030F0702030302020204" pitchFamily="66" charset="0"/>
              </a:rPr>
              <a:t>currentstate</a:t>
            </a:r>
            <a:r>
              <a:rPr lang="en-US" altLang="tr-TR" sz="2000" dirty="0">
                <a:latin typeface="Comic Sans MS" panose="030F0702030302020204" pitchFamily="66" charset="0"/>
              </a:rPr>
              <a:t>=…}</a:t>
            </a:r>
          </a:p>
          <a:p>
            <a:pPr marL="514350" indent="-514350" eaLnBrk="1" hangingPunct="1">
              <a:lnSpc>
                <a:spcPct val="100000"/>
              </a:lnSpc>
              <a:buFontTx/>
              <a:buAutoNum type="arabicPeriod"/>
            </a:pPr>
            <a:r>
              <a:rPr lang="en-US" altLang="tr-TR" sz="2800" dirty="0"/>
              <a:t>Concrete state</a:t>
            </a:r>
          </a:p>
          <a:p>
            <a:pPr marL="914400" lvl="1" indent="-514350" eaLnBrk="1" hangingPunct="1">
              <a:lnSpc>
                <a:spcPct val="100000"/>
              </a:lnSpc>
            </a:pPr>
            <a:r>
              <a:rPr lang="en-US" altLang="tr-TR" sz="2400" dirty="0"/>
              <a:t>How to do in states</a:t>
            </a:r>
          </a:p>
          <a:p>
            <a:pPr marL="1314450" lvl="2" indent="-514350" eaLnBrk="1" hangingPunct="1">
              <a:lnSpc>
                <a:spcPct val="100000"/>
              </a:lnSpc>
            </a:pPr>
            <a:r>
              <a:rPr lang="en-US" altLang="tr-TR" sz="2000" dirty="0" err="1">
                <a:latin typeface="Comic Sans MS" panose="030F0702030302020204" pitchFamily="66" charset="0"/>
              </a:rPr>
              <a:t>context.changeState</a:t>
            </a:r>
            <a:r>
              <a:rPr lang="en-US" altLang="tr-TR" sz="2000" dirty="0">
                <a:latin typeface="Comic Sans MS" panose="030F0702030302020204" pitchFamily="66" charset="0"/>
              </a:rPr>
              <a:t>(new </a:t>
            </a:r>
            <a:r>
              <a:rPr lang="en-US" altLang="tr-TR" sz="2000" dirty="0" err="1">
                <a:latin typeface="Comic Sans MS" panose="030F0702030302020204" pitchFamily="66" charset="0"/>
              </a:rPr>
              <a:t>XXXState</a:t>
            </a:r>
            <a:r>
              <a:rPr lang="en-US" altLang="tr-TR" sz="2000" dirty="0">
                <a:latin typeface="Comic Sans MS" panose="030F0702030302020204" pitchFamily="66" charset="0"/>
              </a:rPr>
              <a:t>()); //no</a:t>
            </a:r>
          </a:p>
          <a:p>
            <a:pPr marL="1314450" lvl="2" indent="-514350" eaLnBrk="1" hangingPunct="1">
              <a:lnSpc>
                <a:spcPct val="100000"/>
              </a:lnSpc>
            </a:pPr>
            <a:r>
              <a:rPr lang="en-US" altLang="tr-TR" sz="2000" dirty="0" err="1">
                <a:solidFill>
                  <a:srgbClr val="FF0000"/>
                </a:solidFill>
                <a:latin typeface="Comic Sans MS" panose="030F0702030302020204" pitchFamily="66" charset="0"/>
              </a:rPr>
              <a:t>context.changeState</a:t>
            </a:r>
            <a:r>
              <a:rPr lang="en-US" altLang="tr-TR" sz="2000" dirty="0">
                <a:solidFill>
                  <a:srgbClr val="FF0000"/>
                </a:solidFill>
                <a:latin typeface="Comic Sans MS" panose="030F0702030302020204" pitchFamily="66" charset="0"/>
              </a:rPr>
              <a:t>(context. </a:t>
            </a:r>
            <a:r>
              <a:rPr lang="en-US" altLang="tr-TR" sz="2000" dirty="0" err="1">
                <a:solidFill>
                  <a:srgbClr val="FF0000"/>
                </a:solidFill>
                <a:latin typeface="Comic Sans MS" panose="030F0702030302020204" pitchFamily="66" charset="0"/>
              </a:rPr>
              <a:t>getXXXState</a:t>
            </a:r>
            <a:r>
              <a:rPr lang="en-US" altLang="tr-TR" sz="2000" dirty="0">
                <a:solidFill>
                  <a:srgbClr val="FF0000"/>
                </a:solidFill>
                <a:latin typeface="Comic Sans MS" panose="030F0702030302020204" pitchFamily="66" charset="0"/>
              </a:rPr>
              <a:t> ());</a:t>
            </a:r>
          </a:p>
          <a:p>
            <a:pPr marL="1314450" lvl="2" indent="-514350" eaLnBrk="1" hangingPunct="1">
              <a:lnSpc>
                <a:spcPct val="100000"/>
              </a:lnSpc>
            </a:pPr>
            <a:r>
              <a:rPr lang="en-US" altLang="tr-TR" sz="2000" dirty="0" err="1">
                <a:latin typeface="Comic Sans MS" panose="030F0702030302020204" pitchFamily="66" charset="0"/>
              </a:rPr>
              <a:t>context.changeState</a:t>
            </a:r>
            <a:r>
              <a:rPr lang="en-US" altLang="tr-TR" sz="2000" dirty="0">
                <a:latin typeface="Comic Sans MS" panose="030F0702030302020204" pitchFamily="66" charset="0"/>
              </a:rPr>
              <a:t>(</a:t>
            </a:r>
            <a:r>
              <a:rPr lang="en-US" altLang="tr-TR" sz="2000" dirty="0" err="1">
                <a:latin typeface="Comic Sans MS" panose="030F0702030302020204" pitchFamily="66" charset="0"/>
              </a:rPr>
              <a:t>XXXState.getInstance</a:t>
            </a:r>
            <a:r>
              <a:rPr lang="en-US" altLang="tr-TR" sz="2000" dirty="0">
                <a:latin typeface="Comic Sans MS" panose="030F0702030302020204" pitchFamily="66" charset="0"/>
              </a:rPr>
              <a:t>());</a:t>
            </a:r>
          </a:p>
          <a:p>
            <a:pPr marL="914400" lvl="1" indent="-514350">
              <a:lnSpc>
                <a:spcPct val="100000"/>
              </a:lnSpc>
            </a:pPr>
            <a:r>
              <a:rPr lang="en-US" altLang="tr-TR" sz="2400" dirty="0">
                <a:latin typeface="+mj-lt"/>
              </a:rPr>
              <a:t>Code change request is handled similar to adding a node into a linked list</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1679210-0A03-6FE4-FA4A-FF899B275E06}"/>
              </a:ext>
            </a:extLst>
          </p:cNvPr>
          <p:cNvSpPr>
            <a:spLocks noGrp="1" noChangeArrowheads="1"/>
          </p:cNvSpPr>
          <p:nvPr>
            <p:ph type="title"/>
          </p:nvPr>
        </p:nvSpPr>
        <p:spPr/>
        <p:txBody>
          <a:bodyPr/>
          <a:lstStyle/>
          <a:p>
            <a:r>
              <a:rPr lang="en-GB" altLang="tr-TR" dirty="0"/>
              <a:t>Effect of change</a:t>
            </a:r>
          </a:p>
        </p:txBody>
      </p:sp>
      <p:sp>
        <p:nvSpPr>
          <p:cNvPr id="23555" name="Rectangle 3">
            <a:extLst>
              <a:ext uri="{FF2B5EF4-FFF2-40B4-BE49-F238E27FC236}">
                <a16:creationId xmlns:a16="http://schemas.microsoft.com/office/drawing/2014/main" id="{81D186EC-E9E7-D73D-B4DD-E2D498F7BC44}"/>
              </a:ext>
            </a:extLst>
          </p:cNvPr>
          <p:cNvSpPr>
            <a:spLocks noGrp="1" noChangeArrowheads="1"/>
          </p:cNvSpPr>
          <p:nvPr>
            <p:ph idx="1"/>
          </p:nvPr>
        </p:nvSpPr>
        <p:spPr/>
        <p:txBody>
          <a:bodyPr/>
          <a:lstStyle/>
          <a:p>
            <a:r>
              <a:rPr lang="en-US" altLang="tr-TR" dirty="0"/>
              <a:t>Now, the change the payment to 4 coins.</a:t>
            </a:r>
          </a:p>
          <a:p>
            <a:r>
              <a:rPr lang="en-US" altLang="tr-TR" dirty="0"/>
              <a:t>How many places in the code to change?</a:t>
            </a:r>
            <a:endParaRPr lang="en-GB" altLang="tr-T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5D293-F275-463C-FF6F-383CDA2B0154}"/>
              </a:ext>
            </a:extLst>
          </p:cNvPr>
          <p:cNvSpPr>
            <a:spLocks noGrp="1"/>
          </p:cNvSpPr>
          <p:nvPr>
            <p:ph type="title"/>
          </p:nvPr>
        </p:nvSpPr>
        <p:spPr/>
        <p:txBody>
          <a:bodyPr/>
          <a:lstStyle/>
          <a:p>
            <a:r>
              <a:rPr lang="en-US" dirty="0"/>
              <a:t>State pattern</a:t>
            </a:r>
          </a:p>
        </p:txBody>
      </p:sp>
      <p:sp>
        <p:nvSpPr>
          <p:cNvPr id="24578" name="Rectangle 3">
            <a:extLst>
              <a:ext uri="{FF2B5EF4-FFF2-40B4-BE49-F238E27FC236}">
                <a16:creationId xmlns:a16="http://schemas.microsoft.com/office/drawing/2014/main" id="{46425BBA-BC9F-8D56-4019-E6D1C2E1B87E}"/>
              </a:ext>
            </a:extLst>
          </p:cNvPr>
          <p:cNvSpPr>
            <a:spLocks noGrp="1" noChangeArrowheads="1"/>
          </p:cNvSpPr>
          <p:nvPr>
            <p:ph idx="1"/>
          </p:nvPr>
        </p:nvSpPr>
        <p:spPr>
          <a:xfrm>
            <a:off x="323528" y="1412776"/>
            <a:ext cx="8820472" cy="4532109"/>
          </a:xfrm>
        </p:spPr>
        <p:txBody>
          <a:bodyPr/>
          <a:lstStyle/>
          <a:p>
            <a:r>
              <a:rPr lang="en-US" altLang="tr-TR" sz="2800" dirty="0"/>
              <a:t>Localize the behavior for each state into its own class</a:t>
            </a:r>
          </a:p>
          <a:p>
            <a:pPr lvl="1"/>
            <a:r>
              <a:rPr lang="en-US" altLang="tr-TR" sz="2400" dirty="0"/>
              <a:t>so that if one state is modified, other states are not messed up</a:t>
            </a:r>
          </a:p>
          <a:p>
            <a:pPr lvl="1"/>
            <a:r>
              <a:rPr lang="en-US" altLang="tr-TR" sz="2400" dirty="0"/>
              <a:t>every state just implements its own actions</a:t>
            </a:r>
          </a:p>
          <a:p>
            <a:r>
              <a:rPr lang="en-US" altLang="tr-TR" sz="2800" dirty="0"/>
              <a:t>Helps to remove “</a:t>
            </a:r>
            <a:r>
              <a:rPr lang="en-US" altLang="tr-TR" sz="2800" dirty="0" err="1"/>
              <a:t>if”s</a:t>
            </a:r>
            <a:r>
              <a:rPr lang="en-US" altLang="tr-TR" sz="2800" dirty="0"/>
              <a:t> that are difficult to maintain</a:t>
            </a:r>
          </a:p>
          <a:p>
            <a:r>
              <a:rPr lang="en-US" altLang="tr-TR" sz="2800" dirty="0"/>
              <a:t>Closed each state for modification and left the machine open to extension by adding new states</a:t>
            </a:r>
          </a:p>
          <a:p>
            <a:pPr lvl="1"/>
            <a:r>
              <a:rPr lang="en-US" altLang="tr-TR" sz="2400" dirty="0"/>
              <a:t>Easier to add new states in the machine</a:t>
            </a:r>
          </a:p>
          <a:p>
            <a:r>
              <a:rPr lang="en-US" altLang="tr-TR" sz="2800" dirty="0"/>
              <a:t>Have a structure that maps the state diagram</a:t>
            </a:r>
            <a:endParaRPr lang="en-GB" altLang="tr-TR"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88B8E6AC-D596-52D3-2AE9-FE5EE1585672}"/>
              </a:ext>
            </a:extLst>
          </p:cNvPr>
          <p:cNvSpPr>
            <a:spLocks noGrp="1" noChangeArrowheads="1"/>
          </p:cNvSpPr>
          <p:nvPr>
            <p:ph type="title"/>
          </p:nvPr>
        </p:nvSpPr>
        <p:spPr/>
        <p:txBody>
          <a:bodyPr/>
          <a:lstStyle/>
          <a:p>
            <a:pPr eaLnBrk="1" hangingPunct="1"/>
            <a:r>
              <a:rPr lang="en-US" altLang="tr-TR" dirty="0"/>
              <a:t>Example 2: Simple POP </a:t>
            </a:r>
          </a:p>
        </p:txBody>
      </p:sp>
      <p:sp>
        <p:nvSpPr>
          <p:cNvPr id="26627" name="Rectangle 3">
            <a:extLst>
              <a:ext uri="{FF2B5EF4-FFF2-40B4-BE49-F238E27FC236}">
                <a16:creationId xmlns:a16="http://schemas.microsoft.com/office/drawing/2014/main" id="{AB6A64A3-8432-28AB-F539-ADD003D8D764}"/>
              </a:ext>
            </a:extLst>
          </p:cNvPr>
          <p:cNvSpPr>
            <a:spLocks noGrp="1" noChangeArrowheads="1"/>
          </p:cNvSpPr>
          <p:nvPr>
            <p:ph idx="1"/>
          </p:nvPr>
        </p:nvSpPr>
        <p:spPr>
          <a:xfrm>
            <a:off x="457200" y="1600200"/>
            <a:ext cx="8229600" cy="2405063"/>
          </a:xfrm>
        </p:spPr>
        <p:txBody>
          <a:bodyPr/>
          <a:lstStyle/>
          <a:p>
            <a:pPr eaLnBrk="1" hangingPunct="1">
              <a:lnSpc>
                <a:spcPct val="80000"/>
              </a:lnSpc>
            </a:pPr>
            <a:r>
              <a:rPr lang="en-US" altLang="tr-TR" sz="2800" dirty="0"/>
              <a:t>Simple POP (Post Office Protocol)</a:t>
            </a:r>
          </a:p>
          <a:p>
            <a:pPr lvl="1" eaLnBrk="1" hangingPunct="1">
              <a:lnSpc>
                <a:spcPct val="80000"/>
              </a:lnSpc>
            </a:pPr>
            <a:r>
              <a:rPr lang="en-US" altLang="tr-TR" sz="2400" dirty="0"/>
              <a:t>Get user name (USER)</a:t>
            </a:r>
          </a:p>
          <a:p>
            <a:pPr lvl="1" eaLnBrk="1" hangingPunct="1">
              <a:lnSpc>
                <a:spcPct val="80000"/>
              </a:lnSpc>
            </a:pPr>
            <a:r>
              <a:rPr lang="en-US" altLang="tr-TR" sz="2400" dirty="0"/>
              <a:t>Get password (PASS)</a:t>
            </a:r>
          </a:p>
          <a:p>
            <a:pPr lvl="1" eaLnBrk="1" hangingPunct="1">
              <a:lnSpc>
                <a:spcPct val="80000"/>
              </a:lnSpc>
            </a:pPr>
            <a:r>
              <a:rPr lang="en-US" altLang="tr-TR" sz="2400" dirty="0"/>
              <a:t>Get the size of all messages (LIST)</a:t>
            </a:r>
          </a:p>
          <a:p>
            <a:pPr lvl="1" eaLnBrk="1" hangingPunct="1">
              <a:lnSpc>
                <a:spcPct val="80000"/>
              </a:lnSpc>
            </a:pPr>
            <a:r>
              <a:rPr lang="en-US" altLang="tr-TR" sz="2400" dirty="0"/>
              <a:t>Retrieve a message (RETR)</a:t>
            </a:r>
          </a:p>
          <a:p>
            <a:pPr lvl="1" eaLnBrk="1" hangingPunct="1">
              <a:lnSpc>
                <a:spcPct val="80000"/>
              </a:lnSpc>
            </a:pPr>
            <a:r>
              <a:rPr lang="en-US" altLang="tr-TR" sz="2400" dirty="0"/>
              <a:t>Quit</a:t>
            </a:r>
          </a:p>
        </p:txBody>
      </p:sp>
      <p:pic>
        <p:nvPicPr>
          <p:cNvPr id="4" name="Picture 3">
            <a:extLst>
              <a:ext uri="{FF2B5EF4-FFF2-40B4-BE49-F238E27FC236}">
                <a16:creationId xmlns:a16="http://schemas.microsoft.com/office/drawing/2014/main" id="{71CE6EB2-288E-23FB-B3E8-DA4967DC8C3B}"/>
              </a:ext>
            </a:extLst>
          </p:cNvPr>
          <p:cNvPicPr>
            <a:picLocks noChangeAspect="1"/>
          </p:cNvPicPr>
          <p:nvPr/>
        </p:nvPicPr>
        <p:blipFill>
          <a:blip r:embed="rId3"/>
          <a:stretch>
            <a:fillRect/>
          </a:stretch>
        </p:blipFill>
        <p:spPr>
          <a:xfrm>
            <a:off x="1591779" y="4005263"/>
            <a:ext cx="5229955" cy="2381582"/>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3A57B80-8F52-F9F0-56B5-0151EFA4DC28}"/>
              </a:ext>
            </a:extLst>
          </p:cNvPr>
          <p:cNvSpPr>
            <a:spLocks noGrp="1" noChangeArrowheads="1"/>
          </p:cNvSpPr>
          <p:nvPr>
            <p:ph type="title"/>
          </p:nvPr>
        </p:nvSpPr>
        <p:spPr/>
        <p:txBody>
          <a:bodyPr/>
          <a:lstStyle/>
          <a:p>
            <a:pPr eaLnBrk="1" hangingPunct="1"/>
            <a:r>
              <a:rPr lang="en-US" altLang="tr-TR" dirty="0"/>
              <a:t>Simple POP implementation </a:t>
            </a:r>
          </a:p>
        </p:txBody>
      </p:sp>
      <p:sp>
        <p:nvSpPr>
          <p:cNvPr id="28675" name="Rectangle 3">
            <a:extLst>
              <a:ext uri="{FF2B5EF4-FFF2-40B4-BE49-F238E27FC236}">
                <a16:creationId xmlns:a16="http://schemas.microsoft.com/office/drawing/2014/main" id="{5D4CBC3F-B2CC-E9CD-59F2-99D09368322C}"/>
              </a:ext>
            </a:extLst>
          </p:cNvPr>
          <p:cNvSpPr>
            <a:spLocks noGrp="1" noChangeArrowheads="1"/>
          </p:cNvSpPr>
          <p:nvPr>
            <p:ph idx="1"/>
          </p:nvPr>
        </p:nvSpPr>
        <p:spPr>
          <a:xfrm>
            <a:off x="457200" y="1600200"/>
            <a:ext cx="8229600" cy="4997450"/>
          </a:xfrm>
        </p:spPr>
        <p:txBody>
          <a:bodyPr/>
          <a:lstStyle/>
          <a:p>
            <a:pPr eaLnBrk="1" hangingPunct="1">
              <a:lnSpc>
                <a:spcPct val="80000"/>
              </a:lnSpc>
              <a:buFontTx/>
              <a:buNone/>
            </a:pPr>
            <a:r>
              <a:rPr lang="en-US" altLang="tr-TR" sz="2000" dirty="0">
                <a:latin typeface="Comic Sans MS" panose="030F0702030302020204" pitchFamily="66" charset="0"/>
              </a:rPr>
              <a:t>public class </a:t>
            </a:r>
            <a:r>
              <a:rPr lang="en-US" altLang="tr-TR" sz="2000" dirty="0" err="1">
                <a:latin typeface="Comic Sans MS" panose="030F0702030302020204" pitchFamily="66" charset="0"/>
              </a:rPr>
              <a:t>SPopState</a:t>
            </a:r>
            <a:r>
              <a:rPr lang="en-US" altLang="tr-TR" sz="2000" dirty="0">
                <a:latin typeface="Comic Sans MS" panose="030F0702030302020204" pitchFamily="66" charset="0"/>
              </a:rPr>
              <a:t> {</a:t>
            </a:r>
          </a:p>
          <a:p>
            <a:pPr eaLnBrk="1" hangingPunct="1">
              <a:lnSpc>
                <a:spcPct val="80000"/>
              </a:lnSpc>
              <a:buFontTx/>
              <a:buNone/>
            </a:pPr>
            <a:r>
              <a:rPr lang="en-US" altLang="tr-TR" sz="2000" dirty="0">
                <a:latin typeface="Comic Sans MS" panose="030F0702030302020204" pitchFamily="66" charset="0"/>
              </a:rPr>
              <a:t>  public </a:t>
            </a:r>
            <a:r>
              <a:rPr lang="en-US" altLang="tr-TR" sz="2000" dirty="0" err="1">
                <a:latin typeface="Comic Sans MS" panose="030F0702030302020204" pitchFamily="66" charset="0"/>
              </a:rPr>
              <a:t>SPopState</a:t>
            </a:r>
            <a:r>
              <a:rPr lang="en-US" altLang="tr-TR" sz="2000" dirty="0">
                <a:latin typeface="Comic Sans MS" panose="030F0702030302020204" pitchFamily="66" charset="0"/>
              </a:rPr>
              <a:t> user(SPOP </a:t>
            </a:r>
            <a:r>
              <a:rPr lang="en-US" altLang="tr-TR" sz="2000" dirty="0" err="1">
                <a:latin typeface="Comic Sans MS" panose="030F0702030302020204" pitchFamily="66" charset="0"/>
              </a:rPr>
              <a:t>context,String</a:t>
            </a:r>
            <a:r>
              <a:rPr lang="en-US" altLang="tr-TR" sz="2000" dirty="0">
                <a:latin typeface="Comic Sans MS" panose="030F0702030302020204" pitchFamily="66" charset="0"/>
              </a:rPr>
              <a:t> </a:t>
            </a:r>
            <a:r>
              <a:rPr lang="en-US" altLang="tr-TR" sz="2000" dirty="0" err="1">
                <a:latin typeface="Comic Sans MS" panose="030F0702030302020204" pitchFamily="66" charset="0"/>
              </a:rPr>
              <a:t>userName</a:t>
            </a:r>
            <a:r>
              <a:rPr lang="en-US" altLang="tr-TR" sz="2000" dirty="0">
                <a:latin typeface="Comic Sans MS" panose="030F0702030302020204" pitchFamily="66" charset="0"/>
              </a:rPr>
              <a:t>) {</a:t>
            </a:r>
          </a:p>
          <a:p>
            <a:pPr eaLnBrk="1" hangingPunct="1">
              <a:lnSpc>
                <a:spcPct val="80000"/>
              </a:lnSpc>
              <a:buFontTx/>
              <a:buNone/>
            </a:pPr>
            <a:r>
              <a:rPr lang="en-US" altLang="tr-TR" sz="2000" dirty="0">
                <a:latin typeface="Comic Sans MS" panose="030F0702030302020204" pitchFamily="66" charset="0"/>
              </a:rPr>
              <a:t>             //default action here}</a:t>
            </a:r>
          </a:p>
          <a:p>
            <a:pPr eaLnBrk="1" hangingPunct="1">
              <a:lnSpc>
                <a:spcPct val="80000"/>
              </a:lnSpc>
              <a:buFontTx/>
              <a:buNone/>
            </a:pPr>
            <a:r>
              <a:rPr lang="en-US" altLang="tr-TR" sz="2000" dirty="0">
                <a:latin typeface="Comic Sans MS" panose="030F0702030302020204" pitchFamily="66" charset="0"/>
              </a:rPr>
              <a:t>  public </a:t>
            </a:r>
            <a:r>
              <a:rPr lang="en-US" altLang="tr-TR" sz="2000" dirty="0" err="1">
                <a:latin typeface="Comic Sans MS" panose="030F0702030302020204" pitchFamily="66" charset="0"/>
              </a:rPr>
              <a:t>SPopState</a:t>
            </a:r>
            <a:r>
              <a:rPr lang="en-US" altLang="tr-TR" sz="2000" dirty="0">
                <a:latin typeface="Comic Sans MS" panose="030F0702030302020204" pitchFamily="66" charset="0"/>
              </a:rPr>
              <a:t> pass(SPOP </a:t>
            </a:r>
            <a:r>
              <a:rPr lang="en-US" altLang="tr-TR" sz="2000" dirty="0" err="1">
                <a:latin typeface="Comic Sans MS" panose="030F0702030302020204" pitchFamily="66" charset="0"/>
              </a:rPr>
              <a:t>context,String</a:t>
            </a:r>
            <a:r>
              <a:rPr lang="en-US" altLang="tr-TR" sz="2000" dirty="0">
                <a:latin typeface="Comic Sans MS" panose="030F0702030302020204" pitchFamily="66" charset="0"/>
              </a:rPr>
              <a:t> password) {</a:t>
            </a:r>
          </a:p>
          <a:p>
            <a:pPr eaLnBrk="1" hangingPunct="1">
              <a:lnSpc>
                <a:spcPct val="80000"/>
              </a:lnSpc>
              <a:buFontTx/>
              <a:buNone/>
            </a:pPr>
            <a:r>
              <a:rPr lang="en-US" altLang="tr-TR" sz="2000" dirty="0">
                <a:latin typeface="Comic Sans MS" panose="030F0702030302020204" pitchFamily="66" charset="0"/>
              </a:rPr>
              <a:t>            //default action here}</a:t>
            </a:r>
          </a:p>
          <a:p>
            <a:pPr eaLnBrk="1" hangingPunct="1">
              <a:lnSpc>
                <a:spcPct val="80000"/>
              </a:lnSpc>
              <a:buFontTx/>
              <a:buNone/>
            </a:pPr>
            <a:r>
              <a:rPr lang="en-US" altLang="tr-TR" sz="2000" dirty="0">
                <a:latin typeface="Comic Sans MS" panose="030F0702030302020204" pitchFamily="66" charset="0"/>
              </a:rPr>
              <a:t>  public </a:t>
            </a:r>
            <a:r>
              <a:rPr lang="en-US" altLang="tr-TR" sz="2000" dirty="0" err="1">
                <a:latin typeface="Comic Sans MS" panose="030F0702030302020204" pitchFamily="66" charset="0"/>
              </a:rPr>
              <a:t>SPopState</a:t>
            </a:r>
            <a:r>
              <a:rPr lang="en-US" altLang="tr-TR" sz="2000" dirty="0">
                <a:latin typeface="Comic Sans MS" panose="030F0702030302020204" pitchFamily="66" charset="0"/>
              </a:rPr>
              <a:t> list(SPOP context){</a:t>
            </a:r>
          </a:p>
          <a:p>
            <a:pPr eaLnBrk="1" hangingPunct="1">
              <a:lnSpc>
                <a:spcPct val="80000"/>
              </a:lnSpc>
              <a:buFontTx/>
              <a:buNone/>
            </a:pPr>
            <a:r>
              <a:rPr lang="en-US" altLang="tr-TR" sz="2000" dirty="0">
                <a:latin typeface="Comic Sans MS" panose="030F0702030302020204" pitchFamily="66" charset="0"/>
              </a:rPr>
              <a:t>           //default action here}</a:t>
            </a:r>
          </a:p>
          <a:p>
            <a:pPr eaLnBrk="1" hangingPunct="1">
              <a:lnSpc>
                <a:spcPct val="80000"/>
              </a:lnSpc>
              <a:buFontTx/>
              <a:buNone/>
            </a:pPr>
            <a:r>
              <a:rPr lang="en-US" altLang="tr-TR" sz="2000" dirty="0">
                <a:latin typeface="Comic Sans MS" panose="030F0702030302020204" pitchFamily="66" charset="0"/>
              </a:rPr>
              <a:t>  public </a:t>
            </a:r>
            <a:r>
              <a:rPr lang="en-US" altLang="tr-TR" sz="2000" dirty="0" err="1">
                <a:latin typeface="Comic Sans MS" panose="030F0702030302020204" pitchFamily="66" charset="0"/>
              </a:rPr>
              <a:t>SPopState</a:t>
            </a:r>
            <a:r>
              <a:rPr lang="en-US" altLang="tr-TR" sz="2000" dirty="0">
                <a:latin typeface="Comic Sans MS" panose="030F0702030302020204" pitchFamily="66" charset="0"/>
              </a:rPr>
              <a:t> </a:t>
            </a:r>
            <a:r>
              <a:rPr lang="en-US" altLang="tr-TR" sz="2000" dirty="0" err="1">
                <a:latin typeface="Comic Sans MS" panose="030F0702030302020204" pitchFamily="66" charset="0"/>
              </a:rPr>
              <a:t>retr</a:t>
            </a:r>
            <a:r>
              <a:rPr lang="en-US" altLang="tr-TR" sz="2000" dirty="0">
                <a:latin typeface="Comic Sans MS" panose="030F0702030302020204" pitchFamily="66" charset="0"/>
              </a:rPr>
              <a:t>(SPOP </a:t>
            </a:r>
            <a:r>
              <a:rPr lang="en-US" altLang="tr-TR" sz="2000" dirty="0" err="1">
                <a:latin typeface="Comic Sans MS" panose="030F0702030302020204" pitchFamily="66" charset="0"/>
              </a:rPr>
              <a:t>context,int</a:t>
            </a:r>
            <a:r>
              <a:rPr lang="en-US" altLang="tr-TR" sz="2000" dirty="0">
                <a:latin typeface="Comic Sans MS" panose="030F0702030302020204" pitchFamily="66" charset="0"/>
              </a:rPr>
              <a:t> </a:t>
            </a:r>
            <a:r>
              <a:rPr lang="en-US" altLang="tr-TR" sz="2000" dirty="0" err="1">
                <a:latin typeface="Comic Sans MS" panose="030F0702030302020204" pitchFamily="66" charset="0"/>
              </a:rPr>
              <a:t>messageNumber</a:t>
            </a:r>
            <a:r>
              <a:rPr lang="en-US" altLang="tr-TR" sz="2000" dirty="0">
                <a:latin typeface="Comic Sans MS" panose="030F0702030302020204" pitchFamily="66" charset="0"/>
              </a:rPr>
              <a:t>){</a:t>
            </a:r>
          </a:p>
          <a:p>
            <a:pPr eaLnBrk="1" hangingPunct="1">
              <a:lnSpc>
                <a:spcPct val="80000"/>
              </a:lnSpc>
              <a:buFontTx/>
              <a:buNone/>
            </a:pPr>
            <a:r>
              <a:rPr lang="en-US" altLang="tr-TR" sz="2000" dirty="0">
                <a:latin typeface="Comic Sans MS" panose="030F0702030302020204" pitchFamily="66" charset="0"/>
              </a:rPr>
              <a:t>            //default action here}</a:t>
            </a:r>
          </a:p>
          <a:p>
            <a:pPr eaLnBrk="1" hangingPunct="1">
              <a:lnSpc>
                <a:spcPct val="80000"/>
              </a:lnSpc>
              <a:buFontTx/>
              <a:buNone/>
            </a:pPr>
            <a:r>
              <a:rPr lang="en-US" altLang="tr-TR" sz="2000" dirty="0">
                <a:latin typeface="Comic Sans MS" panose="030F0702030302020204" pitchFamily="66" charset="0"/>
              </a:rPr>
              <a:t> public </a:t>
            </a:r>
            <a:r>
              <a:rPr lang="en-US" altLang="tr-TR" sz="2000" dirty="0" err="1">
                <a:latin typeface="Comic Sans MS" panose="030F0702030302020204" pitchFamily="66" charset="0"/>
              </a:rPr>
              <a:t>SPopState</a:t>
            </a:r>
            <a:r>
              <a:rPr lang="en-US" altLang="tr-TR" sz="2000" dirty="0">
                <a:latin typeface="Comic Sans MS" panose="030F0702030302020204" pitchFamily="66" charset="0"/>
              </a:rPr>
              <a:t> quit(SPOP context,) {</a:t>
            </a:r>
          </a:p>
          <a:p>
            <a:pPr eaLnBrk="1" hangingPunct="1">
              <a:lnSpc>
                <a:spcPct val="80000"/>
              </a:lnSpc>
              <a:buFontTx/>
              <a:buNone/>
            </a:pPr>
            <a:r>
              <a:rPr lang="en-US" altLang="tr-TR" sz="2000" dirty="0">
                <a:latin typeface="Comic Sans MS" panose="030F0702030302020204" pitchFamily="66" charset="0"/>
              </a:rPr>
              <a:t>            //default action here}</a:t>
            </a:r>
          </a:p>
          <a:p>
            <a:pPr eaLnBrk="1" hangingPunct="1">
              <a:lnSpc>
                <a:spcPct val="80000"/>
              </a:lnSpc>
              <a:buFontTx/>
              <a:buNone/>
            </a:pPr>
            <a:r>
              <a:rPr lang="en-US" altLang="tr-TR" sz="2000" dirty="0">
                <a:latin typeface="Comic Sans MS" panose="030F0702030302020204" pitchFamily="66" charset="0"/>
              </a:rPr>
              <a:t>}</a:t>
            </a:r>
          </a:p>
          <a:p>
            <a:pPr eaLnBrk="1" hangingPunct="1">
              <a:lnSpc>
                <a:spcPct val="80000"/>
              </a:lnSpc>
              <a:buFontTx/>
              <a:buNone/>
            </a:pPr>
            <a:endParaRPr lang="en-US" altLang="tr-TR" sz="2000" dirty="0">
              <a:latin typeface="Comic Sans MS" panose="030F0702030302020204" pitchFamily="66" charset="0"/>
            </a:endParaRPr>
          </a:p>
          <a:p>
            <a:pPr eaLnBrk="1" hangingPunct="1">
              <a:lnSpc>
                <a:spcPct val="80000"/>
              </a:lnSpc>
              <a:buFontTx/>
              <a:buNone/>
            </a:pPr>
            <a:r>
              <a:rPr lang="en-US" altLang="tr-TR" sz="2000" dirty="0">
                <a:latin typeface="+mj-lt"/>
              </a:rPr>
              <a:t>Why default action?</a:t>
            </a:r>
          </a:p>
        </p:txBody>
      </p:sp>
      <p:sp>
        <p:nvSpPr>
          <p:cNvPr id="2" name="TextBox 1">
            <a:extLst>
              <a:ext uri="{FF2B5EF4-FFF2-40B4-BE49-F238E27FC236}">
                <a16:creationId xmlns:a16="http://schemas.microsoft.com/office/drawing/2014/main" id="{33DA9742-CF40-61E2-2210-A414F9D6A1A3}"/>
              </a:ext>
            </a:extLst>
          </p:cNvPr>
          <p:cNvSpPr txBox="1"/>
          <p:nvPr/>
        </p:nvSpPr>
        <p:spPr>
          <a:xfrm>
            <a:off x="5220072" y="75684"/>
            <a:ext cx="1774845" cy="369332"/>
          </a:xfrm>
          <a:prstGeom prst="rect">
            <a:avLst/>
          </a:prstGeom>
          <a:noFill/>
        </p:spPr>
        <p:txBody>
          <a:bodyPr wrap="none" rtlCol="0">
            <a:spAutoFit/>
          </a:bodyPr>
          <a:lstStyle/>
          <a:p>
            <a:r>
              <a:rPr lang="en-US" dirty="0"/>
              <a:t>Java illustration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6151E1D-B1CE-8155-27CD-02D264650A60}"/>
              </a:ext>
            </a:extLst>
          </p:cNvPr>
          <p:cNvSpPr>
            <a:spLocks noGrp="1" noChangeArrowheads="1"/>
          </p:cNvSpPr>
          <p:nvPr>
            <p:ph type="title"/>
          </p:nvPr>
        </p:nvSpPr>
        <p:spPr/>
        <p:txBody>
          <a:bodyPr/>
          <a:lstStyle/>
          <a:p>
            <a:pPr eaLnBrk="1" hangingPunct="1"/>
            <a:r>
              <a:rPr lang="en-US" altLang="tr-TR"/>
              <a:t>Simple POP implementation</a:t>
            </a:r>
          </a:p>
        </p:txBody>
      </p:sp>
      <p:sp>
        <p:nvSpPr>
          <p:cNvPr id="29699" name="Rectangle 3">
            <a:extLst>
              <a:ext uri="{FF2B5EF4-FFF2-40B4-BE49-F238E27FC236}">
                <a16:creationId xmlns:a16="http://schemas.microsoft.com/office/drawing/2014/main" id="{8AD694EB-8E55-BE26-DCC6-8C2EAFED6A65}"/>
              </a:ext>
            </a:extLst>
          </p:cNvPr>
          <p:cNvSpPr>
            <a:spLocks noGrp="1" noChangeArrowheads="1"/>
          </p:cNvSpPr>
          <p:nvPr>
            <p:ph idx="1"/>
          </p:nvPr>
        </p:nvSpPr>
        <p:spPr>
          <a:xfrm>
            <a:off x="457200" y="1600200"/>
            <a:ext cx="8229600" cy="4997450"/>
          </a:xfrm>
        </p:spPr>
        <p:txBody>
          <a:bodyPr/>
          <a:lstStyle/>
          <a:p>
            <a:pPr eaLnBrk="1" hangingPunct="1">
              <a:lnSpc>
                <a:spcPct val="80000"/>
              </a:lnSpc>
              <a:buFontTx/>
              <a:buNone/>
            </a:pPr>
            <a:r>
              <a:rPr lang="en-US" altLang="tr-TR" sz="2000" dirty="0">
                <a:latin typeface="Comic Sans MS" panose="030F0702030302020204" pitchFamily="66" charset="0"/>
              </a:rPr>
              <a:t>public class Authorized extends </a:t>
            </a:r>
            <a:r>
              <a:rPr lang="en-US" altLang="tr-TR" sz="2000" dirty="0" err="1">
                <a:latin typeface="Comic Sans MS" panose="030F0702030302020204" pitchFamily="66" charset="0"/>
              </a:rPr>
              <a:t>SPopState</a:t>
            </a:r>
            <a:r>
              <a:rPr lang="en-US" altLang="tr-TR" sz="2000" dirty="0">
                <a:latin typeface="Comic Sans MS" panose="030F0702030302020204" pitchFamily="66" charset="0"/>
              </a:rPr>
              <a:t> {</a:t>
            </a:r>
          </a:p>
          <a:p>
            <a:pPr>
              <a:lnSpc>
                <a:spcPct val="80000"/>
              </a:lnSpc>
              <a:buNone/>
            </a:pPr>
            <a:r>
              <a:rPr lang="en-US" altLang="tr-TR" sz="2000" dirty="0">
                <a:latin typeface="Comic Sans MS" panose="030F0702030302020204" pitchFamily="66" charset="0"/>
              </a:rPr>
              <a:t>    public void </a:t>
            </a:r>
            <a:r>
              <a:rPr lang="en-US" altLang="tr-TR" sz="2000" b="1" dirty="0">
                <a:latin typeface="Comic Sans MS" panose="030F0702030302020204" pitchFamily="66" charset="0"/>
              </a:rPr>
              <a:t>quit</a:t>
            </a:r>
            <a:r>
              <a:rPr lang="en-US" altLang="tr-TR" sz="2000" dirty="0">
                <a:latin typeface="Comic Sans MS" panose="030F0702030302020204" pitchFamily="66" charset="0"/>
              </a:rPr>
              <a:t> (SPOP context) {</a:t>
            </a:r>
          </a:p>
          <a:p>
            <a:pPr eaLnBrk="1" hangingPunct="1">
              <a:lnSpc>
                <a:spcPct val="80000"/>
              </a:lnSpc>
              <a:buFontTx/>
              <a:buNone/>
            </a:pPr>
            <a:r>
              <a:rPr lang="en-US" altLang="tr-TR" sz="2000" dirty="0">
                <a:latin typeface="Comic Sans MS" panose="030F0702030302020204" pitchFamily="66" charset="0"/>
              </a:rPr>
              <a:t>       //state transition</a:t>
            </a:r>
          </a:p>
          <a:p>
            <a:pPr eaLnBrk="1" hangingPunct="1">
              <a:lnSpc>
                <a:spcPct val="80000"/>
              </a:lnSpc>
              <a:buFontTx/>
              <a:buNone/>
            </a:pPr>
            <a:r>
              <a:rPr lang="en-US" altLang="tr-TR" sz="2000" dirty="0">
                <a:latin typeface="Comic Sans MS" panose="030F0702030302020204" pitchFamily="66" charset="0"/>
              </a:rPr>
              <a:t>        </a:t>
            </a:r>
            <a:r>
              <a:rPr lang="en-US" altLang="tr-TR" sz="2000" dirty="0" err="1">
                <a:solidFill>
                  <a:srgbClr val="0070C0"/>
                </a:solidFill>
                <a:latin typeface="Comic Sans MS" panose="030F0702030302020204" pitchFamily="66" charset="0"/>
              </a:rPr>
              <a:t>context.setState</a:t>
            </a:r>
            <a:r>
              <a:rPr lang="en-US" altLang="tr-TR" sz="2000" dirty="0">
                <a:latin typeface="Comic Sans MS" panose="030F0702030302020204" pitchFamily="66" charset="0"/>
              </a:rPr>
              <a:t>(</a:t>
            </a:r>
            <a:r>
              <a:rPr lang="en-US" altLang="tr-TR" sz="2000" dirty="0" err="1">
                <a:solidFill>
                  <a:srgbClr val="00B0F0"/>
                </a:solidFill>
                <a:latin typeface="Comic Sans MS" panose="030F0702030302020204" pitchFamily="66" charset="0"/>
              </a:rPr>
              <a:t>context.getStart</a:t>
            </a:r>
            <a:r>
              <a:rPr lang="en-US" altLang="tr-TR" sz="2000" dirty="0">
                <a:latin typeface="Comic Sans MS" panose="030F0702030302020204" pitchFamily="66" charset="0"/>
              </a:rPr>
              <a:t>());</a:t>
            </a:r>
          </a:p>
          <a:p>
            <a:pPr eaLnBrk="1" hangingPunct="1">
              <a:lnSpc>
                <a:spcPct val="80000"/>
              </a:lnSpc>
              <a:buFontTx/>
              <a:buNone/>
            </a:pPr>
            <a:r>
              <a:rPr lang="en-US" altLang="tr-TR" sz="2000" dirty="0">
                <a:latin typeface="Comic Sans MS" panose="030F0702030302020204" pitchFamily="66" charset="0"/>
              </a:rPr>
              <a:t>    } </a:t>
            </a:r>
          </a:p>
          <a:p>
            <a:pPr>
              <a:lnSpc>
                <a:spcPct val="80000"/>
              </a:lnSpc>
              <a:buNone/>
            </a:pPr>
            <a:r>
              <a:rPr lang="en-US" altLang="tr-TR" sz="2000" dirty="0">
                <a:latin typeface="Comic Sans MS" panose="030F0702030302020204" pitchFamily="66" charset="0"/>
              </a:rPr>
              <a:t>  public void </a:t>
            </a:r>
            <a:r>
              <a:rPr lang="en-US" altLang="tr-TR" sz="2000" b="1" dirty="0">
                <a:latin typeface="Comic Sans MS" panose="030F0702030302020204" pitchFamily="66" charset="0"/>
              </a:rPr>
              <a:t>list</a:t>
            </a:r>
            <a:r>
              <a:rPr lang="en-US" altLang="tr-TR" sz="2000" dirty="0">
                <a:latin typeface="Comic Sans MS" panose="030F0702030302020204" pitchFamily="66" charset="0"/>
              </a:rPr>
              <a:t> (SPOP context) {</a:t>
            </a:r>
          </a:p>
          <a:p>
            <a:pPr>
              <a:lnSpc>
                <a:spcPct val="80000"/>
              </a:lnSpc>
              <a:buNone/>
            </a:pPr>
            <a:r>
              <a:rPr lang="en-US" altLang="tr-TR" sz="2000" dirty="0">
                <a:latin typeface="Comic Sans MS" panose="030F0702030302020204" pitchFamily="66" charset="0"/>
              </a:rPr>
              <a:t>       //list emails</a:t>
            </a:r>
          </a:p>
          <a:p>
            <a:pPr>
              <a:lnSpc>
                <a:spcPct val="80000"/>
              </a:lnSpc>
              <a:buNone/>
            </a:pPr>
            <a:r>
              <a:rPr lang="en-US" altLang="tr-TR" sz="2000" dirty="0">
                <a:latin typeface="Comic Sans MS" panose="030F0702030302020204" pitchFamily="66" charset="0"/>
              </a:rPr>
              <a:t>       //no state transition: stay in this state.</a:t>
            </a:r>
          </a:p>
          <a:p>
            <a:pPr>
              <a:lnSpc>
                <a:spcPct val="80000"/>
              </a:lnSpc>
              <a:buNone/>
            </a:pPr>
            <a:r>
              <a:rPr lang="en-US" altLang="tr-TR" sz="2000" dirty="0">
                <a:latin typeface="Comic Sans MS" panose="030F0702030302020204" pitchFamily="66" charset="0"/>
              </a:rPr>
              <a:t>  }</a:t>
            </a:r>
          </a:p>
          <a:p>
            <a:pPr>
              <a:lnSpc>
                <a:spcPct val="80000"/>
              </a:lnSpc>
              <a:buNone/>
            </a:pPr>
            <a:r>
              <a:rPr lang="en-US" altLang="tr-TR" sz="2000" dirty="0">
                <a:latin typeface="Comic Sans MS" panose="030F0702030302020204" pitchFamily="66" charset="0"/>
              </a:rPr>
              <a:t>  public void </a:t>
            </a:r>
            <a:r>
              <a:rPr lang="en-US" altLang="tr-TR" sz="2000" b="1" dirty="0" err="1">
                <a:latin typeface="Comic Sans MS" panose="030F0702030302020204" pitchFamily="66" charset="0"/>
              </a:rPr>
              <a:t>retr</a:t>
            </a:r>
            <a:r>
              <a:rPr lang="en-US" altLang="tr-TR" sz="2000" dirty="0">
                <a:latin typeface="Comic Sans MS" panose="030F0702030302020204" pitchFamily="66" charset="0"/>
              </a:rPr>
              <a:t> (SPOP </a:t>
            </a:r>
            <a:r>
              <a:rPr lang="en-US" altLang="tr-TR" sz="2000" dirty="0" err="1">
                <a:latin typeface="Comic Sans MS" panose="030F0702030302020204" pitchFamily="66" charset="0"/>
              </a:rPr>
              <a:t>context,int</a:t>
            </a:r>
            <a:r>
              <a:rPr lang="en-US" altLang="tr-TR" sz="2000" dirty="0">
                <a:latin typeface="Comic Sans MS" panose="030F0702030302020204" pitchFamily="66" charset="0"/>
              </a:rPr>
              <a:t> </a:t>
            </a:r>
            <a:r>
              <a:rPr lang="en-US" altLang="tr-TR" sz="2000" dirty="0" err="1">
                <a:latin typeface="Comic Sans MS" panose="030F0702030302020204" pitchFamily="66" charset="0"/>
              </a:rPr>
              <a:t>messageNumber</a:t>
            </a:r>
            <a:r>
              <a:rPr lang="en-US" altLang="tr-TR" sz="2000" dirty="0">
                <a:latin typeface="Comic Sans MS" panose="030F0702030302020204" pitchFamily="66" charset="0"/>
              </a:rPr>
              <a:t>) {</a:t>
            </a:r>
          </a:p>
          <a:p>
            <a:pPr>
              <a:lnSpc>
                <a:spcPct val="80000"/>
              </a:lnSpc>
              <a:buNone/>
            </a:pPr>
            <a:r>
              <a:rPr lang="en-US" altLang="tr-TR" sz="2000" dirty="0">
                <a:latin typeface="Comic Sans MS" panose="030F0702030302020204" pitchFamily="66" charset="0"/>
              </a:rPr>
              <a:t>       //list emails</a:t>
            </a:r>
          </a:p>
          <a:p>
            <a:pPr>
              <a:lnSpc>
                <a:spcPct val="80000"/>
              </a:lnSpc>
              <a:buNone/>
            </a:pPr>
            <a:r>
              <a:rPr lang="en-US" altLang="tr-TR" sz="2000" dirty="0">
                <a:latin typeface="Comic Sans MS" panose="030F0702030302020204" pitchFamily="66" charset="0"/>
              </a:rPr>
              <a:t>       //no state transition: stay in this state.</a:t>
            </a:r>
          </a:p>
          <a:p>
            <a:pPr>
              <a:lnSpc>
                <a:spcPct val="80000"/>
              </a:lnSpc>
              <a:buNone/>
            </a:pPr>
            <a:r>
              <a:rPr lang="en-US" altLang="tr-TR" sz="2000" dirty="0">
                <a:latin typeface="Comic Sans MS" panose="030F0702030302020204" pitchFamily="66" charset="0"/>
              </a:rPr>
              <a:t>  }</a:t>
            </a:r>
          </a:p>
          <a:p>
            <a:pPr eaLnBrk="1" hangingPunct="1">
              <a:lnSpc>
                <a:spcPct val="80000"/>
              </a:lnSpc>
              <a:buFontTx/>
              <a:buNone/>
            </a:pPr>
            <a:r>
              <a:rPr lang="en-US" altLang="tr-TR" sz="2000" dirty="0">
                <a:latin typeface="Comic Sans MS" panose="030F0702030302020204" pitchFamily="66" charset="0"/>
              </a:rPr>
              <a:t>}</a:t>
            </a:r>
          </a:p>
          <a:p>
            <a:pPr eaLnBrk="1" hangingPunct="1">
              <a:lnSpc>
                <a:spcPct val="80000"/>
              </a:lnSpc>
              <a:buFontTx/>
              <a:buNone/>
            </a:pPr>
            <a:endParaRPr lang="en-US" altLang="tr-TR" sz="2000" dirty="0">
              <a:latin typeface="Comic Sans MS" panose="030F0702030302020204" pitchFamily="66" charset="0"/>
            </a:endParaRPr>
          </a:p>
        </p:txBody>
      </p:sp>
      <p:sp>
        <p:nvSpPr>
          <p:cNvPr id="29700" name="Text Box 4">
            <a:extLst>
              <a:ext uri="{FF2B5EF4-FFF2-40B4-BE49-F238E27FC236}">
                <a16:creationId xmlns:a16="http://schemas.microsoft.com/office/drawing/2014/main" id="{4DBB1F59-B90E-1597-7EF2-F752D21882A6}"/>
              </a:ext>
            </a:extLst>
          </p:cNvPr>
          <p:cNvSpPr txBox="1">
            <a:spLocks noChangeArrowheads="1"/>
          </p:cNvSpPr>
          <p:nvPr/>
        </p:nvSpPr>
        <p:spPr bwMode="auto">
          <a:xfrm>
            <a:off x="6154738" y="2928938"/>
            <a:ext cx="29892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2000" i="1"/>
              <a:t>State classes determine </a:t>
            </a:r>
          </a:p>
          <a:p>
            <a:pPr eaLnBrk="1" hangingPunct="1">
              <a:spcBef>
                <a:spcPct val="0"/>
              </a:spcBef>
              <a:buFontTx/>
              <a:buNone/>
            </a:pPr>
            <a:r>
              <a:rPr lang="en-US" altLang="tr-TR" sz="2000" i="1"/>
              <a:t>the next state</a:t>
            </a:r>
          </a:p>
        </p:txBody>
      </p:sp>
      <p:sp>
        <p:nvSpPr>
          <p:cNvPr id="29701" name="Line 5">
            <a:extLst>
              <a:ext uri="{FF2B5EF4-FFF2-40B4-BE49-F238E27FC236}">
                <a16:creationId xmlns:a16="http://schemas.microsoft.com/office/drawing/2014/main" id="{228817DA-C17C-3156-C65E-0D294934A3F2}"/>
              </a:ext>
            </a:extLst>
          </p:cNvPr>
          <p:cNvSpPr>
            <a:spLocks noChangeShapeType="1"/>
          </p:cNvSpPr>
          <p:nvPr/>
        </p:nvSpPr>
        <p:spPr bwMode="auto">
          <a:xfrm flipH="1" flipV="1">
            <a:off x="5220072" y="2928938"/>
            <a:ext cx="994990" cy="2857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 name="TextBox 1">
            <a:extLst>
              <a:ext uri="{FF2B5EF4-FFF2-40B4-BE49-F238E27FC236}">
                <a16:creationId xmlns:a16="http://schemas.microsoft.com/office/drawing/2014/main" id="{5923BDBF-F34D-3D31-1B2B-96D5399D5E04}"/>
              </a:ext>
            </a:extLst>
          </p:cNvPr>
          <p:cNvSpPr txBox="1"/>
          <p:nvPr/>
        </p:nvSpPr>
        <p:spPr>
          <a:xfrm>
            <a:off x="5220072" y="75684"/>
            <a:ext cx="1774845" cy="369332"/>
          </a:xfrm>
          <a:prstGeom prst="rect">
            <a:avLst/>
          </a:prstGeom>
          <a:noFill/>
        </p:spPr>
        <p:txBody>
          <a:bodyPr wrap="none" rtlCol="0">
            <a:spAutoFit/>
          </a:bodyPr>
          <a:lstStyle/>
          <a:p>
            <a:r>
              <a:rPr lang="en-US" dirty="0"/>
              <a:t>Java illustration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86426-E1D2-66E5-47D2-CCB443BEA3A4}"/>
            </a:ext>
          </a:extLst>
        </p:cNvPr>
        <p:cNvGrpSpPr/>
        <p:nvPr/>
      </p:nvGrpSpPr>
      <p:grpSpPr>
        <a:xfrm>
          <a:off x="0" y="0"/>
          <a:ext cx="0" cy="0"/>
          <a:chOff x="0" y="0"/>
          <a:chExt cx="0" cy="0"/>
        </a:xfrm>
      </p:grpSpPr>
      <p:sp>
        <p:nvSpPr>
          <p:cNvPr id="29698" name="Rectangle 2">
            <a:extLst>
              <a:ext uri="{FF2B5EF4-FFF2-40B4-BE49-F238E27FC236}">
                <a16:creationId xmlns:a16="http://schemas.microsoft.com/office/drawing/2014/main" id="{CB732C88-0B15-67E5-91A5-6F90AE15E633}"/>
              </a:ext>
            </a:extLst>
          </p:cNvPr>
          <p:cNvSpPr>
            <a:spLocks noGrp="1" noChangeArrowheads="1"/>
          </p:cNvSpPr>
          <p:nvPr>
            <p:ph type="title"/>
          </p:nvPr>
        </p:nvSpPr>
        <p:spPr/>
        <p:txBody>
          <a:bodyPr/>
          <a:lstStyle/>
          <a:p>
            <a:pPr eaLnBrk="1" hangingPunct="1"/>
            <a:r>
              <a:rPr lang="en-US" altLang="tr-TR"/>
              <a:t>Simple POP implementation</a:t>
            </a:r>
          </a:p>
        </p:txBody>
      </p:sp>
      <p:sp>
        <p:nvSpPr>
          <p:cNvPr id="29699" name="Rectangle 3">
            <a:extLst>
              <a:ext uri="{FF2B5EF4-FFF2-40B4-BE49-F238E27FC236}">
                <a16:creationId xmlns:a16="http://schemas.microsoft.com/office/drawing/2014/main" id="{81A5637F-99E0-8494-8036-92696693CD37}"/>
              </a:ext>
            </a:extLst>
          </p:cNvPr>
          <p:cNvSpPr>
            <a:spLocks noGrp="1" noChangeArrowheads="1"/>
          </p:cNvSpPr>
          <p:nvPr>
            <p:ph idx="1"/>
          </p:nvPr>
        </p:nvSpPr>
        <p:spPr>
          <a:xfrm>
            <a:off x="457200" y="1600200"/>
            <a:ext cx="8229600" cy="4997450"/>
          </a:xfrm>
        </p:spPr>
        <p:txBody>
          <a:bodyPr/>
          <a:lstStyle/>
          <a:p>
            <a:pPr eaLnBrk="1" hangingPunct="1">
              <a:lnSpc>
                <a:spcPct val="80000"/>
              </a:lnSpc>
              <a:buFontTx/>
              <a:buNone/>
            </a:pPr>
            <a:r>
              <a:rPr lang="en-US" altLang="tr-TR" sz="2000" dirty="0">
                <a:latin typeface="Comic Sans MS" panose="030F0702030302020204" pitchFamily="66" charset="0"/>
              </a:rPr>
              <a:t>public class Start extends </a:t>
            </a:r>
            <a:r>
              <a:rPr lang="en-US" altLang="tr-TR" sz="2000" dirty="0" err="1">
                <a:latin typeface="Comic Sans MS" panose="030F0702030302020204" pitchFamily="66" charset="0"/>
              </a:rPr>
              <a:t>SPopState</a:t>
            </a:r>
            <a:r>
              <a:rPr lang="en-US" altLang="tr-TR" sz="2000" dirty="0">
                <a:latin typeface="Comic Sans MS" panose="030F0702030302020204" pitchFamily="66" charset="0"/>
              </a:rPr>
              <a:t> {</a:t>
            </a:r>
          </a:p>
          <a:p>
            <a:pPr eaLnBrk="1" hangingPunct="1">
              <a:lnSpc>
                <a:spcPct val="80000"/>
              </a:lnSpc>
              <a:buFontTx/>
              <a:buNone/>
            </a:pPr>
            <a:r>
              <a:rPr lang="en-US" altLang="tr-TR" sz="2000" dirty="0">
                <a:latin typeface="Comic Sans MS" panose="030F0702030302020204" pitchFamily="66" charset="0"/>
              </a:rPr>
              <a:t>   public void </a:t>
            </a:r>
            <a:r>
              <a:rPr lang="en-US" altLang="tr-TR" sz="2000" b="1" dirty="0">
                <a:latin typeface="Comic Sans MS" panose="030F0702030302020204" pitchFamily="66" charset="0"/>
              </a:rPr>
              <a:t>user</a:t>
            </a:r>
            <a:r>
              <a:rPr lang="en-US" altLang="tr-TR" sz="2000" dirty="0">
                <a:latin typeface="Comic Sans MS" panose="030F0702030302020204" pitchFamily="66" charset="0"/>
              </a:rPr>
              <a:t> (SPOP context, String </a:t>
            </a:r>
            <a:r>
              <a:rPr lang="en-US" altLang="tr-TR" sz="2000" dirty="0" err="1">
                <a:latin typeface="Comic Sans MS" panose="030F0702030302020204" pitchFamily="66" charset="0"/>
              </a:rPr>
              <a:t>userName</a:t>
            </a:r>
            <a:r>
              <a:rPr lang="en-US" altLang="tr-TR" sz="2000" dirty="0">
                <a:latin typeface="Comic Sans MS" panose="030F0702030302020204" pitchFamily="66" charset="0"/>
              </a:rPr>
              <a:t>) {</a:t>
            </a:r>
          </a:p>
          <a:p>
            <a:pPr eaLnBrk="1" hangingPunct="1">
              <a:lnSpc>
                <a:spcPct val="80000"/>
              </a:lnSpc>
              <a:buFontTx/>
              <a:buNone/>
            </a:pPr>
            <a:r>
              <a:rPr lang="en-US" altLang="tr-TR" sz="2000" dirty="0">
                <a:latin typeface="Comic Sans MS" panose="030F0702030302020204" pitchFamily="66" charset="0"/>
              </a:rPr>
              <a:t>       //state transition</a:t>
            </a:r>
          </a:p>
          <a:p>
            <a:pPr eaLnBrk="1" hangingPunct="1">
              <a:lnSpc>
                <a:spcPct val="80000"/>
              </a:lnSpc>
              <a:buFontTx/>
              <a:buNone/>
            </a:pPr>
            <a:r>
              <a:rPr lang="en-US" altLang="tr-TR" sz="2000" dirty="0">
                <a:latin typeface="Comic Sans MS" panose="030F0702030302020204" pitchFamily="66" charset="0"/>
              </a:rPr>
              <a:t>        </a:t>
            </a:r>
            <a:r>
              <a:rPr lang="en-US" altLang="tr-TR" sz="2000" dirty="0" err="1">
                <a:latin typeface="Comic Sans MS" panose="030F0702030302020204" pitchFamily="66" charset="0"/>
              </a:rPr>
              <a:t>context.setState</a:t>
            </a:r>
            <a:r>
              <a:rPr lang="en-US" altLang="tr-TR" sz="2000" dirty="0">
                <a:latin typeface="Comic Sans MS" panose="030F0702030302020204" pitchFamily="66" charset="0"/>
              </a:rPr>
              <a:t>(new </a:t>
            </a:r>
            <a:r>
              <a:rPr lang="en-US" altLang="tr-TR" sz="2000" dirty="0" err="1">
                <a:latin typeface="Comic Sans MS" panose="030F0702030302020204" pitchFamily="66" charset="0"/>
              </a:rPr>
              <a:t>HaveUserName</a:t>
            </a:r>
            <a:r>
              <a:rPr lang="en-US" altLang="tr-TR" sz="2000" dirty="0">
                <a:latin typeface="Comic Sans MS" panose="030F0702030302020204" pitchFamily="66" charset="0"/>
              </a:rPr>
              <a:t>(</a:t>
            </a:r>
            <a:r>
              <a:rPr lang="en-US" altLang="tr-TR" sz="2000" dirty="0" err="1">
                <a:latin typeface="Comic Sans MS" panose="030F0702030302020204" pitchFamily="66" charset="0"/>
              </a:rPr>
              <a:t>userName</a:t>
            </a:r>
            <a:r>
              <a:rPr lang="en-US" altLang="tr-TR" sz="2000" dirty="0">
                <a:latin typeface="Comic Sans MS" panose="030F0702030302020204" pitchFamily="66" charset="0"/>
              </a:rPr>
              <a:t>));} </a:t>
            </a:r>
          </a:p>
          <a:p>
            <a:pPr eaLnBrk="1" hangingPunct="1">
              <a:lnSpc>
                <a:spcPct val="80000"/>
              </a:lnSpc>
              <a:buFontTx/>
              <a:buNone/>
            </a:pPr>
            <a:r>
              <a:rPr lang="en-US" altLang="tr-TR" sz="2000" dirty="0">
                <a:latin typeface="Comic Sans MS" panose="030F0702030302020204" pitchFamily="66" charset="0"/>
              </a:rPr>
              <a:t>}</a:t>
            </a:r>
          </a:p>
          <a:p>
            <a:pPr eaLnBrk="1" hangingPunct="1">
              <a:lnSpc>
                <a:spcPct val="80000"/>
              </a:lnSpc>
              <a:buFontTx/>
              <a:buNone/>
            </a:pPr>
            <a:endParaRPr lang="en-US" altLang="tr-TR" sz="2000" dirty="0">
              <a:latin typeface="Comic Sans MS" panose="030F0702030302020204" pitchFamily="66" charset="0"/>
            </a:endParaRPr>
          </a:p>
          <a:p>
            <a:pPr eaLnBrk="1" hangingPunct="1">
              <a:lnSpc>
                <a:spcPct val="80000"/>
              </a:lnSpc>
              <a:buFontTx/>
              <a:buNone/>
            </a:pPr>
            <a:r>
              <a:rPr lang="en-US" altLang="tr-TR" sz="2000" dirty="0">
                <a:latin typeface="Comic Sans MS" panose="030F0702030302020204" pitchFamily="66" charset="0"/>
              </a:rPr>
              <a:t>public class </a:t>
            </a:r>
            <a:r>
              <a:rPr lang="en-US" altLang="tr-TR" sz="2000" dirty="0" err="1">
                <a:latin typeface="Comic Sans MS" panose="030F0702030302020204" pitchFamily="66" charset="0"/>
              </a:rPr>
              <a:t>HaveUserName</a:t>
            </a:r>
            <a:r>
              <a:rPr lang="en-US" altLang="tr-TR" sz="2000" dirty="0">
                <a:latin typeface="Comic Sans MS" panose="030F0702030302020204" pitchFamily="66" charset="0"/>
              </a:rPr>
              <a:t> extends </a:t>
            </a:r>
            <a:r>
              <a:rPr lang="en-US" altLang="tr-TR" sz="2000" dirty="0" err="1">
                <a:latin typeface="Comic Sans MS" panose="030F0702030302020204" pitchFamily="66" charset="0"/>
              </a:rPr>
              <a:t>SPopState</a:t>
            </a:r>
            <a:r>
              <a:rPr lang="en-US" altLang="tr-TR" sz="2000" dirty="0">
                <a:latin typeface="Comic Sans MS" panose="030F0702030302020204" pitchFamily="66" charset="0"/>
              </a:rPr>
              <a:t> {</a:t>
            </a:r>
          </a:p>
          <a:p>
            <a:pPr eaLnBrk="1" hangingPunct="1">
              <a:lnSpc>
                <a:spcPct val="80000"/>
              </a:lnSpc>
              <a:buFontTx/>
              <a:buNone/>
            </a:pPr>
            <a:r>
              <a:rPr lang="en-US" altLang="tr-TR" sz="2000" b="1" dirty="0">
                <a:solidFill>
                  <a:schemeClr val="bg2"/>
                </a:solidFill>
                <a:latin typeface="Comic Sans MS" panose="030F0702030302020204" pitchFamily="66" charset="0"/>
              </a:rPr>
              <a:t>    private String </a:t>
            </a:r>
            <a:r>
              <a:rPr lang="en-US" altLang="tr-TR" sz="2000" b="1" dirty="0" err="1">
                <a:solidFill>
                  <a:schemeClr val="bg2"/>
                </a:solidFill>
                <a:latin typeface="Comic Sans MS" panose="030F0702030302020204" pitchFamily="66" charset="0"/>
              </a:rPr>
              <a:t>userName</a:t>
            </a:r>
            <a:r>
              <a:rPr lang="en-US" altLang="tr-TR" sz="2000" b="1" dirty="0">
                <a:solidFill>
                  <a:schemeClr val="bg2"/>
                </a:solidFill>
                <a:latin typeface="Comic Sans MS" panose="030F0702030302020204" pitchFamily="66" charset="0"/>
              </a:rPr>
              <a:t>;   // CANNOT SHARE!</a:t>
            </a:r>
          </a:p>
          <a:p>
            <a:pPr eaLnBrk="1" hangingPunct="1">
              <a:lnSpc>
                <a:spcPct val="80000"/>
              </a:lnSpc>
              <a:buFontTx/>
              <a:buNone/>
            </a:pPr>
            <a:r>
              <a:rPr lang="en-US" altLang="tr-TR" sz="2000" dirty="0">
                <a:latin typeface="Comic Sans MS" panose="030F0702030302020204" pitchFamily="66" charset="0"/>
              </a:rPr>
              <a:t>    public </a:t>
            </a:r>
            <a:r>
              <a:rPr lang="en-US" altLang="tr-TR" sz="2000" dirty="0" err="1">
                <a:latin typeface="Comic Sans MS" panose="030F0702030302020204" pitchFamily="66" charset="0"/>
              </a:rPr>
              <a:t>HaveUserName</a:t>
            </a:r>
            <a:r>
              <a:rPr lang="en-US" altLang="tr-TR" sz="2000" dirty="0">
                <a:latin typeface="Comic Sans MS" panose="030F0702030302020204" pitchFamily="66" charset="0"/>
              </a:rPr>
              <a:t>(String u){</a:t>
            </a:r>
            <a:r>
              <a:rPr lang="en-US" altLang="tr-TR" sz="2000" dirty="0" err="1">
                <a:solidFill>
                  <a:schemeClr val="bg2"/>
                </a:solidFill>
                <a:latin typeface="Comic Sans MS" panose="030F0702030302020204" pitchFamily="66" charset="0"/>
              </a:rPr>
              <a:t>this.userName</a:t>
            </a:r>
            <a:r>
              <a:rPr lang="en-US" altLang="tr-TR" sz="2000" dirty="0">
                <a:solidFill>
                  <a:schemeClr val="bg2"/>
                </a:solidFill>
                <a:latin typeface="Comic Sans MS" panose="030F0702030302020204" pitchFamily="66" charset="0"/>
              </a:rPr>
              <a:t>=u</a:t>
            </a:r>
            <a:r>
              <a:rPr lang="en-US" altLang="tr-TR" sz="2000" dirty="0">
                <a:latin typeface="Comic Sans MS" panose="030F0702030302020204" pitchFamily="66" charset="0"/>
              </a:rPr>
              <a:t>;}</a:t>
            </a:r>
          </a:p>
          <a:p>
            <a:pPr eaLnBrk="1" hangingPunct="1">
              <a:lnSpc>
                <a:spcPct val="80000"/>
              </a:lnSpc>
              <a:buFontTx/>
              <a:buNone/>
            </a:pPr>
            <a:endParaRPr lang="en-US" altLang="tr-TR" sz="2000" dirty="0">
              <a:latin typeface="Comic Sans MS" panose="030F0702030302020204" pitchFamily="66" charset="0"/>
            </a:endParaRPr>
          </a:p>
          <a:p>
            <a:pPr eaLnBrk="1" hangingPunct="1">
              <a:lnSpc>
                <a:spcPct val="80000"/>
              </a:lnSpc>
              <a:buFontTx/>
              <a:buNone/>
            </a:pPr>
            <a:r>
              <a:rPr lang="en-US" altLang="tr-TR" sz="2000" dirty="0">
                <a:latin typeface="Comic Sans MS" panose="030F0702030302020204" pitchFamily="66" charset="0"/>
              </a:rPr>
              <a:t>    public void </a:t>
            </a:r>
            <a:r>
              <a:rPr lang="en-US" altLang="tr-TR" sz="2000" b="1" dirty="0">
                <a:latin typeface="Comic Sans MS" panose="030F0702030302020204" pitchFamily="66" charset="0"/>
              </a:rPr>
              <a:t>pass</a:t>
            </a:r>
            <a:r>
              <a:rPr lang="en-US" altLang="tr-TR" sz="2000" dirty="0">
                <a:latin typeface="Comic Sans MS" panose="030F0702030302020204" pitchFamily="66" charset="0"/>
              </a:rPr>
              <a:t>(SPOP context. String password) {</a:t>
            </a:r>
          </a:p>
          <a:p>
            <a:pPr eaLnBrk="1" hangingPunct="1">
              <a:lnSpc>
                <a:spcPct val="80000"/>
              </a:lnSpc>
              <a:buFontTx/>
              <a:buNone/>
            </a:pPr>
            <a:r>
              <a:rPr lang="en-US" altLang="tr-TR" sz="2000" dirty="0">
                <a:latin typeface="Comic Sans MS" panose="030F0702030302020204" pitchFamily="66" charset="0"/>
              </a:rPr>
              <a:t>	 if (</a:t>
            </a:r>
            <a:r>
              <a:rPr lang="en-US" altLang="tr-TR" sz="2000" dirty="0" err="1">
                <a:latin typeface="Comic Sans MS" panose="030F0702030302020204" pitchFamily="66" charset="0"/>
              </a:rPr>
              <a:t>validateUser</a:t>
            </a:r>
            <a:r>
              <a:rPr lang="en-US" altLang="tr-TR" sz="2000" dirty="0">
                <a:latin typeface="Comic Sans MS" panose="030F0702030302020204" pitchFamily="66" charset="0"/>
              </a:rPr>
              <a:t>(</a:t>
            </a:r>
            <a:r>
              <a:rPr lang="en-US" altLang="tr-TR" sz="2000" dirty="0" err="1">
                <a:latin typeface="Comic Sans MS" panose="030F0702030302020204" pitchFamily="66" charset="0"/>
              </a:rPr>
              <a:t>userName</a:t>
            </a:r>
            <a:r>
              <a:rPr lang="en-US" altLang="tr-TR" sz="2000" dirty="0">
                <a:latin typeface="Comic Sans MS" panose="030F0702030302020204" pitchFamily="66" charset="0"/>
              </a:rPr>
              <a:t>, password)</a:t>
            </a:r>
          </a:p>
          <a:p>
            <a:pPr eaLnBrk="1" hangingPunct="1">
              <a:lnSpc>
                <a:spcPct val="80000"/>
              </a:lnSpc>
              <a:buFontTx/>
              <a:buNone/>
            </a:pPr>
            <a:r>
              <a:rPr lang="en-US" altLang="tr-TR" sz="2000" dirty="0">
                <a:latin typeface="Comic Sans MS" panose="030F0702030302020204" pitchFamily="66" charset="0"/>
              </a:rPr>
              <a:t>		</a:t>
            </a:r>
            <a:r>
              <a:rPr lang="en-US" altLang="tr-TR" sz="2000" dirty="0" err="1">
                <a:solidFill>
                  <a:srgbClr val="0070C0"/>
                </a:solidFill>
                <a:latin typeface="Comic Sans MS" panose="030F0702030302020204" pitchFamily="66" charset="0"/>
              </a:rPr>
              <a:t>context.setState</a:t>
            </a:r>
            <a:r>
              <a:rPr lang="en-US" altLang="tr-TR" sz="2000" dirty="0">
                <a:latin typeface="Comic Sans MS" panose="030F0702030302020204" pitchFamily="66" charset="0"/>
              </a:rPr>
              <a:t>(</a:t>
            </a:r>
            <a:r>
              <a:rPr lang="en-US" altLang="tr-TR" sz="2000" dirty="0" err="1">
                <a:solidFill>
                  <a:srgbClr val="00B0F0"/>
                </a:solidFill>
                <a:latin typeface="Comic Sans MS" panose="030F0702030302020204" pitchFamily="66" charset="0"/>
              </a:rPr>
              <a:t>context.getAutherized</a:t>
            </a:r>
            <a:r>
              <a:rPr lang="en-US" altLang="tr-TR" sz="2000" dirty="0">
                <a:latin typeface="Comic Sans MS" panose="030F0702030302020204" pitchFamily="66" charset="0"/>
              </a:rPr>
              <a:t>());</a:t>
            </a:r>
          </a:p>
          <a:p>
            <a:pPr eaLnBrk="1" hangingPunct="1">
              <a:lnSpc>
                <a:spcPct val="80000"/>
              </a:lnSpc>
              <a:buFontTx/>
              <a:buNone/>
            </a:pPr>
            <a:r>
              <a:rPr lang="en-US" altLang="tr-TR" sz="2000" dirty="0">
                <a:latin typeface="Comic Sans MS" panose="030F0702030302020204" pitchFamily="66" charset="0"/>
              </a:rPr>
              <a:t>       else</a:t>
            </a:r>
          </a:p>
          <a:p>
            <a:pPr eaLnBrk="1" hangingPunct="1">
              <a:lnSpc>
                <a:spcPct val="80000"/>
              </a:lnSpc>
              <a:buFontTx/>
              <a:buNone/>
            </a:pPr>
            <a:r>
              <a:rPr lang="en-US" altLang="tr-TR" sz="2000" dirty="0">
                <a:latin typeface="Comic Sans MS" panose="030F0702030302020204" pitchFamily="66" charset="0"/>
              </a:rPr>
              <a:t>		</a:t>
            </a:r>
            <a:r>
              <a:rPr lang="en-US" altLang="tr-TR" sz="2000" dirty="0" err="1">
                <a:solidFill>
                  <a:srgbClr val="0070C0"/>
                </a:solidFill>
                <a:latin typeface="Comic Sans MS" panose="030F0702030302020204" pitchFamily="66" charset="0"/>
              </a:rPr>
              <a:t>context.setState</a:t>
            </a:r>
            <a:r>
              <a:rPr lang="en-US" altLang="tr-TR" sz="2000" dirty="0">
                <a:latin typeface="Comic Sans MS" panose="030F0702030302020204" pitchFamily="66" charset="0"/>
              </a:rPr>
              <a:t>(</a:t>
            </a:r>
            <a:r>
              <a:rPr lang="en-US" altLang="tr-TR" sz="2000" dirty="0" err="1">
                <a:solidFill>
                  <a:srgbClr val="00B0F0"/>
                </a:solidFill>
                <a:latin typeface="Comic Sans MS" panose="030F0702030302020204" pitchFamily="66" charset="0"/>
              </a:rPr>
              <a:t>context.getStart</a:t>
            </a:r>
            <a:r>
              <a:rPr lang="en-US" altLang="tr-TR" sz="2000" dirty="0">
                <a:latin typeface="Comic Sans MS" panose="030F0702030302020204" pitchFamily="66" charset="0"/>
              </a:rPr>
              <a:t>());}</a:t>
            </a:r>
          </a:p>
          <a:p>
            <a:pPr eaLnBrk="1" hangingPunct="1">
              <a:lnSpc>
                <a:spcPct val="80000"/>
              </a:lnSpc>
              <a:buFontTx/>
              <a:buNone/>
            </a:pPr>
            <a:r>
              <a:rPr lang="en-US" altLang="tr-TR" sz="2000" dirty="0">
                <a:latin typeface="Comic Sans MS" panose="030F0702030302020204" pitchFamily="66" charset="0"/>
              </a:rPr>
              <a:t>}</a:t>
            </a:r>
          </a:p>
        </p:txBody>
      </p:sp>
      <p:sp>
        <p:nvSpPr>
          <p:cNvPr id="29700" name="Text Box 4">
            <a:extLst>
              <a:ext uri="{FF2B5EF4-FFF2-40B4-BE49-F238E27FC236}">
                <a16:creationId xmlns:a16="http://schemas.microsoft.com/office/drawing/2014/main" id="{D28BEF03-D682-3ADD-F162-C8D6CA6E728D}"/>
              </a:ext>
            </a:extLst>
          </p:cNvPr>
          <p:cNvSpPr txBox="1">
            <a:spLocks noChangeArrowheads="1"/>
          </p:cNvSpPr>
          <p:nvPr/>
        </p:nvSpPr>
        <p:spPr bwMode="auto">
          <a:xfrm>
            <a:off x="6804248" y="5869880"/>
            <a:ext cx="29892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tr-TR" sz="2000" i="1" dirty="0"/>
              <a:t>State classes determine </a:t>
            </a:r>
          </a:p>
          <a:p>
            <a:pPr eaLnBrk="1" hangingPunct="1">
              <a:spcBef>
                <a:spcPct val="0"/>
              </a:spcBef>
              <a:buFontTx/>
              <a:buNone/>
            </a:pPr>
            <a:r>
              <a:rPr lang="en-US" altLang="tr-TR" sz="2000" i="1" dirty="0"/>
              <a:t>the next state</a:t>
            </a:r>
          </a:p>
        </p:txBody>
      </p:sp>
      <p:sp>
        <p:nvSpPr>
          <p:cNvPr id="29701" name="Line 5">
            <a:extLst>
              <a:ext uri="{FF2B5EF4-FFF2-40B4-BE49-F238E27FC236}">
                <a16:creationId xmlns:a16="http://schemas.microsoft.com/office/drawing/2014/main" id="{44F79878-6733-C2F7-9012-C65C58293DCB}"/>
              </a:ext>
            </a:extLst>
          </p:cNvPr>
          <p:cNvSpPr>
            <a:spLocks noChangeShapeType="1"/>
          </p:cNvSpPr>
          <p:nvPr/>
        </p:nvSpPr>
        <p:spPr bwMode="auto">
          <a:xfrm flipH="1" flipV="1">
            <a:off x="5940150" y="6021288"/>
            <a:ext cx="864097" cy="1440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 name="TextBox 1">
            <a:extLst>
              <a:ext uri="{FF2B5EF4-FFF2-40B4-BE49-F238E27FC236}">
                <a16:creationId xmlns:a16="http://schemas.microsoft.com/office/drawing/2014/main" id="{B998879E-2F7A-75B5-3385-1D40446AAFFF}"/>
              </a:ext>
            </a:extLst>
          </p:cNvPr>
          <p:cNvSpPr txBox="1"/>
          <p:nvPr/>
        </p:nvSpPr>
        <p:spPr>
          <a:xfrm>
            <a:off x="5220072" y="75684"/>
            <a:ext cx="1774845" cy="369332"/>
          </a:xfrm>
          <a:prstGeom prst="rect">
            <a:avLst/>
          </a:prstGeom>
          <a:noFill/>
        </p:spPr>
        <p:txBody>
          <a:bodyPr wrap="none" rtlCol="0">
            <a:spAutoFit/>
          </a:bodyPr>
          <a:lstStyle/>
          <a:p>
            <a:r>
              <a:rPr lang="en-US" dirty="0"/>
              <a:t>Java illustration</a:t>
            </a:r>
          </a:p>
        </p:txBody>
      </p:sp>
    </p:spTree>
    <p:extLst>
      <p:ext uri="{BB962C8B-B14F-4D97-AF65-F5344CB8AC3E}">
        <p14:creationId xmlns:p14="http://schemas.microsoft.com/office/powerpoint/2010/main" val="230725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969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969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D04BBB5F-28DD-37B6-39B4-6BA9B7C63166}"/>
              </a:ext>
            </a:extLst>
          </p:cNvPr>
          <p:cNvSpPr>
            <a:spLocks noGrp="1" noChangeArrowheads="1"/>
          </p:cNvSpPr>
          <p:nvPr>
            <p:ph type="title"/>
          </p:nvPr>
        </p:nvSpPr>
        <p:spPr/>
        <p:txBody>
          <a:bodyPr/>
          <a:lstStyle/>
          <a:p>
            <a:r>
              <a:rPr lang="en-US" altLang="tr-TR"/>
              <a:t>and the context is…</a:t>
            </a:r>
          </a:p>
        </p:txBody>
      </p:sp>
      <p:sp>
        <p:nvSpPr>
          <p:cNvPr id="30723" name="Content Placeholder 2">
            <a:extLst>
              <a:ext uri="{FF2B5EF4-FFF2-40B4-BE49-F238E27FC236}">
                <a16:creationId xmlns:a16="http://schemas.microsoft.com/office/drawing/2014/main" id="{46383CD8-FB20-C907-4AC7-DC68E230BB5D}"/>
              </a:ext>
            </a:extLst>
          </p:cNvPr>
          <p:cNvSpPr>
            <a:spLocks noGrp="1" noChangeArrowheads="1"/>
          </p:cNvSpPr>
          <p:nvPr>
            <p:ph idx="1"/>
          </p:nvPr>
        </p:nvSpPr>
        <p:spPr/>
        <p:txBody>
          <a:bodyPr/>
          <a:lstStyle/>
          <a:p>
            <a:pPr>
              <a:buFontTx/>
              <a:buNone/>
            </a:pPr>
            <a:r>
              <a:rPr lang="en-US" altLang="tr-TR" sz="2400" dirty="0">
                <a:latin typeface="Comic Sans MS" panose="030F0702030302020204" pitchFamily="66" charset="0"/>
              </a:rPr>
              <a:t>public class </a:t>
            </a:r>
            <a:r>
              <a:rPr lang="en-US" altLang="tr-TR" sz="2400" dirty="0" err="1">
                <a:latin typeface="Comic Sans MS" panose="030F0702030302020204" pitchFamily="66" charset="0"/>
              </a:rPr>
              <a:t>SPop</a:t>
            </a:r>
            <a:r>
              <a:rPr lang="en-US" altLang="tr-TR" sz="2400" dirty="0">
                <a:latin typeface="Comic Sans MS" panose="030F0702030302020204" pitchFamily="66" charset="0"/>
              </a:rPr>
              <a:t>{</a:t>
            </a:r>
          </a:p>
          <a:p>
            <a:pPr>
              <a:buFontTx/>
              <a:buNone/>
            </a:pPr>
            <a:r>
              <a:rPr lang="en-US" altLang="tr-TR" sz="2400" dirty="0">
                <a:latin typeface="Comic Sans MS" panose="030F0702030302020204" pitchFamily="66" charset="0"/>
              </a:rPr>
              <a:t>  private </a:t>
            </a:r>
            <a:r>
              <a:rPr lang="en-US" altLang="tr-TR" sz="2400" dirty="0" err="1">
                <a:latin typeface="Comic Sans MS" panose="030F0702030302020204" pitchFamily="66" charset="0"/>
              </a:rPr>
              <a:t>SPopState</a:t>
            </a:r>
            <a:r>
              <a:rPr lang="en-US" altLang="tr-TR" sz="2400" dirty="0">
                <a:latin typeface="Comic Sans MS" panose="030F0702030302020204" pitchFamily="66" charset="0"/>
              </a:rPr>
              <a:t> state=new Start();</a:t>
            </a:r>
          </a:p>
          <a:p>
            <a:pPr>
              <a:buFontTx/>
              <a:buNone/>
            </a:pPr>
            <a:endParaRPr lang="en-US" altLang="tr-TR" sz="2400" dirty="0">
              <a:latin typeface="Comic Sans MS" panose="030F0702030302020204" pitchFamily="66" charset="0"/>
            </a:endParaRPr>
          </a:p>
          <a:p>
            <a:pPr>
              <a:buFontTx/>
              <a:buNone/>
            </a:pPr>
            <a:r>
              <a:rPr lang="en-US" altLang="tr-TR" sz="2400" dirty="0">
                <a:latin typeface="Comic Sans MS" panose="030F0702030302020204" pitchFamily="66" charset="0"/>
              </a:rPr>
              <a:t>  public void user(String name){</a:t>
            </a:r>
          </a:p>
          <a:p>
            <a:pPr>
              <a:buFontTx/>
              <a:buNone/>
            </a:pPr>
            <a:r>
              <a:rPr lang="en-US" altLang="tr-TR" sz="2400" dirty="0">
                <a:latin typeface="Comic Sans MS" panose="030F0702030302020204" pitchFamily="66" charset="0"/>
              </a:rPr>
              <a:t>		</a:t>
            </a:r>
            <a:r>
              <a:rPr lang="en-US" altLang="tr-TR" sz="2400" dirty="0" err="1">
                <a:latin typeface="Comic Sans MS" panose="030F0702030302020204" pitchFamily="66" charset="0"/>
              </a:rPr>
              <a:t>state.user</a:t>
            </a:r>
            <a:r>
              <a:rPr lang="en-US" altLang="tr-TR" sz="2400" dirty="0">
                <a:latin typeface="Comic Sans MS" panose="030F0702030302020204" pitchFamily="66" charset="0"/>
              </a:rPr>
              <a:t>(</a:t>
            </a:r>
            <a:r>
              <a:rPr lang="en-US" altLang="tr-TR" sz="2400" dirty="0" err="1">
                <a:latin typeface="Comic Sans MS" panose="030F0702030302020204" pitchFamily="66" charset="0"/>
              </a:rPr>
              <a:t>this,name</a:t>
            </a:r>
            <a:r>
              <a:rPr lang="en-US" altLang="tr-TR" sz="2400" dirty="0">
                <a:latin typeface="Comic Sans MS" panose="030F0702030302020204" pitchFamily="66" charset="0"/>
              </a:rPr>
              <a:t>);}</a:t>
            </a:r>
          </a:p>
          <a:p>
            <a:pPr>
              <a:buFontTx/>
              <a:buNone/>
            </a:pPr>
            <a:r>
              <a:rPr lang="en-US" altLang="tr-TR" sz="2400" dirty="0">
                <a:latin typeface="Comic Sans MS" panose="030F0702030302020204" pitchFamily="66" charset="0"/>
              </a:rPr>
              <a:t>  public void pass(String </a:t>
            </a:r>
            <a:r>
              <a:rPr lang="en-US" altLang="tr-TR" sz="2400" dirty="0" err="1">
                <a:latin typeface="Comic Sans MS" panose="030F0702030302020204" pitchFamily="66" charset="0"/>
              </a:rPr>
              <a:t>pwd</a:t>
            </a:r>
            <a:r>
              <a:rPr lang="en-US" altLang="tr-TR" sz="2400" dirty="0">
                <a:latin typeface="Comic Sans MS" panose="030F0702030302020204" pitchFamily="66" charset="0"/>
              </a:rPr>
              <a:t>){</a:t>
            </a:r>
          </a:p>
          <a:p>
            <a:pPr>
              <a:buFontTx/>
              <a:buNone/>
            </a:pPr>
            <a:r>
              <a:rPr lang="en-US" altLang="tr-TR" sz="2400" dirty="0">
                <a:latin typeface="Comic Sans MS" panose="030F0702030302020204" pitchFamily="66" charset="0"/>
              </a:rPr>
              <a:t>		</a:t>
            </a:r>
            <a:r>
              <a:rPr lang="en-US" altLang="tr-TR" sz="2400" dirty="0" err="1">
                <a:latin typeface="Comic Sans MS" panose="030F0702030302020204" pitchFamily="66" charset="0"/>
              </a:rPr>
              <a:t>state.pass</a:t>
            </a:r>
            <a:r>
              <a:rPr lang="en-US" altLang="tr-TR" sz="2400" dirty="0">
                <a:latin typeface="Comic Sans MS" panose="030F0702030302020204" pitchFamily="66" charset="0"/>
              </a:rPr>
              <a:t>(</a:t>
            </a:r>
            <a:r>
              <a:rPr lang="en-US" altLang="tr-TR" sz="2400" dirty="0" err="1">
                <a:latin typeface="Comic Sans MS" panose="030F0702030302020204" pitchFamily="66" charset="0"/>
              </a:rPr>
              <a:t>this,pwd</a:t>
            </a:r>
            <a:r>
              <a:rPr lang="en-US" altLang="tr-TR" sz="2400" dirty="0">
                <a:latin typeface="Comic Sans MS" panose="030F0702030302020204" pitchFamily="66" charset="0"/>
              </a:rPr>
              <a:t>);}</a:t>
            </a:r>
          </a:p>
          <a:p>
            <a:pPr>
              <a:buFontTx/>
              <a:buNone/>
            </a:pPr>
            <a:r>
              <a:rPr lang="en-US" altLang="tr-TR" sz="2400" dirty="0">
                <a:latin typeface="Comic Sans MS" panose="030F0702030302020204" pitchFamily="66" charset="0"/>
              </a:rPr>
              <a:t>  public void list(){ </a:t>
            </a:r>
            <a:r>
              <a:rPr lang="en-US" altLang="tr-TR" sz="2400" dirty="0" err="1">
                <a:latin typeface="Comic Sans MS" panose="030F0702030302020204" pitchFamily="66" charset="0"/>
              </a:rPr>
              <a:t>state.list</a:t>
            </a:r>
            <a:r>
              <a:rPr lang="en-US" altLang="tr-TR" sz="2400" dirty="0">
                <a:latin typeface="Comic Sans MS" panose="030F0702030302020204" pitchFamily="66" charset="0"/>
              </a:rPr>
              <a:t>();}</a:t>
            </a:r>
          </a:p>
          <a:p>
            <a:pPr>
              <a:buFontTx/>
              <a:buNone/>
            </a:pPr>
            <a:r>
              <a:rPr lang="en-US" altLang="tr-TR" sz="2400" dirty="0">
                <a:latin typeface="Comic Sans MS" panose="030F0702030302020204" pitchFamily="66" charset="0"/>
              </a:rPr>
              <a:t>  ……</a:t>
            </a:r>
          </a:p>
          <a:p>
            <a:pPr>
              <a:buFontTx/>
              <a:buNone/>
            </a:pPr>
            <a:r>
              <a:rPr lang="en-US" altLang="tr-TR" sz="2400" dirty="0">
                <a:latin typeface="Comic Sans MS" panose="030F0702030302020204" pitchFamily="66" charset="0"/>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C6058-AAD1-D794-8B23-C11742D23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E8C69-40AA-20A8-862F-7CD1470147CB}"/>
              </a:ext>
            </a:extLst>
          </p:cNvPr>
          <p:cNvSpPr>
            <a:spLocks noGrp="1"/>
          </p:cNvSpPr>
          <p:nvPr>
            <p:ph type="title"/>
          </p:nvPr>
        </p:nvSpPr>
        <p:spPr/>
        <p:txBody>
          <a:bodyPr/>
          <a:lstStyle/>
          <a:p>
            <a:r>
              <a:rPr lang="en-US" dirty="0"/>
              <a:t>State vs. Strategy</a:t>
            </a:r>
          </a:p>
        </p:txBody>
      </p:sp>
      <p:sp>
        <p:nvSpPr>
          <p:cNvPr id="3" name="Content Placeholder 2">
            <a:extLst>
              <a:ext uri="{FF2B5EF4-FFF2-40B4-BE49-F238E27FC236}">
                <a16:creationId xmlns:a16="http://schemas.microsoft.com/office/drawing/2014/main" id="{DC78FF96-A9BA-8BA8-7CAD-BAFD96341545}"/>
              </a:ext>
            </a:extLst>
          </p:cNvPr>
          <p:cNvSpPr>
            <a:spLocks noGrp="1"/>
          </p:cNvSpPr>
          <p:nvPr>
            <p:ph idx="1"/>
          </p:nvPr>
        </p:nvSpPr>
        <p:spPr>
          <a:xfrm>
            <a:off x="539552" y="1510752"/>
            <a:ext cx="8229600" cy="4532109"/>
          </a:xfrm>
        </p:spPr>
        <p:txBody>
          <a:bodyPr/>
          <a:lstStyle/>
          <a:p>
            <a:pPr marL="0" indent="0">
              <a:buNone/>
            </a:pPr>
            <a:r>
              <a:rPr lang="en-US" sz="2000" i="1" dirty="0"/>
              <a:t>Strategy</a:t>
            </a:r>
          </a:p>
          <a:p>
            <a:r>
              <a:rPr lang="en-US" sz="2000" i="1" dirty="0"/>
              <a:t>Who Drives Change?</a:t>
            </a:r>
            <a:r>
              <a:rPr lang="en-US" sz="2000" dirty="0"/>
              <a:t>  </a:t>
            </a:r>
            <a:r>
              <a:rPr lang="en-US" sz="2000" b="1" dirty="0"/>
              <a:t>Client</a:t>
            </a:r>
            <a:r>
              <a:rPr lang="en-US" sz="2000" dirty="0"/>
              <a:t> (externally).</a:t>
            </a:r>
          </a:p>
          <a:p>
            <a:pPr lvl="1"/>
            <a:r>
              <a:rPr lang="en-US" sz="2000" dirty="0" err="1"/>
              <a:t>context.setStrategy</a:t>
            </a:r>
            <a:r>
              <a:rPr lang="en-US" sz="2000" dirty="0"/>
              <a:t>(new </a:t>
            </a:r>
            <a:r>
              <a:rPr lang="en-US" sz="2000" dirty="0" err="1"/>
              <a:t>FastSort</a:t>
            </a:r>
            <a:r>
              <a:rPr lang="en-US" sz="2000" dirty="0"/>
              <a:t>())</a:t>
            </a:r>
          </a:p>
          <a:p>
            <a:r>
              <a:rPr lang="en-US" sz="2000" b="1" dirty="0"/>
              <a:t>Intent: </a:t>
            </a:r>
            <a:r>
              <a:rPr lang="en-US" sz="2000" dirty="0"/>
              <a:t>Answers </a:t>
            </a:r>
            <a:r>
              <a:rPr lang="en-US" sz="2000" b="1" dirty="0"/>
              <a:t>"How"</a:t>
            </a:r>
            <a:r>
              <a:rPr lang="en-US" sz="2000" dirty="0"/>
              <a:t> to do an action. </a:t>
            </a:r>
          </a:p>
          <a:p>
            <a:pPr lvl="1"/>
            <a:r>
              <a:rPr lang="en-US" sz="2000" dirty="0"/>
              <a:t>How to sort? How to encrypt?</a:t>
            </a:r>
          </a:p>
          <a:p>
            <a:r>
              <a:rPr lang="en-US" sz="2000" dirty="0"/>
              <a:t>The Context is </a:t>
            </a:r>
            <a:r>
              <a:rPr lang="en-US" sz="2000" b="1" dirty="0"/>
              <a:t>given</a:t>
            </a:r>
            <a:r>
              <a:rPr lang="en-US" sz="2000" dirty="0"/>
              <a:t> a behavior</a:t>
            </a:r>
          </a:p>
          <a:p>
            <a:pPr marL="0" indent="0">
              <a:buNone/>
            </a:pPr>
            <a:r>
              <a:rPr lang="en-US" sz="2000" dirty="0"/>
              <a:t>State</a:t>
            </a:r>
          </a:p>
          <a:p>
            <a:r>
              <a:rPr lang="en-US" sz="2000" i="1" dirty="0"/>
              <a:t>Who Drives Change?</a:t>
            </a:r>
            <a:r>
              <a:rPr lang="en-US" sz="2000" dirty="0"/>
              <a:t> </a:t>
            </a:r>
            <a:r>
              <a:rPr lang="en-US" sz="2000" b="1" dirty="0"/>
              <a:t>Context or State</a:t>
            </a:r>
            <a:r>
              <a:rPr lang="en-US" sz="2000" dirty="0"/>
              <a:t> (internally). </a:t>
            </a:r>
            <a:r>
              <a:rPr lang="en-US" sz="2000" dirty="0" err="1"/>
              <a:t>account.setState</a:t>
            </a:r>
            <a:r>
              <a:rPr lang="en-US" sz="2000" dirty="0"/>
              <a:t>(OVERDRAWN_STATE)</a:t>
            </a:r>
          </a:p>
          <a:p>
            <a:r>
              <a:rPr lang="en-US" sz="2000" b="1" dirty="0"/>
              <a:t>Intent: </a:t>
            </a:r>
            <a:r>
              <a:rPr lang="en-US" sz="2000" dirty="0"/>
              <a:t> Answers </a:t>
            </a:r>
            <a:r>
              <a:rPr lang="en-US" sz="2000" b="1" dirty="0"/>
              <a:t>"What"</a:t>
            </a:r>
            <a:r>
              <a:rPr lang="en-US" sz="2000" dirty="0"/>
              <a:t> to do (or "When") based on the situation.</a:t>
            </a:r>
          </a:p>
          <a:p>
            <a:pPr lvl="1"/>
            <a:r>
              <a:rPr lang="en-US" sz="2000" dirty="0"/>
              <a:t>What do I do when `withdraw` is called </a:t>
            </a:r>
            <a:r>
              <a:rPr lang="en-US" sz="2000" b="1" dirty="0"/>
              <a:t>in this state</a:t>
            </a:r>
            <a:r>
              <a:rPr lang="en-US" sz="2000" dirty="0"/>
              <a:t>?</a:t>
            </a:r>
          </a:p>
          <a:p>
            <a:r>
              <a:rPr lang="en-US" sz="2000" dirty="0"/>
              <a:t>The Context </a:t>
            </a:r>
            <a:r>
              <a:rPr lang="en-US" sz="2000" b="1" dirty="0"/>
              <a:t>is</a:t>
            </a:r>
            <a:r>
              <a:rPr lang="en-US" sz="2000" dirty="0"/>
              <a:t> a behavior.</a:t>
            </a:r>
          </a:p>
          <a:p>
            <a:endParaRPr lang="en-US" sz="2000" dirty="0"/>
          </a:p>
        </p:txBody>
      </p:sp>
    </p:spTree>
    <p:extLst>
      <p:ext uri="{BB962C8B-B14F-4D97-AF65-F5344CB8AC3E}">
        <p14:creationId xmlns:p14="http://schemas.microsoft.com/office/powerpoint/2010/main" val="24531358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EA381B-1326-D375-35BB-9A1E64B401CB}"/>
              </a:ext>
            </a:extLst>
          </p:cNvPr>
          <p:cNvSpPr>
            <a:spLocks noGrp="1"/>
          </p:cNvSpPr>
          <p:nvPr>
            <p:ph type="title"/>
          </p:nvPr>
        </p:nvSpPr>
        <p:spPr/>
        <p:txBody>
          <a:bodyPr/>
          <a:lstStyle/>
          <a:p>
            <a:r>
              <a:rPr lang="en-US" dirty="0" err="1"/>
              <a:t>GoF</a:t>
            </a:r>
            <a:r>
              <a:rPr lang="en-US" dirty="0"/>
              <a:t> example – C++ illustration</a:t>
            </a:r>
          </a:p>
        </p:txBody>
      </p:sp>
      <p:pic>
        <p:nvPicPr>
          <p:cNvPr id="6" name="Picture 5">
            <a:extLst>
              <a:ext uri="{FF2B5EF4-FFF2-40B4-BE49-F238E27FC236}">
                <a16:creationId xmlns:a16="http://schemas.microsoft.com/office/drawing/2014/main" id="{6874CBF4-665D-CAAD-45C5-A3B94F21AF73}"/>
              </a:ext>
            </a:extLst>
          </p:cNvPr>
          <p:cNvPicPr>
            <a:picLocks noChangeAspect="1"/>
          </p:cNvPicPr>
          <p:nvPr/>
        </p:nvPicPr>
        <p:blipFill>
          <a:blip r:embed="rId2"/>
          <a:stretch>
            <a:fillRect/>
          </a:stretch>
        </p:blipFill>
        <p:spPr>
          <a:xfrm>
            <a:off x="1043607" y="2014340"/>
            <a:ext cx="7306499" cy="3214860"/>
          </a:xfrm>
          <a:prstGeom prst="rect">
            <a:avLst/>
          </a:prstGeom>
        </p:spPr>
      </p:pic>
    </p:spTree>
    <p:extLst>
      <p:ext uri="{BB962C8B-B14F-4D97-AF65-F5344CB8AC3E}">
        <p14:creationId xmlns:p14="http://schemas.microsoft.com/office/powerpoint/2010/main" val="24595773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62F849-8E5D-9CC0-297A-23E8A6A22C11}"/>
              </a:ext>
            </a:extLst>
          </p:cNvPr>
          <p:cNvPicPr>
            <a:picLocks noChangeAspect="1"/>
          </p:cNvPicPr>
          <p:nvPr/>
        </p:nvPicPr>
        <p:blipFill>
          <a:blip r:embed="rId3"/>
          <a:stretch>
            <a:fillRect/>
          </a:stretch>
        </p:blipFill>
        <p:spPr>
          <a:xfrm>
            <a:off x="1" y="19050"/>
            <a:ext cx="5292079" cy="6362278"/>
          </a:xfrm>
          <a:prstGeom prst="rect">
            <a:avLst/>
          </a:prstGeom>
        </p:spPr>
      </p:pic>
      <p:pic>
        <p:nvPicPr>
          <p:cNvPr id="6" name="Picture 5">
            <a:extLst>
              <a:ext uri="{FF2B5EF4-FFF2-40B4-BE49-F238E27FC236}">
                <a16:creationId xmlns:a16="http://schemas.microsoft.com/office/drawing/2014/main" id="{AEB45E85-3EE6-3194-58C7-67BCC069795B}"/>
              </a:ext>
            </a:extLst>
          </p:cNvPr>
          <p:cNvPicPr>
            <a:picLocks noChangeAspect="1"/>
          </p:cNvPicPr>
          <p:nvPr/>
        </p:nvPicPr>
        <p:blipFill>
          <a:blip r:embed="rId4"/>
          <a:stretch>
            <a:fillRect/>
          </a:stretch>
        </p:blipFill>
        <p:spPr>
          <a:xfrm>
            <a:off x="5220072" y="0"/>
            <a:ext cx="5040560" cy="6858000"/>
          </a:xfrm>
          <a:prstGeom prst="rect">
            <a:avLst/>
          </a:prstGeom>
        </p:spPr>
      </p:pic>
      <p:sp>
        <p:nvSpPr>
          <p:cNvPr id="7" name="Rectangle 6">
            <a:extLst>
              <a:ext uri="{FF2B5EF4-FFF2-40B4-BE49-F238E27FC236}">
                <a16:creationId xmlns:a16="http://schemas.microsoft.com/office/drawing/2014/main" id="{65816EFE-CDD5-2CC8-E0A2-D1BA30B01406}"/>
              </a:ext>
            </a:extLst>
          </p:cNvPr>
          <p:cNvSpPr/>
          <p:nvPr/>
        </p:nvSpPr>
        <p:spPr bwMode="auto">
          <a:xfrm>
            <a:off x="611560" y="4834086"/>
            <a:ext cx="3600400" cy="576064"/>
          </a:xfrm>
          <a:prstGeom prst="rect">
            <a:avLst/>
          </a:prstGeom>
          <a:solidFill>
            <a:schemeClr val="accent1">
              <a:alpha val="33000"/>
            </a:schemeClr>
          </a:solidFill>
          <a:ln w="9525" cap="flat" cmpd="sng" algn="ctr">
            <a:no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571506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1ADAD6-B9D3-1D51-DBCB-5D54EC8DDEFD}"/>
              </a:ext>
            </a:extLst>
          </p:cNvPr>
          <p:cNvPicPr>
            <a:picLocks noChangeAspect="1"/>
          </p:cNvPicPr>
          <p:nvPr/>
        </p:nvPicPr>
        <p:blipFill>
          <a:blip r:embed="rId3"/>
          <a:stretch>
            <a:fillRect/>
          </a:stretch>
        </p:blipFill>
        <p:spPr>
          <a:xfrm>
            <a:off x="-18281" y="404664"/>
            <a:ext cx="9050013" cy="3858163"/>
          </a:xfrm>
          <a:prstGeom prst="rect">
            <a:avLst/>
          </a:prstGeom>
        </p:spPr>
      </p:pic>
      <p:pic>
        <p:nvPicPr>
          <p:cNvPr id="6" name="Picture 5">
            <a:extLst>
              <a:ext uri="{FF2B5EF4-FFF2-40B4-BE49-F238E27FC236}">
                <a16:creationId xmlns:a16="http://schemas.microsoft.com/office/drawing/2014/main" id="{CEF249DD-6D7B-E833-3C72-77B6147BE913}"/>
              </a:ext>
            </a:extLst>
          </p:cNvPr>
          <p:cNvPicPr>
            <a:picLocks noChangeAspect="1"/>
          </p:cNvPicPr>
          <p:nvPr/>
        </p:nvPicPr>
        <p:blipFill>
          <a:blip r:embed="rId4"/>
          <a:stretch>
            <a:fillRect/>
          </a:stretch>
        </p:blipFill>
        <p:spPr>
          <a:xfrm>
            <a:off x="-18281" y="4270045"/>
            <a:ext cx="8973802" cy="2867425"/>
          </a:xfrm>
          <a:prstGeom prst="rect">
            <a:avLst/>
          </a:prstGeom>
        </p:spPr>
      </p:pic>
    </p:spTree>
    <p:extLst>
      <p:ext uri="{BB962C8B-B14F-4D97-AF65-F5344CB8AC3E}">
        <p14:creationId xmlns:p14="http://schemas.microsoft.com/office/powerpoint/2010/main" val="5618950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C4D458-C2AD-8623-93DA-CABFE5C07F43}"/>
              </a:ext>
            </a:extLst>
          </p:cNvPr>
          <p:cNvPicPr>
            <a:picLocks noChangeAspect="1"/>
          </p:cNvPicPr>
          <p:nvPr/>
        </p:nvPicPr>
        <p:blipFill>
          <a:blip r:embed="rId3"/>
          <a:stretch>
            <a:fillRect/>
          </a:stretch>
        </p:blipFill>
        <p:spPr>
          <a:xfrm>
            <a:off x="321875" y="1431231"/>
            <a:ext cx="8821381" cy="2229161"/>
          </a:xfrm>
          <a:prstGeom prst="rect">
            <a:avLst/>
          </a:prstGeom>
        </p:spPr>
      </p:pic>
      <p:sp>
        <p:nvSpPr>
          <p:cNvPr id="4" name="Title 3">
            <a:extLst>
              <a:ext uri="{FF2B5EF4-FFF2-40B4-BE49-F238E27FC236}">
                <a16:creationId xmlns:a16="http://schemas.microsoft.com/office/drawing/2014/main" id="{504088EF-7696-D105-9CA9-B0293D339C73}"/>
              </a:ext>
            </a:extLst>
          </p:cNvPr>
          <p:cNvSpPr>
            <a:spLocks noGrp="1"/>
          </p:cNvSpPr>
          <p:nvPr>
            <p:ph type="title"/>
          </p:nvPr>
        </p:nvSpPr>
        <p:spPr>
          <a:xfrm>
            <a:off x="462372" y="59631"/>
            <a:ext cx="8219256" cy="1371600"/>
          </a:xfrm>
        </p:spPr>
        <p:txBody>
          <a:bodyPr/>
          <a:lstStyle/>
          <a:p>
            <a:r>
              <a:rPr lang="en-US" sz="3200" dirty="0"/>
              <a:t>A State Subclass implements its state specific behavior only</a:t>
            </a:r>
          </a:p>
        </p:txBody>
      </p:sp>
      <p:pic>
        <p:nvPicPr>
          <p:cNvPr id="11" name="Picture 10">
            <a:extLst>
              <a:ext uri="{FF2B5EF4-FFF2-40B4-BE49-F238E27FC236}">
                <a16:creationId xmlns:a16="http://schemas.microsoft.com/office/drawing/2014/main" id="{BF4A177B-9424-BA13-9A8E-CCC809DCFF44}"/>
              </a:ext>
            </a:extLst>
          </p:cNvPr>
          <p:cNvPicPr>
            <a:picLocks noChangeAspect="1"/>
          </p:cNvPicPr>
          <p:nvPr/>
        </p:nvPicPr>
        <p:blipFill>
          <a:blip r:embed="rId4"/>
          <a:stretch>
            <a:fillRect/>
          </a:stretch>
        </p:blipFill>
        <p:spPr>
          <a:xfrm>
            <a:off x="295210" y="3910098"/>
            <a:ext cx="6181886" cy="2942544"/>
          </a:xfrm>
          <a:prstGeom prst="rect">
            <a:avLst/>
          </a:prstGeom>
        </p:spPr>
      </p:pic>
      <p:sp>
        <p:nvSpPr>
          <p:cNvPr id="12" name="TextBox 11">
            <a:extLst>
              <a:ext uri="{FF2B5EF4-FFF2-40B4-BE49-F238E27FC236}">
                <a16:creationId xmlns:a16="http://schemas.microsoft.com/office/drawing/2014/main" id="{B91DD040-ED13-347B-7415-C254C02EF24D}"/>
              </a:ext>
            </a:extLst>
          </p:cNvPr>
          <p:cNvSpPr txBox="1"/>
          <p:nvPr/>
        </p:nvSpPr>
        <p:spPr>
          <a:xfrm>
            <a:off x="6477096" y="4653136"/>
            <a:ext cx="2836033" cy="1046440"/>
          </a:xfrm>
          <a:prstGeom prst="rect">
            <a:avLst/>
          </a:prstGeom>
          <a:noFill/>
        </p:spPr>
        <p:txBody>
          <a:bodyPr wrap="none" rtlCol="0">
            <a:spAutoFit/>
          </a:bodyPr>
          <a:lstStyle/>
          <a:p>
            <a:r>
              <a:rPr lang="en-US" sz="2400" dirty="0">
                <a:solidFill>
                  <a:srgbClr val="0070C0"/>
                </a:solidFill>
              </a:rPr>
              <a:t>State transition</a:t>
            </a:r>
          </a:p>
          <a:p>
            <a:endParaRPr lang="en-US" dirty="0"/>
          </a:p>
          <a:p>
            <a:r>
              <a:rPr lang="en-US" sz="2000" dirty="0"/>
              <a:t>How is it implemented?</a:t>
            </a:r>
          </a:p>
        </p:txBody>
      </p:sp>
      <p:sp>
        <p:nvSpPr>
          <p:cNvPr id="13" name="Arrow: Left 12">
            <a:extLst>
              <a:ext uri="{FF2B5EF4-FFF2-40B4-BE49-F238E27FC236}">
                <a16:creationId xmlns:a16="http://schemas.microsoft.com/office/drawing/2014/main" id="{83D251CC-CB55-34E6-8750-EF07DAC0EAF0}"/>
              </a:ext>
            </a:extLst>
          </p:cNvPr>
          <p:cNvSpPr/>
          <p:nvPr/>
        </p:nvSpPr>
        <p:spPr bwMode="auto">
          <a:xfrm>
            <a:off x="5921012" y="4743960"/>
            <a:ext cx="504056" cy="288032"/>
          </a:xfrm>
          <a:prstGeom prst="leftArrow">
            <a:avLst/>
          </a:prstGeom>
          <a:solidFill>
            <a:schemeClr val="accent1"/>
          </a:solidFill>
          <a:ln w="9525" cap="flat" cmpd="sng" algn="ctr">
            <a:solidFill>
              <a:schemeClr val="tx1"/>
            </a:solidFill>
            <a:prstDash val="solid"/>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70244584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9C4E8-1171-B8D2-389B-1C680B8BC56D}"/>
              </a:ext>
            </a:extLst>
          </p:cNvPr>
          <p:cNvSpPr>
            <a:spLocks noGrp="1"/>
          </p:cNvSpPr>
          <p:nvPr>
            <p:ph type="title"/>
          </p:nvPr>
        </p:nvSpPr>
        <p:spPr/>
        <p:txBody>
          <a:bodyPr/>
          <a:lstStyle/>
          <a:p>
            <a:r>
              <a:rPr lang="en-US" dirty="0"/>
              <a:t>State-Consequences -1</a:t>
            </a:r>
          </a:p>
        </p:txBody>
      </p:sp>
      <p:sp>
        <p:nvSpPr>
          <p:cNvPr id="3" name="Content Placeholder 2">
            <a:extLst>
              <a:ext uri="{FF2B5EF4-FFF2-40B4-BE49-F238E27FC236}">
                <a16:creationId xmlns:a16="http://schemas.microsoft.com/office/drawing/2014/main" id="{9B3DCCCA-C93C-EC76-871E-F4F65F0429B5}"/>
              </a:ext>
            </a:extLst>
          </p:cNvPr>
          <p:cNvSpPr>
            <a:spLocks noGrp="1"/>
          </p:cNvSpPr>
          <p:nvPr>
            <p:ph idx="1"/>
          </p:nvPr>
        </p:nvSpPr>
        <p:spPr/>
        <p:txBody>
          <a:bodyPr/>
          <a:lstStyle/>
          <a:p>
            <a:r>
              <a:rPr lang="en-US" altLang="tr-TR" sz="2800" dirty="0"/>
              <a:t>Puts all behavior associated with a state into one object</a:t>
            </a:r>
          </a:p>
          <a:p>
            <a:pPr lvl="1"/>
            <a:r>
              <a:rPr lang="en-US" sz="2400" dirty="0"/>
              <a:t>It localizes state-specific behavior and partitions behavior for different states. </a:t>
            </a:r>
          </a:p>
          <a:p>
            <a:pPr lvl="1"/>
            <a:r>
              <a:rPr lang="en-US" sz="2400" dirty="0"/>
              <a:t>Because all state-specific code lives in a State subclass, new states and transitions can be added easily by defining new subclasses.</a:t>
            </a:r>
          </a:p>
        </p:txBody>
      </p:sp>
    </p:spTree>
    <p:extLst>
      <p:ext uri="{BB962C8B-B14F-4D97-AF65-F5344CB8AC3E}">
        <p14:creationId xmlns:p14="http://schemas.microsoft.com/office/powerpoint/2010/main" val="20442879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47E1EC3-02F7-64F1-5F44-CDC32B554D44}"/>
              </a:ext>
            </a:extLst>
          </p:cNvPr>
          <p:cNvSpPr>
            <a:spLocks noGrp="1" noChangeArrowheads="1"/>
          </p:cNvSpPr>
          <p:nvPr>
            <p:ph type="title"/>
          </p:nvPr>
        </p:nvSpPr>
        <p:spPr/>
        <p:txBody>
          <a:bodyPr/>
          <a:lstStyle/>
          <a:p>
            <a:pPr eaLnBrk="1" hangingPunct="1"/>
            <a:r>
              <a:rPr lang="en-US" altLang="tr-TR" dirty="0"/>
              <a:t>State – Consequences-2</a:t>
            </a:r>
          </a:p>
        </p:txBody>
      </p:sp>
      <p:sp>
        <p:nvSpPr>
          <p:cNvPr id="31747" name="Rectangle 3">
            <a:extLst>
              <a:ext uri="{FF2B5EF4-FFF2-40B4-BE49-F238E27FC236}">
                <a16:creationId xmlns:a16="http://schemas.microsoft.com/office/drawing/2014/main" id="{B40E5F6F-6C04-563E-7742-9502D1D6C615}"/>
              </a:ext>
            </a:extLst>
          </p:cNvPr>
          <p:cNvSpPr>
            <a:spLocks noGrp="1" noChangeArrowheads="1"/>
          </p:cNvSpPr>
          <p:nvPr>
            <p:ph idx="1"/>
          </p:nvPr>
        </p:nvSpPr>
        <p:spPr/>
        <p:txBody>
          <a:bodyPr/>
          <a:lstStyle/>
          <a:p>
            <a:pPr eaLnBrk="1" hangingPunct="1">
              <a:lnSpc>
                <a:spcPct val="90000"/>
              </a:lnSpc>
            </a:pPr>
            <a:r>
              <a:rPr lang="en-US" altLang="tr-TR" sz="2800" dirty="0"/>
              <a:t>Makes state transition explicit</a:t>
            </a:r>
          </a:p>
          <a:p>
            <a:pPr lvl="1">
              <a:lnSpc>
                <a:spcPct val="90000"/>
              </a:lnSpc>
            </a:pPr>
            <a:r>
              <a:rPr lang="en-US" altLang="tr-TR" sz="2400" dirty="0"/>
              <a:t>Assume we are not using the state pattern</a:t>
            </a:r>
          </a:p>
          <a:p>
            <a:pPr lvl="1">
              <a:lnSpc>
                <a:spcPct val="90000"/>
              </a:lnSpc>
            </a:pPr>
            <a:r>
              <a:rPr lang="en-US" altLang="tr-TR" sz="2400" dirty="0"/>
              <a:t>Recall that, object state is valuation of its attributes</a:t>
            </a:r>
          </a:p>
          <a:p>
            <a:pPr lvl="2">
              <a:lnSpc>
                <a:spcPct val="90000"/>
              </a:lnSpc>
            </a:pPr>
            <a:r>
              <a:rPr lang="en-US" altLang="tr-TR" sz="2000" dirty="0"/>
              <a:t>Let </a:t>
            </a:r>
            <a:r>
              <a:rPr lang="en-US" altLang="tr-TR" sz="2000" dirty="0" err="1"/>
              <a:t>numCoins</a:t>
            </a:r>
            <a:r>
              <a:rPr lang="en-US" altLang="tr-TR" sz="2000" dirty="0"/>
              <a:t>, </a:t>
            </a:r>
            <a:r>
              <a:rPr lang="en-US" altLang="tr-TR" sz="2000" dirty="0" err="1"/>
              <a:t>numProd</a:t>
            </a:r>
            <a:r>
              <a:rPr lang="en-US" altLang="tr-TR" sz="2000" dirty="0"/>
              <a:t> be attributes of Machine</a:t>
            </a:r>
          </a:p>
          <a:p>
            <a:pPr lvl="2">
              <a:lnSpc>
                <a:spcPct val="90000"/>
              </a:lnSpc>
            </a:pPr>
            <a:r>
              <a:rPr lang="en-US" altLang="tr-TR" sz="2000" dirty="0"/>
              <a:t>A machine object with </a:t>
            </a:r>
            <a:r>
              <a:rPr lang="en-US" altLang="tr-TR" sz="2000" dirty="0" err="1"/>
              <a:t>numCoins</a:t>
            </a:r>
            <a:r>
              <a:rPr lang="en-US" altLang="tr-TR" sz="2000" dirty="0"/>
              <a:t>=10, </a:t>
            </a:r>
            <a:r>
              <a:rPr lang="en-US" altLang="tr-TR" sz="2000" dirty="0" err="1"/>
              <a:t>numProd</a:t>
            </a:r>
            <a:r>
              <a:rPr lang="en-US" altLang="tr-TR" sz="2000" dirty="0"/>
              <a:t>=5</a:t>
            </a:r>
          </a:p>
          <a:p>
            <a:pPr lvl="2">
              <a:lnSpc>
                <a:spcPct val="90000"/>
              </a:lnSpc>
            </a:pPr>
            <a:r>
              <a:rPr lang="en-US" altLang="tr-TR" sz="2000" dirty="0"/>
              <a:t> A machine object with </a:t>
            </a:r>
            <a:r>
              <a:rPr lang="en-US" altLang="tr-TR" sz="2000" dirty="0" err="1"/>
              <a:t>numCoins</a:t>
            </a:r>
            <a:r>
              <a:rPr lang="en-US" altLang="tr-TR" sz="2000" dirty="0"/>
              <a:t>=12, </a:t>
            </a:r>
            <a:r>
              <a:rPr lang="en-US" altLang="tr-TR" sz="2000" dirty="0" err="1"/>
              <a:t>numProd</a:t>
            </a:r>
            <a:r>
              <a:rPr lang="en-US" altLang="tr-TR" sz="2000" dirty="0"/>
              <a:t>=3</a:t>
            </a:r>
          </a:p>
          <a:p>
            <a:pPr lvl="1">
              <a:lnSpc>
                <a:spcPct val="90000"/>
              </a:lnSpc>
            </a:pPr>
            <a:r>
              <a:rPr lang="en-US" altLang="tr-TR" sz="2400" dirty="0"/>
              <a:t>A state change occur as assignment to some of object’s attributes</a:t>
            </a:r>
          </a:p>
          <a:p>
            <a:pPr lvl="2">
              <a:lnSpc>
                <a:spcPct val="90000"/>
              </a:lnSpc>
            </a:pPr>
            <a:r>
              <a:rPr lang="en-US" altLang="tr-TR" sz="2000" dirty="0"/>
              <a:t>Machine::insert(){</a:t>
            </a:r>
            <a:r>
              <a:rPr lang="en-US" altLang="tr-TR" sz="2000" dirty="0" err="1"/>
              <a:t>numCoins</a:t>
            </a:r>
            <a:r>
              <a:rPr lang="en-US" altLang="tr-TR" sz="2000" dirty="0"/>
              <a:t>++;}</a:t>
            </a:r>
          </a:p>
          <a:p>
            <a:pPr lvl="2">
              <a:lnSpc>
                <a:spcPct val="90000"/>
              </a:lnSpc>
            </a:pPr>
            <a:r>
              <a:rPr lang="en-US" altLang="tr-TR" sz="2000" dirty="0"/>
              <a:t>Machine::</a:t>
            </a:r>
            <a:r>
              <a:rPr lang="en-US" altLang="tr-TR" sz="2000" dirty="0" err="1"/>
              <a:t>pushButton</a:t>
            </a:r>
            <a:r>
              <a:rPr lang="en-US" altLang="tr-TR" sz="2000" dirty="0"/>
              <a:t>(){ if(</a:t>
            </a:r>
            <a:r>
              <a:rPr lang="en-US" altLang="tr-TR" sz="2000" dirty="0" err="1"/>
              <a:t>numCoins</a:t>
            </a:r>
            <a:r>
              <a:rPr lang="en-US" altLang="tr-TR" sz="2000" dirty="0"/>
              <a:t>&gt;</a:t>
            </a:r>
            <a:r>
              <a:rPr lang="en-US" altLang="tr-TR" sz="2000" dirty="0" err="1"/>
              <a:t>prevNum</a:t>
            </a:r>
            <a:r>
              <a:rPr lang="en-US" altLang="tr-TR" sz="2000" dirty="0"/>
              <a:t>) </a:t>
            </a:r>
            <a:r>
              <a:rPr lang="en-US" altLang="tr-TR" sz="2000" dirty="0" err="1"/>
              <a:t>numProd</a:t>
            </a:r>
            <a:r>
              <a:rPr lang="en-US" altLang="tr-TR" sz="2000" dirty="0"/>
              <a:t>--;}</a:t>
            </a:r>
            <a:endParaRPr lang="en-US" sz="2400" b="0" i="0" dirty="0">
              <a:solidFill>
                <a:srgbClr val="000000"/>
              </a:solidFill>
              <a:effectLst/>
              <a:highlight>
                <a:srgbClr val="FFFFFF"/>
              </a:highlight>
              <a:latin typeface="+mj-lt"/>
            </a:endParaRPr>
          </a:p>
          <a:p>
            <a:pPr lvl="1">
              <a:lnSpc>
                <a:spcPct val="90000"/>
              </a:lnSpc>
            </a:pPr>
            <a:r>
              <a:rPr lang="en-US" sz="2400" b="0" i="0" dirty="0">
                <a:solidFill>
                  <a:srgbClr val="000000"/>
                </a:solidFill>
                <a:effectLst/>
                <a:highlight>
                  <a:srgbClr val="FFFFFF"/>
                </a:highlight>
                <a:latin typeface="+mj-lt"/>
              </a:rPr>
              <a:t>Introducing separate objects for different states makes the transitions more explicit.</a:t>
            </a:r>
          </a:p>
        </p:txBody>
      </p:sp>
      <p:sp>
        <p:nvSpPr>
          <p:cNvPr id="2" name="TextBox 1">
            <a:extLst>
              <a:ext uri="{FF2B5EF4-FFF2-40B4-BE49-F238E27FC236}">
                <a16:creationId xmlns:a16="http://schemas.microsoft.com/office/drawing/2014/main" id="{EBD82A75-9C52-D3B7-A8AF-A87F3342D6E2}"/>
              </a:ext>
            </a:extLst>
          </p:cNvPr>
          <p:cNvSpPr txBox="1"/>
          <p:nvPr/>
        </p:nvSpPr>
        <p:spPr>
          <a:xfrm>
            <a:off x="422920" y="5867400"/>
            <a:ext cx="7438896" cy="646331"/>
          </a:xfrm>
          <a:prstGeom prst="rect">
            <a:avLst/>
          </a:prstGeom>
          <a:noFill/>
        </p:spPr>
        <p:txBody>
          <a:bodyPr wrap="none" rtlCol="0">
            <a:spAutoFit/>
          </a:bodyPr>
          <a:lstStyle/>
          <a:p>
            <a:r>
              <a:rPr lang="en-GB" altLang="tr-TR" dirty="0">
                <a:solidFill>
                  <a:srgbClr val="0070C0"/>
                </a:solidFill>
                <a:latin typeface="Arial" panose="020B0604020202020204" pitchFamily="34" charset="0"/>
              </a:rPr>
              <a:t>I could achieve same effect with an integer variable denoting the state. </a:t>
            </a:r>
          </a:p>
          <a:p>
            <a:r>
              <a:rPr lang="en-GB" altLang="tr-TR" dirty="0">
                <a:solidFill>
                  <a:srgbClr val="0070C0"/>
                </a:solidFill>
                <a:latin typeface="Arial" panose="020B0604020202020204" pitchFamily="34" charset="0"/>
              </a:rPr>
              <a:t>Why not use that?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47E1EC3-02F7-64F1-5F44-CDC32B554D44}"/>
              </a:ext>
            </a:extLst>
          </p:cNvPr>
          <p:cNvSpPr>
            <a:spLocks noGrp="1" noChangeArrowheads="1"/>
          </p:cNvSpPr>
          <p:nvPr>
            <p:ph type="title"/>
          </p:nvPr>
        </p:nvSpPr>
        <p:spPr/>
        <p:txBody>
          <a:bodyPr/>
          <a:lstStyle/>
          <a:p>
            <a:pPr eaLnBrk="1" hangingPunct="1"/>
            <a:r>
              <a:rPr lang="en-US" altLang="tr-TR" dirty="0"/>
              <a:t>State – Consequences-3</a:t>
            </a:r>
          </a:p>
        </p:txBody>
      </p:sp>
      <p:sp>
        <p:nvSpPr>
          <p:cNvPr id="31747" name="Rectangle 3">
            <a:extLst>
              <a:ext uri="{FF2B5EF4-FFF2-40B4-BE49-F238E27FC236}">
                <a16:creationId xmlns:a16="http://schemas.microsoft.com/office/drawing/2014/main" id="{B40E5F6F-6C04-563E-7742-9502D1D6C615}"/>
              </a:ext>
            </a:extLst>
          </p:cNvPr>
          <p:cNvSpPr>
            <a:spLocks noGrp="1" noChangeArrowheads="1"/>
          </p:cNvSpPr>
          <p:nvPr>
            <p:ph idx="1"/>
          </p:nvPr>
        </p:nvSpPr>
        <p:spPr/>
        <p:txBody>
          <a:bodyPr/>
          <a:lstStyle/>
          <a:p>
            <a:pPr>
              <a:lnSpc>
                <a:spcPct val="90000"/>
              </a:lnSpc>
            </a:pPr>
            <a:r>
              <a:rPr lang="en-US" altLang="tr-TR" sz="2800" dirty="0"/>
              <a:t>State transition logic </a:t>
            </a:r>
            <a:r>
              <a:rPr lang="en-US" sz="2800" dirty="0"/>
              <a:t>is partitioned between the State subclasses</a:t>
            </a:r>
            <a:r>
              <a:rPr lang="en-US" altLang="tr-TR" sz="2800" dirty="0"/>
              <a:t> rather than in a switch statement</a:t>
            </a:r>
          </a:p>
          <a:p>
            <a:pPr lvl="1">
              <a:lnSpc>
                <a:spcPct val="90000"/>
              </a:lnSpc>
            </a:pPr>
            <a:r>
              <a:rPr lang="en-US" altLang="tr-TR" sz="2400" dirty="0"/>
              <a:t>Supports open-close principle</a:t>
            </a:r>
          </a:p>
          <a:p>
            <a:pPr lvl="1">
              <a:lnSpc>
                <a:spcPct val="90000"/>
              </a:lnSpc>
            </a:pPr>
            <a:r>
              <a:rPr lang="en-US" sz="2400" dirty="0"/>
              <a:t>Removes look-alike conditionals or case statements scattered throughout Context's implementation. </a:t>
            </a:r>
          </a:p>
          <a:p>
            <a:pPr lvl="1">
              <a:lnSpc>
                <a:spcPct val="90000"/>
              </a:lnSpc>
            </a:pPr>
            <a:r>
              <a:rPr lang="en-US" sz="2400" dirty="0"/>
              <a:t>Otherwise, adding a new state could require changing several operations, which complicates maintenance.</a:t>
            </a:r>
          </a:p>
          <a:p>
            <a:pPr marL="457200" lvl="1" indent="0">
              <a:lnSpc>
                <a:spcPct val="90000"/>
              </a:lnSpc>
              <a:buNone/>
            </a:pPr>
            <a:endParaRPr lang="en-US" sz="2400" dirty="0"/>
          </a:p>
          <a:p>
            <a:pPr>
              <a:lnSpc>
                <a:spcPct val="90000"/>
              </a:lnSpc>
            </a:pPr>
            <a:r>
              <a:rPr lang="en-US" altLang="tr-TR" sz="2800" dirty="0"/>
              <a:t>Helps avoid inconsistent states since state changes occur using just the one state object and not several objects or attributes</a:t>
            </a:r>
          </a:p>
          <a:p>
            <a:pPr marL="457200" lvl="1" indent="0">
              <a:lnSpc>
                <a:spcPct val="90000"/>
              </a:lnSpc>
              <a:buNone/>
            </a:pPr>
            <a:endParaRPr lang="en-US" altLang="tr-TR" sz="2400" dirty="0"/>
          </a:p>
        </p:txBody>
      </p:sp>
    </p:spTree>
    <p:extLst>
      <p:ext uri="{BB962C8B-B14F-4D97-AF65-F5344CB8AC3E}">
        <p14:creationId xmlns:p14="http://schemas.microsoft.com/office/powerpoint/2010/main" val="40699530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E47E1EC3-02F7-64F1-5F44-CDC32B554D44}"/>
              </a:ext>
            </a:extLst>
          </p:cNvPr>
          <p:cNvSpPr>
            <a:spLocks noGrp="1" noChangeArrowheads="1"/>
          </p:cNvSpPr>
          <p:nvPr>
            <p:ph type="title"/>
          </p:nvPr>
        </p:nvSpPr>
        <p:spPr/>
        <p:txBody>
          <a:bodyPr/>
          <a:lstStyle/>
          <a:p>
            <a:pPr eaLnBrk="1" hangingPunct="1"/>
            <a:r>
              <a:rPr lang="en-US" altLang="tr-TR" dirty="0"/>
              <a:t>State – Consequences-4</a:t>
            </a:r>
          </a:p>
        </p:txBody>
      </p:sp>
      <p:sp>
        <p:nvSpPr>
          <p:cNvPr id="31747" name="Rectangle 3">
            <a:extLst>
              <a:ext uri="{FF2B5EF4-FFF2-40B4-BE49-F238E27FC236}">
                <a16:creationId xmlns:a16="http://schemas.microsoft.com/office/drawing/2014/main" id="{B40E5F6F-6C04-563E-7742-9502D1D6C615}"/>
              </a:ext>
            </a:extLst>
          </p:cNvPr>
          <p:cNvSpPr>
            <a:spLocks noGrp="1" noChangeArrowheads="1"/>
          </p:cNvSpPr>
          <p:nvPr>
            <p:ph idx="1"/>
          </p:nvPr>
        </p:nvSpPr>
        <p:spPr>
          <a:xfrm>
            <a:off x="296838" y="1268760"/>
            <a:ext cx="9099698" cy="4532109"/>
          </a:xfrm>
        </p:spPr>
        <p:txBody>
          <a:bodyPr/>
          <a:lstStyle/>
          <a:p>
            <a:pPr eaLnBrk="1" hangingPunct="1"/>
            <a:r>
              <a:rPr lang="en-US" altLang="tr-TR" sz="2800" dirty="0"/>
              <a:t>Easy to forbit unallowed actions in a state</a:t>
            </a:r>
          </a:p>
          <a:p>
            <a:pPr lvl="1"/>
            <a:r>
              <a:rPr lang="en-US" altLang="tr-TR" sz="2400" dirty="0"/>
              <a:t>E.g. eject quarter in a </a:t>
            </a:r>
            <a:r>
              <a:rPr lang="en-US" altLang="tr-TR" sz="2400" dirty="0" err="1"/>
              <a:t>noquater</a:t>
            </a:r>
            <a:r>
              <a:rPr lang="en-US" altLang="tr-TR" sz="2400" dirty="0"/>
              <a:t> state</a:t>
            </a:r>
          </a:p>
          <a:p>
            <a:pPr eaLnBrk="1" hangingPunct="1"/>
            <a:r>
              <a:rPr lang="en-US" altLang="tr-TR" sz="2800" dirty="0"/>
              <a:t>States objects can be shared</a:t>
            </a:r>
          </a:p>
          <a:p>
            <a:pPr lvl="1"/>
            <a:r>
              <a:rPr lang="en-US" altLang="tr-TR" sz="2400" dirty="0"/>
              <a:t>Especially when they have no instance variables</a:t>
            </a:r>
          </a:p>
          <a:p>
            <a:r>
              <a:rPr lang="en-US" altLang="tr-TR" sz="2800" dirty="0"/>
              <a:t>Can be overkill if a state machine has only a few states or rarely changes.</a:t>
            </a:r>
          </a:p>
          <a:p>
            <a:r>
              <a:rPr lang="en-US" altLang="tr-TR" sz="2800" dirty="0"/>
              <a:t>More objects, rather than a single class</a:t>
            </a:r>
          </a:p>
          <a:p>
            <a:pPr lvl="1"/>
            <a:r>
              <a:rPr lang="en-US" sz="2400" dirty="0"/>
              <a:t>Since the pattern distributes behavior for different states across several State subclasses. </a:t>
            </a:r>
          </a:p>
          <a:p>
            <a:pPr lvl="1"/>
            <a:r>
              <a:rPr lang="en-US" sz="2400" dirty="0"/>
              <a:t>Such distribution is actually good i</a:t>
            </a:r>
            <a:r>
              <a:rPr lang="en-US" sz="2400" u="sng" dirty="0"/>
              <a:t>f there are many states</a:t>
            </a:r>
            <a:r>
              <a:rPr lang="en-US" sz="2400" dirty="0"/>
              <a:t>, which would otherwise require large conditional statements.</a:t>
            </a:r>
          </a:p>
        </p:txBody>
      </p:sp>
    </p:spTree>
    <p:extLst>
      <p:ext uri="{BB962C8B-B14F-4D97-AF65-F5344CB8AC3E}">
        <p14:creationId xmlns:p14="http://schemas.microsoft.com/office/powerpoint/2010/main" val="4455138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C80BD-2D04-15CA-1C3B-AB18227E5FCD}"/>
              </a:ext>
            </a:extLst>
          </p:cNvPr>
          <p:cNvSpPr>
            <a:spLocks noGrp="1"/>
          </p:cNvSpPr>
          <p:nvPr>
            <p:ph type="title"/>
          </p:nvPr>
        </p:nvSpPr>
        <p:spPr/>
        <p:txBody>
          <a:bodyPr/>
          <a:lstStyle/>
          <a:p>
            <a:r>
              <a:rPr lang="en-US" dirty="0"/>
              <a:t>Thread safety</a:t>
            </a:r>
          </a:p>
        </p:txBody>
      </p:sp>
      <p:sp>
        <p:nvSpPr>
          <p:cNvPr id="3" name="Content Placeholder 2">
            <a:extLst>
              <a:ext uri="{FF2B5EF4-FFF2-40B4-BE49-F238E27FC236}">
                <a16:creationId xmlns:a16="http://schemas.microsoft.com/office/drawing/2014/main" id="{6C6EF852-B15D-8C5B-EA2D-3DB294142607}"/>
              </a:ext>
            </a:extLst>
          </p:cNvPr>
          <p:cNvSpPr>
            <a:spLocks noGrp="1"/>
          </p:cNvSpPr>
          <p:nvPr>
            <p:ph idx="1"/>
          </p:nvPr>
        </p:nvSpPr>
        <p:spPr/>
        <p:txBody>
          <a:bodyPr/>
          <a:lstStyle/>
          <a:p>
            <a:r>
              <a:rPr lang="en-US" sz="2800" dirty="0"/>
              <a:t>State change need to be protected in multithreaded programs</a:t>
            </a:r>
          </a:p>
          <a:p>
            <a:r>
              <a:rPr lang="en-US" sz="2800" dirty="0"/>
              <a:t>Consider locking Context methods before delegating to state object</a:t>
            </a:r>
          </a:p>
          <a:p>
            <a:pPr lvl="1"/>
            <a:r>
              <a:rPr lang="en-US" sz="2400" dirty="0"/>
              <a:t>Might be inefficient</a:t>
            </a:r>
          </a:p>
          <a:p>
            <a:r>
              <a:rPr lang="en-US" sz="2800" dirty="0"/>
              <a:t>Make states immutable as well</a:t>
            </a:r>
          </a:p>
          <a:p>
            <a:r>
              <a:rPr lang="en-US" sz="2800" dirty="0"/>
              <a:t>Beware: when locking before state delegation, we might end up with deadlock if there is locking inside the state method too </a:t>
            </a:r>
          </a:p>
          <a:p>
            <a:endParaRPr lang="en-US" sz="2800" dirty="0"/>
          </a:p>
        </p:txBody>
      </p:sp>
    </p:spTree>
    <p:extLst>
      <p:ext uri="{BB962C8B-B14F-4D97-AF65-F5344CB8AC3E}">
        <p14:creationId xmlns:p14="http://schemas.microsoft.com/office/powerpoint/2010/main" val="4191630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7DCD6-453F-54EA-1F1A-7A611059042E}"/>
              </a:ext>
            </a:extLst>
          </p:cNvPr>
          <p:cNvSpPr>
            <a:spLocks noGrp="1"/>
          </p:cNvSpPr>
          <p:nvPr>
            <p:ph type="title"/>
          </p:nvPr>
        </p:nvSpPr>
        <p:spPr/>
        <p:txBody>
          <a:bodyPr/>
          <a:lstStyle/>
          <a:p>
            <a:r>
              <a:rPr lang="en-US" dirty="0"/>
              <a:t>State-Known use</a:t>
            </a:r>
          </a:p>
        </p:txBody>
      </p:sp>
      <p:sp>
        <p:nvSpPr>
          <p:cNvPr id="3" name="Content Placeholder 2">
            <a:extLst>
              <a:ext uri="{FF2B5EF4-FFF2-40B4-BE49-F238E27FC236}">
                <a16:creationId xmlns:a16="http://schemas.microsoft.com/office/drawing/2014/main" id="{F25AB261-4BAE-3E5E-B088-2A4DE8AAC041}"/>
              </a:ext>
            </a:extLst>
          </p:cNvPr>
          <p:cNvSpPr>
            <a:spLocks noGrp="1"/>
          </p:cNvSpPr>
          <p:nvPr>
            <p:ph idx="1"/>
          </p:nvPr>
        </p:nvSpPr>
        <p:spPr/>
        <p:txBody>
          <a:bodyPr/>
          <a:lstStyle/>
          <a:p>
            <a:r>
              <a:rPr lang="en-US" dirty="0" err="1"/>
              <a:t>javax.faces.lifecycle.LifeCycle</a:t>
            </a:r>
            <a:r>
              <a:rPr lang="en-US" dirty="0"/>
              <a:t>,</a:t>
            </a:r>
          </a:p>
          <a:p>
            <a:pPr lvl="1"/>
            <a:r>
              <a:rPr lang="en-US" dirty="0"/>
              <a:t>controlled by </a:t>
            </a:r>
            <a:r>
              <a:rPr lang="en-US" dirty="0" err="1"/>
              <a:t>FacesServlet</a:t>
            </a:r>
            <a:r>
              <a:rPr lang="en-US" dirty="0"/>
              <a:t>, </a:t>
            </a:r>
          </a:p>
          <a:p>
            <a:pPr lvl="1"/>
            <a:r>
              <a:rPr lang="en-US" dirty="0"/>
              <a:t>the behavior of execute method is dependent on current phase (state) of JSF lifecycle</a:t>
            </a:r>
          </a:p>
          <a:p>
            <a:pPr lvl="1"/>
            <a:endParaRPr lang="en-US" dirty="0"/>
          </a:p>
          <a:p>
            <a:pPr lvl="1"/>
            <a:endParaRPr lang="en-US" dirty="0"/>
          </a:p>
          <a:p>
            <a:pPr lvl="1"/>
            <a:endParaRPr lang="en-US" dirty="0"/>
          </a:p>
          <a:p>
            <a:pPr marL="0" indent="0">
              <a:buNone/>
            </a:pPr>
            <a:r>
              <a:rPr lang="en-US" sz="2400" dirty="0">
                <a:solidFill>
                  <a:srgbClr val="0070C0"/>
                </a:solidFill>
              </a:rPr>
              <a:t>READ https://gameprogrammingpatterns.com/state.html</a:t>
            </a:r>
          </a:p>
        </p:txBody>
      </p:sp>
    </p:spTree>
    <p:extLst>
      <p:ext uri="{BB962C8B-B14F-4D97-AF65-F5344CB8AC3E}">
        <p14:creationId xmlns:p14="http://schemas.microsoft.com/office/powerpoint/2010/main" val="31261892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608C8-7202-B158-F0FB-657AF82741D3}"/>
              </a:ext>
            </a:extLst>
          </p:cNvPr>
          <p:cNvSpPr>
            <a:spLocks noGrp="1"/>
          </p:cNvSpPr>
          <p:nvPr>
            <p:ph type="title"/>
          </p:nvPr>
        </p:nvSpPr>
        <p:spPr/>
        <p:txBody>
          <a:bodyPr/>
          <a:lstStyle/>
          <a:p>
            <a:r>
              <a:rPr lang="en-US" dirty="0"/>
              <a:t>State vs. Strategy</a:t>
            </a:r>
          </a:p>
        </p:txBody>
      </p:sp>
      <p:sp>
        <p:nvSpPr>
          <p:cNvPr id="3" name="Content Placeholder 2">
            <a:extLst>
              <a:ext uri="{FF2B5EF4-FFF2-40B4-BE49-F238E27FC236}">
                <a16:creationId xmlns:a16="http://schemas.microsoft.com/office/drawing/2014/main" id="{A1216CA4-8F11-B29B-EF96-EFE46BB1317C}"/>
              </a:ext>
            </a:extLst>
          </p:cNvPr>
          <p:cNvSpPr>
            <a:spLocks noGrp="1"/>
          </p:cNvSpPr>
          <p:nvPr>
            <p:ph idx="1"/>
          </p:nvPr>
        </p:nvSpPr>
        <p:spPr>
          <a:xfrm>
            <a:off x="539552" y="1510752"/>
            <a:ext cx="8229600" cy="4532109"/>
          </a:xfrm>
        </p:spPr>
        <p:txBody>
          <a:bodyPr/>
          <a:lstStyle/>
          <a:p>
            <a:pPr marL="0" indent="0">
              <a:buNone/>
            </a:pPr>
            <a:r>
              <a:rPr lang="en-US" sz="2000" i="1" dirty="0"/>
              <a:t>Strategy</a:t>
            </a:r>
          </a:p>
          <a:p>
            <a:r>
              <a:rPr lang="en-US" sz="2000" i="1" dirty="0"/>
              <a:t>Who Drives Change?</a:t>
            </a:r>
            <a:r>
              <a:rPr lang="en-US" sz="2000" dirty="0"/>
              <a:t>  </a:t>
            </a:r>
            <a:r>
              <a:rPr lang="en-US" sz="2000" b="1" dirty="0"/>
              <a:t>Client</a:t>
            </a:r>
            <a:r>
              <a:rPr lang="en-US" sz="2000" dirty="0"/>
              <a:t> (externally).</a:t>
            </a:r>
          </a:p>
          <a:p>
            <a:pPr lvl="1"/>
            <a:r>
              <a:rPr lang="en-US" sz="2000" dirty="0" err="1"/>
              <a:t>context.setStrategy</a:t>
            </a:r>
            <a:r>
              <a:rPr lang="en-US" sz="2000" dirty="0"/>
              <a:t>(new </a:t>
            </a:r>
            <a:r>
              <a:rPr lang="en-US" sz="2000" dirty="0" err="1"/>
              <a:t>FastSort</a:t>
            </a:r>
            <a:r>
              <a:rPr lang="en-US" sz="2000" dirty="0"/>
              <a:t>())</a:t>
            </a:r>
          </a:p>
          <a:p>
            <a:r>
              <a:rPr lang="en-US" sz="2000" b="1" dirty="0"/>
              <a:t>Intent: </a:t>
            </a:r>
            <a:r>
              <a:rPr lang="en-US" sz="2000" dirty="0"/>
              <a:t>Answers </a:t>
            </a:r>
            <a:r>
              <a:rPr lang="en-US" sz="2000" b="1" dirty="0"/>
              <a:t>"How"</a:t>
            </a:r>
            <a:r>
              <a:rPr lang="en-US" sz="2000" dirty="0"/>
              <a:t> to do an action. </a:t>
            </a:r>
          </a:p>
          <a:p>
            <a:pPr lvl="1"/>
            <a:r>
              <a:rPr lang="en-US" sz="2000" dirty="0"/>
              <a:t>How to sort? How to encrypt?</a:t>
            </a:r>
          </a:p>
          <a:p>
            <a:r>
              <a:rPr lang="en-US" sz="2000" dirty="0"/>
              <a:t>The Context is </a:t>
            </a:r>
            <a:r>
              <a:rPr lang="en-US" sz="2000" b="1" dirty="0"/>
              <a:t>given</a:t>
            </a:r>
            <a:r>
              <a:rPr lang="en-US" sz="2000" dirty="0"/>
              <a:t> a behavior</a:t>
            </a:r>
          </a:p>
          <a:p>
            <a:pPr marL="0" indent="0">
              <a:buNone/>
            </a:pPr>
            <a:r>
              <a:rPr lang="en-US" sz="2000" dirty="0"/>
              <a:t>State</a:t>
            </a:r>
          </a:p>
          <a:p>
            <a:r>
              <a:rPr lang="en-US" sz="2000" i="1" dirty="0"/>
              <a:t>Who Drives Change?</a:t>
            </a:r>
            <a:r>
              <a:rPr lang="en-US" sz="2000" dirty="0"/>
              <a:t> </a:t>
            </a:r>
            <a:r>
              <a:rPr lang="en-US" sz="2000" b="1" dirty="0"/>
              <a:t>Context or State</a:t>
            </a:r>
            <a:r>
              <a:rPr lang="en-US" sz="2000" dirty="0"/>
              <a:t> (internally). </a:t>
            </a:r>
            <a:r>
              <a:rPr lang="en-US" sz="2000" dirty="0" err="1"/>
              <a:t>account.setState</a:t>
            </a:r>
            <a:r>
              <a:rPr lang="en-US" sz="2000" dirty="0"/>
              <a:t>(OVERDRAWN_STATE)</a:t>
            </a:r>
          </a:p>
          <a:p>
            <a:r>
              <a:rPr lang="en-US" sz="2000" b="1" dirty="0"/>
              <a:t>Intent: </a:t>
            </a:r>
            <a:r>
              <a:rPr lang="en-US" sz="2000" dirty="0"/>
              <a:t> Answers </a:t>
            </a:r>
            <a:r>
              <a:rPr lang="en-US" sz="2000" b="1" dirty="0"/>
              <a:t>"What"</a:t>
            </a:r>
            <a:r>
              <a:rPr lang="en-US" sz="2000" dirty="0"/>
              <a:t> to do (or "When") based on the situation.</a:t>
            </a:r>
          </a:p>
          <a:p>
            <a:pPr lvl="1"/>
            <a:r>
              <a:rPr lang="en-US" sz="2000" dirty="0"/>
              <a:t>What do I do when `withdraw` is called </a:t>
            </a:r>
            <a:r>
              <a:rPr lang="en-US" sz="2000" b="1" dirty="0"/>
              <a:t>in this state</a:t>
            </a:r>
            <a:r>
              <a:rPr lang="en-US" sz="2000" dirty="0"/>
              <a:t>?</a:t>
            </a:r>
          </a:p>
          <a:p>
            <a:r>
              <a:rPr lang="en-US" sz="2000" dirty="0"/>
              <a:t>The Context </a:t>
            </a:r>
            <a:r>
              <a:rPr lang="en-US" sz="2000" b="1" dirty="0"/>
              <a:t>is</a:t>
            </a:r>
            <a:r>
              <a:rPr lang="en-US" sz="2000" dirty="0"/>
              <a:t> a behavior.</a:t>
            </a:r>
          </a:p>
          <a:p>
            <a:endParaRPr lang="en-US" sz="2000" dirty="0"/>
          </a:p>
        </p:txBody>
      </p:sp>
    </p:spTree>
    <p:extLst>
      <p:ext uri="{BB962C8B-B14F-4D97-AF65-F5344CB8AC3E}">
        <p14:creationId xmlns:p14="http://schemas.microsoft.com/office/powerpoint/2010/main" val="37777332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000B5643-C8B9-0B35-FD78-42B8E0A06AF8}"/>
              </a:ext>
            </a:extLst>
          </p:cNvPr>
          <p:cNvSpPr>
            <a:spLocks noGrp="1" noChangeArrowheads="1"/>
          </p:cNvSpPr>
          <p:nvPr>
            <p:ph type="title"/>
          </p:nvPr>
        </p:nvSpPr>
        <p:spPr/>
        <p:txBody>
          <a:bodyPr/>
          <a:lstStyle/>
          <a:p>
            <a:pPr eaLnBrk="1" hangingPunct="1"/>
            <a:r>
              <a:rPr lang="en-US" altLang="tr-TR"/>
              <a:t>State vs Strategy</a:t>
            </a:r>
          </a:p>
        </p:txBody>
      </p:sp>
      <p:sp>
        <p:nvSpPr>
          <p:cNvPr id="25603" name="Content Placeholder 2">
            <a:extLst>
              <a:ext uri="{FF2B5EF4-FFF2-40B4-BE49-F238E27FC236}">
                <a16:creationId xmlns:a16="http://schemas.microsoft.com/office/drawing/2014/main" id="{8C99DCF5-5F40-688F-01A2-B074CFC77BFE}"/>
              </a:ext>
            </a:extLst>
          </p:cNvPr>
          <p:cNvSpPr>
            <a:spLocks noGrp="1" noChangeArrowheads="1"/>
          </p:cNvSpPr>
          <p:nvPr>
            <p:ph idx="1"/>
          </p:nvPr>
        </p:nvSpPr>
        <p:spPr/>
        <p:txBody>
          <a:bodyPr/>
          <a:lstStyle/>
          <a:p>
            <a:pPr eaLnBrk="1" hangingPunct="1"/>
            <a:r>
              <a:rPr lang="en-US" altLang="tr-TR"/>
              <a:t>Same structure but different intents</a:t>
            </a:r>
          </a:p>
          <a:p>
            <a:pPr lvl="1" eaLnBrk="1" hangingPunct="1"/>
            <a:r>
              <a:rPr lang="en-US" altLang="tr-TR"/>
              <a:t>What are the intents?</a:t>
            </a:r>
          </a:p>
          <a:p>
            <a:pPr lvl="1" eaLnBrk="1" hangingPunct="1"/>
            <a:r>
              <a:rPr lang="en-US" altLang="tr-TR"/>
              <a:t>State object encapsulates a state-dependent behavior (and possibly the transition)</a:t>
            </a:r>
          </a:p>
          <a:p>
            <a:pPr lvl="1" eaLnBrk="1" hangingPunct="1"/>
            <a:r>
              <a:rPr lang="en-US" altLang="tr-TR"/>
              <a:t>Strategy object encapsulates algorithm</a:t>
            </a:r>
          </a:p>
          <a:p>
            <a:pPr lvl="1" eaLnBrk="1" hangingPunct="1"/>
            <a:endParaRPr lang="en-US" altLang="tr-TR"/>
          </a:p>
          <a:p>
            <a:pPr eaLnBrk="1" hangingPunct="1"/>
            <a:r>
              <a:rPr lang="en-US" altLang="tr-TR"/>
              <a:t>State object in a context </a:t>
            </a:r>
            <a:r>
              <a:rPr lang="en-US" altLang="tr-TR" b="1"/>
              <a:t>will</a:t>
            </a:r>
            <a:r>
              <a:rPr lang="en-US" altLang="tr-TR"/>
              <a:t> be changed, Strategy </a:t>
            </a:r>
            <a:r>
              <a:rPr lang="en-US" altLang="tr-TR" b="1"/>
              <a:t>may</a:t>
            </a:r>
            <a:r>
              <a:rPr lang="en-US" altLang="tr-TR"/>
              <a:t> change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1">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393727C7-4C0B-4C8A-960B-21573C88EF42}" vid="{72BF777F-C220-4904-8C2B-017C5ED9CE62}"/>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5526</TotalTime>
  <Words>4897</Words>
  <Application>Microsoft Office PowerPoint</Application>
  <PresentationFormat>On-screen Show (4:3)</PresentationFormat>
  <Paragraphs>686</Paragraphs>
  <Slides>67</Slides>
  <Notes>28</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67</vt:i4>
      </vt:variant>
    </vt:vector>
  </HeadingPairs>
  <TitlesOfParts>
    <vt:vector size="79" baseType="lpstr">
      <vt:lpstr>Arial</vt:lpstr>
      <vt:lpstr>Arial Black</vt:lpstr>
      <vt:lpstr>Comic Sans MS</vt:lpstr>
      <vt:lpstr>Consolas</vt:lpstr>
      <vt:lpstr>Courier New</vt:lpstr>
      <vt:lpstr>PT Sans</vt:lpstr>
      <vt:lpstr>Source Code Pro</vt:lpstr>
      <vt:lpstr>Source Sans Pro</vt:lpstr>
      <vt:lpstr>Tahoma</vt:lpstr>
      <vt:lpstr>Times New Roman</vt:lpstr>
      <vt:lpstr>Wingdings</vt:lpstr>
      <vt:lpstr>Theme1</vt:lpstr>
      <vt:lpstr>Behavioral Patterns</vt:lpstr>
      <vt:lpstr>Motivating Example</vt:lpstr>
      <vt:lpstr>How to implement setPassword?</vt:lpstr>
      <vt:lpstr>How to implement setPassword?</vt:lpstr>
      <vt:lpstr>Strategy</vt:lpstr>
      <vt:lpstr>Strategy -Structure</vt:lpstr>
      <vt:lpstr>setPassword  with Strategy</vt:lpstr>
      <vt:lpstr>Strategy - Collaborations</vt:lpstr>
      <vt:lpstr>Recall the Car example 2nd week</vt:lpstr>
      <vt:lpstr>Alternative1</vt:lpstr>
      <vt:lpstr>Alternative 2:</vt:lpstr>
      <vt:lpstr>Strategy Solution</vt:lpstr>
      <vt:lpstr>Example 3: Strategy </vt:lpstr>
      <vt:lpstr>Example 4</vt:lpstr>
      <vt:lpstr>Applicability -Strategy</vt:lpstr>
      <vt:lpstr>Example 5 – javax.swing</vt:lpstr>
      <vt:lpstr>Strategy – other examples</vt:lpstr>
      <vt:lpstr>Strategy – another example</vt:lpstr>
      <vt:lpstr>Example 6 </vt:lpstr>
      <vt:lpstr>Example</vt:lpstr>
      <vt:lpstr>PowerPoint Presentation</vt:lpstr>
      <vt:lpstr>Strategy – Consequences-1</vt:lpstr>
      <vt:lpstr>Strategy – Consequences-2</vt:lpstr>
      <vt:lpstr>PowerPoint Presentation</vt:lpstr>
      <vt:lpstr>Strategy: Key notes</vt:lpstr>
      <vt:lpstr>Implementation issues-1</vt:lpstr>
      <vt:lpstr>Lambda</vt:lpstr>
      <vt:lpstr>Using C++ templates </vt:lpstr>
      <vt:lpstr>Implementation issues -2</vt:lpstr>
      <vt:lpstr>Implementation issues-3</vt:lpstr>
      <vt:lpstr>Stateless strategies</vt:lpstr>
      <vt:lpstr>Question: why not delete?</vt:lpstr>
      <vt:lpstr>Strategy -Related patterns -1 </vt:lpstr>
      <vt:lpstr>Strategy -Related patterns -2 </vt:lpstr>
      <vt:lpstr>Strategy –Known Use</vt:lpstr>
      <vt:lpstr>PowerPoint Presentation</vt:lpstr>
      <vt:lpstr>Objects with modes </vt:lpstr>
      <vt:lpstr>PowerPoint Presentation</vt:lpstr>
      <vt:lpstr>PowerPoint Presentation</vt:lpstr>
      <vt:lpstr>Change the behavior…</vt:lpstr>
      <vt:lpstr>State Pattern</vt:lpstr>
      <vt:lpstr>State -Structure</vt:lpstr>
      <vt:lpstr>State Pattern</vt:lpstr>
      <vt:lpstr>State-Collaborations</vt:lpstr>
      <vt:lpstr>PowerPoint Presentation</vt:lpstr>
      <vt:lpstr>PowerPoint Presentation</vt:lpstr>
      <vt:lpstr>Who determines the next state?</vt:lpstr>
      <vt:lpstr>Effect of change</vt:lpstr>
      <vt:lpstr>State pattern</vt:lpstr>
      <vt:lpstr>Example 2: Simple POP </vt:lpstr>
      <vt:lpstr>Simple POP implementation </vt:lpstr>
      <vt:lpstr>Simple POP implementation</vt:lpstr>
      <vt:lpstr>Simple POP implementation</vt:lpstr>
      <vt:lpstr>and the context is…</vt:lpstr>
      <vt:lpstr>State vs. Strategy</vt:lpstr>
      <vt:lpstr>GoF example – C++ illustration</vt:lpstr>
      <vt:lpstr>PowerPoint Presentation</vt:lpstr>
      <vt:lpstr>PowerPoint Presentation</vt:lpstr>
      <vt:lpstr>A State Subclass implements its state specific behavior only</vt:lpstr>
      <vt:lpstr>State-Consequences -1</vt:lpstr>
      <vt:lpstr>State – Consequences-2</vt:lpstr>
      <vt:lpstr>State – Consequences-3</vt:lpstr>
      <vt:lpstr>State – Consequences-4</vt:lpstr>
      <vt:lpstr>Thread safety</vt:lpstr>
      <vt:lpstr>State-Known use</vt:lpstr>
      <vt:lpstr>State vs. Strategy</vt:lpstr>
      <vt:lpstr>State vs Strategy</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Patterns</dc:title>
  <dc:creator>Aysu Betin-Can</dc:creator>
  <cp:lastModifiedBy>Aysu Betin Can</cp:lastModifiedBy>
  <cp:revision>445</cp:revision>
  <cp:lastPrinted>2025-10-22T20:38:26Z</cp:lastPrinted>
  <dcterms:created xsi:type="dcterms:W3CDTF">2006-02-28T14:58:56Z</dcterms:created>
  <dcterms:modified xsi:type="dcterms:W3CDTF">2025-10-22T20:50:07Z</dcterms:modified>
</cp:coreProperties>
</file>