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5"/>
  </p:notesMasterIdLst>
  <p:handoutMasterIdLst>
    <p:handoutMasterId r:id="rId86"/>
  </p:handoutMasterIdLst>
  <p:sldIdLst>
    <p:sldId id="256" r:id="rId2"/>
    <p:sldId id="356" r:id="rId3"/>
    <p:sldId id="357" r:id="rId4"/>
    <p:sldId id="442" r:id="rId5"/>
    <p:sldId id="443" r:id="rId6"/>
    <p:sldId id="444" r:id="rId7"/>
    <p:sldId id="367" r:id="rId8"/>
    <p:sldId id="401" r:id="rId9"/>
    <p:sldId id="370" r:id="rId10"/>
    <p:sldId id="373" r:id="rId11"/>
    <p:sldId id="441" r:id="rId12"/>
    <p:sldId id="376" r:id="rId13"/>
    <p:sldId id="445" r:id="rId14"/>
    <p:sldId id="477" r:id="rId15"/>
    <p:sldId id="402" r:id="rId16"/>
    <p:sldId id="260" r:id="rId17"/>
    <p:sldId id="377" r:id="rId18"/>
    <p:sldId id="261" r:id="rId19"/>
    <p:sldId id="468" r:id="rId20"/>
    <p:sldId id="469" r:id="rId21"/>
    <p:sldId id="471" r:id="rId22"/>
    <p:sldId id="472" r:id="rId23"/>
    <p:sldId id="406" r:id="rId24"/>
    <p:sldId id="439" r:id="rId25"/>
    <p:sldId id="474" r:id="rId26"/>
    <p:sldId id="475" r:id="rId27"/>
    <p:sldId id="426" r:id="rId28"/>
    <p:sldId id="460" r:id="rId29"/>
    <p:sldId id="464" r:id="rId30"/>
    <p:sldId id="463" r:id="rId31"/>
    <p:sldId id="405" r:id="rId32"/>
    <p:sldId id="461" r:id="rId33"/>
    <p:sldId id="264" r:id="rId34"/>
    <p:sldId id="478" r:id="rId35"/>
    <p:sldId id="440" r:id="rId36"/>
    <p:sldId id="374" r:id="rId37"/>
    <p:sldId id="473" r:id="rId38"/>
    <p:sldId id="424" r:id="rId39"/>
    <p:sldId id="425" r:id="rId40"/>
    <p:sldId id="479" r:id="rId41"/>
    <p:sldId id="481" r:id="rId42"/>
    <p:sldId id="480" r:id="rId43"/>
    <p:sldId id="485" r:id="rId44"/>
    <p:sldId id="484" r:id="rId45"/>
    <p:sldId id="486" r:id="rId46"/>
    <p:sldId id="488" r:id="rId47"/>
    <p:sldId id="494" r:id="rId48"/>
    <p:sldId id="410" r:id="rId49"/>
    <p:sldId id="489" r:id="rId50"/>
    <p:sldId id="497" r:id="rId51"/>
    <p:sldId id="498" r:id="rId52"/>
    <p:sldId id="516" r:id="rId53"/>
    <p:sldId id="518" r:id="rId54"/>
    <p:sldId id="492" r:id="rId55"/>
    <p:sldId id="519" r:id="rId56"/>
    <p:sldId id="411" r:id="rId57"/>
    <p:sldId id="499" r:id="rId58"/>
    <p:sldId id="412" r:id="rId59"/>
    <p:sldId id="427" r:id="rId60"/>
    <p:sldId id="413" r:id="rId61"/>
    <p:sldId id="501" r:id="rId62"/>
    <p:sldId id="390" r:id="rId63"/>
    <p:sldId id="502" r:id="rId64"/>
    <p:sldId id="503" r:id="rId65"/>
    <p:sldId id="504" r:id="rId66"/>
    <p:sldId id="482" r:id="rId67"/>
    <p:sldId id="483" r:id="rId68"/>
    <p:sldId id="408" r:id="rId69"/>
    <p:sldId id="505" r:id="rId70"/>
    <p:sldId id="476" r:id="rId71"/>
    <p:sldId id="506" r:id="rId72"/>
    <p:sldId id="507" r:id="rId73"/>
    <p:sldId id="508" r:id="rId74"/>
    <p:sldId id="509" r:id="rId75"/>
    <p:sldId id="510" r:id="rId76"/>
    <p:sldId id="511" r:id="rId77"/>
    <p:sldId id="409" r:id="rId78"/>
    <p:sldId id="512" r:id="rId79"/>
    <p:sldId id="513" r:id="rId80"/>
    <p:sldId id="514" r:id="rId81"/>
    <p:sldId id="446" r:id="rId82"/>
    <p:sldId id="381" r:id="rId83"/>
    <p:sldId id="515" r:id="rId8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571" autoAdjust="0"/>
  </p:normalViewPr>
  <p:slideViewPr>
    <p:cSldViewPr snapToGrid="0">
      <p:cViewPr>
        <p:scale>
          <a:sx n="100" d="100"/>
          <a:sy n="100" d="100"/>
        </p:scale>
        <p:origin x="1950"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80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5FA77D18-0892-5B61-264F-9C4ECD6D1A0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1075" name="Rectangle 3">
            <a:extLst>
              <a:ext uri="{FF2B5EF4-FFF2-40B4-BE49-F238E27FC236}">
                <a16:creationId xmlns:a16="http://schemas.microsoft.com/office/drawing/2014/main" id="{3C1BD1E2-291E-5682-8860-FC53ECB5D66B}"/>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31076" name="Rectangle 4">
            <a:extLst>
              <a:ext uri="{FF2B5EF4-FFF2-40B4-BE49-F238E27FC236}">
                <a16:creationId xmlns:a16="http://schemas.microsoft.com/office/drawing/2014/main" id="{624DCE09-CB4D-D6F3-5863-87FA5D954814}"/>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1077" name="Rectangle 5">
            <a:extLst>
              <a:ext uri="{FF2B5EF4-FFF2-40B4-BE49-F238E27FC236}">
                <a16:creationId xmlns:a16="http://schemas.microsoft.com/office/drawing/2014/main" id="{35B66E8F-0909-979A-F274-2423910A8434}"/>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2F35FB0-96E0-49E1-9C4A-36254F85B625}" type="slidenum">
              <a:rPr lang="en-US" altLang="tr-TR"/>
              <a:pPr>
                <a:defRPr/>
              </a:pPr>
              <a:t>‹#›</a:t>
            </a:fld>
            <a:endParaRPr lang="en-US" altLang="tr-T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C7FF654-0889-4776-56E7-97F093989EE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32771" name="Rectangle 3">
            <a:extLst>
              <a:ext uri="{FF2B5EF4-FFF2-40B4-BE49-F238E27FC236}">
                <a16:creationId xmlns:a16="http://schemas.microsoft.com/office/drawing/2014/main" id="{8523760C-F26F-13B3-D88D-BC18872866C7}"/>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8196" name="Rectangle 4">
            <a:extLst>
              <a:ext uri="{FF2B5EF4-FFF2-40B4-BE49-F238E27FC236}">
                <a16:creationId xmlns:a16="http://schemas.microsoft.com/office/drawing/2014/main" id="{9BFE0315-FEBA-5AD5-F994-4A88D2AA79D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EE63AA5E-5442-2817-4C09-C176ED67972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a:extLst>
              <a:ext uri="{FF2B5EF4-FFF2-40B4-BE49-F238E27FC236}">
                <a16:creationId xmlns:a16="http://schemas.microsoft.com/office/drawing/2014/main" id="{D16EFD3B-0A77-7F69-6EE6-B46B4B81C77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32775" name="Rectangle 7">
            <a:extLst>
              <a:ext uri="{FF2B5EF4-FFF2-40B4-BE49-F238E27FC236}">
                <a16:creationId xmlns:a16="http://schemas.microsoft.com/office/drawing/2014/main" id="{A3A29D97-4D6C-CCFB-26EE-23A5A606C9D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B08CFCE-7C42-4B8E-AB1B-57AEC6E09966}" type="slidenum">
              <a:rPr lang="en-US" altLang="tr-TR"/>
              <a:pPr>
                <a:defRPr/>
              </a:pPr>
              <a:t>‹#›</a:t>
            </a:fld>
            <a:endParaRPr lang="en-US" altLang="tr-T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refactoring.guru/design-patterns/mediator" TargetMode="External"/><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 and filter is conceptually very similar to Decorator, as every object in the chain adds its behavior</a:t>
            </a:r>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26</a:t>
            </a:fld>
            <a:endParaRPr lang="en-US" altLang="tr-TR"/>
          </a:p>
        </p:txBody>
      </p:sp>
    </p:spTree>
    <p:extLst>
      <p:ext uri="{BB962C8B-B14F-4D97-AF65-F5344CB8AC3E}">
        <p14:creationId xmlns:p14="http://schemas.microsoft.com/office/powerpoint/2010/main" val="3363352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736BA96-724C-20CF-7628-2A860994C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37E42E9-B254-4F47-827C-96CD6A5BEF04}" type="slidenum">
              <a:rPr lang="en-US" altLang="tr-TR"/>
              <a:pPr>
                <a:spcBef>
                  <a:spcPct val="0"/>
                </a:spcBef>
              </a:pPr>
              <a:t>28</a:t>
            </a:fld>
            <a:endParaRPr lang="en-US" altLang="tr-TR"/>
          </a:p>
        </p:txBody>
      </p:sp>
      <p:sp>
        <p:nvSpPr>
          <p:cNvPr id="20483" name="Rectangle 2">
            <a:extLst>
              <a:ext uri="{FF2B5EF4-FFF2-40B4-BE49-F238E27FC236}">
                <a16:creationId xmlns:a16="http://schemas.microsoft.com/office/drawing/2014/main" id="{BBCD2B5A-C193-60F2-AC7D-313B74D03542}"/>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5BCAD6ED-3495-7F9F-E505-6646ED613F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tr-TR">
              <a:latin typeface="Arial" panose="020B0604020202020204" pitchFamily="34" charset="0"/>
            </a:endParaRPr>
          </a:p>
        </p:txBody>
      </p:sp>
    </p:spTree>
    <p:extLst>
      <p:ext uri="{BB962C8B-B14F-4D97-AF65-F5344CB8AC3E}">
        <p14:creationId xmlns:p14="http://schemas.microsoft.com/office/powerpoint/2010/main" val="685645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748CECE7-BCBD-52B9-90C4-CB438FDB8C53}"/>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B634FEA9-F20B-EE06-6045-60E6044DDEE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dirty="0">
              <a:latin typeface="Arial" panose="020B0604020202020204" pitchFamily="34" charset="0"/>
            </a:endParaRPr>
          </a:p>
        </p:txBody>
      </p:sp>
      <p:sp>
        <p:nvSpPr>
          <p:cNvPr id="28676" name="Slide Number Placeholder 3">
            <a:extLst>
              <a:ext uri="{FF2B5EF4-FFF2-40B4-BE49-F238E27FC236}">
                <a16:creationId xmlns:a16="http://schemas.microsoft.com/office/drawing/2014/main" id="{816D5A26-4529-E87F-767D-60D20821C1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D773A4-CF72-416C-B968-10C7F9387212}" type="slidenum">
              <a:rPr lang="en-US" altLang="tr-TR" smtClean="0"/>
              <a:pPr>
                <a:spcBef>
                  <a:spcPct val="0"/>
                </a:spcBef>
              </a:pPr>
              <a:t>36</a:t>
            </a:fld>
            <a:endParaRPr lang="en-US" altLang="tr-T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748CECE7-BCBD-52B9-90C4-CB438FDB8C53}"/>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B634FEA9-F20B-EE06-6045-60E6044DDEE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tr-TR" altLang="tr-TR" dirty="0">
              <a:latin typeface="Arial" panose="020B0604020202020204" pitchFamily="34" charset="0"/>
            </a:endParaRPr>
          </a:p>
        </p:txBody>
      </p:sp>
      <p:sp>
        <p:nvSpPr>
          <p:cNvPr id="28676" name="Slide Number Placeholder 3">
            <a:extLst>
              <a:ext uri="{FF2B5EF4-FFF2-40B4-BE49-F238E27FC236}">
                <a16:creationId xmlns:a16="http://schemas.microsoft.com/office/drawing/2014/main" id="{816D5A26-4529-E87F-767D-60D20821C11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D773A4-CF72-416C-B968-10C7F9387212}" type="slidenum">
              <a:rPr lang="en-US" altLang="tr-TR" smtClean="0"/>
              <a:pPr>
                <a:spcBef>
                  <a:spcPct val="0"/>
                </a:spcBef>
              </a:pPr>
              <a:t>37</a:t>
            </a:fld>
            <a:endParaRPr lang="en-US" altLang="tr-TR"/>
          </a:p>
        </p:txBody>
      </p:sp>
    </p:spTree>
    <p:extLst>
      <p:ext uri="{BB962C8B-B14F-4D97-AF65-F5344CB8AC3E}">
        <p14:creationId xmlns:p14="http://schemas.microsoft.com/office/powerpoint/2010/main" val="1567072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44444"/>
                </a:solidFill>
                <a:effectLst/>
                <a:highlight>
                  <a:srgbClr val="FFFFFF"/>
                </a:highlight>
                <a:latin typeface="PT Sans" panose="020B0503020203020204" pitchFamily="34" charset="0"/>
              </a:rPr>
              <a:t>The </a:t>
            </a:r>
            <a:r>
              <a:rPr lang="en-US" b="0" i="1" dirty="0" err="1">
                <a:solidFill>
                  <a:srgbClr val="444444"/>
                </a:solidFill>
                <a:effectLst/>
                <a:highlight>
                  <a:srgbClr val="FFFFFF"/>
                </a:highlight>
                <a:latin typeface="PT Sans" panose="020B0503020203020204" pitchFamily="34" charset="0"/>
              </a:rPr>
              <a:t>CoR</a:t>
            </a:r>
            <a:r>
              <a:rPr lang="en-US" b="0" i="0" dirty="0">
                <a:solidFill>
                  <a:srgbClr val="444444"/>
                </a:solidFill>
                <a:effectLst/>
                <a:highlight>
                  <a:srgbClr val="FFFFFF"/>
                </a:highlight>
                <a:latin typeface="PT Sans" panose="020B0503020203020204" pitchFamily="34" charset="0"/>
              </a:rPr>
              <a:t> handlers can execute arbitrary operations independently of each other. They can also stop passing the request further at any point. On the other hand, various </a:t>
            </a:r>
            <a:r>
              <a:rPr lang="en-US" b="0" i="1" dirty="0">
                <a:solidFill>
                  <a:srgbClr val="444444"/>
                </a:solidFill>
                <a:effectLst/>
                <a:highlight>
                  <a:srgbClr val="FFFFFF"/>
                </a:highlight>
                <a:latin typeface="PT Sans" panose="020B0503020203020204" pitchFamily="34" charset="0"/>
              </a:rPr>
              <a:t>Decorators</a:t>
            </a:r>
            <a:r>
              <a:rPr lang="en-US" b="0" i="0" dirty="0">
                <a:solidFill>
                  <a:srgbClr val="444444"/>
                </a:solidFill>
                <a:effectLst/>
                <a:highlight>
                  <a:srgbClr val="FFFFFF"/>
                </a:highlight>
                <a:latin typeface="PT Sans" panose="020B0503020203020204" pitchFamily="34" charset="0"/>
              </a:rPr>
              <a:t> can extend the object’s behavior while keeping it consistent with the base interface. In addition, decorators aren’t allowed to break the flow of the request.</a:t>
            </a:r>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39</a:t>
            </a:fld>
            <a:endParaRPr lang="en-US" altLang="tr-TR"/>
          </a:p>
        </p:txBody>
      </p:sp>
    </p:spTree>
    <p:extLst>
      <p:ext uri="{BB962C8B-B14F-4D97-AF65-F5344CB8AC3E}">
        <p14:creationId xmlns:p14="http://schemas.microsoft.com/office/powerpoint/2010/main" val="4011490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CoR</a:t>
            </a:r>
            <a:r>
              <a:rPr lang="en-US" dirty="0"/>
              <a:t> and Observer fail, such as a modern, complex </a:t>
            </a:r>
            <a:r>
              <a:rPr lang="en-US" b="1" dirty="0"/>
              <a:t>GUI Form</a:t>
            </a:r>
            <a:r>
              <a:rPr lang="en-US" dirty="0"/>
              <a:t> or a rich web application with interdependent components (e.g., filter panel, data grid, and summary statistics).</a:t>
            </a:r>
          </a:p>
          <a:p>
            <a:r>
              <a:rPr lang="en-US" b="1" dirty="0"/>
              <a:t>The Setup:</a:t>
            </a:r>
            <a:r>
              <a:rPr lang="en-US" dirty="0"/>
              <a:t> When the user changes a filter (Component A), three other components (B, C, D) must update.</a:t>
            </a:r>
          </a:p>
          <a:p>
            <a:r>
              <a:rPr lang="en-US" b="1" dirty="0"/>
              <a:t>Why Observer Fails:</a:t>
            </a:r>
            <a:r>
              <a:rPr lang="en-US" dirty="0"/>
              <a:t> If A broadcasts, B, C, and D receive the notification, but often B needs to tell C something </a:t>
            </a:r>
            <a:r>
              <a:rPr lang="en-US" i="1" dirty="0"/>
              <a:t>after</a:t>
            </a:r>
            <a:r>
              <a:rPr lang="en-US" dirty="0"/>
              <a:t> it updates, creating a spaghetti code mess of observers observing each other.</a:t>
            </a:r>
          </a:p>
          <a:p>
            <a:r>
              <a:rPr lang="en-US" b="1" dirty="0"/>
              <a:t>Why </a:t>
            </a:r>
            <a:r>
              <a:rPr lang="en-US" b="1" dirty="0" err="1"/>
              <a:t>CoR</a:t>
            </a:r>
            <a:r>
              <a:rPr lang="en-US" b="1" dirty="0"/>
              <a:t> Fails:</a:t>
            </a:r>
            <a:r>
              <a:rPr lang="en-US" dirty="0"/>
              <a:t> The components don't form a sequential chain; they all need to be managed simultaneously.</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49</a:t>
            </a:fld>
            <a:endParaRPr lang="en-US" altLang="tr-TR"/>
          </a:p>
        </p:txBody>
      </p:sp>
    </p:spTree>
    <p:extLst>
      <p:ext uri="{BB962C8B-B14F-4D97-AF65-F5344CB8AC3E}">
        <p14:creationId xmlns:p14="http://schemas.microsoft.com/office/powerpoint/2010/main" val="3107121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8A91-628F-86E5-3631-7B56C2C88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6C3EE-0401-D5B5-5178-134788DD1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91FBFD-B6A1-B4F2-15B8-034CCD51335A}"/>
              </a:ext>
            </a:extLst>
          </p:cNvPr>
          <p:cNvSpPr>
            <a:spLocks noGrp="1"/>
          </p:cNvSpPr>
          <p:nvPr>
            <p:ph type="body" idx="1"/>
          </p:nvPr>
        </p:nvSpPr>
        <p:spPr/>
        <p:txBody>
          <a:bodyPr/>
          <a:lstStyle/>
          <a:p>
            <a:r>
              <a:rPr lang="en-US" dirty="0" err="1"/>
              <a:t>CoR</a:t>
            </a:r>
            <a:r>
              <a:rPr lang="en-US" dirty="0"/>
              <a:t> and Observer fail, such as a modern, complex </a:t>
            </a:r>
            <a:r>
              <a:rPr lang="en-US" b="1" dirty="0"/>
              <a:t>GUI Form</a:t>
            </a:r>
            <a:r>
              <a:rPr lang="en-US" dirty="0"/>
              <a:t> or a rich web application with interdependent components (e.g., filter panel, data grid, and summary statistics).</a:t>
            </a:r>
          </a:p>
          <a:p>
            <a:r>
              <a:rPr lang="en-US" b="1" dirty="0"/>
              <a:t>The Setup:</a:t>
            </a:r>
            <a:r>
              <a:rPr lang="en-US" dirty="0"/>
              <a:t> When the user changes a filter (Component A), three other components (B, C, D) must update.</a:t>
            </a:r>
          </a:p>
          <a:p>
            <a:r>
              <a:rPr lang="en-US" b="1" dirty="0"/>
              <a:t>Why Observer Fails:</a:t>
            </a:r>
            <a:r>
              <a:rPr lang="en-US" dirty="0"/>
              <a:t> If A broadcasts, B, C, and D receive the notification, but often B needs to tell C something </a:t>
            </a:r>
            <a:r>
              <a:rPr lang="en-US" i="1" dirty="0"/>
              <a:t>after</a:t>
            </a:r>
            <a:r>
              <a:rPr lang="en-US" dirty="0"/>
              <a:t> it updates, creating a spaghetti code mess of observers observing each other.</a:t>
            </a:r>
          </a:p>
          <a:p>
            <a:r>
              <a:rPr lang="en-US" b="1" dirty="0"/>
              <a:t>Why </a:t>
            </a:r>
            <a:r>
              <a:rPr lang="en-US" b="1" dirty="0" err="1"/>
              <a:t>CoR</a:t>
            </a:r>
            <a:r>
              <a:rPr lang="en-US" b="1" dirty="0"/>
              <a:t> Fails:</a:t>
            </a:r>
            <a:r>
              <a:rPr lang="en-US" dirty="0"/>
              <a:t> The components don't form a sequential chain; they all need to be managed simultaneously.</a:t>
            </a:r>
          </a:p>
          <a:p>
            <a:endParaRPr lang="en-US" dirty="0"/>
          </a:p>
          <a:p>
            <a:endParaRPr lang="en-US" dirty="0"/>
          </a:p>
        </p:txBody>
      </p:sp>
      <p:sp>
        <p:nvSpPr>
          <p:cNvPr id="4" name="Slide Number Placeholder 3">
            <a:extLst>
              <a:ext uri="{FF2B5EF4-FFF2-40B4-BE49-F238E27FC236}">
                <a16:creationId xmlns:a16="http://schemas.microsoft.com/office/drawing/2014/main" id="{FCD38583-A72E-0673-B5A7-E8A341E7CD24}"/>
              </a:ext>
            </a:extLst>
          </p:cNvPr>
          <p:cNvSpPr>
            <a:spLocks noGrp="1"/>
          </p:cNvSpPr>
          <p:nvPr>
            <p:ph type="sldNum" sz="quarter" idx="5"/>
          </p:nvPr>
        </p:nvSpPr>
        <p:spPr/>
        <p:txBody>
          <a:bodyPr/>
          <a:lstStyle/>
          <a:p>
            <a:pPr>
              <a:defRPr/>
            </a:pPr>
            <a:fld id="{0B08CFCE-7C42-4B8E-AB1B-57AEC6E09966}" type="slidenum">
              <a:rPr lang="en-US" altLang="tr-TR" smtClean="0"/>
              <a:pPr>
                <a:defRPr/>
              </a:pPr>
              <a:t>50</a:t>
            </a:fld>
            <a:endParaRPr lang="en-US" altLang="tr-TR"/>
          </a:p>
        </p:txBody>
      </p:sp>
    </p:spTree>
    <p:extLst>
      <p:ext uri="{BB962C8B-B14F-4D97-AF65-F5344CB8AC3E}">
        <p14:creationId xmlns:p14="http://schemas.microsoft.com/office/powerpoint/2010/main" val="343211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component is no longer responsible only for itself; it is responsible for </a:t>
            </a:r>
            <a:r>
              <a:rPr lang="en-US" b="1" dirty="0"/>
              <a:t>coordinating the behavior of all its peers.</a:t>
            </a:r>
            <a:r>
              <a:rPr lang="en-US" dirty="0"/>
              <a:t> (</a:t>
            </a:r>
            <a:r>
              <a:rPr lang="en-US" b="1" dirty="0"/>
              <a:t>SRP Violation</a:t>
            </a:r>
            <a:r>
              <a:rPr lang="en-US" dirty="0"/>
              <a:t>).</a:t>
            </a:r>
          </a:p>
        </p:txBody>
      </p:sp>
      <p:sp>
        <p:nvSpPr>
          <p:cNvPr id="4" name="Slide Number Placeholder 3"/>
          <p:cNvSpPr>
            <a:spLocks noGrp="1"/>
          </p:cNvSpPr>
          <p:nvPr>
            <p:ph type="sldNum" sz="quarter" idx="5"/>
          </p:nvPr>
        </p:nvSpPr>
        <p:spPr/>
        <p:txBody>
          <a:bodyPr/>
          <a:lstStyle/>
          <a:p>
            <a:pPr>
              <a:defRPr/>
            </a:pPr>
            <a:fld id="{0B08CFCE-7C42-4B8E-AB1B-57AEC6E09966}" type="slidenum">
              <a:rPr lang="en-US" altLang="tr-TR" smtClean="0"/>
              <a:pPr>
                <a:defRPr/>
              </a:pPr>
              <a:t>52</a:t>
            </a:fld>
            <a:endParaRPr lang="en-US" altLang="tr-TR"/>
          </a:p>
        </p:txBody>
      </p:sp>
    </p:spTree>
    <p:extLst>
      <p:ext uri="{BB962C8B-B14F-4D97-AF65-F5344CB8AC3E}">
        <p14:creationId xmlns:p14="http://schemas.microsoft.com/office/powerpoint/2010/main" val="3275276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dirty="0">
                <a:solidFill>
                  <a:srgbClr val="000000"/>
                </a:solidFill>
                <a:effectLst/>
                <a:latin typeface="Times New Roman" panose="02020603050405020304" pitchFamily="18" charset="0"/>
              </a:rPr>
              <a:t>The list box tells its director that it's changed.</a:t>
            </a:r>
          </a:p>
          <a:p>
            <a:pPr algn="l">
              <a:buFont typeface="+mj-lt"/>
              <a:buAutoNum type="arabicPeriod"/>
            </a:pPr>
            <a:r>
              <a:rPr lang="en-US" b="0" i="0" dirty="0">
                <a:solidFill>
                  <a:srgbClr val="000000"/>
                </a:solidFill>
                <a:effectLst/>
                <a:latin typeface="Times New Roman" panose="02020603050405020304" pitchFamily="18" charset="0"/>
              </a:rPr>
              <a:t>The director gets the selection from the list box.</a:t>
            </a:r>
          </a:p>
          <a:p>
            <a:pPr algn="l">
              <a:buFont typeface="+mj-lt"/>
              <a:buAutoNum type="arabicPeriod"/>
            </a:pPr>
            <a:r>
              <a:rPr lang="en-US" b="0" i="0" dirty="0">
                <a:solidFill>
                  <a:srgbClr val="000000"/>
                </a:solidFill>
                <a:effectLst/>
                <a:latin typeface="Times New Roman" panose="02020603050405020304" pitchFamily="18" charset="0"/>
              </a:rPr>
              <a:t>The director passes the selection to the entry field.</a:t>
            </a:r>
          </a:p>
          <a:p>
            <a:pPr algn="l">
              <a:buFont typeface="+mj-lt"/>
              <a:buAutoNum type="arabicPeriod"/>
            </a:pPr>
            <a:r>
              <a:rPr lang="en-US" b="0" i="0" dirty="0">
                <a:solidFill>
                  <a:srgbClr val="000000"/>
                </a:solidFill>
                <a:effectLst/>
                <a:latin typeface="Times New Roman" panose="02020603050405020304" pitchFamily="18" charset="0"/>
              </a:rPr>
              <a:t>Now that the entry field contains some text, the director enables button(s) for initiating an action</a:t>
            </a:r>
          </a:p>
          <a:p>
            <a:endParaRPr lang="en-US" dirty="0"/>
          </a:p>
        </p:txBody>
      </p:sp>
      <p:sp>
        <p:nvSpPr>
          <p:cNvPr id="4" name="Slide Number Placeholder 3"/>
          <p:cNvSpPr>
            <a:spLocks noGrp="1"/>
          </p:cNvSpPr>
          <p:nvPr>
            <p:ph type="sldNum" sz="quarter" idx="5"/>
          </p:nvPr>
        </p:nvSpPr>
        <p:spPr/>
        <p:txBody>
          <a:bodyPr/>
          <a:lstStyle/>
          <a:p>
            <a:fld id="{C68B52C2-755A-496D-A139-5AD1173A230C}" type="slidenum">
              <a:rPr lang="en-US" altLang="en-US" smtClean="0"/>
              <a:pPr/>
              <a:t>57</a:t>
            </a:fld>
            <a:endParaRPr lang="en-US" altLang="en-US"/>
          </a:p>
        </p:txBody>
      </p:sp>
    </p:spTree>
    <p:extLst>
      <p:ext uri="{BB962C8B-B14F-4D97-AF65-F5344CB8AC3E}">
        <p14:creationId xmlns:p14="http://schemas.microsoft.com/office/powerpoint/2010/main" val="10066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44444"/>
                </a:solidFill>
                <a:effectLst/>
                <a:highlight>
                  <a:srgbClr val="FFFFFF"/>
                </a:highlight>
                <a:latin typeface="PT Sans" panose="020B0503020203020204" pitchFamily="34" charset="0"/>
              </a:rPr>
              <a:t>. Read https://refactoring.guru/design-patterns/mediator</a:t>
            </a:r>
            <a:endParaRPr lang="en-US" dirty="0"/>
          </a:p>
        </p:txBody>
      </p:sp>
      <p:sp>
        <p:nvSpPr>
          <p:cNvPr id="4" name="Slide Number Placeholder 3"/>
          <p:cNvSpPr>
            <a:spLocks noGrp="1"/>
          </p:cNvSpPr>
          <p:nvPr>
            <p:ph type="sldNum" sz="quarter" idx="5"/>
          </p:nvPr>
        </p:nvSpPr>
        <p:spPr/>
        <p:txBody>
          <a:bodyPr/>
          <a:lstStyle/>
          <a:p>
            <a:fld id="{C68B52C2-755A-496D-A139-5AD1173A230C}" type="slidenum">
              <a:rPr lang="en-US" altLang="en-US" smtClean="0"/>
              <a:pPr/>
              <a:t>61</a:t>
            </a:fld>
            <a:endParaRPr lang="en-US" altLang="en-US"/>
          </a:p>
        </p:txBody>
      </p:sp>
    </p:spTree>
    <p:extLst>
      <p:ext uri="{BB962C8B-B14F-4D97-AF65-F5344CB8AC3E}">
        <p14:creationId xmlns:p14="http://schemas.microsoft.com/office/powerpoint/2010/main" val="3949263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444444"/>
                </a:solidFill>
                <a:effectLst/>
                <a:highlight>
                  <a:srgbClr val="FFFFFF"/>
                </a:highlight>
                <a:latin typeface="PT Sans" panose="020B0503020203020204" pitchFamily="34" charset="0"/>
              </a:rPr>
              <a:t>Use the Mediator when you find yourself creating tons of component subclasses just to reuse some basic behavior in various contexts.</a:t>
            </a:r>
          </a:p>
          <a:p>
            <a:r>
              <a:rPr lang="en-US" dirty="0">
                <a:hlinkClick r:id="rId3"/>
              </a:rPr>
              <a:t>Mediator (</a:t>
            </a:r>
            <a:r>
              <a:rPr lang="en-US" dirty="0" err="1">
                <a:hlinkClick r:id="rId3"/>
              </a:rPr>
              <a:t>refactoring.guru</a:t>
            </a:r>
            <a:r>
              <a:rPr lang="en-US" dirty="0">
                <a:hlinkClick r:id="rId3"/>
              </a:rPr>
              <a:t>)</a:t>
            </a:r>
            <a:r>
              <a:rPr lang="en-US" dirty="0"/>
              <a:t>https://refactoring.guru/design-patterns/mediator</a:t>
            </a:r>
          </a:p>
        </p:txBody>
      </p:sp>
      <p:sp>
        <p:nvSpPr>
          <p:cNvPr id="4" name="Slide Number Placeholder 3"/>
          <p:cNvSpPr>
            <a:spLocks noGrp="1"/>
          </p:cNvSpPr>
          <p:nvPr>
            <p:ph type="sldNum" sz="quarter" idx="5"/>
          </p:nvPr>
        </p:nvSpPr>
        <p:spPr/>
        <p:txBody>
          <a:bodyPr/>
          <a:lstStyle/>
          <a:p>
            <a:fld id="{C68B52C2-755A-496D-A139-5AD1173A230C}" type="slidenum">
              <a:rPr lang="en-US" altLang="en-US" smtClean="0"/>
              <a:pPr/>
              <a:t>63</a:t>
            </a:fld>
            <a:endParaRPr lang="en-US" altLang="en-US"/>
          </a:p>
        </p:txBody>
      </p:sp>
    </p:spTree>
    <p:extLst>
      <p:ext uri="{BB962C8B-B14F-4D97-AF65-F5344CB8AC3E}">
        <p14:creationId xmlns:p14="http://schemas.microsoft.com/office/powerpoint/2010/main" val="3729876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0" i="0" dirty="0">
                <a:solidFill>
                  <a:srgbClr val="273239"/>
                </a:solidFill>
                <a:effectLst/>
                <a:highlight>
                  <a:srgbClr val="FFFFFF"/>
                </a:highlight>
                <a:latin typeface="Consolas" panose="020B0609020204030204" pitchFamily="49" charset="0"/>
              </a:rPr>
              <a:t>public void </a:t>
            </a:r>
            <a:r>
              <a:rPr lang="en-US" b="0" i="0" dirty="0" err="1">
                <a:solidFill>
                  <a:srgbClr val="273239"/>
                </a:solidFill>
                <a:effectLst/>
                <a:highlight>
                  <a:srgbClr val="FFFFFF"/>
                </a:highlight>
                <a:latin typeface="Consolas" panose="020B0609020204030204" pitchFamily="49" charset="0"/>
              </a:rPr>
              <a:t>notifyAirTrafficControl</a:t>
            </a:r>
            <a:r>
              <a:rPr lang="en-US" b="0" i="0" dirty="0">
                <a:solidFill>
                  <a:srgbClr val="273239"/>
                </a:solidFill>
                <a:effectLst/>
                <a:highlight>
                  <a:srgbClr val="FFFFFF"/>
                </a:highlight>
                <a:latin typeface="Consolas" panose="020B0609020204030204" pitchFamily="49" charset="0"/>
              </a:rPr>
              <a:t>(String message) {</a:t>
            </a:r>
          </a:p>
          <a:p>
            <a:pPr algn="l" rtl="0" fontAlgn="base"/>
            <a:r>
              <a:rPr lang="en-US" b="0" i="0" dirty="0">
                <a:solidFill>
                  <a:srgbClr val="273239"/>
                </a:solidFill>
                <a:effectLst/>
                <a:highlight>
                  <a:srgbClr val="FFFFFF"/>
                </a:highlight>
                <a:latin typeface="Consolas" panose="020B0609020204030204" pitchFamily="49" charset="0"/>
              </a:rPr>
              <a:t>        </a:t>
            </a:r>
            <a:r>
              <a:rPr lang="en-US" b="0" i="0" dirty="0" err="1">
                <a:solidFill>
                  <a:srgbClr val="273239"/>
                </a:solidFill>
                <a:effectLst/>
                <a:highlight>
                  <a:srgbClr val="FFFFFF"/>
                </a:highlight>
                <a:latin typeface="Consolas" panose="020B0609020204030204" pitchFamily="49" charset="0"/>
              </a:rPr>
              <a:t>System.out.println</a:t>
            </a:r>
            <a:r>
              <a:rPr lang="en-US" b="0" i="0" dirty="0">
                <a:solidFill>
                  <a:srgbClr val="273239"/>
                </a:solidFill>
                <a:effectLst/>
                <a:highlight>
                  <a:srgbClr val="FFFFFF"/>
                </a:highlight>
                <a:latin typeface="Consolas" panose="020B0609020204030204" pitchFamily="49" charset="0"/>
              </a:rPr>
              <a:t>("Commercial Airplane: " + message);</a:t>
            </a:r>
          </a:p>
          <a:p>
            <a:pPr algn="l" rtl="0" fontAlgn="base"/>
            <a:r>
              <a:rPr lang="en-US" b="0" i="0" dirty="0">
                <a:solidFill>
                  <a:srgbClr val="273239"/>
                </a:solidFill>
                <a:effectLst/>
                <a:highlight>
                  <a:srgbClr val="FFFFFF"/>
                </a:highlight>
                <a:latin typeface="Consolas" panose="020B0609020204030204" pitchFamily="49" charset="0"/>
              </a:rPr>
              <a:t>    }</a:t>
            </a:r>
          </a:p>
          <a:p>
            <a:endParaRPr lang="en-US" dirty="0"/>
          </a:p>
        </p:txBody>
      </p:sp>
      <p:sp>
        <p:nvSpPr>
          <p:cNvPr id="4" name="Slide Number Placeholder 3"/>
          <p:cNvSpPr>
            <a:spLocks noGrp="1"/>
          </p:cNvSpPr>
          <p:nvPr>
            <p:ph type="sldNum" sz="quarter" idx="5"/>
          </p:nvPr>
        </p:nvSpPr>
        <p:spPr/>
        <p:txBody>
          <a:bodyPr/>
          <a:lstStyle/>
          <a:p>
            <a:fld id="{C68B52C2-755A-496D-A139-5AD1173A230C}" type="slidenum">
              <a:rPr lang="en-US" altLang="en-US" smtClean="0"/>
              <a:pPr/>
              <a:t>66</a:t>
            </a:fld>
            <a:endParaRPr lang="en-US" altLang="en-US"/>
          </a:p>
        </p:txBody>
      </p:sp>
    </p:spTree>
    <p:extLst>
      <p:ext uri="{BB962C8B-B14F-4D97-AF65-F5344CB8AC3E}">
        <p14:creationId xmlns:p14="http://schemas.microsoft.com/office/powerpoint/2010/main" val="1017652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adapter when they do not </a:t>
            </a:r>
            <a:r>
              <a:rPr lang="en-US" dirty="0" err="1"/>
              <a:t>sah</a:t>
            </a:r>
            <a:endParaRPr lang="en-US" dirty="0"/>
          </a:p>
        </p:txBody>
      </p:sp>
      <p:sp>
        <p:nvSpPr>
          <p:cNvPr id="4" name="Slide Number Placeholder 3"/>
          <p:cNvSpPr>
            <a:spLocks noGrp="1"/>
          </p:cNvSpPr>
          <p:nvPr>
            <p:ph type="sldNum" sz="quarter" idx="5"/>
          </p:nvPr>
        </p:nvSpPr>
        <p:spPr/>
        <p:txBody>
          <a:bodyPr/>
          <a:lstStyle/>
          <a:p>
            <a:fld id="{C68B52C2-755A-496D-A139-5AD1173A230C}" type="slidenum">
              <a:rPr lang="en-US" altLang="en-US" smtClean="0"/>
              <a:pPr/>
              <a:t>69</a:t>
            </a:fld>
            <a:endParaRPr lang="en-US" altLang="en-US"/>
          </a:p>
        </p:txBody>
      </p:sp>
    </p:spTree>
    <p:extLst>
      <p:ext uri="{BB962C8B-B14F-4D97-AF65-F5344CB8AC3E}">
        <p14:creationId xmlns:p14="http://schemas.microsoft.com/office/powerpoint/2010/main" val="67103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tr-TR" sz="1200" dirty="0"/>
              <a:t>Eliminates direct connections between senders and receivers</a:t>
            </a:r>
            <a:r>
              <a:rPr lang="en-US" altLang="tr-TR" sz="1400" dirty="0"/>
              <a:t> </a:t>
            </a:r>
          </a:p>
          <a:p>
            <a:endParaRPr lang="en-US" dirty="0"/>
          </a:p>
        </p:txBody>
      </p:sp>
      <p:sp>
        <p:nvSpPr>
          <p:cNvPr id="4" name="Slide Number Placeholder 3"/>
          <p:cNvSpPr>
            <a:spLocks noGrp="1"/>
          </p:cNvSpPr>
          <p:nvPr>
            <p:ph type="sldNum" sz="quarter" idx="5"/>
          </p:nvPr>
        </p:nvSpPr>
        <p:spPr/>
        <p:txBody>
          <a:bodyPr/>
          <a:lstStyle/>
          <a:p>
            <a:fld id="{C68B52C2-755A-496D-A139-5AD1173A230C}" type="slidenum">
              <a:rPr lang="en-US" altLang="en-US" smtClean="0"/>
              <a:pPr/>
              <a:t>77</a:t>
            </a:fld>
            <a:endParaRPr lang="en-US" altLang="en-US"/>
          </a:p>
        </p:txBody>
      </p:sp>
    </p:spTree>
    <p:extLst>
      <p:ext uri="{BB962C8B-B14F-4D97-AF65-F5344CB8AC3E}">
        <p14:creationId xmlns:p14="http://schemas.microsoft.com/office/powerpoint/2010/main" val="741301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72ACC812-E6A3-F537-766D-91B6AC3917D3}"/>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AB2CFD04-CFC4-D75D-BB4A-48A79B323970}"/>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4" name="Rectangle 4">
              <a:extLst>
                <a:ext uri="{FF2B5EF4-FFF2-40B4-BE49-F238E27FC236}">
                  <a16:creationId xmlns:a16="http://schemas.microsoft.com/office/drawing/2014/main" id="{3A71D8F8-95F9-7086-E839-181574C7FAAA}"/>
                </a:ext>
              </a:extLst>
            </p:cNvPr>
            <p:cNvSpPr>
              <a:spLocks noChangeArrowheads="1"/>
            </p:cNvSpPr>
            <p:nvPr/>
          </p:nvSpPr>
          <p:spPr bwMode="hidden">
            <a:xfrm>
              <a:off x="1081" y="1065"/>
              <a:ext cx="4679" cy="1596"/>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nvGrpSpPr>
            <p:cNvPr id="5" name="Group 5">
              <a:extLst>
                <a:ext uri="{FF2B5EF4-FFF2-40B4-BE49-F238E27FC236}">
                  <a16:creationId xmlns:a16="http://schemas.microsoft.com/office/drawing/2014/main" id="{FC30AA1C-40E8-8F63-D7F5-5A0DE7D07E33}"/>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6BA6BF3C-C8A4-E86E-1BF0-C19836E7217F}"/>
                  </a:ext>
                </a:extLst>
              </p:cNvPr>
              <p:cNvSpPr>
                <a:spLocks noChangeArrowheads="1"/>
              </p:cNvSpPr>
              <p:nvPr/>
            </p:nvSpPr>
            <p:spPr bwMode="auto">
              <a:xfrm>
                <a:off x="361" y="2257"/>
                <a:ext cx="363" cy="404"/>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7" name="Rectangle 7">
                <a:extLst>
                  <a:ext uri="{FF2B5EF4-FFF2-40B4-BE49-F238E27FC236}">
                    <a16:creationId xmlns:a16="http://schemas.microsoft.com/office/drawing/2014/main" id="{A0021004-C3B9-5A28-4BA6-0003CC1F7DCF}"/>
                  </a:ext>
                </a:extLst>
              </p:cNvPr>
              <p:cNvSpPr>
                <a:spLocks noChangeArrowheads="1"/>
              </p:cNvSpPr>
              <p:nvPr/>
            </p:nvSpPr>
            <p:spPr bwMode="auto">
              <a:xfrm>
                <a:off x="1081" y="1065"/>
                <a:ext cx="362" cy="405"/>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8" name="Rectangle 8">
                <a:extLst>
                  <a:ext uri="{FF2B5EF4-FFF2-40B4-BE49-F238E27FC236}">
                    <a16:creationId xmlns:a16="http://schemas.microsoft.com/office/drawing/2014/main" id="{16F14E4A-D184-7025-E9F4-A87A778E3735}"/>
                  </a:ext>
                </a:extLst>
              </p:cNvPr>
              <p:cNvSpPr>
                <a:spLocks noChangeArrowheads="1"/>
              </p:cNvSpPr>
              <p:nvPr/>
            </p:nvSpPr>
            <p:spPr bwMode="auto">
              <a:xfrm>
                <a:off x="1437" y="672"/>
                <a:ext cx="369" cy="400"/>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9" name="Rectangle 9">
                <a:extLst>
                  <a:ext uri="{FF2B5EF4-FFF2-40B4-BE49-F238E27FC236}">
                    <a16:creationId xmlns:a16="http://schemas.microsoft.com/office/drawing/2014/main" id="{9EFD3C06-F841-073D-6BF8-4CCED3643200}"/>
                  </a:ext>
                </a:extLst>
              </p:cNvPr>
              <p:cNvSpPr>
                <a:spLocks noChangeArrowheads="1"/>
              </p:cNvSpPr>
              <p:nvPr/>
            </p:nvSpPr>
            <p:spPr bwMode="auto">
              <a:xfrm>
                <a:off x="719" y="2257"/>
                <a:ext cx="368" cy="404"/>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 name="Rectangle 10">
                <a:extLst>
                  <a:ext uri="{FF2B5EF4-FFF2-40B4-BE49-F238E27FC236}">
                    <a16:creationId xmlns:a16="http://schemas.microsoft.com/office/drawing/2014/main" id="{2875D25D-6C27-0DD4-F837-8161EB7D5F3D}"/>
                  </a:ext>
                </a:extLst>
              </p:cNvPr>
              <p:cNvSpPr>
                <a:spLocks noChangeArrowheads="1"/>
              </p:cNvSpPr>
              <p:nvPr/>
            </p:nvSpPr>
            <p:spPr bwMode="auto">
              <a:xfrm>
                <a:off x="1437" y="1065"/>
                <a:ext cx="369" cy="405"/>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1" name="Rectangle 11">
                <a:extLst>
                  <a:ext uri="{FF2B5EF4-FFF2-40B4-BE49-F238E27FC236}">
                    <a16:creationId xmlns:a16="http://schemas.microsoft.com/office/drawing/2014/main" id="{54E92B0E-912B-5B5C-E976-7C4CFE70CD57}"/>
                  </a:ext>
                </a:extLst>
              </p:cNvPr>
              <p:cNvSpPr>
                <a:spLocks noChangeArrowheads="1"/>
              </p:cNvSpPr>
              <p:nvPr/>
            </p:nvSpPr>
            <p:spPr bwMode="auto">
              <a:xfrm>
                <a:off x="719" y="1464"/>
                <a:ext cx="368" cy="399"/>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2" name="Rectangle 12">
                <a:extLst>
                  <a:ext uri="{FF2B5EF4-FFF2-40B4-BE49-F238E27FC236}">
                    <a16:creationId xmlns:a16="http://schemas.microsoft.com/office/drawing/2014/main" id="{EC9BC013-1C93-5DE5-3B7B-D5E2C4BF260F}"/>
                  </a:ext>
                </a:extLst>
              </p:cNvPr>
              <p:cNvSpPr>
                <a:spLocks noChangeArrowheads="1"/>
              </p:cNvSpPr>
              <p:nvPr/>
            </p:nvSpPr>
            <p:spPr bwMode="auto">
              <a:xfrm>
                <a:off x="0" y="1464"/>
                <a:ext cx="367" cy="399"/>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3" name="Rectangle 13">
                <a:extLst>
                  <a:ext uri="{FF2B5EF4-FFF2-40B4-BE49-F238E27FC236}">
                    <a16:creationId xmlns:a16="http://schemas.microsoft.com/office/drawing/2014/main" id="{C459E508-283D-86E1-FECF-F70AA22C8063}"/>
                  </a:ext>
                </a:extLst>
              </p:cNvPr>
              <p:cNvSpPr>
                <a:spLocks noChangeArrowheads="1"/>
              </p:cNvSpPr>
              <p:nvPr/>
            </p:nvSpPr>
            <p:spPr bwMode="auto">
              <a:xfrm>
                <a:off x="1081" y="1464"/>
                <a:ext cx="362" cy="399"/>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4" name="Rectangle 14">
                <a:extLst>
                  <a:ext uri="{FF2B5EF4-FFF2-40B4-BE49-F238E27FC236}">
                    <a16:creationId xmlns:a16="http://schemas.microsoft.com/office/drawing/2014/main" id="{6561F87F-8262-B000-ED93-48DE4657D0CE}"/>
                  </a:ext>
                </a:extLst>
              </p:cNvPr>
              <p:cNvSpPr>
                <a:spLocks noChangeArrowheads="1"/>
              </p:cNvSpPr>
              <p:nvPr/>
            </p:nvSpPr>
            <p:spPr bwMode="auto">
              <a:xfrm>
                <a:off x="361" y="1857"/>
                <a:ext cx="363" cy="406"/>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5" name="Rectangle 15">
                <a:extLst>
                  <a:ext uri="{FF2B5EF4-FFF2-40B4-BE49-F238E27FC236}">
                    <a16:creationId xmlns:a16="http://schemas.microsoft.com/office/drawing/2014/main" id="{7750DFF8-42F7-A4DE-76A5-7CCF29A9CDBB}"/>
                  </a:ext>
                </a:extLst>
              </p:cNvPr>
              <p:cNvSpPr>
                <a:spLocks noChangeArrowheads="1"/>
              </p:cNvSpPr>
              <p:nvPr/>
            </p:nvSpPr>
            <p:spPr bwMode="auto">
              <a:xfrm>
                <a:off x="719" y="1857"/>
                <a:ext cx="368" cy="406"/>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grpSp>
      <p:sp>
        <p:nvSpPr>
          <p:cNvPr id="2754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27547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6" name="Rectangle 16">
            <a:extLst>
              <a:ext uri="{FF2B5EF4-FFF2-40B4-BE49-F238E27FC236}">
                <a16:creationId xmlns:a16="http://schemas.microsoft.com/office/drawing/2014/main" id="{172F7C9D-AE00-B3EE-BA85-833AB1068967}"/>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7" name="Rectangle 17">
            <a:extLst>
              <a:ext uri="{FF2B5EF4-FFF2-40B4-BE49-F238E27FC236}">
                <a16:creationId xmlns:a16="http://schemas.microsoft.com/office/drawing/2014/main" id="{AAFBBBE7-789D-0A76-DC28-0806EA965EC9}"/>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9CAD7C87-BB0D-8DF4-CA55-9B96BCFA66F7}"/>
              </a:ext>
            </a:extLst>
          </p:cNvPr>
          <p:cNvSpPr>
            <a:spLocks noGrp="1" noChangeArrowheads="1"/>
          </p:cNvSpPr>
          <p:nvPr>
            <p:ph type="sldNum" sz="quarter" idx="12"/>
          </p:nvPr>
        </p:nvSpPr>
        <p:spPr/>
        <p:txBody>
          <a:bodyPr/>
          <a:lstStyle>
            <a:lvl1pPr>
              <a:defRPr smtClean="0"/>
            </a:lvl1pPr>
          </a:lstStyle>
          <a:p>
            <a:pPr>
              <a:defRPr/>
            </a:pPr>
            <a:fld id="{813B042A-F4E5-4D86-B645-C01E56C1D181}" type="slidenum">
              <a:rPr lang="en-US" altLang="tr-TR"/>
              <a:pPr>
                <a:defRPr/>
              </a:pPr>
              <a:t>‹#›</a:t>
            </a:fld>
            <a:endParaRPr lang="en-US" altLang="tr-TR"/>
          </a:p>
        </p:txBody>
      </p:sp>
    </p:spTree>
    <p:extLst>
      <p:ext uri="{BB962C8B-B14F-4D97-AF65-F5344CB8AC3E}">
        <p14:creationId xmlns:p14="http://schemas.microsoft.com/office/powerpoint/2010/main" val="981070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6DD7733-852C-92BC-922F-60EF7E1647CB}"/>
              </a:ext>
            </a:extLst>
          </p:cNvPr>
          <p:cNvSpPr/>
          <p:nvPr/>
        </p:nvSpPr>
        <p:spPr>
          <a:xfrm>
            <a:off x="457200" y="1235075"/>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139152"/>
            <a:ext cx="8229600" cy="1371600"/>
          </a:xfrm>
        </p:spPr>
        <p:txBody>
          <a:bodyPr/>
          <a:lstStyle/>
          <a:p>
            <a:r>
              <a:rPr lang="en-US"/>
              <a:t>Click to edit Master title style</a:t>
            </a:r>
          </a:p>
        </p:txBody>
      </p:sp>
      <p:sp>
        <p:nvSpPr>
          <p:cNvPr id="3" name="Content Placeholder 2"/>
          <p:cNvSpPr>
            <a:spLocks noGrp="1"/>
          </p:cNvSpPr>
          <p:nvPr>
            <p:ph idx="1"/>
          </p:nvPr>
        </p:nvSpPr>
        <p:spPr>
          <a:xfrm>
            <a:off x="457200" y="1335291"/>
            <a:ext cx="8229600" cy="45321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a:extLst>
              <a:ext uri="{FF2B5EF4-FFF2-40B4-BE49-F238E27FC236}">
                <a16:creationId xmlns:a16="http://schemas.microsoft.com/office/drawing/2014/main" id="{3C9A8D47-491A-4369-BE42-AB0567157634}"/>
              </a:ext>
            </a:extLst>
          </p:cNvPr>
          <p:cNvSpPr>
            <a:spLocks noGrp="1" noChangeArrowheads="1"/>
          </p:cNvSpPr>
          <p:nvPr>
            <p:ph type="ftr" sz="quarter" idx="10"/>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BD5C673C-5EC1-9165-C79F-650D34B3B4FE}"/>
              </a:ext>
            </a:extLst>
          </p:cNvPr>
          <p:cNvSpPr>
            <a:spLocks noGrp="1" noChangeArrowheads="1"/>
          </p:cNvSpPr>
          <p:nvPr>
            <p:ph type="sldNum" sz="quarter" idx="11"/>
          </p:nvPr>
        </p:nvSpPr>
        <p:spPr/>
        <p:txBody>
          <a:bodyPr/>
          <a:lstStyle>
            <a:lvl1pPr>
              <a:defRPr smtClean="0"/>
            </a:lvl1pPr>
          </a:lstStyle>
          <a:p>
            <a:pPr>
              <a:defRPr/>
            </a:pPr>
            <a:fld id="{529840DE-A67D-4E40-BA13-C5E853E6D78E}" type="slidenum">
              <a:rPr lang="en-US" altLang="tr-TR"/>
              <a:pPr>
                <a:defRPr/>
              </a:pPr>
              <a:t>‹#›</a:t>
            </a:fld>
            <a:endParaRPr lang="en-US" altLang="tr-TR"/>
          </a:p>
        </p:txBody>
      </p:sp>
      <p:sp>
        <p:nvSpPr>
          <p:cNvPr id="7" name="Rectangle 16">
            <a:extLst>
              <a:ext uri="{FF2B5EF4-FFF2-40B4-BE49-F238E27FC236}">
                <a16:creationId xmlns:a16="http://schemas.microsoft.com/office/drawing/2014/main" id="{6EB908BB-27EF-208C-6CD2-8E6A2F96AD0B}"/>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259037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AAA1A2F3-5345-D9C7-26AA-0C6859EC055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DC0EB629-B3FB-EB76-A23B-41B7AC9B0FE4}"/>
              </a:ext>
            </a:extLst>
          </p:cNvPr>
          <p:cNvSpPr>
            <a:spLocks noGrp="1" noChangeArrowheads="1"/>
          </p:cNvSpPr>
          <p:nvPr>
            <p:ph type="sldNum" sz="quarter" idx="11"/>
          </p:nvPr>
        </p:nvSpPr>
        <p:spPr>
          <a:ln/>
        </p:spPr>
        <p:txBody>
          <a:bodyPr/>
          <a:lstStyle>
            <a:lvl1pPr>
              <a:defRPr/>
            </a:lvl1pPr>
          </a:lstStyle>
          <a:p>
            <a:pPr>
              <a:defRPr/>
            </a:pPr>
            <a:fld id="{8D669AC4-5060-482C-96CE-1CF5026D193E}" type="slidenum">
              <a:rPr lang="en-US" altLang="tr-TR"/>
              <a:pPr>
                <a:defRPr/>
              </a:pPr>
              <a:t>‹#›</a:t>
            </a:fld>
            <a:endParaRPr lang="en-US" altLang="tr-TR"/>
          </a:p>
        </p:txBody>
      </p:sp>
      <p:sp>
        <p:nvSpPr>
          <p:cNvPr id="6" name="Rectangle 16">
            <a:extLst>
              <a:ext uri="{FF2B5EF4-FFF2-40B4-BE49-F238E27FC236}">
                <a16:creationId xmlns:a16="http://schemas.microsoft.com/office/drawing/2014/main" id="{45643CE4-A98F-13EC-8202-3310DB81940E}"/>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065763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1A66BB2-CF77-8B18-8401-FA324CDF71AA}"/>
              </a:ext>
            </a:extLst>
          </p:cNvPr>
          <p:cNvSpPr/>
          <p:nvPr/>
        </p:nvSpPr>
        <p:spPr>
          <a:xfrm>
            <a:off x="393700" y="1116013"/>
            <a:ext cx="8370888" cy="100012"/>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91445"/>
            <a:ext cx="8229600" cy="1371600"/>
          </a:xfrm>
        </p:spPr>
        <p:txBody>
          <a:bodyPr/>
          <a:lstStyle/>
          <a:p>
            <a:r>
              <a:rPr lang="en-US"/>
              <a:t>Click to edit Master title style</a:t>
            </a:r>
          </a:p>
        </p:txBody>
      </p:sp>
      <p:sp>
        <p:nvSpPr>
          <p:cNvPr id="3" name="Content Placeholder 2"/>
          <p:cNvSpPr>
            <a:spLocks noGrp="1"/>
          </p:cNvSpPr>
          <p:nvPr>
            <p:ph sz="half" idx="1"/>
          </p:nvPr>
        </p:nvSpPr>
        <p:spPr>
          <a:xfrm>
            <a:off x="457200" y="1272209"/>
            <a:ext cx="4038600" cy="45951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72209"/>
            <a:ext cx="4038600" cy="45951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a:extLst>
              <a:ext uri="{FF2B5EF4-FFF2-40B4-BE49-F238E27FC236}">
                <a16:creationId xmlns:a16="http://schemas.microsoft.com/office/drawing/2014/main" id="{D9E4BD1E-95EB-BB54-AA8E-296A2081F7CA}"/>
              </a:ext>
            </a:extLst>
          </p:cNvPr>
          <p:cNvSpPr>
            <a:spLocks noGrp="1" noChangeArrowheads="1"/>
          </p:cNvSpPr>
          <p:nvPr>
            <p:ph type="ftr" sz="quarter" idx="10"/>
          </p:nvPr>
        </p:nvSpPr>
        <p:spPr/>
        <p:txBody>
          <a:bodyPr/>
          <a:lstStyle>
            <a:lvl1pPr>
              <a:defRPr/>
            </a:lvl1pPr>
          </a:lstStyle>
          <a:p>
            <a:pPr>
              <a:defRPr/>
            </a:pPr>
            <a:endParaRPr lang="en-US"/>
          </a:p>
        </p:txBody>
      </p:sp>
      <p:sp>
        <p:nvSpPr>
          <p:cNvPr id="7" name="Slide Number Placeholder 3">
            <a:extLst>
              <a:ext uri="{FF2B5EF4-FFF2-40B4-BE49-F238E27FC236}">
                <a16:creationId xmlns:a16="http://schemas.microsoft.com/office/drawing/2014/main" id="{450EB016-8AA7-453E-57AC-55CEEE525D02}"/>
              </a:ext>
            </a:extLst>
          </p:cNvPr>
          <p:cNvSpPr>
            <a:spLocks noGrp="1" noChangeArrowheads="1"/>
          </p:cNvSpPr>
          <p:nvPr>
            <p:ph type="sldNum" sz="quarter" idx="11"/>
          </p:nvPr>
        </p:nvSpPr>
        <p:spPr/>
        <p:txBody>
          <a:bodyPr/>
          <a:lstStyle>
            <a:lvl1pPr>
              <a:defRPr smtClean="0"/>
            </a:lvl1pPr>
          </a:lstStyle>
          <a:p>
            <a:pPr>
              <a:defRPr/>
            </a:pPr>
            <a:fld id="{4C6F9F7C-E561-4045-ACEE-0EB637E0E84A}" type="slidenum">
              <a:rPr lang="en-US" altLang="tr-TR"/>
              <a:pPr>
                <a:defRPr/>
              </a:pPr>
              <a:t>‹#›</a:t>
            </a:fld>
            <a:endParaRPr lang="en-US" altLang="tr-TR"/>
          </a:p>
        </p:txBody>
      </p:sp>
      <p:sp>
        <p:nvSpPr>
          <p:cNvPr id="8" name="Rectangle 16">
            <a:extLst>
              <a:ext uri="{FF2B5EF4-FFF2-40B4-BE49-F238E27FC236}">
                <a16:creationId xmlns:a16="http://schemas.microsoft.com/office/drawing/2014/main" id="{6070191A-A913-C285-2968-C1106E9D4635}"/>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183707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20E974AA-75A1-A5D0-6D81-4D9A375B90F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34C2EFE4-A7AE-7F3B-ADEC-D6AD6D02174B}"/>
              </a:ext>
            </a:extLst>
          </p:cNvPr>
          <p:cNvSpPr>
            <a:spLocks noGrp="1" noChangeArrowheads="1"/>
          </p:cNvSpPr>
          <p:nvPr>
            <p:ph type="sldNum" sz="quarter" idx="11"/>
          </p:nvPr>
        </p:nvSpPr>
        <p:spPr>
          <a:ln/>
        </p:spPr>
        <p:txBody>
          <a:bodyPr/>
          <a:lstStyle>
            <a:lvl1pPr>
              <a:defRPr/>
            </a:lvl1pPr>
          </a:lstStyle>
          <a:p>
            <a:pPr>
              <a:defRPr/>
            </a:pPr>
            <a:fld id="{54F269E4-03CD-46C9-8666-730B96D1824A}" type="slidenum">
              <a:rPr lang="en-US" altLang="tr-TR"/>
              <a:pPr>
                <a:defRPr/>
              </a:pPr>
              <a:t>‹#›</a:t>
            </a:fld>
            <a:endParaRPr lang="en-US" altLang="tr-TR"/>
          </a:p>
        </p:txBody>
      </p:sp>
      <p:sp>
        <p:nvSpPr>
          <p:cNvPr id="9" name="Rectangle 16">
            <a:extLst>
              <a:ext uri="{FF2B5EF4-FFF2-40B4-BE49-F238E27FC236}">
                <a16:creationId xmlns:a16="http://schemas.microsoft.com/office/drawing/2014/main" id="{7CCE5202-89D9-1E41-B14F-07DEFF3A78EE}"/>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135856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60361E-38C4-847A-7AD4-24683D77314D}"/>
              </a:ext>
            </a:extLst>
          </p:cNvPr>
          <p:cNvSpPr/>
          <p:nvPr/>
        </p:nvSpPr>
        <p:spPr>
          <a:xfrm>
            <a:off x="457200" y="1123950"/>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59631"/>
            <a:ext cx="8229600" cy="1371600"/>
          </a:xfrm>
        </p:spPr>
        <p:txBody>
          <a:bodyPr/>
          <a:lstStyle/>
          <a:p>
            <a:r>
              <a:rPr lang="en-US"/>
              <a:t>Click to edit Master title style</a:t>
            </a:r>
          </a:p>
        </p:txBody>
      </p:sp>
      <p:sp>
        <p:nvSpPr>
          <p:cNvPr id="4" name="Footer Placeholder 2">
            <a:extLst>
              <a:ext uri="{FF2B5EF4-FFF2-40B4-BE49-F238E27FC236}">
                <a16:creationId xmlns:a16="http://schemas.microsoft.com/office/drawing/2014/main" id="{671C188A-4AAE-864F-CEFE-247B66BBA626}"/>
              </a:ext>
            </a:extLst>
          </p:cNvPr>
          <p:cNvSpPr>
            <a:spLocks noGrp="1" noChangeArrowheads="1"/>
          </p:cNvSpPr>
          <p:nvPr>
            <p:ph type="ftr" sz="quarter" idx="10"/>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74231C9F-429D-991A-B7A3-AB7C7B67AA69}"/>
              </a:ext>
            </a:extLst>
          </p:cNvPr>
          <p:cNvSpPr>
            <a:spLocks noGrp="1" noChangeArrowheads="1"/>
          </p:cNvSpPr>
          <p:nvPr>
            <p:ph type="sldNum" sz="quarter" idx="11"/>
          </p:nvPr>
        </p:nvSpPr>
        <p:spPr/>
        <p:txBody>
          <a:bodyPr/>
          <a:lstStyle>
            <a:lvl1pPr>
              <a:defRPr smtClean="0"/>
            </a:lvl1pPr>
          </a:lstStyle>
          <a:p>
            <a:pPr>
              <a:defRPr/>
            </a:pPr>
            <a:fld id="{011C38E1-B2AA-41BA-93D2-F82E9617F596}" type="slidenum">
              <a:rPr lang="en-US" altLang="tr-TR"/>
              <a:pPr>
                <a:defRPr/>
              </a:pPr>
              <a:t>‹#›</a:t>
            </a:fld>
            <a:endParaRPr lang="en-US" altLang="tr-TR"/>
          </a:p>
        </p:txBody>
      </p:sp>
      <p:sp>
        <p:nvSpPr>
          <p:cNvPr id="6" name="Rectangle 16">
            <a:extLst>
              <a:ext uri="{FF2B5EF4-FFF2-40B4-BE49-F238E27FC236}">
                <a16:creationId xmlns:a16="http://schemas.microsoft.com/office/drawing/2014/main" id="{BD74F90F-183C-8350-E86C-82F6ABF45394}"/>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81701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392A09A-E7E4-C50F-1A81-7EBE881A555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D0FBCF97-2008-B41E-A88B-86EC1492C57F}"/>
              </a:ext>
            </a:extLst>
          </p:cNvPr>
          <p:cNvSpPr>
            <a:spLocks noGrp="1" noChangeArrowheads="1"/>
          </p:cNvSpPr>
          <p:nvPr>
            <p:ph type="sldNum" sz="quarter" idx="11"/>
          </p:nvPr>
        </p:nvSpPr>
        <p:spPr>
          <a:ln/>
        </p:spPr>
        <p:txBody>
          <a:bodyPr/>
          <a:lstStyle>
            <a:lvl1pPr>
              <a:defRPr/>
            </a:lvl1pPr>
          </a:lstStyle>
          <a:p>
            <a:pPr>
              <a:defRPr/>
            </a:pPr>
            <a:fld id="{1D64B018-911A-4099-BDBD-CBFA09EEDB20}" type="slidenum">
              <a:rPr lang="en-US" altLang="tr-TR"/>
              <a:pPr>
                <a:defRPr/>
              </a:pPr>
              <a:t>‹#›</a:t>
            </a:fld>
            <a:endParaRPr lang="en-US" altLang="tr-TR"/>
          </a:p>
        </p:txBody>
      </p:sp>
      <p:sp>
        <p:nvSpPr>
          <p:cNvPr id="4" name="Rectangle 16">
            <a:extLst>
              <a:ext uri="{FF2B5EF4-FFF2-40B4-BE49-F238E27FC236}">
                <a16:creationId xmlns:a16="http://schemas.microsoft.com/office/drawing/2014/main" id="{7F9EABB1-55D9-E141-1EA7-196862B0E801}"/>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500722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3EB1099A-C7AA-3118-C903-B4E3D322B07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E5CEC0B5-096A-D9B4-5B36-22A19C0FBC31}"/>
              </a:ext>
            </a:extLst>
          </p:cNvPr>
          <p:cNvSpPr>
            <a:spLocks noGrp="1" noChangeArrowheads="1"/>
          </p:cNvSpPr>
          <p:nvPr>
            <p:ph type="sldNum" sz="quarter" idx="11"/>
          </p:nvPr>
        </p:nvSpPr>
        <p:spPr>
          <a:ln/>
        </p:spPr>
        <p:txBody>
          <a:bodyPr/>
          <a:lstStyle>
            <a:lvl1pPr>
              <a:defRPr/>
            </a:lvl1pPr>
          </a:lstStyle>
          <a:p>
            <a:pPr>
              <a:defRPr/>
            </a:pPr>
            <a:fld id="{284087DB-5530-4571-8176-0D6FEABD4252}" type="slidenum">
              <a:rPr lang="en-US" altLang="tr-TR"/>
              <a:pPr>
                <a:defRPr/>
              </a:pPr>
              <a:t>‹#›</a:t>
            </a:fld>
            <a:endParaRPr lang="en-US" altLang="tr-TR"/>
          </a:p>
        </p:txBody>
      </p:sp>
      <p:sp>
        <p:nvSpPr>
          <p:cNvPr id="7" name="Rectangle 16">
            <a:extLst>
              <a:ext uri="{FF2B5EF4-FFF2-40B4-BE49-F238E27FC236}">
                <a16:creationId xmlns:a16="http://schemas.microsoft.com/office/drawing/2014/main" id="{6B9F22C4-4C8C-027E-26EB-FB34BBA7529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77745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AFFCA84C-7543-1EE5-C574-8A92A79CB9C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34C2A70B-09C8-0FAA-481E-E2AF12BF4C98}"/>
              </a:ext>
            </a:extLst>
          </p:cNvPr>
          <p:cNvSpPr>
            <a:spLocks noGrp="1" noChangeArrowheads="1"/>
          </p:cNvSpPr>
          <p:nvPr>
            <p:ph type="sldNum" sz="quarter" idx="11"/>
          </p:nvPr>
        </p:nvSpPr>
        <p:spPr>
          <a:ln/>
        </p:spPr>
        <p:txBody>
          <a:bodyPr/>
          <a:lstStyle>
            <a:lvl1pPr>
              <a:defRPr/>
            </a:lvl1pPr>
          </a:lstStyle>
          <a:p>
            <a:pPr>
              <a:defRPr/>
            </a:pPr>
            <a:fld id="{793E6941-A6B1-461E-9982-26EDE722CB33}" type="slidenum">
              <a:rPr lang="en-US" altLang="tr-TR"/>
              <a:pPr>
                <a:defRPr/>
              </a:pPr>
              <a:t>‹#›</a:t>
            </a:fld>
            <a:endParaRPr lang="en-US" altLang="tr-TR"/>
          </a:p>
        </p:txBody>
      </p:sp>
      <p:sp>
        <p:nvSpPr>
          <p:cNvPr id="7" name="Rectangle 16">
            <a:extLst>
              <a:ext uri="{FF2B5EF4-FFF2-40B4-BE49-F238E27FC236}">
                <a16:creationId xmlns:a16="http://schemas.microsoft.com/office/drawing/2014/main" id="{2103E49D-030E-CACA-D046-6DC4301AADC8}"/>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95018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52C7B3-E7BD-A1E3-6C62-8CEC2A28D484}"/>
              </a:ext>
            </a:extLst>
          </p:cNvPr>
          <p:cNvSpPr/>
          <p:nvPr/>
        </p:nvSpPr>
        <p:spPr>
          <a:xfrm>
            <a:off x="457200" y="1489075"/>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
            <a:extLst>
              <a:ext uri="{FF2B5EF4-FFF2-40B4-BE49-F238E27FC236}">
                <a16:creationId xmlns:a16="http://schemas.microsoft.com/office/drawing/2014/main" id="{6A9537C4-EDB5-DDBB-105E-DCBC8AA99789}"/>
              </a:ext>
            </a:extLst>
          </p:cNvPr>
          <p:cNvSpPr>
            <a:spLocks noGrp="1" noChangeArrowheads="1"/>
          </p:cNvSpPr>
          <p:nvPr>
            <p:ph type="ftr" sz="quarter" idx="10"/>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021EA027-83BA-E9BC-9240-F3400B5D799C}"/>
              </a:ext>
            </a:extLst>
          </p:cNvPr>
          <p:cNvSpPr>
            <a:spLocks noGrp="1" noChangeArrowheads="1"/>
          </p:cNvSpPr>
          <p:nvPr>
            <p:ph type="sldNum" sz="quarter" idx="11"/>
          </p:nvPr>
        </p:nvSpPr>
        <p:spPr/>
        <p:txBody>
          <a:bodyPr/>
          <a:lstStyle>
            <a:lvl1pPr>
              <a:defRPr smtClean="0"/>
            </a:lvl1pPr>
          </a:lstStyle>
          <a:p>
            <a:pPr>
              <a:defRPr/>
            </a:pPr>
            <a:fld id="{0D604189-6F24-4C3F-B0BE-C62A79864CC9}" type="slidenum">
              <a:rPr lang="en-US" altLang="tr-TR"/>
              <a:pPr>
                <a:defRPr/>
              </a:pPr>
              <a:t>‹#›</a:t>
            </a:fld>
            <a:endParaRPr lang="en-US" altLang="tr-TR"/>
          </a:p>
        </p:txBody>
      </p:sp>
      <p:sp>
        <p:nvSpPr>
          <p:cNvPr id="7" name="Rectangle 16">
            <a:extLst>
              <a:ext uri="{FF2B5EF4-FFF2-40B4-BE49-F238E27FC236}">
                <a16:creationId xmlns:a16="http://schemas.microsoft.com/office/drawing/2014/main" id="{18347297-B689-B93D-BB51-D5B46743B457}"/>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2085127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482BDC04-5561-9D03-C305-9623B21F3C6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9C2DBA47-2BBF-DB5D-4A1B-33A82D0ACFEA}"/>
              </a:ext>
            </a:extLst>
          </p:cNvPr>
          <p:cNvSpPr>
            <a:spLocks noGrp="1" noChangeArrowheads="1"/>
          </p:cNvSpPr>
          <p:nvPr>
            <p:ph type="sldNum" sz="quarter" idx="11"/>
          </p:nvPr>
        </p:nvSpPr>
        <p:spPr>
          <a:ln/>
        </p:spPr>
        <p:txBody>
          <a:bodyPr/>
          <a:lstStyle>
            <a:lvl1pPr>
              <a:defRPr/>
            </a:lvl1pPr>
          </a:lstStyle>
          <a:p>
            <a:pPr>
              <a:defRPr/>
            </a:pPr>
            <a:fld id="{95E18697-3FCF-4BAB-A531-2024048492CE}" type="slidenum">
              <a:rPr lang="en-US" altLang="tr-TR"/>
              <a:pPr>
                <a:defRPr/>
              </a:pPr>
              <a:t>‹#›</a:t>
            </a:fld>
            <a:endParaRPr lang="en-US" altLang="tr-TR"/>
          </a:p>
        </p:txBody>
      </p:sp>
      <p:sp>
        <p:nvSpPr>
          <p:cNvPr id="6" name="Rectangle 16">
            <a:extLst>
              <a:ext uri="{FF2B5EF4-FFF2-40B4-BE49-F238E27FC236}">
                <a16:creationId xmlns:a16="http://schemas.microsoft.com/office/drawing/2014/main" id="{5746D6A6-CAEA-C289-4A90-048A2F5A1421}"/>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52995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7F56314-DF2C-82A1-1AFC-F4EAFDCE042D}"/>
              </a:ext>
            </a:extLst>
          </p:cNvPr>
          <p:cNvSpPr/>
          <p:nvPr/>
        </p:nvSpPr>
        <p:spPr>
          <a:xfrm>
            <a:off x="457200" y="1123950"/>
            <a:ext cx="8370888"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3979"/>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a:extLst>
              <a:ext uri="{FF2B5EF4-FFF2-40B4-BE49-F238E27FC236}">
                <a16:creationId xmlns:a16="http://schemas.microsoft.com/office/drawing/2014/main" id="{F756EB44-B029-7A22-66F1-23F413695579}"/>
              </a:ext>
            </a:extLst>
          </p:cNvPr>
          <p:cNvSpPr>
            <a:spLocks noGrp="1" noChangeArrowheads="1"/>
          </p:cNvSpPr>
          <p:nvPr>
            <p:ph type="ftr" sz="quarter" idx="10"/>
          </p:nvPr>
        </p:nvSpPr>
        <p:spPr/>
        <p:txBody>
          <a:bodyPr/>
          <a:lstStyle>
            <a:lvl1pPr>
              <a:defRPr/>
            </a:lvl1pPr>
          </a:lstStyle>
          <a:p>
            <a:pPr>
              <a:defRPr/>
            </a:pPr>
            <a:endParaRPr lang="en-US"/>
          </a:p>
        </p:txBody>
      </p:sp>
      <p:sp>
        <p:nvSpPr>
          <p:cNvPr id="7" name="Slide Number Placeholder 3">
            <a:extLst>
              <a:ext uri="{FF2B5EF4-FFF2-40B4-BE49-F238E27FC236}">
                <a16:creationId xmlns:a16="http://schemas.microsoft.com/office/drawing/2014/main" id="{CFE7E670-4590-47F1-785B-5A5C18265B94}"/>
              </a:ext>
            </a:extLst>
          </p:cNvPr>
          <p:cNvSpPr>
            <a:spLocks noGrp="1" noChangeArrowheads="1"/>
          </p:cNvSpPr>
          <p:nvPr>
            <p:ph type="sldNum" sz="quarter" idx="11"/>
          </p:nvPr>
        </p:nvSpPr>
        <p:spPr/>
        <p:txBody>
          <a:bodyPr/>
          <a:lstStyle>
            <a:lvl1pPr>
              <a:defRPr smtClean="0"/>
            </a:lvl1pPr>
          </a:lstStyle>
          <a:p>
            <a:pPr>
              <a:defRPr/>
            </a:pPr>
            <a:fld id="{6BA55B81-A655-4BAB-BD96-18C923AA694D}" type="slidenum">
              <a:rPr lang="en-US" altLang="tr-TR"/>
              <a:pPr>
                <a:defRPr/>
              </a:pPr>
              <a:t>‹#›</a:t>
            </a:fld>
            <a:endParaRPr lang="en-US" altLang="tr-TR"/>
          </a:p>
        </p:txBody>
      </p:sp>
      <p:sp>
        <p:nvSpPr>
          <p:cNvPr id="8" name="Rectangle 16">
            <a:extLst>
              <a:ext uri="{FF2B5EF4-FFF2-40B4-BE49-F238E27FC236}">
                <a16:creationId xmlns:a16="http://schemas.microsoft.com/office/drawing/2014/main" id="{D75EB231-B568-2E76-9F0C-8A479ACC1C5F}"/>
              </a:ext>
            </a:extLst>
          </p:cNvPr>
          <p:cNvSpPr>
            <a:spLocks noGrp="1" noChangeArrowheads="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270299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39BB9F28-945C-438F-C5CD-D2954C4578D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274435" name="Rectangle 3">
            <a:extLst>
              <a:ext uri="{FF2B5EF4-FFF2-40B4-BE49-F238E27FC236}">
                <a16:creationId xmlns:a16="http://schemas.microsoft.com/office/drawing/2014/main" id="{8459194D-D696-44B5-CACC-380181A4E46D}"/>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anose="020B0A04020102020204" pitchFamily="34" charset="0"/>
              </a:defRPr>
            </a:lvl1pPr>
          </a:lstStyle>
          <a:p>
            <a:pPr>
              <a:defRPr/>
            </a:pPr>
            <a:fld id="{7E21D756-AE7C-485E-9545-698C463D8985}" type="slidenum">
              <a:rPr lang="en-US" altLang="tr-TR"/>
              <a:pPr>
                <a:defRPr/>
              </a:pPr>
              <a:t>‹#›</a:t>
            </a:fld>
            <a:endParaRPr lang="en-US" altLang="tr-TR"/>
          </a:p>
        </p:txBody>
      </p:sp>
      <p:grpSp>
        <p:nvGrpSpPr>
          <p:cNvPr id="1028" name="Group 4">
            <a:extLst>
              <a:ext uri="{FF2B5EF4-FFF2-40B4-BE49-F238E27FC236}">
                <a16:creationId xmlns:a16="http://schemas.microsoft.com/office/drawing/2014/main" id="{81E2958B-9901-7E98-CB13-B4B63BC0DD48}"/>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58A94916-F065-625A-6047-72EB9529FB90}"/>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1033" name="Rectangle 6">
              <a:extLst>
                <a:ext uri="{FF2B5EF4-FFF2-40B4-BE49-F238E27FC236}">
                  <a16:creationId xmlns:a16="http://schemas.microsoft.com/office/drawing/2014/main" id="{D0CE4105-E179-42B8-6682-ACF17A46CDFE}"/>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4" name="Rectangle 7">
              <a:extLst>
                <a:ext uri="{FF2B5EF4-FFF2-40B4-BE49-F238E27FC236}">
                  <a16:creationId xmlns:a16="http://schemas.microsoft.com/office/drawing/2014/main" id="{B7C16E50-2CD8-2AF2-3157-58B872820CA2}"/>
                </a:ext>
              </a:extLst>
            </p:cNvPr>
            <p:cNvSpPr>
              <a:spLocks noChangeArrowheads="1"/>
            </p:cNvSpPr>
            <p:nvPr/>
          </p:nvSpPr>
          <p:spPr bwMode="auto">
            <a:xfrm>
              <a:off x="258" y="85"/>
              <a:ext cx="87" cy="89"/>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5" name="Rectangle 8">
              <a:extLst>
                <a:ext uri="{FF2B5EF4-FFF2-40B4-BE49-F238E27FC236}">
                  <a16:creationId xmlns:a16="http://schemas.microsoft.com/office/drawing/2014/main" id="{9C14E426-BABB-21FA-685E-8418C36F692C}"/>
                </a:ext>
              </a:extLst>
            </p:cNvPr>
            <p:cNvSpPr>
              <a:spLocks noChangeArrowheads="1"/>
            </p:cNvSpPr>
            <p:nvPr/>
          </p:nvSpPr>
          <p:spPr bwMode="auto">
            <a:xfrm>
              <a:off x="345" y="0"/>
              <a:ext cx="88" cy="87"/>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6" name="Rectangle 9">
              <a:extLst>
                <a:ext uri="{FF2B5EF4-FFF2-40B4-BE49-F238E27FC236}">
                  <a16:creationId xmlns:a16="http://schemas.microsoft.com/office/drawing/2014/main" id="{13BAFBB1-9569-708E-E7A9-FCA309E8078F}"/>
                </a:ext>
              </a:extLst>
            </p:cNvPr>
            <p:cNvSpPr>
              <a:spLocks noChangeArrowheads="1"/>
            </p:cNvSpPr>
            <p:nvPr/>
          </p:nvSpPr>
          <p:spPr bwMode="auto">
            <a:xfrm>
              <a:off x="345" y="85"/>
              <a:ext cx="88" cy="89"/>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37" name="Rectangle 10">
              <a:extLst>
                <a:ext uri="{FF2B5EF4-FFF2-40B4-BE49-F238E27FC236}">
                  <a16:creationId xmlns:a16="http://schemas.microsoft.com/office/drawing/2014/main" id="{38545ED2-E774-3FB7-19D4-D6A774E55D37}"/>
                </a:ext>
              </a:extLst>
            </p:cNvPr>
            <p:cNvSpPr>
              <a:spLocks noChangeArrowheads="1"/>
            </p:cNvSpPr>
            <p:nvPr/>
          </p:nvSpPr>
          <p:spPr bwMode="auto">
            <a:xfrm>
              <a:off x="173" y="173"/>
              <a:ext cx="86" cy="87"/>
            </a:xfrm>
            <a:prstGeom prst="rect">
              <a:avLst/>
            </a:prstGeom>
            <a:solidFill>
              <a:schemeClr val="folHlink"/>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8" name="Rectangle 11">
              <a:extLst>
                <a:ext uri="{FF2B5EF4-FFF2-40B4-BE49-F238E27FC236}">
                  <a16:creationId xmlns:a16="http://schemas.microsoft.com/office/drawing/2014/main" id="{FDF9FE7F-401F-6D83-5EF8-FBABCB986DBF}"/>
                </a:ext>
              </a:extLst>
            </p:cNvPr>
            <p:cNvSpPr>
              <a:spLocks noChangeArrowheads="1"/>
            </p:cNvSpPr>
            <p:nvPr/>
          </p:nvSpPr>
          <p:spPr bwMode="auto">
            <a:xfrm>
              <a:off x="83" y="86"/>
              <a:ext cx="89" cy="87"/>
            </a:xfrm>
            <a:prstGeom prst="rect">
              <a:avLst/>
            </a:prstGeom>
            <a:solidFill>
              <a:schemeClr val="bg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9" name="Rectangle 12">
              <a:extLst>
                <a:ext uri="{FF2B5EF4-FFF2-40B4-BE49-F238E27FC236}">
                  <a16:creationId xmlns:a16="http://schemas.microsoft.com/office/drawing/2014/main" id="{F108C02D-E081-6DF9-CB28-F26F3EAAF36D}"/>
                </a:ext>
              </a:extLst>
            </p:cNvPr>
            <p:cNvSpPr>
              <a:spLocks noChangeArrowheads="1"/>
            </p:cNvSpPr>
            <p:nvPr/>
          </p:nvSpPr>
          <p:spPr bwMode="auto">
            <a:xfrm>
              <a:off x="258" y="171"/>
              <a:ext cx="87" cy="87"/>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40" name="Rectangle 13">
              <a:extLst>
                <a:ext uri="{FF2B5EF4-FFF2-40B4-BE49-F238E27FC236}">
                  <a16:creationId xmlns:a16="http://schemas.microsoft.com/office/drawing/2014/main" id="{D71CA5C5-2D03-2A46-B6B9-F72D0240ABA6}"/>
                </a:ext>
              </a:extLst>
            </p:cNvPr>
            <p:cNvSpPr>
              <a:spLocks noChangeArrowheads="1"/>
            </p:cNvSpPr>
            <p:nvPr/>
          </p:nvSpPr>
          <p:spPr bwMode="auto">
            <a:xfrm>
              <a:off x="173" y="258"/>
              <a:ext cx="86" cy="86"/>
            </a:xfrm>
            <a:prstGeom prst="rect">
              <a:avLst/>
            </a:prstGeom>
            <a:solidFill>
              <a:schemeClr val="accent2"/>
            </a:solidFill>
            <a:ln>
              <a:noFill/>
            </a:ln>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grpSp>
      <p:sp>
        <p:nvSpPr>
          <p:cNvPr id="1029" name="Rectangle 14">
            <a:extLst>
              <a:ext uri="{FF2B5EF4-FFF2-40B4-BE49-F238E27FC236}">
                <a16:creationId xmlns:a16="http://schemas.microsoft.com/office/drawing/2014/main" id="{B0121BDF-D996-F2B8-62F8-7F7E6752939D}"/>
              </a:ext>
            </a:extLst>
          </p:cNvPr>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tr-TR"/>
              <a:t>Click to edit Master title style</a:t>
            </a:r>
          </a:p>
        </p:txBody>
      </p:sp>
      <p:sp>
        <p:nvSpPr>
          <p:cNvPr id="1030" name="Rectangle 15">
            <a:extLst>
              <a:ext uri="{FF2B5EF4-FFF2-40B4-BE49-F238E27FC236}">
                <a16:creationId xmlns:a16="http://schemas.microsoft.com/office/drawing/2014/main" id="{10E44C49-E72C-A738-A293-94E952E5D084}"/>
              </a:ext>
            </a:extLst>
          </p:cNvPr>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274448" name="Rectangle 16">
            <a:extLst>
              <a:ext uri="{FF2B5EF4-FFF2-40B4-BE49-F238E27FC236}">
                <a16:creationId xmlns:a16="http://schemas.microsoft.com/office/drawing/2014/main" id="{286A7D12-9551-CAE1-BD88-C43ADA4E9E6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79" r:id="rId3"/>
    <p:sldLayoutId id="2147483687" r:id="rId4"/>
    <p:sldLayoutId id="2147483680" r:id="rId5"/>
    <p:sldLayoutId id="2147483688" r:id="rId6"/>
    <p:sldLayoutId id="2147483681" r:id="rId7"/>
    <p:sldLayoutId id="2147483682" r:id="rId8"/>
    <p:sldLayoutId id="2147483683" r:id="rId9"/>
    <p:sldLayoutId id="2147483689" r:id="rId10"/>
    <p:sldLayoutId id="2147483684" r:id="rId11"/>
    <p:sldLayoutId id="2147483690" r:id="rId12"/>
  </p:sldLayoutIdLst>
  <p:txStyles>
    <p:titleStyle>
      <a:lvl1pPr algn="l" rtl="0" fontAlgn="base">
        <a:spcBef>
          <a:spcPct val="0"/>
        </a:spcBef>
        <a:spcAft>
          <a:spcPct val="0"/>
        </a:spcAft>
        <a:defRPr sz="4400">
          <a:solidFill>
            <a:schemeClr val="tx1"/>
          </a:solidFill>
          <a:latin typeface="+mj-lt"/>
          <a:ea typeface="+mj-ea"/>
          <a:cs typeface="+mj-cs"/>
        </a:defRPr>
      </a:lvl1pPr>
      <a:lvl2pPr algn="l" rtl="0" fontAlgn="base">
        <a:spcBef>
          <a:spcPct val="0"/>
        </a:spcBef>
        <a:spcAft>
          <a:spcPct val="0"/>
        </a:spcAft>
        <a:defRPr sz="4400">
          <a:solidFill>
            <a:schemeClr val="tx1"/>
          </a:solidFill>
          <a:latin typeface="Arial" charset="0"/>
        </a:defRPr>
      </a:lvl2pPr>
      <a:lvl3pPr algn="l" rtl="0" fontAlgn="base">
        <a:spcBef>
          <a:spcPct val="0"/>
        </a:spcBef>
        <a:spcAft>
          <a:spcPct val="0"/>
        </a:spcAft>
        <a:defRPr sz="4400">
          <a:solidFill>
            <a:schemeClr val="tx1"/>
          </a:solidFill>
          <a:latin typeface="Arial" charset="0"/>
        </a:defRPr>
      </a:lvl3pPr>
      <a:lvl4pPr algn="l" rtl="0" fontAlgn="base">
        <a:spcBef>
          <a:spcPct val="0"/>
        </a:spcBef>
        <a:spcAft>
          <a:spcPct val="0"/>
        </a:spcAft>
        <a:defRPr sz="4400">
          <a:solidFill>
            <a:schemeClr val="tx1"/>
          </a:solidFill>
          <a:latin typeface="Arial" charset="0"/>
        </a:defRPr>
      </a:lvl4pPr>
      <a:lvl5pPr algn="l" rtl="0" fontAlgn="base">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p:titleStyle>
    <p:body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gameprogrammingpatterns.com/observer.html#it-does-too-much-dynamic-allocation"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en.wikipedia.org/wiki/Design_Pattern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A2185F2-23A9-1BAC-5D82-34226EAAF5A3}"/>
              </a:ext>
            </a:extLst>
          </p:cNvPr>
          <p:cNvSpPr>
            <a:spLocks noGrp="1" noChangeArrowheads="1"/>
          </p:cNvSpPr>
          <p:nvPr>
            <p:ph type="ctrTitle"/>
          </p:nvPr>
        </p:nvSpPr>
        <p:spPr/>
        <p:txBody>
          <a:bodyPr/>
          <a:lstStyle/>
          <a:p>
            <a:r>
              <a:rPr lang="en-US" altLang="tr-TR"/>
              <a:t>Behavioral Patterns</a:t>
            </a:r>
          </a:p>
        </p:txBody>
      </p:sp>
      <p:sp>
        <p:nvSpPr>
          <p:cNvPr id="2" name="Subtitle 1">
            <a:extLst>
              <a:ext uri="{FF2B5EF4-FFF2-40B4-BE49-F238E27FC236}">
                <a16:creationId xmlns:a16="http://schemas.microsoft.com/office/drawing/2014/main" id="{983BF9E3-BC8F-1ADE-0FDB-F0DAE55F5714}"/>
              </a:ext>
            </a:extLst>
          </p:cNvPr>
          <p:cNvSpPr>
            <a:spLocks noGrp="1"/>
          </p:cNvSpPr>
          <p:nvPr>
            <p:ph type="subTitle" idx="1"/>
          </p:nvPr>
        </p:nvSpPr>
        <p:spPr/>
        <p:txBody>
          <a:bodyPr/>
          <a:lstStyle/>
          <a:p>
            <a:r>
              <a:rPr lang="en-US" dirty="0"/>
              <a:t>Chain of Responsibility</a:t>
            </a:r>
          </a:p>
          <a:p>
            <a:r>
              <a:rPr lang="en-US" dirty="0"/>
              <a:t>Mediator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F3139B0-3234-9DC3-33A8-EED9E06EF515}"/>
              </a:ext>
            </a:extLst>
          </p:cNvPr>
          <p:cNvSpPr>
            <a:spLocks noGrp="1" noChangeArrowheads="1"/>
          </p:cNvSpPr>
          <p:nvPr>
            <p:ph type="title"/>
          </p:nvPr>
        </p:nvSpPr>
        <p:spPr>
          <a:xfrm>
            <a:off x="457200" y="139700"/>
            <a:ext cx="8229600" cy="1371600"/>
          </a:xfrm>
        </p:spPr>
        <p:txBody>
          <a:bodyPr/>
          <a:lstStyle/>
          <a:p>
            <a:r>
              <a:rPr lang="en-US" altLang="tr-TR" dirty="0"/>
              <a:t>Decouple sender and handler</a:t>
            </a:r>
            <a:endParaRPr lang="en-GB" altLang="tr-TR" dirty="0"/>
          </a:p>
        </p:txBody>
      </p:sp>
      <p:sp>
        <p:nvSpPr>
          <p:cNvPr id="13315" name="Rectangle 3">
            <a:extLst>
              <a:ext uri="{FF2B5EF4-FFF2-40B4-BE49-F238E27FC236}">
                <a16:creationId xmlns:a16="http://schemas.microsoft.com/office/drawing/2014/main" id="{32113889-3464-4D06-D23B-F729A52A14F2}"/>
              </a:ext>
            </a:extLst>
          </p:cNvPr>
          <p:cNvSpPr>
            <a:spLocks noGrp="1" noChangeArrowheads="1"/>
          </p:cNvSpPr>
          <p:nvPr>
            <p:ph idx="1"/>
          </p:nvPr>
        </p:nvSpPr>
        <p:spPr>
          <a:xfrm>
            <a:off x="457200" y="1335088"/>
            <a:ext cx="8229600" cy="4532312"/>
          </a:xfrm>
        </p:spPr>
        <p:txBody>
          <a:bodyPr/>
          <a:lstStyle/>
          <a:p>
            <a:pPr marL="609600" indent="-609600">
              <a:lnSpc>
                <a:spcPct val="80000"/>
              </a:lnSpc>
              <a:buFont typeface="Wingdings" panose="05000000000000000000" pitchFamily="2" charset="2"/>
              <a:buChar char="q"/>
            </a:pPr>
            <a:r>
              <a:rPr lang="en-US" altLang="tr-TR" sz="2800" dirty="0"/>
              <a:t>Observer</a:t>
            </a:r>
          </a:p>
          <a:p>
            <a:pPr marL="609600" indent="-609600">
              <a:lnSpc>
                <a:spcPct val="80000"/>
              </a:lnSpc>
              <a:buFont typeface="Wingdings" panose="05000000000000000000" pitchFamily="2" charset="2"/>
              <a:buChar char="q"/>
            </a:pPr>
            <a:r>
              <a:rPr lang="en-US" altLang="tr-TR" sz="2800" dirty="0"/>
              <a:t>Command</a:t>
            </a:r>
          </a:p>
          <a:p>
            <a:pPr marL="609600" indent="-609600">
              <a:lnSpc>
                <a:spcPct val="80000"/>
              </a:lnSpc>
              <a:buFont typeface="Wingdings" panose="05000000000000000000" pitchFamily="2" charset="2"/>
              <a:buChar char="q"/>
            </a:pPr>
            <a:r>
              <a:rPr lang="en-US" altLang="tr-TR" sz="2800" dirty="0"/>
              <a:t>mediator</a:t>
            </a:r>
          </a:p>
          <a:p>
            <a:pPr marL="609600" indent="-609600">
              <a:lnSpc>
                <a:spcPct val="80000"/>
              </a:lnSpc>
              <a:buFont typeface="Wingdings" panose="05000000000000000000" pitchFamily="2" charset="2"/>
              <a:buChar char="q"/>
            </a:pPr>
            <a:r>
              <a:rPr lang="en-US" altLang="tr-TR" sz="2800" dirty="0"/>
              <a:t>Chain of Responsibility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030CBAD-027D-2DDE-8F89-29F287526C06}"/>
              </a:ext>
            </a:extLst>
          </p:cNvPr>
          <p:cNvSpPr>
            <a:spLocks noGrp="1" noChangeArrowheads="1"/>
          </p:cNvSpPr>
          <p:nvPr>
            <p:ph type="title"/>
          </p:nvPr>
        </p:nvSpPr>
        <p:spPr>
          <a:xfrm>
            <a:off x="457200" y="139700"/>
            <a:ext cx="8229600" cy="1371600"/>
          </a:xfrm>
        </p:spPr>
        <p:txBody>
          <a:bodyPr/>
          <a:lstStyle/>
          <a:p>
            <a:r>
              <a:rPr lang="en-US" altLang="tr-TR"/>
              <a:t>Chain of Responsibility</a:t>
            </a:r>
            <a:endParaRPr lang="en-GB" altLang="tr-TR"/>
          </a:p>
        </p:txBody>
      </p:sp>
      <p:sp>
        <p:nvSpPr>
          <p:cNvPr id="14339" name="Rectangle 3">
            <a:extLst>
              <a:ext uri="{FF2B5EF4-FFF2-40B4-BE49-F238E27FC236}">
                <a16:creationId xmlns:a16="http://schemas.microsoft.com/office/drawing/2014/main" id="{A30869E4-DEA8-67D7-D9A4-643FA16F0F07}"/>
              </a:ext>
            </a:extLst>
          </p:cNvPr>
          <p:cNvSpPr>
            <a:spLocks noGrp="1" noChangeArrowheads="1"/>
          </p:cNvSpPr>
          <p:nvPr>
            <p:ph idx="1"/>
          </p:nvPr>
        </p:nvSpPr>
        <p:spPr>
          <a:xfrm>
            <a:off x="457200" y="1335088"/>
            <a:ext cx="8229600" cy="4532312"/>
          </a:xfrm>
        </p:spPr>
        <p:txBody>
          <a:bodyPr/>
          <a:lstStyle/>
          <a:p>
            <a:pPr>
              <a:lnSpc>
                <a:spcPct val="90000"/>
              </a:lnSpc>
            </a:pPr>
            <a:r>
              <a:rPr lang="en-US" altLang="tr-TR" sz="2800" dirty="0"/>
              <a:t>When you want to give more than one object a chance to handle a request</a:t>
            </a:r>
          </a:p>
          <a:p>
            <a:pPr>
              <a:lnSpc>
                <a:spcPct val="90000"/>
              </a:lnSpc>
            </a:pPr>
            <a:endParaRPr lang="en-US" altLang="tr-TR" sz="2800" dirty="0"/>
          </a:p>
          <a:p>
            <a:pPr marL="0" indent="0">
              <a:lnSpc>
                <a:spcPct val="90000"/>
              </a:lnSpc>
              <a:buNone/>
            </a:pPr>
            <a:r>
              <a:rPr lang="en-US" altLang="tr-TR" sz="2800" u="sng" dirty="0"/>
              <a:t>Example</a:t>
            </a:r>
            <a:r>
              <a:rPr lang="en-US" altLang="tr-TR" sz="2800" dirty="0"/>
              <a:t> scenario: Email sorter</a:t>
            </a:r>
          </a:p>
          <a:p>
            <a:pPr>
              <a:lnSpc>
                <a:spcPct val="90000"/>
              </a:lnSpc>
            </a:pPr>
            <a:r>
              <a:rPr lang="en-US" altLang="tr-TR" sz="2800" dirty="0"/>
              <a:t>There are 3 types of incoming emails: spam, complaint, request. </a:t>
            </a:r>
          </a:p>
          <a:p>
            <a:pPr>
              <a:lnSpc>
                <a:spcPct val="90000"/>
              </a:lnSpc>
            </a:pPr>
            <a:r>
              <a:rPr lang="en-US" altLang="tr-TR" sz="2800" dirty="0"/>
              <a:t>Each will be put into a proper directory.</a:t>
            </a:r>
          </a:p>
          <a:p>
            <a:pPr lvl="1">
              <a:lnSpc>
                <a:spcPct val="90000"/>
              </a:lnSpc>
            </a:pPr>
            <a:r>
              <a:rPr lang="en-US" altLang="tr-TR" sz="2400" dirty="0"/>
              <a:t> Assume there is a detector that can tell the email category. </a:t>
            </a:r>
          </a:p>
          <a:p>
            <a:pPr>
              <a:lnSpc>
                <a:spcPct val="90000"/>
              </a:lnSpc>
            </a:pPr>
            <a:r>
              <a:rPr lang="en-US" altLang="tr-TR" sz="2800" dirty="0"/>
              <a:t>Create a design that can use the detectors to sort the incoming emails</a:t>
            </a:r>
            <a:endParaRPr lang="en-GB" altLang="tr-TR"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C1F4-90E4-D82A-27F7-A1F1F3CF09AA}"/>
              </a:ext>
            </a:extLst>
          </p:cNvPr>
          <p:cNvSpPr>
            <a:spLocks noGrp="1"/>
          </p:cNvSpPr>
          <p:nvPr>
            <p:ph type="title"/>
          </p:nvPr>
        </p:nvSpPr>
        <p:spPr/>
        <p:txBody>
          <a:bodyPr/>
          <a:lstStyle/>
          <a:p>
            <a:r>
              <a:rPr lang="en-US" dirty="0"/>
              <a:t>Attempt 1:</a:t>
            </a:r>
          </a:p>
        </p:txBody>
      </p:sp>
      <p:sp>
        <p:nvSpPr>
          <p:cNvPr id="3" name="Content Placeholder 2">
            <a:extLst>
              <a:ext uri="{FF2B5EF4-FFF2-40B4-BE49-F238E27FC236}">
                <a16:creationId xmlns:a16="http://schemas.microsoft.com/office/drawing/2014/main" id="{F46BA07C-5C7D-674D-C0E0-D63D5BFB2E64}"/>
              </a:ext>
            </a:extLst>
          </p:cNvPr>
          <p:cNvSpPr>
            <a:spLocks noGrp="1"/>
          </p:cNvSpPr>
          <p:nvPr>
            <p:ph sz="half" idx="1"/>
          </p:nvPr>
        </p:nvSpPr>
        <p:spPr/>
        <p:txBody>
          <a:bodyPr/>
          <a:lstStyle/>
          <a:p>
            <a:pPr marL="0" indent="0">
              <a:buNone/>
            </a:pPr>
            <a:r>
              <a:rPr lang="en-US" sz="2000" dirty="0">
                <a:latin typeface="Source Sans Pro" panose="020B0503030403020204" pitchFamily="34" charset="0"/>
                <a:ea typeface="Source Sans Pro" panose="020B0503030403020204" pitchFamily="34" charset="0"/>
              </a:rPr>
              <a:t>public class Inbox{</a:t>
            </a:r>
          </a:p>
          <a:p>
            <a:pPr marL="0" indent="0">
              <a:buNone/>
            </a:pPr>
            <a:r>
              <a:rPr lang="en-US" sz="2000" dirty="0">
                <a:latin typeface="Source Sans Pro" panose="020B0503030403020204" pitchFamily="34" charset="0"/>
                <a:ea typeface="Source Sans Pro" panose="020B0503030403020204" pitchFamily="34" charset="0"/>
              </a:rPr>
              <a:t> public void </a:t>
            </a:r>
            <a:r>
              <a:rPr lang="en-US" sz="2000" dirty="0" err="1">
                <a:latin typeface="Source Sans Pro" panose="020B0503030403020204" pitchFamily="34" charset="0"/>
                <a:ea typeface="Source Sans Pro" panose="020B0503030403020204" pitchFamily="34" charset="0"/>
              </a:rPr>
              <a:t>receivedEmail</a:t>
            </a:r>
            <a:r>
              <a:rPr lang="en-US" sz="2000" dirty="0">
                <a:latin typeface="Source Sans Pro" panose="020B0503030403020204" pitchFamily="34" charset="0"/>
                <a:ea typeface="Source Sans Pro" panose="020B0503030403020204" pitchFamily="34" charset="0"/>
              </a:rPr>
              <a:t>(Email e){</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detector.isSpam</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//code to move to spam folder</a:t>
            </a:r>
          </a:p>
          <a:p>
            <a:pPr marL="0" indent="0">
              <a:buNone/>
            </a:pPr>
            <a:r>
              <a:rPr lang="en-US" sz="2000" dirty="0">
                <a:latin typeface="Source Sans Pro" panose="020B0503030403020204" pitchFamily="34" charset="0"/>
                <a:ea typeface="Source Sans Pro" panose="020B0503030403020204" pitchFamily="34" charset="0"/>
              </a:rPr>
              <a:t>     }else if(</a:t>
            </a:r>
            <a:r>
              <a:rPr lang="en-US" sz="2000" dirty="0" err="1">
                <a:latin typeface="Source Sans Pro" panose="020B0503030403020204" pitchFamily="34" charset="0"/>
                <a:ea typeface="Source Sans Pro" panose="020B0503030403020204" pitchFamily="34" charset="0"/>
              </a:rPr>
              <a:t>detector.isRequest</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 move to request folder</a:t>
            </a:r>
          </a:p>
          <a:p>
            <a:pPr marL="0" indent="0">
              <a:buNone/>
            </a:pPr>
            <a:r>
              <a:rPr lang="en-US" sz="2000" dirty="0">
                <a:latin typeface="Source Sans Pro" panose="020B0503030403020204" pitchFamily="34" charset="0"/>
                <a:ea typeface="Source Sans Pro" panose="020B0503030403020204" pitchFamily="34" charset="0"/>
              </a:rPr>
              <a:t>     }else if (</a:t>
            </a:r>
            <a:r>
              <a:rPr lang="en-US" sz="2000" dirty="0" err="1">
                <a:latin typeface="Source Sans Pro" panose="020B0503030403020204" pitchFamily="34" charset="0"/>
                <a:ea typeface="Source Sans Pro" panose="020B0503030403020204" pitchFamily="34" charset="0"/>
              </a:rPr>
              <a:t>detector.isComplaint</a:t>
            </a:r>
            <a:r>
              <a:rPr lang="en-US" sz="2000" dirty="0">
                <a:latin typeface="Source Sans Pro" panose="020B0503030403020204" pitchFamily="34" charset="0"/>
                <a:ea typeface="Source Sans Pro" panose="020B0503030403020204" pitchFamily="34" charset="0"/>
              </a:rPr>
              <a:t>(e ){</a:t>
            </a:r>
          </a:p>
          <a:p>
            <a:pPr marL="0" indent="0">
              <a:buNone/>
            </a:pPr>
            <a:r>
              <a:rPr lang="en-US" sz="2000" dirty="0">
                <a:latin typeface="Source Sans Pro" panose="020B0503030403020204" pitchFamily="34" charset="0"/>
                <a:ea typeface="Source Sans Pro" panose="020B0503030403020204" pitchFamily="34" charset="0"/>
              </a:rPr>
              <a:t>           //move to complaint folder</a:t>
            </a:r>
          </a:p>
          <a:p>
            <a:pPr marL="0" indent="0">
              <a:buNone/>
            </a:pPr>
            <a:r>
              <a:rPr lang="en-US" sz="2000" dirty="0">
                <a:latin typeface="Source Sans Pro" panose="020B0503030403020204" pitchFamily="34" charset="0"/>
                <a:ea typeface="Source Sans Pro" panose="020B0503030403020204" pitchFamily="34" charset="0"/>
              </a:rPr>
              <a:t>     } else {}</a:t>
            </a:r>
          </a:p>
          <a:p>
            <a:pPr marL="0" indent="0">
              <a:buNone/>
            </a:pPr>
            <a:r>
              <a:rPr lang="en-US" sz="2000" dirty="0">
                <a:latin typeface="Source Sans Pro" panose="020B0503030403020204" pitchFamily="34" charset="0"/>
                <a:ea typeface="Source Sans Pro" panose="020B0503030403020204" pitchFamily="34" charset="0"/>
              </a:rPr>
              <a:t>       //do nothing leave at inbox</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a:t>
            </a:r>
          </a:p>
        </p:txBody>
      </p:sp>
      <p:sp>
        <p:nvSpPr>
          <p:cNvPr id="7" name="Content Placeholder 6">
            <a:extLst>
              <a:ext uri="{FF2B5EF4-FFF2-40B4-BE49-F238E27FC236}">
                <a16:creationId xmlns:a16="http://schemas.microsoft.com/office/drawing/2014/main" id="{C51CD14D-1278-2BBA-0E16-4FB2916DD6B8}"/>
              </a:ext>
            </a:extLst>
          </p:cNvPr>
          <p:cNvSpPr>
            <a:spLocks noGrp="1"/>
          </p:cNvSpPr>
          <p:nvPr>
            <p:ph sz="half" idx="2"/>
          </p:nvPr>
        </p:nvSpPr>
        <p:spPr/>
        <p:txBody>
          <a:bodyPr/>
          <a:lstStyle/>
          <a:p>
            <a:r>
              <a:rPr lang="en-US" dirty="0"/>
              <a:t>Ugly</a:t>
            </a:r>
          </a:p>
          <a:p>
            <a:r>
              <a:rPr lang="en-US" dirty="0"/>
              <a:t>Problems?</a:t>
            </a:r>
          </a:p>
          <a:p>
            <a:pPr lvl="1"/>
            <a:r>
              <a:rPr lang="en-US" dirty="0"/>
              <a:t>OCP</a:t>
            </a:r>
          </a:p>
          <a:p>
            <a:pPr lvl="1"/>
            <a:r>
              <a:rPr lang="en-US" dirty="0"/>
              <a:t>Lack of cohesion</a:t>
            </a:r>
          </a:p>
          <a:p>
            <a:pPr lvl="1"/>
            <a:r>
              <a:rPr lang="en-US" dirty="0"/>
              <a:t>Single responsibility</a:t>
            </a:r>
          </a:p>
        </p:txBody>
      </p:sp>
    </p:spTree>
    <p:extLst>
      <p:ext uri="{BB962C8B-B14F-4D97-AF65-F5344CB8AC3E}">
        <p14:creationId xmlns:p14="http://schemas.microsoft.com/office/powerpoint/2010/main" val="214255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C1F4-90E4-D82A-27F7-A1F1F3CF09AA}"/>
              </a:ext>
            </a:extLst>
          </p:cNvPr>
          <p:cNvSpPr>
            <a:spLocks noGrp="1"/>
          </p:cNvSpPr>
          <p:nvPr>
            <p:ph type="title"/>
          </p:nvPr>
        </p:nvSpPr>
        <p:spPr/>
        <p:txBody>
          <a:bodyPr/>
          <a:lstStyle/>
          <a:p>
            <a:r>
              <a:rPr lang="en-US" dirty="0"/>
              <a:t>Attempt 2: Single responsibility</a:t>
            </a:r>
          </a:p>
        </p:txBody>
      </p:sp>
      <p:sp>
        <p:nvSpPr>
          <p:cNvPr id="3" name="Content Placeholder 2">
            <a:extLst>
              <a:ext uri="{FF2B5EF4-FFF2-40B4-BE49-F238E27FC236}">
                <a16:creationId xmlns:a16="http://schemas.microsoft.com/office/drawing/2014/main" id="{F46BA07C-5C7D-674D-C0E0-D63D5BFB2E64}"/>
              </a:ext>
            </a:extLst>
          </p:cNvPr>
          <p:cNvSpPr>
            <a:spLocks noGrp="1"/>
          </p:cNvSpPr>
          <p:nvPr>
            <p:ph sz="half" idx="1"/>
          </p:nvPr>
        </p:nvSpPr>
        <p:spPr/>
        <p:txBody>
          <a:bodyPr/>
          <a:lstStyle/>
          <a:p>
            <a:pPr marL="0" indent="0">
              <a:buNone/>
            </a:pPr>
            <a:r>
              <a:rPr lang="en-US" sz="2000" dirty="0">
                <a:latin typeface="Source Sans Pro" panose="020B0503030403020204" pitchFamily="34" charset="0"/>
                <a:ea typeface="Source Sans Pro" panose="020B0503030403020204" pitchFamily="34" charset="0"/>
              </a:rPr>
              <a:t>public class Inbox{</a:t>
            </a:r>
          </a:p>
          <a:p>
            <a:pPr marL="0" indent="0">
              <a:buNone/>
            </a:pPr>
            <a:r>
              <a:rPr lang="en-US" sz="2000" dirty="0">
                <a:latin typeface="Source Sans Pro" panose="020B0503030403020204" pitchFamily="34" charset="0"/>
                <a:ea typeface="Source Sans Pro" panose="020B0503030403020204" pitchFamily="34" charset="0"/>
              </a:rPr>
              <a:t> private </a:t>
            </a:r>
            <a:r>
              <a:rPr lang="en-US" sz="2000" dirty="0" err="1">
                <a:latin typeface="Source Sans Pro" panose="020B0503030403020204" pitchFamily="34" charset="0"/>
                <a:ea typeface="Source Sans Pro" panose="020B0503030403020204" pitchFamily="34" charset="0"/>
              </a:rPr>
              <a:t>SpamFilter</a:t>
            </a:r>
            <a:r>
              <a:rPr lang="en-US" sz="2000" dirty="0">
                <a:latin typeface="Source Sans Pro" panose="020B0503030403020204" pitchFamily="34" charset="0"/>
                <a:ea typeface="Source Sans Pro" panose="020B0503030403020204" pitchFamily="34" charset="0"/>
              </a:rPr>
              <a:t> sf;</a:t>
            </a:r>
          </a:p>
          <a:p>
            <a:pPr marL="0" indent="0">
              <a:buNone/>
            </a:pPr>
            <a:r>
              <a:rPr lang="en-US" sz="2000" dirty="0">
                <a:latin typeface="Source Sans Pro" panose="020B0503030403020204" pitchFamily="34" charset="0"/>
                <a:ea typeface="Source Sans Pro" panose="020B0503030403020204" pitchFamily="34" charset="0"/>
              </a:rPr>
              <a:t> private </a:t>
            </a:r>
            <a:r>
              <a:rPr lang="en-US" sz="2000" dirty="0" err="1">
                <a:latin typeface="Source Sans Pro" panose="020B0503030403020204" pitchFamily="34" charset="0"/>
                <a:ea typeface="Source Sans Pro" panose="020B0503030403020204" pitchFamily="34" charset="0"/>
              </a:rPr>
              <a:t>RequestFilter</a:t>
            </a:r>
            <a:r>
              <a:rPr lang="en-US" sz="2000" dirty="0">
                <a:latin typeface="Source Sans Pro" panose="020B0503030403020204" pitchFamily="34" charset="0"/>
                <a:ea typeface="Source Sans Pro" panose="020B0503030403020204" pitchFamily="34" charset="0"/>
              </a:rPr>
              <a:t> rf;</a:t>
            </a:r>
          </a:p>
          <a:p>
            <a:pPr marL="0" indent="0">
              <a:buNone/>
            </a:pPr>
            <a:r>
              <a:rPr lang="en-US" sz="2000" dirty="0">
                <a:latin typeface="Source Sans Pro" panose="020B0503030403020204" pitchFamily="34" charset="0"/>
                <a:ea typeface="Source Sans Pro" panose="020B0503030403020204" pitchFamily="34" charset="0"/>
              </a:rPr>
              <a:t> private </a:t>
            </a:r>
            <a:r>
              <a:rPr lang="en-US" sz="2000" dirty="0" err="1">
                <a:latin typeface="Source Sans Pro" panose="020B0503030403020204" pitchFamily="34" charset="0"/>
                <a:ea typeface="Source Sans Pro" panose="020B0503030403020204" pitchFamily="34" charset="0"/>
              </a:rPr>
              <a:t>ComplaintFilter</a:t>
            </a: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cf</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public void </a:t>
            </a:r>
            <a:r>
              <a:rPr lang="en-US" sz="2000" dirty="0" err="1">
                <a:latin typeface="Source Sans Pro" panose="020B0503030403020204" pitchFamily="34" charset="0"/>
                <a:ea typeface="Source Sans Pro" panose="020B0503030403020204" pitchFamily="34" charset="0"/>
              </a:rPr>
              <a:t>receivedEmail</a:t>
            </a:r>
            <a:r>
              <a:rPr lang="en-US" sz="2000" dirty="0">
                <a:latin typeface="Source Sans Pro" panose="020B0503030403020204" pitchFamily="34" charset="0"/>
                <a:ea typeface="Source Sans Pro" panose="020B0503030403020204" pitchFamily="34" charset="0"/>
              </a:rPr>
              <a:t>(Email e){</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detector.isSpam</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sf.sort</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}else if(</a:t>
            </a:r>
            <a:r>
              <a:rPr lang="en-US" sz="2000" dirty="0" err="1">
                <a:latin typeface="Source Sans Pro" panose="020B0503030403020204" pitchFamily="34" charset="0"/>
                <a:ea typeface="Source Sans Pro" panose="020B0503030403020204" pitchFamily="34" charset="0"/>
              </a:rPr>
              <a:t>detector.isRequest</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rf.sort</a:t>
            </a:r>
            <a:r>
              <a:rPr lang="en-US" sz="2000" dirty="0">
                <a:latin typeface="Source Sans Pro" panose="020B0503030403020204" pitchFamily="34" charset="0"/>
                <a:ea typeface="Source Sans Pro" panose="020B0503030403020204" pitchFamily="34" charset="0"/>
              </a:rPr>
              <a:t>(e );</a:t>
            </a:r>
          </a:p>
          <a:p>
            <a:pPr marL="0" indent="0">
              <a:buNone/>
            </a:pPr>
            <a:r>
              <a:rPr lang="en-US" sz="2000" dirty="0">
                <a:latin typeface="Source Sans Pro" panose="020B0503030403020204" pitchFamily="34" charset="0"/>
                <a:ea typeface="Source Sans Pro" panose="020B0503030403020204" pitchFamily="34" charset="0"/>
              </a:rPr>
              <a:t>     }else if (</a:t>
            </a:r>
            <a:r>
              <a:rPr lang="en-US" sz="2000" dirty="0" err="1">
                <a:latin typeface="Source Sans Pro" panose="020B0503030403020204" pitchFamily="34" charset="0"/>
                <a:ea typeface="Source Sans Pro" panose="020B0503030403020204" pitchFamily="34" charset="0"/>
              </a:rPr>
              <a:t>detector.isComplaint</a:t>
            </a:r>
            <a:r>
              <a:rPr lang="en-US" sz="2000" dirty="0">
                <a:latin typeface="Source Sans Pro" panose="020B0503030403020204" pitchFamily="34" charset="0"/>
                <a:ea typeface="Source Sans Pro" panose="020B0503030403020204" pitchFamily="34" charset="0"/>
              </a:rPr>
              <a:t>(e ){</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cf.sort</a:t>
            </a:r>
            <a:r>
              <a:rPr lang="en-US" sz="2000" dirty="0">
                <a:latin typeface="Source Sans Pro" panose="020B0503030403020204" pitchFamily="34" charset="0"/>
                <a:ea typeface="Source Sans Pro" panose="020B0503030403020204" pitchFamily="34" charset="0"/>
              </a:rPr>
              <a:t> (e );</a:t>
            </a:r>
          </a:p>
          <a:p>
            <a:pPr marL="0" indent="0">
              <a:buNone/>
            </a:pPr>
            <a:r>
              <a:rPr lang="en-US" sz="2000" dirty="0">
                <a:latin typeface="Source Sans Pro" panose="020B0503030403020204" pitchFamily="34" charset="0"/>
                <a:ea typeface="Source Sans Pro" panose="020B0503030403020204" pitchFamily="34" charset="0"/>
              </a:rPr>
              <a:t>   } else { }//do nothing leave at inbox</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t>
            </a:r>
          </a:p>
        </p:txBody>
      </p:sp>
      <p:sp>
        <p:nvSpPr>
          <p:cNvPr id="7" name="Content Placeholder 6">
            <a:extLst>
              <a:ext uri="{FF2B5EF4-FFF2-40B4-BE49-F238E27FC236}">
                <a16:creationId xmlns:a16="http://schemas.microsoft.com/office/drawing/2014/main" id="{C51CD14D-1278-2BBA-0E16-4FB2916DD6B8}"/>
              </a:ext>
            </a:extLst>
          </p:cNvPr>
          <p:cNvSpPr>
            <a:spLocks noGrp="1"/>
          </p:cNvSpPr>
          <p:nvPr>
            <p:ph sz="half" idx="2"/>
          </p:nvPr>
        </p:nvSpPr>
        <p:spPr>
          <a:xfrm>
            <a:off x="4792133" y="1272208"/>
            <a:ext cx="4157134" cy="5399525"/>
          </a:xfrm>
        </p:spPr>
        <p:txBody>
          <a:bodyPr/>
          <a:lstStyle/>
          <a:p>
            <a:pPr marL="0" indent="0">
              <a:buNone/>
            </a:pPr>
            <a:r>
              <a:rPr lang="en-US" sz="2000" dirty="0">
                <a:latin typeface="Source Sans Pro" panose="020B0503030403020204" pitchFamily="34" charset="0"/>
                <a:ea typeface="Source Sans Pro" panose="020B0503030403020204" pitchFamily="34" charset="0"/>
              </a:rPr>
              <a:t>public class </a:t>
            </a:r>
            <a:r>
              <a:rPr lang="en-US" sz="2000" dirty="0" err="1">
                <a:latin typeface="Source Sans Pro" panose="020B0503030403020204" pitchFamily="34" charset="0"/>
                <a:ea typeface="Source Sans Pro" panose="020B0503030403020204" pitchFamily="34" charset="0"/>
              </a:rPr>
              <a:t>SpamFilter</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public void sort(Email e){</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detector.isSpam</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//code to save it to spam folder</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public class </a:t>
            </a:r>
            <a:r>
              <a:rPr lang="en-US" sz="2000" dirty="0" err="1">
                <a:latin typeface="Source Sans Pro" panose="020B0503030403020204" pitchFamily="34" charset="0"/>
                <a:ea typeface="Source Sans Pro" panose="020B0503030403020204" pitchFamily="34" charset="0"/>
              </a:rPr>
              <a:t>RequestFilter</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public void sort(Email e){</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detector.isRequest</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//code to save it to request folder</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public class </a:t>
            </a:r>
            <a:r>
              <a:rPr lang="en-US" sz="2000" dirty="0" err="1">
                <a:latin typeface="Source Sans Pro" panose="020B0503030403020204" pitchFamily="34" charset="0"/>
                <a:ea typeface="Source Sans Pro" panose="020B0503030403020204" pitchFamily="34" charset="0"/>
              </a:rPr>
              <a:t>ComplaintFilter</a:t>
            </a:r>
            <a:r>
              <a:rPr lang="en-US" sz="2000" dirty="0">
                <a:latin typeface="Source Sans Pro" panose="020B0503030403020204" pitchFamily="34" charset="0"/>
                <a:ea typeface="Source Sans Pro" panose="020B0503030403020204" pitchFamily="34" charset="0"/>
              </a:rPr>
              <a:t>{…}</a:t>
            </a:r>
          </a:p>
          <a:p>
            <a:pPr marL="0" indent="0">
              <a:buNone/>
            </a:pPr>
            <a:r>
              <a:rPr lang="en-US" sz="2400" dirty="0">
                <a:solidFill>
                  <a:srgbClr val="C00000"/>
                </a:solidFill>
                <a:latin typeface="+mj-lt"/>
                <a:ea typeface="Source Sans Pro" panose="020B0503030403020204" pitchFamily="34" charset="0"/>
              </a:rPr>
              <a:t>Problems?</a:t>
            </a:r>
          </a:p>
        </p:txBody>
      </p:sp>
    </p:spTree>
    <p:extLst>
      <p:ext uri="{BB962C8B-B14F-4D97-AF65-F5344CB8AC3E}">
        <p14:creationId xmlns:p14="http://schemas.microsoft.com/office/powerpoint/2010/main" val="2046881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C1F4-90E4-D82A-27F7-A1F1F3CF09AA}"/>
              </a:ext>
            </a:extLst>
          </p:cNvPr>
          <p:cNvSpPr>
            <a:spLocks noGrp="1"/>
          </p:cNvSpPr>
          <p:nvPr>
            <p:ph type="title"/>
          </p:nvPr>
        </p:nvSpPr>
        <p:spPr/>
        <p:txBody>
          <a:bodyPr/>
          <a:lstStyle/>
          <a:p>
            <a:r>
              <a:rPr lang="en-US" dirty="0"/>
              <a:t>Attempt 2: Single responsibility</a:t>
            </a:r>
          </a:p>
        </p:txBody>
      </p:sp>
      <p:sp>
        <p:nvSpPr>
          <p:cNvPr id="3" name="Content Placeholder 2">
            <a:extLst>
              <a:ext uri="{FF2B5EF4-FFF2-40B4-BE49-F238E27FC236}">
                <a16:creationId xmlns:a16="http://schemas.microsoft.com/office/drawing/2014/main" id="{F46BA07C-5C7D-674D-C0E0-D63D5BFB2E64}"/>
              </a:ext>
            </a:extLst>
          </p:cNvPr>
          <p:cNvSpPr>
            <a:spLocks noGrp="1"/>
          </p:cNvSpPr>
          <p:nvPr>
            <p:ph sz="half" idx="1"/>
          </p:nvPr>
        </p:nvSpPr>
        <p:spPr/>
        <p:txBody>
          <a:bodyPr/>
          <a:lstStyle/>
          <a:p>
            <a:pPr marL="0" indent="0">
              <a:buNone/>
            </a:pPr>
            <a:r>
              <a:rPr lang="en-US" sz="2000" dirty="0">
                <a:latin typeface="Source Sans Pro" panose="020B0503030403020204" pitchFamily="34" charset="0"/>
                <a:ea typeface="Source Sans Pro" panose="020B0503030403020204" pitchFamily="34" charset="0"/>
              </a:rPr>
              <a:t>public class Inbox{</a:t>
            </a:r>
          </a:p>
          <a:p>
            <a:pPr marL="0" indent="0">
              <a:buNone/>
            </a:pPr>
            <a:r>
              <a:rPr lang="en-US" sz="2000" dirty="0">
                <a:latin typeface="Source Sans Pro" panose="020B0503030403020204" pitchFamily="34" charset="0"/>
                <a:ea typeface="Source Sans Pro" panose="020B0503030403020204" pitchFamily="34" charset="0"/>
              </a:rPr>
              <a:t> </a:t>
            </a:r>
            <a:r>
              <a:rPr lang="en-US" sz="2000" dirty="0">
                <a:solidFill>
                  <a:srgbClr val="C00000"/>
                </a:solidFill>
                <a:latin typeface="Source Sans Pro" panose="020B0503030403020204" pitchFamily="34" charset="0"/>
                <a:ea typeface="Source Sans Pro" panose="020B0503030403020204" pitchFamily="34" charset="0"/>
              </a:rPr>
              <a:t>private </a:t>
            </a:r>
            <a:r>
              <a:rPr lang="en-US" sz="2000" dirty="0" err="1">
                <a:solidFill>
                  <a:srgbClr val="C00000"/>
                </a:solidFill>
                <a:latin typeface="Source Sans Pro" panose="020B0503030403020204" pitchFamily="34" charset="0"/>
                <a:ea typeface="Source Sans Pro" panose="020B0503030403020204" pitchFamily="34" charset="0"/>
              </a:rPr>
              <a:t>SpamFilter</a:t>
            </a:r>
            <a:r>
              <a:rPr lang="en-US" sz="2000" dirty="0">
                <a:solidFill>
                  <a:srgbClr val="C00000"/>
                </a:solidFill>
                <a:latin typeface="Source Sans Pro" panose="020B0503030403020204" pitchFamily="34" charset="0"/>
                <a:ea typeface="Source Sans Pro" panose="020B0503030403020204" pitchFamily="34" charset="0"/>
              </a:rPr>
              <a:t> sf;</a:t>
            </a:r>
          </a:p>
          <a:p>
            <a:pPr marL="0" indent="0">
              <a:buNone/>
            </a:pPr>
            <a:r>
              <a:rPr lang="en-US" sz="2000" dirty="0">
                <a:solidFill>
                  <a:srgbClr val="C00000"/>
                </a:solidFill>
                <a:latin typeface="Source Sans Pro" panose="020B0503030403020204" pitchFamily="34" charset="0"/>
                <a:ea typeface="Source Sans Pro" panose="020B0503030403020204" pitchFamily="34" charset="0"/>
              </a:rPr>
              <a:t> private </a:t>
            </a:r>
            <a:r>
              <a:rPr lang="en-US" sz="2000" dirty="0" err="1">
                <a:solidFill>
                  <a:srgbClr val="C00000"/>
                </a:solidFill>
                <a:latin typeface="Source Sans Pro" panose="020B0503030403020204" pitchFamily="34" charset="0"/>
                <a:ea typeface="Source Sans Pro" panose="020B0503030403020204" pitchFamily="34" charset="0"/>
              </a:rPr>
              <a:t>RequestFilter</a:t>
            </a:r>
            <a:r>
              <a:rPr lang="en-US" sz="2000" dirty="0">
                <a:solidFill>
                  <a:srgbClr val="C00000"/>
                </a:solidFill>
                <a:latin typeface="Source Sans Pro" panose="020B0503030403020204" pitchFamily="34" charset="0"/>
                <a:ea typeface="Source Sans Pro" panose="020B0503030403020204" pitchFamily="34" charset="0"/>
              </a:rPr>
              <a:t> rf;</a:t>
            </a:r>
          </a:p>
          <a:p>
            <a:pPr marL="0" indent="0">
              <a:buNone/>
            </a:pPr>
            <a:r>
              <a:rPr lang="en-US" sz="2000" dirty="0">
                <a:solidFill>
                  <a:srgbClr val="C00000"/>
                </a:solidFill>
                <a:latin typeface="Source Sans Pro" panose="020B0503030403020204" pitchFamily="34" charset="0"/>
                <a:ea typeface="Source Sans Pro" panose="020B0503030403020204" pitchFamily="34" charset="0"/>
              </a:rPr>
              <a:t> private </a:t>
            </a:r>
            <a:r>
              <a:rPr lang="en-US" sz="2000" dirty="0" err="1">
                <a:solidFill>
                  <a:srgbClr val="C00000"/>
                </a:solidFill>
                <a:latin typeface="Source Sans Pro" panose="020B0503030403020204" pitchFamily="34" charset="0"/>
                <a:ea typeface="Source Sans Pro" panose="020B0503030403020204" pitchFamily="34" charset="0"/>
              </a:rPr>
              <a:t>ComplaintFilter</a:t>
            </a:r>
            <a:r>
              <a:rPr lang="en-US" sz="2000" dirty="0">
                <a:solidFill>
                  <a:srgbClr val="C00000"/>
                </a:solidFill>
                <a:latin typeface="Source Sans Pro" panose="020B0503030403020204" pitchFamily="34" charset="0"/>
                <a:ea typeface="Source Sans Pro" panose="020B0503030403020204" pitchFamily="34" charset="0"/>
              </a:rPr>
              <a:t> </a:t>
            </a:r>
            <a:r>
              <a:rPr lang="en-US" sz="2000" dirty="0" err="1">
                <a:solidFill>
                  <a:srgbClr val="C00000"/>
                </a:solidFill>
                <a:latin typeface="Source Sans Pro" panose="020B0503030403020204" pitchFamily="34" charset="0"/>
                <a:ea typeface="Source Sans Pro" panose="020B0503030403020204" pitchFamily="34" charset="0"/>
              </a:rPr>
              <a:t>cf</a:t>
            </a:r>
            <a:r>
              <a:rPr lang="en-US" sz="2000" dirty="0">
                <a:solidFill>
                  <a:srgbClr val="C00000"/>
                </a:solidFill>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public void </a:t>
            </a:r>
            <a:r>
              <a:rPr lang="en-US" sz="2000" dirty="0" err="1">
                <a:latin typeface="Source Sans Pro" panose="020B0503030403020204" pitchFamily="34" charset="0"/>
                <a:ea typeface="Source Sans Pro" panose="020B0503030403020204" pitchFamily="34" charset="0"/>
              </a:rPr>
              <a:t>receivedEmail</a:t>
            </a:r>
            <a:r>
              <a:rPr lang="en-US" sz="2000" dirty="0">
                <a:latin typeface="Source Sans Pro" panose="020B0503030403020204" pitchFamily="34" charset="0"/>
                <a:ea typeface="Source Sans Pro" panose="020B0503030403020204" pitchFamily="34" charset="0"/>
              </a:rPr>
              <a:t>(Email e){</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detector.isSpam</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sf.sort</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}else if(</a:t>
            </a:r>
            <a:r>
              <a:rPr lang="en-US" sz="2000" dirty="0" err="1">
                <a:latin typeface="Source Sans Pro" panose="020B0503030403020204" pitchFamily="34" charset="0"/>
                <a:ea typeface="Source Sans Pro" panose="020B0503030403020204" pitchFamily="34" charset="0"/>
              </a:rPr>
              <a:t>detector.isRequest</a:t>
            </a:r>
            <a:r>
              <a:rPr lang="en-US" sz="2000" dirty="0">
                <a:latin typeface="Source Sans Pro" panose="020B0503030403020204" pitchFamily="34" charset="0"/>
                <a:ea typeface="Source Sans Pro" panose="020B0503030403020204" pitchFamily="34" charset="0"/>
              </a:rPr>
              <a:t>(e){</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rf.sort</a:t>
            </a:r>
            <a:r>
              <a:rPr lang="en-US" sz="2000" dirty="0">
                <a:latin typeface="Source Sans Pro" panose="020B0503030403020204" pitchFamily="34" charset="0"/>
                <a:ea typeface="Source Sans Pro" panose="020B0503030403020204" pitchFamily="34" charset="0"/>
              </a:rPr>
              <a:t>(e );</a:t>
            </a:r>
          </a:p>
          <a:p>
            <a:pPr marL="0" indent="0">
              <a:buNone/>
            </a:pPr>
            <a:r>
              <a:rPr lang="en-US" sz="2000" dirty="0">
                <a:latin typeface="Source Sans Pro" panose="020B0503030403020204" pitchFamily="34" charset="0"/>
                <a:ea typeface="Source Sans Pro" panose="020B0503030403020204" pitchFamily="34" charset="0"/>
              </a:rPr>
              <a:t>     }else if (</a:t>
            </a:r>
            <a:r>
              <a:rPr lang="en-US" sz="2000" dirty="0" err="1">
                <a:latin typeface="Source Sans Pro" panose="020B0503030403020204" pitchFamily="34" charset="0"/>
                <a:ea typeface="Source Sans Pro" panose="020B0503030403020204" pitchFamily="34" charset="0"/>
              </a:rPr>
              <a:t>detector.isComplaint</a:t>
            </a:r>
            <a:r>
              <a:rPr lang="en-US" sz="2000" dirty="0">
                <a:latin typeface="Source Sans Pro" panose="020B0503030403020204" pitchFamily="34" charset="0"/>
                <a:ea typeface="Source Sans Pro" panose="020B0503030403020204" pitchFamily="34" charset="0"/>
              </a:rPr>
              <a:t>(e ){</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cf.sort</a:t>
            </a:r>
            <a:r>
              <a:rPr lang="en-US" sz="2000" dirty="0">
                <a:latin typeface="Source Sans Pro" panose="020B0503030403020204" pitchFamily="34" charset="0"/>
                <a:ea typeface="Source Sans Pro" panose="020B0503030403020204" pitchFamily="34" charset="0"/>
              </a:rPr>
              <a:t> (e );</a:t>
            </a:r>
          </a:p>
          <a:p>
            <a:pPr marL="0" indent="0">
              <a:buNone/>
            </a:pPr>
            <a:r>
              <a:rPr lang="en-US" sz="2000" dirty="0">
                <a:latin typeface="Source Sans Pro" panose="020B0503030403020204" pitchFamily="34" charset="0"/>
                <a:ea typeface="Source Sans Pro" panose="020B0503030403020204" pitchFamily="34" charset="0"/>
              </a:rPr>
              <a:t>   } else { }//do nothing leave at inbox</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t>
            </a:r>
          </a:p>
        </p:txBody>
      </p:sp>
      <p:sp>
        <p:nvSpPr>
          <p:cNvPr id="7" name="Content Placeholder 6">
            <a:extLst>
              <a:ext uri="{FF2B5EF4-FFF2-40B4-BE49-F238E27FC236}">
                <a16:creationId xmlns:a16="http://schemas.microsoft.com/office/drawing/2014/main" id="{C51CD14D-1278-2BBA-0E16-4FB2916DD6B8}"/>
              </a:ext>
            </a:extLst>
          </p:cNvPr>
          <p:cNvSpPr>
            <a:spLocks noGrp="1"/>
          </p:cNvSpPr>
          <p:nvPr>
            <p:ph sz="half" idx="2"/>
          </p:nvPr>
        </p:nvSpPr>
        <p:spPr>
          <a:xfrm>
            <a:off x="4792133" y="1272208"/>
            <a:ext cx="4157134" cy="5399525"/>
          </a:xfrm>
        </p:spPr>
        <p:txBody>
          <a:bodyPr/>
          <a:lstStyle/>
          <a:p>
            <a:pPr marL="0" indent="0">
              <a:buNone/>
            </a:pPr>
            <a:r>
              <a:rPr lang="en-US" dirty="0">
                <a:latin typeface="+mj-lt"/>
                <a:ea typeface="Source Sans Pro" panose="020B0503030403020204" pitchFamily="34" charset="0"/>
              </a:rPr>
              <a:t>Problems:</a:t>
            </a:r>
          </a:p>
          <a:p>
            <a:r>
              <a:rPr lang="en-US" dirty="0">
                <a:latin typeface="+mj-lt"/>
                <a:ea typeface="Source Sans Pro" panose="020B0503030403020204" pitchFamily="34" charset="0"/>
              </a:rPr>
              <a:t>High coupling</a:t>
            </a:r>
          </a:p>
          <a:p>
            <a:r>
              <a:rPr lang="en-US" dirty="0">
                <a:latin typeface="+mj-lt"/>
                <a:ea typeface="Source Sans Pro" panose="020B0503030403020204" pitchFamily="34" charset="0"/>
              </a:rPr>
              <a:t>OCP?</a:t>
            </a:r>
          </a:p>
          <a:p>
            <a:pPr lvl="1"/>
            <a:r>
              <a:rPr lang="en-US" dirty="0">
                <a:latin typeface="+mj-lt"/>
                <a:ea typeface="Source Sans Pro" panose="020B0503030403020204" pitchFamily="34" charset="0"/>
              </a:rPr>
              <a:t>Extend with new filters</a:t>
            </a:r>
          </a:p>
          <a:p>
            <a:pPr lvl="1"/>
            <a:r>
              <a:rPr lang="en-US" dirty="0">
                <a:latin typeface="+mj-lt"/>
                <a:ea typeface="Source Sans Pro" panose="020B0503030403020204" pitchFamily="34" charset="0"/>
              </a:rPr>
              <a:t>Change the filtering order</a:t>
            </a:r>
          </a:p>
        </p:txBody>
      </p:sp>
    </p:spTree>
    <p:extLst>
      <p:ext uri="{BB962C8B-B14F-4D97-AF65-F5344CB8AC3E}">
        <p14:creationId xmlns:p14="http://schemas.microsoft.com/office/powerpoint/2010/main" val="3943658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6B7F-2353-37C6-6CEB-14C9768ED4F4}"/>
              </a:ext>
            </a:extLst>
          </p:cNvPr>
          <p:cNvSpPr>
            <a:spLocks noGrp="1"/>
          </p:cNvSpPr>
          <p:nvPr>
            <p:ph type="title"/>
          </p:nvPr>
        </p:nvSpPr>
        <p:spPr/>
        <p:txBody>
          <a:bodyPr/>
          <a:lstStyle/>
          <a:p>
            <a:r>
              <a:rPr lang="en-US" dirty="0"/>
              <a:t>Example: Email sorter</a:t>
            </a:r>
          </a:p>
        </p:txBody>
      </p:sp>
      <p:sp>
        <p:nvSpPr>
          <p:cNvPr id="15362" name="Rectangle 3">
            <a:extLst>
              <a:ext uri="{FF2B5EF4-FFF2-40B4-BE49-F238E27FC236}">
                <a16:creationId xmlns:a16="http://schemas.microsoft.com/office/drawing/2014/main" id="{484C5183-EDB7-6F1B-ED94-38E75FE6DFB0}"/>
              </a:ext>
            </a:extLst>
          </p:cNvPr>
          <p:cNvSpPr>
            <a:spLocks noGrp="1" noChangeArrowheads="1"/>
          </p:cNvSpPr>
          <p:nvPr>
            <p:ph idx="1"/>
          </p:nvPr>
        </p:nvSpPr>
        <p:spPr/>
        <p:txBody>
          <a:bodyPr/>
          <a:lstStyle/>
          <a:p>
            <a:pPr>
              <a:spcBef>
                <a:spcPts val="600"/>
              </a:spcBef>
              <a:spcAft>
                <a:spcPts val="600"/>
              </a:spcAft>
            </a:pPr>
            <a:r>
              <a:rPr lang="en-US" altLang="tr-TR" sz="2800" dirty="0"/>
              <a:t>We want to give the Spam, Complaint, and Request filters a chance to save an email into an appropriate directory</a:t>
            </a:r>
          </a:p>
          <a:p>
            <a:pPr lvl="1">
              <a:spcBef>
                <a:spcPts val="600"/>
              </a:spcBef>
              <a:spcAft>
                <a:spcPts val="600"/>
              </a:spcAft>
            </a:pPr>
            <a:r>
              <a:rPr lang="en-US" altLang="tr-TR" sz="2400" dirty="0"/>
              <a:t>More than 1 object can handle an email</a:t>
            </a:r>
          </a:p>
          <a:p>
            <a:pPr lvl="1">
              <a:spcBef>
                <a:spcPts val="600"/>
              </a:spcBef>
              <a:spcAft>
                <a:spcPts val="600"/>
              </a:spcAft>
            </a:pPr>
            <a:r>
              <a:rPr lang="en-US" altLang="tr-TR" sz="2400" dirty="0"/>
              <a:t>Main application should not be coupled with these handlers as you may introduce new emailing rules</a:t>
            </a:r>
          </a:p>
          <a:p>
            <a:pPr>
              <a:spcBef>
                <a:spcPts val="600"/>
              </a:spcBef>
              <a:spcAft>
                <a:spcPts val="600"/>
              </a:spcAft>
            </a:pPr>
            <a:r>
              <a:rPr lang="en-US" altLang="tr-TR" sz="2800" u="sng" dirty="0"/>
              <a:t>Solution</a:t>
            </a:r>
            <a:r>
              <a:rPr lang="en-US" altLang="tr-TR" sz="2800" dirty="0"/>
              <a:t>: Create a chain of filters, each examines the email and then handles or passes to the next filter</a:t>
            </a:r>
            <a:endParaRPr lang="en-GB" altLang="tr-TR"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607C-48D0-48C4-52A5-CC9030F39EEE}"/>
              </a:ext>
            </a:extLst>
          </p:cNvPr>
          <p:cNvSpPr>
            <a:spLocks noGrp="1"/>
          </p:cNvSpPr>
          <p:nvPr>
            <p:ph type="title"/>
          </p:nvPr>
        </p:nvSpPr>
        <p:spPr/>
        <p:txBody>
          <a:bodyPr/>
          <a:lstStyle/>
          <a:p>
            <a:r>
              <a:rPr lang="en-US" dirty="0"/>
              <a:t>Chain of Filters (handlers)</a:t>
            </a:r>
          </a:p>
        </p:txBody>
      </p:sp>
      <p:sp>
        <p:nvSpPr>
          <p:cNvPr id="3" name="Content Placeholder 2">
            <a:extLst>
              <a:ext uri="{FF2B5EF4-FFF2-40B4-BE49-F238E27FC236}">
                <a16:creationId xmlns:a16="http://schemas.microsoft.com/office/drawing/2014/main" id="{0ACC776E-7691-7B5D-1CAD-0AC7C5BC4694}"/>
              </a:ext>
            </a:extLst>
          </p:cNvPr>
          <p:cNvSpPr>
            <a:spLocks noGrp="1"/>
          </p:cNvSpPr>
          <p:nvPr>
            <p:ph idx="4294967295"/>
          </p:nvPr>
        </p:nvSpPr>
        <p:spPr>
          <a:xfrm>
            <a:off x="427037" y="1415011"/>
            <a:ext cx="8229600" cy="4532312"/>
          </a:xfrm>
        </p:spPr>
        <p:txBody>
          <a:bodyPr/>
          <a:lstStyle/>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endParaRPr lang="en-US" dirty="0"/>
          </a:p>
          <a:p>
            <a:pPr marL="0" indent="0">
              <a:buFontTx/>
              <a:buNone/>
              <a:defRPr/>
            </a:pPr>
            <a:r>
              <a:rPr lang="en-US" sz="2400" dirty="0"/>
              <a:t>an Email object is passed along </a:t>
            </a:r>
          </a:p>
          <a:p>
            <a:pPr marL="0" indent="0">
              <a:buFontTx/>
              <a:buNone/>
              <a:defRPr/>
            </a:pPr>
            <a:r>
              <a:rPr lang="en-US" sz="2400" dirty="0"/>
              <a:t>the chain until one of them handles it.</a:t>
            </a:r>
          </a:p>
        </p:txBody>
      </p:sp>
      <p:sp>
        <p:nvSpPr>
          <p:cNvPr id="4" name="Rounded Rectangle 3">
            <a:extLst>
              <a:ext uri="{FF2B5EF4-FFF2-40B4-BE49-F238E27FC236}">
                <a16:creationId xmlns:a16="http://schemas.microsoft.com/office/drawing/2014/main" id="{3EDCDEC3-8E55-6601-9C6D-19A2C7692E3F}"/>
              </a:ext>
            </a:extLst>
          </p:cNvPr>
          <p:cNvSpPr/>
          <p:nvPr/>
        </p:nvSpPr>
        <p:spPr>
          <a:xfrm>
            <a:off x="663575" y="2166938"/>
            <a:ext cx="2517775" cy="1190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u="sng" dirty="0">
                <a:solidFill>
                  <a:schemeClr val="tx1"/>
                </a:solidFill>
              </a:rPr>
              <a:t>:</a:t>
            </a:r>
            <a:r>
              <a:rPr lang="en-US" u="sng" dirty="0" err="1">
                <a:solidFill>
                  <a:schemeClr val="tx1"/>
                </a:solidFill>
              </a:rPr>
              <a:t>SpamFilter</a:t>
            </a:r>
            <a:endParaRPr lang="en-US" u="sng" dirty="0">
              <a:solidFill>
                <a:schemeClr val="tx1"/>
              </a:solidFill>
            </a:endParaRPr>
          </a:p>
          <a:p>
            <a:pPr algn="ctr" eaLnBrk="1" hangingPunct="1">
              <a:defRPr/>
            </a:pPr>
            <a:endParaRPr lang="en-US" dirty="0">
              <a:solidFill>
                <a:schemeClr val="tx1"/>
              </a:solidFill>
            </a:endParaRPr>
          </a:p>
          <a:p>
            <a:pPr algn="ctr" eaLnBrk="1" hangingPunct="1">
              <a:defRPr/>
            </a:pPr>
            <a:r>
              <a:rPr lang="en-US" dirty="0">
                <a:solidFill>
                  <a:schemeClr val="tx1"/>
                </a:solidFill>
              </a:rPr>
              <a:t>sort(Email e)</a:t>
            </a:r>
            <a:endParaRPr lang="tr-TR" dirty="0">
              <a:solidFill>
                <a:schemeClr val="tx1"/>
              </a:solidFill>
            </a:endParaRPr>
          </a:p>
        </p:txBody>
      </p:sp>
      <p:sp>
        <p:nvSpPr>
          <p:cNvPr id="5" name="Rounded Rectangle 4">
            <a:extLst>
              <a:ext uri="{FF2B5EF4-FFF2-40B4-BE49-F238E27FC236}">
                <a16:creationId xmlns:a16="http://schemas.microsoft.com/office/drawing/2014/main" id="{F7960C49-2D01-69CD-A6C1-713748B18E33}"/>
              </a:ext>
            </a:extLst>
          </p:cNvPr>
          <p:cNvSpPr/>
          <p:nvPr/>
        </p:nvSpPr>
        <p:spPr>
          <a:xfrm>
            <a:off x="3282950" y="3182938"/>
            <a:ext cx="2517775" cy="11906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u="sng" dirty="0">
                <a:solidFill>
                  <a:schemeClr val="tx1"/>
                </a:solidFill>
              </a:rPr>
              <a:t>:</a:t>
            </a:r>
            <a:r>
              <a:rPr lang="en-US" u="sng" dirty="0" err="1">
                <a:solidFill>
                  <a:schemeClr val="tx1"/>
                </a:solidFill>
              </a:rPr>
              <a:t>ComplaintFilter</a:t>
            </a:r>
            <a:endParaRPr lang="en-US" u="sng" dirty="0">
              <a:solidFill>
                <a:schemeClr val="tx1"/>
              </a:solidFill>
            </a:endParaRPr>
          </a:p>
          <a:p>
            <a:pPr algn="ctr" eaLnBrk="1" hangingPunct="1">
              <a:defRPr/>
            </a:pPr>
            <a:endParaRPr lang="en-US" dirty="0">
              <a:solidFill>
                <a:schemeClr val="tx1"/>
              </a:solidFill>
            </a:endParaRPr>
          </a:p>
          <a:p>
            <a:pPr algn="ctr" eaLnBrk="1" hangingPunct="1">
              <a:defRPr/>
            </a:pPr>
            <a:r>
              <a:rPr lang="en-US" dirty="0">
                <a:solidFill>
                  <a:schemeClr val="tx1"/>
                </a:solidFill>
              </a:rPr>
              <a:t>sort (Email e)</a:t>
            </a:r>
            <a:endParaRPr lang="tr-TR" dirty="0">
              <a:solidFill>
                <a:schemeClr val="tx1"/>
              </a:solidFill>
            </a:endParaRPr>
          </a:p>
        </p:txBody>
      </p:sp>
      <p:sp>
        <p:nvSpPr>
          <p:cNvPr id="6" name="Rounded Rectangle 5">
            <a:extLst>
              <a:ext uri="{FF2B5EF4-FFF2-40B4-BE49-F238E27FC236}">
                <a16:creationId xmlns:a16="http://schemas.microsoft.com/office/drawing/2014/main" id="{6EE529AF-0040-3993-BD08-4E4D927553BB}"/>
              </a:ext>
            </a:extLst>
          </p:cNvPr>
          <p:cNvSpPr/>
          <p:nvPr/>
        </p:nvSpPr>
        <p:spPr>
          <a:xfrm>
            <a:off x="5800725" y="4537075"/>
            <a:ext cx="2517775" cy="11890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u="sng" dirty="0">
                <a:solidFill>
                  <a:schemeClr val="tx1"/>
                </a:solidFill>
              </a:rPr>
              <a:t>:</a:t>
            </a:r>
            <a:r>
              <a:rPr lang="en-US" u="sng" dirty="0" err="1">
                <a:solidFill>
                  <a:schemeClr val="tx1"/>
                </a:solidFill>
              </a:rPr>
              <a:t>RequestFilter</a:t>
            </a:r>
            <a:endParaRPr lang="en-US" u="sng" dirty="0">
              <a:solidFill>
                <a:schemeClr val="tx1"/>
              </a:solidFill>
            </a:endParaRPr>
          </a:p>
          <a:p>
            <a:pPr algn="ctr" eaLnBrk="1" hangingPunct="1">
              <a:defRPr/>
            </a:pPr>
            <a:endParaRPr lang="en-US" dirty="0">
              <a:solidFill>
                <a:schemeClr val="tx1"/>
              </a:solidFill>
            </a:endParaRPr>
          </a:p>
          <a:p>
            <a:pPr algn="ctr" eaLnBrk="1" hangingPunct="1">
              <a:defRPr/>
            </a:pPr>
            <a:r>
              <a:rPr lang="en-US" dirty="0">
                <a:solidFill>
                  <a:schemeClr val="tx1"/>
                </a:solidFill>
              </a:rPr>
              <a:t>Sort(Email e)</a:t>
            </a:r>
            <a:endParaRPr lang="tr-TR" dirty="0">
              <a:solidFill>
                <a:schemeClr val="tx1"/>
              </a:solidFill>
            </a:endParaRPr>
          </a:p>
        </p:txBody>
      </p:sp>
      <p:cxnSp>
        <p:nvCxnSpPr>
          <p:cNvPr id="8" name="Straight Arrow Connector 7">
            <a:extLst>
              <a:ext uri="{FF2B5EF4-FFF2-40B4-BE49-F238E27FC236}">
                <a16:creationId xmlns:a16="http://schemas.microsoft.com/office/drawing/2014/main" id="{4FBE0933-762A-4D9A-5EC5-1E62DC3FC475}"/>
              </a:ext>
            </a:extLst>
          </p:cNvPr>
          <p:cNvCxnSpPr>
            <a:stCxn id="4" idx="3"/>
            <a:endCxn id="5" idx="0"/>
          </p:cNvCxnSpPr>
          <p:nvPr/>
        </p:nvCxnSpPr>
        <p:spPr>
          <a:xfrm>
            <a:off x="3181350" y="2762250"/>
            <a:ext cx="1360488" cy="4206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45013059-20D7-48F3-250E-93C06E61A9A3}"/>
              </a:ext>
            </a:extLst>
          </p:cNvPr>
          <p:cNvCxnSpPr>
            <a:stCxn id="5" idx="3"/>
          </p:cNvCxnSpPr>
          <p:nvPr/>
        </p:nvCxnSpPr>
        <p:spPr>
          <a:xfrm>
            <a:off x="5800725" y="3778250"/>
            <a:ext cx="1500188" cy="7588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CCD694CA-952F-BD30-7CDF-99BDA7A68E0C}"/>
              </a:ext>
            </a:extLst>
          </p:cNvPr>
          <p:cNvCxnSpPr>
            <a:endCxn id="4" idx="3"/>
          </p:cNvCxnSpPr>
          <p:nvPr/>
        </p:nvCxnSpPr>
        <p:spPr>
          <a:xfrm>
            <a:off x="663575" y="2762250"/>
            <a:ext cx="251777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3" name="Straight Connector 12">
            <a:extLst>
              <a:ext uri="{FF2B5EF4-FFF2-40B4-BE49-F238E27FC236}">
                <a16:creationId xmlns:a16="http://schemas.microsoft.com/office/drawing/2014/main" id="{EC216E46-18B5-7483-F029-55BBC6A0C961}"/>
              </a:ext>
            </a:extLst>
          </p:cNvPr>
          <p:cNvCxnSpPr/>
          <p:nvPr/>
        </p:nvCxnSpPr>
        <p:spPr>
          <a:xfrm>
            <a:off x="3392488" y="3778250"/>
            <a:ext cx="251777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4" name="Straight Connector 13">
            <a:extLst>
              <a:ext uri="{FF2B5EF4-FFF2-40B4-BE49-F238E27FC236}">
                <a16:creationId xmlns:a16="http://schemas.microsoft.com/office/drawing/2014/main" id="{F6EDE128-D3BF-D16A-9D14-F9C013A9A3C7}"/>
              </a:ext>
            </a:extLst>
          </p:cNvPr>
          <p:cNvCxnSpPr/>
          <p:nvPr/>
        </p:nvCxnSpPr>
        <p:spPr>
          <a:xfrm>
            <a:off x="5800725" y="5130800"/>
            <a:ext cx="2517775" cy="0"/>
          </a:xfrm>
          <a:prstGeom prst="line">
            <a:avLst/>
          </a:prstGeom>
        </p:spPr>
        <p:style>
          <a:lnRef idx="1">
            <a:schemeClr val="accent3"/>
          </a:lnRef>
          <a:fillRef idx="0">
            <a:schemeClr val="accent3"/>
          </a:fillRef>
          <a:effectRef idx="0">
            <a:schemeClr val="accent3"/>
          </a:effectRef>
          <a:fontRef idx="minor">
            <a:schemeClr val="tx1"/>
          </a:fontRef>
        </p:style>
      </p:cxnSp>
      <p:sp>
        <p:nvSpPr>
          <p:cNvPr id="16395" name="TextBox 16">
            <a:extLst>
              <a:ext uri="{FF2B5EF4-FFF2-40B4-BE49-F238E27FC236}">
                <a16:creationId xmlns:a16="http://schemas.microsoft.com/office/drawing/2014/main" id="{A81F1CC7-204C-1830-7F4F-DB55DDAFD2C5}"/>
              </a:ext>
            </a:extLst>
          </p:cNvPr>
          <p:cNvSpPr txBox="1">
            <a:spLocks noChangeArrowheads="1"/>
          </p:cNvSpPr>
          <p:nvPr/>
        </p:nvSpPr>
        <p:spPr bwMode="auto">
          <a:xfrm>
            <a:off x="545042" y="1213540"/>
            <a:ext cx="79131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2400" dirty="0"/>
              <a:t>Use a chain of objects to decouple the senders from the receivers. </a:t>
            </a:r>
          </a:p>
        </p:txBody>
      </p:sp>
      <p:sp>
        <p:nvSpPr>
          <p:cNvPr id="7" name="Rectangle: Rounded Corners 6">
            <a:extLst>
              <a:ext uri="{FF2B5EF4-FFF2-40B4-BE49-F238E27FC236}">
                <a16:creationId xmlns:a16="http://schemas.microsoft.com/office/drawing/2014/main" id="{C117BEC6-8B9B-9CEF-246B-08DFC635C706}"/>
              </a:ext>
            </a:extLst>
          </p:cNvPr>
          <p:cNvSpPr/>
          <p:nvPr/>
        </p:nvSpPr>
        <p:spPr bwMode="auto">
          <a:xfrm>
            <a:off x="6333068" y="1862668"/>
            <a:ext cx="1600200" cy="533400"/>
          </a:xfrm>
          <a:prstGeom prst="round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Inbox</a:t>
            </a:r>
          </a:p>
        </p:txBody>
      </p:sp>
      <p:cxnSp>
        <p:nvCxnSpPr>
          <p:cNvPr id="10" name="Straight Arrow Connector 9">
            <a:extLst>
              <a:ext uri="{FF2B5EF4-FFF2-40B4-BE49-F238E27FC236}">
                <a16:creationId xmlns:a16="http://schemas.microsoft.com/office/drawing/2014/main" id="{357A4563-9C9F-CEFA-7B38-FB5B49BB009C}"/>
              </a:ext>
            </a:extLst>
          </p:cNvPr>
          <p:cNvCxnSpPr>
            <a:cxnSpLocks/>
            <a:stCxn id="7" idx="1"/>
          </p:cNvCxnSpPr>
          <p:nvPr/>
        </p:nvCxnSpPr>
        <p:spPr>
          <a:xfrm flipH="1">
            <a:off x="3173412" y="2129368"/>
            <a:ext cx="3159656" cy="2667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D47C14F-B214-731D-D136-F9DE90BF15BC}"/>
              </a:ext>
            </a:extLst>
          </p:cNvPr>
          <p:cNvSpPr>
            <a:spLocks noGrp="1" noChangeArrowheads="1"/>
          </p:cNvSpPr>
          <p:nvPr>
            <p:ph type="title"/>
          </p:nvPr>
        </p:nvSpPr>
        <p:spPr>
          <a:xfrm>
            <a:off x="457200" y="60325"/>
            <a:ext cx="8229600" cy="1371600"/>
          </a:xfrm>
        </p:spPr>
        <p:txBody>
          <a:bodyPr/>
          <a:lstStyle/>
          <a:p>
            <a:r>
              <a:rPr lang="en-US" altLang="tr-TR"/>
              <a:t>Email handling chain</a:t>
            </a:r>
          </a:p>
        </p:txBody>
      </p:sp>
      <p:grpSp>
        <p:nvGrpSpPr>
          <p:cNvPr id="17411" name="Group 8">
            <a:extLst>
              <a:ext uri="{FF2B5EF4-FFF2-40B4-BE49-F238E27FC236}">
                <a16:creationId xmlns:a16="http://schemas.microsoft.com/office/drawing/2014/main" id="{06DBB0D3-58B8-E30F-0B42-12C3EE5A3E0C}"/>
              </a:ext>
            </a:extLst>
          </p:cNvPr>
          <p:cNvGrpSpPr>
            <a:grpSpLocks/>
          </p:cNvGrpSpPr>
          <p:nvPr/>
        </p:nvGrpSpPr>
        <p:grpSpPr bwMode="auto">
          <a:xfrm>
            <a:off x="914400" y="3733800"/>
            <a:ext cx="1519238" cy="533400"/>
            <a:chOff x="566" y="2160"/>
            <a:chExt cx="826" cy="336"/>
          </a:xfrm>
        </p:grpSpPr>
        <p:sp>
          <p:nvSpPr>
            <p:cNvPr id="17438" name="Rectangle 9">
              <a:extLst>
                <a:ext uri="{FF2B5EF4-FFF2-40B4-BE49-F238E27FC236}">
                  <a16:creationId xmlns:a16="http://schemas.microsoft.com/office/drawing/2014/main" id="{0BCCCF5F-73BA-C86C-0773-B3B104CD024A}"/>
                </a:ext>
              </a:extLst>
            </p:cNvPr>
            <p:cNvSpPr>
              <a:spLocks noChangeArrowheads="1"/>
            </p:cNvSpPr>
            <p:nvPr/>
          </p:nvSpPr>
          <p:spPr bwMode="auto">
            <a:xfrm>
              <a:off x="576" y="2160"/>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17439" name="Text Box 10">
              <a:extLst>
                <a:ext uri="{FF2B5EF4-FFF2-40B4-BE49-F238E27FC236}">
                  <a16:creationId xmlns:a16="http://schemas.microsoft.com/office/drawing/2014/main" id="{D45E4A73-BDA4-CDDF-4CC1-F374536FF158}"/>
                </a:ext>
              </a:extLst>
            </p:cNvPr>
            <p:cNvSpPr txBox="1">
              <a:spLocks noChangeArrowheads="1"/>
            </p:cNvSpPr>
            <p:nvPr/>
          </p:nvSpPr>
          <p:spPr bwMode="auto">
            <a:xfrm>
              <a:off x="566" y="2183"/>
              <a:ext cx="7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b="1"/>
                <a:t>SpamFilter</a:t>
              </a:r>
            </a:p>
          </p:txBody>
        </p:sp>
        <p:sp>
          <p:nvSpPr>
            <p:cNvPr id="17440" name="Line 11">
              <a:extLst>
                <a:ext uri="{FF2B5EF4-FFF2-40B4-BE49-F238E27FC236}">
                  <a16:creationId xmlns:a16="http://schemas.microsoft.com/office/drawing/2014/main" id="{3146B375-A4FF-C65A-26B1-1380400B40DC}"/>
                </a:ext>
              </a:extLst>
            </p:cNvPr>
            <p:cNvSpPr>
              <a:spLocks noChangeShapeType="1"/>
            </p:cNvSpPr>
            <p:nvPr/>
          </p:nvSpPr>
          <p:spPr bwMode="auto">
            <a:xfrm>
              <a:off x="576" y="2400"/>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41" name="Line 12">
              <a:extLst>
                <a:ext uri="{FF2B5EF4-FFF2-40B4-BE49-F238E27FC236}">
                  <a16:creationId xmlns:a16="http://schemas.microsoft.com/office/drawing/2014/main" id="{4F1EE4AE-311C-50F2-C051-131C4A480248}"/>
                </a:ext>
              </a:extLst>
            </p:cNvPr>
            <p:cNvSpPr>
              <a:spLocks noChangeShapeType="1"/>
            </p:cNvSpPr>
            <p:nvPr/>
          </p:nvSpPr>
          <p:spPr bwMode="auto">
            <a:xfrm>
              <a:off x="576" y="244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7412" name="Group 18">
            <a:extLst>
              <a:ext uri="{FF2B5EF4-FFF2-40B4-BE49-F238E27FC236}">
                <a16:creationId xmlns:a16="http://schemas.microsoft.com/office/drawing/2014/main" id="{FA810059-9822-F5B1-87A6-E6E98B1FFD7F}"/>
              </a:ext>
            </a:extLst>
          </p:cNvPr>
          <p:cNvGrpSpPr>
            <a:grpSpLocks/>
          </p:cNvGrpSpPr>
          <p:nvPr/>
        </p:nvGrpSpPr>
        <p:grpSpPr bwMode="auto">
          <a:xfrm>
            <a:off x="3327400" y="1951567"/>
            <a:ext cx="1616075" cy="1219200"/>
            <a:chOff x="2390" y="1152"/>
            <a:chExt cx="1018" cy="768"/>
          </a:xfrm>
        </p:grpSpPr>
        <p:grpSp>
          <p:nvGrpSpPr>
            <p:cNvPr id="17432" name="Group 19">
              <a:extLst>
                <a:ext uri="{FF2B5EF4-FFF2-40B4-BE49-F238E27FC236}">
                  <a16:creationId xmlns:a16="http://schemas.microsoft.com/office/drawing/2014/main" id="{49E2FE02-6C6A-E53F-627C-59A9981DC376}"/>
                </a:ext>
              </a:extLst>
            </p:cNvPr>
            <p:cNvGrpSpPr>
              <a:grpSpLocks/>
            </p:cNvGrpSpPr>
            <p:nvPr/>
          </p:nvGrpSpPr>
          <p:grpSpPr bwMode="auto">
            <a:xfrm>
              <a:off x="2390" y="1152"/>
              <a:ext cx="1018" cy="624"/>
              <a:chOff x="2390" y="1152"/>
              <a:chExt cx="1018" cy="624"/>
            </a:xfrm>
          </p:grpSpPr>
          <p:sp>
            <p:nvSpPr>
              <p:cNvPr id="17434" name="Rectangle 20">
                <a:extLst>
                  <a:ext uri="{FF2B5EF4-FFF2-40B4-BE49-F238E27FC236}">
                    <a16:creationId xmlns:a16="http://schemas.microsoft.com/office/drawing/2014/main" id="{17D8CF92-47C3-1C9E-4F0A-1F4D76C10B08}"/>
                  </a:ext>
                </a:extLst>
              </p:cNvPr>
              <p:cNvSpPr>
                <a:spLocks noChangeArrowheads="1"/>
              </p:cNvSpPr>
              <p:nvPr/>
            </p:nvSpPr>
            <p:spPr bwMode="auto">
              <a:xfrm>
                <a:off x="2400" y="1152"/>
                <a:ext cx="1008" cy="624"/>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17435" name="Text Box 21">
                <a:extLst>
                  <a:ext uri="{FF2B5EF4-FFF2-40B4-BE49-F238E27FC236}">
                    <a16:creationId xmlns:a16="http://schemas.microsoft.com/office/drawing/2014/main" id="{F7D6661D-81B3-1822-C1CB-48D5B0440030}"/>
                  </a:ext>
                </a:extLst>
              </p:cNvPr>
              <p:cNvSpPr txBox="1">
                <a:spLocks noChangeArrowheads="1"/>
              </p:cNvSpPr>
              <p:nvPr/>
            </p:nvSpPr>
            <p:spPr bwMode="auto">
              <a:xfrm>
                <a:off x="2390" y="1175"/>
                <a:ext cx="940"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b="1" dirty="0" err="1"/>
                  <a:t>EmailFilter</a:t>
                </a:r>
                <a:endParaRPr lang="en-US" altLang="tr-TR" sz="1800" b="1" dirty="0"/>
              </a:p>
              <a:p>
                <a:pPr eaLnBrk="1" hangingPunct="1">
                  <a:spcBef>
                    <a:spcPct val="0"/>
                  </a:spcBef>
                  <a:buClrTx/>
                  <a:buSzTx/>
                  <a:buFontTx/>
                  <a:buNone/>
                </a:pPr>
                <a:endParaRPr lang="en-US" altLang="tr-TR" sz="1800" b="1" i="1" dirty="0"/>
              </a:p>
              <a:p>
                <a:pPr eaLnBrk="1" hangingPunct="1">
                  <a:spcBef>
                    <a:spcPct val="0"/>
                  </a:spcBef>
                  <a:buClrTx/>
                  <a:buSzTx/>
                  <a:buFontTx/>
                  <a:buNone/>
                </a:pPr>
                <a:r>
                  <a:rPr lang="en-US" altLang="tr-TR" sz="1800" dirty="0"/>
                  <a:t>sort(Email e)</a:t>
                </a:r>
              </a:p>
            </p:txBody>
          </p:sp>
          <p:sp>
            <p:nvSpPr>
              <p:cNvPr id="17436" name="Line 22">
                <a:extLst>
                  <a:ext uri="{FF2B5EF4-FFF2-40B4-BE49-F238E27FC236}">
                    <a16:creationId xmlns:a16="http://schemas.microsoft.com/office/drawing/2014/main" id="{070A0AE8-9E6A-87E9-508F-05054F2472D3}"/>
                  </a:ext>
                </a:extLst>
              </p:cNvPr>
              <p:cNvSpPr>
                <a:spLocks noChangeShapeType="1"/>
              </p:cNvSpPr>
              <p:nvPr/>
            </p:nvSpPr>
            <p:spPr bwMode="auto">
              <a:xfrm>
                <a:off x="2400" y="1440"/>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7" name="Line 23">
                <a:extLst>
                  <a:ext uri="{FF2B5EF4-FFF2-40B4-BE49-F238E27FC236}">
                    <a16:creationId xmlns:a16="http://schemas.microsoft.com/office/drawing/2014/main" id="{83542C46-0C0A-EB3D-8B1C-D60DC8F78870}"/>
                  </a:ext>
                </a:extLst>
              </p:cNvPr>
              <p:cNvSpPr>
                <a:spLocks noChangeShapeType="1"/>
              </p:cNvSpPr>
              <p:nvPr/>
            </p:nvSpPr>
            <p:spPr bwMode="auto">
              <a:xfrm>
                <a:off x="2400" y="1536"/>
                <a:ext cx="100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7433" name="AutoShape 24">
              <a:extLst>
                <a:ext uri="{FF2B5EF4-FFF2-40B4-BE49-F238E27FC236}">
                  <a16:creationId xmlns:a16="http://schemas.microsoft.com/office/drawing/2014/main" id="{3FCE46BD-648D-EA80-E3B5-CFC54EDA19FE}"/>
                </a:ext>
              </a:extLst>
            </p:cNvPr>
            <p:cNvSpPr>
              <a:spLocks noChangeArrowheads="1"/>
            </p:cNvSpPr>
            <p:nvPr/>
          </p:nvSpPr>
          <p:spPr bwMode="auto">
            <a:xfrm>
              <a:off x="2832" y="1776"/>
              <a:ext cx="144" cy="144"/>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grpSp>
      <p:cxnSp>
        <p:nvCxnSpPr>
          <p:cNvPr id="17413" name="AutoShape 25">
            <a:extLst>
              <a:ext uri="{FF2B5EF4-FFF2-40B4-BE49-F238E27FC236}">
                <a16:creationId xmlns:a16="http://schemas.microsoft.com/office/drawing/2014/main" id="{A58DBD15-DFE6-7651-54CC-6E33B61860FF}"/>
              </a:ext>
            </a:extLst>
          </p:cNvPr>
          <p:cNvCxnSpPr>
            <a:cxnSpLocks noChangeShapeType="1"/>
            <a:stCxn id="17433" idx="3"/>
            <a:endCxn id="17438" idx="0"/>
          </p:cNvCxnSpPr>
          <p:nvPr/>
        </p:nvCxnSpPr>
        <p:spPr bwMode="auto">
          <a:xfrm rot="5400000">
            <a:off x="2631780" y="2222204"/>
            <a:ext cx="563033" cy="2460159"/>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7414" name="AutoShape 26">
            <a:extLst>
              <a:ext uri="{FF2B5EF4-FFF2-40B4-BE49-F238E27FC236}">
                <a16:creationId xmlns:a16="http://schemas.microsoft.com/office/drawing/2014/main" id="{91954A6B-D541-8F9F-B53C-E3C80FB9DDE0}"/>
              </a:ext>
            </a:extLst>
          </p:cNvPr>
          <p:cNvCxnSpPr>
            <a:cxnSpLocks noChangeShapeType="1"/>
            <a:stCxn id="17433" idx="3"/>
            <a:endCxn id="17428" idx="0"/>
          </p:cNvCxnSpPr>
          <p:nvPr/>
        </p:nvCxnSpPr>
        <p:spPr bwMode="auto">
          <a:xfrm rot="16200000" flipH="1">
            <a:off x="3632801" y="3681340"/>
            <a:ext cx="1283758" cy="262611"/>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nvGrpSpPr>
          <p:cNvPr id="17415" name="Group 28">
            <a:extLst>
              <a:ext uri="{FF2B5EF4-FFF2-40B4-BE49-F238E27FC236}">
                <a16:creationId xmlns:a16="http://schemas.microsoft.com/office/drawing/2014/main" id="{7FB9AC11-4A16-23B4-2FF8-9CC2560F4A24}"/>
              </a:ext>
            </a:extLst>
          </p:cNvPr>
          <p:cNvGrpSpPr>
            <a:grpSpLocks/>
          </p:cNvGrpSpPr>
          <p:nvPr/>
        </p:nvGrpSpPr>
        <p:grpSpPr bwMode="auto">
          <a:xfrm>
            <a:off x="3354388" y="4454525"/>
            <a:ext cx="2078037" cy="533400"/>
            <a:chOff x="566" y="2160"/>
            <a:chExt cx="826" cy="336"/>
          </a:xfrm>
        </p:grpSpPr>
        <p:sp>
          <p:nvSpPr>
            <p:cNvPr id="17428" name="Rectangle 29">
              <a:extLst>
                <a:ext uri="{FF2B5EF4-FFF2-40B4-BE49-F238E27FC236}">
                  <a16:creationId xmlns:a16="http://schemas.microsoft.com/office/drawing/2014/main" id="{473B83D5-9F95-1D77-DCD7-6A6AC332A60A}"/>
                </a:ext>
              </a:extLst>
            </p:cNvPr>
            <p:cNvSpPr>
              <a:spLocks noChangeArrowheads="1"/>
            </p:cNvSpPr>
            <p:nvPr/>
          </p:nvSpPr>
          <p:spPr bwMode="auto">
            <a:xfrm>
              <a:off x="576" y="2160"/>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17429" name="Text Box 30">
              <a:extLst>
                <a:ext uri="{FF2B5EF4-FFF2-40B4-BE49-F238E27FC236}">
                  <a16:creationId xmlns:a16="http://schemas.microsoft.com/office/drawing/2014/main" id="{BD68CF84-6C56-1CBF-2E7A-39E1C5CD1A4E}"/>
                </a:ext>
              </a:extLst>
            </p:cNvPr>
            <p:cNvSpPr txBox="1">
              <a:spLocks noChangeArrowheads="1"/>
            </p:cNvSpPr>
            <p:nvPr/>
          </p:nvSpPr>
          <p:spPr bwMode="auto">
            <a:xfrm>
              <a:off x="566" y="2183"/>
              <a:ext cx="7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b="1"/>
                <a:t>ComplaintFilter</a:t>
              </a:r>
            </a:p>
          </p:txBody>
        </p:sp>
        <p:sp>
          <p:nvSpPr>
            <p:cNvPr id="17430" name="Line 31">
              <a:extLst>
                <a:ext uri="{FF2B5EF4-FFF2-40B4-BE49-F238E27FC236}">
                  <a16:creationId xmlns:a16="http://schemas.microsoft.com/office/drawing/2014/main" id="{56D326B4-AFB1-86D1-99E5-9350DD73556F}"/>
                </a:ext>
              </a:extLst>
            </p:cNvPr>
            <p:cNvSpPr>
              <a:spLocks noChangeShapeType="1"/>
            </p:cNvSpPr>
            <p:nvPr/>
          </p:nvSpPr>
          <p:spPr bwMode="auto">
            <a:xfrm>
              <a:off x="576" y="2400"/>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31" name="Line 32">
              <a:extLst>
                <a:ext uri="{FF2B5EF4-FFF2-40B4-BE49-F238E27FC236}">
                  <a16:creationId xmlns:a16="http://schemas.microsoft.com/office/drawing/2014/main" id="{31A97353-4E93-79DE-E21D-27CE073D95EB}"/>
                </a:ext>
              </a:extLst>
            </p:cNvPr>
            <p:cNvSpPr>
              <a:spLocks noChangeShapeType="1"/>
            </p:cNvSpPr>
            <p:nvPr/>
          </p:nvSpPr>
          <p:spPr bwMode="auto">
            <a:xfrm>
              <a:off x="576" y="244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7416" name="AutoShape 36">
            <a:extLst>
              <a:ext uri="{FF2B5EF4-FFF2-40B4-BE49-F238E27FC236}">
                <a16:creationId xmlns:a16="http://schemas.microsoft.com/office/drawing/2014/main" id="{9759BC2F-CD91-FCD4-0F15-652C698FF8E7}"/>
              </a:ext>
            </a:extLst>
          </p:cNvPr>
          <p:cNvCxnSpPr>
            <a:cxnSpLocks noChangeShapeType="1"/>
            <a:stCxn id="17434" idx="1"/>
            <a:endCxn id="17434" idx="0"/>
          </p:cNvCxnSpPr>
          <p:nvPr/>
        </p:nvCxnSpPr>
        <p:spPr bwMode="auto">
          <a:xfrm rot="10800000" flipH="1">
            <a:off x="3343275" y="1951567"/>
            <a:ext cx="800100" cy="495300"/>
          </a:xfrm>
          <a:prstGeom prst="bentConnector4">
            <a:avLst>
              <a:gd name="adj1" fmla="val -28569"/>
              <a:gd name="adj2" fmla="val 146153"/>
            </a:avLst>
          </a:prstGeom>
          <a:noFill/>
          <a:ln w="9525">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17417" name="Text Box 37">
            <a:extLst>
              <a:ext uri="{FF2B5EF4-FFF2-40B4-BE49-F238E27FC236}">
                <a16:creationId xmlns:a16="http://schemas.microsoft.com/office/drawing/2014/main" id="{CC5E27D8-4ACB-3CAA-A6E7-B0DFDA012D66}"/>
              </a:ext>
            </a:extLst>
          </p:cNvPr>
          <p:cNvSpPr txBox="1">
            <a:spLocks noChangeArrowheads="1"/>
          </p:cNvSpPr>
          <p:nvPr/>
        </p:nvSpPr>
        <p:spPr bwMode="auto">
          <a:xfrm>
            <a:off x="1725613" y="1886480"/>
            <a:ext cx="1212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successor</a:t>
            </a:r>
          </a:p>
        </p:txBody>
      </p:sp>
      <p:sp>
        <p:nvSpPr>
          <p:cNvPr id="17418" name="Line 40">
            <a:extLst>
              <a:ext uri="{FF2B5EF4-FFF2-40B4-BE49-F238E27FC236}">
                <a16:creationId xmlns:a16="http://schemas.microsoft.com/office/drawing/2014/main" id="{E7B2F4DB-610D-591B-C346-03CDFDF9AF9A}"/>
              </a:ext>
            </a:extLst>
          </p:cNvPr>
          <p:cNvSpPr>
            <a:spLocks noChangeShapeType="1"/>
          </p:cNvSpPr>
          <p:nvPr/>
        </p:nvSpPr>
        <p:spPr bwMode="auto">
          <a:xfrm flipV="1">
            <a:off x="1258888" y="4221163"/>
            <a:ext cx="504825" cy="647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19" name="Line 42">
            <a:extLst>
              <a:ext uri="{FF2B5EF4-FFF2-40B4-BE49-F238E27FC236}">
                <a16:creationId xmlns:a16="http://schemas.microsoft.com/office/drawing/2014/main" id="{C85D6A0C-56CE-7ACA-E231-DD8752570D14}"/>
              </a:ext>
            </a:extLst>
          </p:cNvPr>
          <p:cNvSpPr>
            <a:spLocks noChangeShapeType="1"/>
          </p:cNvSpPr>
          <p:nvPr/>
        </p:nvSpPr>
        <p:spPr bwMode="auto">
          <a:xfrm flipV="1">
            <a:off x="4943475" y="1654705"/>
            <a:ext cx="488950" cy="254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20" name="Text Box 43">
            <a:extLst>
              <a:ext uri="{FF2B5EF4-FFF2-40B4-BE49-F238E27FC236}">
                <a16:creationId xmlns:a16="http://schemas.microsoft.com/office/drawing/2014/main" id="{89A7B919-1DA5-2874-CF1A-DF9C99B2207D}"/>
              </a:ext>
            </a:extLst>
          </p:cNvPr>
          <p:cNvSpPr txBox="1">
            <a:spLocks noChangeArrowheads="1"/>
          </p:cNvSpPr>
          <p:nvPr/>
        </p:nvSpPr>
        <p:spPr bwMode="auto">
          <a:xfrm>
            <a:off x="453641" y="4911726"/>
            <a:ext cx="3289683"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2000" dirty="0">
                <a:latin typeface="Source Sans Pro" panose="020B0503030403020204" pitchFamily="34" charset="0"/>
                <a:ea typeface="Source Sans Pro" panose="020B0503030403020204" pitchFamily="34" charset="0"/>
              </a:rPr>
              <a:t>If (email is spam){</a:t>
            </a:r>
          </a:p>
          <a:p>
            <a:pPr eaLnBrk="1" hangingPunct="1">
              <a:spcBef>
                <a:spcPct val="0"/>
              </a:spcBef>
              <a:buClrTx/>
              <a:buSzTx/>
              <a:buFontTx/>
              <a:buNone/>
            </a:pPr>
            <a:r>
              <a:rPr lang="en-US" altLang="tr-TR" sz="2000" dirty="0">
                <a:latin typeface="Source Sans Pro" panose="020B0503030403020204" pitchFamily="34" charset="0"/>
                <a:ea typeface="Source Sans Pro" panose="020B0503030403020204" pitchFamily="34" charset="0"/>
              </a:rPr>
              <a:t>    //put it into spam directory</a:t>
            </a:r>
          </a:p>
          <a:p>
            <a:pPr eaLnBrk="1" hangingPunct="1">
              <a:spcBef>
                <a:spcPct val="0"/>
              </a:spcBef>
              <a:buClrTx/>
              <a:buSzTx/>
              <a:buFontTx/>
              <a:buNone/>
            </a:pPr>
            <a:r>
              <a:rPr lang="en-US" altLang="tr-TR" sz="2000" dirty="0">
                <a:latin typeface="Source Sans Pro" panose="020B0503030403020204" pitchFamily="34" charset="0"/>
                <a:ea typeface="Source Sans Pro" panose="020B0503030403020204" pitchFamily="34" charset="0"/>
              </a:rPr>
              <a:t>} else{</a:t>
            </a:r>
          </a:p>
          <a:p>
            <a:pPr eaLnBrk="1" hangingPunct="1">
              <a:spcBef>
                <a:spcPct val="0"/>
              </a:spcBef>
              <a:buClrTx/>
              <a:buSzTx/>
              <a:buFontTx/>
              <a:buNone/>
            </a:pPr>
            <a:r>
              <a:rPr lang="en-US" altLang="tr-TR" sz="2000" dirty="0">
                <a:latin typeface="Source Sans Pro" panose="020B0503030403020204" pitchFamily="34" charset="0"/>
                <a:ea typeface="Source Sans Pro" panose="020B0503030403020204" pitchFamily="34" charset="0"/>
              </a:rPr>
              <a:t>   </a:t>
            </a:r>
            <a:r>
              <a:rPr lang="en-US" altLang="tr-TR" sz="2000" dirty="0" err="1">
                <a:latin typeface="Source Sans Pro" panose="020B0503030403020204" pitchFamily="34" charset="0"/>
                <a:ea typeface="Source Sans Pro" panose="020B0503030403020204" pitchFamily="34" charset="0"/>
              </a:rPr>
              <a:t>super.sort</a:t>
            </a:r>
            <a:r>
              <a:rPr lang="en-US" altLang="tr-TR" sz="2000" dirty="0">
                <a:latin typeface="Source Sans Pro" panose="020B0503030403020204" pitchFamily="34" charset="0"/>
                <a:ea typeface="Source Sans Pro" panose="020B0503030403020204" pitchFamily="34" charset="0"/>
              </a:rPr>
              <a:t>(Email email);</a:t>
            </a:r>
          </a:p>
          <a:p>
            <a:pPr eaLnBrk="1" hangingPunct="1">
              <a:spcBef>
                <a:spcPct val="0"/>
              </a:spcBef>
              <a:buClrTx/>
              <a:buSzTx/>
              <a:buFontTx/>
              <a:buNone/>
            </a:pPr>
            <a:r>
              <a:rPr lang="en-US" altLang="tr-TR" sz="2000" dirty="0">
                <a:latin typeface="Source Sans Pro" panose="020B0503030403020204" pitchFamily="34" charset="0"/>
                <a:ea typeface="Source Sans Pro" panose="020B0503030403020204" pitchFamily="34" charset="0"/>
              </a:rPr>
              <a:t>}</a:t>
            </a:r>
          </a:p>
        </p:txBody>
      </p:sp>
      <p:grpSp>
        <p:nvGrpSpPr>
          <p:cNvPr id="17421" name="Group 44">
            <a:extLst>
              <a:ext uri="{FF2B5EF4-FFF2-40B4-BE49-F238E27FC236}">
                <a16:creationId xmlns:a16="http://schemas.microsoft.com/office/drawing/2014/main" id="{B22CC099-5692-D6CB-D814-081CC996B177}"/>
              </a:ext>
            </a:extLst>
          </p:cNvPr>
          <p:cNvGrpSpPr>
            <a:grpSpLocks/>
          </p:cNvGrpSpPr>
          <p:nvPr/>
        </p:nvGrpSpPr>
        <p:grpSpPr bwMode="auto">
          <a:xfrm>
            <a:off x="6019800" y="4454525"/>
            <a:ext cx="2078038" cy="533400"/>
            <a:chOff x="566" y="2160"/>
            <a:chExt cx="826" cy="336"/>
          </a:xfrm>
        </p:grpSpPr>
        <p:sp>
          <p:nvSpPr>
            <p:cNvPr id="17424" name="Rectangle 45">
              <a:extLst>
                <a:ext uri="{FF2B5EF4-FFF2-40B4-BE49-F238E27FC236}">
                  <a16:creationId xmlns:a16="http://schemas.microsoft.com/office/drawing/2014/main" id="{4FF6E19F-49D4-2A12-F192-117DE79D1AB5}"/>
                </a:ext>
              </a:extLst>
            </p:cNvPr>
            <p:cNvSpPr>
              <a:spLocks noChangeArrowheads="1"/>
            </p:cNvSpPr>
            <p:nvPr/>
          </p:nvSpPr>
          <p:spPr bwMode="auto">
            <a:xfrm>
              <a:off x="576" y="2160"/>
              <a:ext cx="816" cy="336"/>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17425" name="Text Box 46">
              <a:extLst>
                <a:ext uri="{FF2B5EF4-FFF2-40B4-BE49-F238E27FC236}">
                  <a16:creationId xmlns:a16="http://schemas.microsoft.com/office/drawing/2014/main" id="{E9BE3793-E114-3FFC-0FE9-91160237990E}"/>
                </a:ext>
              </a:extLst>
            </p:cNvPr>
            <p:cNvSpPr txBox="1">
              <a:spLocks noChangeArrowheads="1"/>
            </p:cNvSpPr>
            <p:nvPr/>
          </p:nvSpPr>
          <p:spPr bwMode="auto">
            <a:xfrm>
              <a:off x="566" y="2183"/>
              <a:ext cx="6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b="1"/>
                <a:t>RequestFilter</a:t>
              </a:r>
            </a:p>
          </p:txBody>
        </p:sp>
        <p:sp>
          <p:nvSpPr>
            <p:cNvPr id="17426" name="Line 47">
              <a:extLst>
                <a:ext uri="{FF2B5EF4-FFF2-40B4-BE49-F238E27FC236}">
                  <a16:creationId xmlns:a16="http://schemas.microsoft.com/office/drawing/2014/main" id="{2D21E329-132B-E08C-1987-AA8BAA17E743}"/>
                </a:ext>
              </a:extLst>
            </p:cNvPr>
            <p:cNvSpPr>
              <a:spLocks noChangeShapeType="1"/>
            </p:cNvSpPr>
            <p:nvPr/>
          </p:nvSpPr>
          <p:spPr bwMode="auto">
            <a:xfrm>
              <a:off x="576" y="2400"/>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7" name="Line 48">
              <a:extLst>
                <a:ext uri="{FF2B5EF4-FFF2-40B4-BE49-F238E27FC236}">
                  <a16:creationId xmlns:a16="http://schemas.microsoft.com/office/drawing/2014/main" id="{9004352E-8580-9679-09BF-89CE62A00367}"/>
                </a:ext>
              </a:extLst>
            </p:cNvPr>
            <p:cNvSpPr>
              <a:spLocks noChangeShapeType="1"/>
            </p:cNvSpPr>
            <p:nvPr/>
          </p:nvSpPr>
          <p:spPr bwMode="auto">
            <a:xfrm>
              <a:off x="576" y="244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7422" name="AutoShape 49">
            <a:extLst>
              <a:ext uri="{FF2B5EF4-FFF2-40B4-BE49-F238E27FC236}">
                <a16:creationId xmlns:a16="http://schemas.microsoft.com/office/drawing/2014/main" id="{53B8D117-CD6B-9972-6155-F9843C9381C1}"/>
              </a:ext>
            </a:extLst>
          </p:cNvPr>
          <p:cNvCxnSpPr>
            <a:cxnSpLocks noChangeShapeType="1"/>
            <a:stCxn id="17433" idx="3"/>
            <a:endCxn id="17425" idx="0"/>
          </p:cNvCxnSpPr>
          <p:nvPr/>
        </p:nvCxnSpPr>
        <p:spPr bwMode="auto">
          <a:xfrm rot="16200000" flipH="1">
            <a:off x="4832783" y="2481358"/>
            <a:ext cx="1320271" cy="2699087"/>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7423" name="Metin kutusu 33">
            <a:extLst>
              <a:ext uri="{FF2B5EF4-FFF2-40B4-BE49-F238E27FC236}">
                <a16:creationId xmlns:a16="http://schemas.microsoft.com/office/drawing/2014/main" id="{27B1668D-0B2A-0B10-E217-15889E764C50}"/>
              </a:ext>
            </a:extLst>
          </p:cNvPr>
          <p:cNvSpPr txBox="1">
            <a:spLocks noChangeArrowheads="1"/>
          </p:cNvSpPr>
          <p:nvPr/>
        </p:nvSpPr>
        <p:spPr bwMode="auto">
          <a:xfrm flipH="1">
            <a:off x="5432425" y="1283696"/>
            <a:ext cx="375552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2000" dirty="0">
                <a:latin typeface="Source Sans Pro" panose="020B0503030403020204" pitchFamily="34" charset="0"/>
                <a:ea typeface="Source Sans Pro" panose="020B0503030403020204" pitchFamily="34" charset="0"/>
              </a:rPr>
              <a:t>public class </a:t>
            </a:r>
            <a:r>
              <a:rPr lang="en-US" altLang="en-US" sz="2000" dirty="0" err="1">
                <a:latin typeface="Source Sans Pro" panose="020B0503030403020204" pitchFamily="34" charset="0"/>
                <a:ea typeface="Source Sans Pro" panose="020B0503030403020204" pitchFamily="34" charset="0"/>
              </a:rPr>
              <a:t>EmailFilter</a:t>
            </a:r>
            <a:r>
              <a:rPr lang="en-US" altLang="en-US" sz="2000" dirty="0">
                <a:latin typeface="Source Sans Pro" panose="020B0503030403020204" pitchFamily="34" charset="0"/>
                <a:ea typeface="Source Sans Pro" panose="020B0503030403020204" pitchFamily="34" charset="0"/>
              </a:rPr>
              <a:t>{</a:t>
            </a:r>
          </a:p>
          <a:p>
            <a:pPr>
              <a:spcBef>
                <a:spcPct val="0"/>
              </a:spcBef>
              <a:buClrTx/>
              <a:buSzTx/>
              <a:buFontTx/>
              <a:buNone/>
            </a:pPr>
            <a:r>
              <a:rPr lang="en-US" altLang="en-US" sz="2000" dirty="0">
                <a:latin typeface="Source Sans Pro" panose="020B0503030403020204" pitchFamily="34" charset="0"/>
                <a:ea typeface="Source Sans Pro" panose="020B0503030403020204" pitchFamily="34" charset="0"/>
              </a:rPr>
              <a:t>   private </a:t>
            </a:r>
            <a:r>
              <a:rPr lang="en-US" altLang="en-US" sz="2000" dirty="0" err="1">
                <a:latin typeface="Source Sans Pro" panose="020B0503030403020204" pitchFamily="34" charset="0"/>
                <a:ea typeface="Source Sans Pro" panose="020B0503030403020204" pitchFamily="34" charset="0"/>
              </a:rPr>
              <a:t>EmailFilter</a:t>
            </a:r>
            <a:r>
              <a:rPr lang="en-US" altLang="en-US" sz="2000" dirty="0">
                <a:latin typeface="Source Sans Pro" panose="020B0503030403020204" pitchFamily="34" charset="0"/>
                <a:ea typeface="Source Sans Pro" panose="020B0503030403020204" pitchFamily="34" charset="0"/>
              </a:rPr>
              <a:t> successor;</a:t>
            </a:r>
          </a:p>
          <a:p>
            <a:pPr>
              <a:spcBef>
                <a:spcPct val="0"/>
              </a:spcBef>
              <a:buClrTx/>
              <a:buSzTx/>
              <a:buFontTx/>
              <a:buNone/>
            </a:pPr>
            <a:r>
              <a:rPr lang="en-US" altLang="en-US" sz="2000" dirty="0">
                <a:latin typeface="Source Sans Pro" panose="020B0503030403020204" pitchFamily="34" charset="0"/>
                <a:ea typeface="Source Sans Pro" panose="020B0503030403020204" pitchFamily="34" charset="0"/>
              </a:rPr>
              <a:t>   public void sort(Email email){</a:t>
            </a:r>
          </a:p>
          <a:p>
            <a:pPr>
              <a:spcBef>
                <a:spcPct val="0"/>
              </a:spcBef>
              <a:buClrTx/>
              <a:buSzTx/>
              <a:buFontTx/>
              <a:buNone/>
            </a:pPr>
            <a:r>
              <a:rPr lang="en-US" altLang="tr-TR" sz="2000" dirty="0">
                <a:latin typeface="Source Sans Pro" panose="020B0503030403020204" pitchFamily="34" charset="0"/>
                <a:ea typeface="Source Sans Pro" panose="020B0503030403020204" pitchFamily="34" charset="0"/>
              </a:rPr>
              <a:t>       if(successor!=null)		</a:t>
            </a:r>
            <a:r>
              <a:rPr lang="en-US" altLang="tr-TR" sz="2000" dirty="0" err="1">
                <a:latin typeface="Source Sans Pro" panose="020B0503030403020204" pitchFamily="34" charset="0"/>
                <a:ea typeface="Source Sans Pro" panose="020B0503030403020204" pitchFamily="34" charset="0"/>
              </a:rPr>
              <a:t>successor.sort</a:t>
            </a:r>
            <a:r>
              <a:rPr lang="en-US" altLang="tr-TR" sz="2000" dirty="0">
                <a:latin typeface="Source Sans Pro" panose="020B0503030403020204" pitchFamily="34" charset="0"/>
                <a:ea typeface="Source Sans Pro" panose="020B0503030403020204" pitchFamily="34" charset="0"/>
              </a:rPr>
              <a:t>(email);</a:t>
            </a:r>
          </a:p>
          <a:p>
            <a:pPr>
              <a:spcBef>
                <a:spcPct val="0"/>
              </a:spcBef>
              <a:buClrTx/>
              <a:buSzTx/>
              <a:buFontTx/>
              <a:buNone/>
            </a:pPr>
            <a:r>
              <a:rPr lang="en-US" altLang="tr-TR" sz="2000" dirty="0">
                <a:latin typeface="Source Sans Pro" panose="020B0503030403020204" pitchFamily="34" charset="0"/>
                <a:ea typeface="Source Sans Pro" panose="020B0503030403020204" pitchFamily="34" charset="0"/>
              </a:rPr>
              <a:t>  }</a:t>
            </a:r>
            <a:r>
              <a:rPr lang="en-US" altLang="en-US" sz="2000" dirty="0">
                <a:latin typeface="Source Sans Pro" panose="020B0503030403020204" pitchFamily="34" charset="0"/>
                <a:ea typeface="Source Sans Pro" panose="020B0503030403020204" pitchFamily="34" charset="0"/>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0329090-6F5C-6F36-FF0A-4BBE15F6A593}"/>
              </a:ext>
            </a:extLst>
          </p:cNvPr>
          <p:cNvSpPr>
            <a:spLocks noGrp="1" noChangeArrowheads="1"/>
          </p:cNvSpPr>
          <p:nvPr>
            <p:ph type="title"/>
          </p:nvPr>
        </p:nvSpPr>
        <p:spPr>
          <a:xfrm>
            <a:off x="457200" y="139700"/>
            <a:ext cx="8229600" cy="1371600"/>
          </a:xfrm>
        </p:spPr>
        <p:txBody>
          <a:bodyPr/>
          <a:lstStyle/>
          <a:p>
            <a:r>
              <a:rPr lang="en-US" altLang="tr-TR"/>
              <a:t>Chain of Responsibility</a:t>
            </a:r>
          </a:p>
        </p:txBody>
      </p:sp>
      <p:sp>
        <p:nvSpPr>
          <p:cNvPr id="19459" name="Rectangle 3">
            <a:extLst>
              <a:ext uri="{FF2B5EF4-FFF2-40B4-BE49-F238E27FC236}">
                <a16:creationId xmlns:a16="http://schemas.microsoft.com/office/drawing/2014/main" id="{49A6EEBF-C657-E03C-05EF-E59EDE52BE27}"/>
              </a:ext>
            </a:extLst>
          </p:cNvPr>
          <p:cNvSpPr>
            <a:spLocks noGrp="1" noChangeArrowheads="1"/>
          </p:cNvSpPr>
          <p:nvPr>
            <p:ph idx="1"/>
          </p:nvPr>
        </p:nvSpPr>
        <p:spPr>
          <a:xfrm>
            <a:off x="457200" y="1335088"/>
            <a:ext cx="8229600" cy="4532312"/>
          </a:xfrm>
        </p:spPr>
        <p:txBody>
          <a:bodyPr/>
          <a:lstStyle/>
          <a:p>
            <a:r>
              <a:rPr lang="en-US" altLang="tr-TR" b="1" dirty="0">
                <a:latin typeface="+mj-lt"/>
              </a:rPr>
              <a:t>Intent</a:t>
            </a:r>
          </a:p>
          <a:p>
            <a:pPr lvl="1"/>
            <a:r>
              <a:rPr lang="en-US" altLang="tr-TR" dirty="0">
                <a:latin typeface="+mj-lt"/>
              </a:rPr>
              <a:t>Avoid coupling requester and provider by giving more than one object chance to handle</a:t>
            </a:r>
          </a:p>
          <a:p>
            <a:pPr lvl="1"/>
            <a:endParaRPr lang="en-US" altLang="tr-TR" dirty="0">
              <a:latin typeface="+mj-lt"/>
            </a:endParaRPr>
          </a:p>
          <a:p>
            <a:r>
              <a:rPr lang="en-US" altLang="tr-TR" b="1" dirty="0">
                <a:latin typeface="+mj-lt"/>
              </a:rPr>
              <a:t>Applicability</a:t>
            </a:r>
          </a:p>
          <a:p>
            <a:pPr lvl="1"/>
            <a:r>
              <a:rPr lang="en-US" altLang="tr-TR" dirty="0">
                <a:latin typeface="+mj-lt"/>
              </a:rPr>
              <a:t>Multiple objects, determined at runtime, are   candidates to handle a request</a:t>
            </a:r>
          </a:p>
          <a:p>
            <a:pPr lvl="2"/>
            <a:r>
              <a:rPr lang="en-US" altLang="tr-TR" dirty="0">
                <a:latin typeface="+mj-lt"/>
              </a:rPr>
              <a:t>Who will handle it is not known beforehand </a:t>
            </a:r>
          </a:p>
          <a:p>
            <a:pPr lvl="2"/>
            <a:r>
              <a:rPr lang="en-US" b="0" i="0" dirty="0">
                <a:effectLst/>
                <a:highlight>
                  <a:srgbClr val="FFFFFF"/>
                </a:highlight>
                <a:latin typeface="+mj-lt"/>
              </a:rPr>
              <a:t>you want to issue a request to one of several objects without specifying the receiver explicitly</a:t>
            </a:r>
            <a:endParaRPr lang="en-US" altLang="tr-TR"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0329090-6F5C-6F36-FF0A-4BBE15F6A593}"/>
              </a:ext>
            </a:extLst>
          </p:cNvPr>
          <p:cNvSpPr>
            <a:spLocks noGrp="1" noChangeArrowheads="1"/>
          </p:cNvSpPr>
          <p:nvPr>
            <p:ph type="title"/>
          </p:nvPr>
        </p:nvSpPr>
        <p:spPr>
          <a:xfrm>
            <a:off x="457200" y="139700"/>
            <a:ext cx="8229600" cy="1371600"/>
          </a:xfrm>
        </p:spPr>
        <p:txBody>
          <a:bodyPr/>
          <a:lstStyle/>
          <a:p>
            <a:r>
              <a:rPr lang="en-US" altLang="tr-TR"/>
              <a:t>Chain of Responsibility</a:t>
            </a:r>
          </a:p>
        </p:txBody>
      </p:sp>
      <p:sp>
        <p:nvSpPr>
          <p:cNvPr id="19459" name="Rectangle 3">
            <a:extLst>
              <a:ext uri="{FF2B5EF4-FFF2-40B4-BE49-F238E27FC236}">
                <a16:creationId xmlns:a16="http://schemas.microsoft.com/office/drawing/2014/main" id="{49A6EEBF-C657-E03C-05EF-E59EDE52BE27}"/>
              </a:ext>
            </a:extLst>
          </p:cNvPr>
          <p:cNvSpPr>
            <a:spLocks noGrp="1" noChangeArrowheads="1"/>
          </p:cNvSpPr>
          <p:nvPr>
            <p:ph idx="1"/>
          </p:nvPr>
        </p:nvSpPr>
        <p:spPr>
          <a:xfrm>
            <a:off x="457200" y="1335088"/>
            <a:ext cx="8229600" cy="4532312"/>
          </a:xfrm>
        </p:spPr>
        <p:txBody>
          <a:bodyPr/>
          <a:lstStyle/>
          <a:p>
            <a:r>
              <a:rPr lang="en-US" altLang="tr-TR" b="1" dirty="0">
                <a:latin typeface="+mj-lt"/>
              </a:rPr>
              <a:t>Applicability</a:t>
            </a:r>
          </a:p>
          <a:p>
            <a:pPr lvl="1"/>
            <a:r>
              <a:rPr lang="en-US" altLang="tr-TR" dirty="0">
                <a:latin typeface="+mj-lt"/>
              </a:rPr>
              <a:t>Multiple objects, determined at runtime, are   candidates to handle a request</a:t>
            </a:r>
          </a:p>
          <a:p>
            <a:pPr lvl="2"/>
            <a:r>
              <a:rPr lang="en-US" altLang="tr-TR" dirty="0">
                <a:latin typeface="+mj-lt"/>
              </a:rPr>
              <a:t>Who will handle it is not known beforehand </a:t>
            </a:r>
          </a:p>
          <a:p>
            <a:pPr lvl="2"/>
            <a:r>
              <a:rPr lang="en-US" b="0" i="0" dirty="0">
                <a:effectLst/>
                <a:highlight>
                  <a:srgbClr val="FFFFFF"/>
                </a:highlight>
                <a:latin typeface="+mj-lt"/>
              </a:rPr>
              <a:t>want to issue a request to one of several objects without specifying the receiver explicitly</a:t>
            </a:r>
            <a:endParaRPr lang="en-US" altLang="tr-TR" dirty="0">
              <a:latin typeface="+mj-lt"/>
            </a:endParaRPr>
          </a:p>
          <a:p>
            <a:pPr lvl="1"/>
            <a:r>
              <a:rPr lang="en-US" dirty="0">
                <a:highlight>
                  <a:srgbClr val="FFFFFF"/>
                </a:highlight>
                <a:latin typeface="+mj-lt"/>
              </a:rPr>
              <a:t>E</a:t>
            </a:r>
            <a:r>
              <a:rPr lang="en-US" i="0" dirty="0">
                <a:effectLst/>
                <a:highlight>
                  <a:srgbClr val="FFFFFF"/>
                </a:highlight>
                <a:latin typeface="+mj-lt"/>
              </a:rPr>
              <a:t>xecute several handlers in a particular order.</a:t>
            </a:r>
          </a:p>
          <a:p>
            <a:pPr lvl="1"/>
            <a:r>
              <a:rPr lang="en-US" i="0" dirty="0">
                <a:effectLst/>
                <a:highlight>
                  <a:srgbClr val="FFFFFF"/>
                </a:highlight>
                <a:latin typeface="+mj-lt"/>
              </a:rPr>
              <a:t>and their order are supposed to change at runtime.</a:t>
            </a:r>
            <a:endParaRPr lang="en-US" altLang="tr-TR" dirty="0">
              <a:latin typeface="+mj-lt"/>
            </a:endParaRPr>
          </a:p>
          <a:p>
            <a:pPr lvl="1"/>
            <a:r>
              <a:rPr lang="en-US" altLang="tr-TR" dirty="0">
                <a:latin typeface="+mj-lt"/>
              </a:rPr>
              <a:t>Don't want to coupled with each handlers explicitly in your code </a:t>
            </a:r>
          </a:p>
        </p:txBody>
      </p:sp>
    </p:spTree>
    <p:extLst>
      <p:ext uri="{BB962C8B-B14F-4D97-AF65-F5344CB8AC3E}">
        <p14:creationId xmlns:p14="http://schemas.microsoft.com/office/powerpoint/2010/main" val="496928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DC5CCC-3A3A-590B-23DD-102FDA5CD9FE}"/>
              </a:ext>
            </a:extLst>
          </p:cNvPr>
          <p:cNvSpPr>
            <a:spLocks noGrp="1" noChangeArrowheads="1"/>
          </p:cNvSpPr>
          <p:nvPr>
            <p:ph type="title"/>
          </p:nvPr>
        </p:nvSpPr>
        <p:spPr>
          <a:xfrm>
            <a:off x="185208" y="51066"/>
            <a:ext cx="8847667" cy="1371600"/>
          </a:xfrm>
        </p:spPr>
        <p:txBody>
          <a:bodyPr/>
          <a:lstStyle/>
          <a:p>
            <a:r>
              <a:rPr lang="en-US" altLang="tr-TR" dirty="0"/>
              <a:t>Structure – Chain of Responsibility</a:t>
            </a:r>
            <a:endParaRPr lang="en-GB" altLang="tr-TR" dirty="0"/>
          </a:p>
        </p:txBody>
      </p:sp>
      <p:sp>
        <p:nvSpPr>
          <p:cNvPr id="20483" name="Rectangle 4">
            <a:extLst>
              <a:ext uri="{FF2B5EF4-FFF2-40B4-BE49-F238E27FC236}">
                <a16:creationId xmlns:a16="http://schemas.microsoft.com/office/drawing/2014/main" id="{BFD987E8-6E41-1D98-1E8E-C3C4CF69D37E}"/>
              </a:ext>
            </a:extLst>
          </p:cNvPr>
          <p:cNvSpPr>
            <a:spLocks noChangeArrowheads="1"/>
          </p:cNvSpPr>
          <p:nvPr/>
        </p:nvSpPr>
        <p:spPr bwMode="auto">
          <a:xfrm>
            <a:off x="971550" y="1989138"/>
            <a:ext cx="1439863" cy="57626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a:t>Client</a:t>
            </a:r>
            <a:endParaRPr lang="en-GB" altLang="tr-TR" sz="1800"/>
          </a:p>
        </p:txBody>
      </p:sp>
      <p:grpSp>
        <p:nvGrpSpPr>
          <p:cNvPr id="20484" name="Group 15">
            <a:extLst>
              <a:ext uri="{FF2B5EF4-FFF2-40B4-BE49-F238E27FC236}">
                <a16:creationId xmlns:a16="http://schemas.microsoft.com/office/drawing/2014/main" id="{8B083FC1-45F0-21BE-5812-972C6DD38878}"/>
              </a:ext>
            </a:extLst>
          </p:cNvPr>
          <p:cNvGrpSpPr>
            <a:grpSpLocks/>
          </p:cNvGrpSpPr>
          <p:nvPr/>
        </p:nvGrpSpPr>
        <p:grpSpPr bwMode="auto">
          <a:xfrm>
            <a:off x="3924300" y="2060575"/>
            <a:ext cx="2160588" cy="792163"/>
            <a:chOff x="2472" y="1298"/>
            <a:chExt cx="1361" cy="499"/>
          </a:xfrm>
        </p:grpSpPr>
        <p:sp>
          <p:nvSpPr>
            <p:cNvPr id="20503" name="Rectangle 7">
              <a:extLst>
                <a:ext uri="{FF2B5EF4-FFF2-40B4-BE49-F238E27FC236}">
                  <a16:creationId xmlns:a16="http://schemas.microsoft.com/office/drawing/2014/main" id="{3A4A5C5F-D604-189A-17C9-4D012F05F26A}"/>
                </a:ext>
              </a:extLst>
            </p:cNvPr>
            <p:cNvSpPr>
              <a:spLocks noChangeArrowheads="1"/>
            </p:cNvSpPr>
            <p:nvPr/>
          </p:nvSpPr>
          <p:spPr bwMode="auto">
            <a:xfrm>
              <a:off x="2472" y="1298"/>
              <a:ext cx="1361" cy="499"/>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a:t>Handler</a:t>
              </a:r>
            </a:p>
            <a:p>
              <a:pPr algn="ctr" eaLnBrk="1" hangingPunct="1">
                <a:spcBef>
                  <a:spcPct val="0"/>
                </a:spcBef>
                <a:buClrTx/>
                <a:buSzTx/>
                <a:buFontTx/>
                <a:buNone/>
              </a:pPr>
              <a:endParaRPr lang="en-US" altLang="tr-TR" sz="1200" i="1"/>
            </a:p>
            <a:p>
              <a:pPr algn="ctr" eaLnBrk="1" hangingPunct="1">
                <a:spcBef>
                  <a:spcPct val="0"/>
                </a:spcBef>
                <a:buClrTx/>
                <a:buSzTx/>
                <a:buFontTx/>
                <a:buNone/>
              </a:pPr>
              <a:r>
                <a:rPr lang="en-US" altLang="tr-TR" sz="1800"/>
                <a:t>handleRequest</a:t>
              </a:r>
              <a:r>
                <a:rPr lang="en-US" altLang="tr-TR" sz="1800" i="1"/>
                <a:t>()</a:t>
              </a:r>
              <a:endParaRPr lang="en-GB" altLang="tr-TR" sz="1800" i="1"/>
            </a:p>
          </p:txBody>
        </p:sp>
        <p:sp>
          <p:nvSpPr>
            <p:cNvPr id="20504" name="Line 9">
              <a:extLst>
                <a:ext uri="{FF2B5EF4-FFF2-40B4-BE49-F238E27FC236}">
                  <a16:creationId xmlns:a16="http://schemas.microsoft.com/office/drawing/2014/main" id="{12C4519E-DC09-37CF-D4C4-FBAEB9D07CA2}"/>
                </a:ext>
              </a:extLst>
            </p:cNvPr>
            <p:cNvSpPr>
              <a:spLocks noChangeShapeType="1"/>
            </p:cNvSpPr>
            <p:nvPr/>
          </p:nvSpPr>
          <p:spPr bwMode="auto">
            <a:xfrm>
              <a:off x="2472" y="1525"/>
              <a:ext cx="13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5" name="Line 10">
              <a:extLst>
                <a:ext uri="{FF2B5EF4-FFF2-40B4-BE49-F238E27FC236}">
                  <a16:creationId xmlns:a16="http://schemas.microsoft.com/office/drawing/2014/main" id="{6614CEA9-5B13-6BCD-AFD3-7D3C46C63538}"/>
                </a:ext>
              </a:extLst>
            </p:cNvPr>
            <p:cNvSpPr>
              <a:spLocks noChangeShapeType="1"/>
            </p:cNvSpPr>
            <p:nvPr/>
          </p:nvSpPr>
          <p:spPr bwMode="auto">
            <a:xfrm>
              <a:off x="2472" y="1616"/>
              <a:ext cx="13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0485" name="AutoShape 11">
            <a:extLst>
              <a:ext uri="{FF2B5EF4-FFF2-40B4-BE49-F238E27FC236}">
                <a16:creationId xmlns:a16="http://schemas.microsoft.com/office/drawing/2014/main" id="{DB3BC98E-4DA0-7F9A-3CE5-30089B356BAC}"/>
              </a:ext>
            </a:extLst>
          </p:cNvPr>
          <p:cNvCxnSpPr>
            <a:cxnSpLocks noChangeShapeType="1"/>
            <a:stCxn id="20503" idx="3"/>
            <a:endCxn id="20503" idx="0"/>
          </p:cNvCxnSpPr>
          <p:nvPr/>
        </p:nvCxnSpPr>
        <p:spPr bwMode="auto">
          <a:xfrm flipH="1" flipV="1">
            <a:off x="5005388" y="2060575"/>
            <a:ext cx="1079500" cy="396875"/>
          </a:xfrm>
          <a:prstGeom prst="bentConnector4">
            <a:avLst>
              <a:gd name="adj1" fmla="val -21028"/>
              <a:gd name="adj2" fmla="val 157602"/>
            </a:avLst>
          </a:prstGeom>
          <a:noFill/>
          <a:ln w="9525">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20486" name="Text Box 12">
            <a:extLst>
              <a:ext uri="{FF2B5EF4-FFF2-40B4-BE49-F238E27FC236}">
                <a16:creationId xmlns:a16="http://schemas.microsoft.com/office/drawing/2014/main" id="{CA084CAA-B058-F0CF-63F8-DDC626F7B2D4}"/>
              </a:ext>
            </a:extLst>
          </p:cNvPr>
          <p:cNvSpPr txBox="1">
            <a:spLocks noChangeArrowheads="1"/>
          </p:cNvSpPr>
          <p:nvPr/>
        </p:nvSpPr>
        <p:spPr bwMode="auto">
          <a:xfrm>
            <a:off x="6424613" y="1936750"/>
            <a:ext cx="1212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successor</a:t>
            </a:r>
            <a:endParaRPr lang="en-GB" altLang="tr-TR" sz="1800"/>
          </a:p>
        </p:txBody>
      </p:sp>
      <p:sp>
        <p:nvSpPr>
          <p:cNvPr id="20487" name="Line 13">
            <a:extLst>
              <a:ext uri="{FF2B5EF4-FFF2-40B4-BE49-F238E27FC236}">
                <a16:creationId xmlns:a16="http://schemas.microsoft.com/office/drawing/2014/main" id="{B739F575-A4C0-766E-51B6-9436D989B717}"/>
              </a:ext>
            </a:extLst>
          </p:cNvPr>
          <p:cNvSpPr>
            <a:spLocks noChangeShapeType="1"/>
          </p:cNvSpPr>
          <p:nvPr/>
        </p:nvSpPr>
        <p:spPr bwMode="auto">
          <a:xfrm>
            <a:off x="2411413" y="2276475"/>
            <a:ext cx="1512887"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0488" name="AutoShape 14">
            <a:extLst>
              <a:ext uri="{FF2B5EF4-FFF2-40B4-BE49-F238E27FC236}">
                <a16:creationId xmlns:a16="http://schemas.microsoft.com/office/drawing/2014/main" id="{18411D65-00FA-F44F-C443-CE23EC873421}"/>
              </a:ext>
            </a:extLst>
          </p:cNvPr>
          <p:cNvSpPr>
            <a:spLocks noChangeArrowheads="1"/>
          </p:cNvSpPr>
          <p:nvPr/>
        </p:nvSpPr>
        <p:spPr bwMode="auto">
          <a:xfrm>
            <a:off x="4859338" y="2852738"/>
            <a:ext cx="360362" cy="360362"/>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grpSp>
        <p:nvGrpSpPr>
          <p:cNvPr id="20489" name="Group 16">
            <a:extLst>
              <a:ext uri="{FF2B5EF4-FFF2-40B4-BE49-F238E27FC236}">
                <a16:creationId xmlns:a16="http://schemas.microsoft.com/office/drawing/2014/main" id="{1F65508A-30D9-6F52-57AD-FBA39F99B29A}"/>
              </a:ext>
            </a:extLst>
          </p:cNvPr>
          <p:cNvGrpSpPr>
            <a:grpSpLocks/>
          </p:cNvGrpSpPr>
          <p:nvPr/>
        </p:nvGrpSpPr>
        <p:grpSpPr bwMode="auto">
          <a:xfrm>
            <a:off x="1979613" y="3933825"/>
            <a:ext cx="2160587" cy="792163"/>
            <a:chOff x="2472" y="1298"/>
            <a:chExt cx="1361" cy="499"/>
          </a:xfrm>
        </p:grpSpPr>
        <p:sp>
          <p:nvSpPr>
            <p:cNvPr id="20500" name="Rectangle 17">
              <a:extLst>
                <a:ext uri="{FF2B5EF4-FFF2-40B4-BE49-F238E27FC236}">
                  <a16:creationId xmlns:a16="http://schemas.microsoft.com/office/drawing/2014/main" id="{9ED47A12-090F-2CE1-8426-00DD83EEF3DD}"/>
                </a:ext>
              </a:extLst>
            </p:cNvPr>
            <p:cNvSpPr>
              <a:spLocks noChangeArrowheads="1"/>
            </p:cNvSpPr>
            <p:nvPr/>
          </p:nvSpPr>
          <p:spPr bwMode="auto">
            <a:xfrm>
              <a:off x="2472" y="1298"/>
              <a:ext cx="1361" cy="499"/>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a:t>ConcreteHandler1</a:t>
              </a:r>
            </a:p>
            <a:p>
              <a:pPr algn="ctr" eaLnBrk="1" hangingPunct="1">
                <a:spcBef>
                  <a:spcPct val="0"/>
                </a:spcBef>
                <a:buClrTx/>
                <a:buSzTx/>
                <a:buFontTx/>
                <a:buNone/>
              </a:pPr>
              <a:endParaRPr lang="en-US" altLang="tr-TR" sz="1200"/>
            </a:p>
            <a:p>
              <a:pPr algn="ctr" eaLnBrk="1" hangingPunct="1">
                <a:spcBef>
                  <a:spcPct val="0"/>
                </a:spcBef>
                <a:buClrTx/>
                <a:buSzTx/>
                <a:buFontTx/>
                <a:buNone/>
              </a:pPr>
              <a:r>
                <a:rPr lang="en-US" altLang="tr-TR" sz="1800"/>
                <a:t>handleRequest()</a:t>
              </a:r>
              <a:endParaRPr lang="en-GB" altLang="tr-TR" sz="1800"/>
            </a:p>
          </p:txBody>
        </p:sp>
        <p:sp>
          <p:nvSpPr>
            <p:cNvPr id="20501" name="Line 18">
              <a:extLst>
                <a:ext uri="{FF2B5EF4-FFF2-40B4-BE49-F238E27FC236}">
                  <a16:creationId xmlns:a16="http://schemas.microsoft.com/office/drawing/2014/main" id="{28AABA62-93D5-692C-E835-3D19CCAD20E7}"/>
                </a:ext>
              </a:extLst>
            </p:cNvPr>
            <p:cNvSpPr>
              <a:spLocks noChangeShapeType="1"/>
            </p:cNvSpPr>
            <p:nvPr/>
          </p:nvSpPr>
          <p:spPr bwMode="auto">
            <a:xfrm>
              <a:off x="2472" y="1525"/>
              <a:ext cx="13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502" name="Line 19">
              <a:extLst>
                <a:ext uri="{FF2B5EF4-FFF2-40B4-BE49-F238E27FC236}">
                  <a16:creationId xmlns:a16="http://schemas.microsoft.com/office/drawing/2014/main" id="{EEBDF197-00DC-F58D-1552-2BE758E0C9BE}"/>
                </a:ext>
              </a:extLst>
            </p:cNvPr>
            <p:cNvSpPr>
              <a:spLocks noChangeShapeType="1"/>
            </p:cNvSpPr>
            <p:nvPr/>
          </p:nvSpPr>
          <p:spPr bwMode="auto">
            <a:xfrm>
              <a:off x="2472" y="1616"/>
              <a:ext cx="13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0490" name="Group 20">
            <a:extLst>
              <a:ext uri="{FF2B5EF4-FFF2-40B4-BE49-F238E27FC236}">
                <a16:creationId xmlns:a16="http://schemas.microsoft.com/office/drawing/2014/main" id="{5A9FA9C5-E9F6-766D-92E6-9933873FA336}"/>
              </a:ext>
            </a:extLst>
          </p:cNvPr>
          <p:cNvGrpSpPr>
            <a:grpSpLocks/>
          </p:cNvGrpSpPr>
          <p:nvPr/>
        </p:nvGrpSpPr>
        <p:grpSpPr bwMode="auto">
          <a:xfrm>
            <a:off x="5435600" y="4797425"/>
            <a:ext cx="2160588" cy="792163"/>
            <a:chOff x="2472" y="1298"/>
            <a:chExt cx="1361" cy="499"/>
          </a:xfrm>
        </p:grpSpPr>
        <p:sp>
          <p:nvSpPr>
            <p:cNvPr id="20497" name="Rectangle 21">
              <a:extLst>
                <a:ext uri="{FF2B5EF4-FFF2-40B4-BE49-F238E27FC236}">
                  <a16:creationId xmlns:a16="http://schemas.microsoft.com/office/drawing/2014/main" id="{08127BC3-86F3-F643-F155-D5A3FCF58744}"/>
                </a:ext>
              </a:extLst>
            </p:cNvPr>
            <p:cNvSpPr>
              <a:spLocks noChangeArrowheads="1"/>
            </p:cNvSpPr>
            <p:nvPr/>
          </p:nvSpPr>
          <p:spPr bwMode="auto">
            <a:xfrm>
              <a:off x="2472" y="1298"/>
              <a:ext cx="1361" cy="499"/>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a:t>ConcreteHandler1</a:t>
              </a:r>
            </a:p>
            <a:p>
              <a:pPr algn="ctr" eaLnBrk="1" hangingPunct="1">
                <a:spcBef>
                  <a:spcPct val="0"/>
                </a:spcBef>
                <a:buClrTx/>
                <a:buSzTx/>
                <a:buFontTx/>
                <a:buNone/>
              </a:pPr>
              <a:endParaRPr lang="en-US" altLang="tr-TR" sz="1200"/>
            </a:p>
            <a:p>
              <a:pPr algn="ctr" eaLnBrk="1" hangingPunct="1">
                <a:spcBef>
                  <a:spcPct val="0"/>
                </a:spcBef>
                <a:buClrTx/>
                <a:buSzTx/>
                <a:buFontTx/>
                <a:buNone/>
              </a:pPr>
              <a:r>
                <a:rPr lang="en-US" altLang="tr-TR" sz="1800"/>
                <a:t>handleRequest()</a:t>
              </a:r>
              <a:endParaRPr lang="en-GB" altLang="tr-TR" sz="1800"/>
            </a:p>
          </p:txBody>
        </p:sp>
        <p:sp>
          <p:nvSpPr>
            <p:cNvPr id="20498" name="Line 22">
              <a:extLst>
                <a:ext uri="{FF2B5EF4-FFF2-40B4-BE49-F238E27FC236}">
                  <a16:creationId xmlns:a16="http://schemas.microsoft.com/office/drawing/2014/main" id="{D1DC3AC0-9CAD-BBB1-8E27-236EC6D1ECBE}"/>
                </a:ext>
              </a:extLst>
            </p:cNvPr>
            <p:cNvSpPr>
              <a:spLocks noChangeShapeType="1"/>
            </p:cNvSpPr>
            <p:nvPr/>
          </p:nvSpPr>
          <p:spPr bwMode="auto">
            <a:xfrm>
              <a:off x="2472" y="1525"/>
              <a:ext cx="13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9" name="Line 23">
              <a:extLst>
                <a:ext uri="{FF2B5EF4-FFF2-40B4-BE49-F238E27FC236}">
                  <a16:creationId xmlns:a16="http://schemas.microsoft.com/office/drawing/2014/main" id="{DB0856B9-917E-278E-197F-833B280D2A56}"/>
                </a:ext>
              </a:extLst>
            </p:cNvPr>
            <p:cNvSpPr>
              <a:spLocks noChangeShapeType="1"/>
            </p:cNvSpPr>
            <p:nvPr/>
          </p:nvSpPr>
          <p:spPr bwMode="auto">
            <a:xfrm>
              <a:off x="2472" y="1616"/>
              <a:ext cx="136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20491" name="AutoShape 24">
            <a:extLst>
              <a:ext uri="{FF2B5EF4-FFF2-40B4-BE49-F238E27FC236}">
                <a16:creationId xmlns:a16="http://schemas.microsoft.com/office/drawing/2014/main" id="{A43C9BCC-747A-B4E1-609F-6C5ED3F41B68}"/>
              </a:ext>
            </a:extLst>
          </p:cNvPr>
          <p:cNvCxnSpPr>
            <a:cxnSpLocks noChangeShapeType="1"/>
            <a:stCxn id="20488" idx="3"/>
            <a:endCxn id="20500" idx="0"/>
          </p:cNvCxnSpPr>
          <p:nvPr/>
        </p:nvCxnSpPr>
        <p:spPr bwMode="auto">
          <a:xfrm rot="5400000">
            <a:off x="3690144" y="2583656"/>
            <a:ext cx="720725" cy="1979613"/>
          </a:xfrm>
          <a:prstGeom prst="bentConnector3">
            <a:avLst>
              <a:gd name="adj1" fmla="val 49778"/>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20492" name="AutoShape 25">
            <a:extLst>
              <a:ext uri="{FF2B5EF4-FFF2-40B4-BE49-F238E27FC236}">
                <a16:creationId xmlns:a16="http://schemas.microsoft.com/office/drawing/2014/main" id="{F3336746-A7BB-3CE3-099B-9C6B190E200A}"/>
              </a:ext>
            </a:extLst>
          </p:cNvPr>
          <p:cNvCxnSpPr>
            <a:cxnSpLocks noChangeShapeType="1"/>
            <a:stCxn id="20488" idx="3"/>
            <a:endCxn id="20497" idx="0"/>
          </p:cNvCxnSpPr>
          <p:nvPr/>
        </p:nvCxnSpPr>
        <p:spPr bwMode="auto">
          <a:xfrm rot="16200000" flipH="1">
            <a:off x="4986338" y="3267075"/>
            <a:ext cx="1584325" cy="1476375"/>
          </a:xfrm>
          <a:prstGeom prst="bentConnector3">
            <a:avLst>
              <a:gd name="adj1" fmla="val 49898"/>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20493" name="Text Box 26">
            <a:extLst>
              <a:ext uri="{FF2B5EF4-FFF2-40B4-BE49-F238E27FC236}">
                <a16:creationId xmlns:a16="http://schemas.microsoft.com/office/drawing/2014/main" id="{878E5A24-83BE-C195-C669-09EF317A9430}"/>
              </a:ext>
            </a:extLst>
          </p:cNvPr>
          <p:cNvSpPr txBox="1">
            <a:spLocks noChangeArrowheads="1"/>
          </p:cNvSpPr>
          <p:nvPr/>
        </p:nvSpPr>
        <p:spPr bwMode="auto">
          <a:xfrm>
            <a:off x="755650" y="5084763"/>
            <a:ext cx="27622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if (can handle){</a:t>
            </a:r>
          </a:p>
          <a:p>
            <a:pPr eaLnBrk="1" hangingPunct="1">
              <a:spcBef>
                <a:spcPct val="0"/>
              </a:spcBef>
              <a:buClrTx/>
              <a:buSzTx/>
              <a:buFontTx/>
              <a:buNone/>
            </a:pPr>
            <a:r>
              <a:rPr lang="en-US" altLang="tr-TR" sz="1800"/>
              <a:t>    //handle the request</a:t>
            </a:r>
          </a:p>
          <a:p>
            <a:pPr eaLnBrk="1" hangingPunct="1">
              <a:spcBef>
                <a:spcPct val="0"/>
              </a:spcBef>
              <a:buClrTx/>
              <a:buSzTx/>
              <a:buFontTx/>
              <a:buNone/>
            </a:pPr>
            <a:r>
              <a:rPr lang="en-US" altLang="tr-TR" sz="1800"/>
              <a:t>} else{</a:t>
            </a:r>
          </a:p>
          <a:p>
            <a:pPr eaLnBrk="1" hangingPunct="1">
              <a:spcBef>
                <a:spcPct val="0"/>
              </a:spcBef>
              <a:buClrTx/>
              <a:buSzTx/>
              <a:buFontTx/>
              <a:buNone/>
            </a:pPr>
            <a:r>
              <a:rPr lang="en-US" altLang="tr-TR" sz="1800"/>
              <a:t>   super.handleRequest();</a:t>
            </a:r>
          </a:p>
          <a:p>
            <a:pPr eaLnBrk="1" hangingPunct="1">
              <a:spcBef>
                <a:spcPct val="0"/>
              </a:spcBef>
              <a:buClrTx/>
              <a:buSzTx/>
              <a:buFontTx/>
              <a:buNone/>
            </a:pPr>
            <a:r>
              <a:rPr lang="en-US" altLang="tr-TR" sz="1800"/>
              <a:t>}</a:t>
            </a:r>
          </a:p>
        </p:txBody>
      </p:sp>
      <p:sp>
        <p:nvSpPr>
          <p:cNvPr id="20494" name="Line 27">
            <a:extLst>
              <a:ext uri="{FF2B5EF4-FFF2-40B4-BE49-F238E27FC236}">
                <a16:creationId xmlns:a16="http://schemas.microsoft.com/office/drawing/2014/main" id="{DC1AC749-CEC1-F487-A61F-32D2C603A6E1}"/>
              </a:ext>
            </a:extLst>
          </p:cNvPr>
          <p:cNvSpPr>
            <a:spLocks noChangeShapeType="1"/>
          </p:cNvSpPr>
          <p:nvPr/>
        </p:nvSpPr>
        <p:spPr bwMode="auto">
          <a:xfrm flipH="1">
            <a:off x="1403350" y="4581525"/>
            <a:ext cx="647700" cy="3603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495" name="Text Box 28">
            <a:extLst>
              <a:ext uri="{FF2B5EF4-FFF2-40B4-BE49-F238E27FC236}">
                <a16:creationId xmlns:a16="http://schemas.microsoft.com/office/drawing/2014/main" id="{7D59D86E-C67C-87EC-2CBA-CE2E6BF563EB}"/>
              </a:ext>
            </a:extLst>
          </p:cNvPr>
          <p:cNvSpPr txBox="1">
            <a:spLocks noChangeArrowheads="1"/>
          </p:cNvSpPr>
          <p:nvPr/>
        </p:nvSpPr>
        <p:spPr bwMode="auto">
          <a:xfrm>
            <a:off x="5940425" y="3068638"/>
            <a:ext cx="30924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if(successor!=null)</a:t>
            </a:r>
          </a:p>
          <a:p>
            <a:pPr eaLnBrk="1" hangingPunct="1">
              <a:spcBef>
                <a:spcPct val="0"/>
              </a:spcBef>
              <a:buClrTx/>
              <a:buSzTx/>
              <a:buFontTx/>
              <a:buNone/>
            </a:pPr>
            <a:r>
              <a:rPr lang="en-US" altLang="tr-TR" sz="1800"/>
              <a:t>  successor.handleRequest()</a:t>
            </a:r>
            <a:endParaRPr lang="en-GB" altLang="tr-TR" sz="1800"/>
          </a:p>
        </p:txBody>
      </p:sp>
      <p:sp>
        <p:nvSpPr>
          <p:cNvPr id="20496" name="Line 29">
            <a:extLst>
              <a:ext uri="{FF2B5EF4-FFF2-40B4-BE49-F238E27FC236}">
                <a16:creationId xmlns:a16="http://schemas.microsoft.com/office/drawing/2014/main" id="{DF886A00-6547-E63D-9C94-BB50FC551276}"/>
              </a:ext>
            </a:extLst>
          </p:cNvPr>
          <p:cNvSpPr>
            <a:spLocks noChangeShapeType="1"/>
          </p:cNvSpPr>
          <p:nvPr/>
        </p:nvSpPr>
        <p:spPr bwMode="auto">
          <a:xfrm flipH="1" flipV="1">
            <a:off x="6011863" y="2708275"/>
            <a:ext cx="792162" cy="3603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C1F4-90E4-D82A-27F7-A1F1F3CF09AA}"/>
              </a:ext>
            </a:extLst>
          </p:cNvPr>
          <p:cNvSpPr>
            <a:spLocks noGrp="1"/>
          </p:cNvSpPr>
          <p:nvPr>
            <p:ph type="title"/>
          </p:nvPr>
        </p:nvSpPr>
        <p:spPr>
          <a:xfrm>
            <a:off x="457200" y="91445"/>
            <a:ext cx="8585200" cy="1371600"/>
          </a:xfrm>
        </p:spPr>
        <p:txBody>
          <a:bodyPr/>
          <a:lstStyle/>
          <a:p>
            <a:r>
              <a:rPr lang="en-US" dirty="0"/>
              <a:t>Attempt 3: Email Sorter with </a:t>
            </a:r>
            <a:r>
              <a:rPr lang="en-US" dirty="0" err="1"/>
              <a:t>CoR</a:t>
            </a:r>
            <a:endParaRPr lang="en-US" dirty="0"/>
          </a:p>
        </p:txBody>
      </p:sp>
      <p:sp>
        <p:nvSpPr>
          <p:cNvPr id="3" name="Content Placeholder 2">
            <a:extLst>
              <a:ext uri="{FF2B5EF4-FFF2-40B4-BE49-F238E27FC236}">
                <a16:creationId xmlns:a16="http://schemas.microsoft.com/office/drawing/2014/main" id="{F46BA07C-5C7D-674D-C0E0-D63D5BFB2E64}"/>
              </a:ext>
            </a:extLst>
          </p:cNvPr>
          <p:cNvSpPr>
            <a:spLocks noGrp="1"/>
          </p:cNvSpPr>
          <p:nvPr>
            <p:ph sz="half" idx="1"/>
          </p:nvPr>
        </p:nvSpPr>
        <p:spPr/>
        <p:txBody>
          <a:bodyPr/>
          <a:lstStyle/>
          <a:p>
            <a:pPr marL="0" indent="0">
              <a:buNone/>
            </a:pPr>
            <a:r>
              <a:rPr lang="en-US" sz="2000" dirty="0">
                <a:latin typeface="Source Sans Pro" panose="020B0503030403020204" pitchFamily="34" charset="0"/>
                <a:ea typeface="Source Sans Pro" panose="020B0503030403020204" pitchFamily="34" charset="0"/>
              </a:rPr>
              <a:t>public class Inbox{</a:t>
            </a:r>
          </a:p>
          <a:p>
            <a:pPr marL="0" indent="0">
              <a:buNone/>
            </a:pPr>
            <a:r>
              <a:rPr lang="en-US" sz="2000" dirty="0">
                <a:latin typeface="Source Sans Pro" panose="020B0503030403020204" pitchFamily="34" charset="0"/>
                <a:ea typeface="Source Sans Pro" panose="020B0503030403020204" pitchFamily="34" charset="0"/>
              </a:rPr>
              <a:t> </a:t>
            </a:r>
            <a:r>
              <a:rPr lang="en-US" sz="2000" dirty="0">
                <a:solidFill>
                  <a:srgbClr val="0070C0"/>
                </a:solidFill>
                <a:latin typeface="Source Sans Pro" panose="020B0503030403020204" pitchFamily="34" charset="0"/>
                <a:ea typeface="Source Sans Pro" panose="020B0503030403020204" pitchFamily="34" charset="0"/>
              </a:rPr>
              <a:t>private </a:t>
            </a:r>
            <a:r>
              <a:rPr lang="en-US" sz="2000" dirty="0" err="1">
                <a:solidFill>
                  <a:srgbClr val="0070C0"/>
                </a:solidFill>
                <a:latin typeface="Source Sans Pro" panose="020B0503030403020204" pitchFamily="34" charset="0"/>
                <a:ea typeface="Source Sans Pro" panose="020B0503030403020204" pitchFamily="34" charset="0"/>
              </a:rPr>
              <a:t>EmailFilter</a:t>
            </a:r>
            <a:r>
              <a:rPr lang="en-US" sz="2000" dirty="0">
                <a:solidFill>
                  <a:srgbClr val="0070C0"/>
                </a:solidFill>
                <a:latin typeface="Source Sans Pro" panose="020B0503030403020204" pitchFamily="34" charset="0"/>
                <a:ea typeface="Source Sans Pro" panose="020B0503030403020204" pitchFamily="34" charset="0"/>
              </a:rPr>
              <a:t> chain;</a:t>
            </a:r>
          </a:p>
          <a:p>
            <a:pPr marL="0" indent="0">
              <a:buNone/>
            </a:pP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rPr>
              <a:t> public void </a:t>
            </a:r>
            <a:r>
              <a:rPr lang="en-US" sz="2000" dirty="0" err="1">
                <a:latin typeface="Source Sans Pro" panose="020B0503030403020204" pitchFamily="34" charset="0"/>
                <a:ea typeface="Source Sans Pro" panose="020B0503030403020204" pitchFamily="34" charset="0"/>
              </a:rPr>
              <a:t>receivedEmail</a:t>
            </a:r>
            <a:r>
              <a:rPr lang="en-US" sz="2000" dirty="0">
                <a:latin typeface="Source Sans Pro" panose="020B0503030403020204" pitchFamily="34" charset="0"/>
                <a:ea typeface="Source Sans Pro" panose="020B0503030403020204" pitchFamily="34" charset="0"/>
              </a:rPr>
              <a:t>(Email e){</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solidFill>
                  <a:srgbClr val="0070C0"/>
                </a:solidFill>
                <a:latin typeface="Source Sans Pro" panose="020B0503030403020204" pitchFamily="34" charset="0"/>
                <a:ea typeface="Source Sans Pro" panose="020B0503030403020204" pitchFamily="34" charset="0"/>
              </a:rPr>
              <a:t>chain.sort</a:t>
            </a:r>
            <a:r>
              <a:rPr lang="en-US" sz="2000" dirty="0">
                <a:solidFill>
                  <a:srgbClr val="0070C0"/>
                </a:solidFill>
                <a:latin typeface="Source Sans Pro" panose="020B0503030403020204" pitchFamily="34" charset="0"/>
                <a:ea typeface="Source Sans Pro" panose="020B0503030403020204" pitchFamily="34" charset="0"/>
              </a:rPr>
              <a:t>(e);</a:t>
            </a:r>
            <a:endParaRPr lang="en-US" sz="2000" strike="sngStrike" dirty="0">
              <a:solidFill>
                <a:srgbClr val="0070C0"/>
              </a:solidFill>
              <a:latin typeface="Source Sans Pro" panose="020B0503030403020204" pitchFamily="34" charset="0"/>
              <a:ea typeface="Source Sans Pro" panose="020B0503030403020204" pitchFamily="34" charset="0"/>
            </a:endParaRPr>
          </a:p>
          <a:p>
            <a:pPr marL="0" indent="0">
              <a:buNone/>
            </a:pPr>
            <a:r>
              <a:rPr lang="en-US" sz="2000" strike="sngStrike" dirty="0">
                <a:latin typeface="Source Sans Pro" panose="020B0503030403020204" pitchFamily="34" charset="0"/>
                <a:ea typeface="Source Sans Pro" panose="020B0503030403020204" pitchFamily="34" charset="0"/>
              </a:rPr>
              <a:t>     if (</a:t>
            </a:r>
            <a:r>
              <a:rPr lang="en-US" sz="2000" strike="sngStrike" dirty="0" err="1">
                <a:latin typeface="Source Sans Pro" panose="020B0503030403020204" pitchFamily="34" charset="0"/>
                <a:ea typeface="Source Sans Pro" panose="020B0503030403020204" pitchFamily="34" charset="0"/>
              </a:rPr>
              <a:t>detector.isSpam</a:t>
            </a:r>
            <a:r>
              <a:rPr lang="en-US" sz="2000" strike="sngStrike" dirty="0">
                <a:latin typeface="Source Sans Pro" panose="020B0503030403020204" pitchFamily="34" charset="0"/>
                <a:ea typeface="Source Sans Pro" panose="020B0503030403020204" pitchFamily="34" charset="0"/>
              </a:rPr>
              <a:t>(e)){</a:t>
            </a:r>
          </a:p>
          <a:p>
            <a:pPr marL="0" indent="0">
              <a:buNone/>
            </a:pPr>
            <a:r>
              <a:rPr lang="en-US" sz="2000" strike="sngStrike" dirty="0">
                <a:latin typeface="Source Sans Pro" panose="020B0503030403020204" pitchFamily="34" charset="0"/>
                <a:ea typeface="Source Sans Pro" panose="020B0503030403020204" pitchFamily="34" charset="0"/>
              </a:rPr>
              <a:t>          </a:t>
            </a:r>
            <a:r>
              <a:rPr lang="en-US" sz="2000" strike="sngStrike" dirty="0" err="1">
                <a:latin typeface="Source Sans Pro" panose="020B0503030403020204" pitchFamily="34" charset="0"/>
                <a:ea typeface="Source Sans Pro" panose="020B0503030403020204" pitchFamily="34" charset="0"/>
              </a:rPr>
              <a:t>sf.sort</a:t>
            </a:r>
            <a:r>
              <a:rPr lang="en-US" sz="2000" strike="sngStrike" dirty="0">
                <a:latin typeface="Source Sans Pro" panose="020B0503030403020204" pitchFamily="34" charset="0"/>
                <a:ea typeface="Source Sans Pro" panose="020B0503030403020204" pitchFamily="34" charset="0"/>
              </a:rPr>
              <a:t>(e);</a:t>
            </a:r>
          </a:p>
          <a:p>
            <a:pPr marL="0" indent="0">
              <a:buNone/>
            </a:pPr>
            <a:r>
              <a:rPr lang="en-US" sz="2000" strike="sngStrike" dirty="0">
                <a:latin typeface="Source Sans Pro" panose="020B0503030403020204" pitchFamily="34" charset="0"/>
                <a:ea typeface="Source Sans Pro" panose="020B0503030403020204" pitchFamily="34" charset="0"/>
              </a:rPr>
              <a:t>     }else if(</a:t>
            </a:r>
            <a:r>
              <a:rPr lang="en-US" sz="2000" strike="sngStrike" dirty="0" err="1">
                <a:latin typeface="Source Sans Pro" panose="020B0503030403020204" pitchFamily="34" charset="0"/>
                <a:ea typeface="Source Sans Pro" panose="020B0503030403020204" pitchFamily="34" charset="0"/>
              </a:rPr>
              <a:t>detector.isRequest</a:t>
            </a:r>
            <a:r>
              <a:rPr lang="en-US" sz="2000" strike="sngStrike" dirty="0">
                <a:latin typeface="Source Sans Pro" panose="020B0503030403020204" pitchFamily="34" charset="0"/>
                <a:ea typeface="Source Sans Pro" panose="020B0503030403020204" pitchFamily="34" charset="0"/>
              </a:rPr>
              <a:t>(e){</a:t>
            </a:r>
          </a:p>
          <a:p>
            <a:pPr marL="0" indent="0">
              <a:buNone/>
            </a:pPr>
            <a:r>
              <a:rPr lang="en-US" sz="2000" strike="sngStrike" dirty="0">
                <a:latin typeface="Source Sans Pro" panose="020B0503030403020204" pitchFamily="34" charset="0"/>
                <a:ea typeface="Source Sans Pro" panose="020B0503030403020204" pitchFamily="34" charset="0"/>
              </a:rPr>
              <a:t>           </a:t>
            </a:r>
            <a:r>
              <a:rPr lang="en-US" sz="2000" strike="sngStrike" dirty="0" err="1">
                <a:latin typeface="Source Sans Pro" panose="020B0503030403020204" pitchFamily="34" charset="0"/>
                <a:ea typeface="Source Sans Pro" panose="020B0503030403020204" pitchFamily="34" charset="0"/>
              </a:rPr>
              <a:t>rf.sort</a:t>
            </a:r>
            <a:r>
              <a:rPr lang="en-US" sz="2000" strike="sngStrike" dirty="0">
                <a:latin typeface="Source Sans Pro" panose="020B0503030403020204" pitchFamily="34" charset="0"/>
                <a:ea typeface="Source Sans Pro" panose="020B0503030403020204" pitchFamily="34" charset="0"/>
              </a:rPr>
              <a:t>(e );</a:t>
            </a:r>
          </a:p>
          <a:p>
            <a:pPr marL="0" indent="0">
              <a:buNone/>
            </a:pPr>
            <a:r>
              <a:rPr lang="en-US" sz="2000" strike="sngStrike" dirty="0">
                <a:latin typeface="Source Sans Pro" panose="020B0503030403020204" pitchFamily="34" charset="0"/>
                <a:ea typeface="Source Sans Pro" panose="020B0503030403020204" pitchFamily="34" charset="0"/>
              </a:rPr>
              <a:t>     }else if (</a:t>
            </a:r>
            <a:r>
              <a:rPr lang="en-US" sz="2000" strike="sngStrike" dirty="0" err="1">
                <a:latin typeface="Source Sans Pro" panose="020B0503030403020204" pitchFamily="34" charset="0"/>
                <a:ea typeface="Source Sans Pro" panose="020B0503030403020204" pitchFamily="34" charset="0"/>
              </a:rPr>
              <a:t>detector.isComplaint</a:t>
            </a:r>
            <a:r>
              <a:rPr lang="en-US" sz="2000" strike="sngStrike" dirty="0">
                <a:latin typeface="Source Sans Pro" panose="020B0503030403020204" pitchFamily="34" charset="0"/>
                <a:ea typeface="Source Sans Pro" panose="020B0503030403020204" pitchFamily="34" charset="0"/>
              </a:rPr>
              <a:t>(e ){</a:t>
            </a:r>
          </a:p>
          <a:p>
            <a:pPr marL="0" indent="0">
              <a:buNone/>
            </a:pPr>
            <a:r>
              <a:rPr lang="en-US" sz="2000" strike="sngStrike" dirty="0">
                <a:latin typeface="Source Sans Pro" panose="020B0503030403020204" pitchFamily="34" charset="0"/>
                <a:ea typeface="Source Sans Pro" panose="020B0503030403020204" pitchFamily="34" charset="0"/>
              </a:rPr>
              <a:t>           </a:t>
            </a:r>
            <a:r>
              <a:rPr lang="en-US" sz="2000" strike="sngStrike" dirty="0" err="1">
                <a:latin typeface="Source Sans Pro" panose="020B0503030403020204" pitchFamily="34" charset="0"/>
                <a:ea typeface="Source Sans Pro" panose="020B0503030403020204" pitchFamily="34" charset="0"/>
              </a:rPr>
              <a:t>cf.sort</a:t>
            </a:r>
            <a:r>
              <a:rPr lang="en-US" sz="2000" strike="sngStrike" dirty="0">
                <a:latin typeface="Source Sans Pro" panose="020B0503030403020204" pitchFamily="34" charset="0"/>
                <a:ea typeface="Source Sans Pro" panose="020B0503030403020204" pitchFamily="34" charset="0"/>
              </a:rPr>
              <a:t> (e );</a:t>
            </a:r>
          </a:p>
          <a:p>
            <a:pPr marL="0" indent="0">
              <a:buNone/>
            </a:pPr>
            <a:r>
              <a:rPr lang="en-US" sz="2000" strike="sngStrike" dirty="0">
                <a:latin typeface="Source Sans Pro" panose="020B0503030403020204" pitchFamily="34" charset="0"/>
                <a:ea typeface="Source Sans Pro" panose="020B0503030403020204" pitchFamily="34" charset="0"/>
              </a:rPr>
              <a:t>   } else { }//do nothing leave at inbox</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t>
            </a:r>
          </a:p>
        </p:txBody>
      </p:sp>
      <p:sp>
        <p:nvSpPr>
          <p:cNvPr id="7" name="Content Placeholder 6">
            <a:extLst>
              <a:ext uri="{FF2B5EF4-FFF2-40B4-BE49-F238E27FC236}">
                <a16:creationId xmlns:a16="http://schemas.microsoft.com/office/drawing/2014/main" id="{C51CD14D-1278-2BBA-0E16-4FB2916DD6B8}"/>
              </a:ext>
            </a:extLst>
          </p:cNvPr>
          <p:cNvSpPr>
            <a:spLocks noGrp="1"/>
          </p:cNvSpPr>
          <p:nvPr>
            <p:ph sz="half" idx="2"/>
          </p:nvPr>
        </p:nvSpPr>
        <p:spPr>
          <a:xfrm>
            <a:off x="4792133" y="1272208"/>
            <a:ext cx="4157134" cy="5399525"/>
          </a:xfrm>
        </p:spPr>
        <p:txBody>
          <a:bodyPr/>
          <a:lstStyle/>
          <a:p>
            <a:pPr marL="0" indent="0">
              <a:buNone/>
            </a:pPr>
            <a:r>
              <a:rPr lang="en-US" sz="2000" dirty="0">
                <a:latin typeface="Source Sans Pro" panose="020B0503030403020204" pitchFamily="34" charset="0"/>
                <a:ea typeface="Source Sans Pro" panose="020B0503030403020204" pitchFamily="34" charset="0"/>
              </a:rPr>
              <a:t>public class </a:t>
            </a:r>
            <a:r>
              <a:rPr lang="en-US" sz="2000" dirty="0" err="1">
                <a:latin typeface="Source Sans Pro" panose="020B0503030403020204" pitchFamily="34" charset="0"/>
                <a:ea typeface="Source Sans Pro" panose="020B0503030403020204" pitchFamily="34" charset="0"/>
              </a:rPr>
              <a:t>SpamFilter</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public void sort(Email e){</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detector.isSpam</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//code to save it to spam folder</a:t>
            </a:r>
          </a:p>
          <a:p>
            <a:pPr marL="0" indent="0">
              <a:buNone/>
            </a:pPr>
            <a:r>
              <a:rPr lang="en-US" sz="2000" dirty="0">
                <a:latin typeface="Source Sans Pro" panose="020B0503030403020204" pitchFamily="34" charset="0"/>
                <a:ea typeface="Source Sans Pro" panose="020B0503030403020204" pitchFamily="34" charset="0"/>
              </a:rPr>
              <a:t>     } else </a:t>
            </a:r>
            <a:r>
              <a:rPr lang="en-US" sz="2000" dirty="0" err="1">
                <a:latin typeface="Source Sans Pro" panose="020B0503030403020204" pitchFamily="34" charset="0"/>
                <a:ea typeface="Source Sans Pro" panose="020B0503030403020204" pitchFamily="34" charset="0"/>
              </a:rPr>
              <a:t>super.sort</a:t>
            </a:r>
            <a:r>
              <a:rPr lang="en-US" sz="2000" dirty="0">
                <a:latin typeface="Source Sans Pro" panose="020B0503030403020204" pitchFamily="34" charset="0"/>
                <a:ea typeface="Source Sans Pro" panose="020B0503030403020204" pitchFamily="34" charset="0"/>
              </a:rPr>
              <a:t>(e );</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public class </a:t>
            </a:r>
            <a:r>
              <a:rPr lang="en-US" sz="2000" dirty="0" err="1">
                <a:latin typeface="Source Sans Pro" panose="020B0503030403020204" pitchFamily="34" charset="0"/>
                <a:ea typeface="Source Sans Pro" panose="020B0503030403020204" pitchFamily="34" charset="0"/>
              </a:rPr>
              <a:t>RequestFilter</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public void sort(Email e){</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detector.isRequest</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//code to save it to request folder</a:t>
            </a:r>
          </a:p>
          <a:p>
            <a:pPr marL="0" indent="0">
              <a:buNone/>
            </a:pPr>
            <a:r>
              <a:rPr lang="en-US" sz="2000" dirty="0">
                <a:latin typeface="Source Sans Pro" panose="020B0503030403020204" pitchFamily="34" charset="0"/>
                <a:ea typeface="Source Sans Pro" panose="020B0503030403020204" pitchFamily="34" charset="0"/>
              </a:rPr>
              <a:t>    }else </a:t>
            </a:r>
            <a:r>
              <a:rPr lang="en-US" sz="2000" dirty="0" err="1">
                <a:latin typeface="Source Sans Pro" panose="020B0503030403020204" pitchFamily="34" charset="0"/>
                <a:ea typeface="Source Sans Pro" panose="020B0503030403020204" pitchFamily="34" charset="0"/>
              </a:rPr>
              <a:t>super.sort</a:t>
            </a:r>
            <a:r>
              <a:rPr lang="en-US" sz="2000" dirty="0">
                <a:latin typeface="Source Sans Pro" panose="020B0503030403020204" pitchFamily="34" charset="0"/>
                <a:ea typeface="Source Sans Pro" panose="020B0503030403020204" pitchFamily="34" charset="0"/>
              </a:rPr>
              <a:t>(e );</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public class </a:t>
            </a:r>
            <a:r>
              <a:rPr lang="en-US" sz="2000" dirty="0" err="1">
                <a:latin typeface="Source Sans Pro" panose="020B0503030403020204" pitchFamily="34" charset="0"/>
                <a:ea typeface="Source Sans Pro" panose="020B0503030403020204" pitchFamily="34" charset="0"/>
              </a:rPr>
              <a:t>ComplaintFilter</a:t>
            </a:r>
            <a:r>
              <a:rPr lang="en-US" sz="20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1366908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97A81-7BE8-9263-6412-483A0E3CD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257CB-7C59-455F-763A-1EA047306FBB}"/>
              </a:ext>
            </a:extLst>
          </p:cNvPr>
          <p:cNvSpPr>
            <a:spLocks noGrp="1"/>
          </p:cNvSpPr>
          <p:nvPr>
            <p:ph type="title"/>
          </p:nvPr>
        </p:nvSpPr>
        <p:spPr/>
        <p:txBody>
          <a:bodyPr/>
          <a:lstStyle/>
          <a:p>
            <a:r>
              <a:rPr lang="en-US" dirty="0"/>
              <a:t> Email Sorter with </a:t>
            </a:r>
            <a:r>
              <a:rPr lang="en-US" dirty="0" err="1"/>
              <a:t>CoR</a:t>
            </a:r>
            <a:endParaRPr lang="en-US" dirty="0"/>
          </a:p>
        </p:txBody>
      </p:sp>
      <p:sp>
        <p:nvSpPr>
          <p:cNvPr id="3" name="Content Placeholder 2">
            <a:extLst>
              <a:ext uri="{FF2B5EF4-FFF2-40B4-BE49-F238E27FC236}">
                <a16:creationId xmlns:a16="http://schemas.microsoft.com/office/drawing/2014/main" id="{BB4CC043-92E5-94A3-62D5-40F8D6409AAB}"/>
              </a:ext>
            </a:extLst>
          </p:cNvPr>
          <p:cNvSpPr>
            <a:spLocks noGrp="1"/>
          </p:cNvSpPr>
          <p:nvPr>
            <p:ph sz="half" idx="1"/>
          </p:nvPr>
        </p:nvSpPr>
        <p:spPr>
          <a:xfrm>
            <a:off x="457200" y="1272209"/>
            <a:ext cx="5444836" cy="4595191"/>
          </a:xfrm>
        </p:spPr>
        <p:txBody>
          <a:bodyPr/>
          <a:lstStyle/>
          <a:p>
            <a:pPr marL="0" indent="0">
              <a:buNone/>
            </a:pPr>
            <a:r>
              <a:rPr lang="en-US" sz="2000" dirty="0">
                <a:latin typeface="Source Sans Pro" panose="020B0503030403020204" pitchFamily="34" charset="0"/>
                <a:ea typeface="Source Sans Pro" panose="020B0503030403020204" pitchFamily="34" charset="0"/>
              </a:rPr>
              <a:t>//main method or some </a:t>
            </a:r>
            <a:r>
              <a:rPr lang="en-US" sz="2000" dirty="0" err="1">
                <a:latin typeface="Source Sans Pro" panose="020B0503030403020204" pitchFamily="34" charset="0"/>
                <a:ea typeface="Source Sans Pro" panose="020B0503030403020204" pitchFamily="34" charset="0"/>
              </a:rPr>
              <a:t>init</a:t>
            </a:r>
            <a:r>
              <a:rPr lang="en-US" sz="2000" dirty="0">
                <a:latin typeface="Source Sans Pro" panose="020B0503030403020204" pitchFamily="34" charset="0"/>
                <a:ea typeface="Source Sans Pro" panose="020B0503030403020204" pitchFamily="34" charset="0"/>
              </a:rPr>
              <a:t> </a:t>
            </a:r>
          </a:p>
          <a:p>
            <a:pPr marL="0" indent="0">
              <a:buNone/>
            </a:pPr>
            <a:r>
              <a:rPr lang="en-US" sz="2000" dirty="0" err="1">
                <a:latin typeface="Source Sans Pro" panose="020B0503030403020204" pitchFamily="34" charset="0"/>
                <a:ea typeface="Source Sans Pro" panose="020B0503030403020204" pitchFamily="34" charset="0"/>
              </a:rPr>
              <a:t>EmailFilter</a:t>
            </a:r>
            <a:r>
              <a:rPr lang="en-US" sz="2000" dirty="0">
                <a:latin typeface="Source Sans Pro" panose="020B0503030403020204" pitchFamily="34" charset="0"/>
                <a:ea typeface="Source Sans Pro" panose="020B0503030403020204" pitchFamily="34" charset="0"/>
              </a:rPr>
              <a:t> spam = new </a:t>
            </a:r>
            <a:r>
              <a:rPr lang="en-US" sz="2000" dirty="0" err="1">
                <a:latin typeface="Source Sans Pro" panose="020B0503030403020204" pitchFamily="34" charset="0"/>
                <a:ea typeface="Source Sans Pro" panose="020B0503030403020204" pitchFamily="34" charset="0"/>
              </a:rPr>
              <a:t>SpamFilter</a:t>
            </a:r>
            <a:r>
              <a:rPr lang="en-US" sz="2000" dirty="0">
                <a:latin typeface="Source Sans Pro" panose="020B0503030403020204" pitchFamily="34" charset="0"/>
                <a:ea typeface="Source Sans Pro" panose="020B0503030403020204" pitchFamily="34" charset="0"/>
              </a:rPr>
              <a:t>();</a:t>
            </a:r>
          </a:p>
          <a:p>
            <a:pPr marL="0" indent="0">
              <a:buNone/>
            </a:pPr>
            <a:r>
              <a:rPr lang="en-US" sz="2000" dirty="0" err="1">
                <a:latin typeface="Source Sans Pro" panose="020B0503030403020204" pitchFamily="34" charset="0"/>
                <a:ea typeface="Source Sans Pro" panose="020B0503030403020204" pitchFamily="34" charset="0"/>
              </a:rPr>
              <a:t>EmailFilter</a:t>
            </a:r>
            <a:r>
              <a:rPr lang="en-US" sz="2000" dirty="0">
                <a:latin typeface="Source Sans Pro" panose="020B0503030403020204" pitchFamily="34" charset="0"/>
                <a:ea typeface="Source Sans Pro" panose="020B0503030403020204" pitchFamily="34" charset="0"/>
              </a:rPr>
              <a:t> request = new </a:t>
            </a:r>
            <a:r>
              <a:rPr lang="en-US" sz="2000" dirty="0" err="1">
                <a:latin typeface="Source Sans Pro" panose="020B0503030403020204" pitchFamily="34" charset="0"/>
                <a:ea typeface="Source Sans Pro" panose="020B0503030403020204" pitchFamily="34" charset="0"/>
              </a:rPr>
              <a:t>RequestFilter</a:t>
            </a:r>
            <a:r>
              <a:rPr lang="en-US" sz="2000" dirty="0">
                <a:latin typeface="Source Sans Pro" panose="020B0503030403020204" pitchFamily="34" charset="0"/>
                <a:ea typeface="Source Sans Pro" panose="020B0503030403020204" pitchFamily="34" charset="0"/>
              </a:rPr>
              <a:t>();</a:t>
            </a:r>
          </a:p>
          <a:p>
            <a:pPr marL="0" indent="0">
              <a:buNone/>
            </a:pPr>
            <a:r>
              <a:rPr lang="en-US" sz="2000" dirty="0" err="1">
                <a:latin typeface="Source Sans Pro" panose="020B0503030403020204" pitchFamily="34" charset="0"/>
                <a:ea typeface="Source Sans Pro" panose="020B0503030403020204" pitchFamily="34" charset="0"/>
              </a:rPr>
              <a:t>EmailFilter</a:t>
            </a:r>
            <a:r>
              <a:rPr lang="en-US" sz="2000" dirty="0">
                <a:latin typeface="Source Sans Pro" panose="020B0503030403020204" pitchFamily="34" charset="0"/>
                <a:ea typeface="Source Sans Pro" panose="020B0503030403020204" pitchFamily="34" charset="0"/>
              </a:rPr>
              <a:t> complaint = new </a:t>
            </a:r>
            <a:r>
              <a:rPr lang="en-US" sz="2000" dirty="0" err="1">
                <a:latin typeface="Source Sans Pro" panose="020B0503030403020204" pitchFamily="34" charset="0"/>
                <a:ea typeface="Source Sans Pro" panose="020B0503030403020204" pitchFamily="34" charset="0"/>
              </a:rPr>
              <a:t>ComplaintFilter</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Build the chain by setting successors,</a:t>
            </a:r>
          </a:p>
          <a:p>
            <a:pPr marL="0" indent="0">
              <a:buNone/>
            </a:pPr>
            <a:r>
              <a:rPr lang="en-US" sz="2000" dirty="0">
                <a:latin typeface="Source Sans Pro" panose="020B0503030403020204" pitchFamily="34" charset="0"/>
                <a:ea typeface="Source Sans Pro" panose="020B0503030403020204" pitchFamily="34" charset="0"/>
              </a:rPr>
              <a:t>//order defines the priority.</a:t>
            </a:r>
          </a:p>
          <a:p>
            <a:pPr marL="0" indent="0">
              <a:buNone/>
            </a:pPr>
            <a:r>
              <a:rPr lang="en-US" sz="2000" b="1" dirty="0" err="1">
                <a:latin typeface="Source Sans Pro" panose="020B0503030403020204" pitchFamily="34" charset="0"/>
                <a:ea typeface="Source Sans Pro" panose="020B0503030403020204" pitchFamily="34" charset="0"/>
              </a:rPr>
              <a:t>spam.setSuccessor</a:t>
            </a:r>
            <a:r>
              <a:rPr lang="en-US" sz="2000" b="1" dirty="0">
                <a:latin typeface="Source Sans Pro" panose="020B0503030403020204" pitchFamily="34" charset="0"/>
                <a:ea typeface="Source Sans Pro" panose="020B0503030403020204" pitchFamily="34" charset="0"/>
              </a:rPr>
              <a:t>(request);</a:t>
            </a:r>
          </a:p>
          <a:p>
            <a:pPr marL="0" indent="0">
              <a:buNone/>
            </a:pPr>
            <a:r>
              <a:rPr lang="en-US" sz="2000" b="1" dirty="0" err="1">
                <a:latin typeface="Source Sans Pro" panose="020B0503030403020204" pitchFamily="34" charset="0"/>
                <a:ea typeface="Source Sans Pro" panose="020B0503030403020204" pitchFamily="34" charset="0"/>
              </a:rPr>
              <a:t>request.setSuccessor</a:t>
            </a:r>
            <a:r>
              <a:rPr lang="en-US" sz="2000" b="1" dirty="0">
                <a:latin typeface="Source Sans Pro" panose="020B0503030403020204" pitchFamily="34" charset="0"/>
                <a:ea typeface="Source Sans Pro" panose="020B0503030403020204" pitchFamily="34" charset="0"/>
              </a:rPr>
              <a:t>(complaint);</a:t>
            </a:r>
          </a:p>
          <a:p>
            <a:pPr marL="0" indent="0">
              <a:buNone/>
            </a:pPr>
            <a:r>
              <a:rPr lang="en-US" sz="2000" dirty="0">
                <a:latin typeface="Source Sans Pro" panose="020B0503030403020204" pitchFamily="34" charset="0"/>
                <a:ea typeface="Source Sans Pro" panose="020B0503030403020204" pitchFamily="34" charset="0"/>
              </a:rPr>
              <a:t>//give it to </a:t>
            </a:r>
            <a:r>
              <a:rPr lang="en-US" sz="2000" dirty="0" err="1">
                <a:latin typeface="Source Sans Pro" panose="020B0503030403020204" pitchFamily="34" charset="0"/>
                <a:ea typeface="Source Sans Pro" panose="020B0503030403020204" pitchFamily="34" charset="0"/>
              </a:rPr>
              <a:t>CoR</a:t>
            </a:r>
            <a:r>
              <a:rPr lang="en-US" sz="2000" dirty="0">
                <a:latin typeface="Source Sans Pro" panose="020B0503030403020204" pitchFamily="34" charset="0"/>
                <a:ea typeface="Source Sans Pro" panose="020B0503030403020204" pitchFamily="34" charset="0"/>
              </a:rPr>
              <a:t> client</a:t>
            </a:r>
          </a:p>
          <a:p>
            <a:pPr marL="0" indent="0">
              <a:buNone/>
            </a:pPr>
            <a:r>
              <a:rPr lang="en-US" sz="2000" dirty="0">
                <a:latin typeface="Source Sans Pro" panose="020B0503030403020204" pitchFamily="34" charset="0"/>
                <a:ea typeface="Source Sans Pro" panose="020B0503030403020204" pitchFamily="34" charset="0"/>
              </a:rPr>
              <a:t>Inbox inbox=new Inbox(</a:t>
            </a:r>
            <a:r>
              <a:rPr lang="en-US" sz="2000" b="1" dirty="0">
                <a:latin typeface="Source Sans Pro" panose="020B0503030403020204" pitchFamily="34" charset="0"/>
                <a:ea typeface="Source Sans Pro" panose="020B0503030403020204" pitchFamily="34" charset="0"/>
              </a:rPr>
              <a:t>spam</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triggering the chain</a:t>
            </a:r>
          </a:p>
          <a:p>
            <a:pPr marL="0" indent="0">
              <a:buNone/>
            </a:pPr>
            <a:r>
              <a:rPr lang="en-US" sz="1800" b="1" dirty="0" err="1">
                <a:latin typeface="Source Sans Pro" panose="020B0503030403020204" pitchFamily="34" charset="0"/>
                <a:ea typeface="Source Sans Pro" panose="020B0503030403020204" pitchFamily="34" charset="0"/>
              </a:rPr>
              <a:t>inbox.receivedEmail</a:t>
            </a:r>
            <a:r>
              <a:rPr lang="en-US" sz="1800" b="1" dirty="0">
                <a:latin typeface="Source Sans Pro" panose="020B0503030403020204" pitchFamily="34" charset="0"/>
                <a:ea typeface="Source Sans Pro" panose="020B0503030403020204" pitchFamily="34" charset="0"/>
              </a:rPr>
              <a:t>(</a:t>
            </a:r>
            <a:r>
              <a:rPr lang="en-US" sz="2000" dirty="0" err="1">
                <a:latin typeface="Source Sans Pro" panose="020B0503030403020204" pitchFamily="34" charset="0"/>
                <a:ea typeface="Source Sans Pro" panose="020B0503030403020204" pitchFamily="34" charset="0"/>
              </a:rPr>
              <a:t>someEmail</a:t>
            </a:r>
            <a:r>
              <a:rPr lang="en-US" sz="2000" dirty="0">
                <a:latin typeface="Source Sans Pro" panose="020B0503030403020204" pitchFamily="34" charset="0"/>
                <a:ea typeface="Source Sans Pro" panose="020B0503030403020204" pitchFamily="34" charset="0"/>
              </a:rPr>
              <a:t>);</a:t>
            </a:r>
          </a:p>
        </p:txBody>
      </p:sp>
      <p:sp>
        <p:nvSpPr>
          <p:cNvPr id="5" name="Content Placeholder 4">
            <a:extLst>
              <a:ext uri="{FF2B5EF4-FFF2-40B4-BE49-F238E27FC236}">
                <a16:creationId xmlns:a16="http://schemas.microsoft.com/office/drawing/2014/main" id="{224CC9A9-A25A-C935-4F18-5E0327C456C8}"/>
              </a:ext>
            </a:extLst>
          </p:cNvPr>
          <p:cNvSpPr>
            <a:spLocks noGrp="1"/>
          </p:cNvSpPr>
          <p:nvPr>
            <p:ph sz="half" idx="2"/>
          </p:nvPr>
        </p:nvSpPr>
        <p:spPr>
          <a:xfrm>
            <a:off x="5551054" y="1272209"/>
            <a:ext cx="3592946" cy="4528227"/>
          </a:xfrm>
        </p:spPr>
        <p:txBody>
          <a:bodyPr/>
          <a:lstStyle/>
          <a:p>
            <a:pPr marL="0" indent="0">
              <a:buNone/>
            </a:pPr>
            <a:r>
              <a:rPr lang="en-US" sz="2000" dirty="0">
                <a:latin typeface="Source Sans Pro" panose="020B0503030403020204" pitchFamily="34" charset="0"/>
                <a:ea typeface="Source Sans Pro" panose="020B0503030403020204" pitchFamily="34" charset="0"/>
              </a:rPr>
              <a:t>public class Inbox{</a:t>
            </a:r>
          </a:p>
          <a:p>
            <a:pPr marL="0" indent="0">
              <a:buNone/>
            </a:pPr>
            <a:r>
              <a:rPr lang="en-US" sz="2000" dirty="0">
                <a:latin typeface="Source Sans Pro" panose="020B0503030403020204" pitchFamily="34" charset="0"/>
                <a:ea typeface="Source Sans Pro" panose="020B0503030403020204" pitchFamily="34" charset="0"/>
              </a:rPr>
              <a:t>   </a:t>
            </a:r>
            <a:r>
              <a:rPr lang="en-US" sz="2000" dirty="0">
                <a:solidFill>
                  <a:srgbClr val="0070C0"/>
                </a:solidFill>
                <a:latin typeface="Source Sans Pro" panose="020B0503030403020204" pitchFamily="34" charset="0"/>
                <a:ea typeface="Source Sans Pro" panose="020B0503030403020204" pitchFamily="34" charset="0"/>
              </a:rPr>
              <a:t>private </a:t>
            </a:r>
            <a:r>
              <a:rPr lang="en-US" sz="2000" dirty="0" err="1">
                <a:solidFill>
                  <a:srgbClr val="0070C0"/>
                </a:solidFill>
                <a:latin typeface="Source Sans Pro" panose="020B0503030403020204" pitchFamily="34" charset="0"/>
                <a:ea typeface="Source Sans Pro" panose="020B0503030403020204" pitchFamily="34" charset="0"/>
              </a:rPr>
              <a:t>EmailFilter</a:t>
            </a:r>
            <a:r>
              <a:rPr lang="en-US" sz="2000" dirty="0">
                <a:solidFill>
                  <a:srgbClr val="0070C0"/>
                </a:solidFill>
                <a:latin typeface="Source Sans Pro" panose="020B0503030403020204" pitchFamily="34" charset="0"/>
                <a:ea typeface="Source Sans Pro" panose="020B0503030403020204" pitchFamily="34" charset="0"/>
              </a:rPr>
              <a:t> chain;</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rPr>
              <a:t>   public Inbox(</a:t>
            </a:r>
            <a:r>
              <a:rPr lang="en-US" sz="2000" dirty="0" err="1">
                <a:latin typeface="Source Sans Pro" panose="020B0503030403020204" pitchFamily="34" charset="0"/>
                <a:ea typeface="Source Sans Pro" panose="020B0503030403020204" pitchFamily="34" charset="0"/>
              </a:rPr>
              <a:t>EmailFilter</a:t>
            </a:r>
            <a:r>
              <a:rPr lang="en-US" sz="2000" dirty="0">
                <a:latin typeface="Source Sans Pro" panose="020B0503030403020204" pitchFamily="34" charset="0"/>
                <a:ea typeface="Source Sans Pro" panose="020B0503030403020204" pitchFamily="34" charset="0"/>
              </a:rPr>
              <a:t> f){</a:t>
            </a:r>
          </a:p>
          <a:p>
            <a:pPr marL="0" indent="0">
              <a:buNone/>
            </a:pPr>
            <a:r>
              <a:rPr lang="en-US" sz="2000" dirty="0">
                <a:latin typeface="Source Sans Pro" panose="020B0503030403020204" pitchFamily="34" charset="0"/>
                <a:ea typeface="Source Sans Pro" panose="020B0503030403020204" pitchFamily="34" charset="0"/>
              </a:rPr>
              <a:t>        chain=f;</a:t>
            </a:r>
          </a:p>
          <a:p>
            <a:pPr marL="0" indent="0">
              <a:buNone/>
            </a:pPr>
            <a:r>
              <a:rPr lang="en-US" sz="2000" dirty="0">
                <a:latin typeface="Source Sans Pro" panose="020B0503030403020204" pitchFamily="34" charset="0"/>
                <a:ea typeface="Source Sans Pro" panose="020B0503030403020204" pitchFamily="34" charset="0"/>
              </a:rPr>
              <a:t>   } </a:t>
            </a:r>
          </a:p>
          <a:p>
            <a:pPr marL="0" indent="0">
              <a:buNone/>
            </a:pPr>
            <a:r>
              <a:rPr lang="en-US" sz="2000" dirty="0">
                <a:latin typeface="Source Sans Pro" panose="020B0503030403020204" pitchFamily="34" charset="0"/>
                <a:ea typeface="Source Sans Pro" panose="020B0503030403020204" pitchFamily="34" charset="0"/>
              </a:rPr>
              <a:t>   public void</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receivedEmail</a:t>
            </a:r>
            <a:r>
              <a:rPr lang="en-US" sz="2000" dirty="0">
                <a:latin typeface="Source Sans Pro" panose="020B0503030403020204" pitchFamily="34" charset="0"/>
                <a:ea typeface="Source Sans Pro" panose="020B0503030403020204" pitchFamily="34" charset="0"/>
              </a:rPr>
              <a:t> (Email e){</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solidFill>
                  <a:srgbClr val="0070C0"/>
                </a:solidFill>
                <a:latin typeface="Source Sans Pro" panose="020B0503030403020204" pitchFamily="34" charset="0"/>
                <a:ea typeface="Source Sans Pro" panose="020B0503030403020204" pitchFamily="34" charset="0"/>
              </a:rPr>
              <a:t>chain.sort</a:t>
            </a:r>
            <a:r>
              <a:rPr lang="en-US" sz="2000" dirty="0">
                <a:solidFill>
                  <a:srgbClr val="0070C0"/>
                </a:solidFill>
                <a:latin typeface="Source Sans Pro" panose="020B0503030403020204" pitchFamily="34" charset="0"/>
                <a:ea typeface="Source Sans Pro" panose="020B0503030403020204" pitchFamily="34" charset="0"/>
              </a:rPr>
              <a:t>(e);</a:t>
            </a:r>
          </a:p>
          <a:p>
            <a:pPr marL="0" indent="0">
              <a:buNone/>
            </a:pPr>
            <a:r>
              <a:rPr lang="en-US" sz="2000" dirty="0">
                <a:solidFill>
                  <a:srgbClr val="0070C0"/>
                </a:solidFill>
                <a:latin typeface="Source Sans Pro" panose="020B0503030403020204" pitchFamily="34" charset="0"/>
                <a:ea typeface="Source Sans Pro" panose="020B0503030403020204" pitchFamily="34" charset="0"/>
              </a:rPr>
              <a:t>   </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endParaRPr lang="en-US" sz="2000" dirty="0"/>
          </a:p>
        </p:txBody>
      </p:sp>
    </p:spTree>
    <p:extLst>
      <p:ext uri="{BB962C8B-B14F-4D97-AF65-F5344CB8AC3E}">
        <p14:creationId xmlns:p14="http://schemas.microsoft.com/office/powerpoint/2010/main" val="410738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51FA8F6-D12A-20D5-527E-5FB5C2043385}"/>
              </a:ext>
            </a:extLst>
          </p:cNvPr>
          <p:cNvSpPr>
            <a:spLocks noGrp="1" noChangeArrowheads="1"/>
          </p:cNvSpPr>
          <p:nvPr>
            <p:ph type="title"/>
          </p:nvPr>
        </p:nvSpPr>
        <p:spPr>
          <a:xfrm>
            <a:off x="457200" y="139700"/>
            <a:ext cx="8229600" cy="1371600"/>
          </a:xfrm>
        </p:spPr>
        <p:txBody>
          <a:bodyPr/>
          <a:lstStyle/>
          <a:p>
            <a:r>
              <a:rPr lang="en-US" altLang="tr-TR"/>
              <a:t>Benefits and Drawbacks</a:t>
            </a:r>
            <a:endParaRPr lang="en-GB" altLang="tr-TR"/>
          </a:p>
        </p:txBody>
      </p:sp>
      <p:sp>
        <p:nvSpPr>
          <p:cNvPr id="21507" name="Rectangle 3">
            <a:extLst>
              <a:ext uri="{FF2B5EF4-FFF2-40B4-BE49-F238E27FC236}">
                <a16:creationId xmlns:a16="http://schemas.microsoft.com/office/drawing/2014/main" id="{918B1144-0D7D-699B-BB82-16BA4838848B}"/>
              </a:ext>
            </a:extLst>
          </p:cNvPr>
          <p:cNvSpPr>
            <a:spLocks noGrp="1" noChangeArrowheads="1"/>
          </p:cNvSpPr>
          <p:nvPr>
            <p:ph idx="1"/>
          </p:nvPr>
        </p:nvSpPr>
        <p:spPr>
          <a:xfrm>
            <a:off x="457200" y="1335088"/>
            <a:ext cx="8229600" cy="4532312"/>
          </a:xfrm>
        </p:spPr>
        <p:txBody>
          <a:bodyPr/>
          <a:lstStyle/>
          <a:p>
            <a:pPr>
              <a:lnSpc>
                <a:spcPct val="90000"/>
              </a:lnSpc>
            </a:pPr>
            <a:r>
              <a:rPr lang="en-US" altLang="tr-TR" sz="2800" dirty="0"/>
              <a:t>Benefits</a:t>
            </a:r>
          </a:p>
          <a:p>
            <a:pPr lvl="1">
              <a:lnSpc>
                <a:spcPct val="90000"/>
              </a:lnSpc>
            </a:pPr>
            <a:r>
              <a:rPr lang="en-US" altLang="tr-TR" sz="2400" dirty="0"/>
              <a:t>Simplifies objects because they don’t have to know the chain’s structure</a:t>
            </a:r>
          </a:p>
          <a:p>
            <a:pPr lvl="2">
              <a:lnSpc>
                <a:spcPct val="90000"/>
              </a:lnSpc>
            </a:pPr>
            <a:r>
              <a:rPr lang="en-US" altLang="tr-TR" sz="2000" dirty="0"/>
              <a:t>Inbox does not keep direct references to members of the chain</a:t>
            </a:r>
          </a:p>
          <a:p>
            <a:pPr lvl="2">
              <a:lnSpc>
                <a:spcPct val="90000"/>
              </a:lnSpc>
            </a:pPr>
            <a:r>
              <a:rPr lang="en-US" altLang="tr-TR" sz="2000" dirty="0"/>
              <a:t>Each member is unaware of the others</a:t>
            </a:r>
          </a:p>
          <a:p>
            <a:pPr lvl="1">
              <a:lnSpc>
                <a:spcPct val="90000"/>
              </a:lnSpc>
            </a:pPr>
            <a:r>
              <a:rPr lang="en-US" altLang="tr-TR" sz="2400" dirty="0"/>
              <a:t>Allows to add or remove responsibilities dynamically by changing members</a:t>
            </a:r>
          </a:p>
          <a:p>
            <a:pPr lvl="1">
              <a:lnSpc>
                <a:spcPct val="90000"/>
              </a:lnSpc>
            </a:pPr>
            <a:r>
              <a:rPr lang="en-US" altLang="tr-TR" sz="2400" dirty="0"/>
              <a:t>Allows to change the order of responsibilities at runtime</a:t>
            </a:r>
          </a:p>
          <a:p>
            <a:pPr>
              <a:lnSpc>
                <a:spcPct val="90000"/>
              </a:lnSpc>
            </a:pPr>
            <a:r>
              <a:rPr lang="en-US" altLang="tr-TR" sz="2800" dirty="0"/>
              <a:t>Drawbacks</a:t>
            </a:r>
          </a:p>
          <a:p>
            <a:pPr lvl="1">
              <a:lnSpc>
                <a:spcPct val="90000"/>
              </a:lnSpc>
            </a:pPr>
            <a:r>
              <a:rPr lang="en-US" altLang="tr-TR" sz="2400" dirty="0"/>
              <a:t>execution of the request is not guaranteed. It may fall off the end of chain</a:t>
            </a:r>
          </a:p>
          <a:p>
            <a:pPr lvl="1">
              <a:lnSpc>
                <a:spcPct val="90000"/>
              </a:lnSpc>
            </a:pPr>
            <a:r>
              <a:rPr lang="en-US" altLang="tr-TR" sz="2400" dirty="0"/>
              <a:t>can be hard to observe the runtime characteristics and debug</a:t>
            </a:r>
          </a:p>
          <a:p>
            <a:pPr lvl="1">
              <a:lnSpc>
                <a:spcPct val="90000"/>
              </a:lnSpc>
            </a:pPr>
            <a:endParaRPr lang="en-US" altLang="tr-TR"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1FF2C09-B964-03D7-4EC5-9FF9D81524E2}"/>
              </a:ext>
            </a:extLst>
          </p:cNvPr>
          <p:cNvSpPr>
            <a:spLocks noGrp="1" noChangeArrowheads="1"/>
          </p:cNvSpPr>
          <p:nvPr>
            <p:ph type="title"/>
          </p:nvPr>
        </p:nvSpPr>
        <p:spPr>
          <a:xfrm>
            <a:off x="457200" y="139700"/>
            <a:ext cx="8229600" cy="1371600"/>
          </a:xfrm>
        </p:spPr>
        <p:txBody>
          <a:bodyPr/>
          <a:lstStyle/>
          <a:p>
            <a:r>
              <a:rPr lang="en-US" altLang="tr-TR"/>
              <a:t>Example II</a:t>
            </a:r>
          </a:p>
        </p:txBody>
      </p:sp>
      <p:sp>
        <p:nvSpPr>
          <p:cNvPr id="22531" name="Rectangle 3">
            <a:extLst>
              <a:ext uri="{FF2B5EF4-FFF2-40B4-BE49-F238E27FC236}">
                <a16:creationId xmlns:a16="http://schemas.microsoft.com/office/drawing/2014/main" id="{2F399090-0B9F-2E6E-2938-044EDC7D65CC}"/>
              </a:ext>
            </a:extLst>
          </p:cNvPr>
          <p:cNvSpPr>
            <a:spLocks noGrp="1" noChangeArrowheads="1"/>
          </p:cNvSpPr>
          <p:nvPr>
            <p:ph idx="1"/>
          </p:nvPr>
        </p:nvSpPr>
        <p:spPr>
          <a:xfrm>
            <a:off x="457200" y="1335088"/>
            <a:ext cx="8229600" cy="4532312"/>
          </a:xfrm>
        </p:spPr>
        <p:txBody>
          <a:bodyPr/>
          <a:lstStyle/>
          <a:p>
            <a:r>
              <a:rPr lang="en-US" altLang="tr-TR" sz="2800"/>
              <a:t>Context sensitive help facility</a:t>
            </a:r>
          </a:p>
          <a:p>
            <a:pPr lvl="1"/>
            <a:r>
              <a:rPr lang="en-US" altLang="tr-TR" sz="2400"/>
              <a:t>Help on any part of the user interface</a:t>
            </a:r>
          </a:p>
          <a:p>
            <a:pPr lvl="1"/>
            <a:r>
              <a:rPr lang="en-US" altLang="tr-TR" sz="2400"/>
              <a:t>Help information depends on the selected parts and its context</a:t>
            </a:r>
          </a:p>
          <a:p>
            <a:pPr lvl="2"/>
            <a:r>
              <a:rPr lang="en-US" altLang="tr-TR" sz="2000"/>
              <a:t>Button in main window have different help information than a button in a dialog box</a:t>
            </a:r>
          </a:p>
          <a:p>
            <a:pPr lvl="1"/>
            <a:r>
              <a:rPr lang="en-US" altLang="tr-TR" sz="2400"/>
              <a:t>If no help information available for that part, display the help for the immediate context</a:t>
            </a:r>
          </a:p>
          <a:p>
            <a:r>
              <a:rPr lang="en-US" altLang="tr-TR" sz="2800"/>
              <a:t>The object that will provide Help is not known explicitly to the requester object (e.g. the button)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90343D9-F49F-0885-A1D1-FB098A301A94}"/>
              </a:ext>
            </a:extLst>
          </p:cNvPr>
          <p:cNvSpPr>
            <a:spLocks noGrp="1" noChangeArrowheads="1"/>
          </p:cNvSpPr>
          <p:nvPr>
            <p:ph type="title"/>
          </p:nvPr>
        </p:nvSpPr>
        <p:spPr>
          <a:xfrm>
            <a:off x="457200" y="60325"/>
            <a:ext cx="8229600" cy="1371600"/>
          </a:xfrm>
        </p:spPr>
        <p:txBody>
          <a:bodyPr/>
          <a:lstStyle/>
          <a:p>
            <a:r>
              <a:rPr lang="en-US" altLang="tr-TR"/>
              <a:t>A sample object diagram</a:t>
            </a:r>
            <a:endParaRPr lang="en-GB" altLang="tr-TR"/>
          </a:p>
        </p:txBody>
      </p:sp>
      <p:sp>
        <p:nvSpPr>
          <p:cNvPr id="23555" name="AutoShape 6">
            <a:extLst>
              <a:ext uri="{FF2B5EF4-FFF2-40B4-BE49-F238E27FC236}">
                <a16:creationId xmlns:a16="http://schemas.microsoft.com/office/drawing/2014/main" id="{FC570CD8-C712-810C-83CA-033C7847452B}"/>
              </a:ext>
            </a:extLst>
          </p:cNvPr>
          <p:cNvSpPr>
            <a:spLocks noChangeArrowheads="1"/>
          </p:cNvSpPr>
          <p:nvPr/>
        </p:nvSpPr>
        <p:spPr bwMode="auto">
          <a:xfrm>
            <a:off x="3851275" y="3357563"/>
            <a:ext cx="1584325" cy="863600"/>
          </a:xfrm>
          <a:prstGeom prst="roundRect">
            <a:avLst>
              <a:gd name="adj" fmla="val 16667"/>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aPrintDialog</a:t>
            </a:r>
          </a:p>
          <a:p>
            <a:pPr algn="ctr" eaLnBrk="1" hangingPunct="1">
              <a:spcBef>
                <a:spcPct val="0"/>
              </a:spcBef>
              <a:buClrTx/>
              <a:buSzTx/>
              <a:buFontTx/>
              <a:buNone/>
            </a:pPr>
            <a:r>
              <a:rPr lang="en-US" altLang="tr-TR" sz="1800"/>
              <a:t>handleHelp</a:t>
            </a:r>
            <a:endParaRPr lang="en-GB" altLang="tr-TR" sz="1800"/>
          </a:p>
        </p:txBody>
      </p:sp>
      <p:sp>
        <p:nvSpPr>
          <p:cNvPr id="23556" name="AutoShape 8">
            <a:extLst>
              <a:ext uri="{FF2B5EF4-FFF2-40B4-BE49-F238E27FC236}">
                <a16:creationId xmlns:a16="http://schemas.microsoft.com/office/drawing/2014/main" id="{1C8D8D98-1833-D2E3-7769-25C173587570}"/>
              </a:ext>
            </a:extLst>
          </p:cNvPr>
          <p:cNvSpPr>
            <a:spLocks noChangeArrowheads="1"/>
          </p:cNvSpPr>
          <p:nvPr/>
        </p:nvSpPr>
        <p:spPr bwMode="auto">
          <a:xfrm>
            <a:off x="755650" y="2636838"/>
            <a:ext cx="1584325" cy="863600"/>
          </a:xfrm>
          <a:prstGeom prst="roundRect">
            <a:avLst>
              <a:gd name="adj" fmla="val 16667"/>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aPrintButton</a:t>
            </a:r>
          </a:p>
          <a:p>
            <a:pPr algn="ctr" eaLnBrk="1" hangingPunct="1">
              <a:spcBef>
                <a:spcPct val="0"/>
              </a:spcBef>
              <a:buClrTx/>
              <a:buSzTx/>
              <a:buFontTx/>
              <a:buNone/>
            </a:pPr>
            <a:r>
              <a:rPr lang="en-US" altLang="tr-TR" sz="1800"/>
              <a:t>handleHelp</a:t>
            </a:r>
            <a:endParaRPr lang="en-GB" altLang="tr-TR" sz="1800"/>
          </a:p>
        </p:txBody>
      </p:sp>
      <p:sp>
        <p:nvSpPr>
          <p:cNvPr id="23557" name="AutoShape 9">
            <a:extLst>
              <a:ext uri="{FF2B5EF4-FFF2-40B4-BE49-F238E27FC236}">
                <a16:creationId xmlns:a16="http://schemas.microsoft.com/office/drawing/2014/main" id="{E520AA84-F346-BDA1-B2CE-94B961AF6B7F}"/>
              </a:ext>
            </a:extLst>
          </p:cNvPr>
          <p:cNvSpPr>
            <a:spLocks noChangeArrowheads="1"/>
          </p:cNvSpPr>
          <p:nvPr/>
        </p:nvSpPr>
        <p:spPr bwMode="auto">
          <a:xfrm>
            <a:off x="6877050" y="3357563"/>
            <a:ext cx="1584325" cy="863600"/>
          </a:xfrm>
          <a:prstGeom prst="roundRect">
            <a:avLst>
              <a:gd name="adj" fmla="val 16667"/>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anApplication</a:t>
            </a:r>
          </a:p>
          <a:p>
            <a:pPr algn="ctr" eaLnBrk="1" hangingPunct="1">
              <a:spcBef>
                <a:spcPct val="0"/>
              </a:spcBef>
              <a:buClrTx/>
              <a:buSzTx/>
              <a:buFontTx/>
              <a:buNone/>
            </a:pPr>
            <a:r>
              <a:rPr lang="en-US" altLang="tr-TR" sz="1800"/>
              <a:t>handleHelp</a:t>
            </a:r>
            <a:endParaRPr lang="en-GB" altLang="tr-TR" sz="1800"/>
          </a:p>
        </p:txBody>
      </p:sp>
      <p:sp>
        <p:nvSpPr>
          <p:cNvPr id="23558" name="AutoShape 10">
            <a:extLst>
              <a:ext uri="{FF2B5EF4-FFF2-40B4-BE49-F238E27FC236}">
                <a16:creationId xmlns:a16="http://schemas.microsoft.com/office/drawing/2014/main" id="{4A6F975F-0D8F-A67D-2ADB-FA2DE90EF464}"/>
              </a:ext>
            </a:extLst>
          </p:cNvPr>
          <p:cNvSpPr>
            <a:spLocks noChangeArrowheads="1"/>
          </p:cNvSpPr>
          <p:nvPr/>
        </p:nvSpPr>
        <p:spPr bwMode="auto">
          <a:xfrm>
            <a:off x="755650" y="4581525"/>
            <a:ext cx="1584325" cy="863600"/>
          </a:xfrm>
          <a:prstGeom prst="roundRect">
            <a:avLst>
              <a:gd name="adj" fmla="val 16667"/>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anOKButton</a:t>
            </a:r>
          </a:p>
          <a:p>
            <a:pPr algn="ctr" eaLnBrk="1" hangingPunct="1">
              <a:spcBef>
                <a:spcPct val="0"/>
              </a:spcBef>
              <a:buClrTx/>
              <a:buSzTx/>
              <a:buFontTx/>
              <a:buNone/>
            </a:pPr>
            <a:r>
              <a:rPr lang="en-US" altLang="tr-TR" sz="1800"/>
              <a:t>handleHelp</a:t>
            </a:r>
            <a:endParaRPr lang="en-GB" altLang="tr-TR" sz="1800"/>
          </a:p>
        </p:txBody>
      </p:sp>
      <p:sp>
        <p:nvSpPr>
          <p:cNvPr id="23559" name="Line 11">
            <a:extLst>
              <a:ext uri="{FF2B5EF4-FFF2-40B4-BE49-F238E27FC236}">
                <a16:creationId xmlns:a16="http://schemas.microsoft.com/office/drawing/2014/main" id="{5CB82BE8-E530-CD0C-1BA4-F84358ED4DF6}"/>
              </a:ext>
            </a:extLst>
          </p:cNvPr>
          <p:cNvSpPr>
            <a:spLocks noChangeShapeType="1"/>
          </p:cNvSpPr>
          <p:nvPr/>
        </p:nvSpPr>
        <p:spPr bwMode="auto">
          <a:xfrm>
            <a:off x="2268538" y="3284538"/>
            <a:ext cx="1511300" cy="504825"/>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3560" name="Line 12">
            <a:extLst>
              <a:ext uri="{FF2B5EF4-FFF2-40B4-BE49-F238E27FC236}">
                <a16:creationId xmlns:a16="http://schemas.microsoft.com/office/drawing/2014/main" id="{D31E061E-ADBF-02C1-37E0-12F2D1E5B94F}"/>
              </a:ext>
            </a:extLst>
          </p:cNvPr>
          <p:cNvSpPr>
            <a:spLocks noChangeShapeType="1"/>
          </p:cNvSpPr>
          <p:nvPr/>
        </p:nvSpPr>
        <p:spPr bwMode="auto">
          <a:xfrm flipV="1">
            <a:off x="2339975" y="4149725"/>
            <a:ext cx="1439863" cy="107950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3561" name="Line 13">
            <a:extLst>
              <a:ext uri="{FF2B5EF4-FFF2-40B4-BE49-F238E27FC236}">
                <a16:creationId xmlns:a16="http://schemas.microsoft.com/office/drawing/2014/main" id="{EE5B01C1-D35B-C4CE-AB56-BAB577E14E5F}"/>
              </a:ext>
            </a:extLst>
          </p:cNvPr>
          <p:cNvSpPr>
            <a:spLocks noChangeShapeType="1"/>
          </p:cNvSpPr>
          <p:nvPr/>
        </p:nvSpPr>
        <p:spPr bwMode="auto">
          <a:xfrm>
            <a:off x="5435600" y="4005263"/>
            <a:ext cx="144145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3562" name="Line 14">
            <a:extLst>
              <a:ext uri="{FF2B5EF4-FFF2-40B4-BE49-F238E27FC236}">
                <a16:creationId xmlns:a16="http://schemas.microsoft.com/office/drawing/2014/main" id="{4E064AE1-F96F-3766-708C-9147404F6393}"/>
              </a:ext>
            </a:extLst>
          </p:cNvPr>
          <p:cNvSpPr>
            <a:spLocks noChangeShapeType="1"/>
          </p:cNvSpPr>
          <p:nvPr/>
        </p:nvSpPr>
        <p:spPr bwMode="auto">
          <a:xfrm>
            <a:off x="755650" y="3141663"/>
            <a:ext cx="1584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3" name="Line 15">
            <a:extLst>
              <a:ext uri="{FF2B5EF4-FFF2-40B4-BE49-F238E27FC236}">
                <a16:creationId xmlns:a16="http://schemas.microsoft.com/office/drawing/2014/main" id="{89C7E1D1-762E-D09E-1E63-BDCBF047128D}"/>
              </a:ext>
            </a:extLst>
          </p:cNvPr>
          <p:cNvSpPr>
            <a:spLocks noChangeShapeType="1"/>
          </p:cNvSpPr>
          <p:nvPr/>
        </p:nvSpPr>
        <p:spPr bwMode="auto">
          <a:xfrm>
            <a:off x="755650" y="5084763"/>
            <a:ext cx="1584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4" name="Line 16">
            <a:extLst>
              <a:ext uri="{FF2B5EF4-FFF2-40B4-BE49-F238E27FC236}">
                <a16:creationId xmlns:a16="http://schemas.microsoft.com/office/drawing/2014/main" id="{E489372B-C6C5-8475-C28B-CD69AA524B5B}"/>
              </a:ext>
            </a:extLst>
          </p:cNvPr>
          <p:cNvSpPr>
            <a:spLocks noChangeShapeType="1"/>
          </p:cNvSpPr>
          <p:nvPr/>
        </p:nvSpPr>
        <p:spPr bwMode="auto">
          <a:xfrm>
            <a:off x="3851275" y="3860800"/>
            <a:ext cx="1584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5" name="Line 17">
            <a:extLst>
              <a:ext uri="{FF2B5EF4-FFF2-40B4-BE49-F238E27FC236}">
                <a16:creationId xmlns:a16="http://schemas.microsoft.com/office/drawing/2014/main" id="{51B8D485-D231-9CB4-F620-0AAEA1EC1FF7}"/>
              </a:ext>
            </a:extLst>
          </p:cNvPr>
          <p:cNvSpPr>
            <a:spLocks noChangeShapeType="1"/>
          </p:cNvSpPr>
          <p:nvPr/>
        </p:nvSpPr>
        <p:spPr bwMode="auto">
          <a:xfrm>
            <a:off x="6877050" y="3860800"/>
            <a:ext cx="1584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5A2EF5D-3008-0F6B-D9F6-482EC1A51EFB}"/>
              </a:ext>
            </a:extLst>
          </p:cNvPr>
          <p:cNvSpPr>
            <a:spLocks noGrp="1" noChangeArrowheads="1"/>
          </p:cNvSpPr>
          <p:nvPr>
            <p:ph type="title"/>
          </p:nvPr>
        </p:nvSpPr>
        <p:spPr>
          <a:xfrm>
            <a:off x="457200" y="139700"/>
            <a:ext cx="8229600" cy="1371600"/>
          </a:xfrm>
        </p:spPr>
        <p:txBody>
          <a:bodyPr/>
          <a:lstStyle/>
          <a:p>
            <a:r>
              <a:rPr lang="en-US" altLang="tr-TR"/>
              <a:t>Example II</a:t>
            </a:r>
          </a:p>
        </p:txBody>
      </p:sp>
      <p:sp>
        <p:nvSpPr>
          <p:cNvPr id="24579" name="Rectangle 3">
            <a:extLst>
              <a:ext uri="{FF2B5EF4-FFF2-40B4-BE49-F238E27FC236}">
                <a16:creationId xmlns:a16="http://schemas.microsoft.com/office/drawing/2014/main" id="{C0BDBA15-62D0-07F4-581F-C70ECE004053}"/>
              </a:ext>
            </a:extLst>
          </p:cNvPr>
          <p:cNvSpPr>
            <a:spLocks noGrp="1" noChangeArrowheads="1"/>
          </p:cNvSpPr>
          <p:nvPr>
            <p:ph idx="1"/>
          </p:nvPr>
        </p:nvSpPr>
        <p:spPr>
          <a:xfrm>
            <a:off x="546100" y="1254125"/>
            <a:ext cx="8229600" cy="1346200"/>
          </a:xfrm>
        </p:spPr>
        <p:txBody>
          <a:bodyPr/>
          <a:lstStyle/>
          <a:p>
            <a:r>
              <a:rPr lang="en-US" altLang="tr-TR" dirty="0"/>
              <a:t>Decouple requester and provider via </a:t>
            </a:r>
            <a:r>
              <a:rPr lang="en-US" altLang="tr-TR" b="1" dirty="0"/>
              <a:t>Chain of responsibility</a:t>
            </a:r>
          </a:p>
          <a:p>
            <a:endParaRPr lang="en-US" altLang="tr-TR" dirty="0"/>
          </a:p>
        </p:txBody>
      </p:sp>
      <p:sp>
        <p:nvSpPr>
          <p:cNvPr id="24580" name="Rectangle 4">
            <a:extLst>
              <a:ext uri="{FF2B5EF4-FFF2-40B4-BE49-F238E27FC236}">
                <a16:creationId xmlns:a16="http://schemas.microsoft.com/office/drawing/2014/main" id="{F7784067-A936-7292-B3B4-603C29DB3C7A}"/>
              </a:ext>
            </a:extLst>
          </p:cNvPr>
          <p:cNvSpPr>
            <a:spLocks noChangeArrowheads="1"/>
          </p:cNvSpPr>
          <p:nvPr/>
        </p:nvSpPr>
        <p:spPr bwMode="auto">
          <a:xfrm>
            <a:off x="800100" y="4762500"/>
            <a:ext cx="7721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buClrTx/>
              <a:buSzTx/>
              <a:buFontTx/>
              <a:buChar char="•"/>
            </a:pPr>
            <a:r>
              <a:rPr lang="en-US" altLang="tr-TR" sz="2800"/>
              <a:t>Request will be passes along a chain</a:t>
            </a:r>
          </a:p>
          <a:p>
            <a:pPr lvl="1" eaLnBrk="1" hangingPunct="1">
              <a:buClrTx/>
              <a:buSzTx/>
              <a:buFontTx/>
              <a:buChar char="–"/>
            </a:pPr>
            <a:r>
              <a:rPr lang="en-US" altLang="tr-TR" sz="2400"/>
              <a:t>1st object receives the help information request. </a:t>
            </a:r>
          </a:p>
          <a:p>
            <a:pPr lvl="1" eaLnBrk="1" hangingPunct="1">
              <a:buClrTx/>
              <a:buSzTx/>
              <a:buFontTx/>
              <a:buChar char="–"/>
            </a:pPr>
            <a:r>
              <a:rPr lang="en-US" altLang="tr-TR" sz="2400"/>
              <a:t>Either handles it or pass it to the 2nd object</a:t>
            </a:r>
          </a:p>
          <a:p>
            <a:pPr lvl="1" eaLnBrk="1" hangingPunct="1">
              <a:buClrTx/>
              <a:buSzTx/>
              <a:buFontTx/>
              <a:buChar char="–"/>
            </a:pPr>
            <a:r>
              <a:rPr lang="en-US" altLang="tr-TR" sz="2400"/>
              <a:t>Follow the chain until one object handles it</a:t>
            </a:r>
          </a:p>
        </p:txBody>
      </p:sp>
      <p:grpSp>
        <p:nvGrpSpPr>
          <p:cNvPr id="24581" name="Group 5">
            <a:extLst>
              <a:ext uri="{FF2B5EF4-FFF2-40B4-BE49-F238E27FC236}">
                <a16:creationId xmlns:a16="http://schemas.microsoft.com/office/drawing/2014/main" id="{88C4EA7A-FBF4-19E0-CCF8-6E8274D0B057}"/>
              </a:ext>
            </a:extLst>
          </p:cNvPr>
          <p:cNvGrpSpPr>
            <a:grpSpLocks/>
          </p:cNvGrpSpPr>
          <p:nvPr/>
        </p:nvGrpSpPr>
        <p:grpSpPr bwMode="auto">
          <a:xfrm>
            <a:off x="1524000" y="2362200"/>
            <a:ext cx="5334000" cy="2476500"/>
            <a:chOff x="960" y="1488"/>
            <a:chExt cx="3360" cy="1560"/>
          </a:xfrm>
        </p:grpSpPr>
        <p:sp>
          <p:nvSpPr>
            <p:cNvPr id="24582" name="Text Box 6">
              <a:extLst>
                <a:ext uri="{FF2B5EF4-FFF2-40B4-BE49-F238E27FC236}">
                  <a16:creationId xmlns:a16="http://schemas.microsoft.com/office/drawing/2014/main" id="{A3AA1072-E958-04F0-36FF-85AECD09E655}"/>
                </a:ext>
              </a:extLst>
            </p:cNvPr>
            <p:cNvSpPr txBox="1">
              <a:spLocks noChangeArrowheads="1"/>
            </p:cNvSpPr>
            <p:nvPr/>
          </p:nvSpPr>
          <p:spPr bwMode="auto">
            <a:xfrm>
              <a:off x="1443" y="1934"/>
              <a:ext cx="9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handleHelp()</a:t>
              </a:r>
            </a:p>
          </p:txBody>
        </p:sp>
        <p:sp>
          <p:nvSpPr>
            <p:cNvPr id="24583" name="Text Box 7">
              <a:extLst>
                <a:ext uri="{FF2B5EF4-FFF2-40B4-BE49-F238E27FC236}">
                  <a16:creationId xmlns:a16="http://schemas.microsoft.com/office/drawing/2014/main" id="{3138842D-C1B0-F9E9-15C5-67F2BFB25645}"/>
                </a:ext>
              </a:extLst>
            </p:cNvPr>
            <p:cNvSpPr txBox="1">
              <a:spLocks noChangeArrowheads="1"/>
            </p:cNvSpPr>
            <p:nvPr/>
          </p:nvSpPr>
          <p:spPr bwMode="auto">
            <a:xfrm>
              <a:off x="2776" y="2038"/>
              <a:ext cx="9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handleHelp()</a:t>
              </a:r>
            </a:p>
          </p:txBody>
        </p:sp>
        <p:sp>
          <p:nvSpPr>
            <p:cNvPr id="24584" name="Line 8">
              <a:extLst>
                <a:ext uri="{FF2B5EF4-FFF2-40B4-BE49-F238E27FC236}">
                  <a16:creationId xmlns:a16="http://schemas.microsoft.com/office/drawing/2014/main" id="{DB9DB7DA-3AC5-86B1-DA61-5187DE44930B}"/>
                </a:ext>
              </a:extLst>
            </p:cNvPr>
            <p:cNvSpPr>
              <a:spLocks noChangeShapeType="1"/>
            </p:cNvSpPr>
            <p:nvPr/>
          </p:nvSpPr>
          <p:spPr bwMode="auto">
            <a:xfrm flipH="1">
              <a:off x="1320" y="1695"/>
              <a:ext cx="3" cy="13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9">
              <a:extLst>
                <a:ext uri="{FF2B5EF4-FFF2-40B4-BE49-F238E27FC236}">
                  <a16:creationId xmlns:a16="http://schemas.microsoft.com/office/drawing/2014/main" id="{5C66F9A3-198D-4340-7D63-43E8E8D17F51}"/>
                </a:ext>
              </a:extLst>
            </p:cNvPr>
            <p:cNvSpPr>
              <a:spLocks noChangeShapeType="1"/>
            </p:cNvSpPr>
            <p:nvPr/>
          </p:nvSpPr>
          <p:spPr bwMode="auto">
            <a:xfrm>
              <a:off x="2595" y="1695"/>
              <a:ext cx="0" cy="1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Line 10">
              <a:extLst>
                <a:ext uri="{FF2B5EF4-FFF2-40B4-BE49-F238E27FC236}">
                  <a16:creationId xmlns:a16="http://schemas.microsoft.com/office/drawing/2014/main" id="{BA74B7C2-A2BC-88D5-F712-29D2AB875B73}"/>
                </a:ext>
              </a:extLst>
            </p:cNvPr>
            <p:cNvSpPr>
              <a:spLocks noChangeShapeType="1"/>
            </p:cNvSpPr>
            <p:nvPr/>
          </p:nvSpPr>
          <p:spPr bwMode="auto">
            <a:xfrm>
              <a:off x="3866" y="1695"/>
              <a:ext cx="0" cy="1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Rectangle 11">
              <a:extLst>
                <a:ext uri="{FF2B5EF4-FFF2-40B4-BE49-F238E27FC236}">
                  <a16:creationId xmlns:a16="http://schemas.microsoft.com/office/drawing/2014/main" id="{59A04D18-E2CF-D8E0-C732-D6A080C0B6D8}"/>
                </a:ext>
              </a:extLst>
            </p:cNvPr>
            <p:cNvSpPr>
              <a:spLocks noChangeArrowheads="1"/>
            </p:cNvSpPr>
            <p:nvPr/>
          </p:nvSpPr>
          <p:spPr bwMode="auto">
            <a:xfrm>
              <a:off x="1232" y="1937"/>
              <a:ext cx="182" cy="96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24588" name="Rectangle 12">
              <a:extLst>
                <a:ext uri="{FF2B5EF4-FFF2-40B4-BE49-F238E27FC236}">
                  <a16:creationId xmlns:a16="http://schemas.microsoft.com/office/drawing/2014/main" id="{3C59AE38-7053-E834-AD40-1D96B96D2213}"/>
                </a:ext>
              </a:extLst>
            </p:cNvPr>
            <p:cNvSpPr>
              <a:spLocks noChangeArrowheads="1"/>
            </p:cNvSpPr>
            <p:nvPr/>
          </p:nvSpPr>
          <p:spPr bwMode="auto">
            <a:xfrm>
              <a:off x="2504" y="2145"/>
              <a:ext cx="181" cy="62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24589" name="Rectangle 13">
              <a:extLst>
                <a:ext uri="{FF2B5EF4-FFF2-40B4-BE49-F238E27FC236}">
                  <a16:creationId xmlns:a16="http://schemas.microsoft.com/office/drawing/2014/main" id="{85D1BA74-E30D-9399-36D6-A0158C10C568}"/>
                </a:ext>
              </a:extLst>
            </p:cNvPr>
            <p:cNvSpPr>
              <a:spLocks noChangeArrowheads="1"/>
            </p:cNvSpPr>
            <p:nvPr/>
          </p:nvSpPr>
          <p:spPr bwMode="auto">
            <a:xfrm>
              <a:off x="3775" y="2214"/>
              <a:ext cx="182" cy="449"/>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24590" name="Line 14">
              <a:extLst>
                <a:ext uri="{FF2B5EF4-FFF2-40B4-BE49-F238E27FC236}">
                  <a16:creationId xmlns:a16="http://schemas.microsoft.com/office/drawing/2014/main" id="{17006023-EA4A-1BDC-F94D-1357CC29AD3C}"/>
                </a:ext>
              </a:extLst>
            </p:cNvPr>
            <p:cNvSpPr>
              <a:spLocks noChangeShapeType="1"/>
            </p:cNvSpPr>
            <p:nvPr/>
          </p:nvSpPr>
          <p:spPr bwMode="auto">
            <a:xfrm>
              <a:off x="1414" y="2179"/>
              <a:ext cx="109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4591" name="Line 15">
              <a:extLst>
                <a:ext uri="{FF2B5EF4-FFF2-40B4-BE49-F238E27FC236}">
                  <a16:creationId xmlns:a16="http://schemas.microsoft.com/office/drawing/2014/main" id="{B85AA2E0-2C77-5EAC-BB94-0EDF6AAB5316}"/>
                </a:ext>
              </a:extLst>
            </p:cNvPr>
            <p:cNvSpPr>
              <a:spLocks noChangeShapeType="1"/>
            </p:cNvSpPr>
            <p:nvPr/>
          </p:nvSpPr>
          <p:spPr bwMode="auto">
            <a:xfrm>
              <a:off x="2685" y="2283"/>
              <a:ext cx="109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4592" name="Rectangle 16">
              <a:extLst>
                <a:ext uri="{FF2B5EF4-FFF2-40B4-BE49-F238E27FC236}">
                  <a16:creationId xmlns:a16="http://schemas.microsoft.com/office/drawing/2014/main" id="{EE36AC6F-A018-757B-B7A1-A9AA1459BDFD}"/>
                </a:ext>
              </a:extLst>
            </p:cNvPr>
            <p:cNvSpPr>
              <a:spLocks noChangeArrowheads="1"/>
            </p:cNvSpPr>
            <p:nvPr/>
          </p:nvSpPr>
          <p:spPr bwMode="auto">
            <a:xfrm>
              <a:off x="960" y="1488"/>
              <a:ext cx="726" cy="24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:Button</a:t>
              </a:r>
            </a:p>
          </p:txBody>
        </p:sp>
        <p:sp>
          <p:nvSpPr>
            <p:cNvPr id="24593" name="Rectangle 17">
              <a:extLst>
                <a:ext uri="{FF2B5EF4-FFF2-40B4-BE49-F238E27FC236}">
                  <a16:creationId xmlns:a16="http://schemas.microsoft.com/office/drawing/2014/main" id="{94A90746-B0FD-812A-646A-610345BD501F}"/>
                </a:ext>
              </a:extLst>
            </p:cNvPr>
            <p:cNvSpPr>
              <a:spLocks noChangeArrowheads="1"/>
            </p:cNvSpPr>
            <p:nvPr/>
          </p:nvSpPr>
          <p:spPr bwMode="auto">
            <a:xfrm>
              <a:off x="2277" y="1488"/>
              <a:ext cx="635" cy="25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:Dialog</a:t>
              </a:r>
            </a:p>
          </p:txBody>
        </p:sp>
        <p:sp>
          <p:nvSpPr>
            <p:cNvPr id="24594" name="Rectangle 18">
              <a:extLst>
                <a:ext uri="{FF2B5EF4-FFF2-40B4-BE49-F238E27FC236}">
                  <a16:creationId xmlns:a16="http://schemas.microsoft.com/office/drawing/2014/main" id="{0375B668-93BE-E6C5-2C52-7DDACF6FB756}"/>
                </a:ext>
              </a:extLst>
            </p:cNvPr>
            <p:cNvSpPr>
              <a:spLocks noChangeArrowheads="1"/>
            </p:cNvSpPr>
            <p:nvPr/>
          </p:nvSpPr>
          <p:spPr bwMode="auto">
            <a:xfrm>
              <a:off x="3457" y="1488"/>
              <a:ext cx="863" cy="24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:Application</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59A16B-03B1-2C43-77F9-46237ABF0A2D}"/>
              </a:ext>
            </a:extLst>
          </p:cNvPr>
          <p:cNvSpPr>
            <a:spLocks noGrp="1"/>
          </p:cNvSpPr>
          <p:nvPr>
            <p:ph type="title"/>
          </p:nvPr>
        </p:nvSpPr>
        <p:spPr/>
        <p:txBody>
          <a:bodyPr/>
          <a:lstStyle/>
          <a:p>
            <a:r>
              <a:rPr lang="en-US" dirty="0"/>
              <a:t>Abstract Handler</a:t>
            </a:r>
          </a:p>
        </p:txBody>
      </p:sp>
      <p:pic>
        <p:nvPicPr>
          <p:cNvPr id="8" name="Picture 7">
            <a:extLst>
              <a:ext uri="{FF2B5EF4-FFF2-40B4-BE49-F238E27FC236}">
                <a16:creationId xmlns:a16="http://schemas.microsoft.com/office/drawing/2014/main" id="{7B9BC31D-A73D-3498-6116-BF96AA8AFC73}"/>
              </a:ext>
            </a:extLst>
          </p:cNvPr>
          <p:cNvPicPr>
            <a:picLocks noChangeAspect="1"/>
          </p:cNvPicPr>
          <p:nvPr/>
        </p:nvPicPr>
        <p:blipFill>
          <a:blip r:embed="rId2"/>
          <a:stretch>
            <a:fillRect/>
          </a:stretch>
        </p:blipFill>
        <p:spPr>
          <a:xfrm>
            <a:off x="147731" y="1253432"/>
            <a:ext cx="6449325" cy="3191320"/>
          </a:xfrm>
          <a:prstGeom prst="rect">
            <a:avLst/>
          </a:prstGeom>
        </p:spPr>
      </p:pic>
      <p:pic>
        <p:nvPicPr>
          <p:cNvPr id="10" name="Picture 9">
            <a:extLst>
              <a:ext uri="{FF2B5EF4-FFF2-40B4-BE49-F238E27FC236}">
                <a16:creationId xmlns:a16="http://schemas.microsoft.com/office/drawing/2014/main" id="{911D1217-198C-ADDC-B7CD-5ABD7E14A263}"/>
              </a:ext>
            </a:extLst>
          </p:cNvPr>
          <p:cNvPicPr>
            <a:picLocks noChangeAspect="1"/>
          </p:cNvPicPr>
          <p:nvPr/>
        </p:nvPicPr>
        <p:blipFill>
          <a:blip r:embed="rId3"/>
          <a:stretch>
            <a:fillRect/>
          </a:stretch>
        </p:blipFill>
        <p:spPr>
          <a:xfrm>
            <a:off x="4790630" y="3683259"/>
            <a:ext cx="4096322" cy="3115110"/>
          </a:xfrm>
          <a:prstGeom prst="rect">
            <a:avLst/>
          </a:prstGeom>
        </p:spPr>
      </p:pic>
      <p:sp>
        <p:nvSpPr>
          <p:cNvPr id="11" name="TextBox 10">
            <a:extLst>
              <a:ext uri="{FF2B5EF4-FFF2-40B4-BE49-F238E27FC236}">
                <a16:creationId xmlns:a16="http://schemas.microsoft.com/office/drawing/2014/main" id="{B0EB9ED4-FD9E-DDBB-FA9F-D7C36FC3EF24}"/>
              </a:ext>
            </a:extLst>
          </p:cNvPr>
          <p:cNvSpPr txBox="1"/>
          <p:nvPr/>
        </p:nvSpPr>
        <p:spPr>
          <a:xfrm>
            <a:off x="147732" y="4761244"/>
            <a:ext cx="3992468" cy="1477328"/>
          </a:xfrm>
          <a:prstGeom prst="rect">
            <a:avLst/>
          </a:prstGeom>
          <a:noFill/>
        </p:spPr>
        <p:txBody>
          <a:bodyPr wrap="square" rtlCol="0">
            <a:spAutoFit/>
          </a:bodyPr>
          <a:lstStyle/>
          <a:p>
            <a:pPr marL="285750" indent="-285750">
              <a:buFont typeface="Wingdings" panose="05000000000000000000" pitchFamily="2" charset="2"/>
              <a:buChar char="q"/>
            </a:pPr>
            <a:r>
              <a:rPr lang="en-US" dirty="0"/>
              <a:t>Subclasses override </a:t>
            </a:r>
            <a:r>
              <a:rPr lang="en-US" dirty="0" err="1"/>
              <a:t>HandleHelp</a:t>
            </a:r>
            <a:r>
              <a:rPr lang="en-US" dirty="0"/>
              <a:t>().</a:t>
            </a:r>
          </a:p>
          <a:p>
            <a:pPr marL="285750" indent="-285750">
              <a:buFont typeface="Wingdings" panose="05000000000000000000" pitchFamily="2" charset="2"/>
              <a:buChar char="q"/>
            </a:pPr>
            <a:r>
              <a:rPr lang="en-US" dirty="0" err="1"/>
              <a:t>HasHelp</a:t>
            </a:r>
            <a:r>
              <a:rPr lang="en-US" dirty="0"/>
              <a:t> is a convenience operation for checking whether there is an associated help topic.</a:t>
            </a:r>
          </a:p>
        </p:txBody>
      </p:sp>
      <p:sp>
        <p:nvSpPr>
          <p:cNvPr id="13" name="TextBox 12">
            <a:extLst>
              <a:ext uri="{FF2B5EF4-FFF2-40B4-BE49-F238E27FC236}">
                <a16:creationId xmlns:a16="http://schemas.microsoft.com/office/drawing/2014/main" id="{0354D318-7EF0-4196-21D4-13CC434B0DFC}"/>
              </a:ext>
            </a:extLst>
          </p:cNvPr>
          <p:cNvSpPr txBox="1"/>
          <p:nvPr/>
        </p:nvSpPr>
        <p:spPr>
          <a:xfrm>
            <a:off x="4626656" y="1253432"/>
            <a:ext cx="4424269" cy="923330"/>
          </a:xfrm>
          <a:prstGeom prst="rect">
            <a:avLst/>
          </a:prstGeom>
          <a:noFill/>
        </p:spPr>
        <p:txBody>
          <a:bodyPr wrap="square" rtlCol="0">
            <a:spAutoFit/>
          </a:bodyPr>
          <a:lstStyle/>
          <a:p>
            <a:pPr marL="285750" indent="-285750">
              <a:buFont typeface="Wingdings" panose="05000000000000000000" pitchFamily="2" charset="2"/>
              <a:buChar char="q"/>
            </a:pPr>
            <a:r>
              <a:rPr lang="en-US" dirty="0"/>
              <a:t>Defines interface for handling help request.</a:t>
            </a:r>
          </a:p>
          <a:p>
            <a:pPr marL="285750" indent="-285750">
              <a:buFont typeface="Wingdings" panose="05000000000000000000" pitchFamily="2" charset="2"/>
              <a:buChar char="q"/>
            </a:pPr>
            <a:r>
              <a:rPr lang="en-US" dirty="0"/>
              <a:t>Initially help topic is empty (-1).</a:t>
            </a:r>
          </a:p>
        </p:txBody>
      </p:sp>
    </p:spTree>
    <p:extLst>
      <p:ext uri="{BB962C8B-B14F-4D97-AF65-F5344CB8AC3E}">
        <p14:creationId xmlns:p14="http://schemas.microsoft.com/office/powerpoint/2010/main" val="2832944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32426-98D8-DC84-6C32-A5BD0905FF9E}"/>
              </a:ext>
            </a:extLst>
          </p:cNvPr>
          <p:cNvSpPr>
            <a:spLocks noGrp="1"/>
          </p:cNvSpPr>
          <p:nvPr>
            <p:ph type="title"/>
          </p:nvPr>
        </p:nvSpPr>
        <p:spPr/>
        <p:txBody>
          <a:bodyPr/>
          <a:lstStyle/>
          <a:p>
            <a:r>
              <a:rPr lang="en-US" dirty="0"/>
              <a:t> Handler Widget</a:t>
            </a:r>
          </a:p>
        </p:txBody>
      </p:sp>
      <p:sp>
        <p:nvSpPr>
          <p:cNvPr id="11" name="Content Placeholder 10">
            <a:extLst>
              <a:ext uri="{FF2B5EF4-FFF2-40B4-BE49-F238E27FC236}">
                <a16:creationId xmlns:a16="http://schemas.microsoft.com/office/drawing/2014/main" id="{F3DD94D3-1AE6-B8D2-C237-A72C8C791855}"/>
              </a:ext>
            </a:extLst>
          </p:cNvPr>
          <p:cNvSpPr>
            <a:spLocks noGrp="1"/>
          </p:cNvSpPr>
          <p:nvPr>
            <p:ph idx="1"/>
          </p:nvPr>
        </p:nvSpPr>
        <p:spPr>
          <a:xfrm>
            <a:off x="457200" y="1335292"/>
            <a:ext cx="8229600" cy="1938892"/>
          </a:xfrm>
        </p:spPr>
        <p:txBody>
          <a:bodyPr/>
          <a:lstStyle/>
          <a:p>
            <a:pPr marL="0" indent="0">
              <a:buNone/>
            </a:pPr>
            <a:r>
              <a:rPr lang="en-US" sz="2000" dirty="0">
                <a:latin typeface="Source Sans Pro" panose="020B0503030403020204" pitchFamily="34" charset="0"/>
                <a:ea typeface="Source Sans Pro" panose="020B0503030403020204" pitchFamily="34" charset="0"/>
              </a:rPr>
              <a:t>  class </a:t>
            </a:r>
            <a:r>
              <a:rPr lang="en-US" sz="2000" dirty="0">
                <a:solidFill>
                  <a:srgbClr val="0070C0"/>
                </a:solidFill>
                <a:latin typeface="Source Sans Pro" panose="020B0503030403020204" pitchFamily="34" charset="0"/>
                <a:ea typeface="Source Sans Pro" panose="020B0503030403020204" pitchFamily="34" charset="0"/>
              </a:rPr>
              <a:t>Widget</a:t>
            </a:r>
            <a:r>
              <a:rPr lang="en-US" sz="2000" dirty="0">
                <a:latin typeface="Source Sans Pro" panose="020B0503030403020204" pitchFamily="34" charset="0"/>
                <a:ea typeface="Source Sans Pro" panose="020B0503030403020204" pitchFamily="34" charset="0"/>
              </a:rPr>
              <a:t> : public </a:t>
            </a:r>
            <a:r>
              <a:rPr lang="en-US" sz="2000" dirty="0" err="1">
                <a:solidFill>
                  <a:srgbClr val="0070C0"/>
                </a:solidFill>
                <a:latin typeface="Source Sans Pro" panose="020B0503030403020204" pitchFamily="34" charset="0"/>
                <a:ea typeface="Source Sans Pro" panose="020B0503030403020204" pitchFamily="34" charset="0"/>
              </a:rPr>
              <a:t>HelpHandler</a:t>
            </a: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protected:   Widget(Widget* parent, Topic t = NO_HELP_TOPIC);</a:t>
            </a:r>
          </a:p>
          <a:p>
            <a:pPr marL="0" indent="0">
              <a:buNone/>
            </a:pPr>
            <a:r>
              <a:rPr lang="en-US" sz="2000" dirty="0">
                <a:latin typeface="Source Sans Pro" panose="020B0503030403020204" pitchFamily="34" charset="0"/>
                <a:ea typeface="Source Sans Pro" panose="020B0503030403020204" pitchFamily="34" charset="0"/>
              </a:rPr>
              <a:t>    private:   Widget* _parent;</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Widget::Widget (Widget* w, Topic t) : </a:t>
            </a:r>
            <a:r>
              <a:rPr lang="en-US" sz="2000" dirty="0" err="1">
                <a:latin typeface="Source Sans Pro" panose="020B0503030403020204" pitchFamily="34" charset="0"/>
                <a:ea typeface="Source Sans Pro" panose="020B0503030403020204" pitchFamily="34" charset="0"/>
              </a:rPr>
              <a:t>HelpHandler</a:t>
            </a:r>
            <a:r>
              <a:rPr lang="en-US" sz="2000" dirty="0">
                <a:latin typeface="Source Sans Pro" panose="020B0503030403020204" pitchFamily="34" charset="0"/>
                <a:ea typeface="Source Sans Pro" panose="020B0503030403020204" pitchFamily="34" charset="0"/>
              </a:rPr>
              <a:t>(w, t) { _parent = w;}</a:t>
            </a:r>
          </a:p>
          <a:p>
            <a:pPr marL="0" indent="0">
              <a:buNone/>
            </a:pPr>
            <a:endParaRPr lang="en-US" sz="2000" dirty="0">
              <a:latin typeface="Source Sans Pro" panose="020B0503030403020204" pitchFamily="34" charset="0"/>
              <a:ea typeface="Source Sans Pro" panose="020B0503030403020204" pitchFamily="34" charset="0"/>
            </a:endParaRPr>
          </a:p>
        </p:txBody>
      </p:sp>
      <p:pic>
        <p:nvPicPr>
          <p:cNvPr id="3" name="Picture 2">
            <a:extLst>
              <a:ext uri="{FF2B5EF4-FFF2-40B4-BE49-F238E27FC236}">
                <a16:creationId xmlns:a16="http://schemas.microsoft.com/office/drawing/2014/main" id="{F6DCD205-BD4A-11FA-C4F3-3204453D1E3D}"/>
              </a:ext>
            </a:extLst>
          </p:cNvPr>
          <p:cNvPicPr>
            <a:picLocks noChangeAspect="1"/>
          </p:cNvPicPr>
          <p:nvPr/>
        </p:nvPicPr>
        <p:blipFill>
          <a:blip r:embed="rId2"/>
          <a:stretch>
            <a:fillRect/>
          </a:stretch>
        </p:blipFill>
        <p:spPr>
          <a:xfrm>
            <a:off x="651933" y="3258149"/>
            <a:ext cx="5792008" cy="1752845"/>
          </a:xfrm>
          <a:prstGeom prst="rect">
            <a:avLst/>
          </a:prstGeom>
        </p:spPr>
      </p:pic>
      <p:pic>
        <p:nvPicPr>
          <p:cNvPr id="4" name="Picture 3">
            <a:extLst>
              <a:ext uri="{FF2B5EF4-FFF2-40B4-BE49-F238E27FC236}">
                <a16:creationId xmlns:a16="http://schemas.microsoft.com/office/drawing/2014/main" id="{777D7F35-2BC5-2C1E-EE64-1C4071EFBA18}"/>
              </a:ext>
            </a:extLst>
          </p:cNvPr>
          <p:cNvPicPr>
            <a:picLocks noChangeAspect="1"/>
          </p:cNvPicPr>
          <p:nvPr/>
        </p:nvPicPr>
        <p:blipFill>
          <a:blip r:embed="rId3"/>
          <a:stretch>
            <a:fillRect/>
          </a:stretch>
        </p:blipFill>
        <p:spPr>
          <a:xfrm>
            <a:off x="736599" y="4983171"/>
            <a:ext cx="6049219" cy="349814"/>
          </a:xfrm>
          <a:prstGeom prst="rect">
            <a:avLst/>
          </a:prstGeom>
        </p:spPr>
      </p:pic>
      <p:pic>
        <p:nvPicPr>
          <p:cNvPr id="5" name="Picture 4">
            <a:extLst>
              <a:ext uri="{FF2B5EF4-FFF2-40B4-BE49-F238E27FC236}">
                <a16:creationId xmlns:a16="http://schemas.microsoft.com/office/drawing/2014/main" id="{002890B8-6AB2-6AA7-549A-1B60F592974B}"/>
              </a:ext>
            </a:extLst>
          </p:cNvPr>
          <p:cNvPicPr>
            <a:picLocks noChangeAspect="1"/>
          </p:cNvPicPr>
          <p:nvPr/>
        </p:nvPicPr>
        <p:blipFill>
          <a:blip r:embed="rId4"/>
          <a:stretch>
            <a:fillRect/>
          </a:stretch>
        </p:blipFill>
        <p:spPr>
          <a:xfrm>
            <a:off x="651933" y="5305161"/>
            <a:ext cx="4239217" cy="1552839"/>
          </a:xfrm>
          <a:prstGeom prst="rect">
            <a:avLst/>
          </a:prstGeom>
        </p:spPr>
      </p:pic>
    </p:spTree>
    <p:extLst>
      <p:ext uri="{BB962C8B-B14F-4D97-AF65-F5344CB8AC3E}">
        <p14:creationId xmlns:p14="http://schemas.microsoft.com/office/powerpoint/2010/main" val="2824205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5600-6268-933F-F00A-D36A34D4DF4E}"/>
              </a:ext>
            </a:extLst>
          </p:cNvPr>
          <p:cNvSpPr>
            <a:spLocks noGrp="1"/>
          </p:cNvSpPr>
          <p:nvPr>
            <p:ph type="title"/>
          </p:nvPr>
        </p:nvSpPr>
        <p:spPr/>
        <p:txBody>
          <a:bodyPr/>
          <a:lstStyle/>
          <a:p>
            <a:r>
              <a:rPr lang="en-US" dirty="0"/>
              <a:t>Concrete Handlers</a:t>
            </a:r>
          </a:p>
        </p:txBody>
      </p:sp>
      <p:pic>
        <p:nvPicPr>
          <p:cNvPr id="6" name="Picture 5">
            <a:extLst>
              <a:ext uri="{FF2B5EF4-FFF2-40B4-BE49-F238E27FC236}">
                <a16:creationId xmlns:a16="http://schemas.microsoft.com/office/drawing/2014/main" id="{D225E297-2D68-F1AB-15E5-88E9DB23A9F7}"/>
              </a:ext>
            </a:extLst>
          </p:cNvPr>
          <p:cNvPicPr>
            <a:picLocks noChangeAspect="1"/>
          </p:cNvPicPr>
          <p:nvPr/>
        </p:nvPicPr>
        <p:blipFill>
          <a:blip r:embed="rId2"/>
          <a:stretch>
            <a:fillRect/>
          </a:stretch>
        </p:blipFill>
        <p:spPr>
          <a:xfrm>
            <a:off x="524646" y="1221420"/>
            <a:ext cx="4115374" cy="1790950"/>
          </a:xfrm>
          <a:prstGeom prst="rect">
            <a:avLst/>
          </a:prstGeom>
        </p:spPr>
      </p:pic>
      <p:pic>
        <p:nvPicPr>
          <p:cNvPr id="8" name="Picture 7">
            <a:extLst>
              <a:ext uri="{FF2B5EF4-FFF2-40B4-BE49-F238E27FC236}">
                <a16:creationId xmlns:a16="http://schemas.microsoft.com/office/drawing/2014/main" id="{8BFE0F8C-4B2A-55B0-3D34-05BAB0326D27}"/>
              </a:ext>
            </a:extLst>
          </p:cNvPr>
          <p:cNvPicPr>
            <a:picLocks noChangeAspect="1"/>
          </p:cNvPicPr>
          <p:nvPr/>
        </p:nvPicPr>
        <p:blipFill>
          <a:blip r:embed="rId3"/>
          <a:stretch>
            <a:fillRect/>
          </a:stretch>
        </p:blipFill>
        <p:spPr>
          <a:xfrm>
            <a:off x="304416" y="3794815"/>
            <a:ext cx="5487166" cy="2762636"/>
          </a:xfrm>
          <a:prstGeom prst="rect">
            <a:avLst/>
          </a:prstGeom>
        </p:spPr>
      </p:pic>
      <p:pic>
        <p:nvPicPr>
          <p:cNvPr id="4" name="Picture 3">
            <a:extLst>
              <a:ext uri="{FF2B5EF4-FFF2-40B4-BE49-F238E27FC236}">
                <a16:creationId xmlns:a16="http://schemas.microsoft.com/office/drawing/2014/main" id="{1C1E6529-5C66-4C92-3C98-241DA7C870C8}"/>
              </a:ext>
            </a:extLst>
          </p:cNvPr>
          <p:cNvPicPr>
            <a:picLocks noChangeAspect="1"/>
          </p:cNvPicPr>
          <p:nvPr/>
        </p:nvPicPr>
        <p:blipFill>
          <a:blip r:embed="rId4"/>
          <a:stretch>
            <a:fillRect/>
          </a:stretch>
        </p:blipFill>
        <p:spPr>
          <a:xfrm>
            <a:off x="389466" y="2960734"/>
            <a:ext cx="6373114" cy="685896"/>
          </a:xfrm>
          <a:prstGeom prst="rect">
            <a:avLst/>
          </a:prstGeom>
        </p:spPr>
      </p:pic>
      <p:sp>
        <p:nvSpPr>
          <p:cNvPr id="9" name="TextBox 8">
            <a:extLst>
              <a:ext uri="{FF2B5EF4-FFF2-40B4-BE49-F238E27FC236}">
                <a16:creationId xmlns:a16="http://schemas.microsoft.com/office/drawing/2014/main" id="{F214FFDE-3389-256A-FFC1-4F816DB4B416}"/>
              </a:ext>
            </a:extLst>
          </p:cNvPr>
          <p:cNvSpPr txBox="1"/>
          <p:nvPr/>
        </p:nvSpPr>
        <p:spPr>
          <a:xfrm>
            <a:off x="6053669" y="3775378"/>
            <a:ext cx="2980266" cy="2585323"/>
          </a:xfrm>
          <a:prstGeom prst="rect">
            <a:avLst/>
          </a:prstGeom>
          <a:noFill/>
        </p:spPr>
        <p:txBody>
          <a:bodyPr wrap="square" rtlCol="0">
            <a:spAutoFit/>
          </a:bodyPr>
          <a:lstStyle/>
          <a:p>
            <a:r>
              <a:rPr lang="en-US" dirty="0"/>
              <a:t>Application is not a Widget,  but a </a:t>
            </a:r>
            <a:r>
              <a:rPr lang="en-US" dirty="0" err="1"/>
              <a:t>HelpHandler</a:t>
            </a:r>
            <a:r>
              <a:rPr lang="en-US" dirty="0"/>
              <a:t>. </a:t>
            </a:r>
          </a:p>
          <a:p>
            <a:r>
              <a:rPr lang="en-US" dirty="0"/>
              <a:t>When a help request propagates to this level, the application can supply information on the application in general, or it can offer a list of different help topics:</a:t>
            </a:r>
          </a:p>
        </p:txBody>
      </p:sp>
      <p:sp>
        <p:nvSpPr>
          <p:cNvPr id="13" name="TextBox 12">
            <a:extLst>
              <a:ext uri="{FF2B5EF4-FFF2-40B4-BE49-F238E27FC236}">
                <a16:creationId xmlns:a16="http://schemas.microsoft.com/office/drawing/2014/main" id="{9CFB0725-EB25-8522-2CFF-EABD4AF2D8EB}"/>
              </a:ext>
            </a:extLst>
          </p:cNvPr>
          <p:cNvSpPr txBox="1"/>
          <p:nvPr/>
        </p:nvSpPr>
        <p:spPr>
          <a:xfrm>
            <a:off x="6239934" y="1221420"/>
            <a:ext cx="2641600" cy="923330"/>
          </a:xfrm>
          <a:prstGeom prst="rect">
            <a:avLst/>
          </a:prstGeom>
          <a:noFill/>
        </p:spPr>
        <p:txBody>
          <a:bodyPr wrap="square" rtlCol="0">
            <a:spAutoFit/>
          </a:bodyPr>
          <a:lstStyle/>
          <a:p>
            <a:r>
              <a:rPr lang="en-US" dirty="0"/>
              <a:t>Dialog will be the root.</a:t>
            </a:r>
          </a:p>
          <a:p>
            <a:r>
              <a:rPr lang="en-US" dirty="0"/>
              <a:t>Its next handler will be the Application</a:t>
            </a:r>
          </a:p>
        </p:txBody>
      </p:sp>
    </p:spTree>
    <p:extLst>
      <p:ext uri="{BB962C8B-B14F-4D97-AF65-F5344CB8AC3E}">
        <p14:creationId xmlns:p14="http://schemas.microsoft.com/office/powerpoint/2010/main" val="1706744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9392B-CE7D-8A69-BB8A-2F66C0A5B976}"/>
              </a:ext>
            </a:extLst>
          </p:cNvPr>
          <p:cNvSpPr>
            <a:spLocks noGrp="1"/>
          </p:cNvSpPr>
          <p:nvPr>
            <p:ph type="title"/>
          </p:nvPr>
        </p:nvSpPr>
        <p:spPr/>
        <p:txBody>
          <a:bodyPr/>
          <a:lstStyle/>
          <a:p>
            <a:r>
              <a:rPr lang="en-US" dirty="0"/>
              <a:t>Setting up</a:t>
            </a:r>
          </a:p>
        </p:txBody>
      </p:sp>
      <p:sp>
        <p:nvSpPr>
          <p:cNvPr id="3" name="Content Placeholder 2">
            <a:extLst>
              <a:ext uri="{FF2B5EF4-FFF2-40B4-BE49-F238E27FC236}">
                <a16:creationId xmlns:a16="http://schemas.microsoft.com/office/drawing/2014/main" id="{C7C94024-F57F-2188-7E8A-5B0B713C7672}"/>
              </a:ext>
            </a:extLst>
          </p:cNvPr>
          <p:cNvSpPr>
            <a:spLocks noGrp="1"/>
          </p:cNvSpPr>
          <p:nvPr>
            <p:ph idx="1"/>
          </p:nvPr>
        </p:nvSpPr>
        <p:spPr/>
        <p:txBody>
          <a:bodyPr/>
          <a:lstStyle/>
          <a:p>
            <a:pPr marL="0" indent="0">
              <a:buNone/>
            </a:pPr>
            <a:r>
              <a:rPr lang="en-US" sz="2000" dirty="0">
                <a:latin typeface="Source Sans Pro" panose="020B0503030403020204" pitchFamily="34" charset="0"/>
                <a:ea typeface="Source Sans Pro" panose="020B0503030403020204" pitchFamily="34" charset="0"/>
              </a:rPr>
              <a:t>const Topic PRINT_TOPIC = 1;</a:t>
            </a:r>
          </a:p>
          <a:p>
            <a:pPr marL="0" indent="0">
              <a:buNone/>
            </a:pPr>
            <a:r>
              <a:rPr lang="en-US" sz="2000" dirty="0">
                <a:latin typeface="Source Sans Pro" panose="020B0503030403020204" pitchFamily="34" charset="0"/>
                <a:ea typeface="Source Sans Pro" panose="020B0503030403020204" pitchFamily="34" charset="0"/>
              </a:rPr>
              <a:t>const Topic PAPER_ORIENTATION_TOPIC = 2;</a:t>
            </a:r>
          </a:p>
          <a:p>
            <a:pPr marL="0" indent="0">
              <a:buNone/>
            </a:pPr>
            <a:r>
              <a:rPr lang="en-US" sz="2000" dirty="0">
                <a:latin typeface="Source Sans Pro" panose="020B0503030403020204" pitchFamily="34" charset="0"/>
                <a:ea typeface="Source Sans Pro" panose="020B0503030403020204" pitchFamily="34" charset="0"/>
              </a:rPr>
              <a:t>const Topic APPLICATION_TOPIC = 3;</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Application* application = new Application(APPLICATION_TOPIC);</a:t>
            </a:r>
          </a:p>
          <a:p>
            <a:pPr marL="0" indent="0">
              <a:buNone/>
            </a:pPr>
            <a:r>
              <a:rPr lang="en-US" sz="2000" dirty="0">
                <a:latin typeface="Source Sans Pro" panose="020B0503030403020204" pitchFamily="34" charset="0"/>
                <a:ea typeface="Source Sans Pro" panose="020B0503030403020204" pitchFamily="34" charset="0"/>
              </a:rPr>
              <a:t>Dialog* dialog = new Dialog(application, PRINT_TOPIC);</a:t>
            </a:r>
          </a:p>
          <a:p>
            <a:pPr marL="0" indent="0">
              <a:buNone/>
            </a:pPr>
            <a:r>
              <a:rPr lang="en-US" sz="2000" dirty="0">
                <a:latin typeface="Source Sans Pro" panose="020B0503030403020204" pitchFamily="34" charset="0"/>
                <a:ea typeface="Source Sans Pro" panose="020B0503030403020204" pitchFamily="34" charset="0"/>
              </a:rPr>
              <a:t>Button* button = new Button(dialog, PAPER_ORIENTATION_TOPIC);</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button-&gt;</a:t>
            </a:r>
            <a:r>
              <a:rPr lang="en-US" sz="2000" dirty="0" err="1">
                <a:latin typeface="Source Sans Pro" panose="020B0503030403020204" pitchFamily="34" charset="0"/>
                <a:ea typeface="Source Sans Pro" panose="020B0503030403020204" pitchFamily="34" charset="0"/>
              </a:rPr>
              <a:t>HandleHelp</a:t>
            </a:r>
            <a:r>
              <a:rPr lang="en-US" sz="2000" dirty="0">
                <a:latin typeface="Source Sans Pro" panose="020B0503030403020204" pitchFamily="34" charset="0"/>
                <a:ea typeface="Source Sans Pro" panose="020B0503030403020204" pitchFamily="34" charset="0"/>
              </a:rPr>
              <a:t>();</a:t>
            </a:r>
          </a:p>
          <a:p>
            <a:pPr marL="0" indent="0">
              <a:buNone/>
            </a:pPr>
            <a:endParaRPr lang="en-US" sz="20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369877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E7F1B6FC-A360-FF00-5A99-87A47DE2EE09}"/>
              </a:ext>
            </a:extLst>
          </p:cNvPr>
          <p:cNvSpPr>
            <a:spLocks noGrp="1" noChangeArrowheads="1"/>
          </p:cNvSpPr>
          <p:nvPr>
            <p:ph type="title"/>
          </p:nvPr>
        </p:nvSpPr>
        <p:spPr>
          <a:xfrm>
            <a:off x="457200" y="139700"/>
            <a:ext cx="8229600" cy="1371600"/>
          </a:xfrm>
        </p:spPr>
        <p:txBody>
          <a:bodyPr/>
          <a:lstStyle/>
          <a:p>
            <a:r>
              <a:rPr lang="en-US" altLang="tr-TR" dirty="0"/>
              <a:t>Key points</a:t>
            </a:r>
            <a:endParaRPr lang="tr-TR" altLang="tr-TR" dirty="0"/>
          </a:p>
        </p:txBody>
      </p:sp>
      <p:sp>
        <p:nvSpPr>
          <p:cNvPr id="3" name="Content Placeholder 2">
            <a:extLst>
              <a:ext uri="{FF2B5EF4-FFF2-40B4-BE49-F238E27FC236}">
                <a16:creationId xmlns:a16="http://schemas.microsoft.com/office/drawing/2014/main" id="{E61A0194-80F1-D74A-B9DF-1D8C6D0A7EF8}"/>
              </a:ext>
            </a:extLst>
          </p:cNvPr>
          <p:cNvSpPr>
            <a:spLocks noGrp="1"/>
          </p:cNvSpPr>
          <p:nvPr>
            <p:ph idx="1"/>
          </p:nvPr>
        </p:nvSpPr>
        <p:spPr>
          <a:xfrm>
            <a:off x="457200" y="1335088"/>
            <a:ext cx="8229600" cy="4532312"/>
          </a:xfrm>
        </p:spPr>
        <p:txBody>
          <a:bodyPr/>
          <a:lstStyle/>
          <a:p>
            <a:pPr>
              <a:defRPr/>
            </a:pPr>
            <a:r>
              <a:rPr lang="en-US" sz="2400" dirty="0"/>
              <a:t>The base Handler class maintains a “successor"</a:t>
            </a:r>
          </a:p>
          <a:p>
            <a:pPr>
              <a:defRPr/>
            </a:pPr>
            <a:r>
              <a:rPr lang="en-US" sz="2400" dirty="0"/>
              <a:t>Each derived class implements its contribution for handling the request.</a:t>
            </a:r>
          </a:p>
          <a:p>
            <a:pPr>
              <a:defRPr/>
            </a:pPr>
            <a:r>
              <a:rPr lang="en-US" sz="2400" dirty="0"/>
              <a:t>If the request needs to be "passed on", then the derived class "calls back" to the base class, which delegates to the “successor"</a:t>
            </a:r>
          </a:p>
          <a:p>
            <a:pPr>
              <a:defRPr/>
            </a:pPr>
            <a:r>
              <a:rPr lang="en-US" sz="2400" dirty="0"/>
              <a:t>The client (or some third party) creates and links the chain</a:t>
            </a:r>
          </a:p>
          <a:p>
            <a:pPr>
              <a:defRPr/>
            </a:pPr>
            <a:r>
              <a:rPr lang="en-US" sz="2400" dirty="0"/>
              <a:t>The client "launches and leaves" each request with the root of the chain. </a:t>
            </a:r>
          </a:p>
          <a:p>
            <a:pPr lvl="1">
              <a:defRPr/>
            </a:pPr>
            <a:r>
              <a:rPr lang="en-US" sz="2000" dirty="0" err="1"/>
              <a:t>chain.sort</a:t>
            </a:r>
            <a:r>
              <a:rPr lang="en-US" sz="2000" dirty="0"/>
              <a:t>(e);  in the email example</a:t>
            </a:r>
          </a:p>
          <a:p>
            <a:pPr>
              <a:defRPr/>
            </a:pPr>
            <a:r>
              <a:rPr lang="en-US" sz="2400" dirty="0"/>
              <a:t>Recursive delegation produces the illusion of magic.</a:t>
            </a:r>
          </a:p>
          <a:p>
            <a:pPr marL="0" indent="0">
              <a:buFontTx/>
              <a:buNone/>
              <a:defRPr/>
            </a:pPr>
            <a:endParaRPr lang="tr-TR"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B82AD-EEEC-0A1A-41D5-D144898D72F4}"/>
              </a:ext>
            </a:extLst>
          </p:cNvPr>
          <p:cNvSpPr>
            <a:spLocks noGrp="1"/>
          </p:cNvSpPr>
          <p:nvPr>
            <p:ph type="title"/>
          </p:nvPr>
        </p:nvSpPr>
        <p:spPr/>
        <p:txBody>
          <a:bodyPr/>
          <a:lstStyle/>
          <a:p>
            <a:r>
              <a:rPr lang="en-US" dirty="0"/>
              <a:t>Implementation issues</a:t>
            </a:r>
          </a:p>
        </p:txBody>
      </p:sp>
      <p:sp>
        <p:nvSpPr>
          <p:cNvPr id="3" name="Content Placeholder 2">
            <a:extLst>
              <a:ext uri="{FF2B5EF4-FFF2-40B4-BE49-F238E27FC236}">
                <a16:creationId xmlns:a16="http://schemas.microsoft.com/office/drawing/2014/main" id="{1D526770-803B-EEC6-6DF4-44E0990F18CF}"/>
              </a:ext>
            </a:extLst>
          </p:cNvPr>
          <p:cNvSpPr>
            <a:spLocks noGrp="1"/>
          </p:cNvSpPr>
          <p:nvPr>
            <p:ph idx="1"/>
          </p:nvPr>
        </p:nvSpPr>
        <p:spPr/>
        <p:txBody>
          <a:bodyPr/>
          <a:lstStyle/>
          <a:p>
            <a:r>
              <a:rPr lang="en-US" sz="2800" dirty="0"/>
              <a:t>Request structure</a:t>
            </a:r>
          </a:p>
          <a:p>
            <a:pPr lvl="1"/>
            <a:r>
              <a:rPr lang="en-US" sz="2400" dirty="0"/>
              <a:t>When request is data</a:t>
            </a:r>
          </a:p>
          <a:p>
            <a:pPr lvl="2"/>
            <a:r>
              <a:rPr lang="en-US" sz="2000" dirty="0"/>
              <a:t>Handlers with the same method name to work with it</a:t>
            </a:r>
          </a:p>
          <a:p>
            <a:pPr lvl="2"/>
            <a:r>
              <a:rPr lang="en-US" sz="2000" dirty="0"/>
              <a:t>Handlers with a set of method names, client tells which one and sends the request data </a:t>
            </a:r>
          </a:p>
          <a:p>
            <a:pPr lvl="1"/>
            <a:r>
              <a:rPr lang="en-US" sz="2400" dirty="0"/>
              <a:t>When request is an action</a:t>
            </a:r>
          </a:p>
          <a:p>
            <a:pPr lvl="2"/>
            <a:r>
              <a:rPr lang="en-US" sz="2000" dirty="0"/>
              <a:t>Encoding with string, </a:t>
            </a:r>
            <a:r>
              <a:rPr lang="en-US" sz="2000" dirty="0" err="1"/>
              <a:t>enum</a:t>
            </a:r>
            <a:r>
              <a:rPr lang="en-US" sz="2000" dirty="0"/>
              <a:t>, or int – not safe</a:t>
            </a:r>
          </a:p>
          <a:p>
            <a:pPr lvl="2"/>
            <a:r>
              <a:rPr lang="en-US" sz="2000" dirty="0"/>
              <a:t>Command pattern (next) </a:t>
            </a:r>
          </a:p>
          <a:p>
            <a:r>
              <a:rPr lang="en-US" sz="2800" dirty="0"/>
              <a:t>Variation: pipe and filter</a:t>
            </a:r>
          </a:p>
          <a:p>
            <a:r>
              <a:rPr lang="en-US" sz="2800" dirty="0"/>
              <a:t>Using existing links or defining new links for successor (next)</a:t>
            </a:r>
          </a:p>
          <a:p>
            <a:r>
              <a:rPr lang="en-US" sz="2800" dirty="0"/>
              <a:t>Broken chain (next next)</a:t>
            </a:r>
          </a:p>
        </p:txBody>
      </p:sp>
    </p:spTree>
    <p:extLst>
      <p:ext uri="{BB962C8B-B14F-4D97-AF65-F5344CB8AC3E}">
        <p14:creationId xmlns:p14="http://schemas.microsoft.com/office/powerpoint/2010/main" val="3815037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AC40C-2585-67AD-2E6A-286FAC6E06EE}"/>
              </a:ext>
            </a:extLst>
          </p:cNvPr>
          <p:cNvSpPr>
            <a:spLocks noGrp="1"/>
          </p:cNvSpPr>
          <p:nvPr>
            <p:ph type="title"/>
          </p:nvPr>
        </p:nvSpPr>
        <p:spPr/>
        <p:txBody>
          <a:bodyPr/>
          <a:lstStyle/>
          <a:p>
            <a:r>
              <a:rPr lang="en-US" dirty="0" err="1"/>
              <a:t>CoR</a:t>
            </a:r>
            <a:r>
              <a:rPr lang="en-US" dirty="0"/>
              <a:t> variations: Strict </a:t>
            </a:r>
            <a:r>
              <a:rPr lang="en-US" dirty="0" err="1"/>
              <a:t>CoR</a:t>
            </a:r>
            <a:endParaRPr lang="en-US" dirty="0"/>
          </a:p>
        </p:txBody>
      </p:sp>
      <p:sp>
        <p:nvSpPr>
          <p:cNvPr id="5" name="Content Placeholder 4">
            <a:extLst>
              <a:ext uri="{FF2B5EF4-FFF2-40B4-BE49-F238E27FC236}">
                <a16:creationId xmlns:a16="http://schemas.microsoft.com/office/drawing/2014/main" id="{2856A745-E5BE-B569-0462-D8E0F3C2210C}"/>
              </a:ext>
            </a:extLst>
          </p:cNvPr>
          <p:cNvSpPr>
            <a:spLocks noGrp="1"/>
          </p:cNvSpPr>
          <p:nvPr>
            <p:ph idx="1"/>
          </p:nvPr>
        </p:nvSpPr>
        <p:spPr/>
        <p:txBody>
          <a:bodyPr/>
          <a:lstStyle/>
          <a:p>
            <a:r>
              <a:rPr lang="en-US" sz="2800" dirty="0"/>
              <a:t>Strict </a:t>
            </a:r>
            <a:r>
              <a:rPr lang="en-US" sz="2800" dirty="0" err="1"/>
              <a:t>CoR</a:t>
            </a:r>
            <a:r>
              <a:rPr lang="en-US" sz="2800" dirty="0"/>
              <a:t>  : First-Handler Model</a:t>
            </a:r>
          </a:p>
          <a:p>
            <a:r>
              <a:rPr lang="en-US" sz="2800" u="sng" dirty="0"/>
              <a:t>Rule</a:t>
            </a:r>
            <a:r>
              <a:rPr lang="en-US" sz="2800" dirty="0"/>
              <a:t>: Exactly </a:t>
            </a:r>
            <a:r>
              <a:rPr lang="en-US" sz="2800" b="1" dirty="0"/>
              <a:t>one</a:t>
            </a:r>
            <a:r>
              <a:rPr lang="en-US" sz="2800" dirty="0"/>
              <a:t> handler in the chain processes the request.</a:t>
            </a:r>
          </a:p>
          <a:p>
            <a:r>
              <a:rPr lang="en-US" sz="2800" u="sng" dirty="0"/>
              <a:t>How it works</a:t>
            </a:r>
            <a:r>
              <a:rPr lang="en-US" sz="2800" dirty="0"/>
              <a:t>: A handler checks if it can process the request.</a:t>
            </a:r>
          </a:p>
          <a:p>
            <a:pPr lvl="1"/>
            <a:r>
              <a:rPr lang="en-US" sz="2400" dirty="0"/>
              <a:t>If YES, it handles it and </a:t>
            </a:r>
            <a:r>
              <a:rPr lang="en-US" sz="2400" b="1" dirty="0"/>
              <a:t>stops</a:t>
            </a:r>
            <a:r>
              <a:rPr lang="en-US" sz="2400" dirty="0"/>
              <a:t> the chain.</a:t>
            </a:r>
          </a:p>
          <a:p>
            <a:pPr lvl="1"/>
            <a:r>
              <a:rPr lang="en-US" sz="2400" dirty="0"/>
              <a:t>If NO, it passes the request to its successor.</a:t>
            </a:r>
          </a:p>
          <a:p>
            <a:r>
              <a:rPr lang="en-US" sz="2800" dirty="0"/>
              <a:t>E.g. Context Sensitive Help</a:t>
            </a:r>
          </a:p>
          <a:p>
            <a:pPr lvl="1"/>
            <a:r>
              <a:rPr lang="en-US" sz="2400" dirty="0"/>
              <a:t>It only calls </a:t>
            </a:r>
            <a:r>
              <a:rPr lang="en-US" sz="2400" dirty="0" err="1"/>
              <a:t>HelpHandler</a:t>
            </a:r>
            <a:r>
              <a:rPr lang="en-US" sz="2400" dirty="0"/>
              <a:t>::</a:t>
            </a:r>
            <a:r>
              <a:rPr lang="en-US" sz="2400" dirty="0" err="1"/>
              <a:t>HandleHelp</a:t>
            </a:r>
            <a:r>
              <a:rPr lang="en-US" sz="2400" dirty="0"/>
              <a:t>() in the else block .</a:t>
            </a:r>
          </a:p>
        </p:txBody>
      </p:sp>
    </p:spTree>
    <p:extLst>
      <p:ext uri="{BB962C8B-B14F-4D97-AF65-F5344CB8AC3E}">
        <p14:creationId xmlns:p14="http://schemas.microsoft.com/office/powerpoint/2010/main" val="3877934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021E-E737-66B4-9EC9-331F5FE62284}"/>
              </a:ext>
            </a:extLst>
          </p:cNvPr>
          <p:cNvSpPr>
            <a:spLocks noGrp="1"/>
          </p:cNvSpPr>
          <p:nvPr>
            <p:ph type="title"/>
          </p:nvPr>
        </p:nvSpPr>
        <p:spPr/>
        <p:txBody>
          <a:bodyPr/>
          <a:lstStyle/>
          <a:p>
            <a:r>
              <a:rPr lang="en-US" dirty="0" err="1"/>
              <a:t>CoR</a:t>
            </a:r>
            <a:r>
              <a:rPr lang="en-US" dirty="0"/>
              <a:t> variations: Pipe-and-Filter</a:t>
            </a:r>
          </a:p>
        </p:txBody>
      </p:sp>
      <p:sp>
        <p:nvSpPr>
          <p:cNvPr id="3" name="Content Placeholder 2">
            <a:extLst>
              <a:ext uri="{FF2B5EF4-FFF2-40B4-BE49-F238E27FC236}">
                <a16:creationId xmlns:a16="http://schemas.microsoft.com/office/drawing/2014/main" id="{E86BF87D-BC24-A609-B3F1-7CED6D7CB1BD}"/>
              </a:ext>
            </a:extLst>
          </p:cNvPr>
          <p:cNvSpPr>
            <a:spLocks noGrp="1"/>
          </p:cNvSpPr>
          <p:nvPr>
            <p:ph idx="1"/>
          </p:nvPr>
        </p:nvSpPr>
        <p:spPr>
          <a:xfrm>
            <a:off x="457200" y="1335291"/>
            <a:ext cx="8229600" cy="5383557"/>
          </a:xfrm>
        </p:spPr>
        <p:txBody>
          <a:bodyPr/>
          <a:lstStyle/>
          <a:p>
            <a:r>
              <a:rPr lang="en-US" sz="2800" u="sng" dirty="0"/>
              <a:t>Rule</a:t>
            </a:r>
            <a:r>
              <a:rPr lang="en-US" sz="2800" dirty="0"/>
              <a:t>: All (or many) handlers in the chain get a chance to process the request.</a:t>
            </a:r>
          </a:p>
          <a:p>
            <a:r>
              <a:rPr lang="en-US" sz="2800" u="sng" dirty="0"/>
              <a:t>How it works:</a:t>
            </a:r>
            <a:r>
              <a:rPr lang="en-US" sz="2800" dirty="0"/>
              <a:t> A handler performs its action (e.g., logging) and then unconditionally passes the request to the next handler to continue processing.</a:t>
            </a:r>
          </a:p>
          <a:p>
            <a:r>
              <a:rPr lang="en-US" sz="2800" dirty="0"/>
              <a:t>E.g.  </a:t>
            </a:r>
            <a:r>
              <a:rPr lang="en-US" sz="2800" dirty="0" err="1"/>
              <a:t>javax.servlet.Filter</a:t>
            </a:r>
            <a:r>
              <a:rPr lang="en-US" sz="2800" dirty="0"/>
              <a:t>. A request (like </a:t>
            </a:r>
            <a:r>
              <a:rPr lang="en-US" sz="2800" dirty="0" err="1"/>
              <a:t>AuthenticationFilter</a:t>
            </a:r>
            <a:r>
              <a:rPr lang="en-US" sz="2800" dirty="0"/>
              <a:t> -&gt; </a:t>
            </a:r>
            <a:r>
              <a:rPr lang="en-US" sz="2800" dirty="0" err="1"/>
              <a:t>LoggingFilter</a:t>
            </a:r>
            <a:r>
              <a:rPr lang="en-US" sz="2800" dirty="0"/>
              <a:t>) must pass through all of them.</a:t>
            </a:r>
          </a:p>
          <a:p>
            <a:pPr lvl="1"/>
            <a:r>
              <a:rPr lang="en-US" sz="2400" dirty="0"/>
              <a:t>conceptually very similar to Decorator</a:t>
            </a:r>
          </a:p>
          <a:p>
            <a:r>
              <a:rPr lang="en-US" sz="2800" dirty="0"/>
              <a:t>we will use Strict </a:t>
            </a:r>
            <a:r>
              <a:rPr lang="en-US" sz="2800" dirty="0" err="1"/>
              <a:t>CoR</a:t>
            </a:r>
            <a:r>
              <a:rPr lang="en-US" sz="2800" dirty="0"/>
              <a:t> in this course.</a:t>
            </a:r>
          </a:p>
        </p:txBody>
      </p:sp>
    </p:spTree>
    <p:extLst>
      <p:ext uri="{BB962C8B-B14F-4D97-AF65-F5344CB8AC3E}">
        <p14:creationId xmlns:p14="http://schemas.microsoft.com/office/powerpoint/2010/main" val="3537041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F385-ABC8-5C85-5475-69429719342C}"/>
              </a:ext>
            </a:extLst>
          </p:cNvPr>
          <p:cNvSpPr>
            <a:spLocks noGrp="1"/>
          </p:cNvSpPr>
          <p:nvPr>
            <p:ph type="title"/>
          </p:nvPr>
        </p:nvSpPr>
        <p:spPr/>
        <p:txBody>
          <a:bodyPr/>
          <a:lstStyle/>
          <a:p>
            <a:r>
              <a:rPr lang="en-US" dirty="0" err="1"/>
              <a:t>CoR</a:t>
            </a:r>
            <a:r>
              <a:rPr lang="en-US" dirty="0"/>
              <a:t> and Composite</a:t>
            </a:r>
          </a:p>
        </p:txBody>
      </p:sp>
      <p:sp>
        <p:nvSpPr>
          <p:cNvPr id="25602" name="İçerik Yer Tutucusu 2">
            <a:extLst>
              <a:ext uri="{FF2B5EF4-FFF2-40B4-BE49-F238E27FC236}">
                <a16:creationId xmlns:a16="http://schemas.microsoft.com/office/drawing/2014/main" id="{EEA492E6-BE18-E900-1858-2036D60327B0}"/>
              </a:ext>
            </a:extLst>
          </p:cNvPr>
          <p:cNvSpPr>
            <a:spLocks noGrp="1" noChangeArrowheads="1"/>
          </p:cNvSpPr>
          <p:nvPr>
            <p:ph idx="1"/>
          </p:nvPr>
        </p:nvSpPr>
        <p:spPr/>
        <p:txBody>
          <a:bodyPr/>
          <a:lstStyle/>
          <a:p>
            <a:r>
              <a:rPr lang="en-US" altLang="en-US" sz="2800" dirty="0"/>
              <a:t>Using existing links of Composite</a:t>
            </a:r>
          </a:p>
          <a:p>
            <a:r>
              <a:rPr lang="en-US" altLang="en-US" sz="2800" dirty="0"/>
              <a:t>Chain of Responsibility is often used in conjunction with Composite.</a:t>
            </a:r>
          </a:p>
          <a:p>
            <a:endParaRPr lang="en-US" altLang="en-US" sz="2800" dirty="0"/>
          </a:p>
          <a:p>
            <a:r>
              <a:rPr lang="en-US" altLang="en-US" sz="2800" dirty="0"/>
              <a:t>When a leaf component gets a request, it may pass it through the chain following the parent links of the components up to the root of the object tree.</a:t>
            </a:r>
          </a:p>
          <a:p>
            <a:pPr lvl="1"/>
            <a:r>
              <a:rPr lang="en-US" altLang="tr-TR" sz="2400" dirty="0"/>
              <a:t>E.g. in a GUI leaf component (a button) passes the help request to its container (parent). It is passed up until someone handles it.</a:t>
            </a:r>
          </a:p>
          <a:p>
            <a:endParaRPr lang="en-US"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4584955-5364-AA65-E79F-8F49764F7DD8}"/>
              </a:ext>
            </a:extLst>
          </p:cNvPr>
          <p:cNvSpPr>
            <a:spLocks noGrp="1" noChangeArrowheads="1"/>
          </p:cNvSpPr>
          <p:nvPr>
            <p:ph type="title"/>
          </p:nvPr>
        </p:nvSpPr>
        <p:spPr/>
        <p:txBody>
          <a:bodyPr/>
          <a:lstStyle/>
          <a:p>
            <a:pPr eaLnBrk="1" hangingPunct="1"/>
            <a:r>
              <a:rPr lang="en-US" altLang="tr-TR" dirty="0"/>
              <a:t>Composite with </a:t>
            </a:r>
            <a:r>
              <a:rPr lang="en-US" altLang="tr-TR" dirty="0" err="1"/>
              <a:t>CoR</a:t>
            </a:r>
            <a:endParaRPr lang="en-US" altLang="tr-TR" dirty="0"/>
          </a:p>
        </p:txBody>
      </p:sp>
      <p:grpSp>
        <p:nvGrpSpPr>
          <p:cNvPr id="19459" name="Group 7">
            <a:extLst>
              <a:ext uri="{FF2B5EF4-FFF2-40B4-BE49-F238E27FC236}">
                <a16:creationId xmlns:a16="http://schemas.microsoft.com/office/drawing/2014/main" id="{DF2A3CA4-63A3-8618-5A73-D547019E4477}"/>
              </a:ext>
            </a:extLst>
          </p:cNvPr>
          <p:cNvGrpSpPr>
            <a:grpSpLocks/>
          </p:cNvGrpSpPr>
          <p:nvPr/>
        </p:nvGrpSpPr>
        <p:grpSpPr bwMode="auto">
          <a:xfrm>
            <a:off x="911225" y="2359025"/>
            <a:ext cx="1008063" cy="531813"/>
            <a:chOff x="657" y="1026"/>
            <a:chExt cx="635" cy="335"/>
          </a:xfrm>
        </p:grpSpPr>
        <p:sp>
          <p:nvSpPr>
            <p:cNvPr id="19495" name="Rectangle 8">
              <a:extLst>
                <a:ext uri="{FF2B5EF4-FFF2-40B4-BE49-F238E27FC236}">
                  <a16:creationId xmlns:a16="http://schemas.microsoft.com/office/drawing/2014/main" id="{70B373ED-C29F-C0A6-067E-D9C0A4C5DCA0}"/>
                </a:ext>
              </a:extLst>
            </p:cNvPr>
            <p:cNvSpPr>
              <a:spLocks noChangeArrowheads="1"/>
            </p:cNvSpPr>
            <p:nvPr/>
          </p:nvSpPr>
          <p:spPr bwMode="auto">
            <a:xfrm>
              <a:off x="657" y="1026"/>
              <a:ext cx="635" cy="335"/>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tr-TR" sz="1800"/>
            </a:p>
          </p:txBody>
        </p:sp>
        <p:sp>
          <p:nvSpPr>
            <p:cNvPr id="19496" name="Text Box 9">
              <a:extLst>
                <a:ext uri="{FF2B5EF4-FFF2-40B4-BE49-F238E27FC236}">
                  <a16:creationId xmlns:a16="http://schemas.microsoft.com/office/drawing/2014/main" id="{67307ADB-DD3C-A018-E77B-158F73456D11}"/>
                </a:ext>
              </a:extLst>
            </p:cNvPr>
            <p:cNvSpPr txBox="1">
              <a:spLocks noChangeArrowheads="1"/>
            </p:cNvSpPr>
            <p:nvPr/>
          </p:nvSpPr>
          <p:spPr bwMode="auto">
            <a:xfrm>
              <a:off x="703" y="1026"/>
              <a:ext cx="5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b="1"/>
                <a:t>Client</a:t>
              </a:r>
            </a:p>
          </p:txBody>
        </p:sp>
        <p:sp>
          <p:nvSpPr>
            <p:cNvPr id="19497" name="Line 10">
              <a:extLst>
                <a:ext uri="{FF2B5EF4-FFF2-40B4-BE49-F238E27FC236}">
                  <a16:creationId xmlns:a16="http://schemas.microsoft.com/office/drawing/2014/main" id="{6829E86C-9C6F-58B5-3BF5-3519E6CD7868}"/>
                </a:ext>
              </a:extLst>
            </p:cNvPr>
            <p:cNvSpPr>
              <a:spLocks noChangeShapeType="1"/>
            </p:cNvSpPr>
            <p:nvPr/>
          </p:nvSpPr>
          <p:spPr bwMode="auto">
            <a:xfrm>
              <a:off x="657" y="1253"/>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8" name="Line 11">
              <a:extLst>
                <a:ext uri="{FF2B5EF4-FFF2-40B4-BE49-F238E27FC236}">
                  <a16:creationId xmlns:a16="http://schemas.microsoft.com/office/drawing/2014/main" id="{65251665-1147-8DB5-600A-8299EDC27D27}"/>
                </a:ext>
              </a:extLst>
            </p:cNvPr>
            <p:cNvSpPr>
              <a:spLocks noChangeShapeType="1"/>
            </p:cNvSpPr>
            <p:nvPr/>
          </p:nvSpPr>
          <p:spPr bwMode="auto">
            <a:xfrm>
              <a:off x="657" y="1307"/>
              <a:ext cx="63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460" name="Group 15">
            <a:extLst>
              <a:ext uri="{FF2B5EF4-FFF2-40B4-BE49-F238E27FC236}">
                <a16:creationId xmlns:a16="http://schemas.microsoft.com/office/drawing/2014/main" id="{3F82AC03-EEFD-1928-7A59-56787B0C11A7}"/>
              </a:ext>
            </a:extLst>
          </p:cNvPr>
          <p:cNvGrpSpPr>
            <a:grpSpLocks/>
          </p:cNvGrpSpPr>
          <p:nvPr/>
        </p:nvGrpSpPr>
        <p:grpSpPr bwMode="auto">
          <a:xfrm>
            <a:off x="3711575" y="1770063"/>
            <a:ext cx="2413000" cy="1711325"/>
            <a:chOff x="2338" y="1115"/>
            <a:chExt cx="1520" cy="1078"/>
          </a:xfrm>
        </p:grpSpPr>
        <p:sp>
          <p:nvSpPr>
            <p:cNvPr id="19490" name="Rectangle 4">
              <a:extLst>
                <a:ext uri="{FF2B5EF4-FFF2-40B4-BE49-F238E27FC236}">
                  <a16:creationId xmlns:a16="http://schemas.microsoft.com/office/drawing/2014/main" id="{2E4BB31E-28CD-FF38-56BB-AD6550C9E2FE}"/>
                </a:ext>
              </a:extLst>
            </p:cNvPr>
            <p:cNvSpPr>
              <a:spLocks noChangeArrowheads="1"/>
            </p:cNvSpPr>
            <p:nvPr/>
          </p:nvSpPr>
          <p:spPr bwMode="auto">
            <a:xfrm>
              <a:off x="2341" y="1115"/>
              <a:ext cx="1500" cy="1078"/>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tr-TR" sz="1800"/>
            </a:p>
          </p:txBody>
        </p:sp>
        <p:sp>
          <p:nvSpPr>
            <p:cNvPr id="19491" name="Text Box 6">
              <a:extLst>
                <a:ext uri="{FF2B5EF4-FFF2-40B4-BE49-F238E27FC236}">
                  <a16:creationId xmlns:a16="http://schemas.microsoft.com/office/drawing/2014/main" id="{48534938-0247-B12E-71F3-FAF9E9405DA0}"/>
                </a:ext>
              </a:extLst>
            </p:cNvPr>
            <p:cNvSpPr txBox="1">
              <a:spLocks noChangeArrowheads="1"/>
            </p:cNvSpPr>
            <p:nvPr/>
          </p:nvSpPr>
          <p:spPr bwMode="auto">
            <a:xfrm>
              <a:off x="2566" y="1148"/>
              <a:ext cx="9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b="1" i="1"/>
                <a:t>Component</a:t>
              </a:r>
            </a:p>
          </p:txBody>
        </p:sp>
        <p:sp>
          <p:nvSpPr>
            <p:cNvPr id="19492" name="Line 12">
              <a:extLst>
                <a:ext uri="{FF2B5EF4-FFF2-40B4-BE49-F238E27FC236}">
                  <a16:creationId xmlns:a16="http://schemas.microsoft.com/office/drawing/2014/main" id="{1C3954B0-B14A-3DAD-2654-50C453BB6112}"/>
                </a:ext>
              </a:extLst>
            </p:cNvPr>
            <p:cNvSpPr>
              <a:spLocks noChangeShapeType="1"/>
            </p:cNvSpPr>
            <p:nvPr/>
          </p:nvSpPr>
          <p:spPr bwMode="auto">
            <a:xfrm>
              <a:off x="2341" y="1371"/>
              <a:ext cx="149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93" name="Text Box 13">
              <a:extLst>
                <a:ext uri="{FF2B5EF4-FFF2-40B4-BE49-F238E27FC236}">
                  <a16:creationId xmlns:a16="http://schemas.microsoft.com/office/drawing/2014/main" id="{9E6E2ACE-3AFF-B93E-8A8D-CD7353FBA59A}"/>
                </a:ext>
              </a:extLst>
            </p:cNvPr>
            <p:cNvSpPr txBox="1">
              <a:spLocks noChangeArrowheads="1"/>
            </p:cNvSpPr>
            <p:nvPr/>
          </p:nvSpPr>
          <p:spPr bwMode="auto">
            <a:xfrm>
              <a:off x="2338" y="1422"/>
              <a:ext cx="152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i="1"/>
                <a:t>+operation()</a:t>
              </a:r>
            </a:p>
            <a:p>
              <a:pPr eaLnBrk="1" hangingPunct="1">
                <a:spcBef>
                  <a:spcPct val="0"/>
                </a:spcBef>
                <a:buFontTx/>
                <a:buNone/>
              </a:pPr>
              <a:r>
                <a:rPr lang="en-US" altLang="tr-TR" sz="1800" i="1"/>
                <a:t>+add(Component)</a:t>
              </a:r>
            </a:p>
            <a:p>
              <a:pPr eaLnBrk="1" hangingPunct="1">
                <a:spcBef>
                  <a:spcPct val="0"/>
                </a:spcBef>
                <a:buFontTx/>
                <a:buNone/>
              </a:pPr>
              <a:r>
                <a:rPr lang="en-US" altLang="tr-TR" sz="1800" i="1"/>
                <a:t>+remove(Component)</a:t>
              </a:r>
            </a:p>
            <a:p>
              <a:pPr eaLnBrk="1" hangingPunct="1">
                <a:spcBef>
                  <a:spcPct val="0"/>
                </a:spcBef>
                <a:buFontTx/>
                <a:buNone/>
              </a:pPr>
              <a:r>
                <a:rPr lang="en-US" altLang="tr-TR" sz="1800" i="1"/>
                <a:t>+getChild(int)</a:t>
              </a:r>
            </a:p>
          </p:txBody>
        </p:sp>
        <p:sp>
          <p:nvSpPr>
            <p:cNvPr id="19494" name="Line 14">
              <a:extLst>
                <a:ext uri="{FF2B5EF4-FFF2-40B4-BE49-F238E27FC236}">
                  <a16:creationId xmlns:a16="http://schemas.microsoft.com/office/drawing/2014/main" id="{6FCEEA02-3B40-4CBF-A8D1-646EE8CA5AA8}"/>
                </a:ext>
              </a:extLst>
            </p:cNvPr>
            <p:cNvSpPr>
              <a:spLocks noChangeShapeType="1"/>
            </p:cNvSpPr>
            <p:nvPr/>
          </p:nvSpPr>
          <p:spPr bwMode="auto">
            <a:xfrm>
              <a:off x="2358" y="1424"/>
              <a:ext cx="149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461" name="Group 16">
            <a:extLst>
              <a:ext uri="{FF2B5EF4-FFF2-40B4-BE49-F238E27FC236}">
                <a16:creationId xmlns:a16="http://schemas.microsoft.com/office/drawing/2014/main" id="{5D1B64B2-827C-9004-01B3-FA441150D73F}"/>
              </a:ext>
            </a:extLst>
          </p:cNvPr>
          <p:cNvGrpSpPr>
            <a:grpSpLocks/>
          </p:cNvGrpSpPr>
          <p:nvPr/>
        </p:nvGrpSpPr>
        <p:grpSpPr bwMode="auto">
          <a:xfrm>
            <a:off x="4579938" y="4191000"/>
            <a:ext cx="2413000" cy="1711325"/>
            <a:chOff x="2338" y="1115"/>
            <a:chExt cx="1520" cy="1078"/>
          </a:xfrm>
        </p:grpSpPr>
        <p:sp>
          <p:nvSpPr>
            <p:cNvPr id="19485" name="Rectangle 17">
              <a:extLst>
                <a:ext uri="{FF2B5EF4-FFF2-40B4-BE49-F238E27FC236}">
                  <a16:creationId xmlns:a16="http://schemas.microsoft.com/office/drawing/2014/main" id="{BEAF8989-DC1C-0809-E4CC-14FF088B3CA3}"/>
                </a:ext>
              </a:extLst>
            </p:cNvPr>
            <p:cNvSpPr>
              <a:spLocks noChangeArrowheads="1"/>
            </p:cNvSpPr>
            <p:nvPr/>
          </p:nvSpPr>
          <p:spPr bwMode="auto">
            <a:xfrm>
              <a:off x="2341" y="1115"/>
              <a:ext cx="1500" cy="1078"/>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tr-TR" sz="1800"/>
            </a:p>
          </p:txBody>
        </p:sp>
        <p:sp>
          <p:nvSpPr>
            <p:cNvPr id="19486" name="Text Box 18">
              <a:extLst>
                <a:ext uri="{FF2B5EF4-FFF2-40B4-BE49-F238E27FC236}">
                  <a16:creationId xmlns:a16="http://schemas.microsoft.com/office/drawing/2014/main" id="{E464A957-1F21-26FA-C275-207779C94E19}"/>
                </a:ext>
              </a:extLst>
            </p:cNvPr>
            <p:cNvSpPr txBox="1">
              <a:spLocks noChangeArrowheads="1"/>
            </p:cNvSpPr>
            <p:nvPr/>
          </p:nvSpPr>
          <p:spPr bwMode="auto">
            <a:xfrm>
              <a:off x="2566" y="1148"/>
              <a:ext cx="8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b="1"/>
                <a:t>Composite</a:t>
              </a:r>
            </a:p>
          </p:txBody>
        </p:sp>
        <p:sp>
          <p:nvSpPr>
            <p:cNvPr id="19487" name="Line 19">
              <a:extLst>
                <a:ext uri="{FF2B5EF4-FFF2-40B4-BE49-F238E27FC236}">
                  <a16:creationId xmlns:a16="http://schemas.microsoft.com/office/drawing/2014/main" id="{FDC2184C-A2A2-383B-64AF-0E014010CC0B}"/>
                </a:ext>
              </a:extLst>
            </p:cNvPr>
            <p:cNvSpPr>
              <a:spLocks noChangeShapeType="1"/>
            </p:cNvSpPr>
            <p:nvPr/>
          </p:nvSpPr>
          <p:spPr bwMode="auto">
            <a:xfrm>
              <a:off x="2341" y="1371"/>
              <a:ext cx="149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8" name="Text Box 20">
              <a:extLst>
                <a:ext uri="{FF2B5EF4-FFF2-40B4-BE49-F238E27FC236}">
                  <a16:creationId xmlns:a16="http://schemas.microsoft.com/office/drawing/2014/main" id="{27769CF3-157A-53B9-D754-8CEDFDB3A2A3}"/>
                </a:ext>
              </a:extLst>
            </p:cNvPr>
            <p:cNvSpPr txBox="1">
              <a:spLocks noChangeArrowheads="1"/>
            </p:cNvSpPr>
            <p:nvPr/>
          </p:nvSpPr>
          <p:spPr bwMode="auto">
            <a:xfrm>
              <a:off x="2338" y="1422"/>
              <a:ext cx="152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+operation()</a:t>
              </a:r>
            </a:p>
            <a:p>
              <a:pPr eaLnBrk="1" hangingPunct="1">
                <a:spcBef>
                  <a:spcPct val="0"/>
                </a:spcBef>
                <a:buFontTx/>
                <a:buNone/>
              </a:pPr>
              <a:r>
                <a:rPr lang="en-US" altLang="tr-TR" sz="1800" dirty="0"/>
                <a:t>+add(Component)</a:t>
              </a:r>
            </a:p>
            <a:p>
              <a:pPr eaLnBrk="1" hangingPunct="1">
                <a:spcBef>
                  <a:spcPct val="0"/>
                </a:spcBef>
                <a:buFontTx/>
                <a:buNone/>
              </a:pPr>
              <a:r>
                <a:rPr lang="en-US" altLang="tr-TR" sz="1800" dirty="0"/>
                <a:t>+remove(Component)</a:t>
              </a:r>
            </a:p>
            <a:p>
              <a:pPr eaLnBrk="1" hangingPunct="1">
                <a:spcBef>
                  <a:spcPct val="0"/>
                </a:spcBef>
                <a:buFontTx/>
                <a:buNone/>
              </a:pPr>
              <a:r>
                <a:rPr lang="en-US" altLang="tr-TR" sz="1800" dirty="0"/>
                <a:t>+</a:t>
              </a:r>
              <a:r>
                <a:rPr lang="en-US" altLang="tr-TR" sz="1800" dirty="0" err="1"/>
                <a:t>getChild</a:t>
              </a:r>
              <a:r>
                <a:rPr lang="en-US" altLang="tr-TR" sz="1800" dirty="0"/>
                <a:t>(int)</a:t>
              </a:r>
            </a:p>
          </p:txBody>
        </p:sp>
        <p:sp>
          <p:nvSpPr>
            <p:cNvPr id="19489" name="Line 21">
              <a:extLst>
                <a:ext uri="{FF2B5EF4-FFF2-40B4-BE49-F238E27FC236}">
                  <a16:creationId xmlns:a16="http://schemas.microsoft.com/office/drawing/2014/main" id="{FFAC34C9-DD69-0C87-9511-1C5A18577209}"/>
                </a:ext>
              </a:extLst>
            </p:cNvPr>
            <p:cNvSpPr>
              <a:spLocks noChangeShapeType="1"/>
            </p:cNvSpPr>
            <p:nvPr/>
          </p:nvSpPr>
          <p:spPr bwMode="auto">
            <a:xfrm>
              <a:off x="2358" y="1424"/>
              <a:ext cx="149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462" name="Group 27">
            <a:extLst>
              <a:ext uri="{FF2B5EF4-FFF2-40B4-BE49-F238E27FC236}">
                <a16:creationId xmlns:a16="http://schemas.microsoft.com/office/drawing/2014/main" id="{EE9371DD-10A5-D264-164C-1A92EA909110}"/>
              </a:ext>
            </a:extLst>
          </p:cNvPr>
          <p:cNvGrpSpPr>
            <a:grpSpLocks/>
          </p:cNvGrpSpPr>
          <p:nvPr/>
        </p:nvGrpSpPr>
        <p:grpSpPr bwMode="auto">
          <a:xfrm>
            <a:off x="1563688" y="4281488"/>
            <a:ext cx="1571625" cy="796925"/>
            <a:chOff x="985" y="2715"/>
            <a:chExt cx="990" cy="502"/>
          </a:xfrm>
        </p:grpSpPr>
        <p:sp>
          <p:nvSpPr>
            <p:cNvPr id="19480" name="Rectangle 22">
              <a:extLst>
                <a:ext uri="{FF2B5EF4-FFF2-40B4-BE49-F238E27FC236}">
                  <a16:creationId xmlns:a16="http://schemas.microsoft.com/office/drawing/2014/main" id="{6AE56EA4-27BE-7267-EA49-1D8EDC374390}"/>
                </a:ext>
              </a:extLst>
            </p:cNvPr>
            <p:cNvSpPr>
              <a:spLocks noChangeArrowheads="1"/>
            </p:cNvSpPr>
            <p:nvPr/>
          </p:nvSpPr>
          <p:spPr bwMode="auto">
            <a:xfrm>
              <a:off x="1006" y="2715"/>
              <a:ext cx="969" cy="494"/>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tr-TR" sz="1800"/>
            </a:p>
          </p:txBody>
        </p:sp>
        <p:sp>
          <p:nvSpPr>
            <p:cNvPr id="19481" name="Text Box 23">
              <a:extLst>
                <a:ext uri="{FF2B5EF4-FFF2-40B4-BE49-F238E27FC236}">
                  <a16:creationId xmlns:a16="http://schemas.microsoft.com/office/drawing/2014/main" id="{DD2279F7-A084-F30D-E508-6BDC21A93031}"/>
                </a:ext>
              </a:extLst>
            </p:cNvPr>
            <p:cNvSpPr txBox="1">
              <a:spLocks noChangeArrowheads="1"/>
            </p:cNvSpPr>
            <p:nvPr/>
          </p:nvSpPr>
          <p:spPr bwMode="auto">
            <a:xfrm>
              <a:off x="1267" y="2721"/>
              <a:ext cx="4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b="1"/>
                <a:t>Leaf</a:t>
              </a:r>
            </a:p>
          </p:txBody>
        </p:sp>
        <p:sp>
          <p:nvSpPr>
            <p:cNvPr id="19482" name="Text Box 24">
              <a:extLst>
                <a:ext uri="{FF2B5EF4-FFF2-40B4-BE49-F238E27FC236}">
                  <a16:creationId xmlns:a16="http://schemas.microsoft.com/office/drawing/2014/main" id="{57C2E8BF-570E-D499-D5F3-5956F755E454}"/>
                </a:ext>
              </a:extLst>
            </p:cNvPr>
            <p:cNvSpPr txBox="1">
              <a:spLocks noChangeArrowheads="1"/>
            </p:cNvSpPr>
            <p:nvPr/>
          </p:nvSpPr>
          <p:spPr bwMode="auto">
            <a:xfrm>
              <a:off x="985" y="2986"/>
              <a:ext cx="8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a:t>+operation()</a:t>
              </a:r>
            </a:p>
          </p:txBody>
        </p:sp>
        <p:sp>
          <p:nvSpPr>
            <p:cNvPr id="19483" name="Line 25">
              <a:extLst>
                <a:ext uri="{FF2B5EF4-FFF2-40B4-BE49-F238E27FC236}">
                  <a16:creationId xmlns:a16="http://schemas.microsoft.com/office/drawing/2014/main" id="{41E54FE1-2283-11D6-2B74-727715221894}"/>
                </a:ext>
              </a:extLst>
            </p:cNvPr>
            <p:cNvSpPr>
              <a:spLocks noChangeShapeType="1"/>
            </p:cNvSpPr>
            <p:nvPr/>
          </p:nvSpPr>
          <p:spPr bwMode="auto">
            <a:xfrm>
              <a:off x="1015" y="2953"/>
              <a:ext cx="9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84" name="Line 26">
              <a:extLst>
                <a:ext uri="{FF2B5EF4-FFF2-40B4-BE49-F238E27FC236}">
                  <a16:creationId xmlns:a16="http://schemas.microsoft.com/office/drawing/2014/main" id="{A1FB53C5-DA30-ABD7-A4A0-40C075645EEB}"/>
                </a:ext>
              </a:extLst>
            </p:cNvPr>
            <p:cNvSpPr>
              <a:spLocks noChangeShapeType="1"/>
            </p:cNvSpPr>
            <p:nvPr/>
          </p:nvSpPr>
          <p:spPr bwMode="auto">
            <a:xfrm>
              <a:off x="1014" y="3007"/>
              <a:ext cx="94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9463" name="AutoShape 28">
            <a:extLst>
              <a:ext uri="{FF2B5EF4-FFF2-40B4-BE49-F238E27FC236}">
                <a16:creationId xmlns:a16="http://schemas.microsoft.com/office/drawing/2014/main" id="{8D5C421C-A50C-0712-E146-475C0192E9E4}"/>
              </a:ext>
            </a:extLst>
          </p:cNvPr>
          <p:cNvCxnSpPr>
            <a:cxnSpLocks noChangeShapeType="1"/>
            <a:stCxn id="19495" idx="3"/>
            <a:endCxn id="19490" idx="1"/>
          </p:cNvCxnSpPr>
          <p:nvPr/>
        </p:nvCxnSpPr>
        <p:spPr bwMode="auto">
          <a:xfrm>
            <a:off x="1919288" y="2625725"/>
            <a:ext cx="1797050"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9464" name="AutoShape 29">
            <a:extLst>
              <a:ext uri="{FF2B5EF4-FFF2-40B4-BE49-F238E27FC236}">
                <a16:creationId xmlns:a16="http://schemas.microsoft.com/office/drawing/2014/main" id="{EDCCE2D3-E6B0-9291-1D66-19123CEB25D6}"/>
              </a:ext>
            </a:extLst>
          </p:cNvPr>
          <p:cNvSpPr>
            <a:spLocks noChangeArrowheads="1"/>
          </p:cNvSpPr>
          <p:nvPr/>
        </p:nvSpPr>
        <p:spPr bwMode="auto">
          <a:xfrm>
            <a:off x="4803775" y="3482975"/>
            <a:ext cx="261938" cy="233363"/>
          </a:xfrm>
          <a:prstGeom prst="triangle">
            <a:avLst>
              <a:gd name="adj" fmla="val 500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tr-TR" sz="1800"/>
          </a:p>
        </p:txBody>
      </p:sp>
      <p:cxnSp>
        <p:nvCxnSpPr>
          <p:cNvPr id="19465" name="AutoShape 30">
            <a:extLst>
              <a:ext uri="{FF2B5EF4-FFF2-40B4-BE49-F238E27FC236}">
                <a16:creationId xmlns:a16="http://schemas.microsoft.com/office/drawing/2014/main" id="{FC76FAFC-8EFD-7655-C64F-3059C120B6EE}"/>
              </a:ext>
            </a:extLst>
          </p:cNvPr>
          <p:cNvCxnSpPr>
            <a:cxnSpLocks noChangeShapeType="1"/>
            <a:stCxn id="19464" idx="3"/>
            <a:endCxn id="19485" idx="0"/>
          </p:cNvCxnSpPr>
          <p:nvPr/>
        </p:nvCxnSpPr>
        <p:spPr bwMode="auto">
          <a:xfrm rot="16200000" flipH="1">
            <a:off x="5118101" y="3533775"/>
            <a:ext cx="474662" cy="839787"/>
          </a:xfrm>
          <a:prstGeom prst="bentConnector3">
            <a:avLst>
              <a:gd name="adj1" fmla="val 49833"/>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19466" name="AutoShape 31">
            <a:extLst>
              <a:ext uri="{FF2B5EF4-FFF2-40B4-BE49-F238E27FC236}">
                <a16:creationId xmlns:a16="http://schemas.microsoft.com/office/drawing/2014/main" id="{8552B458-E090-A963-A119-2D8D873864D5}"/>
              </a:ext>
            </a:extLst>
          </p:cNvPr>
          <p:cNvCxnSpPr>
            <a:cxnSpLocks noChangeShapeType="1"/>
            <a:stCxn id="19464" idx="3"/>
            <a:endCxn id="19481" idx="0"/>
          </p:cNvCxnSpPr>
          <p:nvPr/>
        </p:nvCxnSpPr>
        <p:spPr bwMode="auto">
          <a:xfrm rot="5400000">
            <a:off x="3349625" y="2705101"/>
            <a:ext cx="574675" cy="2597150"/>
          </a:xfrm>
          <a:prstGeom prst="bentConnector3">
            <a:avLst>
              <a:gd name="adj1" fmla="val 41986"/>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9467" name="AutoShape 32">
            <a:extLst>
              <a:ext uri="{FF2B5EF4-FFF2-40B4-BE49-F238E27FC236}">
                <a16:creationId xmlns:a16="http://schemas.microsoft.com/office/drawing/2014/main" id="{B281D3B6-6158-1088-2764-778E2B301419}"/>
              </a:ext>
            </a:extLst>
          </p:cNvPr>
          <p:cNvSpPr>
            <a:spLocks noChangeArrowheads="1"/>
          </p:cNvSpPr>
          <p:nvPr/>
        </p:nvSpPr>
        <p:spPr bwMode="auto">
          <a:xfrm>
            <a:off x="6937375" y="4527550"/>
            <a:ext cx="434975" cy="203200"/>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tr-TR" altLang="tr-TR" sz="1800"/>
          </a:p>
        </p:txBody>
      </p:sp>
      <p:cxnSp>
        <p:nvCxnSpPr>
          <p:cNvPr id="19468" name="AutoShape 33">
            <a:extLst>
              <a:ext uri="{FF2B5EF4-FFF2-40B4-BE49-F238E27FC236}">
                <a16:creationId xmlns:a16="http://schemas.microsoft.com/office/drawing/2014/main" id="{9668992B-C7AC-0CFA-65D1-7D8BB76A4D6B}"/>
              </a:ext>
            </a:extLst>
          </p:cNvPr>
          <p:cNvCxnSpPr>
            <a:cxnSpLocks noChangeShapeType="1"/>
            <a:stCxn id="19467" idx="3"/>
            <a:endCxn id="19493" idx="3"/>
          </p:cNvCxnSpPr>
          <p:nvPr/>
        </p:nvCxnSpPr>
        <p:spPr bwMode="auto">
          <a:xfrm flipH="1" flipV="1">
            <a:off x="6124575" y="2852738"/>
            <a:ext cx="1247775" cy="1776412"/>
          </a:xfrm>
          <a:prstGeom prst="bentConnector3">
            <a:avLst>
              <a:gd name="adj1" fmla="val -18319"/>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grpSp>
        <p:nvGrpSpPr>
          <p:cNvPr id="19469" name="Group 35">
            <a:extLst>
              <a:ext uri="{FF2B5EF4-FFF2-40B4-BE49-F238E27FC236}">
                <a16:creationId xmlns:a16="http://schemas.microsoft.com/office/drawing/2014/main" id="{33B93B3E-70C8-9600-AB60-5F29986DE5CE}"/>
              </a:ext>
            </a:extLst>
          </p:cNvPr>
          <p:cNvGrpSpPr>
            <a:grpSpLocks/>
          </p:cNvGrpSpPr>
          <p:nvPr/>
        </p:nvGrpSpPr>
        <p:grpSpPr bwMode="auto">
          <a:xfrm>
            <a:off x="911225" y="6025640"/>
            <a:ext cx="3508375" cy="493713"/>
            <a:chOff x="329" y="1938"/>
            <a:chExt cx="2277" cy="311"/>
          </a:xfrm>
        </p:grpSpPr>
        <p:sp>
          <p:nvSpPr>
            <p:cNvPr id="19472" name="Text Box 36">
              <a:extLst>
                <a:ext uri="{FF2B5EF4-FFF2-40B4-BE49-F238E27FC236}">
                  <a16:creationId xmlns:a16="http://schemas.microsoft.com/office/drawing/2014/main" id="{D64744DF-E875-C19A-3E9E-A379B45E25F5}"/>
                </a:ext>
              </a:extLst>
            </p:cNvPr>
            <p:cNvSpPr txBox="1">
              <a:spLocks noChangeArrowheads="1"/>
            </p:cNvSpPr>
            <p:nvPr/>
          </p:nvSpPr>
          <p:spPr bwMode="auto">
            <a:xfrm>
              <a:off x="341" y="1976"/>
              <a:ext cx="18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for all g in children </a:t>
              </a:r>
              <a:r>
                <a:rPr lang="en-US" altLang="tr-TR" sz="1800" dirty="0" err="1"/>
                <a:t>g.operation</a:t>
              </a:r>
              <a:r>
                <a:rPr lang="en-US" altLang="tr-TR" sz="1800" dirty="0"/>
                <a:t>()</a:t>
              </a:r>
            </a:p>
          </p:txBody>
        </p:sp>
        <p:sp>
          <p:nvSpPr>
            <p:cNvPr id="19473" name="Line 37">
              <a:extLst>
                <a:ext uri="{FF2B5EF4-FFF2-40B4-BE49-F238E27FC236}">
                  <a16:creationId xmlns:a16="http://schemas.microsoft.com/office/drawing/2014/main" id="{C29954AB-429B-055E-A419-36AE72A62374}"/>
                </a:ext>
              </a:extLst>
            </p:cNvPr>
            <p:cNvSpPr>
              <a:spLocks noChangeShapeType="1"/>
            </p:cNvSpPr>
            <p:nvPr/>
          </p:nvSpPr>
          <p:spPr bwMode="auto">
            <a:xfrm>
              <a:off x="2459" y="1938"/>
              <a:ext cx="147" cy="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4" name="Line 38">
              <a:extLst>
                <a:ext uri="{FF2B5EF4-FFF2-40B4-BE49-F238E27FC236}">
                  <a16:creationId xmlns:a16="http://schemas.microsoft.com/office/drawing/2014/main" id="{541C69A9-2F8B-C752-2981-7938BC92496A}"/>
                </a:ext>
              </a:extLst>
            </p:cNvPr>
            <p:cNvSpPr>
              <a:spLocks noChangeShapeType="1"/>
            </p:cNvSpPr>
            <p:nvPr/>
          </p:nvSpPr>
          <p:spPr bwMode="auto">
            <a:xfrm>
              <a:off x="2469" y="1947"/>
              <a:ext cx="0" cy="1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5" name="Line 39">
              <a:extLst>
                <a:ext uri="{FF2B5EF4-FFF2-40B4-BE49-F238E27FC236}">
                  <a16:creationId xmlns:a16="http://schemas.microsoft.com/office/drawing/2014/main" id="{39E7099A-ECDB-37CE-F8E3-5175197DE17B}"/>
                </a:ext>
              </a:extLst>
            </p:cNvPr>
            <p:cNvSpPr>
              <a:spLocks noChangeShapeType="1"/>
            </p:cNvSpPr>
            <p:nvPr/>
          </p:nvSpPr>
          <p:spPr bwMode="auto">
            <a:xfrm>
              <a:off x="329" y="1947"/>
              <a:ext cx="213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6" name="Line 40">
              <a:extLst>
                <a:ext uri="{FF2B5EF4-FFF2-40B4-BE49-F238E27FC236}">
                  <a16:creationId xmlns:a16="http://schemas.microsoft.com/office/drawing/2014/main" id="{B23706D4-C7C4-A2CF-4301-8A28E7697D95}"/>
                </a:ext>
              </a:extLst>
            </p:cNvPr>
            <p:cNvSpPr>
              <a:spLocks noChangeShapeType="1"/>
            </p:cNvSpPr>
            <p:nvPr/>
          </p:nvSpPr>
          <p:spPr bwMode="auto">
            <a:xfrm>
              <a:off x="2469" y="2067"/>
              <a:ext cx="1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7" name="Line 41">
              <a:extLst>
                <a:ext uri="{FF2B5EF4-FFF2-40B4-BE49-F238E27FC236}">
                  <a16:creationId xmlns:a16="http://schemas.microsoft.com/office/drawing/2014/main" id="{46BCA802-EBE3-83BF-A7AD-D1C342B20CEC}"/>
                </a:ext>
              </a:extLst>
            </p:cNvPr>
            <p:cNvSpPr>
              <a:spLocks noChangeShapeType="1"/>
            </p:cNvSpPr>
            <p:nvPr/>
          </p:nvSpPr>
          <p:spPr bwMode="auto">
            <a:xfrm>
              <a:off x="337" y="2247"/>
              <a:ext cx="225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8" name="Line 42">
              <a:extLst>
                <a:ext uri="{FF2B5EF4-FFF2-40B4-BE49-F238E27FC236}">
                  <a16:creationId xmlns:a16="http://schemas.microsoft.com/office/drawing/2014/main" id="{32310EAA-93D8-A27F-2182-F139730AEF7D}"/>
                </a:ext>
              </a:extLst>
            </p:cNvPr>
            <p:cNvSpPr>
              <a:spLocks noChangeShapeType="1"/>
            </p:cNvSpPr>
            <p:nvPr/>
          </p:nvSpPr>
          <p:spPr bwMode="auto">
            <a:xfrm>
              <a:off x="2605" y="2066"/>
              <a:ext cx="0" cy="1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79" name="Line 43">
              <a:extLst>
                <a:ext uri="{FF2B5EF4-FFF2-40B4-BE49-F238E27FC236}">
                  <a16:creationId xmlns:a16="http://schemas.microsoft.com/office/drawing/2014/main" id="{3AFB8DFC-2166-91B5-F162-120522700F32}"/>
                </a:ext>
              </a:extLst>
            </p:cNvPr>
            <p:cNvSpPr>
              <a:spLocks noChangeShapeType="1"/>
            </p:cNvSpPr>
            <p:nvPr/>
          </p:nvSpPr>
          <p:spPr bwMode="auto">
            <a:xfrm>
              <a:off x="338" y="1965"/>
              <a:ext cx="0" cy="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19470" name="AutoShape 44">
            <a:extLst>
              <a:ext uri="{FF2B5EF4-FFF2-40B4-BE49-F238E27FC236}">
                <a16:creationId xmlns:a16="http://schemas.microsoft.com/office/drawing/2014/main" id="{F7AAE759-3D04-F075-CAC4-F37C1F9F0849}"/>
              </a:ext>
            </a:extLst>
          </p:cNvPr>
          <p:cNvCxnSpPr>
            <a:cxnSpLocks noChangeShapeType="1"/>
          </p:cNvCxnSpPr>
          <p:nvPr/>
        </p:nvCxnSpPr>
        <p:spPr bwMode="auto">
          <a:xfrm rot="5400000">
            <a:off x="3553620" y="4964906"/>
            <a:ext cx="1204912" cy="942975"/>
          </a:xfrm>
          <a:prstGeom prst="bentConnector3">
            <a:avLst>
              <a:gd name="adj1" fmla="val 523"/>
            </a:avLst>
          </a:prstGeom>
          <a:noFill/>
          <a:ln w="9525">
            <a:solidFill>
              <a:schemeClr val="tx1"/>
            </a:solidFill>
            <a:prstDash val="dash"/>
            <a:miter lim="800000"/>
            <a:headEnd/>
            <a:tailEnd/>
          </a:ln>
          <a:extLst>
            <a:ext uri="{909E8E84-426E-40DD-AFC4-6F175D3DCCD1}">
              <a14:hiddenFill xmlns:a14="http://schemas.microsoft.com/office/drawing/2010/main">
                <a:noFill/>
              </a14:hiddenFill>
            </a:ext>
          </a:extLst>
        </p:spPr>
      </p:cxnSp>
      <p:sp>
        <p:nvSpPr>
          <p:cNvPr id="19471" name="Text Box 45">
            <a:extLst>
              <a:ext uri="{FF2B5EF4-FFF2-40B4-BE49-F238E27FC236}">
                <a16:creationId xmlns:a16="http://schemas.microsoft.com/office/drawing/2014/main" id="{B1CCAE48-549E-B2E8-C587-8AC11BB8CD05}"/>
              </a:ext>
            </a:extLst>
          </p:cNvPr>
          <p:cNvSpPr txBox="1">
            <a:spLocks noChangeArrowheads="1"/>
          </p:cNvSpPr>
          <p:nvPr/>
        </p:nvSpPr>
        <p:spPr bwMode="auto">
          <a:xfrm>
            <a:off x="6457951" y="2659473"/>
            <a:ext cx="1083951"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dirty="0"/>
              <a:t>*</a:t>
            </a:r>
          </a:p>
          <a:p>
            <a:pPr eaLnBrk="1" hangingPunct="1">
              <a:spcBef>
                <a:spcPct val="0"/>
              </a:spcBef>
              <a:buFontTx/>
              <a:buNone/>
            </a:pPr>
            <a:r>
              <a:rPr lang="en-US" altLang="tr-TR" sz="2000" dirty="0"/>
              <a:t>children</a:t>
            </a:r>
            <a:endParaRPr lang="en-US" altLang="tr-TR" sz="1800" dirty="0"/>
          </a:p>
        </p:txBody>
      </p:sp>
      <p:sp>
        <p:nvSpPr>
          <p:cNvPr id="3" name="TextBox 2">
            <a:extLst>
              <a:ext uri="{FF2B5EF4-FFF2-40B4-BE49-F238E27FC236}">
                <a16:creationId xmlns:a16="http://schemas.microsoft.com/office/drawing/2014/main" id="{B7ACD056-825C-A646-42F4-7CF84A45EC45}"/>
              </a:ext>
            </a:extLst>
          </p:cNvPr>
          <p:cNvSpPr txBox="1"/>
          <p:nvPr/>
        </p:nvSpPr>
        <p:spPr>
          <a:xfrm>
            <a:off x="980097" y="1346478"/>
            <a:ext cx="1646605" cy="369332"/>
          </a:xfrm>
          <a:prstGeom prst="rect">
            <a:avLst/>
          </a:prstGeom>
          <a:noFill/>
        </p:spPr>
        <p:txBody>
          <a:bodyPr wrap="none" rtlCol="0">
            <a:spAutoFit/>
          </a:bodyPr>
          <a:lstStyle/>
          <a:p>
            <a:r>
              <a:rPr lang="en-US" b="1" dirty="0">
                <a:solidFill>
                  <a:schemeClr val="bg2">
                    <a:lumMod val="40000"/>
                    <a:lumOff val="60000"/>
                  </a:schemeClr>
                </a:solidFill>
              </a:rPr>
              <a:t>Participants?</a:t>
            </a:r>
          </a:p>
        </p:txBody>
      </p:sp>
      <p:cxnSp>
        <p:nvCxnSpPr>
          <p:cNvPr id="8" name="AutoShape 11">
            <a:extLst>
              <a:ext uri="{FF2B5EF4-FFF2-40B4-BE49-F238E27FC236}">
                <a16:creationId xmlns:a16="http://schemas.microsoft.com/office/drawing/2014/main" id="{4FC4C6BD-9F9B-3CE5-E472-18B275E97E43}"/>
              </a:ext>
            </a:extLst>
          </p:cNvPr>
          <p:cNvCxnSpPr>
            <a:cxnSpLocks noChangeShapeType="1"/>
          </p:cNvCxnSpPr>
          <p:nvPr/>
        </p:nvCxnSpPr>
        <p:spPr bwMode="auto">
          <a:xfrm flipH="1" flipV="1">
            <a:off x="5065713" y="1799049"/>
            <a:ext cx="1079500" cy="396875"/>
          </a:xfrm>
          <a:prstGeom prst="bentConnector4">
            <a:avLst>
              <a:gd name="adj1" fmla="val -21028"/>
              <a:gd name="adj2" fmla="val 157602"/>
            </a:avLst>
          </a:prstGeom>
          <a:noFill/>
          <a:ln w="9525">
            <a:solidFill>
              <a:schemeClr val="tx1"/>
            </a:solidFill>
            <a:miter lim="800000"/>
            <a:headEnd/>
            <a:tailEnd type="arrow" w="med" len="med"/>
          </a:ln>
          <a:extLst>
            <a:ext uri="{909E8E84-426E-40DD-AFC4-6F175D3DCCD1}">
              <a14:hiddenFill xmlns:a14="http://schemas.microsoft.com/office/drawing/2010/main">
                <a:noFill/>
              </a14:hiddenFill>
            </a:ext>
          </a:extLst>
        </p:spPr>
      </p:cxnSp>
      <p:sp>
        <p:nvSpPr>
          <p:cNvPr id="9" name="Text Box 12">
            <a:extLst>
              <a:ext uri="{FF2B5EF4-FFF2-40B4-BE49-F238E27FC236}">
                <a16:creationId xmlns:a16="http://schemas.microsoft.com/office/drawing/2014/main" id="{0A426F12-04F2-EF56-9B68-CF30CE1A923B}"/>
              </a:ext>
            </a:extLst>
          </p:cNvPr>
          <p:cNvSpPr txBox="1">
            <a:spLocks noChangeArrowheads="1"/>
          </p:cNvSpPr>
          <p:nvPr/>
        </p:nvSpPr>
        <p:spPr bwMode="auto">
          <a:xfrm>
            <a:off x="6484938" y="1675224"/>
            <a:ext cx="19800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dirty="0"/>
              <a:t>Successor/parent</a:t>
            </a:r>
            <a:endParaRPr lang="en-GB" altLang="tr-TR" sz="1800" dirty="0"/>
          </a:p>
        </p:txBody>
      </p:sp>
    </p:spTree>
    <p:extLst>
      <p:ext uri="{BB962C8B-B14F-4D97-AF65-F5344CB8AC3E}">
        <p14:creationId xmlns:p14="http://schemas.microsoft.com/office/powerpoint/2010/main" val="1261136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5A2EF5D-3008-0F6B-D9F6-482EC1A51EFB}"/>
              </a:ext>
            </a:extLst>
          </p:cNvPr>
          <p:cNvSpPr>
            <a:spLocks noGrp="1" noChangeArrowheads="1"/>
          </p:cNvSpPr>
          <p:nvPr>
            <p:ph type="title"/>
          </p:nvPr>
        </p:nvSpPr>
        <p:spPr>
          <a:xfrm>
            <a:off x="457200" y="139700"/>
            <a:ext cx="8229600" cy="1371600"/>
          </a:xfrm>
        </p:spPr>
        <p:txBody>
          <a:bodyPr/>
          <a:lstStyle/>
          <a:p>
            <a:r>
              <a:rPr lang="en-US" altLang="tr-TR" dirty="0" err="1"/>
              <a:t>CoR</a:t>
            </a:r>
            <a:r>
              <a:rPr lang="en-US" altLang="tr-TR" dirty="0"/>
              <a:t> + Composite Example</a:t>
            </a:r>
          </a:p>
        </p:txBody>
      </p:sp>
      <p:sp>
        <p:nvSpPr>
          <p:cNvPr id="24579" name="Rectangle 3">
            <a:extLst>
              <a:ext uri="{FF2B5EF4-FFF2-40B4-BE49-F238E27FC236}">
                <a16:creationId xmlns:a16="http://schemas.microsoft.com/office/drawing/2014/main" id="{C0BDBA15-62D0-07F4-581F-C70ECE004053}"/>
              </a:ext>
            </a:extLst>
          </p:cNvPr>
          <p:cNvSpPr>
            <a:spLocks noGrp="1" noChangeArrowheads="1"/>
          </p:cNvSpPr>
          <p:nvPr>
            <p:ph idx="1"/>
          </p:nvPr>
        </p:nvSpPr>
        <p:spPr>
          <a:xfrm>
            <a:off x="546100" y="1254125"/>
            <a:ext cx="8229600" cy="1346200"/>
          </a:xfrm>
        </p:spPr>
        <p:txBody>
          <a:bodyPr/>
          <a:lstStyle/>
          <a:p>
            <a:r>
              <a:rPr lang="en-US" altLang="tr-TR" dirty="0"/>
              <a:t>Recall the context sensitive help</a:t>
            </a:r>
          </a:p>
          <a:p>
            <a:r>
              <a:rPr lang="en-US" altLang="tr-TR" dirty="0"/>
              <a:t>Make Widgets  composite</a:t>
            </a:r>
          </a:p>
        </p:txBody>
      </p:sp>
      <p:sp>
        <p:nvSpPr>
          <p:cNvPr id="24580" name="Rectangle 4">
            <a:extLst>
              <a:ext uri="{FF2B5EF4-FFF2-40B4-BE49-F238E27FC236}">
                <a16:creationId xmlns:a16="http://schemas.microsoft.com/office/drawing/2014/main" id="{F7784067-A936-7292-B3B4-603C29DB3C7A}"/>
              </a:ext>
            </a:extLst>
          </p:cNvPr>
          <p:cNvSpPr>
            <a:spLocks noChangeArrowheads="1"/>
          </p:cNvSpPr>
          <p:nvPr/>
        </p:nvSpPr>
        <p:spPr bwMode="auto">
          <a:xfrm>
            <a:off x="800100" y="4762500"/>
            <a:ext cx="7721600"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buClrTx/>
              <a:buSzTx/>
              <a:buFontTx/>
              <a:buChar char="•"/>
            </a:pPr>
            <a:r>
              <a:rPr lang="en-US" altLang="tr-TR" sz="2800"/>
              <a:t>Request will be passes along a chain</a:t>
            </a:r>
          </a:p>
          <a:p>
            <a:pPr lvl="1" eaLnBrk="1" hangingPunct="1">
              <a:buClrTx/>
              <a:buSzTx/>
              <a:buFontTx/>
              <a:buChar char="–"/>
            </a:pPr>
            <a:r>
              <a:rPr lang="en-US" altLang="tr-TR" sz="2400"/>
              <a:t>1st object receives the help information request. </a:t>
            </a:r>
          </a:p>
          <a:p>
            <a:pPr lvl="1" eaLnBrk="1" hangingPunct="1">
              <a:buClrTx/>
              <a:buSzTx/>
              <a:buFontTx/>
              <a:buChar char="–"/>
            </a:pPr>
            <a:r>
              <a:rPr lang="en-US" altLang="tr-TR" sz="2400"/>
              <a:t>Either handles it or pass it to the 2nd object</a:t>
            </a:r>
          </a:p>
          <a:p>
            <a:pPr lvl="1" eaLnBrk="1" hangingPunct="1">
              <a:buClrTx/>
              <a:buSzTx/>
              <a:buFontTx/>
              <a:buChar char="–"/>
            </a:pPr>
            <a:r>
              <a:rPr lang="en-US" altLang="tr-TR" sz="2400"/>
              <a:t>Follow the chain until one object handles it</a:t>
            </a:r>
          </a:p>
        </p:txBody>
      </p:sp>
      <p:grpSp>
        <p:nvGrpSpPr>
          <p:cNvPr id="24581" name="Group 5">
            <a:extLst>
              <a:ext uri="{FF2B5EF4-FFF2-40B4-BE49-F238E27FC236}">
                <a16:creationId xmlns:a16="http://schemas.microsoft.com/office/drawing/2014/main" id="{88C4EA7A-FBF4-19E0-CCF8-6E8274D0B057}"/>
              </a:ext>
            </a:extLst>
          </p:cNvPr>
          <p:cNvGrpSpPr>
            <a:grpSpLocks/>
          </p:cNvGrpSpPr>
          <p:nvPr/>
        </p:nvGrpSpPr>
        <p:grpSpPr bwMode="auto">
          <a:xfrm>
            <a:off x="1524000" y="2362200"/>
            <a:ext cx="5334000" cy="2476500"/>
            <a:chOff x="960" y="1488"/>
            <a:chExt cx="3360" cy="1560"/>
          </a:xfrm>
        </p:grpSpPr>
        <p:sp>
          <p:nvSpPr>
            <p:cNvPr id="24582" name="Text Box 6">
              <a:extLst>
                <a:ext uri="{FF2B5EF4-FFF2-40B4-BE49-F238E27FC236}">
                  <a16:creationId xmlns:a16="http://schemas.microsoft.com/office/drawing/2014/main" id="{A3AA1072-E958-04F0-36FF-85AECD09E655}"/>
                </a:ext>
              </a:extLst>
            </p:cNvPr>
            <p:cNvSpPr txBox="1">
              <a:spLocks noChangeArrowheads="1"/>
            </p:cNvSpPr>
            <p:nvPr/>
          </p:nvSpPr>
          <p:spPr bwMode="auto">
            <a:xfrm>
              <a:off x="1443" y="1934"/>
              <a:ext cx="9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handleHelp()</a:t>
              </a:r>
            </a:p>
          </p:txBody>
        </p:sp>
        <p:sp>
          <p:nvSpPr>
            <p:cNvPr id="24583" name="Text Box 7">
              <a:extLst>
                <a:ext uri="{FF2B5EF4-FFF2-40B4-BE49-F238E27FC236}">
                  <a16:creationId xmlns:a16="http://schemas.microsoft.com/office/drawing/2014/main" id="{3138842D-C1B0-F9E9-15C5-67F2BFB25645}"/>
                </a:ext>
              </a:extLst>
            </p:cNvPr>
            <p:cNvSpPr txBox="1">
              <a:spLocks noChangeArrowheads="1"/>
            </p:cNvSpPr>
            <p:nvPr/>
          </p:nvSpPr>
          <p:spPr bwMode="auto">
            <a:xfrm>
              <a:off x="2776" y="2038"/>
              <a:ext cx="9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tr-TR" sz="1800"/>
                <a:t>handleHelp()</a:t>
              </a:r>
            </a:p>
          </p:txBody>
        </p:sp>
        <p:sp>
          <p:nvSpPr>
            <p:cNvPr id="24584" name="Line 8">
              <a:extLst>
                <a:ext uri="{FF2B5EF4-FFF2-40B4-BE49-F238E27FC236}">
                  <a16:creationId xmlns:a16="http://schemas.microsoft.com/office/drawing/2014/main" id="{DB9DB7DA-3AC5-86B1-DA61-5187DE44930B}"/>
                </a:ext>
              </a:extLst>
            </p:cNvPr>
            <p:cNvSpPr>
              <a:spLocks noChangeShapeType="1"/>
            </p:cNvSpPr>
            <p:nvPr/>
          </p:nvSpPr>
          <p:spPr bwMode="auto">
            <a:xfrm flipH="1">
              <a:off x="1320" y="1695"/>
              <a:ext cx="3" cy="13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9">
              <a:extLst>
                <a:ext uri="{FF2B5EF4-FFF2-40B4-BE49-F238E27FC236}">
                  <a16:creationId xmlns:a16="http://schemas.microsoft.com/office/drawing/2014/main" id="{5C66F9A3-198D-4340-7D63-43E8E8D17F51}"/>
                </a:ext>
              </a:extLst>
            </p:cNvPr>
            <p:cNvSpPr>
              <a:spLocks noChangeShapeType="1"/>
            </p:cNvSpPr>
            <p:nvPr/>
          </p:nvSpPr>
          <p:spPr bwMode="auto">
            <a:xfrm>
              <a:off x="2595" y="1695"/>
              <a:ext cx="0" cy="1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6" name="Line 10">
              <a:extLst>
                <a:ext uri="{FF2B5EF4-FFF2-40B4-BE49-F238E27FC236}">
                  <a16:creationId xmlns:a16="http://schemas.microsoft.com/office/drawing/2014/main" id="{BA74B7C2-A2BC-88D5-F712-29D2AB875B73}"/>
                </a:ext>
              </a:extLst>
            </p:cNvPr>
            <p:cNvSpPr>
              <a:spLocks noChangeShapeType="1"/>
            </p:cNvSpPr>
            <p:nvPr/>
          </p:nvSpPr>
          <p:spPr bwMode="auto">
            <a:xfrm>
              <a:off x="3866" y="1695"/>
              <a:ext cx="0" cy="1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Rectangle 11">
              <a:extLst>
                <a:ext uri="{FF2B5EF4-FFF2-40B4-BE49-F238E27FC236}">
                  <a16:creationId xmlns:a16="http://schemas.microsoft.com/office/drawing/2014/main" id="{59A04D18-E2CF-D8E0-C732-D6A080C0B6D8}"/>
                </a:ext>
              </a:extLst>
            </p:cNvPr>
            <p:cNvSpPr>
              <a:spLocks noChangeArrowheads="1"/>
            </p:cNvSpPr>
            <p:nvPr/>
          </p:nvSpPr>
          <p:spPr bwMode="auto">
            <a:xfrm>
              <a:off x="1232" y="1937"/>
              <a:ext cx="182" cy="96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24588" name="Rectangle 12">
              <a:extLst>
                <a:ext uri="{FF2B5EF4-FFF2-40B4-BE49-F238E27FC236}">
                  <a16:creationId xmlns:a16="http://schemas.microsoft.com/office/drawing/2014/main" id="{3C59AE38-7053-E834-AD40-1D96B96D2213}"/>
                </a:ext>
              </a:extLst>
            </p:cNvPr>
            <p:cNvSpPr>
              <a:spLocks noChangeArrowheads="1"/>
            </p:cNvSpPr>
            <p:nvPr/>
          </p:nvSpPr>
          <p:spPr bwMode="auto">
            <a:xfrm>
              <a:off x="2504" y="2145"/>
              <a:ext cx="181" cy="62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24589" name="Rectangle 13">
              <a:extLst>
                <a:ext uri="{FF2B5EF4-FFF2-40B4-BE49-F238E27FC236}">
                  <a16:creationId xmlns:a16="http://schemas.microsoft.com/office/drawing/2014/main" id="{85D1BA74-E30D-9399-36D6-A0158C10C568}"/>
                </a:ext>
              </a:extLst>
            </p:cNvPr>
            <p:cNvSpPr>
              <a:spLocks noChangeArrowheads="1"/>
            </p:cNvSpPr>
            <p:nvPr/>
          </p:nvSpPr>
          <p:spPr bwMode="auto">
            <a:xfrm>
              <a:off x="3775" y="2214"/>
              <a:ext cx="182" cy="449"/>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tr-TR" altLang="tr-TR" sz="1800"/>
            </a:p>
          </p:txBody>
        </p:sp>
        <p:sp>
          <p:nvSpPr>
            <p:cNvPr id="24590" name="Line 14">
              <a:extLst>
                <a:ext uri="{FF2B5EF4-FFF2-40B4-BE49-F238E27FC236}">
                  <a16:creationId xmlns:a16="http://schemas.microsoft.com/office/drawing/2014/main" id="{17006023-EA4A-1BDC-F94D-1357CC29AD3C}"/>
                </a:ext>
              </a:extLst>
            </p:cNvPr>
            <p:cNvSpPr>
              <a:spLocks noChangeShapeType="1"/>
            </p:cNvSpPr>
            <p:nvPr/>
          </p:nvSpPr>
          <p:spPr bwMode="auto">
            <a:xfrm>
              <a:off x="1414" y="2179"/>
              <a:ext cx="109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4591" name="Line 15">
              <a:extLst>
                <a:ext uri="{FF2B5EF4-FFF2-40B4-BE49-F238E27FC236}">
                  <a16:creationId xmlns:a16="http://schemas.microsoft.com/office/drawing/2014/main" id="{B85AA2E0-2C77-5EAC-BB94-0EDF6AAB5316}"/>
                </a:ext>
              </a:extLst>
            </p:cNvPr>
            <p:cNvSpPr>
              <a:spLocks noChangeShapeType="1"/>
            </p:cNvSpPr>
            <p:nvPr/>
          </p:nvSpPr>
          <p:spPr bwMode="auto">
            <a:xfrm>
              <a:off x="2685" y="2283"/>
              <a:ext cx="1090"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24592" name="Rectangle 16">
              <a:extLst>
                <a:ext uri="{FF2B5EF4-FFF2-40B4-BE49-F238E27FC236}">
                  <a16:creationId xmlns:a16="http://schemas.microsoft.com/office/drawing/2014/main" id="{EE36AC6F-A018-757B-B7A1-A9AA1459BDFD}"/>
                </a:ext>
              </a:extLst>
            </p:cNvPr>
            <p:cNvSpPr>
              <a:spLocks noChangeArrowheads="1"/>
            </p:cNvSpPr>
            <p:nvPr/>
          </p:nvSpPr>
          <p:spPr bwMode="auto">
            <a:xfrm>
              <a:off x="960" y="1488"/>
              <a:ext cx="726" cy="24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:Button</a:t>
              </a:r>
            </a:p>
          </p:txBody>
        </p:sp>
        <p:sp>
          <p:nvSpPr>
            <p:cNvPr id="24593" name="Rectangle 17">
              <a:extLst>
                <a:ext uri="{FF2B5EF4-FFF2-40B4-BE49-F238E27FC236}">
                  <a16:creationId xmlns:a16="http://schemas.microsoft.com/office/drawing/2014/main" id="{94A90746-B0FD-812A-646A-610345BD501F}"/>
                </a:ext>
              </a:extLst>
            </p:cNvPr>
            <p:cNvSpPr>
              <a:spLocks noChangeArrowheads="1"/>
            </p:cNvSpPr>
            <p:nvPr/>
          </p:nvSpPr>
          <p:spPr bwMode="auto">
            <a:xfrm>
              <a:off x="2277" y="1488"/>
              <a:ext cx="635" cy="25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:Dialog</a:t>
              </a:r>
            </a:p>
          </p:txBody>
        </p:sp>
        <p:sp>
          <p:nvSpPr>
            <p:cNvPr id="24594" name="Rectangle 18">
              <a:extLst>
                <a:ext uri="{FF2B5EF4-FFF2-40B4-BE49-F238E27FC236}">
                  <a16:creationId xmlns:a16="http://schemas.microsoft.com/office/drawing/2014/main" id="{0375B668-93BE-E6C5-2C52-7DDACF6FB756}"/>
                </a:ext>
              </a:extLst>
            </p:cNvPr>
            <p:cNvSpPr>
              <a:spLocks noChangeArrowheads="1"/>
            </p:cNvSpPr>
            <p:nvPr/>
          </p:nvSpPr>
          <p:spPr bwMode="auto">
            <a:xfrm>
              <a:off x="3457" y="1488"/>
              <a:ext cx="863" cy="24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fontAlgn="base">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tr-TR" sz="1800" u="sng"/>
                <a:t>:Application</a:t>
              </a:r>
            </a:p>
          </p:txBody>
        </p:sp>
      </p:grpSp>
    </p:spTree>
    <p:extLst>
      <p:ext uri="{BB962C8B-B14F-4D97-AF65-F5344CB8AC3E}">
        <p14:creationId xmlns:p14="http://schemas.microsoft.com/office/powerpoint/2010/main" val="4271784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32426-98D8-DC84-6C32-A5BD0905FF9E}"/>
              </a:ext>
            </a:extLst>
          </p:cNvPr>
          <p:cNvSpPr>
            <a:spLocks noGrp="1"/>
          </p:cNvSpPr>
          <p:nvPr>
            <p:ph type="title"/>
          </p:nvPr>
        </p:nvSpPr>
        <p:spPr/>
        <p:txBody>
          <a:bodyPr/>
          <a:lstStyle/>
          <a:p>
            <a:r>
              <a:rPr lang="en-US" dirty="0" err="1"/>
              <a:t>CoR</a:t>
            </a:r>
            <a:r>
              <a:rPr lang="en-US" dirty="0"/>
              <a:t> with Composite</a:t>
            </a:r>
          </a:p>
        </p:txBody>
      </p:sp>
      <p:sp>
        <p:nvSpPr>
          <p:cNvPr id="11" name="Content Placeholder 10">
            <a:extLst>
              <a:ext uri="{FF2B5EF4-FFF2-40B4-BE49-F238E27FC236}">
                <a16:creationId xmlns:a16="http://schemas.microsoft.com/office/drawing/2014/main" id="{F3DD94D3-1AE6-B8D2-C237-A72C8C791855}"/>
              </a:ext>
            </a:extLst>
          </p:cNvPr>
          <p:cNvSpPr>
            <a:spLocks noGrp="1"/>
          </p:cNvSpPr>
          <p:nvPr>
            <p:ph idx="1"/>
          </p:nvPr>
        </p:nvSpPr>
        <p:spPr>
          <a:xfrm>
            <a:off x="457200" y="1335291"/>
            <a:ext cx="8229600" cy="5243309"/>
          </a:xfrm>
        </p:spPr>
        <p:txBody>
          <a:bodyPr/>
          <a:lstStyle/>
          <a:p>
            <a:pPr marL="0" indent="0">
              <a:buNone/>
            </a:pPr>
            <a:r>
              <a:rPr lang="en-US" sz="2000" dirty="0">
                <a:latin typeface="Source Sans Pro" panose="020B0503030403020204" pitchFamily="34" charset="0"/>
                <a:ea typeface="Source Sans Pro" panose="020B0503030403020204" pitchFamily="34" charset="0"/>
              </a:rPr>
              <a:t>  class </a:t>
            </a:r>
            <a:r>
              <a:rPr lang="en-US" sz="2000" dirty="0">
                <a:solidFill>
                  <a:srgbClr val="0070C0"/>
                </a:solidFill>
                <a:latin typeface="Source Sans Pro" panose="020B0503030403020204" pitchFamily="34" charset="0"/>
                <a:ea typeface="Source Sans Pro" panose="020B0503030403020204" pitchFamily="34" charset="0"/>
              </a:rPr>
              <a:t>Widget</a:t>
            </a:r>
            <a:r>
              <a:rPr lang="en-US" sz="2000" dirty="0">
                <a:latin typeface="Source Sans Pro" panose="020B0503030403020204" pitchFamily="34" charset="0"/>
                <a:ea typeface="Source Sans Pro" panose="020B0503030403020204" pitchFamily="34" charset="0"/>
              </a:rPr>
              <a:t> : public </a:t>
            </a:r>
            <a:r>
              <a:rPr lang="en-US" sz="2000" dirty="0" err="1">
                <a:solidFill>
                  <a:srgbClr val="0070C0"/>
                </a:solidFill>
                <a:latin typeface="Source Sans Pro" panose="020B0503030403020204" pitchFamily="34" charset="0"/>
                <a:ea typeface="Source Sans Pro" panose="020B0503030403020204" pitchFamily="34" charset="0"/>
              </a:rPr>
              <a:t>HelpHandler</a:t>
            </a:r>
            <a:r>
              <a:rPr lang="en-US" sz="2000" dirty="0">
                <a:latin typeface="Source Sans Pro" panose="020B0503030403020204" pitchFamily="34" charset="0"/>
                <a:ea typeface="Source Sans Pro" panose="020B0503030403020204" pitchFamily="34" charset="0"/>
              </a:rPr>
              <a:t>, Composite {</a:t>
            </a:r>
          </a:p>
          <a:p>
            <a:pPr marL="0" indent="0">
              <a:buNone/>
            </a:pPr>
            <a:r>
              <a:rPr lang="en-US" sz="2000" dirty="0">
                <a:latin typeface="Source Sans Pro" panose="020B0503030403020204" pitchFamily="34" charset="0"/>
                <a:ea typeface="Source Sans Pro" panose="020B0503030403020204" pitchFamily="34" charset="0"/>
              </a:rPr>
              <a:t>    protected:        Widget(Widget* parent, Topic t = NO_HELP_TOPIC);</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Widget::Widget (Widget* w, Topic t) : </a:t>
            </a:r>
            <a:r>
              <a:rPr lang="en-US" sz="2000" dirty="0" err="1">
                <a:latin typeface="Source Sans Pro" panose="020B0503030403020204" pitchFamily="34" charset="0"/>
                <a:ea typeface="Source Sans Pro" panose="020B0503030403020204" pitchFamily="34" charset="0"/>
              </a:rPr>
              <a:t>HelpHandler</a:t>
            </a:r>
            <a:r>
              <a:rPr lang="en-US" sz="2000" dirty="0">
                <a:latin typeface="Source Sans Pro" panose="020B0503030403020204" pitchFamily="34" charset="0"/>
                <a:ea typeface="Source Sans Pro" panose="020B0503030403020204" pitchFamily="34" charset="0"/>
              </a:rPr>
              <a:t>(w, t) { _parent = w;}</a:t>
            </a:r>
          </a:p>
          <a:p>
            <a:pPr marL="0" indent="0">
              <a:buNone/>
            </a:pP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rPr>
              <a:t>class </a:t>
            </a:r>
            <a:r>
              <a:rPr lang="en-US" sz="2000" dirty="0">
                <a:solidFill>
                  <a:srgbClr val="0070C0"/>
                </a:solidFill>
                <a:latin typeface="Source Sans Pro" panose="020B0503030403020204" pitchFamily="34" charset="0"/>
                <a:ea typeface="Source Sans Pro" panose="020B0503030403020204" pitchFamily="34" charset="0"/>
              </a:rPr>
              <a:t>Composite</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protected: std::vector&lt;Component *&gt; children; </a:t>
            </a:r>
          </a:p>
          <a:p>
            <a:pPr marL="0" indent="0">
              <a:buNone/>
            </a:pPr>
            <a:r>
              <a:rPr lang="en-US" sz="2000" dirty="0">
                <a:latin typeface="Source Sans Pro" panose="020B0503030403020204" pitchFamily="34" charset="0"/>
                <a:ea typeface="Source Sans Pro" panose="020B0503030403020204" pitchFamily="34" charset="0"/>
              </a:rPr>
              <a:t>                        Component *_parent;</a:t>
            </a:r>
          </a:p>
          <a:p>
            <a:pPr marL="0" indent="0">
              <a:buNone/>
            </a:pPr>
            <a:r>
              <a:rPr lang="en-US" sz="2000" dirty="0">
                <a:latin typeface="Source Sans Pro" panose="020B0503030403020204" pitchFamily="34" charset="0"/>
                <a:ea typeface="Source Sans Pro" panose="020B0503030403020204" pitchFamily="34" charset="0"/>
              </a:rPr>
              <a:t>public:</a:t>
            </a:r>
          </a:p>
          <a:p>
            <a:pPr marL="0" indent="0">
              <a:buNone/>
            </a:pPr>
            <a:r>
              <a:rPr lang="en-US" sz="2000" dirty="0">
                <a:latin typeface="Source Sans Pro" panose="020B0503030403020204" pitchFamily="34" charset="0"/>
                <a:ea typeface="Source Sans Pro" panose="020B0503030403020204" pitchFamily="34" charset="0"/>
              </a:rPr>
              <a:t>  virtual void add(Component *c) {</a:t>
            </a:r>
            <a:r>
              <a:rPr lang="en-US" sz="2000" dirty="0" err="1">
                <a:latin typeface="Source Sans Pro" panose="020B0503030403020204" pitchFamily="34" charset="0"/>
                <a:ea typeface="Source Sans Pro" panose="020B0503030403020204" pitchFamily="34" charset="0"/>
              </a:rPr>
              <a:t>children.push_back</a:t>
            </a:r>
            <a:r>
              <a:rPr lang="en-US" sz="2000" dirty="0">
                <a:latin typeface="Source Sans Pro" panose="020B0503030403020204" pitchFamily="34" charset="0"/>
                <a:ea typeface="Source Sans Pro" panose="020B0503030403020204" pitchFamily="34" charset="0"/>
              </a:rPr>
              <a:t>(c); c-&gt;parent=this};</a:t>
            </a:r>
          </a:p>
          <a:p>
            <a:pPr marL="0" indent="0">
              <a:buNone/>
            </a:pPr>
            <a:r>
              <a:rPr lang="en-US" sz="2000" dirty="0">
                <a:latin typeface="Source Sans Pro" panose="020B0503030403020204" pitchFamily="34" charset="0"/>
                <a:ea typeface="Source Sans Pro" panose="020B0503030403020204" pitchFamily="34" charset="0"/>
              </a:rPr>
              <a:t>  virtual void remove(Component *c){</a:t>
            </a:r>
            <a:r>
              <a:rPr lang="en-US" sz="2000" dirty="0" err="1">
                <a:latin typeface="Source Sans Pro" panose="020B0503030403020204" pitchFamily="34" charset="0"/>
                <a:ea typeface="Source Sans Pro" panose="020B0503030403020204" pitchFamily="34" charset="0"/>
              </a:rPr>
              <a:t>children.remove</a:t>
            </a:r>
            <a:r>
              <a:rPr lang="en-US" sz="2000" dirty="0">
                <a:latin typeface="Source Sans Pro" panose="020B0503030403020204" pitchFamily="34" charset="0"/>
                <a:ea typeface="Source Sans Pro" panose="020B0503030403020204" pitchFamily="34" charset="0"/>
              </a:rPr>
              <a:t>(c)};</a:t>
            </a:r>
          </a:p>
          <a:p>
            <a:pPr marL="0" indent="0">
              <a:buNone/>
            </a:pPr>
            <a:r>
              <a:rPr lang="en-US" sz="2000" dirty="0">
                <a:latin typeface="Source Sans Pro" panose="020B0503030403020204" pitchFamily="34" charset="0"/>
                <a:ea typeface="Source Sans Pro" panose="020B0503030403020204" pitchFamily="34" charset="0"/>
              </a:rPr>
              <a:t>  virtual Component *get(int </a:t>
            </a:r>
            <a:r>
              <a:rPr lang="en-US" sz="2000" dirty="0" err="1">
                <a:latin typeface="Source Sans Pro" panose="020B0503030403020204" pitchFamily="34" charset="0"/>
                <a:ea typeface="Source Sans Pro" panose="020B0503030403020204" pitchFamily="34" charset="0"/>
              </a:rPr>
              <a:t>i</a:t>
            </a:r>
            <a:r>
              <a:rPr lang="en-US" sz="2000" dirty="0">
                <a:latin typeface="Source Sans Pro" panose="020B0503030403020204" pitchFamily="34" charset="0"/>
                <a:ea typeface="Source Sans Pro" panose="020B0503030403020204" pitchFamily="34" charset="0"/>
              </a:rPr>
              <a:t>) const {</a:t>
            </a:r>
          </a:p>
          <a:p>
            <a:pPr marL="0" indent="0">
              <a:buNone/>
            </a:pPr>
            <a:r>
              <a:rPr lang="en-US" sz="2000" dirty="0">
                <a:latin typeface="Source Sans Pro" panose="020B0503030403020204" pitchFamily="34" charset="0"/>
                <a:ea typeface="Source Sans Pro" panose="020B0503030403020204" pitchFamily="34" charset="0"/>
              </a:rPr>
              <a:t>       if (</a:t>
            </a:r>
            <a:r>
              <a:rPr lang="en-US" sz="2000" dirty="0" err="1">
                <a:latin typeface="Source Sans Pro" panose="020B0503030403020204" pitchFamily="34" charset="0"/>
                <a:ea typeface="Source Sans Pro" panose="020B0503030403020204" pitchFamily="34" charset="0"/>
              </a:rPr>
              <a:t>i</a:t>
            </a:r>
            <a:r>
              <a:rPr lang="en-US" sz="2000" dirty="0">
                <a:latin typeface="Source Sans Pro" panose="020B0503030403020204" pitchFamily="34" charset="0"/>
                <a:ea typeface="Source Sans Pro" panose="020B0503030403020204" pitchFamily="34" charset="0"/>
              </a:rPr>
              <a:t>&lt;</a:t>
            </a:r>
            <a:r>
              <a:rPr lang="en-US" sz="2000" dirty="0" err="1">
                <a:latin typeface="Source Sans Pro" panose="020B0503030403020204" pitchFamily="34" charset="0"/>
                <a:ea typeface="Source Sans Pro" panose="020B0503030403020204" pitchFamily="34" charset="0"/>
              </a:rPr>
              <a:t>children.size</a:t>
            </a:r>
            <a:r>
              <a:rPr lang="en-US" sz="2000" dirty="0">
                <a:latin typeface="Source Sans Pro" panose="020B0503030403020204" pitchFamily="34" charset="0"/>
                <a:ea typeface="Source Sans Pro" panose="020B0503030403020204" pitchFamily="34" charset="0"/>
              </a:rPr>
              <a:t>()) return children[</a:t>
            </a:r>
            <a:r>
              <a:rPr lang="en-US" sz="2000" dirty="0" err="1">
                <a:latin typeface="Source Sans Pro" panose="020B0503030403020204" pitchFamily="34" charset="0"/>
                <a:ea typeface="Source Sans Pro" panose="020B0503030403020204" pitchFamily="34" charset="0"/>
              </a:rPr>
              <a:t>i</a:t>
            </a:r>
            <a:r>
              <a:rPr lang="en-US" sz="2000" dirty="0">
                <a:latin typeface="Source Sans Pro" panose="020B0503030403020204" pitchFamily="34" charset="0"/>
                <a:ea typeface="Source Sans Pro" panose="020B0503030403020204" pitchFamily="34" charset="0"/>
              </a:rPr>
              <a:t>]; return 0;}</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endParaRPr lang="en-US" sz="2000" dirty="0">
              <a:latin typeface="Source Sans Pro" panose="020B0503030403020204" pitchFamily="34" charset="0"/>
              <a:ea typeface="Source Sans Pro" panose="020B0503030403020204" pitchFamily="34" charset="0"/>
            </a:endParaRPr>
          </a:p>
          <a:p>
            <a:pPr marL="0" indent="0">
              <a:buNone/>
            </a:pPr>
            <a:endParaRPr lang="en-US" sz="20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572318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8CA04C7-65D8-A4F6-2F81-1F460D282E85}"/>
              </a:ext>
            </a:extLst>
          </p:cNvPr>
          <p:cNvSpPr>
            <a:spLocks noGrp="1" noChangeArrowheads="1"/>
          </p:cNvSpPr>
          <p:nvPr>
            <p:ph type="title"/>
          </p:nvPr>
        </p:nvSpPr>
        <p:spPr/>
        <p:txBody>
          <a:bodyPr/>
          <a:lstStyle/>
          <a:p>
            <a:r>
              <a:rPr lang="en-US" altLang="tr-TR" dirty="0"/>
              <a:t>Broken chain</a:t>
            </a:r>
            <a:endParaRPr lang="tr-TR" altLang="tr-TR" dirty="0"/>
          </a:p>
        </p:txBody>
      </p:sp>
      <p:sp>
        <p:nvSpPr>
          <p:cNvPr id="3" name="Content Placeholder 2">
            <a:extLst>
              <a:ext uri="{FF2B5EF4-FFF2-40B4-BE49-F238E27FC236}">
                <a16:creationId xmlns:a16="http://schemas.microsoft.com/office/drawing/2014/main" id="{0B90C78C-119D-DA10-4CB8-7103A6701FA5}"/>
              </a:ext>
            </a:extLst>
          </p:cNvPr>
          <p:cNvSpPr>
            <a:spLocks noGrp="1"/>
          </p:cNvSpPr>
          <p:nvPr>
            <p:ph idx="1"/>
          </p:nvPr>
        </p:nvSpPr>
        <p:spPr/>
        <p:txBody>
          <a:bodyPr/>
          <a:lstStyle/>
          <a:p>
            <a:pPr>
              <a:defRPr/>
            </a:pPr>
            <a:r>
              <a:rPr lang="en-US" sz="2800" dirty="0"/>
              <a:t>What if programmer of a Handler does not pass control to the successor?</a:t>
            </a:r>
          </a:p>
          <a:p>
            <a:pPr lvl="1">
              <a:defRPr/>
            </a:pPr>
            <a:r>
              <a:rPr lang="en-US" sz="2400" dirty="0"/>
              <a:t>When the handler cannot process the request, the request must follow the chain </a:t>
            </a:r>
          </a:p>
          <a:p>
            <a:pPr lvl="1">
              <a:defRPr/>
            </a:pPr>
            <a:r>
              <a:rPr lang="en-US" sz="2400" dirty="0"/>
              <a:t>May omit to call </a:t>
            </a:r>
            <a:r>
              <a:rPr lang="en-US" sz="2400" dirty="0" err="1">
                <a:latin typeface="Source Sans Pro" panose="020B0503030403020204" pitchFamily="34" charset="0"/>
                <a:ea typeface="Source Sans Pro" panose="020B0503030403020204" pitchFamily="34" charset="0"/>
              </a:rPr>
              <a:t>super.handle</a:t>
            </a:r>
            <a:r>
              <a:rPr lang="en-US" sz="2400" dirty="0">
                <a:latin typeface="Source Sans Pro" panose="020B0503030403020204" pitchFamily="34" charset="0"/>
                <a:ea typeface="Source Sans Pro" panose="020B0503030403020204" pitchFamily="34" charset="0"/>
              </a:rPr>
              <a:t>(request)</a:t>
            </a:r>
          </a:p>
          <a:p>
            <a:pPr lvl="1">
              <a:defRPr/>
            </a:pPr>
            <a:r>
              <a:rPr lang="en-US" sz="2400" dirty="0"/>
              <a:t>Abstract Handler does not implement the default behavior and handler omits </a:t>
            </a:r>
            <a:r>
              <a:rPr lang="en-US" sz="2400" dirty="0" err="1">
                <a:latin typeface="Source Sans Pro" panose="020B0503030403020204" pitchFamily="34" charset="0"/>
                <a:ea typeface="Source Sans Pro" panose="020B0503030403020204" pitchFamily="34" charset="0"/>
              </a:rPr>
              <a:t>successor.handle</a:t>
            </a:r>
            <a:r>
              <a:rPr lang="en-US" sz="2400" dirty="0">
                <a:latin typeface="Source Sans Pro" panose="020B0503030403020204" pitchFamily="34" charset="0"/>
                <a:ea typeface="Source Sans Pro" panose="020B0503030403020204" pitchFamily="34" charset="0"/>
              </a:rPr>
              <a:t>(request)</a:t>
            </a:r>
          </a:p>
          <a:p>
            <a:pPr>
              <a:defRPr/>
            </a:pPr>
            <a:r>
              <a:rPr lang="en-US" sz="2800" dirty="0">
                <a:latin typeface="+mj-lt"/>
                <a:ea typeface="Source Sans Pro" panose="020B0503030403020204" pitchFamily="34" charset="0"/>
              </a:rPr>
              <a:t>What is invariant of handling a request?</a:t>
            </a:r>
          </a:p>
          <a:p>
            <a:pPr lvl="1">
              <a:defRPr/>
            </a:pPr>
            <a:r>
              <a:rPr lang="en-US" sz="2400" dirty="0">
                <a:latin typeface="+mj-lt"/>
                <a:ea typeface="Source Sans Pro" panose="020B0503030403020204" pitchFamily="34" charset="0"/>
              </a:rPr>
              <a:t>Do it</a:t>
            </a:r>
          </a:p>
          <a:p>
            <a:pPr lvl="1">
              <a:defRPr/>
            </a:pPr>
            <a:r>
              <a:rPr lang="en-US" sz="2400" dirty="0">
                <a:latin typeface="+mj-lt"/>
                <a:ea typeface="Source Sans Pro" panose="020B0503030403020204" pitchFamily="34" charset="0"/>
              </a:rPr>
              <a:t>If not, pass it on</a:t>
            </a:r>
          </a:p>
          <a:p>
            <a:pPr>
              <a:defRPr/>
            </a:pPr>
            <a:r>
              <a:rPr lang="en-US" sz="2800" dirty="0">
                <a:latin typeface="+mj-lt"/>
                <a:ea typeface="Source Sans Pro" panose="020B0503030403020204" pitchFamily="34" charset="0"/>
              </a:rPr>
              <a:t>Implement the invariant once. Which pattern?</a:t>
            </a:r>
          </a:p>
        </p:txBody>
      </p:sp>
    </p:spTree>
    <p:extLst>
      <p:ext uri="{BB962C8B-B14F-4D97-AF65-F5344CB8AC3E}">
        <p14:creationId xmlns:p14="http://schemas.microsoft.com/office/powerpoint/2010/main" val="26976044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8CA04C7-65D8-A4F6-2F81-1F460D282E85}"/>
              </a:ext>
            </a:extLst>
          </p:cNvPr>
          <p:cNvSpPr>
            <a:spLocks noGrp="1" noChangeArrowheads="1"/>
          </p:cNvSpPr>
          <p:nvPr>
            <p:ph type="title"/>
          </p:nvPr>
        </p:nvSpPr>
        <p:spPr/>
        <p:txBody>
          <a:bodyPr/>
          <a:lstStyle/>
          <a:p>
            <a:r>
              <a:rPr lang="en-US" altLang="tr-TR" dirty="0"/>
              <a:t>Broken chain – solution</a:t>
            </a:r>
            <a:endParaRPr lang="tr-TR" altLang="tr-TR" dirty="0"/>
          </a:p>
        </p:txBody>
      </p:sp>
      <p:sp>
        <p:nvSpPr>
          <p:cNvPr id="3" name="Content Placeholder 2">
            <a:extLst>
              <a:ext uri="{FF2B5EF4-FFF2-40B4-BE49-F238E27FC236}">
                <a16:creationId xmlns:a16="http://schemas.microsoft.com/office/drawing/2014/main" id="{0B90C78C-119D-DA10-4CB8-7103A6701FA5}"/>
              </a:ext>
            </a:extLst>
          </p:cNvPr>
          <p:cNvSpPr>
            <a:spLocks noGrp="1"/>
          </p:cNvSpPr>
          <p:nvPr>
            <p:ph idx="1"/>
          </p:nvPr>
        </p:nvSpPr>
        <p:spPr/>
        <p:txBody>
          <a:bodyPr/>
          <a:lstStyle/>
          <a:p>
            <a:pPr>
              <a:defRPr/>
            </a:pPr>
            <a:r>
              <a:rPr lang="en-US" sz="2400" dirty="0"/>
              <a:t>Template Method to rescue.</a:t>
            </a:r>
          </a:p>
          <a:p>
            <a:pPr marL="0" indent="0">
              <a:buFontTx/>
              <a:buNone/>
              <a:defRPr/>
            </a:pPr>
            <a:r>
              <a:rPr lang="en-US" sz="2400" dirty="0">
                <a:latin typeface="Source Sans Pro" panose="020B0503030403020204" pitchFamily="34" charset="0"/>
                <a:ea typeface="Source Sans Pro" panose="020B0503030403020204" pitchFamily="34" charset="0"/>
              </a:rPr>
              <a:t>abstract class Handler{</a:t>
            </a:r>
          </a:p>
          <a:p>
            <a:pPr marL="0" indent="0">
              <a:buFontTx/>
              <a:buNone/>
              <a:defRPr/>
            </a:pPr>
            <a:r>
              <a:rPr lang="en-US" sz="2400" dirty="0">
                <a:latin typeface="Source Sans Pro" panose="020B0503030403020204" pitchFamily="34" charset="0"/>
                <a:ea typeface="Source Sans Pro" panose="020B0503030403020204" pitchFamily="34" charset="0"/>
              </a:rPr>
              <a:t>   public </a:t>
            </a:r>
            <a:r>
              <a:rPr lang="en-US" sz="2400" b="1" dirty="0">
                <a:latin typeface="Source Sans Pro" panose="020B0503030403020204" pitchFamily="34" charset="0"/>
                <a:ea typeface="Source Sans Pro" panose="020B0503030403020204" pitchFamily="34" charset="0"/>
              </a:rPr>
              <a:t>final</a:t>
            </a:r>
            <a:r>
              <a:rPr lang="en-US" sz="2400" dirty="0">
                <a:latin typeface="Source Sans Pro" panose="020B0503030403020204" pitchFamily="34" charset="0"/>
                <a:ea typeface="Source Sans Pro" panose="020B0503030403020204" pitchFamily="34" charset="0"/>
              </a:rPr>
              <a:t> void </a:t>
            </a:r>
            <a:r>
              <a:rPr lang="en-US" sz="2400" dirty="0" err="1">
                <a:latin typeface="Source Sans Pro" panose="020B0503030403020204" pitchFamily="34" charset="0"/>
                <a:ea typeface="Source Sans Pro" panose="020B0503030403020204" pitchFamily="34" charset="0"/>
              </a:rPr>
              <a:t>handleReq</a:t>
            </a:r>
            <a:r>
              <a:rPr lang="en-US" sz="2400" dirty="0">
                <a:latin typeface="Source Sans Pro" panose="020B0503030403020204" pitchFamily="34" charset="0"/>
                <a:ea typeface="Source Sans Pro" panose="020B0503030403020204" pitchFamily="34" charset="0"/>
              </a:rPr>
              <a:t>(Request r){</a:t>
            </a:r>
          </a:p>
          <a:p>
            <a:pPr marL="0" indent="0">
              <a:buFontTx/>
              <a:buNone/>
              <a:defRPr/>
            </a:pP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bool</a:t>
            </a: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isHandled</a:t>
            </a:r>
            <a:r>
              <a:rPr lang="en-US" sz="2400" dirty="0">
                <a:latin typeface="Source Sans Pro" panose="020B0503030403020204" pitchFamily="34" charset="0"/>
                <a:ea typeface="Source Sans Pro" panose="020B0503030403020204" pitchFamily="34" charset="0"/>
              </a:rPr>
              <a:t>=</a:t>
            </a:r>
            <a:r>
              <a:rPr lang="en-US" sz="2400" dirty="0" err="1">
                <a:latin typeface="Source Sans Pro" panose="020B0503030403020204" pitchFamily="34" charset="0"/>
                <a:ea typeface="Source Sans Pro" panose="020B0503030403020204" pitchFamily="34" charset="0"/>
              </a:rPr>
              <a:t>handleRequest</a:t>
            </a:r>
            <a:r>
              <a:rPr lang="en-US" sz="2400" dirty="0">
                <a:latin typeface="Source Sans Pro" panose="020B0503030403020204" pitchFamily="34" charset="0"/>
                <a:ea typeface="Source Sans Pro" panose="020B0503030403020204" pitchFamily="34" charset="0"/>
              </a:rPr>
              <a:t>(r);</a:t>
            </a:r>
          </a:p>
          <a:p>
            <a:pPr marL="0" indent="0">
              <a:buFontTx/>
              <a:buNone/>
              <a:defRPr/>
            </a:pPr>
            <a:r>
              <a:rPr lang="en-US" sz="2400" dirty="0">
                <a:latin typeface="Source Sans Pro" panose="020B0503030403020204" pitchFamily="34" charset="0"/>
                <a:ea typeface="Source Sans Pro" panose="020B0503030403020204" pitchFamily="34" charset="0"/>
              </a:rPr>
              <a:t>        if(successor!=null &amp;&amp; !</a:t>
            </a:r>
            <a:r>
              <a:rPr lang="en-US" sz="2400" dirty="0" err="1">
                <a:latin typeface="Source Sans Pro" panose="020B0503030403020204" pitchFamily="34" charset="0"/>
                <a:ea typeface="Source Sans Pro" panose="020B0503030403020204" pitchFamily="34" charset="0"/>
              </a:rPr>
              <a:t>isHandled</a:t>
            </a:r>
            <a:r>
              <a:rPr lang="en-US" sz="2400" dirty="0">
                <a:latin typeface="Source Sans Pro" panose="020B0503030403020204" pitchFamily="34" charset="0"/>
                <a:ea typeface="Source Sans Pro" panose="020B0503030403020204" pitchFamily="34" charset="0"/>
              </a:rPr>
              <a:t>)</a:t>
            </a:r>
          </a:p>
          <a:p>
            <a:pPr marL="0" indent="0">
              <a:buFontTx/>
              <a:buNone/>
              <a:defRPr/>
            </a:pP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successor.handleReq</a:t>
            </a:r>
            <a:r>
              <a:rPr lang="en-US" sz="2400" dirty="0">
                <a:latin typeface="Source Sans Pro" panose="020B0503030403020204" pitchFamily="34" charset="0"/>
                <a:ea typeface="Source Sans Pro" panose="020B0503030403020204" pitchFamily="34" charset="0"/>
              </a:rPr>
              <a:t>(r);</a:t>
            </a:r>
          </a:p>
          <a:p>
            <a:pPr marL="0" indent="0">
              <a:buFontTx/>
              <a:buNone/>
              <a:defRPr/>
            </a:pPr>
            <a:r>
              <a:rPr lang="en-US" sz="2400" dirty="0">
                <a:latin typeface="Source Sans Pro" panose="020B0503030403020204" pitchFamily="34" charset="0"/>
                <a:ea typeface="Source Sans Pro" panose="020B0503030403020204" pitchFamily="34" charset="0"/>
              </a:rPr>
              <a:t>   }</a:t>
            </a:r>
          </a:p>
          <a:p>
            <a:pPr marL="0" indent="0">
              <a:buFontTx/>
              <a:buNone/>
              <a:defRPr/>
            </a:pPr>
            <a:r>
              <a:rPr lang="en-US" sz="2400" dirty="0">
                <a:latin typeface="Source Sans Pro" panose="020B0503030403020204" pitchFamily="34" charset="0"/>
                <a:ea typeface="Source Sans Pro" panose="020B0503030403020204" pitchFamily="34" charset="0"/>
              </a:rPr>
              <a:t>   public </a:t>
            </a:r>
            <a:r>
              <a:rPr lang="en-US" sz="2400" b="1" dirty="0">
                <a:latin typeface="Source Sans Pro" panose="020B0503030403020204" pitchFamily="34" charset="0"/>
                <a:ea typeface="Source Sans Pro" panose="020B0503030403020204" pitchFamily="34" charset="0"/>
              </a:rPr>
              <a:t>abstract</a:t>
            </a: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boolean</a:t>
            </a: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handleRequest</a:t>
            </a:r>
            <a:r>
              <a:rPr lang="en-US" sz="2400" dirty="0">
                <a:latin typeface="Source Sans Pro" panose="020B0503030403020204" pitchFamily="34" charset="0"/>
                <a:ea typeface="Source Sans Pro" panose="020B0503030403020204" pitchFamily="34" charset="0"/>
              </a:rPr>
              <a:t>(Request r);</a:t>
            </a:r>
          </a:p>
          <a:p>
            <a:pPr marL="0" indent="0">
              <a:buFontTx/>
              <a:buNone/>
              <a:defRPr/>
            </a:pPr>
            <a:r>
              <a:rPr lang="en-US" sz="2400" dirty="0">
                <a:latin typeface="Source Sans Pro" panose="020B0503030403020204" pitchFamily="34" charset="0"/>
                <a:ea typeface="Source Sans Pro" panose="020B0503030403020204" pitchFamily="34" charset="0"/>
              </a:rPr>
              <a:t>   private Handler successor=null;</a:t>
            </a:r>
          </a:p>
          <a:p>
            <a:pPr marL="0" indent="0">
              <a:buFontTx/>
              <a:buNone/>
              <a:defRPr/>
            </a:pPr>
            <a:r>
              <a:rPr lang="en-US" sz="2400" dirty="0">
                <a:latin typeface="Source Sans Pro" panose="020B0503030403020204" pitchFamily="34" charset="0"/>
                <a:ea typeface="Source Sans Pro" panose="020B0503030403020204" pitchFamily="34" charset="0"/>
              </a:rPr>
              <a:t>   public void </a:t>
            </a:r>
            <a:r>
              <a:rPr lang="en-US" sz="2400" dirty="0" err="1">
                <a:latin typeface="Source Sans Pro" panose="020B0503030403020204" pitchFamily="34" charset="0"/>
                <a:ea typeface="Source Sans Pro" panose="020B0503030403020204" pitchFamily="34" charset="0"/>
              </a:rPr>
              <a:t>setSuccessor</a:t>
            </a:r>
            <a:r>
              <a:rPr lang="en-US" sz="2400" dirty="0">
                <a:latin typeface="Source Sans Pro" panose="020B0503030403020204" pitchFamily="34" charset="0"/>
                <a:ea typeface="Source Sans Pro" panose="020B0503030403020204" pitchFamily="34" charset="0"/>
              </a:rPr>
              <a:t>(Handler h){</a:t>
            </a:r>
          </a:p>
          <a:p>
            <a:pPr marL="0" indent="0">
              <a:buFontTx/>
              <a:buNone/>
              <a:defRPr/>
            </a:pPr>
            <a:r>
              <a:rPr lang="en-US" sz="2400" dirty="0">
                <a:latin typeface="Source Sans Pro" panose="020B0503030403020204" pitchFamily="34" charset="0"/>
                <a:ea typeface="Source Sans Pro" panose="020B0503030403020204" pitchFamily="34" charset="0"/>
              </a:rPr>
              <a:t>        </a:t>
            </a:r>
            <a:r>
              <a:rPr lang="en-US" sz="2400">
                <a:latin typeface="Source Sans Pro" panose="020B0503030403020204" pitchFamily="34" charset="0"/>
                <a:ea typeface="Source Sans Pro" panose="020B0503030403020204" pitchFamily="34" charset="0"/>
              </a:rPr>
              <a:t>this.successor</a:t>
            </a:r>
            <a:r>
              <a:rPr lang="en-US" sz="2400" dirty="0">
                <a:latin typeface="Source Sans Pro" panose="020B0503030403020204" pitchFamily="34" charset="0"/>
                <a:ea typeface="Source Sans Pro" panose="020B0503030403020204" pitchFamily="34" charset="0"/>
              </a:rPr>
              <a:t>=h;}</a:t>
            </a:r>
          </a:p>
          <a:p>
            <a:pPr marL="0" indent="0">
              <a:buFontTx/>
              <a:buNone/>
              <a:defRPr/>
            </a:pPr>
            <a:r>
              <a:rPr lang="en-US" sz="2400" dirty="0">
                <a:latin typeface="Source Sans Pro" panose="020B0503030403020204" pitchFamily="34" charset="0"/>
                <a:ea typeface="Source Sans Pro" panose="020B0503030403020204" pitchFamily="34" charset="0"/>
              </a:rPr>
              <a:t>}</a:t>
            </a:r>
          </a:p>
        </p:txBody>
      </p:sp>
      <p:sp>
        <p:nvSpPr>
          <p:cNvPr id="2" name="TextBox 1">
            <a:extLst>
              <a:ext uri="{FF2B5EF4-FFF2-40B4-BE49-F238E27FC236}">
                <a16:creationId xmlns:a16="http://schemas.microsoft.com/office/drawing/2014/main" id="{610CC605-9BCA-ADFE-1C84-D23DFA3625C3}"/>
              </a:ext>
            </a:extLst>
          </p:cNvPr>
          <p:cNvSpPr txBox="1"/>
          <p:nvPr/>
        </p:nvSpPr>
        <p:spPr>
          <a:xfrm>
            <a:off x="7168436" y="1744134"/>
            <a:ext cx="1965603" cy="461665"/>
          </a:xfrm>
          <a:prstGeom prst="rect">
            <a:avLst/>
          </a:prstGeom>
          <a:noFill/>
        </p:spPr>
        <p:txBody>
          <a:bodyPr wrap="none" rtlCol="0">
            <a:spAutoFit/>
          </a:bodyPr>
          <a:lstStyle/>
          <a:p>
            <a:r>
              <a:rPr lang="en-US" sz="2400" dirty="0">
                <a:solidFill>
                  <a:srgbClr val="C00000"/>
                </a:solidFill>
              </a:rPr>
              <a:t>Participants?</a:t>
            </a:r>
          </a:p>
        </p:txBody>
      </p:sp>
    </p:spTree>
    <p:extLst>
      <p:ext uri="{BB962C8B-B14F-4D97-AF65-F5344CB8AC3E}">
        <p14:creationId xmlns:p14="http://schemas.microsoft.com/office/powerpoint/2010/main" val="1859798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F855A8C-850B-023D-A66B-1DF429690F75}"/>
              </a:ext>
            </a:extLst>
          </p:cNvPr>
          <p:cNvSpPr>
            <a:spLocks noGrp="1" noChangeArrowheads="1"/>
          </p:cNvSpPr>
          <p:nvPr>
            <p:ph type="title"/>
          </p:nvPr>
        </p:nvSpPr>
        <p:spPr>
          <a:xfrm>
            <a:off x="457200" y="139700"/>
            <a:ext cx="8229600" cy="1371600"/>
          </a:xfrm>
        </p:spPr>
        <p:txBody>
          <a:bodyPr/>
          <a:lstStyle/>
          <a:p>
            <a:r>
              <a:rPr lang="en-US" altLang="tr-TR" dirty="0"/>
              <a:t>Consequences -1</a:t>
            </a:r>
          </a:p>
        </p:txBody>
      </p:sp>
      <p:sp>
        <p:nvSpPr>
          <p:cNvPr id="32771" name="Rectangle 3">
            <a:extLst>
              <a:ext uri="{FF2B5EF4-FFF2-40B4-BE49-F238E27FC236}">
                <a16:creationId xmlns:a16="http://schemas.microsoft.com/office/drawing/2014/main" id="{55BE0515-31A1-D014-EE2B-365EC226ACE5}"/>
              </a:ext>
            </a:extLst>
          </p:cNvPr>
          <p:cNvSpPr>
            <a:spLocks noGrp="1" noChangeArrowheads="1"/>
          </p:cNvSpPr>
          <p:nvPr>
            <p:ph idx="1"/>
          </p:nvPr>
        </p:nvSpPr>
        <p:spPr>
          <a:xfrm>
            <a:off x="457200" y="1335088"/>
            <a:ext cx="8686800" cy="4532312"/>
          </a:xfrm>
        </p:spPr>
        <p:txBody>
          <a:bodyPr/>
          <a:lstStyle/>
          <a:p>
            <a:pPr>
              <a:lnSpc>
                <a:spcPct val="110000"/>
              </a:lnSpc>
            </a:pPr>
            <a:r>
              <a:rPr lang="en-US" altLang="tr-TR" sz="2400" dirty="0"/>
              <a:t>Reduced coupling</a:t>
            </a:r>
          </a:p>
          <a:p>
            <a:pPr lvl="1">
              <a:lnSpc>
                <a:spcPct val="110000"/>
              </a:lnSpc>
            </a:pPr>
            <a:r>
              <a:rPr lang="en-US" altLang="tr-TR" sz="2000" dirty="0"/>
              <a:t>simplifies objects because they don’t have to know the chain’s structure and do not keep direct references to its members</a:t>
            </a:r>
          </a:p>
          <a:p>
            <a:pPr>
              <a:lnSpc>
                <a:spcPct val="110000"/>
              </a:lnSpc>
            </a:pPr>
            <a:r>
              <a:rPr lang="en-US" altLang="tr-TR" sz="2400" dirty="0"/>
              <a:t>Flexibility in assigning responsibilities</a:t>
            </a:r>
          </a:p>
          <a:p>
            <a:pPr lvl="1">
              <a:lnSpc>
                <a:spcPct val="110000"/>
              </a:lnSpc>
            </a:pPr>
            <a:r>
              <a:rPr lang="en-US" altLang="tr-TR" sz="2000" dirty="0"/>
              <a:t>allows to add or remove responsibilities dynamically by changing members or the chain order</a:t>
            </a:r>
          </a:p>
          <a:p>
            <a:pPr>
              <a:lnSpc>
                <a:spcPct val="110000"/>
              </a:lnSpc>
            </a:pPr>
            <a:r>
              <a:rPr lang="en-US" altLang="tr-TR" sz="2400" dirty="0"/>
              <a:t>OCP and Single Responsibility</a:t>
            </a:r>
          </a:p>
          <a:p>
            <a:pPr lvl="1">
              <a:lnSpc>
                <a:spcPct val="110000"/>
              </a:lnSpc>
            </a:pPr>
            <a:r>
              <a:rPr lang="en-US" sz="2000" dirty="0"/>
              <a:t>Handlers can be added/removed without altering existing code (OCP), and each handler focuses only on its processing logic (SRP).</a:t>
            </a:r>
            <a:endParaRPr lang="en-US" altLang="tr-TR"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B5420-A31A-DF68-87C7-C6CA063A9CD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817CE9B-9457-665E-C342-76E844220DBE}"/>
              </a:ext>
            </a:extLst>
          </p:cNvPr>
          <p:cNvSpPr>
            <a:spLocks noGrp="1" noChangeArrowheads="1"/>
          </p:cNvSpPr>
          <p:nvPr>
            <p:ph type="title"/>
          </p:nvPr>
        </p:nvSpPr>
        <p:spPr>
          <a:xfrm>
            <a:off x="457200" y="139700"/>
            <a:ext cx="8229600" cy="1371600"/>
          </a:xfrm>
        </p:spPr>
        <p:txBody>
          <a:bodyPr/>
          <a:lstStyle/>
          <a:p>
            <a:r>
              <a:rPr lang="en-US" altLang="tr-TR" dirty="0"/>
              <a:t>Consequences -2</a:t>
            </a:r>
          </a:p>
        </p:txBody>
      </p:sp>
      <p:sp>
        <p:nvSpPr>
          <p:cNvPr id="32771" name="Rectangle 3">
            <a:extLst>
              <a:ext uri="{FF2B5EF4-FFF2-40B4-BE49-F238E27FC236}">
                <a16:creationId xmlns:a16="http://schemas.microsoft.com/office/drawing/2014/main" id="{A33F80B7-2FC9-C523-91FE-46CA2EEB0B08}"/>
              </a:ext>
            </a:extLst>
          </p:cNvPr>
          <p:cNvSpPr>
            <a:spLocks noGrp="1" noChangeArrowheads="1"/>
          </p:cNvSpPr>
          <p:nvPr>
            <p:ph idx="1"/>
          </p:nvPr>
        </p:nvSpPr>
        <p:spPr>
          <a:xfrm>
            <a:off x="457200" y="1335088"/>
            <a:ext cx="8686800" cy="4532312"/>
          </a:xfrm>
        </p:spPr>
        <p:txBody>
          <a:bodyPr/>
          <a:lstStyle/>
          <a:p>
            <a:pPr>
              <a:lnSpc>
                <a:spcPct val="110000"/>
              </a:lnSpc>
            </a:pPr>
            <a:r>
              <a:rPr lang="en-US" altLang="tr-TR" sz="2400" dirty="0"/>
              <a:t>Some requests might not get handled </a:t>
            </a:r>
          </a:p>
          <a:p>
            <a:pPr lvl="1">
              <a:lnSpc>
                <a:spcPct val="110000"/>
              </a:lnSpc>
            </a:pPr>
            <a:r>
              <a:rPr lang="en-US" altLang="tr-TR" sz="2000" dirty="0"/>
              <a:t>execution of the request is not guaranteed.</a:t>
            </a:r>
          </a:p>
          <a:p>
            <a:pPr lvl="1">
              <a:lnSpc>
                <a:spcPct val="110000"/>
              </a:lnSpc>
            </a:pPr>
            <a:r>
              <a:rPr lang="en-US" altLang="tr-TR" sz="2000" dirty="0"/>
              <a:t> if may fall off the end of chain</a:t>
            </a:r>
          </a:p>
          <a:p>
            <a:pPr>
              <a:lnSpc>
                <a:spcPct val="110000"/>
              </a:lnSpc>
            </a:pPr>
            <a:r>
              <a:rPr lang="en-US" altLang="tr-TR" sz="2400" dirty="0"/>
              <a:t>Can be hard to observe the runtime characteristics and debug</a:t>
            </a:r>
          </a:p>
          <a:p>
            <a:pPr>
              <a:lnSpc>
                <a:spcPct val="110000"/>
              </a:lnSpc>
            </a:pPr>
            <a:endParaRPr lang="en-US" altLang="tr-TR" sz="2400" dirty="0"/>
          </a:p>
        </p:txBody>
      </p:sp>
    </p:spTree>
    <p:extLst>
      <p:ext uri="{BB962C8B-B14F-4D97-AF65-F5344CB8AC3E}">
        <p14:creationId xmlns:p14="http://schemas.microsoft.com/office/powerpoint/2010/main" val="20111683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BE9AF-1129-37D4-43DB-D02594A81BBB}"/>
              </a:ext>
            </a:extLst>
          </p:cNvPr>
          <p:cNvSpPr>
            <a:spLocks noGrp="1"/>
          </p:cNvSpPr>
          <p:nvPr>
            <p:ph type="title"/>
          </p:nvPr>
        </p:nvSpPr>
        <p:spPr/>
        <p:txBody>
          <a:bodyPr/>
          <a:lstStyle/>
          <a:p>
            <a:r>
              <a:rPr lang="en-US" dirty="0"/>
              <a:t>Known use</a:t>
            </a:r>
          </a:p>
        </p:txBody>
      </p:sp>
      <p:sp>
        <p:nvSpPr>
          <p:cNvPr id="3" name="Content Placeholder 2">
            <a:extLst>
              <a:ext uri="{FF2B5EF4-FFF2-40B4-BE49-F238E27FC236}">
                <a16:creationId xmlns:a16="http://schemas.microsoft.com/office/drawing/2014/main" id="{C6051C7C-C46E-4800-03C9-88C90052A2C5}"/>
              </a:ext>
            </a:extLst>
          </p:cNvPr>
          <p:cNvSpPr>
            <a:spLocks noGrp="1"/>
          </p:cNvSpPr>
          <p:nvPr>
            <p:ph idx="1"/>
          </p:nvPr>
        </p:nvSpPr>
        <p:spPr>
          <a:xfrm>
            <a:off x="447964" y="1335291"/>
            <a:ext cx="8229600" cy="4532109"/>
          </a:xfrm>
        </p:spPr>
        <p:txBody>
          <a:bodyPr/>
          <a:lstStyle/>
          <a:p>
            <a:r>
              <a:rPr lang="en-US" altLang="tr-TR" dirty="0" err="1">
                <a:latin typeface="Source Sans Pro" panose="020B0503030403020204" pitchFamily="34" charset="0"/>
                <a:ea typeface="Source Sans Pro" panose="020B0503030403020204" pitchFamily="34" charset="0"/>
              </a:rPr>
              <a:t>java.awt</a:t>
            </a:r>
            <a:r>
              <a:rPr lang="en-US" altLang="tr-TR" dirty="0">
                <a:latin typeface="Arial" panose="020B0604020202020204" pitchFamily="34" charset="0"/>
              </a:rPr>
              <a:t> used to be </a:t>
            </a:r>
            <a:r>
              <a:rPr lang="en-US" altLang="tr-TR" dirty="0" err="1">
                <a:latin typeface="Arial" panose="020B0604020202020204" pitchFamily="34" charset="0"/>
              </a:rPr>
              <a:t>CoR</a:t>
            </a:r>
            <a:r>
              <a:rPr lang="en-US" altLang="tr-TR" dirty="0">
                <a:latin typeface="Arial" panose="020B0604020202020204" pitchFamily="34" charset="0"/>
              </a:rPr>
              <a:t> but too many requests passed up in the hierarchy, so they switched to Observer pattern</a:t>
            </a:r>
          </a:p>
          <a:p>
            <a:endParaRPr lang="en-US" altLang="tr-TR" dirty="0">
              <a:latin typeface="Arial" panose="020B0604020202020204" pitchFamily="34" charset="0"/>
            </a:endParaRPr>
          </a:p>
          <a:p>
            <a:pPr marL="0" indent="0">
              <a:buNone/>
            </a:pPr>
            <a:endParaRPr lang="tr-TR" altLang="tr-TR" dirty="0">
              <a:latin typeface="Arial" panose="020B0604020202020204" pitchFamily="34" charset="0"/>
            </a:endParaRPr>
          </a:p>
          <a:p>
            <a:endParaRPr lang="en-US" dirty="0"/>
          </a:p>
        </p:txBody>
      </p:sp>
    </p:spTree>
    <p:extLst>
      <p:ext uri="{BB962C8B-B14F-4D97-AF65-F5344CB8AC3E}">
        <p14:creationId xmlns:p14="http://schemas.microsoft.com/office/powerpoint/2010/main" val="3804944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FAD6DDF-5209-978D-09A4-43E73D91642F}"/>
              </a:ext>
            </a:extLst>
          </p:cNvPr>
          <p:cNvSpPr>
            <a:spLocks noGrp="1" noChangeArrowheads="1"/>
          </p:cNvSpPr>
          <p:nvPr>
            <p:ph type="title"/>
          </p:nvPr>
        </p:nvSpPr>
        <p:spPr>
          <a:xfrm>
            <a:off x="457200" y="139700"/>
            <a:ext cx="8229600" cy="1371600"/>
          </a:xfrm>
        </p:spPr>
        <p:txBody>
          <a:bodyPr/>
          <a:lstStyle/>
          <a:p>
            <a:r>
              <a:rPr lang="en-US" altLang="tr-TR" dirty="0"/>
              <a:t>Related patterns</a:t>
            </a:r>
            <a:endParaRPr lang="en-GB" altLang="tr-TR" dirty="0"/>
          </a:p>
        </p:txBody>
      </p:sp>
      <p:sp>
        <p:nvSpPr>
          <p:cNvPr id="27651" name="Rectangle 3">
            <a:extLst>
              <a:ext uri="{FF2B5EF4-FFF2-40B4-BE49-F238E27FC236}">
                <a16:creationId xmlns:a16="http://schemas.microsoft.com/office/drawing/2014/main" id="{9BA82E70-A2F4-706B-4C30-C340574B69EC}"/>
              </a:ext>
            </a:extLst>
          </p:cNvPr>
          <p:cNvSpPr>
            <a:spLocks noGrp="1" noChangeArrowheads="1"/>
          </p:cNvSpPr>
          <p:nvPr>
            <p:ph idx="1"/>
          </p:nvPr>
        </p:nvSpPr>
        <p:spPr>
          <a:xfrm>
            <a:off x="457200" y="1335088"/>
            <a:ext cx="8229600" cy="4532312"/>
          </a:xfrm>
        </p:spPr>
        <p:txBody>
          <a:bodyPr/>
          <a:lstStyle/>
          <a:p>
            <a:r>
              <a:rPr lang="en-US" altLang="tr-TR" sz="2800" dirty="0">
                <a:latin typeface="+mj-lt"/>
              </a:rPr>
              <a:t>Observer, Mediator and </a:t>
            </a:r>
            <a:r>
              <a:rPr lang="en-US" altLang="tr-TR" sz="2800" dirty="0" err="1">
                <a:latin typeface="+mj-lt"/>
              </a:rPr>
              <a:t>CoR</a:t>
            </a:r>
            <a:endParaRPr lang="en-US" altLang="tr-TR" sz="2800" dirty="0">
              <a:latin typeface="+mj-lt"/>
            </a:endParaRPr>
          </a:p>
          <a:p>
            <a:pPr lvl="1"/>
            <a:r>
              <a:rPr lang="en-US" sz="2400" b="0" i="1" dirty="0">
                <a:effectLst/>
                <a:highlight>
                  <a:srgbClr val="FFFFFF"/>
                </a:highlight>
                <a:latin typeface="+mj-lt"/>
              </a:rPr>
              <a:t>Chain of Responsibility</a:t>
            </a:r>
            <a:r>
              <a:rPr lang="en-US" sz="2400" b="0" i="0" dirty="0">
                <a:effectLst/>
                <a:highlight>
                  <a:srgbClr val="FFFFFF"/>
                </a:highlight>
                <a:latin typeface="+mj-lt"/>
              </a:rPr>
              <a:t> passes a request sequentially along a dynamic chain of potential receivers until one of them handles it.</a:t>
            </a:r>
          </a:p>
          <a:p>
            <a:pPr lvl="1"/>
            <a:r>
              <a:rPr lang="en-US" sz="2400" b="0" i="1" dirty="0">
                <a:effectLst/>
                <a:highlight>
                  <a:srgbClr val="FFFFFF"/>
                </a:highlight>
                <a:latin typeface="+mj-lt"/>
              </a:rPr>
              <a:t>Mediator</a:t>
            </a:r>
            <a:r>
              <a:rPr lang="en-US" sz="2400" b="0" i="0" dirty="0">
                <a:effectLst/>
                <a:highlight>
                  <a:srgbClr val="FFFFFF"/>
                </a:highlight>
                <a:latin typeface="+mj-lt"/>
              </a:rPr>
              <a:t> eliminates direct connections between senders and receivers, forcing them to communicate indirectly via a mediator object.</a:t>
            </a:r>
          </a:p>
          <a:p>
            <a:pPr lvl="1"/>
            <a:r>
              <a:rPr lang="en-US" sz="2400" b="0" i="1" dirty="0">
                <a:effectLst/>
                <a:highlight>
                  <a:srgbClr val="FFFFFF"/>
                </a:highlight>
                <a:latin typeface="+mj-lt"/>
              </a:rPr>
              <a:t>Observer</a:t>
            </a:r>
            <a:r>
              <a:rPr lang="en-US" sz="2400" b="0" i="0" dirty="0">
                <a:effectLst/>
                <a:highlight>
                  <a:srgbClr val="FFFFFF"/>
                </a:highlight>
                <a:latin typeface="+mj-lt"/>
              </a:rPr>
              <a:t> lets receivers dynamically subscribe to and unsubscribe from receiving requests.</a:t>
            </a:r>
          </a:p>
          <a:p>
            <a:r>
              <a:rPr lang="en-US" altLang="tr-TR" sz="2400" dirty="0">
                <a:latin typeface="Arial" panose="020B0604020202020204" pitchFamily="34" charset="0"/>
              </a:rPr>
              <a:t>Read </a:t>
            </a:r>
            <a:r>
              <a:rPr lang="en-US" altLang="tr-TR" sz="2400" dirty="0">
                <a:latin typeface="Arial" panose="020B0604020202020204" pitchFamily="34" charset="0"/>
                <a:hlinkClick r:id="rId3"/>
              </a:rPr>
              <a:t>https://gameprogrammingpatterns.com/observer.html#it-does-too-much-dynamic-allocation</a:t>
            </a:r>
            <a:endParaRPr lang="en-US" altLang="tr-TR" sz="2400" dirty="0">
              <a:latin typeface="Arial" panose="020B0604020202020204" pitchFamily="34" charset="0"/>
            </a:endParaRPr>
          </a:p>
          <a:p>
            <a:r>
              <a:rPr lang="en-US" altLang="tr-TR" sz="2400" dirty="0">
                <a:latin typeface="Arial" panose="020B0604020202020204" pitchFamily="34" charset="0"/>
              </a:rPr>
              <a:t>Do you see the chain of responsibility?</a:t>
            </a:r>
          </a:p>
          <a:p>
            <a:pPr lvl="1"/>
            <a:endParaRPr lang="en-US" altLang="tr-TR" sz="2400" dirty="0">
              <a:latin typeface="+mj-lt"/>
            </a:endParaRPr>
          </a:p>
          <a:p>
            <a:r>
              <a:rPr lang="en-US" altLang="tr-TR" sz="2800" dirty="0">
                <a:latin typeface="+mj-lt"/>
              </a:rPr>
              <a:t>Command (next) to implement requests as objects</a:t>
            </a:r>
          </a:p>
          <a:p>
            <a:r>
              <a:rPr lang="en-US" altLang="tr-TR" sz="2800" dirty="0">
                <a:latin typeface="+mj-lt"/>
              </a:rPr>
              <a:t>Decorator</a:t>
            </a:r>
            <a:endParaRPr lang="en-US" altLang="tr-TR" sz="2400" dirty="0">
              <a:latin typeface="+mj-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FAD6DDF-5209-978D-09A4-43E73D91642F}"/>
              </a:ext>
            </a:extLst>
          </p:cNvPr>
          <p:cNvSpPr>
            <a:spLocks noGrp="1" noChangeArrowheads="1"/>
          </p:cNvSpPr>
          <p:nvPr>
            <p:ph type="title"/>
          </p:nvPr>
        </p:nvSpPr>
        <p:spPr>
          <a:xfrm>
            <a:off x="457200" y="139700"/>
            <a:ext cx="8229600" cy="1371600"/>
          </a:xfrm>
        </p:spPr>
        <p:txBody>
          <a:bodyPr/>
          <a:lstStyle/>
          <a:p>
            <a:r>
              <a:rPr lang="en-US" altLang="tr-TR" dirty="0"/>
              <a:t>Related patterns</a:t>
            </a:r>
            <a:endParaRPr lang="en-GB" altLang="tr-TR" dirty="0"/>
          </a:p>
        </p:txBody>
      </p:sp>
      <p:sp>
        <p:nvSpPr>
          <p:cNvPr id="27651" name="Rectangle 3">
            <a:extLst>
              <a:ext uri="{FF2B5EF4-FFF2-40B4-BE49-F238E27FC236}">
                <a16:creationId xmlns:a16="http://schemas.microsoft.com/office/drawing/2014/main" id="{9BA82E70-A2F4-706B-4C30-C340574B69EC}"/>
              </a:ext>
            </a:extLst>
          </p:cNvPr>
          <p:cNvSpPr>
            <a:spLocks noGrp="1" noChangeArrowheads="1"/>
          </p:cNvSpPr>
          <p:nvPr>
            <p:ph idx="1"/>
          </p:nvPr>
        </p:nvSpPr>
        <p:spPr>
          <a:xfrm>
            <a:off x="457200" y="1335088"/>
            <a:ext cx="8229600" cy="4532312"/>
          </a:xfrm>
        </p:spPr>
        <p:txBody>
          <a:bodyPr/>
          <a:lstStyle/>
          <a:p>
            <a:r>
              <a:rPr lang="en-US" altLang="tr-TR" sz="2800" dirty="0">
                <a:latin typeface="+mj-lt"/>
              </a:rPr>
              <a:t>Composite together with </a:t>
            </a:r>
            <a:r>
              <a:rPr lang="en-US" altLang="tr-TR" sz="2800" dirty="0" err="1">
                <a:latin typeface="+mj-lt"/>
              </a:rPr>
              <a:t>CoR</a:t>
            </a:r>
            <a:endParaRPr lang="en-US" altLang="tr-TR" sz="2800" dirty="0">
              <a:latin typeface="+mj-lt"/>
            </a:endParaRPr>
          </a:p>
          <a:p>
            <a:pPr lvl="1"/>
            <a:r>
              <a:rPr lang="en-US" altLang="tr-TR" sz="2400" dirty="0">
                <a:latin typeface="+mj-lt"/>
              </a:rPr>
              <a:t>Parent links serve as successor</a:t>
            </a:r>
          </a:p>
          <a:p>
            <a:pPr lvl="1"/>
            <a:r>
              <a:rPr lang="en-US" sz="2400" dirty="0">
                <a:solidFill>
                  <a:srgbClr val="1B1C1D"/>
                </a:solidFill>
                <a:latin typeface="Google Sans Text"/>
              </a:rPr>
              <a:t>The structural parent/child links within the Composite tree are </a:t>
            </a:r>
            <a:r>
              <a:rPr lang="en-US" sz="2400" i="1" dirty="0">
                <a:solidFill>
                  <a:srgbClr val="1B1C1D"/>
                </a:solidFill>
                <a:latin typeface="Google Sans Text"/>
              </a:rPr>
              <a:t>reused</a:t>
            </a:r>
            <a:r>
              <a:rPr lang="en-US" sz="2400" dirty="0">
                <a:solidFill>
                  <a:srgbClr val="1B1C1D"/>
                </a:solidFill>
                <a:latin typeface="Google Sans Text"/>
              </a:rPr>
              <a:t> to serve as the </a:t>
            </a:r>
            <a:r>
              <a:rPr lang="en-US" sz="2400" dirty="0">
                <a:solidFill>
                  <a:srgbClr val="444746"/>
                </a:solidFill>
                <a:latin typeface="Google Sans Text"/>
              </a:rPr>
              <a:t>successor</a:t>
            </a:r>
            <a:r>
              <a:rPr lang="en-US" sz="2400" dirty="0">
                <a:solidFill>
                  <a:srgbClr val="1B1C1D"/>
                </a:solidFill>
                <a:latin typeface="Google Sans Text"/>
              </a:rPr>
              <a:t> links in the Chain</a:t>
            </a:r>
          </a:p>
          <a:p>
            <a:pPr lvl="1"/>
            <a:r>
              <a:rPr lang="en-US" sz="2400" dirty="0">
                <a:solidFill>
                  <a:srgbClr val="1B1C1D"/>
                </a:solidFill>
                <a:latin typeface="Google Sans Text"/>
              </a:rPr>
              <a:t>Difference: Composite is about </a:t>
            </a:r>
            <a:r>
              <a:rPr lang="en-US" sz="2400" b="1" dirty="0">
                <a:solidFill>
                  <a:srgbClr val="1B1C1D"/>
                </a:solidFill>
                <a:latin typeface="Google Sans Text"/>
              </a:rPr>
              <a:t>part-whole hierarchy</a:t>
            </a:r>
            <a:r>
              <a:rPr lang="en-US" sz="2400" dirty="0">
                <a:solidFill>
                  <a:srgbClr val="1B1C1D"/>
                </a:solidFill>
                <a:latin typeface="Google Sans Text"/>
              </a:rPr>
              <a:t> for recursive operations. </a:t>
            </a:r>
            <a:r>
              <a:rPr lang="en-US" sz="2400" dirty="0" err="1">
                <a:solidFill>
                  <a:srgbClr val="1B1C1D"/>
                </a:solidFill>
                <a:latin typeface="Google Sans Text"/>
              </a:rPr>
              <a:t>CoR</a:t>
            </a:r>
            <a:r>
              <a:rPr lang="en-US" sz="2400" dirty="0">
                <a:solidFill>
                  <a:srgbClr val="1B1C1D"/>
                </a:solidFill>
                <a:latin typeface="Google Sans Text"/>
              </a:rPr>
              <a:t> is about </a:t>
            </a:r>
            <a:r>
              <a:rPr lang="en-US" sz="2400" b="1" dirty="0">
                <a:solidFill>
                  <a:srgbClr val="1B1C1D"/>
                </a:solidFill>
                <a:latin typeface="Google Sans Text"/>
              </a:rPr>
              <a:t>delegation for singular handling</a:t>
            </a:r>
            <a:r>
              <a:rPr lang="en-US" sz="2400" dirty="0">
                <a:solidFill>
                  <a:srgbClr val="1B1C1D"/>
                </a:solidFill>
                <a:latin typeface="Google Sans Text"/>
              </a:rPr>
              <a:t>.</a:t>
            </a:r>
            <a:endParaRPr lang="en-US" altLang="tr-TR" sz="2400" dirty="0">
              <a:latin typeface="+mj-lt"/>
            </a:endParaRPr>
          </a:p>
          <a:p>
            <a:pPr lvl="1"/>
            <a:endParaRPr lang="en-US" altLang="tr-TR" sz="2400" dirty="0">
              <a:latin typeface="+mj-lt"/>
            </a:endParaRPr>
          </a:p>
          <a:p>
            <a:r>
              <a:rPr lang="en-US" altLang="tr-TR" sz="2800" dirty="0">
                <a:latin typeface="+mj-lt"/>
              </a:rPr>
              <a:t>Command to implement requests as objects</a:t>
            </a:r>
          </a:p>
          <a:p>
            <a:endParaRPr lang="en-US" altLang="tr-TR" sz="2800" dirty="0">
              <a:latin typeface="+mj-lt"/>
            </a:endParaRPr>
          </a:p>
          <a:p>
            <a:r>
              <a:rPr lang="en-US" altLang="tr-TR" sz="2800" dirty="0">
                <a:latin typeface="+mj-lt"/>
              </a:rPr>
              <a:t>Decorator vs </a:t>
            </a:r>
            <a:r>
              <a:rPr lang="en-US" altLang="tr-TR" sz="2800" dirty="0" err="1">
                <a:latin typeface="+mj-lt"/>
              </a:rPr>
              <a:t>CoR</a:t>
            </a:r>
            <a:endParaRPr lang="en-US" altLang="tr-TR" sz="2800" dirty="0">
              <a:latin typeface="+mj-lt"/>
            </a:endParaRPr>
          </a:p>
          <a:p>
            <a:pPr lvl="1"/>
            <a:r>
              <a:rPr lang="en-US" sz="2000" dirty="0">
                <a:solidFill>
                  <a:srgbClr val="1B1C1D"/>
                </a:solidFill>
                <a:latin typeface="Google Sans Text"/>
              </a:rPr>
              <a:t> </a:t>
            </a:r>
            <a:r>
              <a:rPr lang="en-US" sz="2000" b="1" dirty="0">
                <a:solidFill>
                  <a:srgbClr val="1B1C1D"/>
                </a:solidFill>
                <a:latin typeface="Google Sans Text"/>
              </a:rPr>
              <a:t>add responsibilities</a:t>
            </a:r>
            <a:r>
              <a:rPr lang="en-US" sz="2000" dirty="0">
                <a:solidFill>
                  <a:srgbClr val="1B1C1D"/>
                </a:solidFill>
                <a:latin typeface="Google Sans Text"/>
              </a:rPr>
              <a:t>  vs </a:t>
            </a:r>
            <a:r>
              <a:rPr lang="en-US" sz="2000" b="1" dirty="0">
                <a:solidFill>
                  <a:srgbClr val="1B1C1D"/>
                </a:solidFill>
                <a:latin typeface="Google Sans Text"/>
              </a:rPr>
              <a:t>find a single handler</a:t>
            </a:r>
            <a:r>
              <a:rPr lang="en-US" sz="2000" dirty="0">
                <a:solidFill>
                  <a:srgbClr val="1B1C1D"/>
                </a:solidFill>
                <a:latin typeface="Google Sans Text"/>
              </a:rPr>
              <a:t> that stops the chain</a:t>
            </a:r>
          </a:p>
          <a:p>
            <a:endParaRPr lang="en-US" altLang="tr-TR" sz="2400" dirty="0">
              <a:latin typeface="+mj-lt"/>
            </a:endParaRPr>
          </a:p>
        </p:txBody>
      </p:sp>
    </p:spTree>
    <p:extLst>
      <p:ext uri="{BB962C8B-B14F-4D97-AF65-F5344CB8AC3E}">
        <p14:creationId xmlns:p14="http://schemas.microsoft.com/office/powerpoint/2010/main" val="1752869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Unvan 1">
            <a:extLst>
              <a:ext uri="{FF2B5EF4-FFF2-40B4-BE49-F238E27FC236}">
                <a16:creationId xmlns:a16="http://schemas.microsoft.com/office/drawing/2014/main" id="{8C5D2556-909D-3D01-964F-E78E373E1F6A}"/>
              </a:ext>
            </a:extLst>
          </p:cNvPr>
          <p:cNvSpPr>
            <a:spLocks noGrp="1" noChangeArrowheads="1"/>
          </p:cNvSpPr>
          <p:nvPr>
            <p:ph type="title"/>
          </p:nvPr>
        </p:nvSpPr>
        <p:spPr>
          <a:xfrm>
            <a:off x="457200" y="139700"/>
            <a:ext cx="8229600" cy="1371600"/>
          </a:xfrm>
        </p:spPr>
        <p:txBody>
          <a:bodyPr/>
          <a:lstStyle/>
          <a:p>
            <a:r>
              <a:rPr lang="en-US" altLang="en-US"/>
              <a:t>Decorator vs CoR</a:t>
            </a:r>
          </a:p>
        </p:txBody>
      </p:sp>
      <p:sp>
        <p:nvSpPr>
          <p:cNvPr id="3" name="İçerik Yer Tutucusu 2">
            <a:extLst>
              <a:ext uri="{FF2B5EF4-FFF2-40B4-BE49-F238E27FC236}">
                <a16:creationId xmlns:a16="http://schemas.microsoft.com/office/drawing/2014/main" id="{B9E61687-49B4-B59C-CBEC-D227A69FC42E}"/>
              </a:ext>
            </a:extLst>
          </p:cNvPr>
          <p:cNvSpPr>
            <a:spLocks noGrp="1"/>
          </p:cNvSpPr>
          <p:nvPr>
            <p:ph idx="1"/>
          </p:nvPr>
        </p:nvSpPr>
        <p:spPr>
          <a:xfrm>
            <a:off x="457200" y="1335088"/>
            <a:ext cx="8229600" cy="4532312"/>
          </a:xfrm>
        </p:spPr>
        <p:txBody>
          <a:bodyPr/>
          <a:lstStyle/>
          <a:p>
            <a:pPr>
              <a:defRPr/>
            </a:pPr>
            <a:r>
              <a:rPr lang="en-US" dirty="0"/>
              <a:t>Decorator object diagram is almost the same as Chain of Responsibility object diagram</a:t>
            </a:r>
          </a:p>
          <a:p>
            <a:pPr lvl="1">
              <a:defRPr/>
            </a:pPr>
            <a:r>
              <a:rPr lang="en-US" dirty="0"/>
              <a:t>Chain of handlers vs linked list of decorators</a:t>
            </a:r>
          </a:p>
          <a:p>
            <a:pPr marL="457200" lvl="1" indent="0">
              <a:buNone/>
              <a:defRPr/>
            </a:pPr>
            <a:endParaRPr lang="en-US" dirty="0"/>
          </a:p>
          <a:p>
            <a:pPr marL="457200" lvl="1" indent="0">
              <a:buFontTx/>
              <a:buNone/>
              <a:defRPr/>
            </a:pPr>
            <a:r>
              <a:rPr lang="en-US" dirty="0"/>
              <a:t>However: </a:t>
            </a:r>
          </a:p>
          <a:p>
            <a:pPr lvl="1">
              <a:defRPr/>
            </a:pPr>
            <a:r>
              <a:rPr lang="en-US" dirty="0"/>
              <a:t>Decorator has the real subject at the end, </a:t>
            </a:r>
          </a:p>
          <a:p>
            <a:pPr lvl="1">
              <a:defRPr/>
            </a:pPr>
            <a:r>
              <a:rPr lang="en-US" dirty="0" err="1"/>
              <a:t>CoR</a:t>
            </a:r>
            <a:r>
              <a:rPr lang="en-US" dirty="0"/>
              <a:t> all handlers are at the same level, no big object at the end</a:t>
            </a:r>
          </a:p>
          <a:p>
            <a:pPr lvl="1">
              <a:defRPr/>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Unvan 1">
            <a:extLst>
              <a:ext uri="{FF2B5EF4-FFF2-40B4-BE49-F238E27FC236}">
                <a16:creationId xmlns:a16="http://schemas.microsoft.com/office/drawing/2014/main" id="{DD727AD7-987A-B296-843A-50177BE69093}"/>
              </a:ext>
            </a:extLst>
          </p:cNvPr>
          <p:cNvSpPr>
            <a:spLocks noGrp="1" noChangeArrowheads="1"/>
          </p:cNvSpPr>
          <p:nvPr>
            <p:ph type="title"/>
          </p:nvPr>
        </p:nvSpPr>
        <p:spPr>
          <a:xfrm>
            <a:off x="457200" y="139700"/>
            <a:ext cx="8229600" cy="1371600"/>
          </a:xfrm>
        </p:spPr>
        <p:txBody>
          <a:bodyPr/>
          <a:lstStyle/>
          <a:p>
            <a:r>
              <a:rPr lang="en-US" altLang="en-US" dirty="0"/>
              <a:t>Decorator vs </a:t>
            </a:r>
            <a:r>
              <a:rPr lang="en-US" altLang="en-US" dirty="0" err="1"/>
              <a:t>CoR</a:t>
            </a:r>
            <a:r>
              <a:rPr lang="en-US" altLang="en-US" dirty="0"/>
              <a:t> -difference</a:t>
            </a:r>
          </a:p>
        </p:txBody>
      </p:sp>
      <p:sp>
        <p:nvSpPr>
          <p:cNvPr id="3" name="İçerik Yer Tutucusu 2">
            <a:extLst>
              <a:ext uri="{FF2B5EF4-FFF2-40B4-BE49-F238E27FC236}">
                <a16:creationId xmlns:a16="http://schemas.microsoft.com/office/drawing/2014/main" id="{36D052AD-7127-2992-2D6A-8B4C0DC76EF2}"/>
              </a:ext>
            </a:extLst>
          </p:cNvPr>
          <p:cNvSpPr>
            <a:spLocks noGrp="1"/>
          </p:cNvSpPr>
          <p:nvPr>
            <p:ph idx="1"/>
          </p:nvPr>
        </p:nvSpPr>
        <p:spPr>
          <a:xfrm>
            <a:off x="457200" y="1316038"/>
            <a:ext cx="8229600" cy="4525962"/>
          </a:xfrm>
        </p:spPr>
        <p:txBody>
          <a:bodyPr/>
          <a:lstStyle/>
          <a:p>
            <a:pPr>
              <a:defRPr/>
            </a:pPr>
            <a:r>
              <a:rPr lang="en-US" sz="2800" dirty="0"/>
              <a:t>With the decorator, all classes handle the request; </a:t>
            </a:r>
          </a:p>
          <a:p>
            <a:pPr lvl="1">
              <a:defRPr/>
            </a:pPr>
            <a:r>
              <a:rPr lang="en-US" sz="2400" dirty="0"/>
              <a:t>Every decorator in the chain is executed</a:t>
            </a:r>
          </a:p>
          <a:p>
            <a:pPr lvl="1">
              <a:defRPr/>
            </a:pPr>
            <a:r>
              <a:rPr lang="en-US" sz="2400" b="1" dirty="0">
                <a:solidFill>
                  <a:srgbClr val="1B1C1D"/>
                </a:solidFill>
                <a:latin typeface="Google Sans Text"/>
              </a:rPr>
              <a:t>Pipe-and-Filter is conceptually similar to Decorator</a:t>
            </a:r>
            <a:endParaRPr lang="en-US" sz="2400" dirty="0"/>
          </a:p>
          <a:p>
            <a:pPr lvl="1">
              <a:defRPr/>
            </a:pPr>
            <a:endParaRPr lang="en-US" sz="2800" dirty="0"/>
          </a:p>
          <a:p>
            <a:pPr>
              <a:defRPr/>
            </a:pPr>
            <a:r>
              <a:rPr lang="en-US" sz="2800" dirty="0"/>
              <a:t>While for the chain of responsibility, </a:t>
            </a:r>
            <a:r>
              <a:rPr lang="en-US" sz="2800" b="1" dirty="0"/>
              <a:t>exactly one </a:t>
            </a:r>
            <a:r>
              <a:rPr lang="en-US" sz="2800" dirty="0"/>
              <a:t>of the classes in the chain handles the request (Strict </a:t>
            </a:r>
            <a:r>
              <a:rPr lang="en-US" sz="2800" dirty="0" err="1"/>
              <a:t>CoR</a:t>
            </a:r>
            <a:r>
              <a:rPr lang="en-US" sz="2800" dirty="0"/>
              <a:t>). </a:t>
            </a:r>
          </a:p>
          <a:p>
            <a:pPr lvl="1">
              <a:defRPr/>
            </a:pPr>
            <a:r>
              <a:rPr lang="en-US" sz="2400" dirty="0"/>
              <a:t>This is a strict definition of the Responsibility concept in the </a:t>
            </a:r>
            <a:r>
              <a:rPr lang="en-US" sz="2400" dirty="0" err="1">
                <a:hlinkClick r:id="rId3" tooltip="Design Patterns"/>
              </a:rPr>
              <a:t>GoF</a:t>
            </a:r>
            <a:r>
              <a:rPr lang="en-US" sz="2400" dirty="0"/>
              <a:t> book. We will use strict </a:t>
            </a:r>
            <a:r>
              <a:rPr lang="en-US" sz="2400" dirty="0" err="1"/>
              <a:t>CoR.</a:t>
            </a:r>
            <a:endParaRPr lang="en-US" sz="2400" dirty="0"/>
          </a:p>
          <a:p>
            <a:pPr lvl="1">
              <a:defRPr/>
            </a:pPr>
            <a:r>
              <a:rPr lang="en-US" sz="2400" dirty="0"/>
              <a:t>One handler stops passing the request to the next one.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6DCF3-BD6E-9B35-7DA2-44A6073F48CD}"/>
              </a:ext>
            </a:extLst>
          </p:cNvPr>
          <p:cNvSpPr>
            <a:spLocks noGrp="1"/>
          </p:cNvSpPr>
          <p:nvPr>
            <p:ph type="title"/>
          </p:nvPr>
        </p:nvSpPr>
        <p:spPr>
          <a:xfrm>
            <a:off x="457200" y="139152"/>
            <a:ext cx="9050594" cy="1371600"/>
          </a:xfrm>
        </p:spPr>
        <p:txBody>
          <a:bodyPr/>
          <a:lstStyle/>
          <a:p>
            <a:r>
              <a:rPr lang="en-US" sz="4000" dirty="0"/>
              <a:t>Related Patterns –Request Handling</a:t>
            </a:r>
          </a:p>
        </p:txBody>
      </p:sp>
      <p:graphicFrame>
        <p:nvGraphicFramePr>
          <p:cNvPr id="4" name="Content Placeholder 3">
            <a:extLst>
              <a:ext uri="{FF2B5EF4-FFF2-40B4-BE49-F238E27FC236}">
                <a16:creationId xmlns:a16="http://schemas.microsoft.com/office/drawing/2014/main" id="{2612AAD3-81D2-3771-23EA-F0762FE7BB83}"/>
              </a:ext>
            </a:extLst>
          </p:cNvPr>
          <p:cNvGraphicFramePr>
            <a:graphicFrameLocks noGrp="1"/>
          </p:cNvGraphicFramePr>
          <p:nvPr>
            <p:ph idx="1"/>
            <p:extLst>
              <p:ext uri="{D42A27DB-BD31-4B8C-83A1-F6EECF244321}">
                <p14:modId xmlns:p14="http://schemas.microsoft.com/office/powerpoint/2010/main" val="1484681866"/>
              </p:ext>
            </p:extLst>
          </p:nvPr>
        </p:nvGraphicFramePr>
        <p:xfrm>
          <a:off x="742333" y="1676107"/>
          <a:ext cx="7659333" cy="5020312"/>
        </p:xfrm>
        <a:graphic>
          <a:graphicData uri="http://schemas.openxmlformats.org/drawingml/2006/table">
            <a:tbl>
              <a:tblPr/>
              <a:tblGrid>
                <a:gridCol w="1204454">
                  <a:extLst>
                    <a:ext uri="{9D8B030D-6E8A-4147-A177-3AD203B41FA5}">
                      <a16:colId xmlns:a16="http://schemas.microsoft.com/office/drawing/2014/main" val="320445125"/>
                    </a:ext>
                  </a:extLst>
                </a:gridCol>
                <a:gridCol w="2989007">
                  <a:extLst>
                    <a:ext uri="{9D8B030D-6E8A-4147-A177-3AD203B41FA5}">
                      <a16:colId xmlns:a16="http://schemas.microsoft.com/office/drawing/2014/main" val="1916256486"/>
                    </a:ext>
                  </a:extLst>
                </a:gridCol>
                <a:gridCol w="3465872">
                  <a:extLst>
                    <a:ext uri="{9D8B030D-6E8A-4147-A177-3AD203B41FA5}">
                      <a16:colId xmlns:a16="http://schemas.microsoft.com/office/drawing/2014/main" val="4036533626"/>
                    </a:ext>
                  </a:extLst>
                </a:gridCol>
              </a:tblGrid>
              <a:tr h="366022">
                <a:tc>
                  <a:txBody>
                    <a:bodyPr/>
                    <a:lstStyle/>
                    <a:p>
                      <a:pPr rtl="0">
                        <a:buNone/>
                      </a:pPr>
                      <a:r>
                        <a:rPr lang="en-US" sz="1800" b="1" dirty="0">
                          <a:solidFill>
                            <a:srgbClr val="1B1C1D"/>
                          </a:solidFill>
                          <a:effectLst/>
                          <a:latin typeface="+mj-lt"/>
                        </a:rPr>
                        <a:t>Pattern</a:t>
                      </a:r>
                      <a:endParaRPr lang="en-US" sz="1800" dirty="0">
                        <a:solidFill>
                          <a:srgbClr val="1B1C1D"/>
                        </a:solidFill>
                        <a:effectLst/>
                        <a:latin typeface="+mj-lt"/>
                      </a:endParaRP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buNone/>
                      </a:pPr>
                      <a:r>
                        <a:rPr lang="en-US" sz="1800" b="1" dirty="0">
                          <a:solidFill>
                            <a:srgbClr val="1B1C1D"/>
                          </a:solidFill>
                          <a:effectLst/>
                          <a:latin typeface="+mj-lt"/>
                        </a:rPr>
                        <a:t>How it Decouples </a:t>
                      </a:r>
                    </a:p>
                    <a:p>
                      <a:pPr rtl="0">
                        <a:buNone/>
                      </a:pPr>
                      <a:r>
                        <a:rPr lang="en-US" sz="1800" b="1" dirty="0">
                          <a:solidFill>
                            <a:srgbClr val="1B1C1D"/>
                          </a:solidFill>
                          <a:effectLst/>
                          <a:latin typeface="+mj-lt"/>
                        </a:rPr>
                        <a:t>(The Key Difference)</a:t>
                      </a:r>
                      <a:endParaRPr lang="en-US" sz="1800" dirty="0">
                        <a:solidFill>
                          <a:srgbClr val="1B1C1D"/>
                        </a:solidFill>
                        <a:effectLst/>
                        <a:latin typeface="+mj-lt"/>
                      </a:endParaRP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b="1" dirty="0" err="1">
                          <a:solidFill>
                            <a:srgbClr val="1B1C1D"/>
                          </a:solidFill>
                          <a:effectLst/>
                          <a:latin typeface="+mj-lt"/>
                        </a:rPr>
                        <a:t>CoR</a:t>
                      </a:r>
                      <a:r>
                        <a:rPr lang="en-US" sz="1800" b="1" dirty="0">
                          <a:solidFill>
                            <a:srgbClr val="1B1C1D"/>
                          </a:solidFill>
                          <a:effectLst/>
                          <a:latin typeface="+mj-lt"/>
                        </a:rPr>
                        <a:t> vs. Alternative</a:t>
                      </a:r>
                      <a:endParaRPr lang="en-US" sz="1800" dirty="0">
                        <a:solidFill>
                          <a:srgbClr val="1B1C1D"/>
                        </a:solidFill>
                        <a:effectLst/>
                        <a:latin typeface="+mj-lt"/>
                      </a:endParaRP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8693992"/>
                  </a:ext>
                </a:extLst>
              </a:tr>
              <a:tr h="1377850">
                <a:tc>
                  <a:txBody>
                    <a:bodyPr/>
                    <a:lstStyle/>
                    <a:p>
                      <a:pPr rtl="0">
                        <a:buNone/>
                      </a:pPr>
                      <a:r>
                        <a:rPr lang="en-US" sz="1800" b="1" dirty="0">
                          <a:solidFill>
                            <a:srgbClr val="1B1C1D"/>
                          </a:solidFill>
                          <a:effectLst/>
                          <a:latin typeface="+mj-lt"/>
                        </a:rPr>
                        <a:t>Observer</a:t>
                      </a:r>
                      <a:r>
                        <a:rPr lang="en-US" sz="1800" dirty="0">
                          <a:solidFill>
                            <a:srgbClr val="1B1C1D"/>
                          </a:solidFill>
                          <a:effectLst/>
                          <a:latin typeface="+mj-lt"/>
                        </a:rPr>
                        <a:t> </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b="1" dirty="0">
                          <a:solidFill>
                            <a:srgbClr val="1B1C1D"/>
                          </a:solidFill>
                          <a:effectLst/>
                          <a:latin typeface="+mj-lt"/>
                        </a:rPr>
                        <a:t>Broadcasting/1-to-N:</a:t>
                      </a:r>
                      <a:r>
                        <a:rPr lang="en-US" sz="1800" dirty="0">
                          <a:solidFill>
                            <a:srgbClr val="1B1C1D"/>
                          </a:solidFill>
                          <a:effectLst/>
                          <a:latin typeface="+mj-lt"/>
                        </a:rPr>
                        <a:t> Receivers dynamically subscribe and unsubscribe. All subscribed receivers get the request/notification.</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dirty="0" err="1">
                          <a:solidFill>
                            <a:srgbClr val="1B1C1D"/>
                          </a:solidFill>
                          <a:effectLst/>
                          <a:latin typeface="+mj-lt"/>
                        </a:rPr>
                        <a:t>CoR</a:t>
                      </a:r>
                      <a:r>
                        <a:rPr lang="en-US" sz="1800" dirty="0">
                          <a:solidFill>
                            <a:srgbClr val="1B1C1D"/>
                          </a:solidFill>
                          <a:effectLst/>
                          <a:latin typeface="+mj-lt"/>
                        </a:rPr>
                        <a:t> passes the request sequentially for </a:t>
                      </a:r>
                      <a:r>
                        <a:rPr lang="en-US" sz="1800" b="1" dirty="0">
                          <a:solidFill>
                            <a:srgbClr val="1B1C1D"/>
                          </a:solidFill>
                          <a:effectLst/>
                          <a:latin typeface="+mj-lt"/>
                        </a:rPr>
                        <a:t>exclusive handling</a:t>
                      </a:r>
                      <a:r>
                        <a:rPr lang="en-US" sz="1800" dirty="0">
                          <a:solidFill>
                            <a:srgbClr val="1B1C1D"/>
                          </a:solidFill>
                          <a:effectLst/>
                          <a:latin typeface="+mj-lt"/>
                        </a:rPr>
                        <a:t> (Strict </a:t>
                      </a:r>
                      <a:r>
                        <a:rPr lang="en-US" sz="1800" dirty="0" err="1">
                          <a:solidFill>
                            <a:srgbClr val="1B1C1D"/>
                          </a:solidFill>
                          <a:effectLst/>
                          <a:latin typeface="+mj-lt"/>
                        </a:rPr>
                        <a:t>CoR</a:t>
                      </a:r>
                      <a:r>
                        <a:rPr lang="en-US" sz="1800" dirty="0">
                          <a:solidFill>
                            <a:srgbClr val="1B1C1D"/>
                          </a:solidFill>
                          <a:effectLst/>
                          <a:latin typeface="+mj-lt"/>
                        </a:rPr>
                        <a:t>)</a:t>
                      </a:r>
                      <a:r>
                        <a:rPr lang="en-US" sz="1800" baseline="30000" dirty="0">
                          <a:solidFill>
                            <a:srgbClr val="444746"/>
                          </a:solidFill>
                          <a:effectLst/>
                          <a:latin typeface="+mj-lt"/>
                        </a:rPr>
                        <a:t>/</a:t>
                      </a:r>
                    </a:p>
                    <a:p>
                      <a:pPr rtl="0">
                        <a:buNone/>
                      </a:pPr>
                      <a:r>
                        <a:rPr lang="en-US" sz="1800" dirty="0">
                          <a:solidFill>
                            <a:srgbClr val="1B1C1D"/>
                          </a:solidFill>
                          <a:effectLst/>
                          <a:latin typeface="+mj-lt"/>
                        </a:rPr>
                        <a:t>Observer broadcasts for </a:t>
                      </a:r>
                      <a:r>
                        <a:rPr lang="en-US" sz="1800" b="1" dirty="0">
                          <a:solidFill>
                            <a:srgbClr val="1B1C1D"/>
                          </a:solidFill>
                          <a:effectLst/>
                          <a:latin typeface="+mj-lt"/>
                        </a:rPr>
                        <a:t>shared notification. (</a:t>
                      </a:r>
                      <a:r>
                        <a:rPr lang="en-US" sz="1800" dirty="0">
                          <a:solidFill>
                            <a:srgbClr val="1B1C1D"/>
                          </a:solidFill>
                          <a:effectLst/>
                          <a:latin typeface="+mj-lt"/>
                        </a:rPr>
                        <a:t>request volume).</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5262986"/>
                  </a:ext>
                </a:extLst>
              </a:tr>
              <a:tr h="1377850">
                <a:tc>
                  <a:txBody>
                    <a:bodyPr/>
                    <a:lstStyle/>
                    <a:p>
                      <a:pPr rtl="0">
                        <a:buNone/>
                      </a:pPr>
                      <a:r>
                        <a:rPr lang="en-US" sz="1800" b="1" dirty="0">
                          <a:solidFill>
                            <a:srgbClr val="1B1C1D"/>
                          </a:solidFill>
                          <a:effectLst/>
                          <a:latin typeface="+mj-lt"/>
                        </a:rPr>
                        <a:t>Command</a:t>
                      </a:r>
                      <a:r>
                        <a:rPr lang="en-US" sz="1800" dirty="0">
                          <a:solidFill>
                            <a:srgbClr val="1B1C1D"/>
                          </a:solidFill>
                          <a:effectLst/>
                          <a:latin typeface="+mj-lt"/>
                        </a:rPr>
                        <a:t> </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b="1" dirty="0">
                          <a:solidFill>
                            <a:srgbClr val="1B1C1D"/>
                          </a:solidFill>
                          <a:effectLst/>
                          <a:latin typeface="+mj-lt"/>
                        </a:rPr>
                        <a:t>Request Encapsulation:</a:t>
                      </a:r>
                      <a:r>
                        <a:rPr lang="en-US" sz="1800" dirty="0">
                          <a:solidFill>
                            <a:srgbClr val="1B1C1D"/>
                          </a:solidFill>
                          <a:effectLst/>
                          <a:latin typeface="+mj-lt"/>
                        </a:rPr>
                        <a:t> Encapsulates the request as an object, which is then passed to a chain or queue.</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dirty="0" err="1">
                          <a:solidFill>
                            <a:srgbClr val="1B1C1D"/>
                          </a:solidFill>
                          <a:effectLst/>
                          <a:latin typeface="+mj-lt"/>
                        </a:rPr>
                        <a:t>CoR</a:t>
                      </a:r>
                      <a:r>
                        <a:rPr lang="en-US" sz="1800" dirty="0">
                          <a:solidFill>
                            <a:srgbClr val="1B1C1D"/>
                          </a:solidFill>
                          <a:effectLst/>
                          <a:latin typeface="+mj-lt"/>
                        </a:rPr>
                        <a:t> is the dispatcher; Command is the payload. Command is often used </a:t>
                      </a:r>
                      <a:r>
                        <a:rPr lang="en-US" sz="1800" i="1" dirty="0">
                          <a:solidFill>
                            <a:srgbClr val="1B1C1D"/>
                          </a:solidFill>
                          <a:effectLst/>
                          <a:latin typeface="+mj-lt"/>
                        </a:rPr>
                        <a:t>with</a:t>
                      </a:r>
                      <a:r>
                        <a:rPr lang="en-US" sz="1800" dirty="0">
                          <a:solidFill>
                            <a:srgbClr val="1B1C1D"/>
                          </a:solidFill>
                          <a:effectLst/>
                          <a:latin typeface="+mj-lt"/>
                        </a:rPr>
                        <a:t> </a:t>
                      </a:r>
                      <a:r>
                        <a:rPr lang="en-US" sz="1800" dirty="0" err="1">
                          <a:solidFill>
                            <a:srgbClr val="1B1C1D"/>
                          </a:solidFill>
                          <a:effectLst/>
                          <a:latin typeface="+mj-lt"/>
                        </a:rPr>
                        <a:t>CoR</a:t>
                      </a:r>
                      <a:r>
                        <a:rPr lang="en-US" sz="1800" dirty="0">
                          <a:solidFill>
                            <a:srgbClr val="1B1C1D"/>
                          </a:solidFill>
                          <a:effectLst/>
                          <a:latin typeface="+mj-lt"/>
                        </a:rPr>
                        <a:t> to implement requests as </a:t>
                      </a:r>
                      <a:r>
                        <a:rPr lang="en-US" sz="1800" dirty="0" err="1">
                          <a:solidFill>
                            <a:srgbClr val="1B1C1D"/>
                          </a:solidFill>
                          <a:effectLst/>
                          <a:latin typeface="+mj-lt"/>
                        </a:rPr>
                        <a:t>objects:safer</a:t>
                      </a:r>
                      <a:r>
                        <a:rPr lang="en-US" sz="1800" dirty="0">
                          <a:solidFill>
                            <a:srgbClr val="1B1C1D"/>
                          </a:solidFill>
                          <a:effectLst/>
                          <a:latin typeface="+mj-lt"/>
                        </a:rPr>
                        <a:t> than encoding requests as strings.</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936362"/>
                  </a:ext>
                </a:extLst>
              </a:tr>
              <a:tr h="1088756">
                <a:tc>
                  <a:txBody>
                    <a:bodyPr/>
                    <a:lstStyle/>
                    <a:p>
                      <a:pPr rtl="0">
                        <a:buNone/>
                      </a:pPr>
                      <a:r>
                        <a:rPr lang="en-US" sz="1800" b="1" dirty="0">
                          <a:solidFill>
                            <a:srgbClr val="1B1C1D"/>
                          </a:solidFill>
                          <a:effectLst/>
                          <a:latin typeface="+mj-lt"/>
                        </a:rPr>
                        <a:t>Mediator</a:t>
                      </a:r>
                      <a:r>
                        <a:rPr lang="en-US" sz="1800" dirty="0">
                          <a:solidFill>
                            <a:srgbClr val="1B1C1D"/>
                          </a:solidFill>
                          <a:effectLst/>
                          <a:latin typeface="+mj-lt"/>
                        </a:rPr>
                        <a:t> </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b="1" dirty="0">
                          <a:solidFill>
                            <a:srgbClr val="1B1C1D"/>
                          </a:solidFill>
                          <a:effectLst/>
                          <a:latin typeface="+mj-lt"/>
                        </a:rPr>
                        <a:t>Centralized Hub:</a:t>
                      </a:r>
                      <a:r>
                        <a:rPr lang="en-US" sz="1800" dirty="0">
                          <a:solidFill>
                            <a:srgbClr val="1B1C1D"/>
                          </a:solidFill>
                          <a:effectLst/>
                          <a:latin typeface="+mj-lt"/>
                        </a:rPr>
                        <a:t> Eliminates direct connections between senders and receivers.</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a:buNone/>
                      </a:pPr>
                      <a:r>
                        <a:rPr lang="en-US" sz="1800" dirty="0" err="1">
                          <a:solidFill>
                            <a:srgbClr val="1B1C1D"/>
                          </a:solidFill>
                          <a:effectLst/>
                          <a:latin typeface="+mj-lt"/>
                        </a:rPr>
                        <a:t>CoR</a:t>
                      </a:r>
                      <a:r>
                        <a:rPr lang="en-US" sz="1800" dirty="0">
                          <a:solidFill>
                            <a:srgbClr val="1B1C1D"/>
                          </a:solidFill>
                          <a:effectLst/>
                          <a:latin typeface="+mj-lt"/>
                        </a:rPr>
                        <a:t> is </a:t>
                      </a:r>
                      <a:r>
                        <a:rPr lang="en-US" sz="1800" b="1" dirty="0">
                          <a:solidFill>
                            <a:srgbClr val="1B1C1D"/>
                          </a:solidFill>
                          <a:effectLst/>
                          <a:latin typeface="+mj-lt"/>
                        </a:rPr>
                        <a:t>distributed and self-chaining</a:t>
                      </a:r>
                      <a:r>
                        <a:rPr lang="en-US" sz="1800" dirty="0">
                          <a:solidFill>
                            <a:srgbClr val="1B1C1D"/>
                          </a:solidFill>
                          <a:effectLst/>
                          <a:latin typeface="+mj-lt"/>
                        </a:rPr>
                        <a:t>. </a:t>
                      </a:r>
                    </a:p>
                    <a:p>
                      <a:pPr rtl="0">
                        <a:buNone/>
                      </a:pPr>
                      <a:r>
                        <a:rPr lang="en-US" sz="1800" dirty="0">
                          <a:solidFill>
                            <a:srgbClr val="1B1C1D"/>
                          </a:solidFill>
                          <a:effectLst/>
                          <a:latin typeface="+mj-lt"/>
                        </a:rPr>
                        <a:t>Mediator is </a:t>
                      </a:r>
                      <a:r>
                        <a:rPr lang="en-US" sz="1800" b="1" dirty="0">
                          <a:solidFill>
                            <a:srgbClr val="1B1C1D"/>
                          </a:solidFill>
                          <a:effectLst/>
                          <a:latin typeface="+mj-lt"/>
                        </a:rPr>
                        <a:t>centralized and explicit</a:t>
                      </a:r>
                      <a:r>
                        <a:rPr lang="en-US" sz="1800" dirty="0">
                          <a:solidFill>
                            <a:srgbClr val="1B1C1D"/>
                          </a:solidFill>
                          <a:effectLst/>
                          <a:latin typeface="+mj-lt"/>
                        </a:rPr>
                        <a:t>.</a:t>
                      </a:r>
                    </a:p>
                  </a:txBody>
                  <a:tcPr marL="66914" marR="66914" marT="44609" marB="44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9903596"/>
                  </a:ext>
                </a:extLst>
              </a:tr>
            </a:tbl>
          </a:graphicData>
        </a:graphic>
      </p:graphicFrame>
    </p:spTree>
    <p:extLst>
      <p:ext uri="{BB962C8B-B14F-4D97-AF65-F5344CB8AC3E}">
        <p14:creationId xmlns:p14="http://schemas.microsoft.com/office/powerpoint/2010/main" val="5367356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FEC9-3D95-A171-9B94-4322E392FF5D}"/>
              </a:ext>
            </a:extLst>
          </p:cNvPr>
          <p:cNvSpPr>
            <a:spLocks noGrp="1"/>
          </p:cNvSpPr>
          <p:nvPr>
            <p:ph type="title"/>
          </p:nvPr>
        </p:nvSpPr>
        <p:spPr/>
        <p:txBody>
          <a:bodyPr/>
          <a:lstStyle/>
          <a:p>
            <a:r>
              <a:rPr lang="en-US" sz="4000" dirty="0"/>
              <a:t>Handling many types of requests?</a:t>
            </a:r>
          </a:p>
        </p:txBody>
      </p:sp>
      <p:sp>
        <p:nvSpPr>
          <p:cNvPr id="3" name="Content Placeholder 2">
            <a:extLst>
              <a:ext uri="{FF2B5EF4-FFF2-40B4-BE49-F238E27FC236}">
                <a16:creationId xmlns:a16="http://schemas.microsoft.com/office/drawing/2014/main" id="{90CDB1E1-205B-3653-2C1A-76301F8DB834}"/>
              </a:ext>
            </a:extLst>
          </p:cNvPr>
          <p:cNvSpPr>
            <a:spLocks noGrp="1"/>
          </p:cNvSpPr>
          <p:nvPr>
            <p:ph idx="1"/>
          </p:nvPr>
        </p:nvSpPr>
        <p:spPr/>
        <p:txBody>
          <a:bodyPr/>
          <a:lstStyle/>
          <a:p>
            <a:r>
              <a:rPr lang="en-US" sz="2600" dirty="0"/>
              <a:t>What if we have many types of requests? </a:t>
            </a:r>
          </a:p>
          <a:p>
            <a:r>
              <a:rPr lang="en-US" sz="2600" dirty="0"/>
              <a:t>Brittle Handlers:</a:t>
            </a:r>
          </a:p>
          <a:p>
            <a:pPr lvl="1"/>
            <a:r>
              <a:rPr lang="en-US" sz="2200" dirty="0"/>
              <a:t>Handler interface becomes bloated with multiple methods:</a:t>
            </a:r>
          </a:p>
          <a:p>
            <a:pPr lvl="2"/>
            <a:r>
              <a:rPr lang="en-US" sz="1800" dirty="0" err="1"/>
              <a:t>handleEmail</a:t>
            </a:r>
            <a:r>
              <a:rPr lang="en-US" sz="1800" dirty="0"/>
              <a:t>(Email e), </a:t>
            </a:r>
            <a:r>
              <a:rPr lang="en-US" sz="1800" dirty="0" err="1"/>
              <a:t>handlePayment</a:t>
            </a:r>
            <a:r>
              <a:rPr lang="en-US" sz="1800" dirty="0"/>
              <a:t>(Payment p), etc.</a:t>
            </a:r>
          </a:p>
          <a:p>
            <a:r>
              <a:rPr lang="en-US" sz="2600" dirty="0"/>
              <a:t>OCP Violation:</a:t>
            </a:r>
          </a:p>
          <a:p>
            <a:pPr lvl="1"/>
            <a:r>
              <a:rPr lang="en-US" sz="2200" dirty="0"/>
              <a:t>Adding a new request type (e.g., </a:t>
            </a:r>
            <a:r>
              <a:rPr lang="en-US" sz="2200" dirty="0" err="1"/>
              <a:t>HelpRequest</a:t>
            </a:r>
            <a:r>
              <a:rPr lang="en-US" sz="2200" dirty="0"/>
              <a:t>) means changing the abstract `Handler` and all concrete handlers.</a:t>
            </a:r>
          </a:p>
          <a:p>
            <a:r>
              <a:rPr lang="en-US" sz="2600" dirty="0"/>
              <a:t>Implicit Request:</a:t>
            </a:r>
          </a:p>
          <a:p>
            <a:pPr lvl="1"/>
            <a:r>
              <a:rPr lang="en-US" sz="2200" dirty="0"/>
              <a:t>The request is just passive data (like Email). </a:t>
            </a:r>
          </a:p>
          <a:p>
            <a:pPr marL="457200" lvl="1" indent="0">
              <a:buNone/>
            </a:pPr>
            <a:r>
              <a:rPr lang="en-US" sz="2200" dirty="0"/>
              <a:t>It has no behavior and cannot carry complex logic.</a:t>
            </a:r>
          </a:p>
          <a:p>
            <a:pPr marL="0" indent="0">
              <a:buNone/>
            </a:pPr>
            <a:endParaRPr lang="en-US" sz="2600" dirty="0"/>
          </a:p>
        </p:txBody>
      </p:sp>
    </p:spTree>
    <p:extLst>
      <p:ext uri="{BB962C8B-B14F-4D97-AF65-F5344CB8AC3E}">
        <p14:creationId xmlns:p14="http://schemas.microsoft.com/office/powerpoint/2010/main" val="2077886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A84CF-62EB-FE25-96E0-E39E9B10AF23}"/>
              </a:ext>
            </a:extLst>
          </p:cNvPr>
          <p:cNvSpPr>
            <a:spLocks noGrp="1"/>
          </p:cNvSpPr>
          <p:nvPr>
            <p:ph type="title"/>
          </p:nvPr>
        </p:nvSpPr>
        <p:spPr/>
        <p:txBody>
          <a:bodyPr/>
          <a:lstStyle/>
          <a:p>
            <a:r>
              <a:rPr lang="en-US" dirty="0" err="1"/>
              <a:t>CoR</a:t>
            </a:r>
            <a:r>
              <a:rPr lang="en-US" dirty="0"/>
              <a:t> with Command</a:t>
            </a:r>
          </a:p>
        </p:txBody>
      </p:sp>
      <p:sp>
        <p:nvSpPr>
          <p:cNvPr id="3" name="Content Placeholder 2">
            <a:extLst>
              <a:ext uri="{FF2B5EF4-FFF2-40B4-BE49-F238E27FC236}">
                <a16:creationId xmlns:a16="http://schemas.microsoft.com/office/drawing/2014/main" id="{507CB61A-2C18-C8DB-2E60-3EBAF2CBA8D9}"/>
              </a:ext>
            </a:extLst>
          </p:cNvPr>
          <p:cNvSpPr>
            <a:spLocks noGrp="1"/>
          </p:cNvSpPr>
          <p:nvPr>
            <p:ph idx="1"/>
          </p:nvPr>
        </p:nvSpPr>
        <p:spPr>
          <a:xfrm>
            <a:off x="457200" y="1335292"/>
            <a:ext cx="8229600" cy="670490"/>
          </a:xfrm>
        </p:spPr>
        <p:txBody>
          <a:bodyPr/>
          <a:lstStyle/>
          <a:p>
            <a:r>
              <a:rPr lang="en-US" dirty="0"/>
              <a:t>Command is the “request”</a:t>
            </a:r>
          </a:p>
          <a:p>
            <a:endParaRPr lang="en-US" dirty="0"/>
          </a:p>
        </p:txBody>
      </p:sp>
      <p:sp>
        <p:nvSpPr>
          <p:cNvPr id="4" name="Text 2">
            <a:extLst>
              <a:ext uri="{FF2B5EF4-FFF2-40B4-BE49-F238E27FC236}">
                <a16:creationId xmlns:a16="http://schemas.microsoft.com/office/drawing/2014/main" id="{679CA48D-6E34-CDF7-E3DC-75EF94EF85CE}"/>
              </a:ext>
            </a:extLst>
          </p:cNvPr>
          <p:cNvSpPr txBox="1"/>
          <p:nvPr/>
        </p:nvSpPr>
        <p:spPr>
          <a:xfrm>
            <a:off x="457200" y="1917782"/>
            <a:ext cx="8475406" cy="3022436"/>
          </a:xfrm>
          <a:prstGeom prst="rect">
            <a:avLst/>
          </a:prstGeom>
          <a:noFill/>
          <a:ln/>
        </p:spPr>
        <p:txBody>
          <a:bodyPr wrap="square" lIns="137160" tIns="137160" rIns="137160" bIns="137160" rtlCol="0" anchor="t"/>
          <a:lstStyle/>
          <a:p>
            <a:pPr marL="0" indent="0">
              <a:buNone/>
            </a:pPr>
            <a:r>
              <a:rPr lang="en-US" sz="2000" dirty="0">
                <a:latin typeface="+mj-lt"/>
                <a:ea typeface="Courier New" pitchFamily="34" charset="-122"/>
                <a:cs typeface="Courier New" pitchFamily="34" charset="-120"/>
              </a:rPr>
              <a:t>// A concrete command</a:t>
            </a:r>
            <a:endParaRPr lang="en-US" sz="2000" dirty="0">
              <a:latin typeface="+mj-lt"/>
            </a:endParaRPr>
          </a:p>
          <a:p>
            <a:pPr marL="0" indent="0">
              <a:buNone/>
            </a:pPr>
            <a:r>
              <a:rPr lang="en-US" sz="2000" dirty="0">
                <a:latin typeface="+mj-lt"/>
                <a:ea typeface="Courier New" pitchFamily="34" charset="-122"/>
                <a:cs typeface="Courier New" pitchFamily="34" charset="-120"/>
              </a:rPr>
              <a:t>public class AuthCommand implements Command {</a:t>
            </a:r>
            <a:endParaRPr lang="en-US" sz="2000" dirty="0">
              <a:latin typeface="+mj-lt"/>
            </a:endParaRPr>
          </a:p>
          <a:p>
            <a:pPr marL="0" indent="0">
              <a:buNone/>
            </a:pPr>
            <a:r>
              <a:rPr lang="en-US" sz="2000" dirty="0">
                <a:latin typeface="+mj-lt"/>
                <a:ea typeface="Courier New" pitchFamily="34" charset="-122"/>
                <a:cs typeface="Courier New" pitchFamily="34" charset="-120"/>
              </a:rPr>
              <a:t>    private User </a:t>
            </a:r>
            <a:r>
              <a:rPr lang="en-US" sz="2000" dirty="0" err="1">
                <a:latin typeface="+mj-lt"/>
                <a:ea typeface="Courier New" pitchFamily="34" charset="-122"/>
                <a:cs typeface="Courier New" pitchFamily="34" charset="-120"/>
              </a:rPr>
              <a:t>user</a:t>
            </a:r>
            <a:r>
              <a:rPr lang="en-US" sz="2000" dirty="0">
                <a:latin typeface="+mj-lt"/>
                <a:ea typeface="Courier New" pitchFamily="34" charset="-122"/>
                <a:cs typeface="Courier New" pitchFamily="34" charset="-120"/>
              </a:rPr>
              <a:t>;</a:t>
            </a:r>
            <a:endParaRPr lang="en-US" sz="2000" dirty="0">
              <a:latin typeface="+mj-lt"/>
            </a:endParaRPr>
          </a:p>
          <a:p>
            <a:pPr marL="0" indent="0">
              <a:buNone/>
            </a:pPr>
            <a:r>
              <a:rPr lang="en-US" sz="2000" dirty="0">
                <a:latin typeface="+mj-lt"/>
                <a:ea typeface="Courier New" pitchFamily="34" charset="-122"/>
                <a:cs typeface="Courier New" pitchFamily="34" charset="-120"/>
              </a:rPr>
              <a:t>    public AuthCommand(User u) { this.user = u;    }</a:t>
            </a:r>
            <a:endParaRPr lang="en-US" sz="2000" dirty="0">
              <a:latin typeface="+mj-lt"/>
            </a:endParaRPr>
          </a:p>
          <a:p>
            <a:pPr marL="0" indent="0">
              <a:buNone/>
            </a:pPr>
            <a:r>
              <a:rPr lang="en-US" sz="2000" dirty="0">
                <a:latin typeface="+mj-lt"/>
                <a:ea typeface="Courier New" pitchFamily="34" charset="-122"/>
                <a:cs typeface="Courier New" pitchFamily="34" charset="-120"/>
              </a:rPr>
              <a:t>    public void execute() {</a:t>
            </a:r>
            <a:endParaRPr lang="en-US" sz="2000" dirty="0">
              <a:latin typeface="+mj-lt"/>
            </a:endParaRPr>
          </a:p>
          <a:p>
            <a:pPr marL="0" indent="0">
              <a:buNone/>
            </a:pPr>
            <a:r>
              <a:rPr lang="en-US" sz="2000" dirty="0">
                <a:latin typeface="+mj-lt"/>
                <a:ea typeface="Courier New" pitchFamily="34" charset="-122"/>
                <a:cs typeface="Courier New" pitchFamily="34" charset="-120"/>
              </a:rPr>
              <a:t>        System.out.println("Authenticating " + user.name);   // ... auth logic </a:t>
            </a:r>
            <a:endParaRPr lang="en-US" sz="2000" dirty="0">
              <a:latin typeface="+mj-lt"/>
            </a:endParaRPr>
          </a:p>
          <a:p>
            <a:pPr marL="0" indent="0">
              <a:buNone/>
            </a:pPr>
            <a:r>
              <a:rPr lang="en-US" sz="2000" dirty="0">
                <a:latin typeface="+mj-lt"/>
                <a:ea typeface="Courier New" pitchFamily="34" charset="-122"/>
                <a:cs typeface="Courier New" pitchFamily="34" charset="-120"/>
              </a:rPr>
              <a:t>    }</a:t>
            </a:r>
            <a:endParaRPr lang="en-US" sz="2000" dirty="0">
              <a:latin typeface="+mj-lt"/>
            </a:endParaRPr>
          </a:p>
          <a:p>
            <a:pPr marL="0" indent="0">
              <a:buNone/>
            </a:pPr>
            <a:r>
              <a:rPr lang="en-US" sz="2000" dirty="0">
                <a:latin typeface="+mj-lt"/>
                <a:ea typeface="Courier New" pitchFamily="34" charset="-122"/>
                <a:cs typeface="Courier New" pitchFamily="34" charset="-120"/>
              </a:rPr>
              <a:t>}</a:t>
            </a:r>
          </a:p>
          <a:p>
            <a:pPr marL="0" indent="0">
              <a:buNone/>
            </a:pPr>
            <a:r>
              <a:rPr lang="en-US" sz="2000" dirty="0">
                <a:latin typeface="+mj-lt"/>
                <a:ea typeface="Courier New" pitchFamily="34" charset="-122"/>
                <a:cs typeface="Courier New" pitchFamily="34" charset="-120"/>
              </a:rPr>
              <a:t>public class </a:t>
            </a:r>
            <a:r>
              <a:rPr lang="en-US" sz="2000" dirty="0" err="1">
                <a:latin typeface="+mj-lt"/>
                <a:ea typeface="Courier New" pitchFamily="34" charset="-122"/>
                <a:cs typeface="Courier New" pitchFamily="34" charset="-120"/>
              </a:rPr>
              <a:t>LogCommand</a:t>
            </a:r>
            <a:r>
              <a:rPr lang="en-US" sz="2000" dirty="0">
                <a:latin typeface="+mj-lt"/>
                <a:ea typeface="Courier New" pitchFamily="34" charset="-122"/>
                <a:cs typeface="Courier New" pitchFamily="34" charset="-120"/>
              </a:rPr>
              <a:t> implements Command {</a:t>
            </a:r>
            <a:endParaRPr lang="en-US" sz="2000" dirty="0">
              <a:latin typeface="+mj-lt"/>
            </a:endParaRPr>
          </a:p>
          <a:p>
            <a:pPr marL="0" indent="0">
              <a:buNone/>
            </a:pPr>
            <a:r>
              <a:rPr lang="en-US" sz="2000" dirty="0">
                <a:latin typeface="+mj-lt"/>
                <a:ea typeface="Courier New" pitchFamily="34" charset="-122"/>
                <a:cs typeface="Courier New" pitchFamily="34" charset="-120"/>
              </a:rPr>
              <a:t>    private String message;   </a:t>
            </a:r>
            <a:endParaRPr lang="en-US" sz="2000" dirty="0">
              <a:latin typeface="+mj-lt"/>
            </a:endParaRPr>
          </a:p>
          <a:p>
            <a:pPr marL="0" indent="0">
              <a:buNone/>
            </a:pPr>
            <a:r>
              <a:rPr lang="en-US" sz="2000" dirty="0">
                <a:latin typeface="+mj-lt"/>
                <a:ea typeface="Courier New" pitchFamily="34" charset="-122"/>
                <a:cs typeface="Courier New" pitchFamily="34" charset="-120"/>
              </a:rPr>
              <a:t>    public </a:t>
            </a:r>
            <a:r>
              <a:rPr lang="en-US" sz="2000" dirty="0" err="1">
                <a:latin typeface="+mj-lt"/>
                <a:ea typeface="Courier New" pitchFamily="34" charset="-122"/>
                <a:cs typeface="Courier New" pitchFamily="34" charset="-120"/>
              </a:rPr>
              <a:t>LogCommand</a:t>
            </a:r>
            <a:r>
              <a:rPr lang="en-US" sz="2000" dirty="0">
                <a:latin typeface="+mj-lt"/>
                <a:ea typeface="Courier New" pitchFamily="34" charset="-122"/>
                <a:cs typeface="Courier New" pitchFamily="34" charset="-120"/>
              </a:rPr>
              <a:t>(String msg) { </a:t>
            </a:r>
            <a:r>
              <a:rPr lang="en-US" sz="2000" dirty="0" err="1">
                <a:latin typeface="+mj-lt"/>
                <a:ea typeface="Courier New" pitchFamily="34" charset="-122"/>
                <a:cs typeface="Courier New" pitchFamily="34" charset="-120"/>
              </a:rPr>
              <a:t>this.message</a:t>
            </a:r>
            <a:r>
              <a:rPr lang="en-US" sz="2000" dirty="0">
                <a:latin typeface="+mj-lt"/>
                <a:ea typeface="Courier New" pitchFamily="34" charset="-122"/>
                <a:cs typeface="Courier New" pitchFamily="34" charset="-120"/>
              </a:rPr>
              <a:t> = msg;   }</a:t>
            </a:r>
            <a:endParaRPr lang="en-US" sz="2000" dirty="0">
              <a:latin typeface="+mj-lt"/>
            </a:endParaRPr>
          </a:p>
          <a:p>
            <a:pPr marL="0" indent="0">
              <a:buNone/>
            </a:pPr>
            <a:r>
              <a:rPr lang="en-US" sz="2000" dirty="0">
                <a:latin typeface="+mj-lt"/>
                <a:ea typeface="Courier New" pitchFamily="34" charset="-122"/>
                <a:cs typeface="Courier New" pitchFamily="34" charset="-120"/>
              </a:rPr>
              <a:t>    public void execute() {</a:t>
            </a:r>
            <a:endParaRPr lang="en-US" sz="2000" dirty="0">
              <a:latin typeface="+mj-lt"/>
            </a:endParaRPr>
          </a:p>
          <a:p>
            <a:pPr marL="0" indent="0">
              <a:buNone/>
            </a:pPr>
            <a:r>
              <a:rPr lang="en-US" sz="2000" dirty="0">
                <a:latin typeface="+mj-lt"/>
                <a:ea typeface="Courier New" pitchFamily="34" charset="-122"/>
                <a:cs typeface="Courier New" pitchFamily="34" charset="-120"/>
              </a:rPr>
              <a:t>        </a:t>
            </a:r>
            <a:r>
              <a:rPr lang="en-US" sz="2000" dirty="0" err="1">
                <a:latin typeface="+mj-lt"/>
                <a:ea typeface="Courier New" pitchFamily="34" charset="-122"/>
                <a:cs typeface="Courier New" pitchFamily="34" charset="-120"/>
              </a:rPr>
              <a:t>System.out.println</a:t>
            </a:r>
            <a:r>
              <a:rPr lang="en-US" sz="2000" dirty="0">
                <a:latin typeface="+mj-lt"/>
                <a:ea typeface="Courier New" pitchFamily="34" charset="-122"/>
                <a:cs typeface="Courier New" pitchFamily="34" charset="-120"/>
              </a:rPr>
              <a:t>("LOG: " + message); // ... logging logic ...</a:t>
            </a:r>
            <a:endParaRPr lang="en-US" sz="2000" dirty="0">
              <a:latin typeface="+mj-lt"/>
            </a:endParaRPr>
          </a:p>
          <a:p>
            <a:pPr marL="0" indent="0">
              <a:buNone/>
            </a:pPr>
            <a:r>
              <a:rPr lang="en-US" sz="2000" dirty="0">
                <a:latin typeface="+mj-lt"/>
                <a:ea typeface="Courier New" pitchFamily="34" charset="-122"/>
                <a:cs typeface="Courier New" pitchFamily="34" charset="-120"/>
              </a:rPr>
              <a:t>    }</a:t>
            </a:r>
            <a:endParaRPr lang="en-US" sz="2000" dirty="0">
              <a:latin typeface="+mj-lt"/>
            </a:endParaRPr>
          </a:p>
          <a:p>
            <a:pPr marL="0" indent="0">
              <a:buNone/>
            </a:pPr>
            <a:r>
              <a:rPr lang="en-US" sz="2000" dirty="0">
                <a:latin typeface="+mj-lt"/>
                <a:ea typeface="Courier New" pitchFamily="34" charset="-122"/>
                <a:cs typeface="Courier New" pitchFamily="34" charset="-120"/>
              </a:rPr>
              <a:t>}</a:t>
            </a:r>
            <a:endParaRPr lang="en-US" sz="2000" dirty="0">
              <a:latin typeface="+mj-lt"/>
            </a:endParaRPr>
          </a:p>
          <a:p>
            <a:pPr marL="0" indent="0">
              <a:buNone/>
            </a:pPr>
            <a:endParaRPr lang="en-US" sz="2000" dirty="0">
              <a:latin typeface="+mj-lt"/>
            </a:endParaRPr>
          </a:p>
        </p:txBody>
      </p:sp>
    </p:spTree>
    <p:extLst>
      <p:ext uri="{BB962C8B-B14F-4D97-AF65-F5344CB8AC3E}">
        <p14:creationId xmlns:p14="http://schemas.microsoft.com/office/powerpoint/2010/main" val="275186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9F2C3-823B-B62D-3FD3-03DD8C318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F2394-9B19-2E58-4E6E-F1808A8A5564}"/>
              </a:ext>
            </a:extLst>
          </p:cNvPr>
          <p:cNvSpPr>
            <a:spLocks noGrp="1"/>
          </p:cNvSpPr>
          <p:nvPr>
            <p:ph type="title"/>
          </p:nvPr>
        </p:nvSpPr>
        <p:spPr/>
        <p:txBody>
          <a:bodyPr/>
          <a:lstStyle/>
          <a:p>
            <a:r>
              <a:rPr lang="en-US" dirty="0" err="1"/>
              <a:t>CoR</a:t>
            </a:r>
            <a:r>
              <a:rPr lang="en-US" dirty="0"/>
              <a:t> with Command</a:t>
            </a:r>
          </a:p>
        </p:txBody>
      </p:sp>
      <p:sp>
        <p:nvSpPr>
          <p:cNvPr id="3" name="Content Placeholder 2">
            <a:extLst>
              <a:ext uri="{FF2B5EF4-FFF2-40B4-BE49-F238E27FC236}">
                <a16:creationId xmlns:a16="http://schemas.microsoft.com/office/drawing/2014/main" id="{91B2DEEE-22E1-D50B-8A67-4532BDD2293A}"/>
              </a:ext>
            </a:extLst>
          </p:cNvPr>
          <p:cNvSpPr>
            <a:spLocks noGrp="1"/>
          </p:cNvSpPr>
          <p:nvPr>
            <p:ph idx="1"/>
          </p:nvPr>
        </p:nvSpPr>
        <p:spPr>
          <a:xfrm>
            <a:off x="457200" y="1335292"/>
            <a:ext cx="8229600" cy="670490"/>
          </a:xfrm>
        </p:spPr>
        <p:txBody>
          <a:bodyPr/>
          <a:lstStyle/>
          <a:p>
            <a:r>
              <a:rPr lang="en-US" dirty="0"/>
              <a:t>Handler executes the command</a:t>
            </a:r>
          </a:p>
          <a:p>
            <a:endParaRPr lang="en-US" dirty="0"/>
          </a:p>
        </p:txBody>
      </p:sp>
      <p:sp>
        <p:nvSpPr>
          <p:cNvPr id="4" name="Text 2">
            <a:extLst>
              <a:ext uri="{FF2B5EF4-FFF2-40B4-BE49-F238E27FC236}">
                <a16:creationId xmlns:a16="http://schemas.microsoft.com/office/drawing/2014/main" id="{AC8EBBE6-70EF-FD84-1D3F-4318A99D941F}"/>
              </a:ext>
            </a:extLst>
          </p:cNvPr>
          <p:cNvSpPr txBox="1"/>
          <p:nvPr/>
        </p:nvSpPr>
        <p:spPr>
          <a:xfrm>
            <a:off x="457201" y="1917782"/>
            <a:ext cx="4114800" cy="3022436"/>
          </a:xfrm>
          <a:prstGeom prst="rect">
            <a:avLst/>
          </a:prstGeom>
          <a:noFill/>
          <a:ln/>
        </p:spPr>
        <p:txBody>
          <a:bodyPr wrap="square" lIns="137160" tIns="137160" rIns="137160" bIns="137160" rtlCol="0" anchor="t"/>
          <a:lstStyle/>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A concrete command</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public class </a:t>
            </a:r>
            <a:r>
              <a:rPr lang="en-US" sz="2000" dirty="0" err="1">
                <a:latin typeface="Source Sans Pro" panose="020B0503030403020204" pitchFamily="34" charset="0"/>
                <a:ea typeface="Source Sans Pro" panose="020B0503030403020204" pitchFamily="34" charset="0"/>
                <a:cs typeface="Courier New" pitchFamily="34" charset="-120"/>
              </a:rPr>
              <a:t>AuthCommand</a:t>
            </a:r>
            <a:r>
              <a:rPr lang="en-US" sz="2000" dirty="0">
                <a:latin typeface="Source Sans Pro" panose="020B0503030403020204" pitchFamily="34" charset="0"/>
                <a:ea typeface="Source Sans Pro" panose="020B0503030403020204" pitchFamily="34" charset="0"/>
                <a:cs typeface="Courier New" pitchFamily="34" charset="-120"/>
              </a:rPr>
              <a:t>     </a:t>
            </a: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implements Command {</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private User </a:t>
            </a:r>
            <a:r>
              <a:rPr lang="en-US" sz="2000" dirty="0" err="1">
                <a:latin typeface="Source Sans Pro" panose="020B0503030403020204" pitchFamily="34" charset="0"/>
                <a:ea typeface="Source Sans Pro" panose="020B0503030403020204" pitchFamily="34" charset="0"/>
                <a:cs typeface="Courier New" pitchFamily="34" charset="-120"/>
              </a:rPr>
              <a:t>user</a:t>
            </a:r>
            <a:r>
              <a:rPr lang="en-US" sz="2000" dirty="0">
                <a:latin typeface="Source Sans Pro" panose="020B0503030403020204" pitchFamily="34" charset="0"/>
                <a:ea typeface="Source Sans Pro" panose="020B0503030403020204" pitchFamily="34" charset="0"/>
                <a:cs typeface="Courier New" pitchFamily="34" charset="-120"/>
              </a:rPr>
              <a:t>;</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public AuthCommand(User u) {</a:t>
            </a: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this.user = u;    }</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public void execute() {             </a:t>
            </a: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 ... auth logic </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    }</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cs typeface="Courier New" pitchFamily="34" charset="-120"/>
              </a:rPr>
              <a:t>}</a:t>
            </a:r>
          </a:p>
        </p:txBody>
      </p:sp>
      <p:sp>
        <p:nvSpPr>
          <p:cNvPr id="5" name="Text 2">
            <a:extLst>
              <a:ext uri="{FF2B5EF4-FFF2-40B4-BE49-F238E27FC236}">
                <a16:creationId xmlns:a16="http://schemas.microsoft.com/office/drawing/2014/main" id="{98633129-0772-EA50-E2FE-50921097C543}"/>
              </a:ext>
            </a:extLst>
          </p:cNvPr>
          <p:cNvSpPr txBox="1"/>
          <p:nvPr/>
        </p:nvSpPr>
        <p:spPr>
          <a:xfrm>
            <a:off x="4262282" y="1878945"/>
            <a:ext cx="5166853" cy="5029200"/>
          </a:xfrm>
          <a:prstGeom prst="rect">
            <a:avLst/>
          </a:prstGeom>
          <a:noFill/>
          <a:ln/>
        </p:spPr>
        <p:txBody>
          <a:bodyPr wrap="square" lIns="137160" tIns="137160" rIns="137160" bIns="137160" rtlCol="0" anchor="t"/>
          <a:lstStyle/>
          <a:p>
            <a:pPr marL="0" indent="0">
              <a:buNone/>
            </a:pPr>
            <a:r>
              <a:rPr lang="en-US" sz="2000" dirty="0">
                <a:latin typeface="+mj-lt"/>
                <a:ea typeface="Courier New" pitchFamily="34" charset="-122"/>
                <a:cs typeface="Courier New" pitchFamily="34" charset="-120"/>
              </a:rPr>
              <a:t>public class </a:t>
            </a:r>
            <a:r>
              <a:rPr lang="en-US" sz="2000" dirty="0" err="1">
                <a:latin typeface="+mj-lt"/>
                <a:ea typeface="Courier New" pitchFamily="34" charset="-122"/>
                <a:cs typeface="Courier New" pitchFamily="34" charset="-120"/>
              </a:rPr>
              <a:t>AuthHandler</a:t>
            </a:r>
            <a:r>
              <a:rPr lang="en-US" sz="2000" dirty="0">
                <a:latin typeface="+mj-lt"/>
                <a:ea typeface="Courier New" pitchFamily="34" charset="-122"/>
                <a:cs typeface="Courier New" pitchFamily="34" charset="-120"/>
              </a:rPr>
              <a:t> extends Handler {</a:t>
            </a:r>
            <a:endParaRPr lang="en-US" sz="2000" dirty="0">
              <a:latin typeface="+mj-lt"/>
            </a:endParaRPr>
          </a:p>
          <a:p>
            <a:pPr marL="0" indent="0">
              <a:buNone/>
            </a:pPr>
            <a:r>
              <a:rPr lang="en-US" sz="2000" dirty="0">
                <a:latin typeface="+mj-lt"/>
                <a:ea typeface="Courier New" pitchFamily="34" charset="-122"/>
                <a:cs typeface="Courier New" pitchFamily="34" charset="-120"/>
              </a:rPr>
              <a:t>  </a:t>
            </a:r>
          </a:p>
          <a:p>
            <a:pPr marL="0" indent="0">
              <a:buNone/>
            </a:pPr>
            <a:r>
              <a:rPr lang="en-US" sz="2000" dirty="0">
                <a:latin typeface="+mj-lt"/>
                <a:ea typeface="Courier New" pitchFamily="34" charset="-122"/>
                <a:cs typeface="Courier New" pitchFamily="34" charset="-120"/>
              </a:rPr>
              <a:t> protected </a:t>
            </a:r>
            <a:r>
              <a:rPr lang="en-US" sz="2000" dirty="0" err="1">
                <a:latin typeface="+mj-lt"/>
                <a:ea typeface="Courier New" pitchFamily="34" charset="-122"/>
                <a:cs typeface="Courier New" pitchFamily="34" charset="-120"/>
              </a:rPr>
              <a:t>boolean</a:t>
            </a:r>
            <a:r>
              <a:rPr lang="en-US" sz="2000" dirty="0">
                <a:latin typeface="+mj-lt"/>
                <a:ea typeface="Courier New" pitchFamily="34" charset="-122"/>
                <a:cs typeface="Courier New" pitchFamily="34" charset="-120"/>
              </a:rPr>
              <a:t> </a:t>
            </a:r>
          </a:p>
          <a:p>
            <a:pPr marL="0" indent="0">
              <a:buNone/>
            </a:pPr>
            <a:r>
              <a:rPr lang="en-US" sz="2000" dirty="0">
                <a:latin typeface="+mj-lt"/>
                <a:ea typeface="Courier New" pitchFamily="34" charset="-122"/>
                <a:cs typeface="Courier New" pitchFamily="34" charset="-120"/>
              </a:rPr>
              <a:t>    </a:t>
            </a:r>
            <a:r>
              <a:rPr lang="en-US" sz="2000" dirty="0" err="1">
                <a:latin typeface="+mj-lt"/>
                <a:ea typeface="Courier New" pitchFamily="34" charset="-122"/>
                <a:cs typeface="Courier New" pitchFamily="34" charset="-120"/>
              </a:rPr>
              <a:t>canHandle</a:t>
            </a:r>
            <a:r>
              <a:rPr lang="en-US" sz="2000" dirty="0">
                <a:latin typeface="+mj-lt"/>
                <a:ea typeface="Courier New" pitchFamily="34" charset="-122"/>
                <a:cs typeface="Courier New" pitchFamily="34" charset="-120"/>
              </a:rPr>
              <a:t>  (Command </a:t>
            </a:r>
            <a:r>
              <a:rPr lang="en-US" sz="2000" dirty="0" err="1">
                <a:latin typeface="+mj-lt"/>
                <a:ea typeface="Courier New" pitchFamily="34" charset="-122"/>
                <a:cs typeface="Courier New" pitchFamily="34" charset="-120"/>
              </a:rPr>
              <a:t>cmd</a:t>
            </a:r>
            <a:r>
              <a:rPr lang="en-US" sz="2000" dirty="0">
                <a:latin typeface="+mj-lt"/>
                <a:ea typeface="Courier New" pitchFamily="34" charset="-122"/>
                <a:cs typeface="Courier New" pitchFamily="34" charset="-120"/>
              </a:rPr>
              <a:t>) {</a:t>
            </a:r>
            <a:endParaRPr lang="en-US" sz="2000" dirty="0">
              <a:latin typeface="+mj-lt"/>
            </a:endParaRPr>
          </a:p>
          <a:p>
            <a:pPr marL="0" indent="0">
              <a:buNone/>
            </a:pPr>
            <a:r>
              <a:rPr lang="en-US" sz="2000" dirty="0">
                <a:latin typeface="+mj-lt"/>
                <a:ea typeface="Courier New" pitchFamily="34" charset="-122"/>
                <a:cs typeface="Courier New" pitchFamily="34" charset="-120"/>
              </a:rPr>
              <a:t>        // only handles </a:t>
            </a:r>
            <a:r>
              <a:rPr lang="en-US" sz="2000" dirty="0" err="1">
                <a:latin typeface="+mj-lt"/>
                <a:ea typeface="Courier New" pitchFamily="34" charset="-122"/>
                <a:cs typeface="Courier New" pitchFamily="34" charset="-120"/>
              </a:rPr>
              <a:t>AuthCommands</a:t>
            </a:r>
            <a:endParaRPr lang="en-US" sz="2000" dirty="0">
              <a:latin typeface="+mj-lt"/>
              <a:ea typeface="Courier New" pitchFamily="34" charset="-122"/>
              <a:cs typeface="Courier New" pitchFamily="34" charset="-120"/>
            </a:endParaRPr>
          </a:p>
          <a:p>
            <a:pPr marL="0" indent="0">
              <a:buNone/>
            </a:pPr>
            <a:r>
              <a:rPr lang="en-US" sz="2000" dirty="0">
                <a:latin typeface="+mj-lt"/>
                <a:ea typeface="Courier New" pitchFamily="34" charset="-122"/>
                <a:cs typeface="Courier New" pitchFamily="34" charset="-120"/>
              </a:rPr>
              <a:t>      if (</a:t>
            </a:r>
            <a:r>
              <a:rPr lang="en-US" sz="2000" b="1" dirty="0" err="1">
                <a:latin typeface="+mj-lt"/>
                <a:ea typeface="Courier New" pitchFamily="34" charset="-122"/>
                <a:cs typeface="Courier New" pitchFamily="34" charset="-120"/>
              </a:rPr>
              <a:t>cmd</a:t>
            </a:r>
            <a:r>
              <a:rPr lang="en-US" sz="2000" b="1" dirty="0">
                <a:latin typeface="+mj-lt"/>
                <a:ea typeface="Courier New" pitchFamily="34" charset="-122"/>
                <a:cs typeface="Courier New" pitchFamily="34" charset="-120"/>
              </a:rPr>
              <a:t> </a:t>
            </a:r>
            <a:r>
              <a:rPr lang="en-US" sz="2000" b="1" dirty="0" err="1">
                <a:latin typeface="+mj-lt"/>
                <a:ea typeface="Courier New" pitchFamily="34" charset="-122"/>
                <a:cs typeface="Courier New" pitchFamily="34" charset="-120"/>
              </a:rPr>
              <a:t>instanceof</a:t>
            </a:r>
            <a:r>
              <a:rPr lang="en-US" sz="2000" b="1" dirty="0">
                <a:latin typeface="+mj-lt"/>
                <a:ea typeface="Courier New" pitchFamily="34" charset="-122"/>
                <a:cs typeface="Courier New" pitchFamily="34" charset="-120"/>
              </a:rPr>
              <a:t> </a:t>
            </a:r>
            <a:r>
              <a:rPr lang="en-US" sz="2000" b="1" dirty="0" err="1">
                <a:latin typeface="+mj-lt"/>
                <a:ea typeface="Courier New" pitchFamily="34" charset="-122"/>
                <a:cs typeface="Courier New" pitchFamily="34" charset="-120"/>
              </a:rPr>
              <a:t>AuthCommand</a:t>
            </a:r>
            <a:r>
              <a:rPr lang="en-US" sz="2000" dirty="0">
                <a:latin typeface="+mj-lt"/>
                <a:ea typeface="Courier New" pitchFamily="34" charset="-122"/>
                <a:cs typeface="Courier New" pitchFamily="34" charset="-120"/>
              </a:rPr>
              <a:t>) {</a:t>
            </a:r>
            <a:endParaRPr lang="en-US" sz="2000" dirty="0">
              <a:latin typeface="+mj-lt"/>
            </a:endParaRPr>
          </a:p>
          <a:p>
            <a:pPr marL="0" indent="0">
              <a:buNone/>
            </a:pPr>
            <a:r>
              <a:rPr lang="en-US" sz="2000" dirty="0">
                <a:latin typeface="+mj-lt"/>
                <a:ea typeface="Courier New" pitchFamily="34" charset="-122"/>
                <a:cs typeface="Courier New" pitchFamily="34" charset="-120"/>
              </a:rPr>
              <a:t>            </a:t>
            </a:r>
            <a:r>
              <a:rPr lang="en-US" sz="2000" b="1" i="1" dirty="0" err="1">
                <a:latin typeface="+mj-lt"/>
                <a:ea typeface="Courier New" pitchFamily="34" charset="-122"/>
                <a:cs typeface="Courier New" pitchFamily="34" charset="-120"/>
              </a:rPr>
              <a:t>cmd.execute</a:t>
            </a:r>
            <a:r>
              <a:rPr lang="en-US" sz="2000" b="1" i="1" dirty="0">
                <a:latin typeface="+mj-lt"/>
                <a:ea typeface="Courier New" pitchFamily="34" charset="-122"/>
                <a:cs typeface="Courier New" pitchFamily="34" charset="-120"/>
              </a:rPr>
              <a:t>();</a:t>
            </a:r>
            <a:endParaRPr lang="en-US" sz="2000" b="1" i="1" dirty="0">
              <a:latin typeface="+mj-lt"/>
            </a:endParaRPr>
          </a:p>
          <a:p>
            <a:pPr marL="0" indent="0">
              <a:buNone/>
            </a:pPr>
            <a:r>
              <a:rPr lang="en-US" sz="2000" dirty="0">
                <a:latin typeface="+mj-lt"/>
                <a:ea typeface="Courier New" pitchFamily="34" charset="-122"/>
                <a:cs typeface="Courier New" pitchFamily="34" charset="-120"/>
              </a:rPr>
              <a:t>            return true; // Stop the chain</a:t>
            </a:r>
            <a:endParaRPr lang="en-US" sz="2000" dirty="0">
              <a:latin typeface="+mj-lt"/>
            </a:endParaRPr>
          </a:p>
          <a:p>
            <a:pPr marL="0" indent="0">
              <a:buNone/>
            </a:pPr>
            <a:r>
              <a:rPr lang="en-US" sz="2000" dirty="0">
                <a:latin typeface="+mj-lt"/>
                <a:ea typeface="Courier New" pitchFamily="34" charset="-122"/>
                <a:cs typeface="Courier New" pitchFamily="34" charset="-120"/>
              </a:rPr>
              <a:t>     }</a:t>
            </a:r>
            <a:endParaRPr lang="en-US" sz="2000" dirty="0">
              <a:latin typeface="+mj-lt"/>
            </a:endParaRPr>
          </a:p>
          <a:p>
            <a:pPr marL="0" indent="0">
              <a:buNone/>
            </a:pPr>
            <a:r>
              <a:rPr lang="en-US" sz="2000" dirty="0">
                <a:latin typeface="+mj-lt"/>
                <a:ea typeface="Courier New" pitchFamily="34" charset="-122"/>
                <a:cs typeface="Courier New" pitchFamily="34" charset="-120"/>
              </a:rPr>
              <a:t>     return false; // Pass to successor</a:t>
            </a:r>
            <a:endParaRPr lang="en-US" sz="2000" dirty="0">
              <a:latin typeface="+mj-lt"/>
            </a:endParaRPr>
          </a:p>
          <a:p>
            <a:pPr marL="0" indent="0">
              <a:buNone/>
            </a:pPr>
            <a:r>
              <a:rPr lang="en-US" sz="2000" dirty="0">
                <a:latin typeface="+mj-lt"/>
                <a:ea typeface="Courier New" pitchFamily="34" charset="-122"/>
                <a:cs typeface="Courier New" pitchFamily="34" charset="-120"/>
              </a:rPr>
              <a:t>    }</a:t>
            </a:r>
            <a:endParaRPr lang="en-US" sz="2000" dirty="0">
              <a:latin typeface="+mj-lt"/>
            </a:endParaRPr>
          </a:p>
          <a:p>
            <a:pPr marL="0" indent="0">
              <a:buNone/>
            </a:pPr>
            <a:r>
              <a:rPr lang="en-US" sz="2000" dirty="0">
                <a:latin typeface="+mj-lt"/>
                <a:ea typeface="Courier New" pitchFamily="34" charset="-122"/>
                <a:cs typeface="Courier New" pitchFamily="34" charset="-120"/>
              </a:rPr>
              <a:t>}</a:t>
            </a:r>
            <a:endParaRPr lang="en-US" sz="2000" dirty="0">
              <a:latin typeface="+mj-lt"/>
            </a:endParaRPr>
          </a:p>
        </p:txBody>
      </p:sp>
    </p:spTree>
    <p:extLst>
      <p:ext uri="{BB962C8B-B14F-4D97-AF65-F5344CB8AC3E}">
        <p14:creationId xmlns:p14="http://schemas.microsoft.com/office/powerpoint/2010/main" val="2677871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FCDE-9677-9A31-0E56-5336B83C09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7A477A-0C38-4EEC-4BD3-35EC1D6D6EA5}"/>
              </a:ext>
            </a:extLst>
          </p:cNvPr>
          <p:cNvSpPr>
            <a:spLocks noGrp="1"/>
          </p:cNvSpPr>
          <p:nvPr>
            <p:ph idx="1"/>
          </p:nvPr>
        </p:nvSpPr>
        <p:spPr/>
        <p:txBody>
          <a:bodyPr/>
          <a:lstStyle/>
          <a:p>
            <a:pPr marL="0" indent="0">
              <a:buNone/>
            </a:pPr>
            <a:r>
              <a:rPr lang="en-US" sz="2000" dirty="0"/>
              <a:t>public class Application {</a:t>
            </a:r>
          </a:p>
          <a:p>
            <a:pPr marL="0" indent="0">
              <a:buNone/>
            </a:pPr>
            <a:r>
              <a:rPr lang="en-US" sz="2000" dirty="0"/>
              <a:t>    public static void main(String[] </a:t>
            </a:r>
            <a:r>
              <a:rPr lang="en-US" sz="2000" dirty="0" err="1"/>
              <a:t>args</a:t>
            </a:r>
            <a:r>
              <a:rPr lang="en-US" sz="2000" dirty="0"/>
              <a:t>) {</a:t>
            </a:r>
          </a:p>
          <a:p>
            <a:pPr marL="0" indent="0">
              <a:buNone/>
            </a:pPr>
            <a:r>
              <a:rPr lang="en-US" sz="2000" dirty="0"/>
              <a:t>        // 1. Build the chain</a:t>
            </a:r>
          </a:p>
          <a:p>
            <a:pPr marL="0" indent="0">
              <a:buNone/>
            </a:pPr>
            <a:r>
              <a:rPr lang="en-US" sz="2000" dirty="0"/>
              <a:t>        Handler auth = new </a:t>
            </a:r>
            <a:r>
              <a:rPr lang="en-US" sz="2000" dirty="0" err="1"/>
              <a:t>AuthHandler</a:t>
            </a:r>
            <a:r>
              <a:rPr lang="en-US" sz="2000" dirty="0"/>
              <a:t>();</a:t>
            </a:r>
          </a:p>
          <a:p>
            <a:pPr marL="0" indent="0">
              <a:buNone/>
            </a:pPr>
            <a:r>
              <a:rPr lang="en-US" sz="2000" dirty="0"/>
              <a:t>        Handler log = new </a:t>
            </a:r>
            <a:r>
              <a:rPr lang="en-US" sz="2000" dirty="0" err="1"/>
              <a:t>LogHandler</a:t>
            </a:r>
            <a:r>
              <a:rPr lang="en-US" sz="2000" dirty="0"/>
              <a:t>();</a:t>
            </a:r>
          </a:p>
          <a:p>
            <a:pPr marL="0" indent="0">
              <a:buNone/>
            </a:pPr>
            <a:r>
              <a:rPr lang="en-US" sz="2000" dirty="0"/>
              <a:t>        </a:t>
            </a:r>
            <a:r>
              <a:rPr lang="en-US" sz="2000" dirty="0" err="1"/>
              <a:t>auth.setSuccessor</a:t>
            </a:r>
            <a:r>
              <a:rPr lang="en-US" sz="2000" dirty="0"/>
              <a:t>(log);</a:t>
            </a:r>
          </a:p>
          <a:p>
            <a:pPr marL="0" indent="0">
              <a:buNone/>
            </a:pPr>
            <a:r>
              <a:rPr lang="en-US" sz="2000" dirty="0"/>
              <a:t>        // auth -&gt; log -&gt; null</a:t>
            </a:r>
          </a:p>
          <a:p>
            <a:pPr marL="0" indent="0">
              <a:buNone/>
            </a:pPr>
            <a:r>
              <a:rPr lang="en-US" sz="2000" dirty="0"/>
              <a:t>        </a:t>
            </a:r>
          </a:p>
          <a:p>
            <a:pPr marL="0" indent="0">
              <a:buNone/>
            </a:pPr>
            <a:r>
              <a:rPr lang="en-US" sz="2000" dirty="0"/>
              <a:t>        // 2. Create command objects</a:t>
            </a:r>
          </a:p>
          <a:p>
            <a:pPr marL="0" indent="0">
              <a:buNone/>
            </a:pPr>
            <a:r>
              <a:rPr lang="en-US" sz="2000" dirty="0"/>
              <a:t>        Command login = new </a:t>
            </a:r>
            <a:r>
              <a:rPr lang="en-US" sz="2000" dirty="0" err="1"/>
              <a:t>AuthCommand</a:t>
            </a:r>
            <a:r>
              <a:rPr lang="en-US" sz="2000" dirty="0"/>
              <a:t>(new User("</a:t>
            </a:r>
            <a:r>
              <a:rPr lang="en-US" sz="2000" dirty="0" err="1"/>
              <a:t>grad_student</a:t>
            </a:r>
            <a:r>
              <a:rPr lang="en-US" sz="2000" dirty="0"/>
              <a:t>"));</a:t>
            </a:r>
          </a:p>
          <a:p>
            <a:pPr marL="0" indent="0">
              <a:buNone/>
            </a:pPr>
            <a:r>
              <a:rPr lang="en-US" sz="2000" dirty="0"/>
              <a:t>        Command greeting = new </a:t>
            </a:r>
            <a:r>
              <a:rPr lang="en-US" sz="2000" dirty="0" err="1"/>
              <a:t>LogCommand</a:t>
            </a:r>
            <a:r>
              <a:rPr lang="en-US" sz="2000" dirty="0"/>
              <a:t>("User logged in");</a:t>
            </a:r>
          </a:p>
          <a:p>
            <a:pPr marL="0" indent="0">
              <a:buNone/>
            </a:pPr>
            <a:r>
              <a:rPr lang="en-US" sz="2000" dirty="0"/>
              <a:t>        Command invalid = new </a:t>
            </a:r>
            <a:r>
              <a:rPr lang="en-US" sz="2000" dirty="0" err="1"/>
              <a:t>PaymentCommand</a:t>
            </a:r>
            <a:r>
              <a:rPr lang="en-US" sz="2000" dirty="0"/>
              <a:t>(200.0); // Not shown</a:t>
            </a:r>
          </a:p>
          <a:p>
            <a:pPr marL="0" indent="0">
              <a:buNone/>
            </a:pPr>
            <a:endParaRPr lang="en-US" sz="2000" dirty="0"/>
          </a:p>
          <a:p>
            <a:pPr marL="0" indent="0">
              <a:buNone/>
            </a:pPr>
            <a:r>
              <a:rPr lang="en-US" sz="2000" dirty="0"/>
              <a:t>      </a:t>
            </a:r>
          </a:p>
        </p:txBody>
      </p:sp>
    </p:spTree>
    <p:extLst>
      <p:ext uri="{BB962C8B-B14F-4D97-AF65-F5344CB8AC3E}">
        <p14:creationId xmlns:p14="http://schemas.microsoft.com/office/powerpoint/2010/main" val="4087083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3C1B2-84CE-28E9-D9C9-2220871D8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1FDC5-FD03-7A58-C5C0-C9C26F51D6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1436EF-B26E-38EF-100B-1BE766788B23}"/>
              </a:ext>
            </a:extLst>
          </p:cNvPr>
          <p:cNvSpPr>
            <a:spLocks noGrp="1"/>
          </p:cNvSpPr>
          <p:nvPr>
            <p:ph idx="1"/>
          </p:nvPr>
        </p:nvSpPr>
        <p:spPr/>
        <p:txBody>
          <a:bodyPr/>
          <a:lstStyle/>
          <a:p>
            <a:pPr marL="0" indent="0">
              <a:buNone/>
            </a:pPr>
            <a:r>
              <a:rPr lang="en-US" sz="2000" dirty="0"/>
              <a:t>  // 3. Send commands to the chain root</a:t>
            </a:r>
          </a:p>
          <a:p>
            <a:pPr marL="0" indent="0">
              <a:buNone/>
            </a:pPr>
            <a:r>
              <a:rPr lang="en-US" sz="2000" dirty="0"/>
              <a:t>        </a:t>
            </a:r>
            <a:r>
              <a:rPr lang="en-US" sz="2000" dirty="0" err="1"/>
              <a:t>System.out.println</a:t>
            </a:r>
            <a:r>
              <a:rPr lang="en-US" sz="2000" dirty="0"/>
              <a:t>("--- Sending Auth Command ---");</a:t>
            </a:r>
          </a:p>
          <a:p>
            <a:pPr marL="0" indent="0">
              <a:buNone/>
            </a:pPr>
            <a:r>
              <a:rPr lang="en-US" sz="2000" dirty="0"/>
              <a:t>        </a:t>
            </a:r>
            <a:r>
              <a:rPr lang="en-US" sz="2000" dirty="0" err="1"/>
              <a:t>auth.handle</a:t>
            </a:r>
            <a:r>
              <a:rPr lang="en-US" sz="2000" dirty="0"/>
              <a:t>(login);</a:t>
            </a:r>
          </a:p>
          <a:p>
            <a:pPr marL="0" indent="0">
              <a:buNone/>
            </a:pPr>
            <a:r>
              <a:rPr lang="en-US" sz="2000" dirty="0"/>
              <a:t>        // Output: "Authenticating </a:t>
            </a:r>
            <a:r>
              <a:rPr lang="en-US" sz="2000" dirty="0" err="1"/>
              <a:t>grad_student</a:t>
            </a:r>
            <a:r>
              <a:rPr lang="en-US" sz="2000" dirty="0"/>
              <a:t>"</a:t>
            </a:r>
          </a:p>
          <a:p>
            <a:pPr marL="0" indent="0">
              <a:buNone/>
            </a:pPr>
            <a:r>
              <a:rPr lang="en-US" sz="2000" dirty="0"/>
              <a:t>        </a:t>
            </a:r>
          </a:p>
          <a:p>
            <a:pPr marL="0" indent="0">
              <a:buNone/>
            </a:pPr>
            <a:r>
              <a:rPr lang="en-US" sz="2000" dirty="0"/>
              <a:t>        </a:t>
            </a:r>
            <a:r>
              <a:rPr lang="en-US" sz="2000" dirty="0" err="1"/>
              <a:t>System.out.println</a:t>
            </a:r>
            <a:r>
              <a:rPr lang="en-US" sz="2000" dirty="0"/>
              <a:t>("--- Sending Log Command ---");</a:t>
            </a:r>
          </a:p>
          <a:p>
            <a:pPr marL="0" indent="0">
              <a:buNone/>
            </a:pPr>
            <a:r>
              <a:rPr lang="en-US" sz="2000" dirty="0"/>
              <a:t>        </a:t>
            </a:r>
            <a:r>
              <a:rPr lang="en-US" sz="2000" dirty="0" err="1"/>
              <a:t>auth.handle</a:t>
            </a:r>
            <a:r>
              <a:rPr lang="en-US" sz="2000" dirty="0"/>
              <a:t>(greeting);</a:t>
            </a:r>
          </a:p>
          <a:p>
            <a:pPr marL="0" indent="0">
              <a:buNone/>
            </a:pPr>
            <a:r>
              <a:rPr lang="en-US" sz="2000" dirty="0"/>
              <a:t>        // Output: "LOG: User logged in"</a:t>
            </a:r>
          </a:p>
          <a:p>
            <a:pPr marL="0" indent="0">
              <a:buNone/>
            </a:pPr>
            <a:endParaRPr lang="en-US" sz="2000" dirty="0"/>
          </a:p>
          <a:p>
            <a:pPr marL="0" indent="0">
              <a:buNone/>
            </a:pPr>
            <a:r>
              <a:rPr lang="en-US" sz="2000" dirty="0"/>
              <a:t>        </a:t>
            </a:r>
            <a:r>
              <a:rPr lang="en-US" sz="2000" dirty="0" err="1"/>
              <a:t>System.out.println</a:t>
            </a:r>
            <a:r>
              <a:rPr lang="en-US" sz="2000" dirty="0"/>
              <a:t>("--- Sending Invalid Command ---");</a:t>
            </a:r>
          </a:p>
          <a:p>
            <a:pPr marL="0" indent="0">
              <a:buNone/>
            </a:pPr>
            <a:r>
              <a:rPr lang="en-US" sz="2000" dirty="0"/>
              <a:t>        </a:t>
            </a:r>
            <a:r>
              <a:rPr lang="en-US" sz="2000" dirty="0" err="1"/>
              <a:t>auth.handle</a:t>
            </a:r>
            <a:r>
              <a:rPr lang="en-US" sz="2000" dirty="0"/>
              <a:t>(invalid);</a:t>
            </a:r>
          </a:p>
          <a:p>
            <a:pPr marL="0" indent="0">
              <a:buNone/>
            </a:pPr>
            <a:r>
              <a:rPr lang="en-US" sz="2000" dirty="0"/>
              <a:t>        // Output: (nothing)</a:t>
            </a:r>
          </a:p>
          <a:p>
            <a:pPr marL="0" indent="0">
              <a:buNone/>
            </a:pPr>
            <a:r>
              <a:rPr lang="en-US" sz="2000" dirty="0"/>
              <a:t>    }</a:t>
            </a:r>
          </a:p>
          <a:p>
            <a:pPr marL="0" indent="0">
              <a:buNone/>
            </a:pPr>
            <a:r>
              <a:rPr lang="en-US" sz="2000" dirty="0"/>
              <a:t>}</a:t>
            </a:r>
          </a:p>
          <a:p>
            <a:pPr marL="0" indent="0">
              <a:buNone/>
            </a:pPr>
            <a:endParaRPr lang="en-US" sz="2000" dirty="0"/>
          </a:p>
        </p:txBody>
      </p:sp>
    </p:spTree>
    <p:extLst>
      <p:ext uri="{BB962C8B-B14F-4D97-AF65-F5344CB8AC3E}">
        <p14:creationId xmlns:p14="http://schemas.microsoft.com/office/powerpoint/2010/main" val="20516729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87440-D39D-7224-90F2-B5FB3D66A585}"/>
            </a:ext>
          </a:extLst>
        </p:cNvPr>
        <p:cNvGrpSpPr/>
        <p:nvPr/>
      </p:nvGrpSpPr>
      <p:grpSpPr>
        <a:xfrm>
          <a:off x="0" y="0"/>
          <a:ext cx="0" cy="0"/>
          <a:chOff x="0" y="0"/>
          <a:chExt cx="0" cy="0"/>
        </a:xfrm>
      </p:grpSpPr>
      <p:sp>
        <p:nvSpPr>
          <p:cNvPr id="13314" name="Rectangle 2">
            <a:extLst>
              <a:ext uri="{FF2B5EF4-FFF2-40B4-BE49-F238E27FC236}">
                <a16:creationId xmlns:a16="http://schemas.microsoft.com/office/drawing/2014/main" id="{A370B98D-9F26-B2F6-BE1A-A644D69778EE}"/>
              </a:ext>
            </a:extLst>
          </p:cNvPr>
          <p:cNvSpPr>
            <a:spLocks noGrp="1" noChangeArrowheads="1"/>
          </p:cNvSpPr>
          <p:nvPr>
            <p:ph type="title"/>
          </p:nvPr>
        </p:nvSpPr>
        <p:spPr>
          <a:xfrm>
            <a:off x="457200" y="139700"/>
            <a:ext cx="8229600" cy="1371600"/>
          </a:xfrm>
        </p:spPr>
        <p:txBody>
          <a:bodyPr/>
          <a:lstStyle/>
          <a:p>
            <a:r>
              <a:rPr lang="en-US" altLang="tr-TR" dirty="0"/>
              <a:t>Decouple sender and handler</a:t>
            </a:r>
            <a:endParaRPr lang="en-GB" altLang="tr-TR" dirty="0"/>
          </a:p>
        </p:txBody>
      </p:sp>
      <p:sp>
        <p:nvSpPr>
          <p:cNvPr id="13315" name="Rectangle 3">
            <a:extLst>
              <a:ext uri="{FF2B5EF4-FFF2-40B4-BE49-F238E27FC236}">
                <a16:creationId xmlns:a16="http://schemas.microsoft.com/office/drawing/2014/main" id="{DCB3D69E-C951-9EAB-9219-BFD21B71C851}"/>
              </a:ext>
            </a:extLst>
          </p:cNvPr>
          <p:cNvSpPr>
            <a:spLocks noGrp="1" noChangeArrowheads="1"/>
          </p:cNvSpPr>
          <p:nvPr>
            <p:ph idx="1"/>
          </p:nvPr>
        </p:nvSpPr>
        <p:spPr>
          <a:xfrm>
            <a:off x="457200" y="1335088"/>
            <a:ext cx="8229600" cy="4532312"/>
          </a:xfrm>
        </p:spPr>
        <p:txBody>
          <a:bodyPr/>
          <a:lstStyle/>
          <a:p>
            <a:pPr marL="609600" indent="-609600">
              <a:lnSpc>
                <a:spcPct val="80000"/>
              </a:lnSpc>
              <a:buFont typeface="Wingdings" panose="05000000000000000000" pitchFamily="2" charset="2"/>
              <a:buChar char="q"/>
            </a:pPr>
            <a:r>
              <a:rPr lang="en-US" altLang="tr-TR" sz="2800" dirty="0"/>
              <a:t>Observer</a:t>
            </a:r>
          </a:p>
          <a:p>
            <a:pPr marL="609600" indent="-609600">
              <a:lnSpc>
                <a:spcPct val="80000"/>
              </a:lnSpc>
              <a:buFont typeface="Wingdings" panose="05000000000000000000" pitchFamily="2" charset="2"/>
              <a:buChar char="q"/>
            </a:pPr>
            <a:r>
              <a:rPr lang="en-US" altLang="tr-TR" sz="2800" dirty="0"/>
              <a:t>Command</a:t>
            </a:r>
          </a:p>
          <a:p>
            <a:pPr marL="609600" indent="-609600">
              <a:lnSpc>
                <a:spcPct val="80000"/>
              </a:lnSpc>
              <a:buFont typeface="Wingdings" panose="05000000000000000000" pitchFamily="2" charset="2"/>
              <a:buChar char="q"/>
            </a:pPr>
            <a:r>
              <a:rPr lang="en-US" altLang="tr-TR" sz="2800" dirty="0"/>
              <a:t>mediator</a:t>
            </a:r>
          </a:p>
          <a:p>
            <a:pPr marL="609600" indent="-609600">
              <a:lnSpc>
                <a:spcPct val="80000"/>
              </a:lnSpc>
              <a:buFont typeface="Wingdings" panose="05000000000000000000" pitchFamily="2" charset="2"/>
              <a:buChar char="q"/>
            </a:pPr>
            <a:r>
              <a:rPr lang="en-US" altLang="tr-TR" sz="2800" dirty="0"/>
              <a:t>Chain of Responsibility</a:t>
            </a:r>
          </a:p>
        </p:txBody>
      </p:sp>
    </p:spTree>
    <p:extLst>
      <p:ext uri="{BB962C8B-B14F-4D97-AF65-F5344CB8AC3E}">
        <p14:creationId xmlns:p14="http://schemas.microsoft.com/office/powerpoint/2010/main" val="29548723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9932A33-40FA-F748-74AD-7944707B7F37}"/>
              </a:ext>
            </a:extLst>
          </p:cNvPr>
          <p:cNvSpPr>
            <a:spLocks noGrp="1" noChangeArrowheads="1"/>
          </p:cNvSpPr>
          <p:nvPr>
            <p:ph type="title"/>
          </p:nvPr>
        </p:nvSpPr>
        <p:spPr/>
        <p:txBody>
          <a:bodyPr/>
          <a:lstStyle/>
          <a:p>
            <a:pPr eaLnBrk="1" hangingPunct="1"/>
            <a:r>
              <a:rPr lang="en-US" altLang="tr-TR" dirty="0"/>
              <a:t>Example: GUI coordination</a:t>
            </a:r>
          </a:p>
        </p:txBody>
      </p:sp>
      <p:sp>
        <p:nvSpPr>
          <p:cNvPr id="32771" name="Rectangle 3">
            <a:extLst>
              <a:ext uri="{FF2B5EF4-FFF2-40B4-BE49-F238E27FC236}">
                <a16:creationId xmlns:a16="http://schemas.microsoft.com/office/drawing/2014/main" id="{AFB876B5-ED25-8804-482D-A987191F9B16}"/>
              </a:ext>
            </a:extLst>
          </p:cNvPr>
          <p:cNvSpPr>
            <a:spLocks noGrp="1" noChangeArrowheads="1"/>
          </p:cNvSpPr>
          <p:nvPr>
            <p:ph idx="1"/>
          </p:nvPr>
        </p:nvSpPr>
        <p:spPr>
          <a:xfrm>
            <a:off x="457200" y="1600200"/>
            <a:ext cx="8043863" cy="4525963"/>
          </a:xfrm>
        </p:spPr>
        <p:txBody>
          <a:bodyPr/>
          <a:lstStyle/>
          <a:p>
            <a:pPr eaLnBrk="1" hangingPunct="1">
              <a:lnSpc>
                <a:spcPct val="90000"/>
              </a:lnSpc>
            </a:pPr>
            <a:r>
              <a:rPr lang="en-US" altLang="tr-TR" dirty="0"/>
              <a:t>A From dialog window</a:t>
            </a:r>
          </a:p>
          <a:p>
            <a:pPr eaLnBrk="1" hangingPunct="1">
              <a:lnSpc>
                <a:spcPct val="90000"/>
              </a:lnSpc>
              <a:buFontTx/>
              <a:buNone/>
            </a:pPr>
            <a:endParaRPr lang="en-US" altLang="tr-TR" dirty="0"/>
          </a:p>
          <a:p>
            <a:pPr eaLnBrk="1" hangingPunct="1">
              <a:lnSpc>
                <a:spcPct val="90000"/>
              </a:lnSpc>
              <a:buFontTx/>
              <a:buNone/>
            </a:pPr>
            <a:endParaRPr lang="en-US" altLang="tr-TR" dirty="0"/>
          </a:p>
          <a:p>
            <a:pPr eaLnBrk="1" hangingPunct="1">
              <a:lnSpc>
                <a:spcPct val="90000"/>
              </a:lnSpc>
              <a:buFontTx/>
              <a:buNone/>
            </a:pPr>
            <a:endParaRPr lang="en-US" altLang="tr-TR" dirty="0"/>
          </a:p>
          <a:p>
            <a:pPr eaLnBrk="1" hangingPunct="1">
              <a:lnSpc>
                <a:spcPct val="90000"/>
              </a:lnSpc>
            </a:pPr>
            <a:r>
              <a:rPr lang="en-US" altLang="tr-TR" dirty="0"/>
              <a:t>Multiple dependencies</a:t>
            </a:r>
          </a:p>
          <a:p>
            <a:pPr lvl="1" eaLnBrk="1" hangingPunct="1">
              <a:lnSpc>
                <a:spcPct val="90000"/>
              </a:lnSpc>
            </a:pPr>
            <a:r>
              <a:rPr lang="en-US" altLang="tr-TR" dirty="0"/>
              <a:t>When an item of list is selected, </a:t>
            </a:r>
          </a:p>
          <a:p>
            <a:pPr lvl="2" eaLnBrk="1" hangingPunct="1">
              <a:lnSpc>
                <a:spcPct val="90000"/>
              </a:lnSpc>
            </a:pPr>
            <a:r>
              <a:rPr lang="en-US" altLang="tr-TR" dirty="0"/>
              <a:t>the selection will be displayed on the entry field</a:t>
            </a:r>
          </a:p>
          <a:p>
            <a:pPr lvl="2" eaLnBrk="1" hangingPunct="1">
              <a:lnSpc>
                <a:spcPct val="90000"/>
              </a:lnSpc>
            </a:pPr>
            <a:r>
              <a:rPr lang="en-US" altLang="tr-TR" dirty="0"/>
              <a:t>Ok button will be enabled, </a:t>
            </a:r>
            <a:r>
              <a:rPr lang="en-US" altLang="tr-TR" dirty="0" err="1"/>
              <a:t>etc</a:t>
            </a:r>
            <a:r>
              <a:rPr lang="en-US" altLang="tr-TR" dirty="0"/>
              <a:t>…</a:t>
            </a:r>
          </a:p>
          <a:p>
            <a:pPr lvl="1">
              <a:lnSpc>
                <a:spcPct val="90000"/>
              </a:lnSpc>
            </a:pPr>
            <a:r>
              <a:rPr lang="en-US" dirty="0"/>
              <a:t>Change in the </a:t>
            </a:r>
            <a:r>
              <a:rPr lang="en-US" dirty="0" err="1"/>
              <a:t>FilterPanel</a:t>
            </a:r>
            <a:r>
              <a:rPr lang="en-US" dirty="0"/>
              <a:t> triggers updates in</a:t>
            </a:r>
          </a:p>
          <a:p>
            <a:pPr lvl="2">
              <a:lnSpc>
                <a:spcPct val="90000"/>
              </a:lnSpc>
            </a:pPr>
            <a:r>
              <a:rPr lang="en-US" dirty="0" err="1"/>
              <a:t>ProductList</a:t>
            </a:r>
            <a:r>
              <a:rPr lang="en-US" dirty="0"/>
              <a:t>, Pagination, and </a:t>
            </a:r>
            <a:r>
              <a:rPr lang="en-US" dirty="0" err="1"/>
              <a:t>SummaryLabel</a:t>
            </a:r>
            <a:endParaRPr lang="en-US" altLang="tr-TR" dirty="0"/>
          </a:p>
        </p:txBody>
      </p:sp>
      <p:pic>
        <p:nvPicPr>
          <p:cNvPr id="32772" name="Picture 4">
            <a:extLst>
              <a:ext uri="{FF2B5EF4-FFF2-40B4-BE49-F238E27FC236}">
                <a16:creationId xmlns:a16="http://schemas.microsoft.com/office/drawing/2014/main" id="{D361F1A6-70EF-0017-7EFB-2648AEFD1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25" y="1928813"/>
            <a:ext cx="2990850"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A5CB5CD-BD3A-0D79-BCC7-C98CCB71FB0E}"/>
              </a:ext>
            </a:extLst>
          </p:cNvPr>
          <p:cNvSpPr>
            <a:spLocks noGrp="1" noChangeArrowheads="1"/>
          </p:cNvSpPr>
          <p:nvPr>
            <p:ph type="title"/>
          </p:nvPr>
        </p:nvSpPr>
        <p:spPr/>
        <p:txBody>
          <a:bodyPr/>
          <a:lstStyle/>
          <a:p>
            <a:pPr eaLnBrk="1" hangingPunct="1"/>
            <a:r>
              <a:rPr lang="en-US" altLang="tr-TR" dirty="0"/>
              <a:t>Motivation</a:t>
            </a:r>
          </a:p>
        </p:txBody>
      </p:sp>
      <p:sp>
        <p:nvSpPr>
          <p:cNvPr id="33795" name="Rectangle 3">
            <a:extLst>
              <a:ext uri="{FF2B5EF4-FFF2-40B4-BE49-F238E27FC236}">
                <a16:creationId xmlns:a16="http://schemas.microsoft.com/office/drawing/2014/main" id="{1680C5AF-864E-9770-4B1C-A1F1B4B1E938}"/>
              </a:ext>
            </a:extLst>
          </p:cNvPr>
          <p:cNvSpPr>
            <a:spLocks noGrp="1" noChangeArrowheads="1"/>
          </p:cNvSpPr>
          <p:nvPr>
            <p:ph idx="1"/>
          </p:nvPr>
        </p:nvSpPr>
        <p:spPr/>
        <p:txBody>
          <a:bodyPr/>
          <a:lstStyle/>
          <a:p>
            <a:pPr eaLnBrk="1" hangingPunct="1"/>
            <a:r>
              <a:rPr lang="en-US" altLang="tr-TR" dirty="0"/>
              <a:t>It is hard to keep track which rules reside in which objects, and how objects should relate to each other</a:t>
            </a:r>
          </a:p>
          <a:p>
            <a:pPr eaLnBrk="1" hangingPunct="1"/>
            <a:r>
              <a:rPr lang="en-US" altLang="tr-TR" dirty="0"/>
              <a:t>Chaotic many-to-many dependency</a:t>
            </a:r>
          </a:p>
          <a:p>
            <a:pPr eaLnBrk="1" hangingPunct="1"/>
            <a:endParaRPr lang="en-US" altLang="tr-TR" dirty="0"/>
          </a:p>
          <a:p>
            <a:pPr eaLnBrk="1" hangingPunct="1"/>
            <a:r>
              <a:rPr lang="en-US" altLang="tr-TR" dirty="0"/>
              <a:t>If the objects interact with each other </a:t>
            </a:r>
            <a:r>
              <a:rPr lang="en-US" altLang="tr-TR" i="1" dirty="0"/>
              <a:t>directly</a:t>
            </a:r>
            <a:r>
              <a:rPr lang="en-US" altLang="tr-TR" dirty="0"/>
              <a:t>, the system components are </a:t>
            </a:r>
            <a:r>
              <a:rPr lang="en-US" altLang="tr-TR" i="1" dirty="0"/>
              <a:t>tightly</a:t>
            </a:r>
            <a:r>
              <a:rPr lang="en-US" altLang="tr-TR" dirty="0"/>
              <a:t> coupled with each other making higher maintainability cost and not hard to extend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3091B-5825-2101-93D6-B29222EC1794}"/>
              </a:ext>
            </a:extLst>
          </p:cNvPr>
          <p:cNvSpPr>
            <a:spLocks noGrp="1"/>
          </p:cNvSpPr>
          <p:nvPr>
            <p:ph type="title"/>
          </p:nvPr>
        </p:nvSpPr>
        <p:spPr/>
        <p:txBody>
          <a:bodyPr/>
          <a:lstStyle/>
          <a:p>
            <a:r>
              <a:rPr lang="en-US" dirty="0"/>
              <a:t>Could </a:t>
            </a:r>
            <a:r>
              <a:rPr lang="en-US" dirty="0" err="1"/>
              <a:t>CoR</a:t>
            </a:r>
            <a:r>
              <a:rPr lang="en-US" dirty="0"/>
              <a:t> solve it?</a:t>
            </a:r>
          </a:p>
        </p:txBody>
      </p:sp>
      <p:sp>
        <p:nvSpPr>
          <p:cNvPr id="3" name="Content Placeholder 2">
            <a:extLst>
              <a:ext uri="{FF2B5EF4-FFF2-40B4-BE49-F238E27FC236}">
                <a16:creationId xmlns:a16="http://schemas.microsoft.com/office/drawing/2014/main" id="{26315A70-9682-21B1-031E-E89FC55FDAF1}"/>
              </a:ext>
            </a:extLst>
          </p:cNvPr>
          <p:cNvSpPr>
            <a:spLocks noGrp="1"/>
          </p:cNvSpPr>
          <p:nvPr>
            <p:ph idx="1"/>
          </p:nvPr>
        </p:nvSpPr>
        <p:spPr/>
        <p:txBody>
          <a:bodyPr/>
          <a:lstStyle/>
          <a:p>
            <a:r>
              <a:rPr lang="en-US" dirty="0"/>
              <a:t>coordinate complex updates between a </a:t>
            </a:r>
            <a:r>
              <a:rPr lang="en-US" dirty="0" err="1"/>
              <a:t>FilterPanel</a:t>
            </a:r>
            <a:r>
              <a:rPr lang="en-US" dirty="0"/>
              <a:t>, </a:t>
            </a:r>
            <a:r>
              <a:rPr lang="en-US" dirty="0" err="1"/>
              <a:t>SearchBox</a:t>
            </a:r>
            <a:r>
              <a:rPr lang="en-US" dirty="0"/>
              <a:t>, and </a:t>
            </a:r>
            <a:r>
              <a:rPr lang="en-US" dirty="0" err="1"/>
              <a:t>ProductList</a:t>
            </a:r>
            <a:r>
              <a:rPr lang="en-US" dirty="0"/>
              <a:t>.</a:t>
            </a:r>
          </a:p>
          <a:p>
            <a:endParaRPr lang="en-US" dirty="0"/>
          </a:p>
          <a:p>
            <a:r>
              <a:rPr lang="en-US" dirty="0"/>
              <a:t>GUI Needs Simultaneous Coordination</a:t>
            </a:r>
          </a:p>
          <a:p>
            <a:pPr lvl="1"/>
            <a:r>
              <a:rPr lang="en-US" dirty="0"/>
              <a:t>A change in the </a:t>
            </a:r>
            <a:r>
              <a:rPr lang="en-US" dirty="0" err="1"/>
              <a:t>FilterPanel</a:t>
            </a:r>
            <a:r>
              <a:rPr lang="en-US" dirty="0"/>
              <a:t> must trigger updates in the </a:t>
            </a:r>
            <a:r>
              <a:rPr lang="en-US" dirty="0" err="1"/>
              <a:t>ProductList</a:t>
            </a:r>
            <a:r>
              <a:rPr lang="en-US" dirty="0"/>
              <a:t>, Pagination, and </a:t>
            </a:r>
            <a:r>
              <a:rPr lang="en-US" dirty="0" err="1"/>
              <a:t>SummaryLabel</a:t>
            </a:r>
            <a:r>
              <a:rPr lang="en-US" dirty="0"/>
              <a:t> </a:t>
            </a:r>
            <a:r>
              <a:rPr lang="en-US" b="1" dirty="0"/>
              <a:t>at the same time.</a:t>
            </a:r>
          </a:p>
        </p:txBody>
      </p:sp>
    </p:spTree>
    <p:extLst>
      <p:ext uri="{BB962C8B-B14F-4D97-AF65-F5344CB8AC3E}">
        <p14:creationId xmlns:p14="http://schemas.microsoft.com/office/powerpoint/2010/main" val="37708328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158E5-4816-D5B3-D64F-2AF26AD07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6F010-D99C-EFA4-6503-FF2CACED174A}"/>
              </a:ext>
            </a:extLst>
          </p:cNvPr>
          <p:cNvSpPr>
            <a:spLocks noGrp="1"/>
          </p:cNvSpPr>
          <p:nvPr>
            <p:ph type="title"/>
          </p:nvPr>
        </p:nvSpPr>
        <p:spPr/>
        <p:txBody>
          <a:bodyPr/>
          <a:lstStyle/>
          <a:p>
            <a:r>
              <a:rPr lang="en-US" dirty="0"/>
              <a:t>Could </a:t>
            </a:r>
            <a:r>
              <a:rPr lang="en-US" dirty="0" err="1"/>
              <a:t>CoR</a:t>
            </a:r>
            <a:r>
              <a:rPr lang="en-US" dirty="0"/>
              <a:t> solve it?</a:t>
            </a:r>
          </a:p>
        </p:txBody>
      </p:sp>
      <p:sp>
        <p:nvSpPr>
          <p:cNvPr id="3" name="Content Placeholder 2">
            <a:extLst>
              <a:ext uri="{FF2B5EF4-FFF2-40B4-BE49-F238E27FC236}">
                <a16:creationId xmlns:a16="http://schemas.microsoft.com/office/drawing/2014/main" id="{57F2F7C3-73B3-4A74-5A92-363D823BB2AC}"/>
              </a:ext>
            </a:extLst>
          </p:cNvPr>
          <p:cNvSpPr>
            <a:spLocks noGrp="1"/>
          </p:cNvSpPr>
          <p:nvPr>
            <p:ph idx="1"/>
          </p:nvPr>
        </p:nvSpPr>
        <p:spPr/>
        <p:txBody>
          <a:bodyPr/>
          <a:lstStyle/>
          <a:p>
            <a:r>
              <a:rPr lang="en-US" sz="2800" dirty="0" err="1"/>
              <a:t>CoR</a:t>
            </a:r>
            <a:r>
              <a:rPr lang="en-US" sz="2800" dirty="0"/>
              <a:t> is for Sequential Delegation</a:t>
            </a:r>
          </a:p>
          <a:p>
            <a:pPr lvl="1"/>
            <a:r>
              <a:rPr lang="en-US" sz="2400" dirty="0"/>
              <a:t>If the filter panel became the head of the chain, the request would hit the </a:t>
            </a:r>
            <a:r>
              <a:rPr lang="en-US" sz="2400" dirty="0" err="1"/>
              <a:t>SearchBox</a:t>
            </a:r>
            <a:r>
              <a:rPr lang="en-US" sz="2400" dirty="0"/>
              <a:t> first. </a:t>
            </a:r>
          </a:p>
          <a:p>
            <a:pPr lvl="1"/>
            <a:r>
              <a:rPr lang="en-US" sz="2400" dirty="0"/>
              <a:t>The </a:t>
            </a:r>
            <a:r>
              <a:rPr lang="en-US" sz="2400" dirty="0" err="1"/>
              <a:t>SearchBox</a:t>
            </a:r>
            <a:r>
              <a:rPr lang="en-US" sz="2400" dirty="0"/>
              <a:t> would have no reason to approve or stop the request, so it would pass it down, adding unnecessary overhead.</a:t>
            </a:r>
          </a:p>
          <a:p>
            <a:r>
              <a:rPr lang="en-US" sz="2800" dirty="0" err="1"/>
              <a:t>CoR</a:t>
            </a:r>
            <a:r>
              <a:rPr lang="en-US" sz="2800" dirty="0"/>
              <a:t> fails: problem is not about giving one object a chance to handle the request;</a:t>
            </a:r>
          </a:p>
          <a:p>
            <a:r>
              <a:rPr lang="en-US" sz="2800" dirty="0"/>
              <a:t>It is about managing a complex fan-out of required actions triggered by a single event. </a:t>
            </a:r>
          </a:p>
        </p:txBody>
      </p:sp>
    </p:spTree>
    <p:extLst>
      <p:ext uri="{BB962C8B-B14F-4D97-AF65-F5344CB8AC3E}">
        <p14:creationId xmlns:p14="http://schemas.microsoft.com/office/powerpoint/2010/main" val="5628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18F73-7209-D19A-9322-CBD3FC15EB78}"/>
              </a:ext>
            </a:extLst>
          </p:cNvPr>
          <p:cNvSpPr>
            <a:spLocks noGrp="1"/>
          </p:cNvSpPr>
          <p:nvPr>
            <p:ph type="title"/>
          </p:nvPr>
        </p:nvSpPr>
        <p:spPr/>
        <p:txBody>
          <a:bodyPr/>
          <a:lstStyle/>
          <a:p>
            <a:r>
              <a:rPr lang="en-US" dirty="0"/>
              <a:t>Observer?</a:t>
            </a:r>
          </a:p>
        </p:txBody>
      </p:sp>
      <p:sp>
        <p:nvSpPr>
          <p:cNvPr id="3" name="Content Placeholder 2">
            <a:extLst>
              <a:ext uri="{FF2B5EF4-FFF2-40B4-BE49-F238E27FC236}">
                <a16:creationId xmlns:a16="http://schemas.microsoft.com/office/drawing/2014/main" id="{425EAA8B-8C96-ABD4-53B3-A303C9B73D54}"/>
              </a:ext>
            </a:extLst>
          </p:cNvPr>
          <p:cNvSpPr>
            <a:spLocks noGrp="1"/>
          </p:cNvSpPr>
          <p:nvPr>
            <p:ph idx="1"/>
          </p:nvPr>
        </p:nvSpPr>
        <p:spPr>
          <a:xfrm>
            <a:off x="457200" y="1335292"/>
            <a:ext cx="8470490" cy="4255884"/>
          </a:xfrm>
        </p:spPr>
        <p:txBody>
          <a:bodyPr>
            <a:noAutofit/>
          </a:bodyPr>
          <a:lstStyle/>
          <a:p>
            <a:pPr>
              <a:spcBef>
                <a:spcPts val="600"/>
              </a:spcBef>
              <a:spcAft>
                <a:spcPts val="600"/>
              </a:spcAft>
            </a:pPr>
            <a:r>
              <a:rPr lang="en-US" sz="2400" dirty="0"/>
              <a:t>Observer eliminates the direct link between a </a:t>
            </a:r>
            <a:r>
              <a:rPr lang="en-US" sz="2400" b="1" dirty="0"/>
              <a:t>Subject</a:t>
            </a:r>
            <a:r>
              <a:rPr lang="en-US" sz="2400" dirty="0"/>
              <a:t> and its observers, but in complex GUIs …</a:t>
            </a:r>
          </a:p>
          <a:p>
            <a:pPr>
              <a:spcBef>
                <a:spcPts val="600"/>
              </a:spcBef>
              <a:spcAft>
                <a:spcPts val="600"/>
              </a:spcAft>
            </a:pPr>
            <a:r>
              <a:rPr lang="en-US" sz="2400" dirty="0"/>
              <a:t>1) Chaotic Many-to-Many Dependencies</a:t>
            </a:r>
          </a:p>
          <a:p>
            <a:pPr lvl="1">
              <a:spcBef>
                <a:spcPts val="600"/>
              </a:spcBef>
              <a:spcAft>
                <a:spcPts val="600"/>
              </a:spcAft>
            </a:pPr>
            <a:r>
              <a:rPr lang="en-US" sz="2000" dirty="0"/>
              <a:t>Everyone subscribes to everyone</a:t>
            </a:r>
          </a:p>
          <a:p>
            <a:pPr lvl="1">
              <a:spcBef>
                <a:spcPts val="600"/>
              </a:spcBef>
              <a:spcAft>
                <a:spcPts val="600"/>
              </a:spcAft>
            </a:pPr>
            <a:r>
              <a:rPr lang="en-US" sz="2000" dirty="0"/>
              <a:t>a tangled web of subscriptions.</a:t>
            </a:r>
          </a:p>
          <a:p>
            <a:pPr>
              <a:spcBef>
                <a:spcPts val="600"/>
              </a:spcBef>
              <a:spcAft>
                <a:spcPts val="600"/>
              </a:spcAft>
            </a:pPr>
            <a:r>
              <a:rPr lang="en-US" sz="2400" dirty="0"/>
              <a:t>2) Notification Cascade</a:t>
            </a:r>
          </a:p>
          <a:p>
            <a:pPr lvl="1">
              <a:spcBef>
                <a:spcPts val="600"/>
              </a:spcBef>
              <a:spcAft>
                <a:spcPts val="600"/>
              </a:spcAft>
            </a:pPr>
            <a:r>
              <a:rPr lang="en-US" sz="2000" dirty="0"/>
              <a:t>If the </a:t>
            </a:r>
            <a:r>
              <a:rPr lang="en-US" sz="2000" dirty="0" err="1"/>
              <a:t>FilterPanel</a:t>
            </a:r>
            <a:r>
              <a:rPr lang="en-US" sz="2000" dirty="0"/>
              <a:t> (Subject) broadcasts a change, the </a:t>
            </a:r>
            <a:r>
              <a:rPr lang="en-US" sz="2000" dirty="0" err="1"/>
              <a:t>ProductList</a:t>
            </a:r>
            <a:r>
              <a:rPr lang="en-US" sz="2000" dirty="0"/>
              <a:t>, </a:t>
            </a:r>
            <a:r>
              <a:rPr lang="en-US" sz="2000" dirty="0" err="1"/>
              <a:t>SummaryLabel</a:t>
            </a:r>
            <a:r>
              <a:rPr lang="en-US" sz="2000" dirty="0"/>
              <a:t>, and Pagination all receive it. </a:t>
            </a:r>
          </a:p>
          <a:p>
            <a:pPr lvl="1">
              <a:spcBef>
                <a:spcPts val="600"/>
              </a:spcBef>
              <a:spcAft>
                <a:spcPts val="600"/>
              </a:spcAft>
            </a:pPr>
            <a:r>
              <a:rPr lang="en-US" sz="2000" dirty="0"/>
              <a:t>If the </a:t>
            </a:r>
            <a:r>
              <a:rPr lang="en-US" sz="2000" dirty="0" err="1"/>
              <a:t>ProductList</a:t>
            </a:r>
            <a:r>
              <a:rPr lang="en-US" sz="2000" dirty="0"/>
              <a:t> then changes the page count, it has to notify </a:t>
            </a:r>
            <a:r>
              <a:rPr lang="en-US" sz="2000" i="1" dirty="0"/>
              <a:t>other</a:t>
            </a:r>
            <a:r>
              <a:rPr lang="en-US" sz="2000" dirty="0"/>
              <a:t> observers, which can trigger </a:t>
            </a:r>
            <a:r>
              <a:rPr lang="en-US" sz="2000" b="1" dirty="0"/>
              <a:t>circular</a:t>
            </a:r>
            <a:r>
              <a:rPr lang="en-US" sz="2000" dirty="0"/>
              <a:t> or </a:t>
            </a:r>
            <a:r>
              <a:rPr lang="en-US" sz="2000" b="1" dirty="0"/>
              <a:t>cascading</a:t>
            </a:r>
            <a:r>
              <a:rPr lang="en-US" sz="2000" dirty="0"/>
              <a:t> updates.</a:t>
            </a:r>
          </a:p>
          <a:p>
            <a:pPr lvl="2">
              <a:spcBef>
                <a:spcPts val="600"/>
              </a:spcBef>
              <a:spcAft>
                <a:spcPts val="600"/>
              </a:spcAft>
            </a:pPr>
            <a:r>
              <a:rPr lang="en-US" sz="1600" b="1" dirty="0"/>
              <a:t>circular updates: </a:t>
            </a:r>
            <a:r>
              <a:rPr lang="en-US" sz="1600" dirty="0"/>
              <a:t>A notifies B, B's update notifies A, etc..</a:t>
            </a:r>
          </a:p>
        </p:txBody>
      </p:sp>
    </p:spTree>
    <p:extLst>
      <p:ext uri="{BB962C8B-B14F-4D97-AF65-F5344CB8AC3E}">
        <p14:creationId xmlns:p14="http://schemas.microsoft.com/office/powerpoint/2010/main" val="3278606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B3000-9AA2-C79A-58B7-8632A344B854}"/>
              </a:ext>
            </a:extLst>
          </p:cNvPr>
          <p:cNvSpPr>
            <a:spLocks noGrp="1"/>
          </p:cNvSpPr>
          <p:nvPr>
            <p:ph type="title"/>
          </p:nvPr>
        </p:nvSpPr>
        <p:spPr/>
        <p:txBody>
          <a:bodyPr/>
          <a:lstStyle/>
          <a:p>
            <a:r>
              <a:rPr lang="en-US" dirty="0"/>
              <a:t>Observer?</a:t>
            </a:r>
          </a:p>
        </p:txBody>
      </p:sp>
      <p:sp>
        <p:nvSpPr>
          <p:cNvPr id="3" name="Content Placeholder 2">
            <a:extLst>
              <a:ext uri="{FF2B5EF4-FFF2-40B4-BE49-F238E27FC236}">
                <a16:creationId xmlns:a16="http://schemas.microsoft.com/office/drawing/2014/main" id="{AC199665-E611-49E9-8A09-B1E9D2D368E9}"/>
              </a:ext>
            </a:extLst>
          </p:cNvPr>
          <p:cNvSpPr>
            <a:spLocks noGrp="1"/>
          </p:cNvSpPr>
          <p:nvPr>
            <p:ph idx="1"/>
          </p:nvPr>
        </p:nvSpPr>
        <p:spPr/>
        <p:txBody>
          <a:bodyPr/>
          <a:lstStyle/>
          <a:p>
            <a:pPr marL="0" indent="0">
              <a:buNone/>
            </a:pPr>
            <a:r>
              <a:rPr lang="en-US" sz="2400" dirty="0"/>
              <a:t>3) Low cohesion in Observers</a:t>
            </a:r>
          </a:p>
          <a:p>
            <a:pPr marL="0" indent="0">
              <a:buNone/>
            </a:pPr>
            <a:r>
              <a:rPr lang="en-US" sz="2200" dirty="0"/>
              <a:t>public void update(Subject </a:t>
            </a:r>
            <a:r>
              <a:rPr lang="en-US" sz="2200" dirty="0" err="1"/>
              <a:t>changedSubject</a:t>
            </a:r>
            <a:r>
              <a:rPr lang="en-US" sz="2200" dirty="0"/>
              <a:t>) {</a:t>
            </a:r>
          </a:p>
          <a:p>
            <a:pPr marL="0" indent="0">
              <a:buNone/>
            </a:pPr>
            <a:r>
              <a:rPr lang="en-US" sz="2200" dirty="0"/>
              <a:t>    // I have to figure out WHO notified me...</a:t>
            </a:r>
          </a:p>
          <a:p>
            <a:pPr marL="0" indent="0">
              <a:buNone/>
            </a:pPr>
            <a:r>
              <a:rPr lang="en-US" sz="2200" dirty="0"/>
              <a:t>    if (</a:t>
            </a:r>
            <a:r>
              <a:rPr lang="en-US" sz="2200" dirty="0" err="1"/>
              <a:t>changedSubject</a:t>
            </a:r>
            <a:r>
              <a:rPr lang="en-US" sz="2200" dirty="0"/>
              <a:t> == </a:t>
            </a:r>
            <a:r>
              <a:rPr lang="en-US" sz="2200" dirty="0" err="1"/>
              <a:t>filterPanel</a:t>
            </a:r>
            <a:r>
              <a:rPr lang="en-US" sz="2200" dirty="0"/>
              <a:t>) {</a:t>
            </a:r>
          </a:p>
          <a:p>
            <a:pPr marL="0" indent="0">
              <a:buNone/>
            </a:pPr>
            <a:r>
              <a:rPr lang="en-US" sz="2200" dirty="0"/>
              <a:t>        // ...and then run the specific logic</a:t>
            </a:r>
          </a:p>
          <a:p>
            <a:pPr marL="0" indent="0">
              <a:buNone/>
            </a:pPr>
            <a:r>
              <a:rPr lang="en-US" sz="2200" dirty="0"/>
              <a:t>        </a:t>
            </a:r>
            <a:r>
              <a:rPr lang="en-US" sz="2200" dirty="0" err="1"/>
              <a:t>runFilterLogic</a:t>
            </a:r>
            <a:r>
              <a:rPr lang="en-US" sz="2200" dirty="0"/>
              <a:t>();</a:t>
            </a:r>
          </a:p>
          <a:p>
            <a:pPr marL="0" indent="0">
              <a:buNone/>
            </a:pPr>
            <a:r>
              <a:rPr lang="en-US" sz="2200" dirty="0"/>
              <a:t>    } else if (</a:t>
            </a:r>
            <a:r>
              <a:rPr lang="en-US" sz="2200" dirty="0" err="1"/>
              <a:t>changedSubject</a:t>
            </a:r>
            <a:r>
              <a:rPr lang="en-US" sz="2200" dirty="0"/>
              <a:t> == </a:t>
            </a:r>
            <a:r>
              <a:rPr lang="en-US" sz="2200" dirty="0" err="1"/>
              <a:t>searchBox</a:t>
            </a:r>
            <a:r>
              <a:rPr lang="en-US" sz="2200" dirty="0"/>
              <a:t>) {</a:t>
            </a:r>
          </a:p>
          <a:p>
            <a:pPr marL="0" indent="0">
              <a:buNone/>
            </a:pPr>
            <a:r>
              <a:rPr lang="en-US" sz="2200" dirty="0"/>
              <a:t>        </a:t>
            </a:r>
            <a:r>
              <a:rPr lang="en-US" sz="2200" dirty="0" err="1"/>
              <a:t>runSearchLogic</a:t>
            </a:r>
            <a:r>
              <a:rPr lang="en-US" sz="2200" dirty="0"/>
              <a:t>();</a:t>
            </a:r>
          </a:p>
          <a:p>
            <a:pPr marL="0" indent="0">
              <a:buNone/>
            </a:pPr>
            <a:r>
              <a:rPr lang="en-US" sz="2200" dirty="0"/>
              <a:t>    } else if (</a:t>
            </a:r>
            <a:r>
              <a:rPr lang="en-US" sz="2200" dirty="0" err="1"/>
              <a:t>changedSubject</a:t>
            </a:r>
            <a:r>
              <a:rPr lang="en-US" sz="2200" dirty="0"/>
              <a:t> == pagination) {</a:t>
            </a:r>
          </a:p>
          <a:p>
            <a:pPr marL="0" indent="0">
              <a:buNone/>
            </a:pPr>
            <a:r>
              <a:rPr lang="en-US" sz="2200" dirty="0"/>
              <a:t>        </a:t>
            </a:r>
            <a:r>
              <a:rPr lang="en-US" sz="2200" dirty="0" err="1"/>
              <a:t>runPaginationLogic</a:t>
            </a:r>
            <a:r>
              <a:rPr lang="en-US" sz="2200" dirty="0"/>
              <a:t>();</a:t>
            </a:r>
          </a:p>
          <a:p>
            <a:pPr marL="0" indent="0">
              <a:buNone/>
            </a:pPr>
            <a:r>
              <a:rPr lang="en-US" sz="2200" dirty="0"/>
              <a:t>    }</a:t>
            </a:r>
          </a:p>
          <a:p>
            <a:pPr marL="0" indent="0">
              <a:buNone/>
            </a:pPr>
            <a:r>
              <a:rPr lang="en-US" sz="2200" dirty="0"/>
              <a:t>    // This is complex, brittle, and violates SRP!</a:t>
            </a:r>
          </a:p>
          <a:p>
            <a:pPr marL="0" indent="0">
              <a:buNone/>
            </a:pPr>
            <a:r>
              <a:rPr lang="en-US" sz="2200" dirty="0"/>
              <a:t>}</a:t>
            </a:r>
          </a:p>
        </p:txBody>
      </p:sp>
    </p:spTree>
    <p:extLst>
      <p:ext uri="{BB962C8B-B14F-4D97-AF65-F5344CB8AC3E}">
        <p14:creationId xmlns:p14="http://schemas.microsoft.com/office/powerpoint/2010/main" val="10974682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734B4-AE09-E30C-86F1-7F00009A917D}"/>
              </a:ext>
            </a:extLst>
          </p:cNvPr>
          <p:cNvSpPr>
            <a:spLocks noGrp="1"/>
          </p:cNvSpPr>
          <p:nvPr>
            <p:ph type="title"/>
          </p:nvPr>
        </p:nvSpPr>
        <p:spPr/>
        <p:txBody>
          <a:bodyPr/>
          <a:lstStyle/>
          <a:p>
            <a:r>
              <a:rPr lang="en-US" dirty="0"/>
              <a:t>Observer?</a:t>
            </a:r>
          </a:p>
        </p:txBody>
      </p:sp>
      <p:sp>
        <p:nvSpPr>
          <p:cNvPr id="3" name="Content Placeholder 2">
            <a:extLst>
              <a:ext uri="{FF2B5EF4-FFF2-40B4-BE49-F238E27FC236}">
                <a16:creationId xmlns:a16="http://schemas.microsoft.com/office/drawing/2014/main" id="{6ECBD836-5E80-38B0-F055-91B00C84C5B6}"/>
              </a:ext>
            </a:extLst>
          </p:cNvPr>
          <p:cNvSpPr>
            <a:spLocks noGrp="1"/>
          </p:cNvSpPr>
          <p:nvPr>
            <p:ph idx="1"/>
          </p:nvPr>
        </p:nvSpPr>
        <p:spPr/>
        <p:txBody>
          <a:bodyPr/>
          <a:lstStyle/>
          <a:p>
            <a:r>
              <a:rPr lang="en-US" altLang="en-US" sz="2800" dirty="0">
                <a:latin typeface="Arial" panose="020B0604020202020204" pitchFamily="34" charset="0"/>
              </a:rPr>
              <a:t>Notification vs. Coordination</a:t>
            </a:r>
          </a:p>
          <a:p>
            <a:r>
              <a:rPr lang="en-US" altLang="en-US" sz="2800" dirty="0">
                <a:latin typeface="Arial" panose="020B0604020202020204" pitchFamily="34" charset="0"/>
              </a:rPr>
              <a:t>Observer: 1-to-N broadcasting.</a:t>
            </a:r>
          </a:p>
          <a:p>
            <a:pPr lvl="1"/>
            <a:r>
              <a:rPr lang="en-US" altLang="en-US" sz="2400" dirty="0">
                <a:latin typeface="Arial" panose="020B0604020202020204" pitchFamily="34" charset="0"/>
              </a:rPr>
              <a:t>"Does anyone need to </a:t>
            </a:r>
            <a:r>
              <a:rPr lang="en-US" altLang="en-US" sz="2400" i="1" dirty="0">
                <a:latin typeface="Arial" panose="020B0604020202020204" pitchFamily="34" charset="0"/>
              </a:rPr>
              <a:t>know</a:t>
            </a:r>
            <a:r>
              <a:rPr lang="en-US" altLang="en-US" sz="2400" dirty="0">
                <a:latin typeface="Arial" panose="020B0604020202020204" pitchFamily="34" charset="0"/>
              </a:rPr>
              <a:t> I changed?“</a:t>
            </a:r>
          </a:p>
          <a:p>
            <a:r>
              <a:rPr lang="en-US" altLang="en-US" sz="2800" dirty="0">
                <a:latin typeface="Arial" panose="020B0604020202020204" pitchFamily="34" charset="0"/>
              </a:rPr>
              <a:t>GUI Problem: COORDINATION</a:t>
            </a:r>
          </a:p>
          <a:p>
            <a:pPr lvl="1"/>
            <a:r>
              <a:rPr lang="en-US" altLang="en-US" sz="2400" dirty="0">
                <a:latin typeface="Arial" panose="020B0604020202020204" pitchFamily="34" charset="0"/>
              </a:rPr>
              <a:t>N-to-N interaction.</a:t>
            </a:r>
          </a:p>
          <a:p>
            <a:pPr lvl="1"/>
            <a:r>
              <a:rPr lang="en-US" altLang="en-US" sz="2400" dirty="0">
                <a:latin typeface="Arial" panose="020B0604020202020204" pitchFamily="34" charset="0"/>
              </a:rPr>
              <a:t>"When this component changes, </a:t>
            </a:r>
            <a:r>
              <a:rPr lang="en-US" altLang="en-US" sz="2400" i="1" dirty="0">
                <a:latin typeface="Arial" panose="020B0604020202020204" pitchFamily="34" charset="0"/>
              </a:rPr>
              <a:t>what complex logic</a:t>
            </a:r>
            <a:r>
              <a:rPr lang="en-US" altLang="en-US" sz="2400" dirty="0">
                <a:latin typeface="Arial" panose="020B0604020202020204" pitchFamily="34" charset="0"/>
              </a:rPr>
              <a:t> must I execute to orchestrate all other components?“</a:t>
            </a:r>
          </a:p>
          <a:p>
            <a:r>
              <a:rPr lang="en-US" altLang="en-US" sz="2800" dirty="0">
                <a:latin typeface="Arial" panose="020B0604020202020204" pitchFamily="34" charset="0"/>
              </a:rPr>
              <a:t>Observer fails because it </a:t>
            </a:r>
            <a:r>
              <a:rPr lang="en-US" altLang="en-US" sz="2800" i="1" dirty="0">
                <a:latin typeface="Arial" panose="020B0604020202020204" pitchFamily="34" charset="0"/>
              </a:rPr>
              <a:t>distributes</a:t>
            </a:r>
            <a:r>
              <a:rPr lang="en-US" altLang="en-US" sz="2800" dirty="0">
                <a:latin typeface="Arial" panose="020B0604020202020204" pitchFamily="34" charset="0"/>
              </a:rPr>
              <a:t> the coordination logic, leading to chaos. We need a pattern that </a:t>
            </a:r>
            <a:r>
              <a:rPr lang="en-US" altLang="en-US" sz="2800" i="1" dirty="0">
                <a:latin typeface="Arial" panose="020B0604020202020204" pitchFamily="34" charset="0"/>
              </a:rPr>
              <a:t>centralizes</a:t>
            </a:r>
            <a:r>
              <a:rPr lang="en-US" altLang="en-US" sz="2800" dirty="0">
                <a:latin typeface="Arial" panose="020B0604020202020204" pitchFamily="34" charset="0"/>
              </a:rPr>
              <a:t> it</a:t>
            </a:r>
          </a:p>
        </p:txBody>
      </p:sp>
    </p:spTree>
    <p:extLst>
      <p:ext uri="{BB962C8B-B14F-4D97-AF65-F5344CB8AC3E}">
        <p14:creationId xmlns:p14="http://schemas.microsoft.com/office/powerpoint/2010/main" val="334390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A5CB5CD-BD3A-0D79-BCC7-C98CCB71FB0E}"/>
              </a:ext>
            </a:extLst>
          </p:cNvPr>
          <p:cNvSpPr>
            <a:spLocks noGrp="1" noChangeArrowheads="1"/>
          </p:cNvSpPr>
          <p:nvPr>
            <p:ph type="title"/>
          </p:nvPr>
        </p:nvSpPr>
        <p:spPr/>
        <p:txBody>
          <a:bodyPr/>
          <a:lstStyle/>
          <a:p>
            <a:pPr eaLnBrk="1" hangingPunct="1"/>
            <a:r>
              <a:rPr lang="en-US" altLang="tr-TR" dirty="0"/>
              <a:t>Motivation</a:t>
            </a:r>
          </a:p>
        </p:txBody>
      </p:sp>
      <p:sp>
        <p:nvSpPr>
          <p:cNvPr id="33795" name="Rectangle 3">
            <a:extLst>
              <a:ext uri="{FF2B5EF4-FFF2-40B4-BE49-F238E27FC236}">
                <a16:creationId xmlns:a16="http://schemas.microsoft.com/office/drawing/2014/main" id="{1680C5AF-864E-9770-4B1C-A1F1B4B1E938}"/>
              </a:ext>
            </a:extLst>
          </p:cNvPr>
          <p:cNvSpPr>
            <a:spLocks noGrp="1" noChangeArrowheads="1"/>
          </p:cNvSpPr>
          <p:nvPr>
            <p:ph idx="1"/>
          </p:nvPr>
        </p:nvSpPr>
        <p:spPr/>
        <p:txBody>
          <a:bodyPr/>
          <a:lstStyle/>
          <a:p>
            <a:pPr eaLnBrk="1" hangingPunct="1"/>
            <a:r>
              <a:rPr lang="en-US" altLang="tr-TR" dirty="0"/>
              <a:t>Chaotic many-to-many dependency</a:t>
            </a:r>
          </a:p>
          <a:p>
            <a:pPr eaLnBrk="1" hangingPunct="1"/>
            <a:endParaRPr lang="en-US" altLang="tr-TR" dirty="0"/>
          </a:p>
          <a:p>
            <a:pPr marL="0" indent="0" eaLnBrk="1" hangingPunct="1">
              <a:buNone/>
            </a:pPr>
            <a:r>
              <a:rPr lang="en-US" altLang="tr-TR" dirty="0"/>
              <a:t>Solution: Mediate the communication</a:t>
            </a:r>
          </a:p>
          <a:p>
            <a:pPr eaLnBrk="1" hangingPunct="1"/>
            <a:r>
              <a:rPr lang="en-US" altLang="tr-TR" dirty="0"/>
              <a:t>Centralize complex communication and control between related objects</a:t>
            </a:r>
          </a:p>
          <a:p>
            <a:pPr lvl="1" eaLnBrk="1" hangingPunct="1"/>
            <a:r>
              <a:rPr lang="en-US" altLang="tr-TR" dirty="0"/>
              <a:t>colleagues tell the mediator when their state changes</a:t>
            </a:r>
          </a:p>
          <a:p>
            <a:pPr lvl="1" eaLnBrk="1" hangingPunct="1"/>
            <a:r>
              <a:rPr lang="en-US" altLang="tr-TR" dirty="0"/>
              <a:t>they respond to requests from the mediator</a:t>
            </a:r>
          </a:p>
        </p:txBody>
      </p:sp>
    </p:spTree>
    <p:extLst>
      <p:ext uri="{BB962C8B-B14F-4D97-AF65-F5344CB8AC3E}">
        <p14:creationId xmlns:p14="http://schemas.microsoft.com/office/powerpoint/2010/main" val="11830745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1CC4F-D2E6-548F-D15A-87BD881DBEB3}"/>
            </a:ext>
          </a:extLst>
        </p:cNvPr>
        <p:cNvGrpSpPr/>
        <p:nvPr/>
      </p:nvGrpSpPr>
      <p:grpSpPr>
        <a:xfrm>
          <a:off x="0" y="0"/>
          <a:ext cx="0" cy="0"/>
          <a:chOff x="0" y="0"/>
          <a:chExt cx="0" cy="0"/>
        </a:xfrm>
      </p:grpSpPr>
      <p:sp>
        <p:nvSpPr>
          <p:cNvPr id="39938" name="Title 1">
            <a:extLst>
              <a:ext uri="{FF2B5EF4-FFF2-40B4-BE49-F238E27FC236}">
                <a16:creationId xmlns:a16="http://schemas.microsoft.com/office/drawing/2014/main" id="{045670D9-2E33-1459-921D-2BEF2BC35D75}"/>
              </a:ext>
            </a:extLst>
          </p:cNvPr>
          <p:cNvSpPr>
            <a:spLocks noGrp="1"/>
          </p:cNvSpPr>
          <p:nvPr>
            <p:ph type="title"/>
          </p:nvPr>
        </p:nvSpPr>
        <p:spPr/>
        <p:txBody>
          <a:bodyPr/>
          <a:lstStyle/>
          <a:p>
            <a:r>
              <a:rPr lang="en-US" altLang="en-US" dirty="0"/>
              <a:t>Mediator Structure</a:t>
            </a:r>
            <a:endParaRPr lang="tr-TR" altLang="en-US" dirty="0"/>
          </a:p>
        </p:txBody>
      </p:sp>
      <p:pic>
        <p:nvPicPr>
          <p:cNvPr id="39939" name="Picture 2" descr="http://www.eli.sdsu.edu/courses/spring98/cs635/notes/facade/mediatorObjects.gif">
            <a:extLst>
              <a:ext uri="{FF2B5EF4-FFF2-40B4-BE49-F238E27FC236}">
                <a16:creationId xmlns:a16="http://schemas.microsoft.com/office/drawing/2014/main" id="{8EE6AEDC-AD94-2EAF-59E0-6483C5928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205038"/>
            <a:ext cx="8793163"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4961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F6C4681-60BB-230F-66AC-9D0A036A35CF}"/>
              </a:ext>
            </a:extLst>
          </p:cNvPr>
          <p:cNvSpPr>
            <a:spLocks noGrp="1" noChangeArrowheads="1"/>
          </p:cNvSpPr>
          <p:nvPr>
            <p:ph type="title"/>
          </p:nvPr>
        </p:nvSpPr>
        <p:spPr/>
        <p:txBody>
          <a:bodyPr/>
          <a:lstStyle/>
          <a:p>
            <a:pPr eaLnBrk="1" hangingPunct="1"/>
            <a:r>
              <a:rPr lang="en-US" altLang="tr-TR"/>
              <a:t>Mediator Pattern</a:t>
            </a:r>
          </a:p>
        </p:txBody>
      </p:sp>
      <p:sp>
        <p:nvSpPr>
          <p:cNvPr id="34819" name="Rectangle 3">
            <a:extLst>
              <a:ext uri="{FF2B5EF4-FFF2-40B4-BE49-F238E27FC236}">
                <a16:creationId xmlns:a16="http://schemas.microsoft.com/office/drawing/2014/main" id="{2B950DFD-EBB4-0459-1E13-32490A3419AB}"/>
              </a:ext>
            </a:extLst>
          </p:cNvPr>
          <p:cNvSpPr>
            <a:spLocks noGrp="1" noChangeArrowheads="1"/>
          </p:cNvSpPr>
          <p:nvPr>
            <p:ph idx="1"/>
          </p:nvPr>
        </p:nvSpPr>
        <p:spPr/>
        <p:txBody>
          <a:bodyPr/>
          <a:lstStyle/>
          <a:p>
            <a:pPr eaLnBrk="1" hangingPunct="1">
              <a:lnSpc>
                <a:spcPct val="90000"/>
              </a:lnSpc>
            </a:pPr>
            <a:r>
              <a:rPr lang="en-US" altLang="tr-TR" dirty="0"/>
              <a:t>A Form dialog window</a:t>
            </a:r>
          </a:p>
          <a:p>
            <a:pPr eaLnBrk="1" hangingPunct="1">
              <a:lnSpc>
                <a:spcPct val="90000"/>
              </a:lnSpc>
            </a:pPr>
            <a:endParaRPr lang="en-US" altLang="tr-TR" dirty="0"/>
          </a:p>
          <a:p>
            <a:pPr eaLnBrk="1" hangingPunct="1">
              <a:lnSpc>
                <a:spcPct val="90000"/>
              </a:lnSpc>
            </a:pPr>
            <a:endParaRPr lang="en-US" altLang="tr-TR" dirty="0"/>
          </a:p>
          <a:p>
            <a:pPr eaLnBrk="1" hangingPunct="1">
              <a:lnSpc>
                <a:spcPct val="90000"/>
              </a:lnSpc>
            </a:pPr>
            <a:r>
              <a:rPr lang="en-US" altLang="tr-TR" dirty="0"/>
              <a:t>A mediator: </a:t>
            </a:r>
            <a:r>
              <a:rPr lang="en-US" altLang="tr-TR" dirty="0" err="1"/>
              <a:t>FormDialogDirector</a:t>
            </a:r>
            <a:endParaRPr lang="en-US" altLang="tr-TR" dirty="0"/>
          </a:p>
          <a:p>
            <a:pPr lvl="1" eaLnBrk="1" hangingPunct="1">
              <a:lnSpc>
                <a:spcPct val="90000"/>
              </a:lnSpc>
            </a:pPr>
            <a:r>
              <a:rPr lang="sv-SE" altLang="tr-TR" dirty="0"/>
              <a:t>control and coordinate the interactions</a:t>
            </a:r>
          </a:p>
          <a:p>
            <a:pPr lvl="1" eaLnBrk="1" hangingPunct="1">
              <a:lnSpc>
                <a:spcPct val="90000"/>
              </a:lnSpc>
            </a:pPr>
            <a:r>
              <a:rPr lang="sv-SE" altLang="tr-TR" dirty="0"/>
              <a:t>objects only know the Mediator</a:t>
            </a:r>
          </a:p>
          <a:p>
            <a:pPr lvl="2" eaLnBrk="1" hangingPunct="1">
              <a:lnSpc>
                <a:spcPct val="90000"/>
              </a:lnSpc>
            </a:pPr>
            <a:r>
              <a:rPr lang="sv-SE" altLang="tr-TR" dirty="0"/>
              <a:t>reduced number of interactions</a:t>
            </a:r>
          </a:p>
          <a:p>
            <a:pPr eaLnBrk="1" hangingPunct="1">
              <a:lnSpc>
                <a:spcPct val="90000"/>
              </a:lnSpc>
            </a:pPr>
            <a:endParaRPr lang="en-US" altLang="tr-TR" dirty="0"/>
          </a:p>
          <a:p>
            <a:pPr eaLnBrk="1" hangingPunct="1">
              <a:lnSpc>
                <a:spcPct val="90000"/>
              </a:lnSpc>
            </a:pPr>
            <a:r>
              <a:rPr lang="en-US" altLang="tr-TR" sz="2400" i="1" dirty="0"/>
              <a:t>Commonly used to coordinate related GUI components</a:t>
            </a:r>
          </a:p>
          <a:p>
            <a:pPr marL="0" indent="0" eaLnBrk="1" hangingPunct="1">
              <a:lnSpc>
                <a:spcPct val="90000"/>
              </a:lnSpc>
              <a:buNone/>
            </a:pPr>
            <a:r>
              <a:rPr lang="en-US" altLang="tr-TR" sz="2000" i="1" dirty="0"/>
              <a:t>See https://refactoring.guru/design-patterns/mediator/java/example</a:t>
            </a:r>
          </a:p>
        </p:txBody>
      </p:sp>
      <p:pic>
        <p:nvPicPr>
          <p:cNvPr id="34820" name="Picture 4">
            <a:extLst>
              <a:ext uri="{FF2B5EF4-FFF2-40B4-BE49-F238E27FC236}">
                <a16:creationId xmlns:a16="http://schemas.microsoft.com/office/drawing/2014/main" id="{A0DEF7A0-5E02-5025-2CE8-FFC9A2FB2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963" y="1335088"/>
            <a:ext cx="2155825"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796918D-F5F0-09F1-0268-4924375A6634}"/>
              </a:ext>
            </a:extLst>
          </p:cNvPr>
          <p:cNvSpPr>
            <a:spLocks noGrp="1" noChangeArrowheads="1"/>
          </p:cNvSpPr>
          <p:nvPr>
            <p:ph type="title"/>
          </p:nvPr>
        </p:nvSpPr>
        <p:spPr/>
        <p:txBody>
          <a:bodyPr/>
          <a:lstStyle/>
          <a:p>
            <a:pPr eaLnBrk="1" hangingPunct="1"/>
            <a:r>
              <a:rPr lang="sv-SE" altLang="tr-TR"/>
              <a:t>Sequence Diagram</a:t>
            </a:r>
          </a:p>
        </p:txBody>
      </p:sp>
      <p:sp>
        <p:nvSpPr>
          <p:cNvPr id="35843" name="Text Box 3">
            <a:extLst>
              <a:ext uri="{FF2B5EF4-FFF2-40B4-BE49-F238E27FC236}">
                <a16:creationId xmlns:a16="http://schemas.microsoft.com/office/drawing/2014/main" id="{27695F28-3BB4-65E5-AE00-4E955FED914F}"/>
              </a:ext>
            </a:extLst>
          </p:cNvPr>
          <p:cNvSpPr txBox="1">
            <a:spLocks noChangeArrowheads="1"/>
          </p:cNvSpPr>
          <p:nvPr/>
        </p:nvSpPr>
        <p:spPr bwMode="auto">
          <a:xfrm>
            <a:off x="4718050" y="1557338"/>
            <a:ext cx="1006475" cy="376237"/>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:ListBox</a:t>
            </a:r>
            <a:endParaRPr lang="en-US" altLang="tr-TR" sz="1800" u="sng"/>
          </a:p>
        </p:txBody>
      </p:sp>
      <p:sp>
        <p:nvSpPr>
          <p:cNvPr id="35844" name="Line 4">
            <a:extLst>
              <a:ext uri="{FF2B5EF4-FFF2-40B4-BE49-F238E27FC236}">
                <a16:creationId xmlns:a16="http://schemas.microsoft.com/office/drawing/2014/main" id="{08925FA4-3C04-02CE-D35F-8622B271B72C}"/>
              </a:ext>
            </a:extLst>
          </p:cNvPr>
          <p:cNvSpPr>
            <a:spLocks noChangeShapeType="1"/>
          </p:cNvSpPr>
          <p:nvPr/>
        </p:nvSpPr>
        <p:spPr bwMode="auto">
          <a:xfrm>
            <a:off x="2916238" y="1916113"/>
            <a:ext cx="0" cy="464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845" name="Line 5">
            <a:extLst>
              <a:ext uri="{FF2B5EF4-FFF2-40B4-BE49-F238E27FC236}">
                <a16:creationId xmlns:a16="http://schemas.microsoft.com/office/drawing/2014/main" id="{031D32C0-2926-B06C-CB37-0AC421A4E76D}"/>
              </a:ext>
            </a:extLst>
          </p:cNvPr>
          <p:cNvSpPr>
            <a:spLocks noChangeShapeType="1"/>
          </p:cNvSpPr>
          <p:nvPr/>
        </p:nvSpPr>
        <p:spPr bwMode="auto">
          <a:xfrm>
            <a:off x="5292725" y="1916113"/>
            <a:ext cx="0" cy="457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846" name="Rectangle 6">
            <a:extLst>
              <a:ext uri="{FF2B5EF4-FFF2-40B4-BE49-F238E27FC236}">
                <a16:creationId xmlns:a16="http://schemas.microsoft.com/office/drawing/2014/main" id="{6D7B1EAF-47AF-9592-4540-EF904699B2DD}"/>
              </a:ext>
            </a:extLst>
          </p:cNvPr>
          <p:cNvSpPr>
            <a:spLocks noChangeArrowheads="1"/>
          </p:cNvSpPr>
          <p:nvPr/>
        </p:nvSpPr>
        <p:spPr bwMode="auto">
          <a:xfrm>
            <a:off x="2771775" y="3284538"/>
            <a:ext cx="287338" cy="3097212"/>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35847" name="Rectangle 7">
            <a:extLst>
              <a:ext uri="{FF2B5EF4-FFF2-40B4-BE49-F238E27FC236}">
                <a16:creationId xmlns:a16="http://schemas.microsoft.com/office/drawing/2014/main" id="{71FB399C-4630-704A-3BE3-CFC985088E61}"/>
              </a:ext>
            </a:extLst>
          </p:cNvPr>
          <p:cNvSpPr>
            <a:spLocks noChangeArrowheads="1"/>
          </p:cNvSpPr>
          <p:nvPr/>
        </p:nvSpPr>
        <p:spPr bwMode="auto">
          <a:xfrm>
            <a:off x="5148263" y="3357563"/>
            <a:ext cx="304800" cy="8382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35848" name="Line 8">
            <a:extLst>
              <a:ext uri="{FF2B5EF4-FFF2-40B4-BE49-F238E27FC236}">
                <a16:creationId xmlns:a16="http://schemas.microsoft.com/office/drawing/2014/main" id="{86F323E0-DC7E-A76A-DEFB-85EFA3FB6A7D}"/>
              </a:ext>
            </a:extLst>
          </p:cNvPr>
          <p:cNvSpPr>
            <a:spLocks noChangeShapeType="1"/>
          </p:cNvSpPr>
          <p:nvPr/>
        </p:nvSpPr>
        <p:spPr bwMode="auto">
          <a:xfrm flipH="1" flipV="1">
            <a:off x="3059113" y="3573463"/>
            <a:ext cx="2089150" cy="0"/>
          </a:xfrm>
          <a:prstGeom prst="line">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en-US"/>
          </a:p>
        </p:txBody>
      </p:sp>
      <p:sp>
        <p:nvSpPr>
          <p:cNvPr id="35849" name="Text Box 9">
            <a:extLst>
              <a:ext uri="{FF2B5EF4-FFF2-40B4-BE49-F238E27FC236}">
                <a16:creationId xmlns:a16="http://schemas.microsoft.com/office/drawing/2014/main" id="{E2D0554A-F006-20EE-6464-0C1BBC8828EB}"/>
              </a:ext>
            </a:extLst>
          </p:cNvPr>
          <p:cNvSpPr txBox="1">
            <a:spLocks noChangeArrowheads="1"/>
          </p:cNvSpPr>
          <p:nvPr/>
        </p:nvSpPr>
        <p:spPr bwMode="auto">
          <a:xfrm>
            <a:off x="3224213" y="3206750"/>
            <a:ext cx="1924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widgetChanged()</a:t>
            </a:r>
            <a:endParaRPr lang="en-US" altLang="tr-TR" sz="1800"/>
          </a:p>
        </p:txBody>
      </p:sp>
      <p:sp>
        <p:nvSpPr>
          <p:cNvPr id="35850" name="Text Box 10">
            <a:extLst>
              <a:ext uri="{FF2B5EF4-FFF2-40B4-BE49-F238E27FC236}">
                <a16:creationId xmlns:a16="http://schemas.microsoft.com/office/drawing/2014/main" id="{47710B9C-B8F8-92BA-08A3-7C4C7A859C58}"/>
              </a:ext>
            </a:extLst>
          </p:cNvPr>
          <p:cNvSpPr txBox="1">
            <a:spLocks noChangeArrowheads="1"/>
          </p:cNvSpPr>
          <p:nvPr/>
        </p:nvSpPr>
        <p:spPr bwMode="auto">
          <a:xfrm>
            <a:off x="5435600" y="5300663"/>
            <a:ext cx="1085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setText()</a:t>
            </a:r>
            <a:endParaRPr lang="en-US" altLang="tr-TR" sz="1800"/>
          </a:p>
        </p:txBody>
      </p:sp>
      <p:sp>
        <p:nvSpPr>
          <p:cNvPr id="35851" name="Line 11">
            <a:extLst>
              <a:ext uri="{FF2B5EF4-FFF2-40B4-BE49-F238E27FC236}">
                <a16:creationId xmlns:a16="http://schemas.microsoft.com/office/drawing/2014/main" id="{1A39E8A6-FEDE-4AEB-3040-5EB58D24FA6F}"/>
              </a:ext>
            </a:extLst>
          </p:cNvPr>
          <p:cNvSpPr>
            <a:spLocks noChangeShapeType="1"/>
          </p:cNvSpPr>
          <p:nvPr/>
        </p:nvSpPr>
        <p:spPr bwMode="auto">
          <a:xfrm flipH="1">
            <a:off x="3103563" y="4581525"/>
            <a:ext cx="2044700" cy="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35852" name="Rectangle 12">
            <a:extLst>
              <a:ext uri="{FF2B5EF4-FFF2-40B4-BE49-F238E27FC236}">
                <a16:creationId xmlns:a16="http://schemas.microsoft.com/office/drawing/2014/main" id="{0B3B5D0D-5995-5FD1-9CE9-2D660C216A90}"/>
              </a:ext>
            </a:extLst>
          </p:cNvPr>
          <p:cNvSpPr>
            <a:spLocks noChangeArrowheads="1"/>
          </p:cNvSpPr>
          <p:nvPr/>
        </p:nvSpPr>
        <p:spPr bwMode="auto">
          <a:xfrm>
            <a:off x="2771775" y="2420938"/>
            <a:ext cx="304800" cy="5334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35853" name="Rectangle 13">
            <a:extLst>
              <a:ext uri="{FF2B5EF4-FFF2-40B4-BE49-F238E27FC236}">
                <a16:creationId xmlns:a16="http://schemas.microsoft.com/office/drawing/2014/main" id="{2801347F-AF94-3F40-D690-E738EEDF9718}"/>
              </a:ext>
            </a:extLst>
          </p:cNvPr>
          <p:cNvSpPr>
            <a:spLocks noChangeArrowheads="1"/>
          </p:cNvSpPr>
          <p:nvPr/>
        </p:nvSpPr>
        <p:spPr bwMode="auto">
          <a:xfrm>
            <a:off x="5148263" y="4508500"/>
            <a:ext cx="304800" cy="6858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35854" name="Text Box 14">
            <a:extLst>
              <a:ext uri="{FF2B5EF4-FFF2-40B4-BE49-F238E27FC236}">
                <a16:creationId xmlns:a16="http://schemas.microsoft.com/office/drawing/2014/main" id="{342E5806-25E8-403D-7C14-6BF2D64D1EF9}"/>
              </a:ext>
            </a:extLst>
          </p:cNvPr>
          <p:cNvSpPr txBox="1">
            <a:spLocks noChangeArrowheads="1"/>
          </p:cNvSpPr>
          <p:nvPr/>
        </p:nvSpPr>
        <p:spPr bwMode="auto">
          <a:xfrm>
            <a:off x="6172200" y="1527175"/>
            <a:ext cx="12858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:EntryField</a:t>
            </a:r>
            <a:endParaRPr lang="en-US" altLang="tr-TR" sz="1800" u="sng"/>
          </a:p>
        </p:txBody>
      </p:sp>
      <p:sp>
        <p:nvSpPr>
          <p:cNvPr id="35855" name="Line 15">
            <a:extLst>
              <a:ext uri="{FF2B5EF4-FFF2-40B4-BE49-F238E27FC236}">
                <a16:creationId xmlns:a16="http://schemas.microsoft.com/office/drawing/2014/main" id="{E01D347E-58EB-AA1B-E0BF-FED30B80D7A6}"/>
              </a:ext>
            </a:extLst>
          </p:cNvPr>
          <p:cNvSpPr>
            <a:spLocks noChangeShapeType="1"/>
          </p:cNvSpPr>
          <p:nvPr/>
        </p:nvSpPr>
        <p:spPr bwMode="auto">
          <a:xfrm>
            <a:off x="8172450" y="1916113"/>
            <a:ext cx="0" cy="45720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856" name="Rectangle 16">
            <a:extLst>
              <a:ext uri="{FF2B5EF4-FFF2-40B4-BE49-F238E27FC236}">
                <a16:creationId xmlns:a16="http://schemas.microsoft.com/office/drawing/2014/main" id="{386CE17D-E54D-A72E-48E3-8DB3F753C6EE}"/>
              </a:ext>
            </a:extLst>
          </p:cNvPr>
          <p:cNvSpPr>
            <a:spLocks noChangeArrowheads="1"/>
          </p:cNvSpPr>
          <p:nvPr/>
        </p:nvSpPr>
        <p:spPr bwMode="auto">
          <a:xfrm>
            <a:off x="8027988" y="5949950"/>
            <a:ext cx="304800" cy="4572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35857" name="Line 17">
            <a:extLst>
              <a:ext uri="{FF2B5EF4-FFF2-40B4-BE49-F238E27FC236}">
                <a16:creationId xmlns:a16="http://schemas.microsoft.com/office/drawing/2014/main" id="{45E8298F-20AF-8CDE-9475-EEE7A18A68F2}"/>
              </a:ext>
            </a:extLst>
          </p:cNvPr>
          <p:cNvSpPr>
            <a:spLocks noChangeShapeType="1"/>
          </p:cNvSpPr>
          <p:nvPr/>
        </p:nvSpPr>
        <p:spPr bwMode="auto">
          <a:xfrm flipH="1">
            <a:off x="3132138" y="5661025"/>
            <a:ext cx="3527425" cy="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35858" name="Line 18">
            <a:extLst>
              <a:ext uri="{FF2B5EF4-FFF2-40B4-BE49-F238E27FC236}">
                <a16:creationId xmlns:a16="http://schemas.microsoft.com/office/drawing/2014/main" id="{5ECEC998-E0CB-AE33-FD06-AD08FB2D4110}"/>
              </a:ext>
            </a:extLst>
          </p:cNvPr>
          <p:cNvSpPr>
            <a:spLocks noChangeShapeType="1"/>
          </p:cNvSpPr>
          <p:nvPr/>
        </p:nvSpPr>
        <p:spPr bwMode="auto">
          <a:xfrm>
            <a:off x="755650" y="1989138"/>
            <a:ext cx="0" cy="464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859" name="Text Box 19">
            <a:extLst>
              <a:ext uri="{FF2B5EF4-FFF2-40B4-BE49-F238E27FC236}">
                <a16:creationId xmlns:a16="http://schemas.microsoft.com/office/drawing/2014/main" id="{143F0D91-90B6-F499-2604-C0F157C447F1}"/>
              </a:ext>
            </a:extLst>
          </p:cNvPr>
          <p:cNvSpPr txBox="1">
            <a:spLocks noChangeArrowheads="1"/>
          </p:cNvSpPr>
          <p:nvPr/>
        </p:nvSpPr>
        <p:spPr bwMode="auto">
          <a:xfrm>
            <a:off x="990600" y="2136775"/>
            <a:ext cx="151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showDialog()</a:t>
            </a:r>
            <a:endParaRPr lang="en-US" altLang="tr-TR" sz="1800"/>
          </a:p>
        </p:txBody>
      </p:sp>
      <p:sp>
        <p:nvSpPr>
          <p:cNvPr id="35860" name="Text Box 20">
            <a:extLst>
              <a:ext uri="{FF2B5EF4-FFF2-40B4-BE49-F238E27FC236}">
                <a16:creationId xmlns:a16="http://schemas.microsoft.com/office/drawing/2014/main" id="{C0FE2E6B-5B01-F7E3-4AF0-5691F4C662A9}"/>
              </a:ext>
            </a:extLst>
          </p:cNvPr>
          <p:cNvSpPr txBox="1">
            <a:spLocks noChangeArrowheads="1"/>
          </p:cNvSpPr>
          <p:nvPr/>
        </p:nvSpPr>
        <p:spPr bwMode="auto">
          <a:xfrm>
            <a:off x="381000" y="1603375"/>
            <a:ext cx="8413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:Client</a:t>
            </a:r>
            <a:endParaRPr lang="en-US" altLang="tr-TR" sz="1800" u="sng"/>
          </a:p>
        </p:txBody>
      </p:sp>
      <p:sp>
        <p:nvSpPr>
          <p:cNvPr id="35861" name="Text Box 21">
            <a:extLst>
              <a:ext uri="{FF2B5EF4-FFF2-40B4-BE49-F238E27FC236}">
                <a16:creationId xmlns:a16="http://schemas.microsoft.com/office/drawing/2014/main" id="{B0CAF0CE-552D-2594-850F-226459D1098C}"/>
              </a:ext>
            </a:extLst>
          </p:cNvPr>
          <p:cNvSpPr txBox="1">
            <a:spLocks noChangeArrowheads="1"/>
          </p:cNvSpPr>
          <p:nvPr/>
        </p:nvSpPr>
        <p:spPr bwMode="auto">
          <a:xfrm>
            <a:off x="1763713" y="1557338"/>
            <a:ext cx="2238375" cy="376237"/>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:FormDialogDirector</a:t>
            </a:r>
            <a:endParaRPr lang="en-US" altLang="tr-TR" sz="1800" u="sng"/>
          </a:p>
        </p:txBody>
      </p:sp>
      <p:sp>
        <p:nvSpPr>
          <p:cNvPr id="35862" name="Rectangle 22">
            <a:extLst>
              <a:ext uri="{FF2B5EF4-FFF2-40B4-BE49-F238E27FC236}">
                <a16:creationId xmlns:a16="http://schemas.microsoft.com/office/drawing/2014/main" id="{804BE179-AB7A-C1F1-3F89-D7A0B2C43946}"/>
              </a:ext>
            </a:extLst>
          </p:cNvPr>
          <p:cNvSpPr>
            <a:spLocks noChangeArrowheads="1"/>
          </p:cNvSpPr>
          <p:nvPr/>
        </p:nvSpPr>
        <p:spPr bwMode="auto">
          <a:xfrm>
            <a:off x="609600" y="2362200"/>
            <a:ext cx="304800" cy="7620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35863" name="Line 23">
            <a:extLst>
              <a:ext uri="{FF2B5EF4-FFF2-40B4-BE49-F238E27FC236}">
                <a16:creationId xmlns:a16="http://schemas.microsoft.com/office/drawing/2014/main" id="{BC643AF6-246B-EB7C-15D6-CF625F54FF6A}"/>
              </a:ext>
            </a:extLst>
          </p:cNvPr>
          <p:cNvSpPr>
            <a:spLocks noChangeShapeType="1"/>
          </p:cNvSpPr>
          <p:nvPr/>
        </p:nvSpPr>
        <p:spPr bwMode="auto">
          <a:xfrm flipH="1" flipV="1">
            <a:off x="900113" y="2492375"/>
            <a:ext cx="1871662" cy="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35864" name="Text Box 24">
            <a:extLst>
              <a:ext uri="{FF2B5EF4-FFF2-40B4-BE49-F238E27FC236}">
                <a16:creationId xmlns:a16="http://schemas.microsoft.com/office/drawing/2014/main" id="{ACF11D13-D202-9E32-0E2A-66E9BB82AC2D}"/>
              </a:ext>
            </a:extLst>
          </p:cNvPr>
          <p:cNvSpPr txBox="1">
            <a:spLocks noChangeArrowheads="1"/>
          </p:cNvSpPr>
          <p:nvPr/>
        </p:nvSpPr>
        <p:spPr bwMode="auto">
          <a:xfrm>
            <a:off x="3132138" y="4221163"/>
            <a:ext cx="159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getSelection()</a:t>
            </a:r>
            <a:endParaRPr lang="en-US" altLang="tr-TR" sz="1800"/>
          </a:p>
        </p:txBody>
      </p:sp>
      <p:sp>
        <p:nvSpPr>
          <p:cNvPr id="35865" name="Line 25">
            <a:extLst>
              <a:ext uri="{FF2B5EF4-FFF2-40B4-BE49-F238E27FC236}">
                <a16:creationId xmlns:a16="http://schemas.microsoft.com/office/drawing/2014/main" id="{66E50103-B45D-C5B9-E9A0-757ADE94A30C}"/>
              </a:ext>
            </a:extLst>
          </p:cNvPr>
          <p:cNvSpPr>
            <a:spLocks noChangeShapeType="1"/>
          </p:cNvSpPr>
          <p:nvPr/>
        </p:nvSpPr>
        <p:spPr bwMode="auto">
          <a:xfrm>
            <a:off x="6877050" y="1916113"/>
            <a:ext cx="0" cy="46482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5866" name="Rectangle 26">
            <a:extLst>
              <a:ext uri="{FF2B5EF4-FFF2-40B4-BE49-F238E27FC236}">
                <a16:creationId xmlns:a16="http://schemas.microsoft.com/office/drawing/2014/main" id="{A3A3DBCA-AD45-A469-5861-C348F88F6B8D}"/>
              </a:ext>
            </a:extLst>
          </p:cNvPr>
          <p:cNvSpPr>
            <a:spLocks noChangeArrowheads="1"/>
          </p:cNvSpPr>
          <p:nvPr/>
        </p:nvSpPr>
        <p:spPr bwMode="auto">
          <a:xfrm>
            <a:off x="6715125" y="5516563"/>
            <a:ext cx="304800" cy="457200"/>
          </a:xfrm>
          <a:prstGeom prst="rect">
            <a:avLst/>
          </a:prstGeom>
          <a:solidFill>
            <a:schemeClr val="bg1"/>
          </a:solidFill>
          <a:ln w="1905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GB" altLang="tr-TR" sz="1800"/>
          </a:p>
        </p:txBody>
      </p:sp>
      <p:sp>
        <p:nvSpPr>
          <p:cNvPr id="35867" name="Text Box 27">
            <a:extLst>
              <a:ext uri="{FF2B5EF4-FFF2-40B4-BE49-F238E27FC236}">
                <a16:creationId xmlns:a16="http://schemas.microsoft.com/office/drawing/2014/main" id="{06D58E96-88FB-2A0E-17BB-3C483E13F0A6}"/>
              </a:ext>
            </a:extLst>
          </p:cNvPr>
          <p:cNvSpPr txBox="1">
            <a:spLocks noChangeArrowheads="1"/>
          </p:cNvSpPr>
          <p:nvPr/>
        </p:nvSpPr>
        <p:spPr bwMode="auto">
          <a:xfrm>
            <a:off x="7734300" y="1527175"/>
            <a:ext cx="9175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u="sng"/>
              <a:t>:Button</a:t>
            </a:r>
            <a:endParaRPr lang="en-US" altLang="tr-TR" sz="1800" u="sng"/>
          </a:p>
        </p:txBody>
      </p:sp>
      <p:sp>
        <p:nvSpPr>
          <p:cNvPr id="35868" name="Line 28">
            <a:extLst>
              <a:ext uri="{FF2B5EF4-FFF2-40B4-BE49-F238E27FC236}">
                <a16:creationId xmlns:a16="http://schemas.microsoft.com/office/drawing/2014/main" id="{4B39485B-C462-E852-F1E1-B3D37167C8AC}"/>
              </a:ext>
            </a:extLst>
          </p:cNvPr>
          <p:cNvSpPr>
            <a:spLocks noChangeShapeType="1"/>
          </p:cNvSpPr>
          <p:nvPr/>
        </p:nvSpPr>
        <p:spPr bwMode="auto">
          <a:xfrm flipH="1">
            <a:off x="3132138" y="6165850"/>
            <a:ext cx="4859337" cy="0"/>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en-US"/>
          </a:p>
        </p:txBody>
      </p:sp>
      <p:sp>
        <p:nvSpPr>
          <p:cNvPr id="35869" name="Text Box 29">
            <a:extLst>
              <a:ext uri="{FF2B5EF4-FFF2-40B4-BE49-F238E27FC236}">
                <a16:creationId xmlns:a16="http://schemas.microsoft.com/office/drawing/2014/main" id="{B94737FE-7730-68AC-C518-5BF5F89132E3}"/>
              </a:ext>
            </a:extLst>
          </p:cNvPr>
          <p:cNvSpPr txBox="1">
            <a:spLocks noChangeArrowheads="1"/>
          </p:cNvSpPr>
          <p:nvPr/>
        </p:nvSpPr>
        <p:spPr bwMode="auto">
          <a:xfrm>
            <a:off x="3132138" y="5870575"/>
            <a:ext cx="168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sv-SE" altLang="tr-TR" sz="1800"/>
              <a:t>enableButton()</a:t>
            </a:r>
            <a:endParaRPr lang="en-US" altLang="tr-TR" sz="1800"/>
          </a:p>
        </p:txBody>
      </p:sp>
      <p:sp>
        <p:nvSpPr>
          <p:cNvPr id="2" name="Rectangle 1">
            <a:extLst>
              <a:ext uri="{FF2B5EF4-FFF2-40B4-BE49-F238E27FC236}">
                <a16:creationId xmlns:a16="http://schemas.microsoft.com/office/drawing/2014/main" id="{8BE0C0CB-23EA-84E8-295F-163A65F59492}"/>
              </a:ext>
            </a:extLst>
          </p:cNvPr>
          <p:cNvSpPr/>
          <p:nvPr/>
        </p:nvSpPr>
        <p:spPr bwMode="auto">
          <a:xfrm>
            <a:off x="2108210" y="1312864"/>
            <a:ext cx="1562095" cy="315914"/>
          </a:xfrm>
          <a:prstGeom prst="rect">
            <a:avLst/>
          </a:prstGeom>
          <a:ln>
            <a:headEnd type="none" w="med" len="med"/>
            <a:tailEnd type="triangl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MEDIATOR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CC7E7DE-2A70-0E0D-0552-FF9D74E6FE99}"/>
              </a:ext>
            </a:extLst>
          </p:cNvPr>
          <p:cNvSpPr>
            <a:spLocks noGrp="1" noChangeArrowheads="1"/>
          </p:cNvSpPr>
          <p:nvPr>
            <p:ph type="title"/>
          </p:nvPr>
        </p:nvSpPr>
        <p:spPr/>
        <p:txBody>
          <a:bodyPr/>
          <a:lstStyle/>
          <a:p>
            <a:pPr eaLnBrk="1" hangingPunct="1"/>
            <a:r>
              <a:rPr lang="en-US" altLang="tr-TR" dirty="0"/>
              <a:t>Mediator Pattern</a:t>
            </a:r>
          </a:p>
        </p:txBody>
      </p:sp>
      <p:sp>
        <p:nvSpPr>
          <p:cNvPr id="37891" name="Rectangle 3">
            <a:extLst>
              <a:ext uri="{FF2B5EF4-FFF2-40B4-BE49-F238E27FC236}">
                <a16:creationId xmlns:a16="http://schemas.microsoft.com/office/drawing/2014/main" id="{00D25E1D-4B6E-00F6-D613-048372677972}"/>
              </a:ext>
            </a:extLst>
          </p:cNvPr>
          <p:cNvSpPr>
            <a:spLocks noGrp="1" noChangeArrowheads="1"/>
          </p:cNvSpPr>
          <p:nvPr>
            <p:ph idx="1"/>
          </p:nvPr>
        </p:nvSpPr>
        <p:spPr/>
        <p:txBody>
          <a:bodyPr/>
          <a:lstStyle/>
          <a:p>
            <a:pPr eaLnBrk="1" hangingPunct="1">
              <a:lnSpc>
                <a:spcPct val="110000"/>
              </a:lnSpc>
            </a:pPr>
            <a:r>
              <a:rPr lang="en-US" altLang="en-US" sz="2800" dirty="0"/>
              <a:t>A mediator is responsible for controlling and coordinating the interactions of a group of objects</a:t>
            </a:r>
            <a:endParaRPr lang="en-US" altLang="tr-TR" sz="2800" dirty="0"/>
          </a:p>
          <a:p>
            <a:pPr eaLnBrk="1" hangingPunct="1">
              <a:lnSpc>
                <a:spcPct val="110000"/>
              </a:lnSpc>
            </a:pPr>
            <a:r>
              <a:rPr lang="en-US" altLang="tr-TR" sz="2800" dirty="0"/>
              <a:t>Putting the logic in one mediator object to manage state changes of others</a:t>
            </a:r>
          </a:p>
          <a:p>
            <a:pPr lvl="1" eaLnBrk="1" hangingPunct="1">
              <a:lnSpc>
                <a:spcPct val="110000"/>
              </a:lnSpc>
            </a:pPr>
            <a:r>
              <a:rPr lang="en-US" altLang="tr-TR" sz="2400" dirty="0"/>
              <a:t>instead of distributing the logic over the other objects</a:t>
            </a:r>
          </a:p>
          <a:p>
            <a:pPr lvl="1" eaLnBrk="1" hangingPunct="1">
              <a:lnSpc>
                <a:spcPct val="110000"/>
              </a:lnSpc>
            </a:pPr>
            <a:r>
              <a:rPr lang="en-US" altLang="tr-TR" sz="2400" i="1" dirty="0"/>
              <a:t>trading complexity of interaction for complexity of mediator</a:t>
            </a:r>
          </a:p>
          <a:p>
            <a:pPr eaLnBrk="1" hangingPunct="1">
              <a:lnSpc>
                <a:spcPct val="110000"/>
              </a:lnSpc>
            </a:pPr>
            <a:r>
              <a:rPr lang="en-US" altLang="tr-TR" sz="2800" dirty="0"/>
              <a:t>More cohesive implementation of the logic </a:t>
            </a:r>
          </a:p>
          <a:p>
            <a:pPr eaLnBrk="1" hangingPunct="1">
              <a:lnSpc>
                <a:spcPct val="110000"/>
              </a:lnSpc>
            </a:pPr>
            <a:r>
              <a:rPr lang="en-US" altLang="tr-TR" sz="2800" dirty="0"/>
              <a:t>Decreased coupling between the other objects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0C93AD63-F966-EC18-71BC-587E7DEB8E21}"/>
              </a:ext>
            </a:extLst>
          </p:cNvPr>
          <p:cNvSpPr>
            <a:spLocks noGrp="1"/>
          </p:cNvSpPr>
          <p:nvPr>
            <p:ph type="title"/>
          </p:nvPr>
        </p:nvSpPr>
        <p:spPr/>
        <p:txBody>
          <a:bodyPr/>
          <a:lstStyle/>
          <a:p>
            <a:r>
              <a:rPr lang="en-US" altLang="tr-TR" dirty="0"/>
              <a:t>Mediator Pattern</a:t>
            </a:r>
            <a:endParaRPr lang="tr-TR" altLang="tr-TR" dirty="0"/>
          </a:p>
        </p:txBody>
      </p:sp>
      <p:sp>
        <p:nvSpPr>
          <p:cNvPr id="41987" name="Content Placeholder 2">
            <a:extLst>
              <a:ext uri="{FF2B5EF4-FFF2-40B4-BE49-F238E27FC236}">
                <a16:creationId xmlns:a16="http://schemas.microsoft.com/office/drawing/2014/main" id="{81D6B2EE-FCB7-C367-D065-262E094AD4CD}"/>
              </a:ext>
            </a:extLst>
          </p:cNvPr>
          <p:cNvSpPr>
            <a:spLocks noGrp="1"/>
          </p:cNvSpPr>
          <p:nvPr>
            <p:ph idx="1"/>
          </p:nvPr>
        </p:nvSpPr>
        <p:spPr/>
        <p:txBody>
          <a:bodyPr/>
          <a:lstStyle/>
          <a:p>
            <a:r>
              <a:rPr lang="en-US" altLang="tr-TR" b="1" dirty="0"/>
              <a:t>Intent: </a:t>
            </a:r>
            <a:r>
              <a:rPr lang="en-US" altLang="tr-TR" dirty="0"/>
              <a:t>Define an object that encapsulates how a set of objects interact. </a:t>
            </a:r>
          </a:p>
          <a:p>
            <a:pPr marL="400050" lvl="1" indent="0">
              <a:buNone/>
            </a:pPr>
            <a:r>
              <a:rPr lang="en-US" altLang="tr-TR" sz="3200" dirty="0"/>
              <a:t>Mediator promotes loose coupling by keeping objects from referring to each other explicitly, and it lets you vary their interaction independently</a:t>
            </a:r>
            <a:endParaRPr lang="tr-TR" altLang="tr-TR" sz="3200" dirty="0"/>
          </a:p>
        </p:txBody>
      </p:sp>
    </p:spTree>
    <p:extLst>
      <p:ext uri="{BB962C8B-B14F-4D97-AF65-F5344CB8AC3E}">
        <p14:creationId xmlns:p14="http://schemas.microsoft.com/office/powerpoint/2010/main" val="3355803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9EF9A6A-47CA-E90F-99E1-D212668EFDB1}"/>
              </a:ext>
            </a:extLst>
          </p:cNvPr>
          <p:cNvSpPr>
            <a:spLocks noGrp="1" noChangeArrowheads="1"/>
          </p:cNvSpPr>
          <p:nvPr>
            <p:ph type="title"/>
          </p:nvPr>
        </p:nvSpPr>
        <p:spPr/>
        <p:txBody>
          <a:bodyPr/>
          <a:lstStyle/>
          <a:p>
            <a:pPr eaLnBrk="1" hangingPunct="1"/>
            <a:r>
              <a:rPr lang="en-US" altLang="tr-TR"/>
              <a:t>Mediator Structure</a:t>
            </a:r>
          </a:p>
        </p:txBody>
      </p:sp>
      <p:pic>
        <p:nvPicPr>
          <p:cNvPr id="38915" name="Picture 3" descr="mediator">
            <a:extLst>
              <a:ext uri="{FF2B5EF4-FFF2-40B4-BE49-F238E27FC236}">
                <a16:creationId xmlns:a16="http://schemas.microsoft.com/office/drawing/2014/main" id="{4D4D699C-45B2-D9E6-681F-B866FC72C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625" y="1540397"/>
            <a:ext cx="7877175"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969C5E1-72A4-C437-0FD2-B4ADA34D3ED7}"/>
              </a:ext>
            </a:extLst>
          </p:cNvPr>
          <p:cNvSpPr txBox="1"/>
          <p:nvPr/>
        </p:nvSpPr>
        <p:spPr>
          <a:xfrm>
            <a:off x="251520" y="5949280"/>
            <a:ext cx="8435280" cy="646331"/>
          </a:xfrm>
          <a:prstGeom prst="rect">
            <a:avLst/>
          </a:prstGeom>
          <a:noFill/>
        </p:spPr>
        <p:txBody>
          <a:bodyPr wrap="square" rtlCol="0">
            <a:spAutoFit/>
          </a:bodyPr>
          <a:lstStyle/>
          <a:p>
            <a:r>
              <a:rPr lang="en-US" dirty="0"/>
              <a:t>As long as the colleague works with its mediator via the generic interface, we can link it with a different implementation of the mediator.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203DC5-4159-AF1F-4380-79B05B665BE0}"/>
              </a:ext>
            </a:extLst>
          </p:cNvPr>
          <p:cNvSpPr>
            <a:spLocks noGrp="1"/>
          </p:cNvSpPr>
          <p:nvPr>
            <p:ph type="title"/>
          </p:nvPr>
        </p:nvSpPr>
        <p:spPr/>
        <p:txBody>
          <a:bodyPr/>
          <a:lstStyle/>
          <a:p>
            <a:r>
              <a:rPr lang="en-US" dirty="0"/>
              <a:t>Participants</a:t>
            </a:r>
          </a:p>
        </p:txBody>
      </p:sp>
      <p:sp>
        <p:nvSpPr>
          <p:cNvPr id="4" name="Content Placeholder 3">
            <a:extLst>
              <a:ext uri="{FF2B5EF4-FFF2-40B4-BE49-F238E27FC236}">
                <a16:creationId xmlns:a16="http://schemas.microsoft.com/office/drawing/2014/main" id="{A389E846-CC2F-85E1-2633-06B99789D618}"/>
              </a:ext>
            </a:extLst>
          </p:cNvPr>
          <p:cNvSpPr>
            <a:spLocks noGrp="1"/>
          </p:cNvSpPr>
          <p:nvPr>
            <p:ph idx="1"/>
          </p:nvPr>
        </p:nvSpPr>
        <p:spPr>
          <a:xfrm>
            <a:off x="282352" y="1340768"/>
            <a:ext cx="8579296" cy="4532109"/>
          </a:xfrm>
        </p:spPr>
        <p:txBody>
          <a:bodyPr/>
          <a:lstStyle/>
          <a:p>
            <a:r>
              <a:rPr lang="en-US" sz="2400" b="1" dirty="0"/>
              <a:t>Mediator interface</a:t>
            </a:r>
            <a:r>
              <a:rPr lang="en-US" sz="2400" dirty="0"/>
              <a:t>: defines the interface  between the objects. </a:t>
            </a:r>
          </a:p>
          <a:p>
            <a:pPr lvl="1"/>
            <a:r>
              <a:rPr lang="en-US" sz="2000" dirty="0"/>
              <a:t>In most cases, a single method for receiving notifications from components is sufficient</a:t>
            </a:r>
          </a:p>
          <a:p>
            <a:r>
              <a:rPr lang="en-US" sz="2400" b="1" dirty="0" err="1"/>
              <a:t>ConcreteMediator</a:t>
            </a:r>
            <a:r>
              <a:rPr lang="en-US" sz="2400" dirty="0"/>
              <a:t>: stores references to colleagues. Implements the communication protocol and coordinates colleagues</a:t>
            </a:r>
          </a:p>
          <a:p>
            <a:r>
              <a:rPr lang="en-US" sz="2400" b="1" dirty="0"/>
              <a:t>Colleague: </a:t>
            </a:r>
            <a:r>
              <a:rPr lang="en-US" sz="2400" dirty="0"/>
              <a:t>has reference to the mediator. Communicates with its mediator whenever it would have otherwise communicated with another colleague.</a:t>
            </a:r>
            <a:endParaRPr lang="en-US" sz="2000" dirty="0"/>
          </a:p>
          <a:p>
            <a:pPr lvl="1"/>
            <a:r>
              <a:rPr lang="en-US" sz="2000" dirty="0"/>
              <a:t>When the colleague works with its mediator via the generic interface, we can link it with a different implementation of the mediator.</a:t>
            </a:r>
          </a:p>
          <a:p>
            <a:endParaRPr lang="en-US" sz="2800" dirty="0"/>
          </a:p>
        </p:txBody>
      </p:sp>
    </p:spTree>
    <p:extLst>
      <p:ext uri="{BB962C8B-B14F-4D97-AF65-F5344CB8AC3E}">
        <p14:creationId xmlns:p14="http://schemas.microsoft.com/office/powerpoint/2010/main" val="3540044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9B7A78E-DEA2-797D-455F-05EFACC522DB}"/>
              </a:ext>
            </a:extLst>
          </p:cNvPr>
          <p:cNvSpPr>
            <a:spLocks noGrp="1" noChangeArrowheads="1"/>
          </p:cNvSpPr>
          <p:nvPr>
            <p:ph type="title"/>
          </p:nvPr>
        </p:nvSpPr>
        <p:spPr/>
        <p:txBody>
          <a:bodyPr/>
          <a:lstStyle/>
          <a:p>
            <a:pPr eaLnBrk="1" hangingPunct="1"/>
            <a:r>
              <a:rPr lang="en-US" altLang="tr-TR"/>
              <a:t>Centralized Control</a:t>
            </a:r>
          </a:p>
        </p:txBody>
      </p:sp>
      <p:sp>
        <p:nvSpPr>
          <p:cNvPr id="40963" name="Rectangle 3">
            <a:extLst>
              <a:ext uri="{FF2B5EF4-FFF2-40B4-BE49-F238E27FC236}">
                <a16:creationId xmlns:a16="http://schemas.microsoft.com/office/drawing/2014/main" id="{7F9E92BB-0392-F9DE-F8E6-F4F0EE00D148}"/>
              </a:ext>
            </a:extLst>
          </p:cNvPr>
          <p:cNvSpPr>
            <a:spLocks noGrp="1" noChangeArrowheads="1"/>
          </p:cNvSpPr>
          <p:nvPr>
            <p:ph idx="1"/>
          </p:nvPr>
        </p:nvSpPr>
        <p:spPr/>
        <p:txBody>
          <a:bodyPr/>
          <a:lstStyle/>
          <a:p>
            <a:pPr eaLnBrk="1" hangingPunct="1">
              <a:lnSpc>
                <a:spcPct val="90000"/>
              </a:lnSpc>
            </a:pPr>
            <a:r>
              <a:rPr lang="en-US" altLang="tr-TR" dirty="0"/>
              <a:t>Benefits</a:t>
            </a:r>
          </a:p>
          <a:p>
            <a:pPr lvl="1" eaLnBrk="1" hangingPunct="1">
              <a:lnSpc>
                <a:spcPct val="90000"/>
              </a:lnSpc>
            </a:pPr>
            <a:r>
              <a:rPr lang="en-US" altLang="tr-TR" dirty="0"/>
              <a:t>colleagues focus on their operations</a:t>
            </a:r>
          </a:p>
          <a:p>
            <a:pPr lvl="1" eaLnBrk="1" hangingPunct="1">
              <a:lnSpc>
                <a:spcPct val="90000"/>
              </a:lnSpc>
            </a:pPr>
            <a:r>
              <a:rPr lang="en-US" altLang="tr-TR" dirty="0"/>
              <a:t>interaction protocol becomes visible </a:t>
            </a:r>
          </a:p>
          <a:p>
            <a:pPr lvl="1" eaLnBrk="1" hangingPunct="1">
              <a:lnSpc>
                <a:spcPct val="90000"/>
              </a:lnSpc>
            </a:pPr>
            <a:r>
              <a:rPr lang="en-US" altLang="tr-TR" dirty="0"/>
              <a:t>when the rule changes only change the mediator</a:t>
            </a:r>
          </a:p>
          <a:p>
            <a:pPr lvl="1" eaLnBrk="1" hangingPunct="1">
              <a:lnSpc>
                <a:spcPct val="90000"/>
              </a:lnSpc>
            </a:pPr>
            <a:r>
              <a:rPr lang="en-US" altLang="tr-TR" dirty="0"/>
              <a:t>when a new colleague is added, change only the mediator</a:t>
            </a:r>
          </a:p>
          <a:p>
            <a:pPr lvl="1" eaLnBrk="1" hangingPunct="1">
              <a:lnSpc>
                <a:spcPct val="90000"/>
              </a:lnSpc>
            </a:pPr>
            <a:r>
              <a:rPr lang="en-US" altLang="tr-TR" dirty="0"/>
              <a:t>participants are not aware of the existence of other objects</a:t>
            </a:r>
          </a:p>
          <a:p>
            <a:pPr eaLnBrk="1" hangingPunct="1"/>
            <a:r>
              <a:rPr lang="en-US" altLang="tr-TR" dirty="0"/>
              <a:t>Drawback</a:t>
            </a:r>
          </a:p>
          <a:p>
            <a:pPr lvl="1" eaLnBrk="1" hangingPunct="1"/>
            <a:r>
              <a:rPr lang="en-US" altLang="tr-TR" dirty="0"/>
              <a:t> overkill for simple communication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704C4E1B-DBF6-E594-7B87-A510668128FD}"/>
              </a:ext>
            </a:extLst>
          </p:cNvPr>
          <p:cNvSpPr>
            <a:spLocks noGrp="1"/>
          </p:cNvSpPr>
          <p:nvPr>
            <p:ph type="title"/>
          </p:nvPr>
        </p:nvSpPr>
        <p:spPr/>
        <p:txBody>
          <a:bodyPr/>
          <a:lstStyle/>
          <a:p>
            <a:r>
              <a:rPr lang="en-US" altLang="en-US" dirty="0"/>
              <a:t>Applicability –when…</a:t>
            </a:r>
            <a:endParaRPr lang="tr-TR" altLang="en-US" dirty="0"/>
          </a:p>
        </p:txBody>
      </p:sp>
      <p:sp>
        <p:nvSpPr>
          <p:cNvPr id="43011" name="Content Placeholder 2">
            <a:extLst>
              <a:ext uri="{FF2B5EF4-FFF2-40B4-BE49-F238E27FC236}">
                <a16:creationId xmlns:a16="http://schemas.microsoft.com/office/drawing/2014/main" id="{A1835E30-C2F7-BECB-EF6E-4C70E5AB1240}"/>
              </a:ext>
            </a:extLst>
          </p:cNvPr>
          <p:cNvSpPr>
            <a:spLocks noGrp="1"/>
          </p:cNvSpPr>
          <p:nvPr>
            <p:ph idx="1"/>
          </p:nvPr>
        </p:nvSpPr>
        <p:spPr/>
        <p:txBody>
          <a:bodyPr/>
          <a:lstStyle/>
          <a:p>
            <a:r>
              <a:rPr lang="en-US" altLang="en-US" sz="2800" dirty="0"/>
              <a:t>A set of objects communicate in a well-defined but complex ways. The interdependencies are unstructured and difficult to understand.</a:t>
            </a:r>
          </a:p>
          <a:p>
            <a:r>
              <a:rPr lang="en-US" altLang="en-US" sz="2800" dirty="0"/>
              <a:t>It is hard to change some of the classes due to tight coupling with other classes </a:t>
            </a:r>
          </a:p>
          <a:p>
            <a:pPr lvl="1"/>
            <a:r>
              <a:rPr lang="en-US" altLang="en-US" sz="2400" dirty="0"/>
              <a:t>Also, when some objects are hard to reuse  because it refers to and communicates with many other objects</a:t>
            </a:r>
          </a:p>
          <a:p>
            <a:r>
              <a:rPr lang="en-US" altLang="en-US" sz="2800" dirty="0"/>
              <a:t>A behavior that's distributed between several classes should be customizable without a lot of subclassing</a:t>
            </a:r>
          </a:p>
          <a:p>
            <a:pPr lvl="1"/>
            <a:r>
              <a:rPr lang="en-US" altLang="en-US" sz="2400" dirty="0"/>
              <a:t>Each participant’s subclass vs Mediator subclass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4971-0300-D3AC-A4DE-150F20F29DC6}"/>
              </a:ext>
            </a:extLst>
          </p:cNvPr>
          <p:cNvSpPr>
            <a:spLocks noGrp="1"/>
          </p:cNvSpPr>
          <p:nvPr>
            <p:ph type="title"/>
          </p:nvPr>
        </p:nvSpPr>
        <p:spPr/>
        <p:txBody>
          <a:bodyPr/>
          <a:lstStyle/>
          <a:p>
            <a:r>
              <a:rPr lang="en-US" dirty="0"/>
              <a:t>Example 1: Air Traffic </a:t>
            </a:r>
          </a:p>
        </p:txBody>
      </p:sp>
      <p:sp>
        <p:nvSpPr>
          <p:cNvPr id="3" name="Content Placeholder 2">
            <a:extLst>
              <a:ext uri="{FF2B5EF4-FFF2-40B4-BE49-F238E27FC236}">
                <a16:creationId xmlns:a16="http://schemas.microsoft.com/office/drawing/2014/main" id="{63000F1F-9989-198A-AD50-C37F853AD65B}"/>
              </a:ext>
            </a:extLst>
          </p:cNvPr>
          <p:cNvSpPr>
            <a:spLocks noGrp="1"/>
          </p:cNvSpPr>
          <p:nvPr>
            <p:ph idx="1"/>
          </p:nvPr>
        </p:nvSpPr>
        <p:spPr/>
        <p:txBody>
          <a:bodyPr/>
          <a:lstStyle/>
          <a:p>
            <a:r>
              <a:rPr lang="en-US" dirty="0"/>
              <a:t>There are multiple airplanes that need to communicate and coordinate their movements to avoid collisions and ensure safe takeoffs and landings. </a:t>
            </a:r>
          </a:p>
          <a:p>
            <a:pPr lvl="1"/>
            <a:r>
              <a:rPr lang="en-US" dirty="0"/>
              <a:t>Direct communication between airplanes is error-prone</a:t>
            </a:r>
          </a:p>
          <a:p>
            <a:pPr lvl="1"/>
            <a:r>
              <a:rPr lang="en-US" dirty="0"/>
              <a:t>Collision risk when the status of all airplanes in the air space is unknown</a:t>
            </a:r>
          </a:p>
        </p:txBody>
      </p:sp>
      <p:sp>
        <p:nvSpPr>
          <p:cNvPr id="4" name="TextBox 3">
            <a:extLst>
              <a:ext uri="{FF2B5EF4-FFF2-40B4-BE49-F238E27FC236}">
                <a16:creationId xmlns:a16="http://schemas.microsoft.com/office/drawing/2014/main" id="{6BFA14CD-4546-76FC-1675-6F49729C15DF}"/>
              </a:ext>
            </a:extLst>
          </p:cNvPr>
          <p:cNvSpPr txBox="1"/>
          <p:nvPr/>
        </p:nvSpPr>
        <p:spPr>
          <a:xfrm>
            <a:off x="683568" y="6453336"/>
            <a:ext cx="6038704" cy="338554"/>
          </a:xfrm>
          <a:prstGeom prst="rect">
            <a:avLst/>
          </a:prstGeom>
          <a:noFill/>
        </p:spPr>
        <p:txBody>
          <a:bodyPr wrap="none" rtlCol="0">
            <a:spAutoFit/>
          </a:bodyPr>
          <a:lstStyle/>
          <a:p>
            <a:r>
              <a:rPr lang="en-US" sz="1600" dirty="0"/>
              <a:t>Source: https://www.geeksforgeeks.org/mediator-design-pattern/</a:t>
            </a:r>
          </a:p>
        </p:txBody>
      </p:sp>
    </p:spTree>
    <p:extLst>
      <p:ext uri="{BB962C8B-B14F-4D97-AF65-F5344CB8AC3E}">
        <p14:creationId xmlns:p14="http://schemas.microsoft.com/office/powerpoint/2010/main" val="2952040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FFD3C-EFA4-7CEA-5A61-5B3ACA4B0F1B}"/>
              </a:ext>
            </a:extLst>
          </p:cNvPr>
          <p:cNvSpPr>
            <a:spLocks noGrp="1"/>
          </p:cNvSpPr>
          <p:nvPr>
            <p:ph type="title"/>
          </p:nvPr>
        </p:nvSpPr>
        <p:spPr/>
        <p:txBody>
          <a:bodyPr/>
          <a:lstStyle/>
          <a:p>
            <a:r>
              <a:rPr lang="en-US" dirty="0"/>
              <a:t>Example: Air Traffic</a:t>
            </a:r>
          </a:p>
        </p:txBody>
      </p:sp>
      <p:sp>
        <p:nvSpPr>
          <p:cNvPr id="4" name="Rectangle 3">
            <a:extLst>
              <a:ext uri="{FF2B5EF4-FFF2-40B4-BE49-F238E27FC236}">
                <a16:creationId xmlns:a16="http://schemas.microsoft.com/office/drawing/2014/main" id="{1D2D8709-42DE-905B-6669-0D86154A9043}"/>
              </a:ext>
            </a:extLst>
          </p:cNvPr>
          <p:cNvSpPr/>
          <p:nvPr/>
        </p:nvSpPr>
        <p:spPr bwMode="auto">
          <a:xfrm>
            <a:off x="1331640" y="1600525"/>
            <a:ext cx="2160240" cy="1118607"/>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000" i="1" dirty="0" err="1">
                <a:latin typeface="Arial" charset="0"/>
              </a:rPr>
              <a:t>ControlTower</a:t>
            </a:r>
            <a:endParaRPr lang="en-US" sz="2000" i="1" dirty="0">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rPr>
              <a:t>+</a:t>
            </a:r>
            <a:r>
              <a:rPr kumimoji="0" lang="en-US" sz="2000" b="0" i="1" u="none" strike="noStrike" cap="none" normalizeH="0" baseline="0" dirty="0" err="1">
                <a:ln>
                  <a:noFill/>
                </a:ln>
                <a:solidFill>
                  <a:schemeClr val="tx1"/>
                </a:solidFill>
                <a:effectLst/>
                <a:latin typeface="Arial" charset="0"/>
              </a:rPr>
              <a:t>requestTakeoff</a:t>
            </a:r>
            <a:endParaRPr kumimoji="0" lang="en-US" sz="2000" b="0" i="1"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sz="2000" i="1" dirty="0">
                <a:latin typeface="Arial" charset="0"/>
              </a:rPr>
              <a:t>+</a:t>
            </a:r>
            <a:r>
              <a:rPr lang="en-US" sz="2000" i="1" dirty="0" err="1">
                <a:latin typeface="Arial" charset="0"/>
              </a:rPr>
              <a:t>requestLanging</a:t>
            </a:r>
            <a:endParaRPr kumimoji="0" lang="en-US" sz="2000" b="0" i="1" u="none" strike="noStrike" cap="none" normalizeH="0" baseline="0" dirty="0">
              <a:ln>
                <a:noFill/>
              </a:ln>
              <a:solidFill>
                <a:schemeClr val="tx1"/>
              </a:solidFill>
              <a:effectLst/>
              <a:latin typeface="Arial" charset="0"/>
            </a:endParaRPr>
          </a:p>
        </p:txBody>
      </p:sp>
      <p:sp>
        <p:nvSpPr>
          <p:cNvPr id="5" name="Rectangle 4">
            <a:extLst>
              <a:ext uri="{FF2B5EF4-FFF2-40B4-BE49-F238E27FC236}">
                <a16:creationId xmlns:a16="http://schemas.microsoft.com/office/drawing/2014/main" id="{75A3F526-580A-1B58-7F2E-AB93CCA98B8C}"/>
              </a:ext>
            </a:extLst>
          </p:cNvPr>
          <p:cNvSpPr/>
          <p:nvPr/>
        </p:nvSpPr>
        <p:spPr bwMode="auto">
          <a:xfrm>
            <a:off x="1115616" y="3789040"/>
            <a:ext cx="2232248" cy="864095"/>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000" dirty="0" err="1">
                <a:latin typeface="Arial" charset="0"/>
              </a:rPr>
              <a:t>AirportController</a:t>
            </a:r>
            <a:endParaRPr lang="en-US" sz="2000" dirty="0">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sz="2000" dirty="0">
                <a:latin typeface="Arial" charset="0"/>
              </a:rPr>
              <a:t>-airplanes</a:t>
            </a:r>
            <a:endParaRPr kumimoji="0" lang="en-US" sz="2000" b="0" i="0" u="none" strike="noStrike" cap="none" normalizeH="0" baseline="0" dirty="0">
              <a:ln>
                <a:noFill/>
              </a:ln>
              <a:solidFill>
                <a:schemeClr val="tx1"/>
              </a:solidFill>
              <a:effectLst/>
              <a:latin typeface="Arial" charset="0"/>
            </a:endParaRPr>
          </a:p>
        </p:txBody>
      </p:sp>
      <p:sp>
        <p:nvSpPr>
          <p:cNvPr id="6" name="Isosceles Triangle 5">
            <a:extLst>
              <a:ext uri="{FF2B5EF4-FFF2-40B4-BE49-F238E27FC236}">
                <a16:creationId xmlns:a16="http://schemas.microsoft.com/office/drawing/2014/main" id="{73658220-CAAC-8BF0-D4F2-15931AB06C2E}"/>
              </a:ext>
            </a:extLst>
          </p:cNvPr>
          <p:cNvSpPr/>
          <p:nvPr/>
        </p:nvSpPr>
        <p:spPr bwMode="auto">
          <a:xfrm>
            <a:off x="2123728" y="2827658"/>
            <a:ext cx="216024" cy="169294"/>
          </a:xfrm>
          <a:prstGeom prst="triangle">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cxnSp>
        <p:nvCxnSpPr>
          <p:cNvPr id="8" name="Straight Connector 7">
            <a:extLst>
              <a:ext uri="{FF2B5EF4-FFF2-40B4-BE49-F238E27FC236}">
                <a16:creationId xmlns:a16="http://schemas.microsoft.com/office/drawing/2014/main" id="{A4E51E89-2228-73E5-3A8D-C6E3DF04B676}"/>
              </a:ext>
            </a:extLst>
          </p:cNvPr>
          <p:cNvCxnSpPr>
            <a:cxnSpLocks/>
            <a:stCxn id="6" idx="3"/>
            <a:endCxn id="5" idx="0"/>
          </p:cNvCxnSpPr>
          <p:nvPr/>
        </p:nvCxnSpPr>
        <p:spPr bwMode="auto">
          <a:xfrm>
            <a:off x="2231740" y="2996952"/>
            <a:ext cx="0" cy="792088"/>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13" name="Straight Connector 12">
            <a:extLst>
              <a:ext uri="{FF2B5EF4-FFF2-40B4-BE49-F238E27FC236}">
                <a16:creationId xmlns:a16="http://schemas.microsoft.com/office/drawing/2014/main" id="{A412EAFA-5217-E3CD-C988-5A31B16F83B1}"/>
              </a:ext>
            </a:extLst>
          </p:cNvPr>
          <p:cNvCxnSpPr>
            <a:cxnSpLocks/>
          </p:cNvCxnSpPr>
          <p:nvPr/>
        </p:nvCxnSpPr>
        <p:spPr bwMode="auto">
          <a:xfrm>
            <a:off x="1115616" y="4149080"/>
            <a:ext cx="22322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Straight Connector 14">
            <a:extLst>
              <a:ext uri="{FF2B5EF4-FFF2-40B4-BE49-F238E27FC236}">
                <a16:creationId xmlns:a16="http://schemas.microsoft.com/office/drawing/2014/main" id="{72B8D857-C317-FD41-DBC8-3B313AF968EE}"/>
              </a:ext>
            </a:extLst>
          </p:cNvPr>
          <p:cNvCxnSpPr>
            <a:cxnSpLocks/>
          </p:cNvCxnSpPr>
          <p:nvPr/>
        </p:nvCxnSpPr>
        <p:spPr bwMode="auto">
          <a:xfrm>
            <a:off x="1115616" y="4257607"/>
            <a:ext cx="22322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0" name="Rectangle 19">
            <a:extLst>
              <a:ext uri="{FF2B5EF4-FFF2-40B4-BE49-F238E27FC236}">
                <a16:creationId xmlns:a16="http://schemas.microsoft.com/office/drawing/2014/main" id="{62D4244A-79CC-0ECA-9722-30C628203D20}"/>
              </a:ext>
            </a:extLst>
          </p:cNvPr>
          <p:cNvSpPr/>
          <p:nvPr/>
        </p:nvSpPr>
        <p:spPr bwMode="auto">
          <a:xfrm>
            <a:off x="5580112" y="1585973"/>
            <a:ext cx="2160240" cy="460323"/>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000" i="1" dirty="0">
                <a:latin typeface="Arial" charset="0"/>
              </a:rPr>
              <a:t>Airplane</a:t>
            </a:r>
            <a:endParaRPr kumimoji="0" lang="en-US" sz="2000" b="0" i="1" u="none" strike="noStrike" cap="none" normalizeH="0" baseline="0" dirty="0">
              <a:ln>
                <a:noFill/>
              </a:ln>
              <a:solidFill>
                <a:schemeClr val="tx1"/>
              </a:solidFill>
              <a:effectLst/>
              <a:latin typeface="Arial" charset="0"/>
            </a:endParaRPr>
          </a:p>
        </p:txBody>
      </p:sp>
      <p:sp>
        <p:nvSpPr>
          <p:cNvPr id="27" name="Rectangle 26">
            <a:extLst>
              <a:ext uri="{FF2B5EF4-FFF2-40B4-BE49-F238E27FC236}">
                <a16:creationId xmlns:a16="http://schemas.microsoft.com/office/drawing/2014/main" id="{15ABCAFF-2ED0-9B09-5C2D-DD9BEB10C4FF}"/>
              </a:ext>
            </a:extLst>
          </p:cNvPr>
          <p:cNvSpPr/>
          <p:nvPr/>
        </p:nvSpPr>
        <p:spPr bwMode="auto">
          <a:xfrm>
            <a:off x="5436096" y="2996952"/>
            <a:ext cx="2520280" cy="1440160"/>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2000" dirty="0" err="1">
                <a:latin typeface="Arial" charset="0"/>
              </a:rPr>
              <a:t>CommercialPlane</a:t>
            </a:r>
            <a:endParaRPr lang="en-US" sz="2000" dirty="0">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a:t>
            </a:r>
            <a:r>
              <a:rPr kumimoji="0" lang="en-US" sz="2000" b="0" i="0" u="none" strike="noStrike" cap="none" normalizeH="0" baseline="0" dirty="0" err="1">
                <a:ln>
                  <a:noFill/>
                </a:ln>
                <a:solidFill>
                  <a:schemeClr val="tx1"/>
                </a:solidFill>
                <a:effectLst/>
                <a:latin typeface="Arial" charset="0"/>
              </a:rPr>
              <a:t>requestTakeoff</a:t>
            </a:r>
            <a:endParaRPr kumimoji="0" lang="en-US" sz="2000" b="0" i="0" u="none" strike="noStrike" cap="none" normalizeH="0" baseline="0" dirty="0">
              <a:ln>
                <a:noFill/>
              </a:ln>
              <a:solidFill>
                <a:schemeClr val="tx1"/>
              </a:solidFill>
              <a:effectLst/>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lang="en-US" sz="2000" dirty="0">
                <a:latin typeface="Arial" charset="0"/>
              </a:rPr>
              <a:t>+</a:t>
            </a:r>
            <a:r>
              <a:rPr lang="en-US" sz="2000" dirty="0" err="1">
                <a:latin typeface="Arial" charset="0"/>
              </a:rPr>
              <a:t>requestLanding</a:t>
            </a:r>
            <a:endParaRPr lang="en-US" sz="2000" dirty="0">
              <a:latin typeface="Arial" charset="0"/>
            </a:endParaRPr>
          </a:p>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a:t>
            </a:r>
            <a:r>
              <a:rPr kumimoji="0" lang="en-US" sz="2000" b="0" i="0" u="none" strike="noStrike" cap="none" normalizeH="0" baseline="0" dirty="0" err="1">
                <a:ln>
                  <a:noFill/>
                </a:ln>
                <a:solidFill>
                  <a:schemeClr val="tx1"/>
                </a:solidFill>
                <a:effectLst/>
                <a:latin typeface="Arial" charset="0"/>
              </a:rPr>
              <a:t>notif</a:t>
            </a:r>
            <a:r>
              <a:rPr lang="en-US" sz="2000" dirty="0" err="1">
                <a:latin typeface="Arial" charset="0"/>
              </a:rPr>
              <a:t>yController</a:t>
            </a:r>
            <a:endParaRPr kumimoji="0" lang="en-US" sz="2000" b="0" i="0" u="none" strike="noStrike" cap="none" normalizeH="0" baseline="0" dirty="0">
              <a:ln>
                <a:noFill/>
              </a:ln>
              <a:solidFill>
                <a:schemeClr val="tx1"/>
              </a:solidFill>
              <a:effectLst/>
              <a:latin typeface="Arial" charset="0"/>
            </a:endParaRPr>
          </a:p>
        </p:txBody>
      </p:sp>
      <p:cxnSp>
        <p:nvCxnSpPr>
          <p:cNvPr id="28" name="Straight Connector 27">
            <a:extLst>
              <a:ext uri="{FF2B5EF4-FFF2-40B4-BE49-F238E27FC236}">
                <a16:creationId xmlns:a16="http://schemas.microsoft.com/office/drawing/2014/main" id="{6475ACDB-C843-5B02-E603-710571589AF6}"/>
              </a:ext>
            </a:extLst>
          </p:cNvPr>
          <p:cNvCxnSpPr>
            <a:cxnSpLocks/>
            <a:stCxn id="31" idx="3"/>
            <a:endCxn id="27" idx="0"/>
          </p:cNvCxnSpPr>
          <p:nvPr/>
        </p:nvCxnSpPr>
        <p:spPr bwMode="auto">
          <a:xfrm>
            <a:off x="6696236" y="2185206"/>
            <a:ext cx="0" cy="811746"/>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29" name="Straight Connector 28">
            <a:extLst>
              <a:ext uri="{FF2B5EF4-FFF2-40B4-BE49-F238E27FC236}">
                <a16:creationId xmlns:a16="http://schemas.microsoft.com/office/drawing/2014/main" id="{AF46551D-D4CB-36BF-41AD-D65CF2F0E68E}"/>
              </a:ext>
            </a:extLst>
          </p:cNvPr>
          <p:cNvCxnSpPr>
            <a:cxnSpLocks/>
          </p:cNvCxnSpPr>
          <p:nvPr/>
        </p:nvCxnSpPr>
        <p:spPr bwMode="auto">
          <a:xfrm>
            <a:off x="5436096" y="3356992"/>
            <a:ext cx="252028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FD9AA4EC-AD3D-58CF-1F6F-118283767BD5}"/>
              </a:ext>
            </a:extLst>
          </p:cNvPr>
          <p:cNvCxnSpPr>
            <a:cxnSpLocks/>
          </p:cNvCxnSpPr>
          <p:nvPr/>
        </p:nvCxnSpPr>
        <p:spPr bwMode="auto">
          <a:xfrm>
            <a:off x="5436096" y="3465519"/>
            <a:ext cx="252028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1" name="Isosceles Triangle 30">
            <a:extLst>
              <a:ext uri="{FF2B5EF4-FFF2-40B4-BE49-F238E27FC236}">
                <a16:creationId xmlns:a16="http://schemas.microsoft.com/office/drawing/2014/main" id="{4E524947-015F-78B8-40A5-0E3196E84130}"/>
              </a:ext>
            </a:extLst>
          </p:cNvPr>
          <p:cNvSpPr/>
          <p:nvPr/>
        </p:nvSpPr>
        <p:spPr bwMode="auto">
          <a:xfrm>
            <a:off x="6588224" y="2015912"/>
            <a:ext cx="216024" cy="169294"/>
          </a:xfrm>
          <a:prstGeom prst="triangle">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cxnSp>
        <p:nvCxnSpPr>
          <p:cNvPr id="41" name="Straight Connector 40">
            <a:extLst>
              <a:ext uri="{FF2B5EF4-FFF2-40B4-BE49-F238E27FC236}">
                <a16:creationId xmlns:a16="http://schemas.microsoft.com/office/drawing/2014/main" id="{BF8E39FD-A97E-A55E-F4C0-FCB723377E24}"/>
              </a:ext>
            </a:extLst>
          </p:cNvPr>
          <p:cNvCxnSpPr>
            <a:cxnSpLocks/>
          </p:cNvCxnSpPr>
          <p:nvPr/>
        </p:nvCxnSpPr>
        <p:spPr bwMode="auto">
          <a:xfrm>
            <a:off x="1331640" y="1988840"/>
            <a:ext cx="223224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93836762-5F0A-27B7-AE01-ADED06F9071C}"/>
              </a:ext>
            </a:extLst>
          </p:cNvPr>
          <p:cNvCxnSpPr>
            <a:cxnSpLocks/>
          </p:cNvCxnSpPr>
          <p:nvPr/>
        </p:nvCxnSpPr>
        <p:spPr bwMode="auto">
          <a:xfrm>
            <a:off x="3491880" y="1772816"/>
            <a:ext cx="2088232" cy="0"/>
          </a:xfrm>
          <a:prstGeom prst="line">
            <a:avLst/>
          </a:prstGeom>
          <a:solidFill>
            <a:schemeClr val="accent1"/>
          </a:solidFill>
          <a:ln w="9525" cap="flat" cmpd="sng" algn="ctr">
            <a:solidFill>
              <a:schemeClr val="tx1"/>
            </a:solidFill>
            <a:prstDash val="solid"/>
            <a:round/>
            <a:headEnd type="arrow" w="med" len="med"/>
            <a:tailEnd type="none" w="med" len="med"/>
          </a:ln>
          <a:effectLst/>
        </p:spPr>
      </p:cxnSp>
      <p:cxnSp>
        <p:nvCxnSpPr>
          <p:cNvPr id="43" name="Straight Connector 42">
            <a:extLst>
              <a:ext uri="{FF2B5EF4-FFF2-40B4-BE49-F238E27FC236}">
                <a16:creationId xmlns:a16="http://schemas.microsoft.com/office/drawing/2014/main" id="{BE6565E9-E476-AB45-8094-39527DD58552}"/>
              </a:ext>
            </a:extLst>
          </p:cNvPr>
          <p:cNvCxnSpPr>
            <a:cxnSpLocks/>
          </p:cNvCxnSpPr>
          <p:nvPr/>
        </p:nvCxnSpPr>
        <p:spPr bwMode="auto">
          <a:xfrm>
            <a:off x="3347864" y="3933056"/>
            <a:ext cx="2088232" cy="0"/>
          </a:xfrm>
          <a:prstGeom prst="line">
            <a:avLst/>
          </a:prstGeom>
          <a:solidFill>
            <a:schemeClr val="accent1"/>
          </a:solidFill>
          <a:ln w="9525" cap="flat" cmpd="sng" algn="ctr">
            <a:solidFill>
              <a:schemeClr val="tx1"/>
            </a:solidFill>
            <a:prstDash val="solid"/>
            <a:round/>
            <a:headEnd type="none" w="med" len="med"/>
            <a:tailEnd type="arrow" w="med" len="med"/>
          </a:ln>
          <a:effectLst/>
        </p:spPr>
      </p:cxnSp>
    </p:spTree>
    <p:extLst>
      <p:ext uri="{BB962C8B-B14F-4D97-AF65-F5344CB8AC3E}">
        <p14:creationId xmlns:p14="http://schemas.microsoft.com/office/powerpoint/2010/main" val="19301248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B686D-E34C-7A34-FC36-47B108F1CE03}"/>
              </a:ext>
            </a:extLst>
          </p:cNvPr>
          <p:cNvSpPr>
            <a:spLocks noGrp="1"/>
          </p:cNvSpPr>
          <p:nvPr>
            <p:ph type="title"/>
          </p:nvPr>
        </p:nvSpPr>
        <p:spPr/>
        <p:txBody>
          <a:bodyPr/>
          <a:lstStyle/>
          <a:p>
            <a:r>
              <a:rPr lang="en-US" dirty="0"/>
              <a:t>Implementing Colleagues</a:t>
            </a:r>
          </a:p>
        </p:txBody>
      </p:sp>
      <p:pic>
        <p:nvPicPr>
          <p:cNvPr id="6" name="Picture 5">
            <a:extLst>
              <a:ext uri="{FF2B5EF4-FFF2-40B4-BE49-F238E27FC236}">
                <a16:creationId xmlns:a16="http://schemas.microsoft.com/office/drawing/2014/main" id="{2358C38F-0D86-5C99-6AA0-787D5A6B2448}"/>
              </a:ext>
            </a:extLst>
          </p:cNvPr>
          <p:cNvPicPr>
            <a:picLocks noChangeAspect="1"/>
          </p:cNvPicPr>
          <p:nvPr/>
        </p:nvPicPr>
        <p:blipFill>
          <a:blip r:embed="rId3"/>
          <a:stretch>
            <a:fillRect/>
          </a:stretch>
        </p:blipFill>
        <p:spPr>
          <a:xfrm>
            <a:off x="323528" y="1317240"/>
            <a:ext cx="7200877" cy="2111760"/>
          </a:xfrm>
          <a:prstGeom prst="rect">
            <a:avLst/>
          </a:prstGeom>
        </p:spPr>
      </p:pic>
      <p:pic>
        <p:nvPicPr>
          <p:cNvPr id="9" name="Picture 8">
            <a:extLst>
              <a:ext uri="{FF2B5EF4-FFF2-40B4-BE49-F238E27FC236}">
                <a16:creationId xmlns:a16="http://schemas.microsoft.com/office/drawing/2014/main" id="{2ADA2FD8-0E01-2EF6-E31B-CA5D5DC024CC}"/>
              </a:ext>
            </a:extLst>
          </p:cNvPr>
          <p:cNvPicPr>
            <a:picLocks noChangeAspect="1"/>
          </p:cNvPicPr>
          <p:nvPr/>
        </p:nvPicPr>
        <p:blipFill>
          <a:blip r:embed="rId4"/>
          <a:stretch>
            <a:fillRect/>
          </a:stretch>
        </p:blipFill>
        <p:spPr>
          <a:xfrm>
            <a:off x="316995" y="3314959"/>
            <a:ext cx="7920880" cy="993042"/>
          </a:xfrm>
          <a:prstGeom prst="rect">
            <a:avLst/>
          </a:prstGeom>
        </p:spPr>
      </p:pic>
      <p:pic>
        <p:nvPicPr>
          <p:cNvPr id="11" name="Picture 10">
            <a:extLst>
              <a:ext uri="{FF2B5EF4-FFF2-40B4-BE49-F238E27FC236}">
                <a16:creationId xmlns:a16="http://schemas.microsoft.com/office/drawing/2014/main" id="{DE58CA9C-B711-E08B-AC9E-FAF6F4A71A37}"/>
              </a:ext>
            </a:extLst>
          </p:cNvPr>
          <p:cNvPicPr>
            <a:picLocks noChangeAspect="1"/>
          </p:cNvPicPr>
          <p:nvPr/>
        </p:nvPicPr>
        <p:blipFill>
          <a:blip r:embed="rId5"/>
          <a:stretch>
            <a:fillRect/>
          </a:stretch>
        </p:blipFill>
        <p:spPr>
          <a:xfrm>
            <a:off x="841690" y="4365104"/>
            <a:ext cx="8136904" cy="616450"/>
          </a:xfrm>
          <a:prstGeom prst="rect">
            <a:avLst/>
          </a:prstGeom>
        </p:spPr>
      </p:pic>
      <p:pic>
        <p:nvPicPr>
          <p:cNvPr id="13" name="Picture 12">
            <a:extLst>
              <a:ext uri="{FF2B5EF4-FFF2-40B4-BE49-F238E27FC236}">
                <a16:creationId xmlns:a16="http://schemas.microsoft.com/office/drawing/2014/main" id="{29A11AC7-C9FB-8795-060C-70B5888F18C3}"/>
              </a:ext>
            </a:extLst>
          </p:cNvPr>
          <p:cNvPicPr>
            <a:picLocks noChangeAspect="1"/>
          </p:cNvPicPr>
          <p:nvPr/>
        </p:nvPicPr>
        <p:blipFill>
          <a:blip r:embed="rId6"/>
          <a:stretch>
            <a:fillRect/>
          </a:stretch>
        </p:blipFill>
        <p:spPr>
          <a:xfrm>
            <a:off x="827584" y="5039792"/>
            <a:ext cx="4968552" cy="693464"/>
          </a:xfrm>
          <a:prstGeom prst="rect">
            <a:avLst/>
          </a:prstGeom>
        </p:spPr>
      </p:pic>
      <p:pic>
        <p:nvPicPr>
          <p:cNvPr id="15" name="Picture 14">
            <a:extLst>
              <a:ext uri="{FF2B5EF4-FFF2-40B4-BE49-F238E27FC236}">
                <a16:creationId xmlns:a16="http://schemas.microsoft.com/office/drawing/2014/main" id="{0B18FA04-C0B2-5B51-5240-22AF2F2FA4D4}"/>
              </a:ext>
            </a:extLst>
          </p:cNvPr>
          <p:cNvPicPr>
            <a:picLocks noChangeAspect="1"/>
          </p:cNvPicPr>
          <p:nvPr/>
        </p:nvPicPr>
        <p:blipFill>
          <a:blip r:embed="rId7"/>
          <a:stretch>
            <a:fillRect/>
          </a:stretch>
        </p:blipFill>
        <p:spPr>
          <a:xfrm>
            <a:off x="755576" y="5732904"/>
            <a:ext cx="4968552" cy="648424"/>
          </a:xfrm>
          <a:prstGeom prst="rect">
            <a:avLst/>
          </a:prstGeom>
        </p:spPr>
      </p:pic>
      <p:sp>
        <p:nvSpPr>
          <p:cNvPr id="17" name="TextBox 16">
            <a:extLst>
              <a:ext uri="{FF2B5EF4-FFF2-40B4-BE49-F238E27FC236}">
                <a16:creationId xmlns:a16="http://schemas.microsoft.com/office/drawing/2014/main" id="{7B4DB35A-C7A8-5619-28C7-E6A9B01CA5FB}"/>
              </a:ext>
            </a:extLst>
          </p:cNvPr>
          <p:cNvSpPr txBox="1"/>
          <p:nvPr/>
        </p:nvSpPr>
        <p:spPr>
          <a:xfrm>
            <a:off x="4690012" y="4634688"/>
            <a:ext cx="287258" cy="461665"/>
          </a:xfrm>
          <a:prstGeom prst="rect">
            <a:avLst/>
          </a:prstGeom>
          <a:noFill/>
        </p:spPr>
        <p:txBody>
          <a:bodyPr wrap="none" rtlCol="0">
            <a:spAutoFit/>
          </a:bodyPr>
          <a:lstStyle/>
          <a:p>
            <a:r>
              <a:rPr lang="en-US" sz="2400" dirty="0">
                <a:solidFill>
                  <a:schemeClr val="tx2">
                    <a:lumMod val="65000"/>
                    <a:lumOff val="35000"/>
                  </a:schemeClr>
                </a:solidFill>
              </a:rPr>
              <a:t>}</a:t>
            </a:r>
            <a:endParaRPr lang="en-US" dirty="0">
              <a:solidFill>
                <a:schemeClr val="tx2">
                  <a:lumMod val="65000"/>
                  <a:lumOff val="35000"/>
                </a:schemeClr>
              </a:solidFill>
            </a:endParaRPr>
          </a:p>
        </p:txBody>
      </p:sp>
      <p:sp>
        <p:nvSpPr>
          <p:cNvPr id="18" name="TextBox 17">
            <a:extLst>
              <a:ext uri="{FF2B5EF4-FFF2-40B4-BE49-F238E27FC236}">
                <a16:creationId xmlns:a16="http://schemas.microsoft.com/office/drawing/2014/main" id="{A4AF2146-609E-EFF7-C5D2-3DA59713EF1C}"/>
              </a:ext>
            </a:extLst>
          </p:cNvPr>
          <p:cNvSpPr txBox="1"/>
          <p:nvPr/>
        </p:nvSpPr>
        <p:spPr>
          <a:xfrm>
            <a:off x="5643271" y="5962105"/>
            <a:ext cx="287258" cy="461665"/>
          </a:xfrm>
          <a:prstGeom prst="rect">
            <a:avLst/>
          </a:prstGeom>
          <a:noFill/>
        </p:spPr>
        <p:txBody>
          <a:bodyPr wrap="none" rtlCol="0">
            <a:spAutoFit/>
          </a:bodyPr>
          <a:lstStyle/>
          <a:p>
            <a:r>
              <a:rPr lang="en-US" sz="2400" dirty="0">
                <a:solidFill>
                  <a:schemeClr val="tx2">
                    <a:lumMod val="65000"/>
                    <a:lumOff val="35000"/>
                  </a:schemeClr>
                </a:solidFill>
              </a:rPr>
              <a:t>}</a:t>
            </a:r>
            <a:endParaRPr lang="en-US" dirty="0">
              <a:solidFill>
                <a:schemeClr val="tx2">
                  <a:lumMod val="65000"/>
                  <a:lumOff val="35000"/>
                </a:schemeClr>
              </a:solidFill>
            </a:endParaRPr>
          </a:p>
        </p:txBody>
      </p:sp>
      <p:sp>
        <p:nvSpPr>
          <p:cNvPr id="19" name="TextBox 18">
            <a:extLst>
              <a:ext uri="{FF2B5EF4-FFF2-40B4-BE49-F238E27FC236}">
                <a16:creationId xmlns:a16="http://schemas.microsoft.com/office/drawing/2014/main" id="{17C91279-B1F8-EE06-B911-3F317BDDA696}"/>
              </a:ext>
            </a:extLst>
          </p:cNvPr>
          <p:cNvSpPr txBox="1"/>
          <p:nvPr/>
        </p:nvSpPr>
        <p:spPr>
          <a:xfrm>
            <a:off x="5292080" y="5287927"/>
            <a:ext cx="287258" cy="461665"/>
          </a:xfrm>
          <a:prstGeom prst="rect">
            <a:avLst/>
          </a:prstGeom>
          <a:noFill/>
        </p:spPr>
        <p:txBody>
          <a:bodyPr wrap="none" rtlCol="0">
            <a:spAutoFit/>
          </a:bodyPr>
          <a:lstStyle/>
          <a:p>
            <a:r>
              <a:rPr lang="en-US" sz="2400" dirty="0">
                <a:solidFill>
                  <a:schemeClr val="tx2">
                    <a:lumMod val="65000"/>
                    <a:lumOff val="35000"/>
                  </a:schemeClr>
                </a:solidFill>
              </a:rPr>
              <a:t>}</a:t>
            </a:r>
            <a:endParaRPr lang="en-US" dirty="0">
              <a:solidFill>
                <a:schemeClr val="tx2">
                  <a:lumMod val="65000"/>
                  <a:lumOff val="35000"/>
                </a:schemeClr>
              </a:solidFill>
            </a:endParaRPr>
          </a:p>
        </p:txBody>
      </p:sp>
      <p:sp>
        <p:nvSpPr>
          <p:cNvPr id="20" name="TextBox 19">
            <a:extLst>
              <a:ext uri="{FF2B5EF4-FFF2-40B4-BE49-F238E27FC236}">
                <a16:creationId xmlns:a16="http://schemas.microsoft.com/office/drawing/2014/main" id="{6ADB4087-1515-A723-5812-4BAEDA6F30C7}"/>
              </a:ext>
            </a:extLst>
          </p:cNvPr>
          <p:cNvSpPr txBox="1"/>
          <p:nvPr/>
        </p:nvSpPr>
        <p:spPr>
          <a:xfrm>
            <a:off x="4380751" y="117211"/>
            <a:ext cx="4619919" cy="307777"/>
          </a:xfrm>
          <a:prstGeom prst="rect">
            <a:avLst/>
          </a:prstGeom>
          <a:noFill/>
        </p:spPr>
        <p:txBody>
          <a:bodyPr wrap="none" rtlCol="0">
            <a:spAutoFit/>
          </a:bodyPr>
          <a:lstStyle/>
          <a:p>
            <a:r>
              <a:rPr lang="en-US" sz="1400" dirty="0"/>
              <a:t>https://www.geeksforgeeks.org/mediator-design-pattern/</a:t>
            </a:r>
          </a:p>
        </p:txBody>
      </p:sp>
      <p:sp>
        <p:nvSpPr>
          <p:cNvPr id="21" name="TextBox 20">
            <a:extLst>
              <a:ext uri="{FF2B5EF4-FFF2-40B4-BE49-F238E27FC236}">
                <a16:creationId xmlns:a16="http://schemas.microsoft.com/office/drawing/2014/main" id="{DCD9BA03-E7AD-D629-E129-4E0E636AF83E}"/>
              </a:ext>
            </a:extLst>
          </p:cNvPr>
          <p:cNvSpPr txBox="1"/>
          <p:nvPr/>
        </p:nvSpPr>
        <p:spPr>
          <a:xfrm>
            <a:off x="683568" y="6283352"/>
            <a:ext cx="8162812" cy="646331"/>
          </a:xfrm>
          <a:prstGeom prst="rect">
            <a:avLst/>
          </a:prstGeom>
          <a:noFill/>
        </p:spPr>
        <p:txBody>
          <a:bodyPr wrap="none" rtlCol="0">
            <a:spAutoFit/>
          </a:bodyPr>
          <a:lstStyle/>
          <a:p>
            <a:pPr algn="l" rtl="0" fontAlgn="base"/>
            <a:r>
              <a:rPr lang="en-US" b="0" i="0" dirty="0">
                <a:solidFill>
                  <a:srgbClr val="273239"/>
                </a:solidFill>
                <a:effectLst/>
                <a:highlight>
                  <a:srgbClr val="FFFFFF"/>
                </a:highlight>
                <a:latin typeface="Consolas" panose="020B0609020204030204" pitchFamily="49" charset="0"/>
              </a:rPr>
              <a:t>public void </a:t>
            </a:r>
            <a:r>
              <a:rPr lang="en-US" b="0" i="0" dirty="0" err="1">
                <a:solidFill>
                  <a:srgbClr val="273239"/>
                </a:solidFill>
                <a:effectLst/>
                <a:highlight>
                  <a:srgbClr val="FFFFFF"/>
                </a:highlight>
                <a:latin typeface="Consolas" panose="020B0609020204030204" pitchFamily="49" charset="0"/>
              </a:rPr>
              <a:t>notifyAirTrafficControl</a:t>
            </a:r>
            <a:r>
              <a:rPr lang="en-US" b="0" i="0" dirty="0">
                <a:solidFill>
                  <a:srgbClr val="273239"/>
                </a:solidFill>
                <a:effectLst/>
                <a:highlight>
                  <a:srgbClr val="FFFFFF"/>
                </a:highlight>
                <a:latin typeface="Consolas" panose="020B0609020204030204" pitchFamily="49" charset="0"/>
              </a:rPr>
              <a:t>(String message) {</a:t>
            </a:r>
          </a:p>
          <a:p>
            <a:pPr algn="l" rtl="0" fontAlgn="base"/>
            <a:r>
              <a:rPr lang="en-US" b="0" i="0" dirty="0">
                <a:solidFill>
                  <a:srgbClr val="273239"/>
                </a:solidFill>
                <a:effectLst/>
                <a:highlight>
                  <a:srgbClr val="FFFFFF"/>
                </a:highlight>
                <a:latin typeface="Consolas" panose="020B0609020204030204" pitchFamily="49" charset="0"/>
              </a:rPr>
              <a:t>        </a:t>
            </a:r>
            <a:r>
              <a:rPr lang="en-US" b="0" i="0" dirty="0" err="1">
                <a:solidFill>
                  <a:srgbClr val="273239"/>
                </a:solidFill>
                <a:effectLst/>
                <a:highlight>
                  <a:srgbClr val="FFFFFF"/>
                </a:highlight>
                <a:latin typeface="Consolas" panose="020B0609020204030204" pitchFamily="49" charset="0"/>
              </a:rPr>
              <a:t>System.out.println</a:t>
            </a:r>
            <a:r>
              <a:rPr lang="en-US" b="0" i="0" dirty="0">
                <a:solidFill>
                  <a:srgbClr val="273239"/>
                </a:solidFill>
                <a:effectLst/>
                <a:highlight>
                  <a:srgbClr val="FFFFFF"/>
                </a:highlight>
                <a:latin typeface="Consolas" panose="020B0609020204030204" pitchFamily="49" charset="0"/>
              </a:rPr>
              <a:t>("Commercial Airplane: " + message);}</a:t>
            </a:r>
          </a:p>
        </p:txBody>
      </p:sp>
    </p:spTree>
    <p:extLst>
      <p:ext uri="{BB962C8B-B14F-4D97-AF65-F5344CB8AC3E}">
        <p14:creationId xmlns:p14="http://schemas.microsoft.com/office/powerpoint/2010/main" val="24410067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94D38-83E5-4510-A362-8CF0254B6175}"/>
              </a:ext>
            </a:extLst>
          </p:cNvPr>
          <p:cNvSpPr>
            <a:spLocks noGrp="1"/>
          </p:cNvSpPr>
          <p:nvPr>
            <p:ph type="title"/>
          </p:nvPr>
        </p:nvSpPr>
        <p:spPr/>
        <p:txBody>
          <a:bodyPr/>
          <a:lstStyle/>
          <a:p>
            <a:r>
              <a:rPr lang="en-US" dirty="0"/>
              <a:t>Implementing Mediator</a:t>
            </a:r>
          </a:p>
        </p:txBody>
      </p:sp>
      <p:sp>
        <p:nvSpPr>
          <p:cNvPr id="3" name="Content Placeholder 2">
            <a:extLst>
              <a:ext uri="{FF2B5EF4-FFF2-40B4-BE49-F238E27FC236}">
                <a16:creationId xmlns:a16="http://schemas.microsoft.com/office/drawing/2014/main" id="{54D49065-D50B-6BB8-8DD7-F0E111603A44}"/>
              </a:ext>
            </a:extLst>
          </p:cNvPr>
          <p:cNvSpPr>
            <a:spLocks noGrp="1"/>
          </p:cNvSpPr>
          <p:nvPr>
            <p:ph idx="1"/>
          </p:nvPr>
        </p:nvSpPr>
        <p:spPr/>
        <p:txBody>
          <a:bodyPr/>
          <a:lstStyle/>
          <a:p>
            <a:pPr marL="0" indent="0">
              <a:buNone/>
            </a:pPr>
            <a:r>
              <a:rPr lang="en-US" sz="2000" dirty="0">
                <a:latin typeface="Source Sans Pro" panose="020B0503030403020204" pitchFamily="34" charset="0"/>
                <a:ea typeface="Source Sans Pro" panose="020B0503030403020204" pitchFamily="34" charset="0"/>
              </a:rPr>
              <a:t>public interface </a:t>
            </a:r>
            <a:r>
              <a:rPr lang="en-US" sz="2000" dirty="0" err="1">
                <a:latin typeface="Source Sans Pro" panose="020B0503030403020204" pitchFamily="34" charset="0"/>
                <a:ea typeface="Source Sans Pro" panose="020B0503030403020204" pitchFamily="34" charset="0"/>
              </a:rPr>
              <a:t>ControlTower</a:t>
            </a:r>
            <a:r>
              <a:rPr lang="en-US" sz="2000" dirty="0">
                <a:latin typeface="Source Sans Pro" panose="020B0503030403020204" pitchFamily="34" charset="0"/>
                <a:ea typeface="Source Sans Pro" panose="020B0503030403020204" pitchFamily="34" charset="0"/>
              </a:rPr>
              <a:t> { </a:t>
            </a:r>
            <a:r>
              <a:rPr lang="en-US" sz="2000" dirty="0">
                <a:solidFill>
                  <a:schemeClr val="tx2">
                    <a:lumMod val="65000"/>
                    <a:lumOff val="35000"/>
                  </a:schemeClr>
                </a:solidFill>
                <a:latin typeface="Source Sans Pro" panose="020B0503030403020204" pitchFamily="34" charset="0"/>
                <a:ea typeface="Source Sans Pro" panose="020B0503030403020204" pitchFamily="34" charset="0"/>
              </a:rPr>
              <a:t>// Mediator Interface</a:t>
            </a:r>
            <a:endParaRPr lang="en-US" sz="2000" dirty="0">
              <a:latin typeface="Source Sans Pro" panose="020B0503030403020204" pitchFamily="34" charset="0"/>
              <a:ea typeface="Source Sans Pro" panose="020B0503030403020204" pitchFamily="34" charset="0"/>
            </a:endParaRPr>
          </a:p>
          <a:p>
            <a:pPr marL="0" indent="0">
              <a:buNone/>
            </a:pPr>
            <a:r>
              <a:rPr lang="en-US" sz="2000" dirty="0">
                <a:latin typeface="Source Sans Pro" panose="020B0503030403020204" pitchFamily="34" charset="0"/>
                <a:ea typeface="Source Sans Pro" panose="020B0503030403020204" pitchFamily="34" charset="0"/>
              </a:rPr>
              <a:t>	void </a:t>
            </a:r>
            <a:r>
              <a:rPr lang="en-US" sz="2000" dirty="0" err="1">
                <a:latin typeface="Source Sans Pro" panose="020B0503030403020204" pitchFamily="34" charset="0"/>
                <a:ea typeface="Source Sans Pro" panose="020B0503030403020204" pitchFamily="34" charset="0"/>
              </a:rPr>
              <a:t>requestTakeoff</a:t>
            </a:r>
            <a:r>
              <a:rPr lang="en-US" sz="2000" dirty="0">
                <a:latin typeface="Source Sans Pro" panose="020B0503030403020204" pitchFamily="34" charset="0"/>
                <a:ea typeface="Source Sans Pro" panose="020B0503030403020204" pitchFamily="34" charset="0"/>
              </a:rPr>
              <a:t>(Airplane airplane);</a:t>
            </a:r>
          </a:p>
          <a:p>
            <a:pPr marL="0" indent="0">
              <a:buNone/>
            </a:pPr>
            <a:r>
              <a:rPr lang="en-US" sz="2000" dirty="0">
                <a:latin typeface="Source Sans Pro" panose="020B0503030403020204" pitchFamily="34" charset="0"/>
                <a:ea typeface="Source Sans Pro" panose="020B0503030403020204" pitchFamily="34" charset="0"/>
              </a:rPr>
              <a:t>	void </a:t>
            </a:r>
            <a:r>
              <a:rPr lang="en-US" sz="2000" dirty="0" err="1">
                <a:latin typeface="Source Sans Pro" panose="020B0503030403020204" pitchFamily="34" charset="0"/>
                <a:ea typeface="Source Sans Pro" panose="020B0503030403020204" pitchFamily="34" charset="0"/>
              </a:rPr>
              <a:t>requestLanding</a:t>
            </a:r>
            <a:r>
              <a:rPr lang="en-US" sz="2000" dirty="0">
                <a:latin typeface="Source Sans Pro" panose="020B0503030403020204" pitchFamily="34" charset="0"/>
                <a:ea typeface="Source Sans Pro" panose="020B0503030403020204" pitchFamily="34" charset="0"/>
              </a:rPr>
              <a:t>(Airplane airplane);</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 Concrete Mediator</a:t>
            </a:r>
          </a:p>
          <a:p>
            <a:pPr marL="0" indent="0">
              <a:buNone/>
            </a:pPr>
            <a:r>
              <a:rPr lang="en-US" sz="2000" dirty="0">
                <a:latin typeface="Source Sans Pro" panose="020B0503030403020204" pitchFamily="34" charset="0"/>
                <a:ea typeface="Source Sans Pro" panose="020B0503030403020204" pitchFamily="34" charset="0"/>
              </a:rPr>
              <a:t>public class </a:t>
            </a:r>
            <a:r>
              <a:rPr lang="en-US" sz="2000" dirty="0" err="1">
                <a:latin typeface="Source Sans Pro" panose="020B0503030403020204" pitchFamily="34" charset="0"/>
                <a:ea typeface="Source Sans Pro" panose="020B0503030403020204" pitchFamily="34" charset="0"/>
              </a:rPr>
              <a:t>AirportController</a:t>
            </a:r>
            <a:r>
              <a:rPr lang="en-US" sz="2000" dirty="0">
                <a:latin typeface="Source Sans Pro" panose="020B0503030403020204" pitchFamily="34" charset="0"/>
                <a:ea typeface="Source Sans Pro" panose="020B0503030403020204" pitchFamily="34" charset="0"/>
              </a:rPr>
              <a:t> implements </a:t>
            </a:r>
            <a:r>
              <a:rPr lang="en-US" sz="2000" dirty="0" err="1">
                <a:latin typeface="Source Sans Pro" panose="020B0503030403020204" pitchFamily="34" charset="0"/>
                <a:ea typeface="Source Sans Pro" panose="020B0503030403020204" pitchFamily="34" charset="0"/>
              </a:rPr>
              <a:t>ControlTower</a:t>
            </a: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public void </a:t>
            </a:r>
            <a:r>
              <a:rPr lang="en-US" sz="2000" dirty="0" err="1">
                <a:latin typeface="Source Sans Pro" panose="020B0503030403020204" pitchFamily="34" charset="0"/>
                <a:ea typeface="Source Sans Pro" panose="020B0503030403020204" pitchFamily="34" charset="0"/>
              </a:rPr>
              <a:t>requestTakeoff</a:t>
            </a:r>
            <a:r>
              <a:rPr lang="en-US" sz="2000" dirty="0">
                <a:latin typeface="Source Sans Pro" panose="020B0503030403020204" pitchFamily="34" charset="0"/>
                <a:ea typeface="Source Sans Pro" panose="020B0503030403020204" pitchFamily="34" charset="0"/>
              </a:rPr>
              <a:t>(Airplane airplane) {</a:t>
            </a:r>
          </a:p>
          <a:p>
            <a:pPr marL="0" indent="0">
              <a:buNone/>
            </a:pPr>
            <a:r>
              <a:rPr lang="en-US" sz="2000" dirty="0">
                <a:latin typeface="Source Sans Pro" panose="020B0503030403020204" pitchFamily="34" charset="0"/>
                <a:ea typeface="Source Sans Pro" panose="020B0503030403020204" pitchFamily="34" charset="0"/>
              </a:rPr>
              <a:t> 	// Logic for coordinating takeoff</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airplane.notifyAirTrafficControl</a:t>
            </a:r>
            <a:r>
              <a:rPr lang="en-US" sz="2000" dirty="0">
                <a:latin typeface="Source Sans Pro" panose="020B0503030403020204" pitchFamily="34" charset="0"/>
                <a:ea typeface="Source Sans Pro" panose="020B0503030403020204" pitchFamily="34" charset="0"/>
              </a:rPr>
              <a:t>("Requesting takeoff clearance.");</a:t>
            </a:r>
          </a:p>
          <a:p>
            <a:pPr marL="0" indent="0">
              <a:buNone/>
            </a:pP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public void </a:t>
            </a:r>
            <a:r>
              <a:rPr lang="en-US" sz="2000" dirty="0" err="1">
                <a:latin typeface="Source Sans Pro" panose="020B0503030403020204" pitchFamily="34" charset="0"/>
                <a:ea typeface="Source Sans Pro" panose="020B0503030403020204" pitchFamily="34" charset="0"/>
              </a:rPr>
              <a:t>requestLanding</a:t>
            </a:r>
            <a:r>
              <a:rPr lang="en-US" sz="2000" dirty="0">
                <a:latin typeface="Source Sans Pro" panose="020B0503030403020204" pitchFamily="34" charset="0"/>
                <a:ea typeface="Source Sans Pro" panose="020B0503030403020204" pitchFamily="34" charset="0"/>
              </a:rPr>
              <a:t>(Airplane airplane) {</a:t>
            </a:r>
          </a:p>
          <a:p>
            <a:pPr marL="0" indent="0">
              <a:buNone/>
            </a:pPr>
            <a:r>
              <a:rPr lang="en-US" sz="2000" dirty="0">
                <a:latin typeface="Source Sans Pro" panose="020B0503030403020204" pitchFamily="34" charset="0"/>
                <a:ea typeface="Source Sans Pro" panose="020B0503030403020204" pitchFamily="34" charset="0"/>
              </a:rPr>
              <a:t>	// Logic for coordinating landing</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airplane.notifyAirTrafficControl</a:t>
            </a:r>
            <a:r>
              <a:rPr lang="en-US" sz="2000" dirty="0">
                <a:latin typeface="Source Sans Pro" panose="020B0503030403020204" pitchFamily="34" charset="0"/>
                <a:ea typeface="Source Sans Pro" panose="020B0503030403020204" pitchFamily="34" charset="0"/>
              </a:rPr>
              <a:t>("Requesting landing clearance.")  }</a:t>
            </a:r>
          </a:p>
          <a:p>
            <a:pPr marL="0" indent="0">
              <a:buNone/>
            </a:pPr>
            <a:r>
              <a:rPr lang="en-US" sz="2000" dirty="0">
                <a:latin typeface="Source Sans Pro" panose="020B0503030403020204" pitchFamily="34" charset="0"/>
                <a:ea typeface="Source Sans Pro" panose="020B0503030403020204" pitchFamily="34" charset="0"/>
              </a:rPr>
              <a:t>  private List&lt;Airplanes&gt;;</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endParaRPr lang="en-US" sz="20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4953943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123992D8-2D9D-3489-ECE4-9ABC25063978}"/>
              </a:ext>
            </a:extLst>
          </p:cNvPr>
          <p:cNvSpPr>
            <a:spLocks noGrp="1" noChangeArrowheads="1"/>
          </p:cNvSpPr>
          <p:nvPr>
            <p:ph type="title"/>
          </p:nvPr>
        </p:nvSpPr>
        <p:spPr/>
        <p:txBody>
          <a:bodyPr/>
          <a:lstStyle/>
          <a:p>
            <a:pPr eaLnBrk="1" hangingPunct="1"/>
            <a:r>
              <a:rPr lang="en-US" altLang="tr-TR" dirty="0"/>
              <a:t>Implementation issues-1</a:t>
            </a:r>
          </a:p>
        </p:txBody>
      </p:sp>
      <p:sp>
        <p:nvSpPr>
          <p:cNvPr id="45059" name="Rectangle 3">
            <a:extLst>
              <a:ext uri="{FF2B5EF4-FFF2-40B4-BE49-F238E27FC236}">
                <a16:creationId xmlns:a16="http://schemas.microsoft.com/office/drawing/2014/main" id="{3D22D965-EDBE-5F34-F4FF-EDDB2A5C2912}"/>
              </a:ext>
            </a:extLst>
          </p:cNvPr>
          <p:cNvSpPr>
            <a:spLocks noGrp="1" noChangeArrowheads="1"/>
          </p:cNvSpPr>
          <p:nvPr>
            <p:ph idx="1"/>
          </p:nvPr>
        </p:nvSpPr>
        <p:spPr>
          <a:xfrm>
            <a:off x="457200" y="1335291"/>
            <a:ext cx="8579296" cy="4532109"/>
          </a:xfrm>
        </p:spPr>
        <p:txBody>
          <a:bodyPr/>
          <a:lstStyle/>
          <a:p>
            <a:pPr marL="0" indent="0" eaLnBrk="1" hangingPunct="1">
              <a:lnSpc>
                <a:spcPct val="110000"/>
              </a:lnSpc>
              <a:buNone/>
            </a:pPr>
            <a:r>
              <a:rPr lang="en-US" altLang="tr-TR" sz="2800" dirty="0">
                <a:latin typeface="+mj-lt"/>
              </a:rPr>
              <a:t>Colleague-Mediator communication</a:t>
            </a:r>
          </a:p>
          <a:p>
            <a:pPr>
              <a:lnSpc>
                <a:spcPct val="110000"/>
              </a:lnSpc>
            </a:pPr>
            <a:r>
              <a:rPr lang="en-US" altLang="tr-TR" sz="2800" dirty="0">
                <a:latin typeface="+mj-lt"/>
              </a:rPr>
              <a:t>Choice1: Mediator observing colleagues (subjects) </a:t>
            </a:r>
          </a:p>
          <a:p>
            <a:pPr lvl="1">
              <a:lnSpc>
                <a:spcPct val="110000"/>
              </a:lnSpc>
            </a:pPr>
            <a:r>
              <a:rPr lang="en-US" altLang="en-US" sz="2400" dirty="0">
                <a:latin typeface="+mj-lt"/>
              </a:rPr>
              <a:t> Each time a change is made in the state of a colleague object, the mediator gets notified </a:t>
            </a:r>
          </a:p>
          <a:p>
            <a:pPr lvl="1">
              <a:lnSpc>
                <a:spcPct val="110000"/>
              </a:lnSpc>
            </a:pPr>
            <a:r>
              <a:rPr lang="en-US" altLang="en-US" sz="2400" dirty="0">
                <a:latin typeface="+mj-lt"/>
              </a:rPr>
              <a:t>Then, mediator notifies all other colleague objects.</a:t>
            </a:r>
            <a:endParaRPr lang="en-US" altLang="tr-TR" sz="2400" dirty="0">
              <a:latin typeface="+mj-lt"/>
            </a:endParaRPr>
          </a:p>
          <a:p>
            <a:pPr>
              <a:lnSpc>
                <a:spcPct val="110000"/>
              </a:lnSpc>
            </a:pPr>
            <a:r>
              <a:rPr lang="en-US" altLang="tr-TR" sz="2800" dirty="0">
                <a:latin typeface="+mj-lt"/>
              </a:rPr>
              <a:t>Choice 2: </a:t>
            </a:r>
            <a:r>
              <a:rPr lang="en-US" sz="2800" b="0" i="0" dirty="0">
                <a:solidFill>
                  <a:srgbClr val="000000"/>
                </a:solidFill>
                <a:effectLst/>
                <a:latin typeface="+mj-lt"/>
              </a:rPr>
              <a:t>When communicating with the mediator, a colleague passes itself as an argument, allowing the mediator to identify the sender. </a:t>
            </a:r>
          </a:p>
          <a:p>
            <a:pPr lvl="1">
              <a:lnSpc>
                <a:spcPct val="110000"/>
              </a:lnSpc>
            </a:pPr>
            <a:r>
              <a:rPr lang="en-US" altLang="tr-TR" sz="2400" dirty="0">
                <a:solidFill>
                  <a:srgbClr val="000000"/>
                </a:solidFill>
                <a:latin typeface="+mj-lt"/>
              </a:rPr>
              <a:t>Airplane example</a:t>
            </a:r>
            <a:endParaRPr lang="en-US" altLang="tr-TR" sz="2400" dirty="0">
              <a:latin typeface="+mj-lt"/>
            </a:endParaRPr>
          </a:p>
          <a:p>
            <a:pPr>
              <a:lnSpc>
                <a:spcPct val="110000"/>
              </a:lnSpc>
            </a:pPr>
            <a:r>
              <a:rPr lang="en-US" altLang="tr-TR" sz="2800" dirty="0">
                <a:latin typeface="+mj-lt"/>
              </a:rPr>
              <a:t>Message queue in mediator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30176883-6878-D8B8-8867-BF2DF5558846}"/>
              </a:ext>
            </a:extLst>
          </p:cNvPr>
          <p:cNvSpPr>
            <a:spLocks noGrp="1"/>
          </p:cNvSpPr>
          <p:nvPr>
            <p:ph type="title"/>
          </p:nvPr>
        </p:nvSpPr>
        <p:spPr/>
        <p:txBody>
          <a:bodyPr/>
          <a:lstStyle/>
          <a:p>
            <a:r>
              <a:rPr lang="en-US" altLang="en-US" dirty="0"/>
              <a:t>Implementation issues -2</a:t>
            </a:r>
            <a:endParaRPr lang="tr-TR" altLang="en-US" dirty="0"/>
          </a:p>
        </p:txBody>
      </p:sp>
      <p:sp>
        <p:nvSpPr>
          <p:cNvPr id="44035" name="Content Placeholder 2">
            <a:extLst>
              <a:ext uri="{FF2B5EF4-FFF2-40B4-BE49-F238E27FC236}">
                <a16:creationId xmlns:a16="http://schemas.microsoft.com/office/drawing/2014/main" id="{38135258-4275-5A98-A7FB-F8835653B528}"/>
              </a:ext>
            </a:extLst>
          </p:cNvPr>
          <p:cNvSpPr>
            <a:spLocks noGrp="1"/>
          </p:cNvSpPr>
          <p:nvPr>
            <p:ph idx="1"/>
          </p:nvPr>
        </p:nvSpPr>
        <p:spPr/>
        <p:txBody>
          <a:bodyPr/>
          <a:lstStyle/>
          <a:p>
            <a:r>
              <a:rPr lang="en-US" altLang="en-US" sz="2800" dirty="0"/>
              <a:t>If colleagues are going to use only one mediator, no need to define Abstract Mediator. </a:t>
            </a:r>
          </a:p>
          <a:p>
            <a:pPr lvl="1"/>
            <a:r>
              <a:rPr lang="en-US" altLang="en-US" sz="2400" dirty="0"/>
              <a:t>The definition of an abstract Mediator is required only if the colleagues needs to work with different mediators.</a:t>
            </a:r>
          </a:p>
          <a:p>
            <a:r>
              <a:rPr lang="en-US" altLang="en-US" sz="2800" dirty="0"/>
              <a:t>Complexity of the mediator could be a problem when there are a lot of  participants</a:t>
            </a:r>
          </a:p>
          <a:p>
            <a:r>
              <a:rPr lang="en-US" altLang="en-US" sz="2800" dirty="0"/>
              <a:t>When not all colleagues are of the same abstract type</a:t>
            </a:r>
            <a:endParaRPr lang="tr-TR" altLang="en-US" sz="2800" dirty="0"/>
          </a:p>
          <a:p>
            <a:pPr lvl="1"/>
            <a:r>
              <a:rPr lang="en-US" altLang="en-US" sz="2400" dirty="0"/>
              <a:t>Mediator becomes tightly coupled</a:t>
            </a:r>
          </a:p>
          <a:p>
            <a:pPr lvl="1"/>
            <a:r>
              <a:rPr lang="en-US" altLang="en-US" sz="2400" dirty="0"/>
              <a:t>Mediator logic becomes complex</a:t>
            </a:r>
          </a:p>
          <a:p>
            <a:pPr lvl="1"/>
            <a:r>
              <a:rPr lang="en-US" altLang="en-US" sz="2400" dirty="0"/>
              <a:t>Adapter?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3F08B-27BC-5F23-E487-38B83B8AE23D}"/>
              </a:ext>
            </a:extLst>
          </p:cNvPr>
          <p:cNvSpPr>
            <a:spLocks noGrp="1"/>
          </p:cNvSpPr>
          <p:nvPr>
            <p:ph type="title"/>
          </p:nvPr>
        </p:nvSpPr>
        <p:spPr/>
        <p:txBody>
          <a:bodyPr/>
          <a:lstStyle/>
          <a:p>
            <a:r>
              <a:rPr lang="en-US" sz="3600" dirty="0"/>
              <a:t>Back to Example 1: </a:t>
            </a:r>
            <a:r>
              <a:rPr lang="en-US" dirty="0" err="1"/>
              <a:t>DialogDirector</a:t>
            </a:r>
            <a:endParaRPr lang="en-US" dirty="0"/>
          </a:p>
        </p:txBody>
      </p:sp>
      <p:sp>
        <p:nvSpPr>
          <p:cNvPr id="3" name="Content Placeholder 2">
            <a:extLst>
              <a:ext uri="{FF2B5EF4-FFF2-40B4-BE49-F238E27FC236}">
                <a16:creationId xmlns:a16="http://schemas.microsoft.com/office/drawing/2014/main" id="{E3F92F57-5CEB-499D-D7E5-E222B7503A1A}"/>
              </a:ext>
            </a:extLst>
          </p:cNvPr>
          <p:cNvSpPr>
            <a:spLocks noGrp="1"/>
          </p:cNvSpPr>
          <p:nvPr>
            <p:ph idx="1"/>
          </p:nvPr>
        </p:nvSpPr>
        <p:spPr>
          <a:xfrm>
            <a:off x="457200" y="1335291"/>
            <a:ext cx="5122912" cy="4532109"/>
          </a:xfrm>
        </p:spPr>
        <p:txBody>
          <a:bodyPr/>
          <a:lstStyle/>
          <a:p>
            <a:pPr marL="0" indent="0" algn="l">
              <a:buNone/>
            </a:pPr>
            <a:r>
              <a:rPr lang="en-US" sz="2400" dirty="0">
                <a:solidFill>
                  <a:srgbClr val="000000"/>
                </a:solidFill>
                <a:latin typeface="Times New Roman" panose="02020603050405020304" pitchFamily="18" charset="0"/>
              </a:rPr>
              <a:t>When an item in the list box is selected</a:t>
            </a:r>
            <a:endParaRPr lang="en-US" sz="2400" b="0" i="0" dirty="0">
              <a:solidFill>
                <a:srgbClr val="000000"/>
              </a:solidFill>
              <a:effectLst/>
              <a:latin typeface="Times New Roman" panose="02020603050405020304" pitchFamily="18" charset="0"/>
            </a:endParaRPr>
          </a:p>
          <a:p>
            <a:pPr algn="l">
              <a:buFont typeface="+mj-lt"/>
              <a:buAutoNum type="arabicPeriod"/>
            </a:pPr>
            <a:r>
              <a:rPr lang="en-US" sz="2400" b="0" i="0" dirty="0">
                <a:solidFill>
                  <a:srgbClr val="000000"/>
                </a:solidFill>
                <a:effectLst/>
                <a:latin typeface="Times New Roman" panose="02020603050405020304" pitchFamily="18" charset="0"/>
              </a:rPr>
              <a:t>The list box tells its director that it's changed.</a:t>
            </a:r>
          </a:p>
          <a:p>
            <a:pPr algn="l">
              <a:buFont typeface="+mj-lt"/>
              <a:buAutoNum type="arabicPeriod"/>
            </a:pPr>
            <a:r>
              <a:rPr lang="en-US" sz="2400" b="0" i="0" dirty="0">
                <a:solidFill>
                  <a:srgbClr val="000000"/>
                </a:solidFill>
                <a:effectLst/>
                <a:latin typeface="Times New Roman" panose="02020603050405020304" pitchFamily="18" charset="0"/>
              </a:rPr>
              <a:t>The director gets the selection from the list box.</a:t>
            </a:r>
          </a:p>
          <a:p>
            <a:pPr algn="l">
              <a:buFont typeface="+mj-lt"/>
              <a:buAutoNum type="arabicPeriod"/>
            </a:pPr>
            <a:r>
              <a:rPr lang="en-US" sz="2400" b="0" i="0" dirty="0">
                <a:solidFill>
                  <a:srgbClr val="000000"/>
                </a:solidFill>
                <a:effectLst/>
                <a:latin typeface="Times New Roman" panose="02020603050405020304" pitchFamily="18" charset="0"/>
              </a:rPr>
              <a:t>The director passes the selection to the entry field.</a:t>
            </a:r>
          </a:p>
          <a:p>
            <a:pPr algn="l">
              <a:buFont typeface="+mj-lt"/>
              <a:buAutoNum type="arabicPeriod"/>
            </a:pPr>
            <a:r>
              <a:rPr lang="en-US" sz="2400" b="0" i="0" dirty="0">
                <a:solidFill>
                  <a:srgbClr val="000000"/>
                </a:solidFill>
                <a:effectLst/>
                <a:latin typeface="Times New Roman" panose="02020603050405020304" pitchFamily="18" charset="0"/>
              </a:rPr>
              <a:t>Now that the entry field contains some text, the director enables button(s) for initiating an action</a:t>
            </a:r>
          </a:p>
          <a:p>
            <a:endParaRPr lang="en-US" sz="2400" dirty="0"/>
          </a:p>
        </p:txBody>
      </p:sp>
      <p:pic>
        <p:nvPicPr>
          <p:cNvPr id="4" name="Picture 4">
            <a:extLst>
              <a:ext uri="{FF2B5EF4-FFF2-40B4-BE49-F238E27FC236}">
                <a16:creationId xmlns:a16="http://schemas.microsoft.com/office/drawing/2014/main" id="{A01A4A70-CB87-632A-4055-4FB282324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5950" y="1370548"/>
            <a:ext cx="2990850"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6242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B973B-0105-E0A0-1166-3CB42D920DC8}"/>
              </a:ext>
            </a:extLst>
          </p:cNvPr>
          <p:cNvSpPr>
            <a:spLocks noGrp="1"/>
          </p:cNvSpPr>
          <p:nvPr>
            <p:ph type="title"/>
          </p:nvPr>
        </p:nvSpPr>
        <p:spPr/>
        <p:txBody>
          <a:bodyPr/>
          <a:lstStyle/>
          <a:p>
            <a:r>
              <a:rPr lang="en-US" dirty="0"/>
              <a:t>Example 1: </a:t>
            </a:r>
            <a:r>
              <a:rPr lang="en-US" dirty="0" err="1"/>
              <a:t>DialogDirector</a:t>
            </a:r>
            <a:endParaRPr lang="en-US" dirty="0"/>
          </a:p>
        </p:txBody>
      </p:sp>
      <p:pic>
        <p:nvPicPr>
          <p:cNvPr id="5" name="Picture 4">
            <a:extLst>
              <a:ext uri="{FF2B5EF4-FFF2-40B4-BE49-F238E27FC236}">
                <a16:creationId xmlns:a16="http://schemas.microsoft.com/office/drawing/2014/main" id="{49FA1477-A0A4-41C7-04D0-8605423EE3F7}"/>
              </a:ext>
            </a:extLst>
          </p:cNvPr>
          <p:cNvPicPr>
            <a:picLocks noChangeAspect="1"/>
          </p:cNvPicPr>
          <p:nvPr/>
        </p:nvPicPr>
        <p:blipFill>
          <a:blip r:embed="rId2"/>
          <a:stretch>
            <a:fillRect/>
          </a:stretch>
        </p:blipFill>
        <p:spPr>
          <a:xfrm>
            <a:off x="323528" y="1675238"/>
            <a:ext cx="8748464" cy="3507524"/>
          </a:xfrm>
          <a:prstGeom prst="rect">
            <a:avLst/>
          </a:prstGeom>
        </p:spPr>
      </p:pic>
      <p:pic>
        <p:nvPicPr>
          <p:cNvPr id="6" name="Picture 4">
            <a:extLst>
              <a:ext uri="{FF2B5EF4-FFF2-40B4-BE49-F238E27FC236}">
                <a16:creationId xmlns:a16="http://schemas.microsoft.com/office/drawing/2014/main" id="{B9561C96-57FB-40DA-BB2B-F35EB097D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307" y="4653136"/>
            <a:ext cx="2990850"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8391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1C4F5-10FF-E220-CB3A-86CF822CF2A9}"/>
              </a:ext>
            </a:extLst>
          </p:cNvPr>
          <p:cNvSpPr>
            <a:spLocks noGrp="1"/>
          </p:cNvSpPr>
          <p:nvPr>
            <p:ph type="title"/>
          </p:nvPr>
        </p:nvSpPr>
        <p:spPr/>
        <p:txBody>
          <a:bodyPr/>
          <a:lstStyle/>
          <a:p>
            <a:r>
              <a:rPr lang="en-US" dirty="0"/>
              <a:t>Example1: Colleagues</a:t>
            </a:r>
          </a:p>
        </p:txBody>
      </p:sp>
      <p:pic>
        <p:nvPicPr>
          <p:cNvPr id="6" name="Picture 5">
            <a:extLst>
              <a:ext uri="{FF2B5EF4-FFF2-40B4-BE49-F238E27FC236}">
                <a16:creationId xmlns:a16="http://schemas.microsoft.com/office/drawing/2014/main" id="{7512DF79-1576-9409-ABB6-44410F2A7D7D}"/>
              </a:ext>
            </a:extLst>
          </p:cNvPr>
          <p:cNvPicPr>
            <a:picLocks noChangeAspect="1"/>
          </p:cNvPicPr>
          <p:nvPr/>
        </p:nvPicPr>
        <p:blipFill>
          <a:blip r:embed="rId2"/>
          <a:stretch>
            <a:fillRect/>
          </a:stretch>
        </p:blipFill>
        <p:spPr>
          <a:xfrm>
            <a:off x="611560" y="1431231"/>
            <a:ext cx="5868219" cy="2610214"/>
          </a:xfrm>
          <a:prstGeom prst="rect">
            <a:avLst/>
          </a:prstGeom>
        </p:spPr>
      </p:pic>
      <p:pic>
        <p:nvPicPr>
          <p:cNvPr id="8" name="Picture 7">
            <a:extLst>
              <a:ext uri="{FF2B5EF4-FFF2-40B4-BE49-F238E27FC236}">
                <a16:creationId xmlns:a16="http://schemas.microsoft.com/office/drawing/2014/main" id="{D81BDCE4-5E41-44A7-59CC-FACAFF0A444B}"/>
              </a:ext>
            </a:extLst>
          </p:cNvPr>
          <p:cNvPicPr>
            <a:picLocks noChangeAspect="1"/>
          </p:cNvPicPr>
          <p:nvPr/>
        </p:nvPicPr>
        <p:blipFill>
          <a:blip r:embed="rId3"/>
          <a:stretch>
            <a:fillRect/>
          </a:stretch>
        </p:blipFill>
        <p:spPr>
          <a:xfrm>
            <a:off x="611560" y="4149080"/>
            <a:ext cx="4363059" cy="857370"/>
          </a:xfrm>
          <a:prstGeom prst="rect">
            <a:avLst/>
          </a:prstGeom>
        </p:spPr>
      </p:pic>
    </p:spTree>
    <p:extLst>
      <p:ext uri="{BB962C8B-B14F-4D97-AF65-F5344CB8AC3E}">
        <p14:creationId xmlns:p14="http://schemas.microsoft.com/office/powerpoint/2010/main" val="10559499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BACD-2BB2-010D-DA72-2E7A5DAECB61}"/>
              </a:ext>
            </a:extLst>
          </p:cNvPr>
          <p:cNvSpPr>
            <a:spLocks noGrp="1"/>
          </p:cNvSpPr>
          <p:nvPr>
            <p:ph type="title"/>
          </p:nvPr>
        </p:nvSpPr>
        <p:spPr/>
        <p:txBody>
          <a:bodyPr/>
          <a:lstStyle/>
          <a:p>
            <a:r>
              <a:rPr lang="en-US" dirty="0"/>
              <a:t>Concrete Colleagues</a:t>
            </a:r>
          </a:p>
        </p:txBody>
      </p:sp>
      <p:pic>
        <p:nvPicPr>
          <p:cNvPr id="6" name="Picture 5">
            <a:extLst>
              <a:ext uri="{FF2B5EF4-FFF2-40B4-BE49-F238E27FC236}">
                <a16:creationId xmlns:a16="http://schemas.microsoft.com/office/drawing/2014/main" id="{357CF744-98DF-A821-7EA6-04C94BC2908C}"/>
              </a:ext>
            </a:extLst>
          </p:cNvPr>
          <p:cNvPicPr>
            <a:picLocks noChangeAspect="1"/>
          </p:cNvPicPr>
          <p:nvPr/>
        </p:nvPicPr>
        <p:blipFill>
          <a:blip r:embed="rId2"/>
          <a:stretch>
            <a:fillRect/>
          </a:stretch>
        </p:blipFill>
        <p:spPr>
          <a:xfrm>
            <a:off x="459439" y="1219130"/>
            <a:ext cx="5868219" cy="3353268"/>
          </a:xfrm>
          <a:prstGeom prst="rect">
            <a:avLst/>
          </a:prstGeom>
        </p:spPr>
      </p:pic>
      <p:pic>
        <p:nvPicPr>
          <p:cNvPr id="4" name="Picture 3">
            <a:extLst>
              <a:ext uri="{FF2B5EF4-FFF2-40B4-BE49-F238E27FC236}">
                <a16:creationId xmlns:a16="http://schemas.microsoft.com/office/drawing/2014/main" id="{24C9261A-71CA-313F-5C62-9FA1A8AEF2C1}"/>
              </a:ext>
            </a:extLst>
          </p:cNvPr>
          <p:cNvPicPr>
            <a:picLocks noChangeAspect="1"/>
          </p:cNvPicPr>
          <p:nvPr/>
        </p:nvPicPr>
        <p:blipFill>
          <a:blip r:embed="rId3"/>
          <a:stretch>
            <a:fillRect/>
          </a:stretch>
        </p:blipFill>
        <p:spPr>
          <a:xfrm>
            <a:off x="3059832" y="4450633"/>
            <a:ext cx="5953956" cy="2333951"/>
          </a:xfrm>
          <a:prstGeom prst="rect">
            <a:avLst/>
          </a:prstGeom>
        </p:spPr>
      </p:pic>
    </p:spTree>
    <p:extLst>
      <p:ext uri="{BB962C8B-B14F-4D97-AF65-F5344CB8AC3E}">
        <p14:creationId xmlns:p14="http://schemas.microsoft.com/office/powerpoint/2010/main" val="34381766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1C4F5-10FF-E220-CB3A-86CF822CF2A9}"/>
              </a:ext>
            </a:extLst>
          </p:cNvPr>
          <p:cNvSpPr>
            <a:spLocks noGrp="1"/>
          </p:cNvSpPr>
          <p:nvPr>
            <p:ph type="title"/>
          </p:nvPr>
        </p:nvSpPr>
        <p:spPr/>
        <p:txBody>
          <a:bodyPr/>
          <a:lstStyle/>
          <a:p>
            <a:r>
              <a:rPr lang="en-US" dirty="0"/>
              <a:t>Example1: Mediator</a:t>
            </a:r>
          </a:p>
        </p:txBody>
      </p:sp>
      <p:sp>
        <p:nvSpPr>
          <p:cNvPr id="3" name="Content Placeholder 2">
            <a:extLst>
              <a:ext uri="{FF2B5EF4-FFF2-40B4-BE49-F238E27FC236}">
                <a16:creationId xmlns:a16="http://schemas.microsoft.com/office/drawing/2014/main" id="{445BF753-E4FD-6F13-E24E-DE8187901A79}"/>
              </a:ext>
            </a:extLst>
          </p:cNvPr>
          <p:cNvSpPr>
            <a:spLocks noGrp="1"/>
          </p:cNvSpPr>
          <p:nvPr>
            <p:ph idx="1"/>
          </p:nvPr>
        </p:nvSpPr>
        <p:spPr>
          <a:xfrm>
            <a:off x="457200" y="4797152"/>
            <a:ext cx="8229600" cy="1070248"/>
          </a:xfrm>
        </p:spPr>
        <p:txBody>
          <a:bodyPr/>
          <a:lstStyle/>
          <a:p>
            <a:r>
              <a:rPr lang="en-US" dirty="0"/>
              <a:t>Do I see a Factory Method?</a:t>
            </a:r>
          </a:p>
        </p:txBody>
      </p:sp>
      <p:pic>
        <p:nvPicPr>
          <p:cNvPr id="4" name="Picture 3">
            <a:extLst>
              <a:ext uri="{FF2B5EF4-FFF2-40B4-BE49-F238E27FC236}">
                <a16:creationId xmlns:a16="http://schemas.microsoft.com/office/drawing/2014/main" id="{9800A258-8084-56E8-18D3-FA5E9431CD50}"/>
              </a:ext>
            </a:extLst>
          </p:cNvPr>
          <p:cNvPicPr>
            <a:picLocks noChangeAspect="1"/>
          </p:cNvPicPr>
          <p:nvPr/>
        </p:nvPicPr>
        <p:blipFill>
          <a:blip r:embed="rId2"/>
          <a:stretch>
            <a:fillRect/>
          </a:stretch>
        </p:blipFill>
        <p:spPr>
          <a:xfrm>
            <a:off x="611560" y="1556792"/>
            <a:ext cx="5800045" cy="3168352"/>
          </a:xfrm>
          <a:prstGeom prst="rect">
            <a:avLst/>
          </a:prstGeom>
        </p:spPr>
      </p:pic>
    </p:spTree>
    <p:extLst>
      <p:ext uri="{BB962C8B-B14F-4D97-AF65-F5344CB8AC3E}">
        <p14:creationId xmlns:p14="http://schemas.microsoft.com/office/powerpoint/2010/main" val="41685229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1EE478-95AF-A673-FCD4-EEBE70305292}"/>
              </a:ext>
            </a:extLst>
          </p:cNvPr>
          <p:cNvSpPr>
            <a:spLocks noGrp="1"/>
          </p:cNvSpPr>
          <p:nvPr>
            <p:ph type="title"/>
          </p:nvPr>
        </p:nvSpPr>
        <p:spPr/>
        <p:txBody>
          <a:bodyPr/>
          <a:lstStyle/>
          <a:p>
            <a:r>
              <a:rPr lang="en-US" dirty="0"/>
              <a:t>Example1:Concrete Mediator</a:t>
            </a:r>
          </a:p>
        </p:txBody>
      </p:sp>
      <p:pic>
        <p:nvPicPr>
          <p:cNvPr id="6" name="Picture 5">
            <a:extLst>
              <a:ext uri="{FF2B5EF4-FFF2-40B4-BE49-F238E27FC236}">
                <a16:creationId xmlns:a16="http://schemas.microsoft.com/office/drawing/2014/main" id="{7A834CC2-8B1A-F608-4B38-8AAACC9B2AD7}"/>
              </a:ext>
            </a:extLst>
          </p:cNvPr>
          <p:cNvPicPr>
            <a:picLocks noChangeAspect="1"/>
          </p:cNvPicPr>
          <p:nvPr/>
        </p:nvPicPr>
        <p:blipFill>
          <a:blip r:embed="rId2"/>
          <a:stretch>
            <a:fillRect/>
          </a:stretch>
        </p:blipFill>
        <p:spPr>
          <a:xfrm>
            <a:off x="683568" y="1628800"/>
            <a:ext cx="6058746" cy="3820058"/>
          </a:xfrm>
          <a:prstGeom prst="rect">
            <a:avLst/>
          </a:prstGeom>
        </p:spPr>
      </p:pic>
    </p:spTree>
    <p:extLst>
      <p:ext uri="{BB962C8B-B14F-4D97-AF65-F5344CB8AC3E}">
        <p14:creationId xmlns:p14="http://schemas.microsoft.com/office/powerpoint/2010/main" val="9975480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1EE478-95AF-A673-FCD4-EEBE70305292}"/>
              </a:ext>
            </a:extLst>
          </p:cNvPr>
          <p:cNvSpPr>
            <a:spLocks noGrp="1"/>
          </p:cNvSpPr>
          <p:nvPr>
            <p:ph type="title"/>
          </p:nvPr>
        </p:nvSpPr>
        <p:spPr/>
        <p:txBody>
          <a:bodyPr/>
          <a:lstStyle/>
          <a:p>
            <a:r>
              <a:rPr lang="en-US" dirty="0"/>
              <a:t>Example1:Concrete Mediator</a:t>
            </a:r>
          </a:p>
        </p:txBody>
      </p:sp>
      <p:pic>
        <p:nvPicPr>
          <p:cNvPr id="3" name="Picture 2">
            <a:extLst>
              <a:ext uri="{FF2B5EF4-FFF2-40B4-BE49-F238E27FC236}">
                <a16:creationId xmlns:a16="http://schemas.microsoft.com/office/drawing/2014/main" id="{40387593-0722-C0F8-1D94-83B0040D2136}"/>
              </a:ext>
            </a:extLst>
          </p:cNvPr>
          <p:cNvPicPr>
            <a:picLocks noChangeAspect="1"/>
          </p:cNvPicPr>
          <p:nvPr/>
        </p:nvPicPr>
        <p:blipFill>
          <a:blip r:embed="rId2"/>
          <a:stretch>
            <a:fillRect/>
          </a:stretch>
        </p:blipFill>
        <p:spPr>
          <a:xfrm>
            <a:off x="323528" y="5085184"/>
            <a:ext cx="6458851" cy="2495898"/>
          </a:xfrm>
          <a:prstGeom prst="rect">
            <a:avLst/>
          </a:prstGeom>
        </p:spPr>
      </p:pic>
      <p:pic>
        <p:nvPicPr>
          <p:cNvPr id="7" name="Picture 6">
            <a:extLst>
              <a:ext uri="{FF2B5EF4-FFF2-40B4-BE49-F238E27FC236}">
                <a16:creationId xmlns:a16="http://schemas.microsoft.com/office/drawing/2014/main" id="{6A1098CA-A4D5-0CC5-F858-CD61F7BDFC9D}"/>
              </a:ext>
            </a:extLst>
          </p:cNvPr>
          <p:cNvPicPr>
            <a:picLocks noChangeAspect="1"/>
          </p:cNvPicPr>
          <p:nvPr/>
        </p:nvPicPr>
        <p:blipFill>
          <a:blip r:embed="rId3"/>
          <a:stretch>
            <a:fillRect/>
          </a:stretch>
        </p:blipFill>
        <p:spPr>
          <a:xfrm>
            <a:off x="457200" y="1340768"/>
            <a:ext cx="6535062" cy="3591426"/>
          </a:xfrm>
          <a:prstGeom prst="rect">
            <a:avLst/>
          </a:prstGeom>
        </p:spPr>
      </p:pic>
    </p:spTree>
    <p:extLst>
      <p:ext uri="{BB962C8B-B14F-4D97-AF65-F5344CB8AC3E}">
        <p14:creationId xmlns:p14="http://schemas.microsoft.com/office/powerpoint/2010/main" val="14946376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E59B9DDE-0C36-4F42-4730-7A5D8ABFF966}"/>
              </a:ext>
            </a:extLst>
          </p:cNvPr>
          <p:cNvSpPr>
            <a:spLocks noGrp="1" noChangeArrowheads="1"/>
          </p:cNvSpPr>
          <p:nvPr>
            <p:ph type="title"/>
          </p:nvPr>
        </p:nvSpPr>
        <p:spPr/>
        <p:txBody>
          <a:bodyPr/>
          <a:lstStyle/>
          <a:p>
            <a:pPr eaLnBrk="1" hangingPunct="1"/>
            <a:r>
              <a:rPr lang="en-US" altLang="tr-TR" dirty="0"/>
              <a:t>Consequences:  Benefits</a:t>
            </a:r>
          </a:p>
        </p:txBody>
      </p:sp>
      <p:sp>
        <p:nvSpPr>
          <p:cNvPr id="46083" name="Rectangle 3">
            <a:extLst>
              <a:ext uri="{FF2B5EF4-FFF2-40B4-BE49-F238E27FC236}">
                <a16:creationId xmlns:a16="http://schemas.microsoft.com/office/drawing/2014/main" id="{616D8AF2-59DF-0B93-4432-E5809DE669C0}"/>
              </a:ext>
            </a:extLst>
          </p:cNvPr>
          <p:cNvSpPr>
            <a:spLocks noGrp="1" noChangeArrowheads="1"/>
          </p:cNvSpPr>
          <p:nvPr>
            <p:ph idx="1"/>
          </p:nvPr>
        </p:nvSpPr>
        <p:spPr/>
        <p:txBody>
          <a:bodyPr/>
          <a:lstStyle/>
          <a:p>
            <a:pPr eaLnBrk="1" hangingPunct="1">
              <a:spcBef>
                <a:spcPts val="0"/>
              </a:spcBef>
              <a:spcAft>
                <a:spcPts val="1200"/>
              </a:spcAft>
            </a:pPr>
            <a:r>
              <a:rPr lang="en-US" altLang="tr-TR" sz="2800" dirty="0"/>
              <a:t>Improves comprehension of the system by centralized control logic </a:t>
            </a:r>
          </a:p>
          <a:p>
            <a:pPr lvl="1" eaLnBrk="1" hangingPunct="1">
              <a:spcBef>
                <a:spcPts val="0"/>
              </a:spcBef>
              <a:spcAft>
                <a:spcPts val="1200"/>
              </a:spcAft>
            </a:pPr>
            <a:r>
              <a:rPr lang="en-US" altLang="tr-TR" sz="2400" dirty="0"/>
              <a:t>Hence simplifies maintenance</a:t>
            </a:r>
          </a:p>
          <a:p>
            <a:pPr lvl="1" eaLnBrk="1" hangingPunct="1">
              <a:spcBef>
                <a:spcPts val="0"/>
              </a:spcBef>
              <a:spcAft>
                <a:spcPts val="1200"/>
              </a:spcAft>
            </a:pPr>
            <a:r>
              <a:rPr lang="en-US" altLang="en-US" sz="2400" dirty="0"/>
              <a:t>Also, when this logic need to be extended only the mediator class need to be extended.</a:t>
            </a:r>
            <a:endParaRPr lang="en-US" altLang="tr-TR" sz="2400" dirty="0"/>
          </a:p>
          <a:p>
            <a:pPr>
              <a:spcBef>
                <a:spcPts val="0"/>
              </a:spcBef>
            </a:pPr>
            <a:r>
              <a:rPr lang="en-US" altLang="en-US" sz="2800" dirty="0"/>
              <a:t>The colleague classes are totally decoupled. </a:t>
            </a:r>
          </a:p>
          <a:p>
            <a:pPr lvl="1">
              <a:spcBef>
                <a:spcPts val="0"/>
              </a:spcBef>
            </a:pPr>
            <a:r>
              <a:rPr lang="en-US" altLang="en-US" sz="2400" dirty="0"/>
              <a:t>Adding a new colleague class is very easy due to this decoupling level.</a:t>
            </a:r>
          </a:p>
          <a:p>
            <a:pPr lvl="1">
              <a:spcBef>
                <a:spcPts val="0"/>
              </a:spcBef>
            </a:pPr>
            <a:r>
              <a:rPr lang="en-US" altLang="tr-TR" sz="2400" dirty="0"/>
              <a:t>increases reusability of the colleagues of the mediator by decoupling them from the system</a:t>
            </a:r>
          </a:p>
          <a:p>
            <a:pPr>
              <a:spcBef>
                <a:spcPts val="0"/>
              </a:spcBef>
            </a:pPr>
            <a:r>
              <a:rPr lang="en-US" altLang="en-US" sz="2800" dirty="0"/>
              <a:t>Thus, increase cohesion and reduce coupling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7436624-1B00-A5FD-DF18-9DBA8ED4469B}"/>
              </a:ext>
            </a:extLst>
          </p:cNvPr>
          <p:cNvSpPr>
            <a:spLocks noGrp="1" noChangeArrowheads="1"/>
          </p:cNvSpPr>
          <p:nvPr>
            <p:ph type="title"/>
          </p:nvPr>
        </p:nvSpPr>
        <p:spPr/>
        <p:txBody>
          <a:bodyPr/>
          <a:lstStyle/>
          <a:p>
            <a:pPr eaLnBrk="1" hangingPunct="1"/>
            <a:r>
              <a:rPr lang="en-US" altLang="tr-TR" dirty="0"/>
              <a:t>Consequences -2</a:t>
            </a:r>
          </a:p>
        </p:txBody>
      </p:sp>
      <p:sp>
        <p:nvSpPr>
          <p:cNvPr id="47107" name="Rectangle 3">
            <a:extLst>
              <a:ext uri="{FF2B5EF4-FFF2-40B4-BE49-F238E27FC236}">
                <a16:creationId xmlns:a16="http://schemas.microsoft.com/office/drawing/2014/main" id="{32844F1F-E9D7-291C-667B-21DA82F2849B}"/>
              </a:ext>
            </a:extLst>
          </p:cNvPr>
          <p:cNvSpPr>
            <a:spLocks noGrp="1" noChangeArrowheads="1"/>
          </p:cNvSpPr>
          <p:nvPr>
            <p:ph idx="1"/>
          </p:nvPr>
        </p:nvSpPr>
        <p:spPr/>
        <p:txBody>
          <a:bodyPr/>
          <a:lstStyle/>
          <a:p>
            <a:pPr eaLnBrk="1" hangingPunct="1">
              <a:spcBef>
                <a:spcPts val="600"/>
              </a:spcBef>
              <a:spcAft>
                <a:spcPts val="0"/>
              </a:spcAft>
            </a:pPr>
            <a:r>
              <a:rPr lang="en-US" altLang="en-US" sz="2800" dirty="0"/>
              <a:t>The colleague objects must communicate only with the mediator objects. </a:t>
            </a:r>
          </a:p>
          <a:p>
            <a:pPr lvl="1">
              <a:spcBef>
                <a:spcPts val="600"/>
              </a:spcBef>
              <a:spcAft>
                <a:spcPts val="0"/>
              </a:spcAft>
            </a:pPr>
            <a:r>
              <a:rPr lang="en-US" altLang="en-US" sz="2400" dirty="0"/>
              <a:t>Reduction from many-to-many to one-to-many and many-to-one.</a:t>
            </a:r>
          </a:p>
          <a:p>
            <a:pPr lvl="1">
              <a:spcBef>
                <a:spcPts val="600"/>
              </a:spcBef>
              <a:spcAft>
                <a:spcPts val="0"/>
              </a:spcAft>
            </a:pPr>
            <a:r>
              <a:rPr lang="en-US" sz="2400" b="0" i="1" dirty="0">
                <a:solidFill>
                  <a:srgbClr val="000000"/>
                </a:solidFill>
                <a:effectLst/>
                <a:latin typeface="+mj-lt"/>
              </a:rPr>
              <a:t>It simplifies object protocols.</a:t>
            </a:r>
            <a:r>
              <a:rPr lang="en-US" sz="2400" b="0" i="0" dirty="0">
                <a:solidFill>
                  <a:srgbClr val="000000"/>
                </a:solidFill>
                <a:effectLst/>
                <a:latin typeface="+mj-lt"/>
              </a:rPr>
              <a:t> A mediator replaces many-to-many interactions with one-to-many interactions between the mediator and its colleagues. One-to-many relationships are easier to understand, maintain, and extend.</a:t>
            </a:r>
          </a:p>
          <a:p>
            <a:pPr>
              <a:spcBef>
                <a:spcPts val="600"/>
              </a:spcBef>
              <a:spcAft>
                <a:spcPts val="0"/>
              </a:spcAft>
            </a:pPr>
            <a:r>
              <a:rPr lang="en-US" altLang="tr-TR" sz="2800" dirty="0"/>
              <a:t>Reuse participants easily</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ECB0D-1239-AF17-3434-435D9C53BEBD}"/>
              </a:ext>
            </a:extLst>
          </p:cNvPr>
          <p:cNvSpPr>
            <a:spLocks noGrp="1"/>
          </p:cNvSpPr>
          <p:nvPr>
            <p:ph type="title"/>
          </p:nvPr>
        </p:nvSpPr>
        <p:spPr/>
        <p:txBody>
          <a:bodyPr/>
          <a:lstStyle/>
          <a:p>
            <a:r>
              <a:rPr lang="en-US" dirty="0"/>
              <a:t>Consequences-3</a:t>
            </a:r>
          </a:p>
        </p:txBody>
      </p:sp>
      <p:sp>
        <p:nvSpPr>
          <p:cNvPr id="3" name="Content Placeholder 2">
            <a:extLst>
              <a:ext uri="{FF2B5EF4-FFF2-40B4-BE49-F238E27FC236}">
                <a16:creationId xmlns:a16="http://schemas.microsoft.com/office/drawing/2014/main" id="{4D514CE1-218A-6764-95E1-A8C6A3A6D62F}"/>
              </a:ext>
            </a:extLst>
          </p:cNvPr>
          <p:cNvSpPr>
            <a:spLocks noGrp="1"/>
          </p:cNvSpPr>
          <p:nvPr>
            <p:ph idx="1"/>
          </p:nvPr>
        </p:nvSpPr>
        <p:spPr/>
        <p:txBody>
          <a:bodyPr/>
          <a:lstStyle/>
          <a:p>
            <a:r>
              <a:rPr lang="en-US" sz="2400" i="1" dirty="0">
                <a:solidFill>
                  <a:srgbClr val="000000"/>
                </a:solidFill>
                <a:latin typeface="+mj-lt"/>
              </a:rPr>
              <a:t>L</a:t>
            </a:r>
            <a:r>
              <a:rPr lang="en-US" sz="2400" b="0" i="1" dirty="0">
                <a:solidFill>
                  <a:srgbClr val="000000"/>
                </a:solidFill>
                <a:effectLst/>
                <a:latin typeface="+mj-lt"/>
              </a:rPr>
              <a:t>imits subclassing.</a:t>
            </a:r>
            <a:r>
              <a:rPr lang="en-US" sz="2400" b="0" i="0" dirty="0">
                <a:solidFill>
                  <a:srgbClr val="000000"/>
                </a:solidFill>
                <a:effectLst/>
                <a:latin typeface="+mj-lt"/>
              </a:rPr>
              <a:t> A mediator localizes behavior that otherwise would be distributed among several objects. Changing this behavior requires subclassing Mediator only; Colleague classes can be reused as is.</a:t>
            </a:r>
          </a:p>
          <a:p>
            <a:endParaRPr lang="en-US" sz="2400" b="0" i="0" dirty="0">
              <a:solidFill>
                <a:srgbClr val="000000"/>
              </a:solidFill>
              <a:effectLst/>
              <a:latin typeface="+mj-lt"/>
            </a:endParaRPr>
          </a:p>
          <a:p>
            <a:r>
              <a:rPr lang="en-US" sz="2400" i="1" dirty="0">
                <a:solidFill>
                  <a:srgbClr val="000000"/>
                </a:solidFill>
                <a:latin typeface="+mj-lt"/>
              </a:rPr>
              <a:t>A</a:t>
            </a:r>
            <a:r>
              <a:rPr lang="en-US" sz="2400" b="0" i="1" dirty="0">
                <a:solidFill>
                  <a:srgbClr val="000000"/>
                </a:solidFill>
                <a:effectLst/>
                <a:latin typeface="+mj-lt"/>
              </a:rPr>
              <a:t>bstracts how objects cooperate.</a:t>
            </a:r>
            <a:r>
              <a:rPr lang="en-US" sz="2400" b="0" i="0" dirty="0">
                <a:solidFill>
                  <a:srgbClr val="000000"/>
                </a:solidFill>
                <a:effectLst/>
                <a:latin typeface="+mj-lt"/>
              </a:rPr>
              <a:t> Making mediation an independent concept and encapsulating it in an object lets you focus on how objects interact apart from their individual behavior. That can help clarify how objects interact in a system.</a:t>
            </a:r>
          </a:p>
          <a:p>
            <a:endParaRPr lang="en-US" sz="2400" dirty="0">
              <a:latin typeface="+mj-lt"/>
            </a:endParaRPr>
          </a:p>
        </p:txBody>
      </p:sp>
    </p:spTree>
    <p:extLst>
      <p:ext uri="{BB962C8B-B14F-4D97-AF65-F5344CB8AC3E}">
        <p14:creationId xmlns:p14="http://schemas.microsoft.com/office/powerpoint/2010/main" val="40513179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7436624-1B00-A5FD-DF18-9DBA8ED4469B}"/>
              </a:ext>
            </a:extLst>
          </p:cNvPr>
          <p:cNvSpPr>
            <a:spLocks noGrp="1" noChangeArrowheads="1"/>
          </p:cNvSpPr>
          <p:nvPr>
            <p:ph type="title"/>
          </p:nvPr>
        </p:nvSpPr>
        <p:spPr/>
        <p:txBody>
          <a:bodyPr/>
          <a:lstStyle/>
          <a:p>
            <a:pPr eaLnBrk="1" hangingPunct="1"/>
            <a:r>
              <a:rPr lang="en-US" altLang="tr-TR" dirty="0"/>
              <a:t>Consequences - Drawbacks</a:t>
            </a:r>
          </a:p>
        </p:txBody>
      </p:sp>
      <p:sp>
        <p:nvSpPr>
          <p:cNvPr id="47107" name="Rectangle 3">
            <a:extLst>
              <a:ext uri="{FF2B5EF4-FFF2-40B4-BE49-F238E27FC236}">
                <a16:creationId xmlns:a16="http://schemas.microsoft.com/office/drawing/2014/main" id="{32844F1F-E9D7-291C-667B-21DA82F2849B}"/>
              </a:ext>
            </a:extLst>
          </p:cNvPr>
          <p:cNvSpPr>
            <a:spLocks noGrp="1" noChangeArrowheads="1"/>
          </p:cNvSpPr>
          <p:nvPr>
            <p:ph idx="1"/>
          </p:nvPr>
        </p:nvSpPr>
        <p:spPr/>
        <p:txBody>
          <a:bodyPr/>
          <a:lstStyle/>
          <a:p>
            <a:pPr>
              <a:spcBef>
                <a:spcPts val="600"/>
              </a:spcBef>
              <a:spcAft>
                <a:spcPts val="0"/>
              </a:spcAft>
            </a:pPr>
            <a:r>
              <a:rPr lang="en-US" sz="2800" b="0" i="0" dirty="0">
                <a:solidFill>
                  <a:srgbClr val="000000"/>
                </a:solidFill>
                <a:effectLst/>
                <a:latin typeface="+mj-lt"/>
              </a:rPr>
              <a:t>Trades complexity of interaction for complexity in the mediator.</a:t>
            </a:r>
          </a:p>
          <a:p>
            <a:pPr lvl="1">
              <a:spcBef>
                <a:spcPts val="600"/>
              </a:spcBef>
              <a:spcAft>
                <a:spcPts val="0"/>
              </a:spcAft>
            </a:pPr>
            <a:r>
              <a:rPr lang="en-US" sz="2400" b="0" i="0" dirty="0">
                <a:solidFill>
                  <a:srgbClr val="000000"/>
                </a:solidFill>
                <a:effectLst/>
                <a:latin typeface="+mj-lt"/>
              </a:rPr>
              <a:t>Because a mediator encapsulates protocols, it can become more complex than any individual colleague.</a:t>
            </a:r>
          </a:p>
          <a:p>
            <a:pPr lvl="1">
              <a:spcBef>
                <a:spcPts val="600"/>
              </a:spcBef>
              <a:spcAft>
                <a:spcPts val="0"/>
              </a:spcAft>
            </a:pPr>
            <a:r>
              <a:rPr lang="en-US" sz="2400" b="0" i="0" dirty="0">
                <a:solidFill>
                  <a:srgbClr val="000000"/>
                </a:solidFill>
                <a:effectLst/>
                <a:latin typeface="+mj-lt"/>
              </a:rPr>
              <a:t>This can make the mediator itself a monolith that's hard to maintain.</a:t>
            </a:r>
            <a:endParaRPr lang="en-US" altLang="tr-TR" sz="2400" dirty="0"/>
          </a:p>
          <a:p>
            <a:pPr>
              <a:spcBef>
                <a:spcPts val="600"/>
              </a:spcBef>
              <a:spcAft>
                <a:spcPts val="0"/>
              </a:spcAft>
            </a:pPr>
            <a:r>
              <a:rPr lang="en-US" altLang="tr-TR" sz="2800" dirty="0"/>
              <a:t>Overkill for simple interaction</a:t>
            </a:r>
          </a:p>
          <a:p>
            <a:pPr eaLnBrk="1" hangingPunct="1">
              <a:spcBef>
                <a:spcPts val="600"/>
              </a:spcBef>
              <a:spcAft>
                <a:spcPts val="0"/>
              </a:spcAft>
            </a:pPr>
            <a:r>
              <a:rPr lang="en-US" altLang="tr-TR" sz="2800" dirty="0"/>
              <a:t>Without a proper design, the mediator itself becomes overly complex</a:t>
            </a:r>
          </a:p>
          <a:p>
            <a:pPr lvl="1" eaLnBrk="1" hangingPunct="1">
              <a:spcBef>
                <a:spcPts val="600"/>
              </a:spcBef>
              <a:spcAft>
                <a:spcPts val="0"/>
              </a:spcAft>
            </a:pPr>
            <a:r>
              <a:rPr lang="en-US" altLang="en-US" sz="2400" dirty="0"/>
              <a:t>Do not add extra responsibilities to mediator</a:t>
            </a:r>
          </a:p>
          <a:p>
            <a:pPr lvl="1" eaLnBrk="1" hangingPunct="1">
              <a:spcBef>
                <a:spcPts val="600"/>
              </a:spcBef>
              <a:spcAft>
                <a:spcPts val="0"/>
              </a:spcAft>
            </a:pPr>
            <a:r>
              <a:rPr lang="en-US" altLang="en-US" sz="2400" dirty="0"/>
              <a:t>E.g. </a:t>
            </a:r>
            <a:r>
              <a:rPr lang="en-US" altLang="en-US" sz="2400" dirty="0" err="1"/>
              <a:t>DialogDirector</a:t>
            </a:r>
            <a:r>
              <a:rPr lang="en-US" altLang="en-US" sz="2400" dirty="0"/>
              <a:t> class should not contain code which is not a part of the coordination.</a:t>
            </a:r>
            <a:endParaRPr lang="en-US" altLang="tr-TR" sz="2400" dirty="0"/>
          </a:p>
        </p:txBody>
      </p:sp>
    </p:spTree>
    <p:extLst>
      <p:ext uri="{BB962C8B-B14F-4D97-AF65-F5344CB8AC3E}">
        <p14:creationId xmlns:p14="http://schemas.microsoft.com/office/powerpoint/2010/main" val="27826389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1725-D016-30BF-F5B8-14EE6DA20B10}"/>
              </a:ext>
            </a:extLst>
          </p:cNvPr>
          <p:cNvSpPr>
            <a:spLocks noGrp="1"/>
          </p:cNvSpPr>
          <p:nvPr>
            <p:ph type="title"/>
          </p:nvPr>
        </p:nvSpPr>
        <p:spPr/>
        <p:txBody>
          <a:bodyPr/>
          <a:lstStyle/>
          <a:p>
            <a:r>
              <a:rPr lang="en-US" dirty="0"/>
              <a:t>Mediator – Known uses</a:t>
            </a:r>
          </a:p>
        </p:txBody>
      </p:sp>
      <p:sp>
        <p:nvSpPr>
          <p:cNvPr id="3" name="Content Placeholder 2">
            <a:extLst>
              <a:ext uri="{FF2B5EF4-FFF2-40B4-BE49-F238E27FC236}">
                <a16:creationId xmlns:a16="http://schemas.microsoft.com/office/drawing/2014/main" id="{8712FA3B-D70B-2A19-6B02-FE2EC965EF86}"/>
              </a:ext>
            </a:extLst>
          </p:cNvPr>
          <p:cNvSpPr>
            <a:spLocks noGrp="1"/>
          </p:cNvSpPr>
          <p:nvPr>
            <p:ph idx="1"/>
          </p:nvPr>
        </p:nvSpPr>
        <p:spPr/>
        <p:txBody>
          <a:bodyPr/>
          <a:lstStyle/>
          <a:p>
            <a:r>
              <a:rPr lang="en-US" dirty="0" err="1">
                <a:latin typeface="Consolas" panose="020B0609020204030204" pitchFamily="49" charset="0"/>
              </a:rPr>
              <a:t>java.awt.Container</a:t>
            </a:r>
            <a:r>
              <a:rPr lang="en-US" dirty="0"/>
              <a:t>: This class acts as a mediator between components and the specific layout manager</a:t>
            </a:r>
          </a:p>
          <a:p>
            <a:endParaRPr lang="en-US" dirty="0"/>
          </a:p>
          <a:p>
            <a:r>
              <a:rPr lang="en-US" dirty="0" err="1">
                <a:latin typeface="Consolas" panose="020B0609020204030204" pitchFamily="49" charset="0"/>
              </a:rPr>
              <a:t>java.util.concurrent.Executor</a:t>
            </a:r>
            <a:r>
              <a:rPr lang="en-US" dirty="0"/>
              <a:t>: This interface is a mediator between a bunch of tasks that need to be run and a bunch of threads in which the tasks are run1.</a:t>
            </a:r>
          </a:p>
        </p:txBody>
      </p:sp>
    </p:spTree>
    <p:extLst>
      <p:ext uri="{BB962C8B-B14F-4D97-AF65-F5344CB8AC3E}">
        <p14:creationId xmlns:p14="http://schemas.microsoft.com/office/powerpoint/2010/main" val="14375708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0FAC143-C33E-45EA-6597-AB7CE976D06C}"/>
              </a:ext>
            </a:extLst>
          </p:cNvPr>
          <p:cNvSpPr>
            <a:spLocks noGrp="1" noChangeArrowheads="1"/>
          </p:cNvSpPr>
          <p:nvPr>
            <p:ph type="title"/>
          </p:nvPr>
        </p:nvSpPr>
        <p:spPr/>
        <p:txBody>
          <a:bodyPr/>
          <a:lstStyle/>
          <a:p>
            <a:pPr eaLnBrk="1" hangingPunct="1"/>
            <a:r>
              <a:rPr lang="en-US" altLang="tr-TR"/>
              <a:t>Mediator vs Façade </a:t>
            </a:r>
          </a:p>
        </p:txBody>
      </p:sp>
      <p:sp>
        <p:nvSpPr>
          <p:cNvPr id="48131" name="Rectangle 3">
            <a:extLst>
              <a:ext uri="{FF2B5EF4-FFF2-40B4-BE49-F238E27FC236}">
                <a16:creationId xmlns:a16="http://schemas.microsoft.com/office/drawing/2014/main" id="{8C3D3C7E-3548-D5D9-22CD-64071E823272}"/>
              </a:ext>
            </a:extLst>
          </p:cNvPr>
          <p:cNvSpPr>
            <a:spLocks noGrp="1" noChangeArrowheads="1"/>
          </p:cNvSpPr>
          <p:nvPr>
            <p:ph idx="1"/>
          </p:nvPr>
        </p:nvSpPr>
        <p:spPr/>
        <p:txBody>
          <a:bodyPr/>
          <a:lstStyle/>
          <a:p>
            <a:pPr>
              <a:lnSpc>
                <a:spcPct val="110000"/>
              </a:lnSpc>
            </a:pPr>
            <a:r>
              <a:rPr lang="en-US" altLang="tr-TR" sz="2800" dirty="0"/>
              <a:t>Both abstract functionality of existing classes.</a:t>
            </a:r>
            <a:endParaRPr lang="en-US" altLang="tr-TR" dirty="0"/>
          </a:p>
          <a:p>
            <a:pPr eaLnBrk="1" hangingPunct="1">
              <a:lnSpc>
                <a:spcPct val="110000"/>
              </a:lnSpc>
            </a:pPr>
            <a:r>
              <a:rPr lang="en-US" altLang="tr-TR" sz="2800" dirty="0"/>
              <a:t>Mediator abstracts/centralizes arbitrary communication between colleague objects</a:t>
            </a:r>
          </a:p>
          <a:p>
            <a:pPr lvl="1" eaLnBrk="1" hangingPunct="1">
              <a:lnSpc>
                <a:spcPct val="110000"/>
              </a:lnSpc>
            </a:pPr>
            <a:r>
              <a:rPr lang="en-US" altLang="tr-TR" sz="2400" dirty="0"/>
              <a:t>routinely "adds value", </a:t>
            </a:r>
          </a:p>
          <a:p>
            <a:pPr lvl="1" eaLnBrk="1" hangingPunct="1">
              <a:lnSpc>
                <a:spcPct val="110000"/>
              </a:lnSpc>
            </a:pPr>
            <a:r>
              <a:rPr lang="en-US" altLang="tr-TR" sz="2400" dirty="0"/>
              <a:t>Known and referenced by the colleague objects </a:t>
            </a:r>
          </a:p>
          <a:p>
            <a:pPr lvl="2" eaLnBrk="1" hangingPunct="1">
              <a:lnSpc>
                <a:spcPct val="110000"/>
              </a:lnSpc>
            </a:pPr>
            <a:r>
              <a:rPr lang="en-US" altLang="tr-TR" sz="2000" dirty="0"/>
              <a:t>i.e. it defines a multidirectional protocol</a:t>
            </a:r>
            <a:endParaRPr lang="en-US" altLang="tr-TR" sz="2800" dirty="0"/>
          </a:p>
          <a:p>
            <a:pPr eaLnBrk="1" hangingPunct="1">
              <a:lnSpc>
                <a:spcPct val="110000"/>
              </a:lnSpc>
            </a:pPr>
            <a:r>
              <a:rPr lang="en-US" altLang="tr-TR" sz="2800" dirty="0"/>
              <a:t>Facade defines a simpler interface to a subsystem, </a:t>
            </a:r>
          </a:p>
          <a:p>
            <a:pPr lvl="1" eaLnBrk="1" hangingPunct="1">
              <a:lnSpc>
                <a:spcPct val="110000"/>
              </a:lnSpc>
            </a:pPr>
            <a:r>
              <a:rPr lang="en-US" altLang="tr-TR" sz="2400" dirty="0"/>
              <a:t>doesn't add new functionality</a:t>
            </a:r>
          </a:p>
          <a:p>
            <a:pPr lvl="1" eaLnBrk="1" hangingPunct="1">
              <a:lnSpc>
                <a:spcPct val="110000"/>
              </a:lnSpc>
            </a:pPr>
            <a:r>
              <a:rPr lang="en-US" altLang="tr-TR" sz="2400" dirty="0"/>
              <a:t>not known by the subsystem classes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58D431C-640D-4BE7-0301-4FE18498428B}"/>
              </a:ext>
            </a:extLst>
          </p:cNvPr>
          <p:cNvSpPr>
            <a:spLocks noGrp="1" noChangeArrowheads="1"/>
          </p:cNvSpPr>
          <p:nvPr>
            <p:ph type="title"/>
          </p:nvPr>
        </p:nvSpPr>
        <p:spPr/>
        <p:txBody>
          <a:bodyPr/>
          <a:lstStyle/>
          <a:p>
            <a:pPr eaLnBrk="1" hangingPunct="1"/>
            <a:r>
              <a:rPr lang="en-US" altLang="tr-TR"/>
              <a:t>Observer vs Mediator</a:t>
            </a:r>
          </a:p>
        </p:txBody>
      </p:sp>
      <p:sp>
        <p:nvSpPr>
          <p:cNvPr id="49155" name="Rectangle 3">
            <a:extLst>
              <a:ext uri="{FF2B5EF4-FFF2-40B4-BE49-F238E27FC236}">
                <a16:creationId xmlns:a16="http://schemas.microsoft.com/office/drawing/2014/main" id="{7CF0ACD4-704E-588D-136A-347EBC7F1790}"/>
              </a:ext>
            </a:extLst>
          </p:cNvPr>
          <p:cNvSpPr>
            <a:spLocks noGrp="1" noChangeArrowheads="1"/>
          </p:cNvSpPr>
          <p:nvPr>
            <p:ph idx="1"/>
          </p:nvPr>
        </p:nvSpPr>
        <p:spPr>
          <a:xfrm>
            <a:off x="179512" y="1412776"/>
            <a:ext cx="9083352" cy="4532109"/>
          </a:xfrm>
        </p:spPr>
        <p:txBody>
          <a:bodyPr/>
          <a:lstStyle/>
          <a:p>
            <a:pPr marL="0" indent="0" eaLnBrk="1" hangingPunct="1">
              <a:buNone/>
            </a:pPr>
            <a:r>
              <a:rPr lang="en-US" altLang="tr-TR" sz="2800" dirty="0"/>
              <a:t>Mediator and Observer are competing patterns. </a:t>
            </a:r>
          </a:p>
          <a:p>
            <a:r>
              <a:rPr lang="en-US" altLang="tr-TR" sz="2800" dirty="0"/>
              <a:t>communication: </a:t>
            </a:r>
          </a:p>
          <a:p>
            <a:pPr lvl="1"/>
            <a:r>
              <a:rPr lang="en-US" altLang="tr-TR" sz="2400" dirty="0"/>
              <a:t>Observer distributes communication by introducing "observer" and "subject" objects</a:t>
            </a:r>
          </a:p>
          <a:p>
            <a:pPr lvl="1" eaLnBrk="1" hangingPunct="1"/>
            <a:r>
              <a:rPr lang="en-US" altLang="tr-TR" sz="2400" dirty="0"/>
              <a:t>Mediator object encapsulates the communication between other objects.</a:t>
            </a:r>
          </a:p>
          <a:p>
            <a:r>
              <a:rPr lang="en-US" altLang="tr-TR" sz="2800" dirty="0"/>
              <a:t>Observer is one-to-many, Mediator is many-to-many</a:t>
            </a:r>
          </a:p>
          <a:p>
            <a:r>
              <a:rPr lang="en-US" altLang="tr-TR" sz="2800" dirty="0"/>
              <a:t>They may work together</a:t>
            </a:r>
          </a:p>
          <a:p>
            <a:pPr lvl="1"/>
            <a:r>
              <a:rPr lang="en-US" altLang="tr-TR" sz="2400" dirty="0"/>
              <a:t>Mediator observing colleagues if something changed</a:t>
            </a:r>
          </a:p>
          <a:p>
            <a:pPr lvl="1"/>
            <a:r>
              <a:rPr lang="en-US" altLang="tr-TR" sz="2400" dirty="0"/>
              <a:t>Colleagues may subscribe to mediator</a:t>
            </a:r>
            <a:endParaRPr lang="en-US" altLang="tr-TR" sz="2800" dirty="0"/>
          </a:p>
        </p:txBody>
      </p:sp>
    </p:spTree>
    <p:extLst>
      <p:ext uri="{BB962C8B-B14F-4D97-AF65-F5344CB8AC3E}">
        <p14:creationId xmlns:p14="http://schemas.microsoft.com/office/powerpoint/2010/main" val="2972819946"/>
      </p:ext>
    </p:extLst>
  </p:cSld>
  <p:clrMapOvr>
    <a:masterClrMapping/>
  </p:clrMapOvr>
</p:sld>
</file>

<file path=ppt/theme/theme1.xml><?xml version="1.0" encoding="utf-8"?>
<a:theme xmlns:a="http://schemas.openxmlformats.org/drawingml/2006/main" name="Theme1">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393727C7-4C0B-4C8A-960B-21573C88EF42}" vid="{72BF777F-C220-4904-8C2B-017C5ED9CE6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7600</TotalTime>
  <Words>5830</Words>
  <Application>Microsoft Office PowerPoint</Application>
  <PresentationFormat>On-screen Show (4:3)</PresentationFormat>
  <Paragraphs>812</Paragraphs>
  <Slides>83</Slides>
  <Notes>14</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Arial</vt:lpstr>
      <vt:lpstr>Arial Black</vt:lpstr>
      <vt:lpstr>Consolas</vt:lpstr>
      <vt:lpstr>Google Sans Text</vt:lpstr>
      <vt:lpstr>PT Sans</vt:lpstr>
      <vt:lpstr>Source Sans Pro</vt:lpstr>
      <vt:lpstr>Times New Roman</vt:lpstr>
      <vt:lpstr>Wingdings</vt:lpstr>
      <vt:lpstr>Theme1</vt:lpstr>
      <vt:lpstr>Behavioral Patterns</vt:lpstr>
      <vt:lpstr>Decouple sender and handler</vt:lpstr>
      <vt:lpstr>Chain of Responsibility</vt:lpstr>
      <vt:lpstr>Attempt 1:</vt:lpstr>
      <vt:lpstr>Attempt 2: Single responsibility</vt:lpstr>
      <vt:lpstr>Attempt 2: Single responsibility</vt:lpstr>
      <vt:lpstr>Example: Email sorter</vt:lpstr>
      <vt:lpstr>Chain of Filters (handlers)</vt:lpstr>
      <vt:lpstr>Email handling chain</vt:lpstr>
      <vt:lpstr>Chain of Responsibility</vt:lpstr>
      <vt:lpstr>Chain of Responsibility</vt:lpstr>
      <vt:lpstr>Structure – Chain of Responsibility</vt:lpstr>
      <vt:lpstr>Attempt 3: Email Sorter with CoR</vt:lpstr>
      <vt:lpstr> Email Sorter with CoR</vt:lpstr>
      <vt:lpstr>Benefits and Drawbacks</vt:lpstr>
      <vt:lpstr>Example II</vt:lpstr>
      <vt:lpstr>A sample object diagram</vt:lpstr>
      <vt:lpstr>Example II</vt:lpstr>
      <vt:lpstr>Abstract Handler</vt:lpstr>
      <vt:lpstr> Handler Widget</vt:lpstr>
      <vt:lpstr>Concrete Handlers</vt:lpstr>
      <vt:lpstr>Setting up</vt:lpstr>
      <vt:lpstr>Key points</vt:lpstr>
      <vt:lpstr>Implementation issues</vt:lpstr>
      <vt:lpstr>CoR variations: Strict CoR</vt:lpstr>
      <vt:lpstr>CoR variations: Pipe-and-Filter</vt:lpstr>
      <vt:lpstr>CoR and Composite</vt:lpstr>
      <vt:lpstr>Composite with CoR</vt:lpstr>
      <vt:lpstr>CoR + Composite Example</vt:lpstr>
      <vt:lpstr>CoR with Composite</vt:lpstr>
      <vt:lpstr>Broken chain</vt:lpstr>
      <vt:lpstr>Broken chain – solution</vt:lpstr>
      <vt:lpstr>Consequences -1</vt:lpstr>
      <vt:lpstr>Consequences -2</vt:lpstr>
      <vt:lpstr>Known use</vt:lpstr>
      <vt:lpstr>Related patterns</vt:lpstr>
      <vt:lpstr>Related patterns</vt:lpstr>
      <vt:lpstr>Decorator vs CoR</vt:lpstr>
      <vt:lpstr>Decorator vs CoR -difference</vt:lpstr>
      <vt:lpstr>Related Patterns –Request Handling</vt:lpstr>
      <vt:lpstr>Handling many types of requests?</vt:lpstr>
      <vt:lpstr>CoR with Command</vt:lpstr>
      <vt:lpstr>CoR with Command</vt:lpstr>
      <vt:lpstr>PowerPoint Presentation</vt:lpstr>
      <vt:lpstr>PowerPoint Presentation</vt:lpstr>
      <vt:lpstr>Decouple sender and handler</vt:lpstr>
      <vt:lpstr>Example: GUI coordination</vt:lpstr>
      <vt:lpstr>Motivation</vt:lpstr>
      <vt:lpstr>Could CoR solve it?</vt:lpstr>
      <vt:lpstr>Could CoR solve it?</vt:lpstr>
      <vt:lpstr>Observer?</vt:lpstr>
      <vt:lpstr>Observer?</vt:lpstr>
      <vt:lpstr>Observer?</vt:lpstr>
      <vt:lpstr>Motivation</vt:lpstr>
      <vt:lpstr>Mediator Structure</vt:lpstr>
      <vt:lpstr>Mediator Pattern</vt:lpstr>
      <vt:lpstr>Sequence Diagram</vt:lpstr>
      <vt:lpstr>Mediator Pattern</vt:lpstr>
      <vt:lpstr>Mediator Pattern</vt:lpstr>
      <vt:lpstr>Mediator Structure</vt:lpstr>
      <vt:lpstr>Participants</vt:lpstr>
      <vt:lpstr>Centralized Control</vt:lpstr>
      <vt:lpstr>Applicability –when…</vt:lpstr>
      <vt:lpstr>Example 1: Air Traffic </vt:lpstr>
      <vt:lpstr>Example: Air Traffic</vt:lpstr>
      <vt:lpstr>Implementing Colleagues</vt:lpstr>
      <vt:lpstr>Implementing Mediator</vt:lpstr>
      <vt:lpstr>Implementation issues-1</vt:lpstr>
      <vt:lpstr>Implementation issues -2</vt:lpstr>
      <vt:lpstr>Back to Example 1: DialogDirector</vt:lpstr>
      <vt:lpstr>Example 1: DialogDirector</vt:lpstr>
      <vt:lpstr>Example1: Colleagues</vt:lpstr>
      <vt:lpstr>Concrete Colleagues</vt:lpstr>
      <vt:lpstr>Example1: Mediator</vt:lpstr>
      <vt:lpstr>Example1:Concrete Mediator</vt:lpstr>
      <vt:lpstr>Example1:Concrete Mediator</vt:lpstr>
      <vt:lpstr>Consequences:  Benefits</vt:lpstr>
      <vt:lpstr>Consequences -2</vt:lpstr>
      <vt:lpstr>Consequences-3</vt:lpstr>
      <vt:lpstr>Consequences - Drawbacks</vt:lpstr>
      <vt:lpstr>Mediator – Known uses</vt:lpstr>
      <vt:lpstr>Mediator vs Façade </vt:lpstr>
      <vt:lpstr>Observer vs Mediator</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Patterns</dc:title>
  <dc:creator>Aysu Betin-Can</dc:creator>
  <cp:lastModifiedBy>Aysu Betin Can</cp:lastModifiedBy>
  <cp:revision>467</cp:revision>
  <dcterms:created xsi:type="dcterms:W3CDTF">2006-02-28T14:58:56Z</dcterms:created>
  <dcterms:modified xsi:type="dcterms:W3CDTF">2025-11-10T21:29:22Z</dcterms:modified>
</cp:coreProperties>
</file>