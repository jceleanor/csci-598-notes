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handoutMasterIdLst>
    <p:handoutMasterId r:id="rId54"/>
  </p:handoutMasterIdLst>
  <p:sldIdLst>
    <p:sldId id="393" r:id="rId2"/>
    <p:sldId id="399" r:id="rId3"/>
    <p:sldId id="397" r:id="rId4"/>
    <p:sldId id="395" r:id="rId5"/>
    <p:sldId id="396" r:id="rId6"/>
    <p:sldId id="348" r:id="rId7"/>
    <p:sldId id="349" r:id="rId8"/>
    <p:sldId id="426" r:id="rId9"/>
    <p:sldId id="449" r:id="rId10"/>
    <p:sldId id="450" r:id="rId11"/>
    <p:sldId id="451" r:id="rId12"/>
    <p:sldId id="452" r:id="rId13"/>
    <p:sldId id="444" r:id="rId14"/>
    <p:sldId id="387" r:id="rId15"/>
    <p:sldId id="453" r:id="rId16"/>
    <p:sldId id="455" r:id="rId17"/>
    <p:sldId id="454" r:id="rId18"/>
    <p:sldId id="505" r:id="rId19"/>
    <p:sldId id="448" r:id="rId20"/>
    <p:sldId id="456" r:id="rId21"/>
    <p:sldId id="385" r:id="rId22"/>
    <p:sldId id="459" r:id="rId23"/>
    <p:sldId id="457" r:id="rId24"/>
    <p:sldId id="504" r:id="rId25"/>
    <p:sldId id="496" r:id="rId26"/>
    <p:sldId id="401" r:id="rId27"/>
    <p:sldId id="461" r:id="rId28"/>
    <p:sldId id="436" r:id="rId29"/>
    <p:sldId id="437" r:id="rId30"/>
    <p:sldId id="465" r:id="rId31"/>
    <p:sldId id="498" r:id="rId32"/>
    <p:sldId id="430" r:id="rId33"/>
    <p:sldId id="431" r:id="rId34"/>
    <p:sldId id="500" r:id="rId35"/>
    <p:sldId id="501" r:id="rId36"/>
    <p:sldId id="502" r:id="rId37"/>
    <p:sldId id="503" r:id="rId38"/>
    <p:sldId id="506" r:id="rId39"/>
    <p:sldId id="350" r:id="rId40"/>
    <p:sldId id="428" r:id="rId41"/>
    <p:sldId id="495" r:id="rId42"/>
    <p:sldId id="488" r:id="rId43"/>
    <p:sldId id="490" r:id="rId44"/>
    <p:sldId id="491" r:id="rId45"/>
    <p:sldId id="489" r:id="rId46"/>
    <p:sldId id="492" r:id="rId47"/>
    <p:sldId id="493" r:id="rId48"/>
    <p:sldId id="494" r:id="rId49"/>
    <p:sldId id="445" r:id="rId50"/>
    <p:sldId id="388" r:id="rId51"/>
    <p:sldId id="438" r:id="rId5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66"/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5299" autoAdjust="0"/>
  </p:normalViewPr>
  <p:slideViewPr>
    <p:cSldViewPr>
      <p:cViewPr varScale="1">
        <p:scale>
          <a:sx n="98" d="100"/>
          <a:sy n="98" d="100"/>
        </p:scale>
        <p:origin x="20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962EA780-3329-C880-A75A-3EAC1069461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37999C22-9712-DCF6-A287-DF040745572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6" name="Rectangle 4">
            <a:extLst>
              <a:ext uri="{FF2B5EF4-FFF2-40B4-BE49-F238E27FC236}">
                <a16:creationId xmlns:a16="http://schemas.microsoft.com/office/drawing/2014/main" id="{2D8B691A-0791-E7EA-0D46-FF965F49382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4EF7A023-2116-D3E7-319A-0BC7490BF13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D309E8A-FBF7-42D1-9DE5-3380B97DD9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DDAF349F-1FDC-3F27-A6C2-AB125461633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6E734F70-6732-860F-7A11-66EA8E2C4DD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63646CE-9DEA-A409-830E-F39282C705A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76BF9347-F997-18C0-2D06-96EAD57F7AE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AEAA3757-36C7-CFAF-8B19-4C5B245279F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33D023E5-EB3C-361C-33B7-5C4F70071E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68B52C2-755A-496D-A139-5AD1173A230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Observer pattern is the basis of event based systems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2272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7287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I have object that’s both subject and observer? Yes (listeners could also be </a:t>
            </a:r>
            <a:r>
              <a:rPr lang="en-US" dirty="0" err="1"/>
              <a:t>observersr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2872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thing common between pedestrian and the queue is both observing the traffic light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8751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thing common between pedestrian and the queue is both observing the traffic light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4061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tr-TR" sz="2800" dirty="0"/>
              <a:t>An observer may observe multiple subjects</a:t>
            </a:r>
          </a:p>
          <a:p>
            <a:pPr eaLnBrk="1" hangingPunct="1"/>
            <a:r>
              <a:rPr lang="en-US" altLang="tr-TR" sz="2800" dirty="0"/>
              <a:t>A Variation</a:t>
            </a:r>
          </a:p>
          <a:p>
            <a:pPr lvl="1" eaLnBrk="1" hangingPunct="1"/>
            <a:r>
              <a:rPr lang="en-US" altLang="tr-TR" sz="2400" dirty="0"/>
              <a:t>An observer may query Subject’s state to make its own state consistent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1757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subject’s code change, maybe it pushes more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2819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0713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8DEAC-7C9B-1ED1-A1C8-53A9FD377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241095-65B0-F944-C875-9FC7F74A5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24127-A8DE-E513-910A-7E202E206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104CB-94FD-0DBF-344D-B61707442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992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+mj-lt"/>
              </a:rPr>
              <a:t>several consecutive operations will cause several consecutive updates, which may be inefficient.</a:t>
            </a:r>
            <a:endParaRPr lang="en-US" altLang="tr-TR" dirty="0">
              <a:highlight>
                <a:srgbClr val="FFFF00"/>
              </a:highlight>
              <a:latin typeface="+mj-lt"/>
            </a:endParaRPr>
          </a:p>
          <a:p>
            <a:pPr algn="l">
              <a:buFont typeface="+mj-lt"/>
              <a:buAutoNum type="alphaLcPeriod"/>
            </a:pPr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6981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Java.util.Observable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 does have 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setChanged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7324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Observing more than one subject.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It might make sense in some situations for an observer to depend on more than one subject. For example, a spreadsheet may depend on more than one data source. It's necessary to extend the Update interface in such cases to let the observer know </a:t>
            </a:r>
            <a:r>
              <a:rPr lang="en-US" sz="1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which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subject is sending the notification. The subject can simply pass itself as a parameter in the Update operation, thereby letting the observer know which subject to examine.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77108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2FE54-4DEA-0305-1681-156D8D6DC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E72CC-C7C3-AB64-BDED-5DE80AADF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BD0F2-75ED-C2CC-646B-624705C1D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5472B-810F-1324-EFEA-5769374DA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26995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15491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// Inside </a:t>
            </a:r>
            <a:r>
              <a:rPr lang="en-US" dirty="0" err="1"/>
              <a:t>WeatherStation</a:t>
            </a:r>
            <a:r>
              <a:rPr lang="en-US" dirty="0"/>
              <a:t> class</a:t>
            </a:r>
          </a:p>
          <a:p>
            <a:r>
              <a:rPr lang="en-US" dirty="0"/>
              <a:t>public void </a:t>
            </a:r>
            <a:r>
              <a:rPr lang="en-US" dirty="0" err="1"/>
              <a:t>notifyObservers</a:t>
            </a:r>
            <a:r>
              <a:rPr lang="en-US" dirty="0"/>
              <a:t>() {</a:t>
            </a:r>
          </a:p>
          <a:p>
            <a:r>
              <a:rPr lang="en-US" dirty="0"/>
              <a:t>    for (Observer </a:t>
            </a:r>
            <a:r>
              <a:rPr lang="en-US" dirty="0" err="1"/>
              <a:t>observer</a:t>
            </a:r>
            <a:r>
              <a:rPr lang="en-US" dirty="0"/>
              <a:t> : observers) {</a:t>
            </a:r>
          </a:p>
          <a:p>
            <a:r>
              <a:rPr lang="en-US" dirty="0"/>
              <a:t>        </a:t>
            </a:r>
            <a:r>
              <a:rPr lang="en-US" dirty="0" err="1"/>
              <a:t>observer.update</a:t>
            </a:r>
            <a:r>
              <a:rPr lang="en-US" dirty="0"/>
              <a:t>(this); // "this" is the Subject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12208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C9080-87F1-6632-9C1C-764358665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AB9CE-C227-3FD4-6B6A-F095F4CF0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B5D5A6-ACF9-D5A8-3FDA-5F5F6BA86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// Inside </a:t>
            </a:r>
            <a:r>
              <a:rPr lang="en-US" dirty="0" err="1"/>
              <a:t>WeatherStation</a:t>
            </a:r>
            <a:r>
              <a:rPr lang="en-US" dirty="0"/>
              <a:t> class</a:t>
            </a:r>
          </a:p>
          <a:p>
            <a:r>
              <a:rPr lang="en-US" dirty="0"/>
              <a:t>public void </a:t>
            </a:r>
            <a:r>
              <a:rPr lang="en-US" dirty="0" err="1"/>
              <a:t>notifyObservers</a:t>
            </a:r>
            <a:r>
              <a:rPr lang="en-US" dirty="0"/>
              <a:t>() {</a:t>
            </a:r>
          </a:p>
          <a:p>
            <a:r>
              <a:rPr lang="en-US" dirty="0"/>
              <a:t>    for (Observer </a:t>
            </a:r>
            <a:r>
              <a:rPr lang="en-US" dirty="0" err="1"/>
              <a:t>observer</a:t>
            </a:r>
            <a:r>
              <a:rPr lang="en-US" dirty="0"/>
              <a:t> : observers) {</a:t>
            </a:r>
          </a:p>
          <a:p>
            <a:r>
              <a:rPr lang="en-US" dirty="0"/>
              <a:t>        </a:t>
            </a:r>
            <a:r>
              <a:rPr lang="en-US" dirty="0" err="1"/>
              <a:t>observer.update</a:t>
            </a:r>
            <a:r>
              <a:rPr lang="en-US" dirty="0"/>
              <a:t>(this); // "this" is the Subject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6FAA6-AD34-33E4-AE47-494A2B454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29191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67D5043E-C3F5-5837-0144-8B294672EA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BFF6B668-3FC3-30E0-3EA7-08EF478EE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tr-TR">
                <a:latin typeface="Arial" panose="020B0604020202020204" pitchFamily="34" charset="0"/>
              </a:rPr>
              <a:t>Cyclic dependencies could be a problem</a:t>
            </a:r>
          </a:p>
          <a:p>
            <a:pPr eaLnBrk="1" hangingPunct="1"/>
            <a:endParaRPr lang="en-US" altLang="tr-TR">
              <a:latin typeface="Arial" panose="020B0604020202020204" pitchFamily="34" charset="0"/>
            </a:endParaRPr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63132A86-162E-E7F5-1889-5DC8C6BA7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A790A1-6481-4628-A803-E0DAB665819F}" type="slidenum">
              <a:rPr lang="en-US" altLang="tr-TR"/>
              <a:pPr>
                <a:spcBef>
                  <a:spcPct val="0"/>
                </a:spcBef>
              </a:pPr>
              <a:t>39</a:t>
            </a:fld>
            <a:endParaRPr lang="en-US" altLang="tr-T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6085192A-DF56-B270-FDA7-20EF1C5D2B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70C6D2A0-05BD-266D-38A8-B905895D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Moreover, dependency criteria that aren't well-defined or maintained usually lead to spurious updates, which can be hard to track 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down.This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 problem is aggravated by the fact that the simple update protocol provides no details on </a:t>
            </a:r>
            <a:r>
              <a:rPr lang="en-US" b="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what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</a:rPr>
              <a:t> changed in the subject. Without additional protocol to help observers discover what changed, they may be forced to work hard to deduce the changes.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tr-TR" dirty="0">
                <a:latin typeface="Arial" panose="020B0604020202020204" pitchFamily="34" charset="0"/>
              </a:rPr>
              <a:t>Cyclic dependencies could be a problem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</a:endParaRPr>
          </a:p>
          <a:p>
            <a:pPr eaLnBrk="1" hangingPunct="1"/>
            <a:endParaRPr lang="en-US" altLang="tr-TR" dirty="0">
              <a:latin typeface="Arial" panose="020B0604020202020204" pitchFamily="34" charset="0"/>
            </a:endParaRP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55BFC9C2-14CF-587D-C929-F02A587D5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8314BE5-A369-44AB-A7D6-2D9376E9478E}" type="slidenum">
              <a:rPr lang="en-US" altLang="tr-TR"/>
              <a:pPr>
                <a:spcBef>
                  <a:spcPct val="0"/>
                </a:spcBef>
              </a:pPr>
              <a:t>40</a:t>
            </a:fld>
            <a:endParaRPr lang="en-US" altLang="tr-T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If notify method is synchronized: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notify()</a:t>
            </a:r>
            <a:r>
              <a:rPr lang="en-US" dirty="0"/>
              <a:t> holds the lock on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this</a:t>
            </a:r>
            <a:r>
              <a:rPr lang="en-US" dirty="0"/>
              <a:t> (the Subject).</a:t>
            </a:r>
          </a:p>
          <a:p>
            <a:r>
              <a:rPr lang="en-US" dirty="0"/>
              <a:t>It calls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o.update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(this)</a:t>
            </a:r>
            <a:r>
              <a:rPr lang="en-US" dirty="0"/>
              <a:t> on one of the observers.</a:t>
            </a:r>
          </a:p>
          <a:p>
            <a:r>
              <a:rPr lang="en-US" dirty="0"/>
              <a:t>Inside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update()</a:t>
            </a:r>
            <a:r>
              <a:rPr lang="en-US" dirty="0"/>
              <a:t>, the observer calls back into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detach()</a:t>
            </a:r>
            <a:r>
              <a:rPr lang="en-US" dirty="0"/>
              <a:t> (which is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synchronized</a:t>
            </a:r>
            <a:r>
              <a:rPr lang="en-US" dirty="0"/>
              <a:t>).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detach()</a:t>
            </a:r>
            <a:r>
              <a:rPr lang="en-US" dirty="0"/>
              <a:t> tries to acquire the same lock on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this</a:t>
            </a:r>
            <a:r>
              <a:rPr lang="en-US" dirty="0"/>
              <a:t> — but it's already held by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notify()</a:t>
            </a:r>
            <a:r>
              <a:rPr lang="en-US" dirty="0"/>
              <a:t>.</a:t>
            </a:r>
          </a:p>
          <a:p>
            <a:r>
              <a:rPr lang="en-US" dirty="0"/>
              <a:t>Since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notify()</a:t>
            </a:r>
            <a:r>
              <a:rPr lang="en-US" dirty="0"/>
              <a:t> is waiting for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update()</a:t>
            </a:r>
            <a:r>
              <a:rPr lang="en-US" dirty="0"/>
              <a:t> to finish, and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update()</a:t>
            </a:r>
            <a:r>
              <a:rPr lang="en-US" dirty="0"/>
              <a:t> is waiting for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detach()</a:t>
            </a:r>
            <a:r>
              <a:rPr lang="en-US" dirty="0"/>
              <a:t> to acquire the lock, you get a </a:t>
            </a:r>
            <a:r>
              <a:rPr lang="en-US" b="1" dirty="0"/>
              <a:t>classic deadlock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24434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implement observer as function references</a:t>
            </a:r>
          </a:p>
          <a:p>
            <a:r>
              <a:rPr lang="en-US" dirty="0">
                <a:effectLst/>
              </a:rPr>
              <a:t>typedef</a:t>
            </a:r>
            <a:r>
              <a:rPr lang="en-US" dirty="0"/>
              <a:t> std::function&lt;</a:t>
            </a:r>
            <a:r>
              <a:rPr lang="en-US" dirty="0">
                <a:effectLst/>
              </a:rPr>
              <a:t>void</a:t>
            </a:r>
            <a:r>
              <a:rPr lang="en-US" dirty="0"/>
              <a:t>(Subject*)&gt; </a:t>
            </a:r>
            <a:r>
              <a:rPr lang="en-US" dirty="0" err="1"/>
              <a:t>ObserverFunction</a:t>
            </a:r>
            <a:r>
              <a:rPr lang="en-US" dirty="0"/>
              <a:t>;</a:t>
            </a:r>
          </a:p>
          <a:p>
            <a:r>
              <a:rPr lang="en-US" dirty="0"/>
              <a:t> </a:t>
            </a:r>
            <a:r>
              <a:rPr lang="en-US" dirty="0">
                <a:effectLst/>
              </a:rPr>
              <a:t>void attach(</a:t>
            </a:r>
            <a:r>
              <a:rPr lang="en-US" dirty="0" err="1">
                <a:effectLst/>
              </a:rPr>
              <a:t>ObserverFunction</a:t>
            </a:r>
            <a:r>
              <a:rPr lang="en-US" dirty="0">
                <a:effectLst/>
              </a:rPr>
              <a:t> observer) </a:t>
            </a:r>
            <a:r>
              <a:rPr lang="en-US" dirty="0"/>
              <a:t>{ </a:t>
            </a:r>
            <a:r>
              <a:rPr lang="en-US" dirty="0" err="1"/>
              <a:t>observers.</a:t>
            </a:r>
            <a:r>
              <a:rPr lang="en-US" dirty="0" err="1">
                <a:effectLst/>
              </a:rPr>
              <a:t>push_back</a:t>
            </a:r>
            <a:r>
              <a:rPr lang="en-US" dirty="0"/>
              <a:t>(observer); } </a:t>
            </a:r>
          </a:p>
          <a:p>
            <a:r>
              <a:rPr lang="en-US" dirty="0">
                <a:effectLst/>
              </a:rPr>
              <a:t>void notify() </a:t>
            </a:r>
            <a:r>
              <a:rPr lang="en-US" dirty="0"/>
              <a:t>{ </a:t>
            </a:r>
            <a:r>
              <a:rPr lang="en-US" dirty="0">
                <a:effectLst/>
              </a:rPr>
              <a:t>for</a:t>
            </a:r>
            <a:r>
              <a:rPr lang="en-US" dirty="0"/>
              <a:t> (</a:t>
            </a:r>
            <a:r>
              <a:rPr lang="en-US" dirty="0">
                <a:effectLst/>
              </a:rPr>
              <a:t>auto</a:t>
            </a:r>
            <a:r>
              <a:rPr lang="en-US" dirty="0"/>
              <a:t>&amp; observer : observers) { </a:t>
            </a:r>
            <a:r>
              <a:rPr lang="en-US" dirty="0">
                <a:effectLst/>
              </a:rPr>
              <a:t>observer</a:t>
            </a:r>
            <a:r>
              <a:rPr lang="en-US" dirty="0"/>
              <a:t>(this); } }</a:t>
            </a:r>
          </a:p>
          <a:p>
            <a:r>
              <a:rPr lang="en-US" dirty="0"/>
              <a:t>Observer is </a:t>
            </a:r>
          </a:p>
          <a:p>
            <a:r>
              <a:rPr lang="en-US" dirty="0" err="1"/>
              <a:t>subject.</a:t>
            </a:r>
            <a:r>
              <a:rPr lang="en-US" dirty="0" err="1">
                <a:effectLst/>
              </a:rPr>
              <a:t>attach</a:t>
            </a:r>
            <a:r>
              <a:rPr lang="en-US" dirty="0"/>
              <a:t>(</a:t>
            </a:r>
            <a:r>
              <a:rPr lang="en-US" dirty="0">
                <a:effectLst/>
              </a:rPr>
              <a:t>this</a:t>
            </a:r>
            <a:r>
              <a:rPr lang="en-US" dirty="0"/>
              <a:t> { </a:t>
            </a:r>
            <a:r>
              <a:rPr lang="en-US" dirty="0">
                <a:effectLst/>
              </a:rPr>
              <a:t>this</a:t>
            </a:r>
            <a:r>
              <a:rPr lang="en-US" dirty="0"/>
              <a:t>-&gt;</a:t>
            </a:r>
            <a:r>
              <a:rPr lang="en-US" dirty="0">
                <a:effectLst/>
              </a:rPr>
              <a:t>update</a:t>
            </a:r>
            <a:r>
              <a:rPr lang="en-US" dirty="0"/>
              <a:t>(s); });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91564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Chain of responsibility (next week) </a:t>
            </a:r>
          </a:p>
          <a:p>
            <a:pPr lvl="1"/>
            <a:r>
              <a:rPr lang="en-US" altLang="en-US" dirty="0"/>
              <a:t>Both patterns decouple sender from receiver</a:t>
            </a:r>
          </a:p>
          <a:p>
            <a:pPr lvl="1"/>
            <a:r>
              <a:rPr lang="en-US" altLang="en-US" dirty="0" err="1"/>
              <a:t>CoR</a:t>
            </a:r>
            <a:r>
              <a:rPr lang="en-US" altLang="en-US" dirty="0"/>
              <a:t> sequentially looks for handlers</a:t>
            </a:r>
          </a:p>
          <a:p>
            <a:pPr lvl="1"/>
            <a:r>
              <a:rPr lang="en-US" altLang="en-US" dirty="0"/>
              <a:t>Observer notifies all registered handlers at once.</a:t>
            </a:r>
          </a:p>
          <a:p>
            <a:pPr lvl="0"/>
            <a:r>
              <a:rPr lang="en-US" b="0" i="1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PT Sans" panose="020B0503020203020204" pitchFamily="34" charset="0"/>
              </a:rPr>
              <a:t>Command</a:t>
            </a:r>
            <a:r>
              <a:rPr lang="en-US" b="0" i="0" dirty="0">
                <a:solidFill>
                  <a:srgbClr val="444444"/>
                </a:solidFill>
                <a:effectLst/>
                <a:highlight>
                  <a:srgbClr val="FFFFFF"/>
                </a:highlight>
                <a:latin typeface="PT Sans" panose="020B0503020203020204" pitchFamily="34" charset="0"/>
              </a:rPr>
              <a:t> establishes unidirectional connections between senders and receivers.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	Both patterns decouple sender from receiver</a:t>
            </a:r>
          </a:p>
          <a:p>
            <a:pPr lvl="0"/>
            <a:endParaRPr lang="en-US" b="0" i="0" dirty="0">
              <a:solidFill>
                <a:srgbClr val="444444"/>
              </a:solidFill>
              <a:effectLst/>
              <a:highlight>
                <a:srgbClr val="FFFFFF"/>
              </a:highlight>
              <a:latin typeface="PT Sans" panose="020B0503020203020204" pitchFamily="34" charset="0"/>
            </a:endParaRPr>
          </a:p>
          <a:p>
            <a:pPr lvl="1"/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B52C2-755A-496D-A139-5AD1173A230C}" type="slidenum">
              <a:rPr lang="en-US" altLang="en-US" smtClean="0"/>
              <a:pPr/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9124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933B59C-C21A-EFF7-079C-36DC23EE087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8812F79E-FF62-E510-396A-C6BFF8246D7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tr-TR" altLang="tr-TR" sz="2400">
                <a:latin typeface="Times New Roman" pitchFamily="18" charset="0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8384749C-74BF-0084-E8B6-9285624CAF26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 sz="2400">
                <a:latin typeface="Times New Roman" pitchFamily="18" charset="0"/>
              </a:endParaRPr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64DD8CE-944C-179B-CB16-B5BA353133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>
                <a:extLst>
                  <a:ext uri="{FF2B5EF4-FFF2-40B4-BE49-F238E27FC236}">
                    <a16:creationId xmlns:a16="http://schemas.microsoft.com/office/drawing/2014/main" id="{B05A5323-8585-B6BD-AC93-A049C167CD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7" name="Rectangle 7">
                <a:extLst>
                  <a:ext uri="{FF2B5EF4-FFF2-40B4-BE49-F238E27FC236}">
                    <a16:creationId xmlns:a16="http://schemas.microsoft.com/office/drawing/2014/main" id="{AA23FA9B-52FD-2B96-5E71-BB72606D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8" name="Rectangle 8">
                <a:extLst>
                  <a:ext uri="{FF2B5EF4-FFF2-40B4-BE49-F238E27FC236}">
                    <a16:creationId xmlns:a16="http://schemas.microsoft.com/office/drawing/2014/main" id="{D8D678C9-6F3B-C7A9-1EAA-9699903B1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5143ABB3-F426-2AC8-BB1F-191FB4CAE0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10">
                <a:extLst>
                  <a:ext uri="{FF2B5EF4-FFF2-40B4-BE49-F238E27FC236}">
                    <a16:creationId xmlns:a16="http://schemas.microsoft.com/office/drawing/2014/main" id="{7AA1FBF0-4FD8-2BB7-4C49-347E1D331F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41C0CB80-437C-A2B0-4899-417F6BFD0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E2510295-A619-5795-3ABE-3DEF02A681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4EEE409E-3190-DDAC-3C95-B847DC50C3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D050F70B-926A-5D79-113A-950E4AB98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5">
                <a:extLst>
                  <a:ext uri="{FF2B5EF4-FFF2-40B4-BE49-F238E27FC236}">
                    <a16:creationId xmlns:a16="http://schemas.microsoft.com/office/drawing/2014/main" id="{76D42C04-ABE0-77B6-EA6E-681474BFC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7547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547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F73EBD4-CCE7-9750-88B2-4F42B3E6B5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9D7DF7F7-A2C1-53AF-62C8-9F821F0AB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70CF21F3-917C-9218-B2BE-4E927D4358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9133F2-B677-4A53-BD0E-3FBE0AAF2C9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9016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9152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5291"/>
            <a:ext cx="8229600" cy="45321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EC5D840-B6D3-623A-8343-93C530153A9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E189FA2-29A5-C5CE-0D92-C90FF73CF75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5E270E-5A61-42A8-9EE0-84559F8CBDA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31D4348B-EA71-879E-8203-54391C73D5E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47597C-5350-48B6-DCBD-9BF1411017F9}"/>
              </a:ext>
            </a:extLst>
          </p:cNvPr>
          <p:cNvSpPr/>
          <p:nvPr/>
        </p:nvSpPr>
        <p:spPr>
          <a:xfrm>
            <a:off x="457200" y="1235278"/>
            <a:ext cx="8370500" cy="10001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10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9AD54EF-3FC5-3272-FE54-D0E3F9534B3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C321292-8B6B-0F21-263A-B1B9598BB42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39229D-A84D-40B5-BECB-BF12688DB400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383AEF31-1D37-5B40-3DEC-C3679BA6A47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42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5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72209"/>
            <a:ext cx="4038600" cy="45951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72209"/>
            <a:ext cx="4038600" cy="45951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0A05A1D-7095-7E52-0847-E1EB13A8AB9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573A413-50AA-E10E-D1C4-54AB2929A24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0EEFDB-D2A3-4E32-9BD6-94B352A5E8E3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6DC26CCE-5CF2-05E4-A18F-AF9D89E652A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8178A5-120B-E6E0-32D5-B9979205E616}"/>
              </a:ext>
            </a:extLst>
          </p:cNvPr>
          <p:cNvSpPr/>
          <p:nvPr/>
        </p:nvSpPr>
        <p:spPr>
          <a:xfrm>
            <a:off x="393589" y="1116008"/>
            <a:ext cx="8370500" cy="10001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01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96FBAD0-FE05-8FD5-F008-8D91060EE18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3F60B54-4634-BE12-F781-52C02402AE8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B947A3-717B-4F82-8CEE-4189FAFABFB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DA344AEB-D089-F4D4-7617-091325A689F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2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631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877D71-2F49-0598-EF2D-EBDFDC849CD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66AE2E-7FBB-CFF0-6AB7-FC12419D530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B77BE9-F1F1-43CB-BE09-FE42FBA34114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5F852CBA-CBBB-399C-F561-B565F6D8807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83EA4-DAA1-6A9A-377D-4591821B0A48}"/>
              </a:ext>
            </a:extLst>
          </p:cNvPr>
          <p:cNvSpPr/>
          <p:nvPr/>
        </p:nvSpPr>
        <p:spPr>
          <a:xfrm>
            <a:off x="457200" y="1123965"/>
            <a:ext cx="8370500" cy="10001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8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4475522-F225-2F07-54B2-1A858EEC50C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3A36220-D3BB-2220-E328-1BDC3ECBD9A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AA84F0-5552-4049-883D-66E42C48375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C69C6519-7D7E-1C39-19BF-6118A091BF0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27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22C61B4-AE33-53ED-41FE-79C0EE9343B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E4B1558-DE88-2783-2867-4510C41576C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ECBD5D-C7B4-49F8-B13C-C6EB7F3149AF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77726854-7C99-0A3F-EDA6-7BF7556D181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64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D913869-D610-825F-F9E5-B607130B6F1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017CFA3-154C-A10B-09C3-3B57E49AF1F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9A25A6-B65E-4439-B1ED-69A5B34EA5A4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3C3434A0-709E-9E6E-7071-5493364FC1E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244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CF0EAA2-82E3-02C6-88F1-73BB7BF7172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8EA639E-141C-5355-9BB9-53EDDE38309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3EC496-EE75-49AC-9C9C-2E5920667E24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40486604-361D-BDC1-D24E-D3F5D2116CB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654C8D-54CF-CA81-68E7-A81525D4F2D8}"/>
              </a:ext>
            </a:extLst>
          </p:cNvPr>
          <p:cNvSpPr/>
          <p:nvPr/>
        </p:nvSpPr>
        <p:spPr>
          <a:xfrm>
            <a:off x="457200" y="1489718"/>
            <a:ext cx="8370500" cy="10001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80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17D27DD-053B-89C8-0CDD-8B6FC2AA33E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1E5CC0D-020C-9B72-2432-4E828F0DC86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F7EF36-19C2-4C12-A3F2-D5EE3A98767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9E509658-25AD-20B6-AFBB-7F6CECBCBA9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859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979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67621"/>
            <a:ext cx="4038600" cy="4499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67621"/>
            <a:ext cx="4038600" cy="4499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719EAA-249E-4846-9B33-E1E9151C6F6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E8C8794-0110-F974-AD1D-4DCD32757E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CFAB49-BEB7-49DE-B3A3-7C2649920A7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61220F6A-C0D2-982C-0CC2-BB2367B1A20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10BF89-6D8F-274F-4F19-5735B86ED250}"/>
              </a:ext>
            </a:extLst>
          </p:cNvPr>
          <p:cNvSpPr/>
          <p:nvPr/>
        </p:nvSpPr>
        <p:spPr>
          <a:xfrm>
            <a:off x="457200" y="1123958"/>
            <a:ext cx="8370500" cy="10001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87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839B0420-276A-4BBA-9B8D-2581239FCA9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C6836D65-D844-48C1-BD51-5896174C913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32CFAB49-BEB7-49DE-B3A3-7C2649920A7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FEE57E7A-C80A-0755-2089-2C53E3FA96D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B653B317-0A87-4CCC-9571-2F709F322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tr-TR" altLang="tr-TR" sz="2400">
                <a:latin typeface="Times New Roman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4A1A39B1-7157-46C7-80EE-A6A6C6068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 sz="2400">
                <a:latin typeface="Times New Roman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DFC27E1E-7B31-4EF5-90FB-EAF7F2E3A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85D778C1-1BD5-4A50-8DAF-E49C9C92C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FD8969B2-448C-46E3-BC56-5143A8B3F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B4792188-569F-498A-8387-6928A2C1B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3524B95B-5120-4208-9243-49F80DD33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 sz="2400">
                <a:latin typeface="Times New Roman" pitchFamily="18" charset="0"/>
              </a:endParaRPr>
            </a:p>
          </p:txBody>
        </p:sp>
        <p:sp>
          <p:nvSpPr>
            <p:cNvPr id="1039" name="Rectangle 12">
              <a:extLst>
                <a:ext uri="{FF2B5EF4-FFF2-40B4-BE49-F238E27FC236}">
                  <a16:creationId xmlns:a16="http://schemas.microsoft.com/office/drawing/2014/main" id="{53832FA5-0898-4881-A7EA-D17A82CD8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20A8BA7D-3BED-4998-AB4F-0059C1465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3CB25864-D50C-C571-C6CD-72975AC554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105057BF-8809-45AA-6DAD-6465C3A20B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274448" name="Rectangle 16">
            <a:extLst>
              <a:ext uri="{FF2B5EF4-FFF2-40B4-BE49-F238E27FC236}">
                <a16:creationId xmlns:a16="http://schemas.microsoft.com/office/drawing/2014/main" id="{353943DA-78F6-4B90-86EF-119FC03DFEB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3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69365FD3-4585-FC23-4DB7-90882CBA8D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Behavioral Patterns</a:t>
            </a:r>
          </a:p>
        </p:txBody>
      </p:sp>
      <p:sp>
        <p:nvSpPr>
          <p:cNvPr id="4099" name="Subtitle 2">
            <a:extLst>
              <a:ext uri="{FF2B5EF4-FFF2-40B4-BE49-F238E27FC236}">
                <a16:creationId xmlns:a16="http://schemas.microsoft.com/office/drawing/2014/main" id="{BF479DC0-BCC7-CFDB-3D7E-1086E3590F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Observer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B6E8570A-9BFC-05F1-E98E-122E4F3354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Back to Traffic Flow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FA2D9BB2-BC4F-9EEF-E79F-3583CCB1D2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tr-TR" sz="2800" dirty="0"/>
              <a:t>Consider the Traffic flow simulation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tr-TR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tr-TR" sz="2800" dirty="0"/>
          </a:p>
          <a:p>
            <a:pPr eaLnBrk="1" hangingPunct="1">
              <a:lnSpc>
                <a:spcPct val="90000"/>
              </a:lnSpc>
            </a:pPr>
            <a:endParaRPr lang="en-US" altLang="tr-TR" sz="2800" dirty="0"/>
          </a:p>
          <a:p>
            <a:pPr eaLnBrk="1" hangingPunct="1">
              <a:lnSpc>
                <a:spcPct val="90000"/>
              </a:lnSpc>
            </a:pPr>
            <a:r>
              <a:rPr lang="en-US" altLang="tr-TR" sz="2800" dirty="0"/>
              <a:t>When a traffic light on a crosswalk changes to 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sz="2400" dirty="0"/>
              <a:t>Motorized vehicles stop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sz="2400" dirty="0"/>
              <a:t>Pedestrians cross the road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tr-TR" sz="2800" dirty="0"/>
              <a:t>Polling is not always a good idea</a:t>
            </a:r>
          </a:p>
          <a:p>
            <a:pPr lvl="1">
              <a:lnSpc>
                <a:spcPct val="90000"/>
              </a:lnSpc>
            </a:pPr>
            <a:r>
              <a:rPr lang="en-US" altLang="tr-TR" sz="2400" dirty="0"/>
              <a:t>Like “are we there yet?” every other second</a:t>
            </a:r>
          </a:p>
        </p:txBody>
      </p:sp>
      <p:sp>
        <p:nvSpPr>
          <p:cNvPr id="5124" name="Line 4">
            <a:extLst>
              <a:ext uri="{FF2B5EF4-FFF2-40B4-BE49-F238E27FC236}">
                <a16:creationId xmlns:a16="http://schemas.microsoft.com/office/drawing/2014/main" id="{A7324627-5798-B99E-8B33-020185FCD5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7813" y="2133600"/>
            <a:ext cx="4319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5" name="Line 5">
            <a:extLst>
              <a:ext uri="{FF2B5EF4-FFF2-40B4-BE49-F238E27FC236}">
                <a16:creationId xmlns:a16="http://schemas.microsoft.com/office/drawing/2014/main" id="{9C72FC7A-CFD3-C283-6A40-9841591EF6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19250" y="2708275"/>
            <a:ext cx="4319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9171311A-C2F9-2B2F-70A3-9ADB20F24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278063"/>
            <a:ext cx="792162" cy="714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AE2F7663-313E-80DE-0AEA-B5DAA6EAF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420938"/>
            <a:ext cx="792162" cy="714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AF2D6DFE-F0F0-0CEB-699C-71C9ECB47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565400"/>
            <a:ext cx="792162" cy="714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2D1EA19C-55AB-C6BA-7969-D0C16FF4A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2349500"/>
            <a:ext cx="647700" cy="142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5130" name="Rectangle 10">
            <a:extLst>
              <a:ext uri="{FF2B5EF4-FFF2-40B4-BE49-F238E27FC236}">
                <a16:creationId xmlns:a16="http://schemas.microsoft.com/office/drawing/2014/main" id="{79723E4C-E57B-8A96-CA1C-C2C120E27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2205038"/>
            <a:ext cx="215900" cy="1444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5131" name="Oval 11">
            <a:extLst>
              <a:ext uri="{FF2B5EF4-FFF2-40B4-BE49-F238E27FC236}">
                <a16:creationId xmlns:a16="http://schemas.microsoft.com/office/drawing/2014/main" id="{CCC749BC-0408-C1C9-4AD8-9C00E19E9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492375"/>
            <a:ext cx="71437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5132" name="Oval 12">
            <a:extLst>
              <a:ext uri="{FF2B5EF4-FFF2-40B4-BE49-F238E27FC236}">
                <a16:creationId xmlns:a16="http://schemas.microsoft.com/office/drawing/2014/main" id="{14B04E99-8609-FCF2-DF49-60EB4BA1A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492375"/>
            <a:ext cx="71438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5133" name="Oval 13">
            <a:extLst>
              <a:ext uri="{FF2B5EF4-FFF2-40B4-BE49-F238E27FC236}">
                <a16:creationId xmlns:a16="http://schemas.microsoft.com/office/drawing/2014/main" id="{94E159CF-750E-421A-A93C-5AF007767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781300"/>
            <a:ext cx="287337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5134" name="Oval 14">
            <a:extLst>
              <a:ext uri="{FF2B5EF4-FFF2-40B4-BE49-F238E27FC236}">
                <a16:creationId xmlns:a16="http://schemas.microsoft.com/office/drawing/2014/main" id="{2B925162-FC9D-3196-CB20-B6016FFB8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2781300"/>
            <a:ext cx="287338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5135" name="Rectangle 15">
            <a:extLst>
              <a:ext uri="{FF2B5EF4-FFF2-40B4-BE49-F238E27FC236}">
                <a16:creationId xmlns:a16="http://schemas.microsoft.com/office/drawing/2014/main" id="{AF514B01-ECF8-677C-C827-5699E2986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2492375"/>
            <a:ext cx="144462" cy="7302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5136" name="Rectangle 16">
            <a:extLst>
              <a:ext uri="{FF2B5EF4-FFF2-40B4-BE49-F238E27FC236}">
                <a16:creationId xmlns:a16="http://schemas.microsoft.com/office/drawing/2014/main" id="{F6D02CA2-D582-04E8-B227-12EDD9566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2636838"/>
            <a:ext cx="144462" cy="7302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5137" name="Rectangle 17">
            <a:extLst>
              <a:ext uri="{FF2B5EF4-FFF2-40B4-BE49-F238E27FC236}">
                <a16:creationId xmlns:a16="http://schemas.microsoft.com/office/drawing/2014/main" id="{5CC97C52-B6F4-8310-9224-DC233DAA6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2565400"/>
            <a:ext cx="144462" cy="7302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9414A4AA-03F3-022A-6E9F-35C07A6CB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tr-TR" dirty="0"/>
              <a:t>Common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87920-ACCB-E6C2-5F15-C4C84C90E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What if a group of objects needs to update themselves when some object changes state? 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Common problem! </a:t>
            </a:r>
          </a:p>
          <a:p>
            <a:pPr lvl="2" eaLnBrk="1" hangingPunct="1">
              <a:defRPr/>
            </a:pPr>
            <a:r>
              <a:rPr lang="en-US" dirty="0">
                <a:ea typeface="+mn-ea"/>
                <a:cs typeface="+mn-cs"/>
              </a:rPr>
              <a:t>Data changes, update the view </a:t>
            </a:r>
            <a:r>
              <a:rPr lang="en-US" sz="1800" dirty="0"/>
              <a:t>(MVC)</a:t>
            </a:r>
          </a:p>
          <a:p>
            <a:pPr lvl="2" eaLnBrk="1" hangingPunct="1">
              <a:defRPr/>
            </a:pPr>
            <a:r>
              <a:rPr lang="en-US" dirty="0">
                <a:ea typeface="+mn-ea"/>
                <a:cs typeface="+mn-cs"/>
              </a:rPr>
              <a:t>Traffic Light changes, vehicles and peds need to update themselves (take action) </a:t>
            </a:r>
          </a:p>
          <a:p>
            <a:pPr lvl="2" eaLnBrk="1" hangingPunct="1">
              <a:defRPr/>
            </a:pPr>
            <a:r>
              <a:rPr lang="en-US" dirty="0">
                <a:ea typeface="+mn-ea"/>
                <a:cs typeface="+mn-cs"/>
              </a:rPr>
              <a:t>Following in social media</a:t>
            </a:r>
          </a:p>
          <a:p>
            <a:pPr eaLnBrk="1" hangingPunct="1">
              <a:defRPr/>
            </a:pPr>
            <a:r>
              <a:rPr lang="en-US" dirty="0"/>
              <a:t>Solution: subscribe and get notifications</a:t>
            </a:r>
          </a:p>
          <a:p>
            <a:pPr>
              <a:defRPr/>
            </a:pPr>
            <a:r>
              <a:rPr lang="en-US" dirty="0"/>
              <a:t> i.e. The </a:t>
            </a:r>
            <a:r>
              <a:rPr lang="en-US" b="1" dirty="0"/>
              <a:t>Observer</a:t>
            </a:r>
            <a:r>
              <a:rPr lang="en-US" dirty="0"/>
              <a:t> pattern </a:t>
            </a:r>
          </a:p>
          <a:p>
            <a:pPr marL="0" indent="0" eaLnBrk="1" hangingPunct="1">
              <a:buNone/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CBF79E46-69C8-47A5-CFA7-7379D5392B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Back to Traffic Flow</a:t>
            </a: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7DBF9B1F-DE82-7F44-3B03-753117D50D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tr-TR" sz="2800" dirty="0"/>
              <a:t>Consider the Traffic flow simulation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tr-TR" sz="2800" dirty="0"/>
          </a:p>
          <a:p>
            <a:pPr eaLnBrk="1" hangingPunct="1">
              <a:lnSpc>
                <a:spcPct val="90000"/>
              </a:lnSpc>
            </a:pPr>
            <a:endParaRPr lang="en-US" altLang="tr-TR" sz="2800" dirty="0"/>
          </a:p>
          <a:p>
            <a:pPr eaLnBrk="1" hangingPunct="1">
              <a:lnSpc>
                <a:spcPct val="90000"/>
              </a:lnSpc>
            </a:pPr>
            <a:r>
              <a:rPr lang="en-US" altLang="tr-TR" sz="2400" dirty="0"/>
              <a:t>When a traffic light on a crosswalk changes to 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sz="2000" dirty="0"/>
              <a:t>Motorized vehicles stop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sz="2000" dirty="0"/>
              <a:t>Pedestrians cross the road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tr-TR" sz="2400" dirty="0"/>
              <a:t>Polling is not always a good idea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tr-TR" sz="2800" dirty="0">
                <a:solidFill>
                  <a:schemeClr val="bg2"/>
                </a:solidFill>
              </a:rPr>
              <a:t>The waiting queues and people on each side should be notified </a:t>
            </a:r>
            <a:r>
              <a:rPr lang="en-US" altLang="tr-TR" sz="2800" u="sng" dirty="0">
                <a:solidFill>
                  <a:schemeClr val="bg2"/>
                </a:solidFill>
              </a:rPr>
              <a:t>when light changes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b="1" dirty="0">
                <a:solidFill>
                  <a:schemeClr val="bg2"/>
                </a:solidFill>
              </a:rPr>
              <a:t>Observer pattern</a:t>
            </a:r>
          </a:p>
        </p:txBody>
      </p:sp>
      <p:sp>
        <p:nvSpPr>
          <p:cNvPr id="7172" name="Line 4">
            <a:extLst>
              <a:ext uri="{FF2B5EF4-FFF2-40B4-BE49-F238E27FC236}">
                <a16:creationId xmlns:a16="http://schemas.microsoft.com/office/drawing/2014/main" id="{89CEB4BA-611B-5E8E-419D-33DEF1068B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19672" y="1945352"/>
            <a:ext cx="4319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3" name="Line 5">
            <a:extLst>
              <a:ext uri="{FF2B5EF4-FFF2-40B4-BE49-F238E27FC236}">
                <a16:creationId xmlns:a16="http://schemas.microsoft.com/office/drawing/2014/main" id="{D22DCEC7-4EB5-7B3E-DE8C-EF2EF4DEA3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1109" y="2520027"/>
            <a:ext cx="4319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82C1CAB8-728A-A697-0FEB-16BEEA9CA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97" y="2089815"/>
            <a:ext cx="792162" cy="714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59891B16-F1DE-A360-9F1A-8E69F58C3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97" y="2232690"/>
            <a:ext cx="792162" cy="714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95C5BA8F-2429-58F2-930B-AEF029877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97" y="2377152"/>
            <a:ext cx="792162" cy="714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7177" name="Rectangle 9">
            <a:extLst>
              <a:ext uri="{FF2B5EF4-FFF2-40B4-BE49-F238E27FC236}">
                <a16:creationId xmlns:a16="http://schemas.microsoft.com/office/drawing/2014/main" id="{4319A2C8-974F-F2CD-E13A-865B581EE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759" y="2161252"/>
            <a:ext cx="647700" cy="142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7178" name="Rectangle 10">
            <a:extLst>
              <a:ext uri="{FF2B5EF4-FFF2-40B4-BE49-F238E27FC236}">
                <a16:creationId xmlns:a16="http://schemas.microsoft.com/office/drawing/2014/main" id="{1E2320DB-7A22-1274-827E-3C9DEA275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659" y="2016790"/>
            <a:ext cx="215900" cy="1444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7179" name="Oval 11">
            <a:extLst>
              <a:ext uri="{FF2B5EF4-FFF2-40B4-BE49-F238E27FC236}">
                <a16:creationId xmlns:a16="http://schemas.microsoft.com/office/drawing/2014/main" id="{DD280600-C396-E3E2-EB48-B8B2D8C5A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222" y="2304127"/>
            <a:ext cx="71437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7180" name="Oval 12">
            <a:extLst>
              <a:ext uri="{FF2B5EF4-FFF2-40B4-BE49-F238E27FC236}">
                <a16:creationId xmlns:a16="http://schemas.microsoft.com/office/drawing/2014/main" id="{92D53A0C-B0E6-FAB0-CBB9-7F43A741D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559" y="2304127"/>
            <a:ext cx="71438" cy="73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7181" name="Oval 13">
            <a:extLst>
              <a:ext uri="{FF2B5EF4-FFF2-40B4-BE49-F238E27FC236}">
                <a16:creationId xmlns:a16="http://schemas.microsoft.com/office/drawing/2014/main" id="{4BB03648-2BAC-514B-8B88-39074268A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97" y="2593052"/>
            <a:ext cx="287337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7182" name="Oval 14">
            <a:extLst>
              <a:ext uri="{FF2B5EF4-FFF2-40B4-BE49-F238E27FC236}">
                <a16:creationId xmlns:a16="http://schemas.microsoft.com/office/drawing/2014/main" id="{E67D13D8-C98F-C86E-8094-2F17F309C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0259" y="2593052"/>
            <a:ext cx="287338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7183" name="Rectangle 15">
            <a:extLst>
              <a:ext uri="{FF2B5EF4-FFF2-40B4-BE49-F238E27FC236}">
                <a16:creationId xmlns:a16="http://schemas.microsoft.com/office/drawing/2014/main" id="{96694E75-5175-1F09-0B8E-61ABC8C5F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397" y="2304127"/>
            <a:ext cx="144462" cy="7302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7184" name="Rectangle 16">
            <a:extLst>
              <a:ext uri="{FF2B5EF4-FFF2-40B4-BE49-F238E27FC236}">
                <a16:creationId xmlns:a16="http://schemas.microsoft.com/office/drawing/2014/main" id="{39DEE79C-9AAF-69AE-031D-E25D2D02B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397" y="2448590"/>
            <a:ext cx="144462" cy="7302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7185" name="Rectangle 17">
            <a:extLst>
              <a:ext uri="{FF2B5EF4-FFF2-40B4-BE49-F238E27FC236}">
                <a16:creationId xmlns:a16="http://schemas.microsoft.com/office/drawing/2014/main" id="{05F0E9A0-BF27-ECA7-542A-E6A381AA3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397" y="2377152"/>
            <a:ext cx="144462" cy="7302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2">
            <a:extLst>
              <a:ext uri="{FF2B5EF4-FFF2-40B4-BE49-F238E27FC236}">
                <a16:creationId xmlns:a16="http://schemas.microsoft.com/office/drawing/2014/main" id="{737F103D-9B94-129B-CEEA-2B0D154ED7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0413" y="2205038"/>
            <a:ext cx="0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5" name="Line 3">
            <a:extLst>
              <a:ext uri="{FF2B5EF4-FFF2-40B4-BE49-F238E27FC236}">
                <a16:creationId xmlns:a16="http://schemas.microsoft.com/office/drawing/2014/main" id="{B13B4F32-8A95-C6F2-08DB-A1D550650D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6588" y="2205038"/>
            <a:ext cx="0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24F97842-67CD-96A7-2859-09D252B185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Observer Pattern</a:t>
            </a: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52D707EA-2BC4-C3A1-9218-5DDAA3A19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400" y="1773238"/>
            <a:ext cx="1679575" cy="3921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1800" u="sng" dirty="0"/>
              <a:t>:</a:t>
            </a:r>
            <a:r>
              <a:rPr lang="en-US" altLang="tr-TR" sz="1800" u="sng" dirty="0" err="1"/>
              <a:t>TrafficLight</a:t>
            </a:r>
            <a:endParaRPr lang="en-US" altLang="tr-TR" sz="1800" u="sng" dirty="0"/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7643F44D-43B8-9E4E-8954-40B940724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2713" y="1773238"/>
            <a:ext cx="1295400" cy="4048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1800" u="sng" dirty="0"/>
              <a:t>:Pedestrian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472EA4B5-817B-F651-5195-E083787D4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4738" y="1773238"/>
            <a:ext cx="1730375" cy="3921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1800" u="sng" dirty="0"/>
              <a:t>:</a:t>
            </a:r>
            <a:r>
              <a:rPr lang="en-US" altLang="tr-TR" sz="1800" u="sng" dirty="0" err="1"/>
              <a:t>VehicleQueue</a:t>
            </a:r>
            <a:endParaRPr lang="en-US" altLang="tr-TR" sz="1800" u="sng" dirty="0"/>
          </a:p>
        </p:txBody>
      </p:sp>
      <p:sp>
        <p:nvSpPr>
          <p:cNvPr id="8200" name="Text Box 8">
            <a:extLst>
              <a:ext uri="{FF2B5EF4-FFF2-40B4-BE49-F238E27FC236}">
                <a16:creationId xmlns:a16="http://schemas.microsoft.com/office/drawing/2014/main" id="{2A00C0C1-CAD4-91C2-AD6B-C806F8D51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488" y="4292600"/>
            <a:ext cx="1035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/>
              <a:t>update()</a:t>
            </a:r>
          </a:p>
        </p:txBody>
      </p:sp>
      <p:sp>
        <p:nvSpPr>
          <p:cNvPr id="8201" name="Line 9">
            <a:extLst>
              <a:ext uri="{FF2B5EF4-FFF2-40B4-BE49-F238E27FC236}">
                <a16:creationId xmlns:a16="http://schemas.microsoft.com/office/drawing/2014/main" id="{EB1B76AA-FE4F-D468-1DEE-26533F154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9463" y="2781300"/>
            <a:ext cx="2376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2" name="Rectangle 10">
            <a:extLst>
              <a:ext uri="{FF2B5EF4-FFF2-40B4-BE49-F238E27FC236}">
                <a16:creationId xmlns:a16="http://schemas.microsoft.com/office/drawing/2014/main" id="{C17A72E3-4CB7-77A4-A341-708AD2437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5" y="2563813"/>
            <a:ext cx="287338" cy="5048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8203" name="Line 11">
            <a:extLst>
              <a:ext uri="{FF2B5EF4-FFF2-40B4-BE49-F238E27FC236}">
                <a16:creationId xmlns:a16="http://schemas.microsoft.com/office/drawing/2014/main" id="{AFED7011-A06B-697D-D469-B63E3B2DE7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49463" y="4652963"/>
            <a:ext cx="2305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4" name="Line 12">
            <a:extLst>
              <a:ext uri="{FF2B5EF4-FFF2-40B4-BE49-F238E27FC236}">
                <a16:creationId xmlns:a16="http://schemas.microsoft.com/office/drawing/2014/main" id="{20F62DF2-18E0-5B66-736B-1F50FB537A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9463" y="5229225"/>
            <a:ext cx="4751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5" name="Text Box 13">
            <a:extLst>
              <a:ext uri="{FF2B5EF4-FFF2-40B4-BE49-F238E27FC236}">
                <a16:creationId xmlns:a16="http://schemas.microsoft.com/office/drawing/2014/main" id="{92D8F6AF-AFAB-AA90-F39B-9EBA07BCB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488" y="2414588"/>
            <a:ext cx="2012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/>
              <a:t>addObserver(this)</a:t>
            </a:r>
          </a:p>
        </p:txBody>
      </p:sp>
      <p:grpSp>
        <p:nvGrpSpPr>
          <p:cNvPr id="8206" name="Group 14">
            <a:extLst>
              <a:ext uri="{FF2B5EF4-FFF2-40B4-BE49-F238E27FC236}">
                <a16:creationId xmlns:a16="http://schemas.microsoft.com/office/drawing/2014/main" id="{432E5FC1-4E0C-E0CC-8281-35E379F2CE95}"/>
              </a:ext>
            </a:extLst>
          </p:cNvPr>
          <p:cNvGrpSpPr>
            <a:grpSpLocks/>
          </p:cNvGrpSpPr>
          <p:nvPr/>
        </p:nvGrpSpPr>
        <p:grpSpPr bwMode="auto">
          <a:xfrm>
            <a:off x="1762125" y="3862388"/>
            <a:ext cx="217488" cy="214312"/>
            <a:chOff x="1292" y="2614"/>
            <a:chExt cx="137" cy="135"/>
          </a:xfrm>
        </p:grpSpPr>
        <p:sp>
          <p:nvSpPr>
            <p:cNvPr id="8226" name="Line 15">
              <a:extLst>
                <a:ext uri="{FF2B5EF4-FFF2-40B4-BE49-F238E27FC236}">
                  <a16:creationId xmlns:a16="http://schemas.microsoft.com/office/drawing/2014/main" id="{845963DF-9F58-D137-FF1E-021B6BFF8E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2614"/>
              <a:ext cx="137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7" name="Line 16">
              <a:extLst>
                <a:ext uri="{FF2B5EF4-FFF2-40B4-BE49-F238E27FC236}">
                  <a16:creationId xmlns:a16="http://schemas.microsoft.com/office/drawing/2014/main" id="{22200E54-28DD-7B65-549C-1511E52757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2659"/>
              <a:ext cx="137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207" name="Line 17">
            <a:extLst>
              <a:ext uri="{FF2B5EF4-FFF2-40B4-BE49-F238E27FC236}">
                <a16:creationId xmlns:a16="http://schemas.microsoft.com/office/drawing/2014/main" id="{AD3BCE96-8B16-9625-0D3B-EAC62AA02B8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6588" y="4005263"/>
            <a:ext cx="0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8" name="Rectangle 18">
            <a:extLst>
              <a:ext uri="{FF2B5EF4-FFF2-40B4-BE49-F238E27FC236}">
                <a16:creationId xmlns:a16="http://schemas.microsoft.com/office/drawing/2014/main" id="{4AB92C47-D099-40F6-632A-4BCCAEC40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5" y="4292600"/>
            <a:ext cx="287338" cy="10810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8209" name="Line 19">
            <a:extLst>
              <a:ext uri="{FF2B5EF4-FFF2-40B4-BE49-F238E27FC236}">
                <a16:creationId xmlns:a16="http://schemas.microsoft.com/office/drawing/2014/main" id="{8A15720D-BB53-3353-6D3D-3D6D62949C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25950" y="3862388"/>
            <a:ext cx="217488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0" name="Line 20">
            <a:extLst>
              <a:ext uri="{FF2B5EF4-FFF2-40B4-BE49-F238E27FC236}">
                <a16:creationId xmlns:a16="http://schemas.microsoft.com/office/drawing/2014/main" id="{E0DF028E-10CE-A9BF-C792-CBFD817312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25950" y="3933825"/>
            <a:ext cx="217488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1" name="Line 21">
            <a:extLst>
              <a:ext uri="{FF2B5EF4-FFF2-40B4-BE49-F238E27FC236}">
                <a16:creationId xmlns:a16="http://schemas.microsoft.com/office/drawing/2014/main" id="{81276354-6ACD-FBC1-B21C-614BDB590B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0413" y="4005263"/>
            <a:ext cx="0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2" name="Line 22">
            <a:extLst>
              <a:ext uri="{FF2B5EF4-FFF2-40B4-BE49-F238E27FC236}">
                <a16:creationId xmlns:a16="http://schemas.microsoft.com/office/drawing/2014/main" id="{2D77FF40-12FB-D019-3995-0B20068000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02438" y="3862388"/>
            <a:ext cx="217487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3" name="Line 23">
            <a:extLst>
              <a:ext uri="{FF2B5EF4-FFF2-40B4-BE49-F238E27FC236}">
                <a16:creationId xmlns:a16="http://schemas.microsoft.com/office/drawing/2014/main" id="{250EDA81-B80E-FDE4-C3D9-4E7225B5DC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02438" y="3933825"/>
            <a:ext cx="217487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4" name="Line 24">
            <a:extLst>
              <a:ext uri="{FF2B5EF4-FFF2-40B4-BE49-F238E27FC236}">
                <a16:creationId xmlns:a16="http://schemas.microsoft.com/office/drawing/2014/main" id="{DD433372-7B20-A438-83C3-DC6F67515D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6900" y="4005263"/>
            <a:ext cx="0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5" name="Rectangle 25">
            <a:extLst>
              <a:ext uri="{FF2B5EF4-FFF2-40B4-BE49-F238E27FC236}">
                <a16:creationId xmlns:a16="http://schemas.microsoft.com/office/drawing/2014/main" id="{CAF3874C-E7D0-688D-D749-DD30F6E31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950" y="2565400"/>
            <a:ext cx="288925" cy="5048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8216" name="Rectangle 26">
            <a:extLst>
              <a:ext uri="{FF2B5EF4-FFF2-40B4-BE49-F238E27FC236}">
                <a16:creationId xmlns:a16="http://schemas.microsoft.com/office/drawing/2014/main" id="{141F95F6-9CA0-B6B7-E4F2-9950D2694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5950" y="4437063"/>
            <a:ext cx="288925" cy="7127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8217" name="Rectangle 27">
            <a:extLst>
              <a:ext uri="{FF2B5EF4-FFF2-40B4-BE49-F238E27FC236}">
                <a16:creationId xmlns:a16="http://schemas.microsoft.com/office/drawing/2014/main" id="{72497C7D-8320-536F-F66B-575C7FDFD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438" y="4941888"/>
            <a:ext cx="288925" cy="5048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8218" name="Text Box 28">
            <a:extLst>
              <a:ext uri="{FF2B5EF4-FFF2-40B4-BE49-F238E27FC236}">
                <a16:creationId xmlns:a16="http://schemas.microsoft.com/office/drawing/2014/main" id="{81AE3D43-4533-D37C-66D8-9A37922A6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2990850"/>
            <a:ext cx="201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/>
              <a:t>addObserver(this)</a:t>
            </a:r>
          </a:p>
        </p:txBody>
      </p:sp>
      <p:sp>
        <p:nvSpPr>
          <p:cNvPr id="8219" name="Line 29">
            <a:extLst>
              <a:ext uri="{FF2B5EF4-FFF2-40B4-BE49-F238E27FC236}">
                <a16:creationId xmlns:a16="http://schemas.microsoft.com/office/drawing/2014/main" id="{360016D7-A257-F78C-D080-9B9C46D64E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9463" y="3357563"/>
            <a:ext cx="4897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0" name="Line 30">
            <a:extLst>
              <a:ext uri="{FF2B5EF4-FFF2-40B4-BE49-F238E27FC236}">
                <a16:creationId xmlns:a16="http://schemas.microsoft.com/office/drawing/2014/main" id="{CEE9E30B-65C0-3CC3-D91A-EA5572B061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6900" y="2205038"/>
            <a:ext cx="0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1" name="Rectangle 31">
            <a:extLst>
              <a:ext uri="{FF2B5EF4-FFF2-40B4-BE49-F238E27FC236}">
                <a16:creationId xmlns:a16="http://schemas.microsoft.com/office/drawing/2014/main" id="{03F3EDA4-9FE6-6E3A-89E9-81A02ECDA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438" y="2997200"/>
            <a:ext cx="288925" cy="5048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8222" name="Rectangle 32">
            <a:extLst>
              <a:ext uri="{FF2B5EF4-FFF2-40B4-BE49-F238E27FC236}">
                <a16:creationId xmlns:a16="http://schemas.microsoft.com/office/drawing/2014/main" id="{6361DEFA-59A5-8140-C4D2-8C0947ED2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5" y="3213100"/>
            <a:ext cx="287338" cy="5048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sp>
        <p:nvSpPr>
          <p:cNvPr id="8223" name="Text Box 33">
            <a:extLst>
              <a:ext uri="{FF2B5EF4-FFF2-40B4-BE49-F238E27FC236}">
                <a16:creationId xmlns:a16="http://schemas.microsoft.com/office/drawing/2014/main" id="{43BE8503-15F7-8432-2C8A-6A2AA001D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488" y="4797425"/>
            <a:ext cx="1035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/>
              <a:t>update()</a:t>
            </a:r>
          </a:p>
        </p:txBody>
      </p:sp>
      <p:sp>
        <p:nvSpPr>
          <p:cNvPr id="8224" name="Text Box 34">
            <a:extLst>
              <a:ext uri="{FF2B5EF4-FFF2-40B4-BE49-F238E27FC236}">
                <a16:creationId xmlns:a16="http://schemas.microsoft.com/office/drawing/2014/main" id="{56C4A1F0-C4EA-04B5-D3C4-7773B12DF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5824538"/>
            <a:ext cx="611609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2000" dirty="0"/>
              <a:t>Traffic light notifies all of its observers at once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2000" dirty="0" err="1"/>
              <a:t>TrafficLight</a:t>
            </a:r>
            <a:r>
              <a:rPr lang="en-US" altLang="tr-TR" sz="2000" dirty="0"/>
              <a:t>::notify(){ for each observer o </a:t>
            </a:r>
            <a:r>
              <a:rPr lang="en-US" altLang="tr-TR" sz="2000" dirty="0" err="1"/>
              <a:t>o.update</a:t>
            </a:r>
            <a:r>
              <a:rPr lang="en-US" altLang="tr-TR" sz="2000" dirty="0"/>
              <a:t>();}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A01A5C-638C-0792-5018-B3D7C17789CB}"/>
              </a:ext>
            </a:extLst>
          </p:cNvPr>
          <p:cNvSpPr txBox="1"/>
          <p:nvPr/>
        </p:nvSpPr>
        <p:spPr>
          <a:xfrm>
            <a:off x="203200" y="3997325"/>
            <a:ext cx="1582738" cy="64611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/>
              <a:t>Traffic light</a:t>
            </a:r>
          </a:p>
          <a:p>
            <a:pPr eaLnBrk="1" hangingPunct="1">
              <a:defRPr/>
            </a:pPr>
            <a:r>
              <a:rPr lang="en-US" dirty="0"/>
              <a:t>becomes  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84E2D61-4D98-8CE3-D824-2D93387DE5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Observer Pattern 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39FE4F2-2365-ED8D-E9E3-B0447C5CED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536" y="1268760"/>
            <a:ext cx="8229600" cy="4532109"/>
          </a:xfrm>
        </p:spPr>
        <p:txBody>
          <a:bodyPr/>
          <a:lstStyle/>
          <a:p>
            <a:pPr eaLnBrk="1" hangingPunct="1"/>
            <a:r>
              <a:rPr lang="en-US" altLang="tr-TR" sz="2800" dirty="0"/>
              <a:t>There is a one-to-many dependence</a:t>
            </a:r>
          </a:p>
          <a:p>
            <a:pPr lvl="1"/>
            <a:r>
              <a:rPr lang="en-US" altLang="tr-TR" sz="2400" dirty="0"/>
              <a:t>Many objects are interested in the Traffic Light</a:t>
            </a:r>
          </a:p>
          <a:p>
            <a:pPr eaLnBrk="1" hangingPunct="1"/>
            <a:r>
              <a:rPr lang="en-US" altLang="tr-TR" sz="2800" dirty="0"/>
              <a:t>Observers (Waiting queues, pedestrians) register to the Subject (Traffic Light) </a:t>
            </a:r>
          </a:p>
          <a:p>
            <a:pPr lvl="1" eaLnBrk="1" hangingPunct="1"/>
            <a:r>
              <a:rPr lang="en-US" altLang="tr-TR" sz="2400" dirty="0"/>
              <a:t>Observers can change at runtime </a:t>
            </a:r>
          </a:p>
          <a:p>
            <a:pPr eaLnBrk="1" hangingPunct="1"/>
            <a:r>
              <a:rPr lang="en-US" altLang="tr-TR" sz="2800" dirty="0"/>
              <a:t>Change of state (light change) of the Subject notifies the observers</a:t>
            </a:r>
          </a:p>
          <a:p>
            <a:pPr lvl="1"/>
            <a:r>
              <a:rPr lang="en-US" altLang="tr-TR" sz="2400" dirty="0"/>
              <a:t>Observers get notified about any events that happen in the Subject</a:t>
            </a:r>
          </a:p>
          <a:p>
            <a:pPr lvl="1"/>
            <a:r>
              <a:rPr lang="en-US" altLang="tr-TR" sz="2400" dirty="0"/>
              <a:t>Change of state, events ….</a:t>
            </a:r>
          </a:p>
          <a:p>
            <a:r>
              <a:rPr lang="en-US" altLang="tr-TR" sz="2800" dirty="0"/>
              <a:t>Observers take action upon notification</a:t>
            </a:r>
          </a:p>
          <a:p>
            <a:pPr lvl="1"/>
            <a:r>
              <a:rPr lang="en-US" altLang="tr-TR" sz="2400" dirty="0"/>
              <a:t>Update themselves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87B233D-D4C5-5788-A5D4-1912CAB5A6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 Structure: Observer Pattern</a:t>
            </a:r>
          </a:p>
        </p:txBody>
      </p:sp>
      <p:grpSp>
        <p:nvGrpSpPr>
          <p:cNvPr id="10243" name="Group 3">
            <a:extLst>
              <a:ext uri="{FF2B5EF4-FFF2-40B4-BE49-F238E27FC236}">
                <a16:creationId xmlns:a16="http://schemas.microsoft.com/office/drawing/2014/main" id="{9D204458-8B21-0785-972B-52CD8F7FBF57}"/>
              </a:ext>
            </a:extLst>
          </p:cNvPr>
          <p:cNvGrpSpPr>
            <a:grpSpLocks/>
          </p:cNvGrpSpPr>
          <p:nvPr/>
        </p:nvGrpSpPr>
        <p:grpSpPr bwMode="auto">
          <a:xfrm>
            <a:off x="683932" y="1500821"/>
            <a:ext cx="2701303" cy="1727198"/>
            <a:chOff x="498" y="2132014"/>
            <a:chExt cx="1458" cy="1479551"/>
          </a:xfrm>
        </p:grpSpPr>
        <p:sp>
          <p:nvSpPr>
            <p:cNvPr id="10267" name="Rectangle 4">
              <a:extLst>
                <a:ext uri="{FF2B5EF4-FFF2-40B4-BE49-F238E27FC236}">
                  <a16:creationId xmlns:a16="http://schemas.microsoft.com/office/drawing/2014/main" id="{677DA747-2DF1-D007-2F55-0FE98DA23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2132014"/>
              <a:ext cx="1225" cy="12969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tr-TR" sz="1800"/>
            </a:p>
          </p:txBody>
        </p:sp>
        <p:sp>
          <p:nvSpPr>
            <p:cNvPr id="10268" name="Text Box 5">
              <a:extLst>
                <a:ext uri="{FF2B5EF4-FFF2-40B4-BE49-F238E27FC236}">
                  <a16:creationId xmlns:a16="http://schemas.microsoft.com/office/drawing/2014/main" id="{0602C244-A0A5-8267-515E-D0AC2A85F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" y="2133602"/>
              <a:ext cx="1458" cy="147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b="1" i="1" dirty="0"/>
                <a:t>Subject</a:t>
              </a:r>
              <a:endParaRPr lang="en-US" altLang="tr-TR" sz="1800" b="1" i="1" dirty="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tr-TR" sz="1000" b="1" dirty="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1800" dirty="0"/>
                <a:t>+</a:t>
              </a:r>
              <a:r>
                <a:rPr lang="en-US" altLang="tr-TR" sz="2000" dirty="0"/>
                <a:t>attach(observer)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dirty="0"/>
                <a:t>+detach(observer)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dirty="0"/>
                <a:t>+notify()                 </a:t>
              </a:r>
            </a:p>
          </p:txBody>
        </p:sp>
        <p:sp>
          <p:nvSpPr>
            <p:cNvPr id="10269" name="Line 6">
              <a:extLst>
                <a:ext uri="{FF2B5EF4-FFF2-40B4-BE49-F238E27FC236}">
                  <a16:creationId xmlns:a16="http://schemas.microsoft.com/office/drawing/2014/main" id="{133DBA41-DF03-81B0-CF37-BE7C0F5F5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" y="2492377"/>
              <a:ext cx="1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Line 7">
              <a:extLst>
                <a:ext uri="{FF2B5EF4-FFF2-40B4-BE49-F238E27FC236}">
                  <a16:creationId xmlns:a16="http://schemas.microsoft.com/office/drawing/2014/main" id="{F8673107-7B3E-2EEF-3F3B-576FAAB59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2563813"/>
              <a:ext cx="1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44" name="Line 8">
            <a:extLst>
              <a:ext uri="{FF2B5EF4-FFF2-40B4-BE49-F238E27FC236}">
                <a16:creationId xmlns:a16="http://schemas.microsoft.com/office/drawing/2014/main" id="{B9770AEB-1F00-77FE-46BF-B606F87427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5518" y="2349499"/>
            <a:ext cx="2087207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245" name="Group 9">
            <a:extLst>
              <a:ext uri="{FF2B5EF4-FFF2-40B4-BE49-F238E27FC236}">
                <a16:creationId xmlns:a16="http://schemas.microsoft.com/office/drawing/2014/main" id="{B4205B68-664E-E721-142F-602CC429A935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2133600"/>
            <a:ext cx="1366838" cy="1008063"/>
            <a:chOff x="3334" y="1344"/>
            <a:chExt cx="861" cy="635"/>
          </a:xfrm>
        </p:grpSpPr>
        <p:sp>
          <p:nvSpPr>
            <p:cNvPr id="10262" name="Rectangle 10">
              <a:extLst>
                <a:ext uri="{FF2B5EF4-FFF2-40B4-BE49-F238E27FC236}">
                  <a16:creationId xmlns:a16="http://schemas.microsoft.com/office/drawing/2014/main" id="{8627217F-0065-7BAA-2A58-2EDD06BCF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1344"/>
              <a:ext cx="861" cy="4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tr-TR" sz="1800"/>
            </a:p>
          </p:txBody>
        </p:sp>
        <p:sp>
          <p:nvSpPr>
            <p:cNvPr id="10263" name="Text Box 11">
              <a:extLst>
                <a:ext uri="{FF2B5EF4-FFF2-40B4-BE49-F238E27FC236}">
                  <a16:creationId xmlns:a16="http://schemas.microsoft.com/office/drawing/2014/main" id="{3C40EC36-A0DF-CBF6-57B7-0EF49E854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" y="1345"/>
              <a:ext cx="855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b="1" i="1" dirty="0"/>
                <a:t>Observer</a:t>
              </a:r>
              <a:endParaRPr lang="en-US" altLang="tr-TR" sz="1800" b="1" i="1" dirty="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tr-TR" sz="1000" b="1" dirty="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i="1" dirty="0"/>
                <a:t>+update() </a:t>
              </a:r>
            </a:p>
          </p:txBody>
        </p:sp>
        <p:sp>
          <p:nvSpPr>
            <p:cNvPr id="10264" name="Line 12">
              <a:extLst>
                <a:ext uri="{FF2B5EF4-FFF2-40B4-BE49-F238E27FC236}">
                  <a16:creationId xmlns:a16="http://schemas.microsoft.com/office/drawing/2014/main" id="{83B699E7-DC42-B51D-5CA8-A4C5AC59D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616"/>
              <a:ext cx="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Line 13">
              <a:extLst>
                <a:ext uri="{FF2B5EF4-FFF2-40B4-BE49-F238E27FC236}">
                  <a16:creationId xmlns:a16="http://schemas.microsoft.com/office/drawing/2014/main" id="{8A3E3644-E01C-951D-3BCA-497734BD0E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570"/>
              <a:ext cx="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6" name="AutoShape 14">
              <a:extLst>
                <a:ext uri="{FF2B5EF4-FFF2-40B4-BE49-F238E27FC236}">
                  <a16:creationId xmlns:a16="http://schemas.microsoft.com/office/drawing/2014/main" id="{BA5B4CFE-868F-3AA0-16F0-96A872AB3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842"/>
              <a:ext cx="182" cy="13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tr-TR" sz="1800"/>
            </a:p>
          </p:txBody>
        </p:sp>
      </p:grpSp>
      <p:grpSp>
        <p:nvGrpSpPr>
          <p:cNvPr id="10246" name="Group 15">
            <a:extLst>
              <a:ext uri="{FF2B5EF4-FFF2-40B4-BE49-F238E27FC236}">
                <a16:creationId xmlns:a16="http://schemas.microsoft.com/office/drawing/2014/main" id="{4AD32AB1-A556-D070-8D72-2916F7B832E3}"/>
              </a:ext>
            </a:extLst>
          </p:cNvPr>
          <p:cNvGrpSpPr>
            <a:grpSpLocks/>
          </p:cNvGrpSpPr>
          <p:nvPr/>
        </p:nvGrpSpPr>
        <p:grpSpPr bwMode="auto">
          <a:xfrm>
            <a:off x="4898186" y="4292602"/>
            <a:ext cx="2468816" cy="1169988"/>
            <a:chOff x="2835" y="2523"/>
            <a:chExt cx="1360" cy="737"/>
          </a:xfrm>
        </p:grpSpPr>
        <p:sp>
          <p:nvSpPr>
            <p:cNvPr id="10258" name="Rectangle 16">
              <a:extLst>
                <a:ext uri="{FF2B5EF4-FFF2-40B4-BE49-F238E27FC236}">
                  <a16:creationId xmlns:a16="http://schemas.microsoft.com/office/drawing/2014/main" id="{13B4F83D-11BF-BBB9-4F7B-1AD5B604E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2523"/>
              <a:ext cx="1360" cy="7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tr-TR" sz="1800"/>
            </a:p>
          </p:txBody>
        </p:sp>
        <p:sp>
          <p:nvSpPr>
            <p:cNvPr id="10259" name="Text Box 17">
              <a:extLst>
                <a:ext uri="{FF2B5EF4-FFF2-40B4-BE49-F238E27FC236}">
                  <a16:creationId xmlns:a16="http://schemas.microsoft.com/office/drawing/2014/main" id="{BD993BFC-0AEB-87A9-9752-2552BA08FC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2523"/>
              <a:ext cx="1334" cy="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b="1" dirty="0" err="1"/>
                <a:t>ConcreteObserver</a:t>
              </a:r>
              <a:endParaRPr lang="en-US" altLang="tr-TR" sz="1800" b="1" dirty="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tr-TR" sz="1000" b="1" dirty="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dirty="0" err="1"/>
                <a:t>observerState</a:t>
              </a:r>
              <a:endParaRPr lang="en-US" altLang="tr-TR" sz="800" dirty="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1800" dirty="0"/>
                <a:t>+</a:t>
              </a:r>
              <a:r>
                <a:rPr lang="en-US" altLang="tr-TR" sz="2000" dirty="0"/>
                <a:t>update</a:t>
              </a:r>
              <a:r>
                <a:rPr lang="en-US" altLang="tr-TR" sz="1800" dirty="0"/>
                <a:t>() </a:t>
              </a:r>
            </a:p>
          </p:txBody>
        </p:sp>
        <p:sp>
          <p:nvSpPr>
            <p:cNvPr id="10260" name="Line 18">
              <a:extLst>
                <a:ext uri="{FF2B5EF4-FFF2-40B4-BE49-F238E27FC236}">
                  <a16:creationId xmlns:a16="http://schemas.microsoft.com/office/drawing/2014/main" id="{826D7896-748E-67A8-8E1C-CD9AD1AB2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2795"/>
              <a:ext cx="1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1" name="Line 19">
              <a:extLst>
                <a:ext uri="{FF2B5EF4-FFF2-40B4-BE49-F238E27FC236}">
                  <a16:creationId xmlns:a16="http://schemas.microsoft.com/office/drawing/2014/main" id="{DBC951A4-E9C5-8074-56F6-07A63B322F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3022"/>
              <a:ext cx="1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10247" name="AutoShape 20">
            <a:extLst>
              <a:ext uri="{FF2B5EF4-FFF2-40B4-BE49-F238E27FC236}">
                <a16:creationId xmlns:a16="http://schemas.microsoft.com/office/drawing/2014/main" id="{D7FACBC7-0776-E551-B82A-D0971A69DF42}"/>
              </a:ext>
            </a:extLst>
          </p:cNvPr>
          <p:cNvCxnSpPr>
            <a:cxnSpLocks noChangeShapeType="1"/>
            <a:stCxn id="10266" idx="3"/>
            <a:endCxn id="10259" idx="0"/>
          </p:cNvCxnSpPr>
          <p:nvPr/>
        </p:nvCxnSpPr>
        <p:spPr bwMode="auto">
          <a:xfrm rot="16200000" flipH="1">
            <a:off x="5484960" y="3668566"/>
            <a:ext cx="1150939" cy="9713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248" name="Group 21">
            <a:extLst>
              <a:ext uri="{FF2B5EF4-FFF2-40B4-BE49-F238E27FC236}">
                <a16:creationId xmlns:a16="http://schemas.microsoft.com/office/drawing/2014/main" id="{D8A4FBC3-25C3-87F7-7FFD-90B1BA542FB1}"/>
              </a:ext>
            </a:extLst>
          </p:cNvPr>
          <p:cNvGrpSpPr>
            <a:grpSpLocks/>
          </p:cNvGrpSpPr>
          <p:nvPr/>
        </p:nvGrpSpPr>
        <p:grpSpPr bwMode="auto">
          <a:xfrm>
            <a:off x="828675" y="4437063"/>
            <a:ext cx="2224088" cy="863600"/>
            <a:chOff x="612" y="2795"/>
            <a:chExt cx="1401" cy="544"/>
          </a:xfrm>
        </p:grpSpPr>
        <p:sp>
          <p:nvSpPr>
            <p:cNvPr id="10254" name="Rectangle 22">
              <a:extLst>
                <a:ext uri="{FF2B5EF4-FFF2-40B4-BE49-F238E27FC236}">
                  <a16:creationId xmlns:a16="http://schemas.microsoft.com/office/drawing/2014/main" id="{1BC8A372-B0F8-5E8F-0F69-DD4B5575A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2795"/>
              <a:ext cx="1360" cy="5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tr-TR" sz="1800"/>
            </a:p>
          </p:txBody>
        </p:sp>
        <p:sp>
          <p:nvSpPr>
            <p:cNvPr id="10255" name="Text Box 23">
              <a:extLst>
                <a:ext uri="{FF2B5EF4-FFF2-40B4-BE49-F238E27FC236}">
                  <a16:creationId xmlns:a16="http://schemas.microsoft.com/office/drawing/2014/main" id="{0CFF42D0-2E63-E17F-30A7-5272ADCD22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2795"/>
              <a:ext cx="1401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b="1" dirty="0" err="1"/>
                <a:t>ConcreteSubject</a:t>
              </a:r>
              <a:endParaRPr lang="en-US" altLang="tr-TR" sz="1800" b="1" dirty="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tr-TR" sz="1000" b="1" dirty="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dirty="0" err="1"/>
                <a:t>subjectState</a:t>
              </a:r>
              <a:endParaRPr lang="en-US" altLang="tr-TR" sz="800" dirty="0"/>
            </a:p>
          </p:txBody>
        </p:sp>
        <p:sp>
          <p:nvSpPr>
            <p:cNvPr id="10256" name="Line 24">
              <a:extLst>
                <a:ext uri="{FF2B5EF4-FFF2-40B4-BE49-F238E27FC236}">
                  <a16:creationId xmlns:a16="http://schemas.microsoft.com/office/drawing/2014/main" id="{1078F14F-A324-957B-965D-8C1DE53694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" y="3067"/>
              <a:ext cx="1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7" name="Line 25">
              <a:extLst>
                <a:ext uri="{FF2B5EF4-FFF2-40B4-BE49-F238E27FC236}">
                  <a16:creationId xmlns:a16="http://schemas.microsoft.com/office/drawing/2014/main" id="{60D5DEAF-E9C8-8560-8969-2DED66AEBD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" y="3294"/>
              <a:ext cx="1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49" name="AutoShape 26">
            <a:extLst>
              <a:ext uri="{FF2B5EF4-FFF2-40B4-BE49-F238E27FC236}">
                <a16:creationId xmlns:a16="http://schemas.microsoft.com/office/drawing/2014/main" id="{244A2159-FF12-C5DA-BC3A-366826B71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2998788"/>
            <a:ext cx="287338" cy="215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cxnSp>
        <p:nvCxnSpPr>
          <p:cNvPr id="10250" name="AutoShape 27">
            <a:extLst>
              <a:ext uri="{FF2B5EF4-FFF2-40B4-BE49-F238E27FC236}">
                <a16:creationId xmlns:a16="http://schemas.microsoft.com/office/drawing/2014/main" id="{A8B03006-00A5-24C5-A495-1A36B51F2F01}"/>
              </a:ext>
            </a:extLst>
          </p:cNvPr>
          <p:cNvCxnSpPr>
            <a:cxnSpLocks noChangeShapeType="1"/>
            <a:stCxn id="10249" idx="3"/>
            <a:endCxn id="10255" idx="0"/>
          </p:cNvCxnSpPr>
          <p:nvPr/>
        </p:nvCxnSpPr>
        <p:spPr bwMode="auto">
          <a:xfrm rot="16200000" flipH="1">
            <a:off x="1277144" y="3773487"/>
            <a:ext cx="1222375" cy="1047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51" name="TextBox 29">
            <a:extLst>
              <a:ext uri="{FF2B5EF4-FFF2-40B4-BE49-F238E27FC236}">
                <a16:creationId xmlns:a16="http://schemas.microsoft.com/office/drawing/2014/main" id="{29191FB2-07DF-9174-0D7E-16D716D04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3357563"/>
            <a:ext cx="218521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 b="1" dirty="0"/>
              <a:t>for all observers 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 b="1" dirty="0"/>
              <a:t>    </a:t>
            </a:r>
            <a:r>
              <a:rPr lang="en-US" altLang="tr-TR" sz="1800" b="1" dirty="0" err="1"/>
              <a:t>o.update</a:t>
            </a:r>
            <a:r>
              <a:rPr lang="en-US" altLang="tr-TR" sz="1800" b="1" dirty="0"/>
              <a:t>();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ED57277-32C7-5E40-D40E-3C42F3997907}"/>
              </a:ext>
            </a:extLst>
          </p:cNvPr>
          <p:cNvCxnSpPr/>
          <p:nvPr/>
        </p:nvCxnSpPr>
        <p:spPr>
          <a:xfrm rot="16200000" flipH="1">
            <a:off x="2071688" y="2928938"/>
            <a:ext cx="428625" cy="428625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53" name="TextBox 29">
            <a:extLst>
              <a:ext uri="{FF2B5EF4-FFF2-40B4-BE49-F238E27FC236}">
                <a16:creationId xmlns:a16="http://schemas.microsoft.com/office/drawing/2014/main" id="{47D78BE8-7D56-8C1E-2AD8-D5A46D612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900" y="2062163"/>
            <a:ext cx="2746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/>
              <a:t>*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E2CBFB-4234-53FE-81FE-6BE5C4FB6C93}"/>
              </a:ext>
            </a:extLst>
          </p:cNvPr>
          <p:cNvSpPr txBox="1"/>
          <p:nvPr/>
        </p:nvSpPr>
        <p:spPr>
          <a:xfrm>
            <a:off x="457200" y="5949280"/>
            <a:ext cx="1965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Participants?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2">
            <a:extLst>
              <a:ext uri="{FF2B5EF4-FFF2-40B4-BE49-F238E27FC236}">
                <a16:creationId xmlns:a16="http://schemas.microsoft.com/office/drawing/2014/main" id="{B6140D78-6D60-72A5-4D66-7475D84E2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Observer</a:t>
            </a:r>
            <a:endParaRPr lang="tr-TR" altLang="tr-TR"/>
          </a:p>
        </p:txBody>
      </p:sp>
      <p:sp>
        <p:nvSpPr>
          <p:cNvPr id="11267" name="Content Placeholder 3">
            <a:extLst>
              <a:ext uri="{FF2B5EF4-FFF2-40B4-BE49-F238E27FC236}">
                <a16:creationId xmlns:a16="http://schemas.microsoft.com/office/drawing/2014/main" id="{585916E9-963F-6123-5D53-8488E87DF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b="1" dirty="0"/>
              <a:t>Intent</a:t>
            </a:r>
            <a:r>
              <a:rPr lang="en-US" altLang="tr-TR" dirty="0"/>
              <a:t>: Define a </a:t>
            </a:r>
            <a:r>
              <a:rPr lang="en-US" altLang="tr-TR" dirty="0">
                <a:solidFill>
                  <a:srgbClr val="0070C0"/>
                </a:solidFill>
              </a:rPr>
              <a:t>one-to-many</a:t>
            </a:r>
            <a:r>
              <a:rPr lang="en-US" altLang="tr-TR" dirty="0"/>
              <a:t> dependency between objects so that </a:t>
            </a:r>
            <a:r>
              <a:rPr lang="en-US" altLang="tr-TR" dirty="0">
                <a:solidFill>
                  <a:srgbClr val="0070C0"/>
                </a:solidFill>
              </a:rPr>
              <a:t>when one object changes state,</a:t>
            </a:r>
            <a:r>
              <a:rPr lang="en-US" altLang="tr-TR" dirty="0"/>
              <a:t> all </a:t>
            </a:r>
            <a:r>
              <a:rPr lang="en-US" altLang="tr-TR" dirty="0">
                <a:solidFill>
                  <a:srgbClr val="0070C0"/>
                </a:solidFill>
              </a:rPr>
              <a:t>its dependents are notified and updated automatically</a:t>
            </a:r>
            <a:r>
              <a:rPr lang="en-US" altLang="tr-TR" dirty="0"/>
              <a:t>.</a:t>
            </a:r>
          </a:p>
          <a:p>
            <a:r>
              <a:rPr lang="en-US" altLang="tr-TR" dirty="0"/>
              <a:t>A.k.a. Publish/Subscribe</a:t>
            </a:r>
          </a:p>
          <a:p>
            <a:endParaRPr lang="en-US" altLang="tr-TR" dirty="0"/>
          </a:p>
          <a:p>
            <a:r>
              <a:rPr lang="en-US" altLang="tr-TR" dirty="0"/>
              <a:t>Motivation:</a:t>
            </a:r>
          </a:p>
          <a:p>
            <a:pPr lvl="1"/>
            <a:r>
              <a:rPr lang="en-US" altLang="tr-TR" dirty="0"/>
              <a:t>Need to maintain consistency between related objects without tight coupling</a:t>
            </a:r>
          </a:p>
          <a:p>
            <a:endParaRPr lang="tr-TR" altLang="tr-T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35B1-1D2E-E042-A2BA-456467D1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52"/>
            <a:ext cx="8363272" cy="1371600"/>
          </a:xfrm>
        </p:spPr>
        <p:txBody>
          <a:bodyPr/>
          <a:lstStyle/>
          <a:p>
            <a:r>
              <a:rPr lang="en-US" dirty="0"/>
              <a:t>Exercise: Observing Traffic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42D86-0443-EC06-B6A3-0ED250708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291"/>
            <a:ext cx="8867328" cy="4532109"/>
          </a:xfrm>
        </p:spPr>
        <p:txBody>
          <a:bodyPr/>
          <a:lstStyle/>
          <a:p>
            <a:r>
              <a:rPr lang="en-US" dirty="0"/>
              <a:t>Make the Traffic Light observable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interface Subject{ </a:t>
            </a:r>
            <a:endParaRPr lang="en-US" sz="2400" dirty="0">
              <a:latin typeface="+mj-lt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public void attach(Observer o);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public void remove(Observer o);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public void notify();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  <a:endParaRPr lang="en-US" sz="2400" dirty="0">
              <a:latin typeface="Comic Sans MS" panose="030F0702030302020204" pitchFamily="66" charset="0"/>
              <a:ea typeface="Source Code Pro" panose="020B0509030403020204" pitchFamily="49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class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TrafficLight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implements Subject{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private List&lt;Observer&gt; observers;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private RGY light;  //state variable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…//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instance methods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//implement the Subject interface</a:t>
            </a:r>
          </a:p>
        </p:txBody>
      </p:sp>
    </p:spTree>
    <p:extLst>
      <p:ext uri="{BB962C8B-B14F-4D97-AF65-F5344CB8AC3E}">
        <p14:creationId xmlns:p14="http://schemas.microsoft.com/office/powerpoint/2010/main" val="1700987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B9BE0-0C39-3A7D-7083-6BBAEDBC2AF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87524" y="368660"/>
            <a:ext cx="8568952" cy="6120680"/>
          </a:xfrm>
        </p:spPr>
        <p:txBody>
          <a:bodyPr/>
          <a:lstStyle/>
          <a:p>
            <a:pPr marL="0" indent="0">
              <a:buNone/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class </a:t>
            </a:r>
            <a:r>
              <a:rPr lang="en-US" sz="23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TrafficLight</a:t>
            </a: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implements Subject{</a:t>
            </a:r>
          </a:p>
          <a:p>
            <a:pPr marL="0" indent="0">
              <a:buNone/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private </a:t>
            </a:r>
            <a:r>
              <a:rPr lang="en-US" sz="2300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List&lt;Observer&gt; observers</a:t>
            </a: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private RGY light;  //state variable</a:t>
            </a:r>
          </a:p>
          <a:p>
            <a:pPr marL="0" indent="0">
              <a:buNone/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public void </a:t>
            </a:r>
            <a:r>
              <a:rPr lang="en-US" sz="2300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attach</a:t>
            </a: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(Observer o)</a:t>
            </a:r>
          </a:p>
          <a:p>
            <a:pPr marL="0" indent="0">
              <a:buNone/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{</a:t>
            </a:r>
            <a:r>
              <a:rPr lang="en-US" sz="23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observers.add</a:t>
            </a: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(o);}</a:t>
            </a:r>
          </a:p>
          <a:p>
            <a:pPr marL="0" indent="0">
              <a:buNone/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public void </a:t>
            </a:r>
            <a:r>
              <a:rPr lang="en-US" sz="2300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remove</a:t>
            </a: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(Observer o)</a:t>
            </a:r>
          </a:p>
          <a:p>
            <a:pPr marL="0" indent="0">
              <a:buNone/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{</a:t>
            </a:r>
            <a:r>
              <a:rPr lang="en-US" sz="23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observers.remove</a:t>
            </a: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(o);}</a:t>
            </a:r>
          </a:p>
          <a:p>
            <a:pPr marL="0" indent="0">
              <a:buNone/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public void </a:t>
            </a:r>
            <a:r>
              <a:rPr lang="en-US" sz="2300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notify</a:t>
            </a: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(){ </a:t>
            </a:r>
            <a:r>
              <a:rPr lang="en-US" sz="2300" b="1" dirty="0">
                <a:latin typeface="+mj-lt"/>
                <a:ea typeface="Source Code Pro" panose="020B0509030403020204" pitchFamily="49" charset="0"/>
              </a:rPr>
              <a:t>//broadcasting the event</a:t>
            </a:r>
          </a:p>
          <a:p>
            <a:pPr marL="0" indent="0">
              <a:buNone/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</a:t>
            </a:r>
            <a:r>
              <a:rPr lang="en-US" sz="23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for(var </a:t>
            </a:r>
            <a:r>
              <a:rPr lang="en-US" sz="23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ob:observers</a:t>
            </a:r>
            <a:r>
              <a:rPr lang="en-US" sz="23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) </a:t>
            </a:r>
          </a:p>
          <a:p>
            <a:pPr marL="0" indent="0">
              <a:buNone/>
            </a:pPr>
            <a:r>
              <a:rPr lang="en-US" sz="23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</a:t>
            </a:r>
            <a:r>
              <a:rPr lang="en-US" sz="23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ob.update</a:t>
            </a:r>
            <a:r>
              <a:rPr lang="en-US" sz="23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();</a:t>
            </a:r>
            <a:endParaRPr lang="en-US" sz="2300" dirty="0">
              <a:latin typeface="+mj-lt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public void </a:t>
            </a:r>
            <a:r>
              <a:rPr lang="en-US" sz="23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changeLight</a:t>
            </a: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(){</a:t>
            </a:r>
          </a:p>
          <a:p>
            <a:pPr marL="0" indent="0">
              <a:buNone/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//change to Red, Yellow, Green</a:t>
            </a:r>
          </a:p>
          <a:p>
            <a:pPr marL="0" indent="0">
              <a:buNone/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</a:t>
            </a:r>
            <a:r>
              <a:rPr lang="en-US" sz="23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notify()</a:t>
            </a: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;  </a:t>
            </a:r>
            <a:r>
              <a:rPr lang="en-US" sz="2300" dirty="0">
                <a:latin typeface="+mj-lt"/>
                <a:ea typeface="Source Code Pro" panose="020B0509030403020204" pitchFamily="49" charset="0"/>
              </a:rPr>
              <a:t>//issue-2: who and when should notify </a:t>
            </a:r>
          </a:p>
          <a:p>
            <a:pPr marL="0" indent="0">
              <a:buNone/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23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}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85973B-B153-5308-1DDB-A641139E6216}"/>
              </a:ext>
            </a:extLst>
          </p:cNvPr>
          <p:cNvSpPr/>
          <p:nvPr/>
        </p:nvSpPr>
        <p:spPr bwMode="auto">
          <a:xfrm>
            <a:off x="467544" y="3284984"/>
            <a:ext cx="7704856" cy="1656184"/>
          </a:xfrm>
          <a:prstGeom prst="rect">
            <a:avLst/>
          </a:pr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850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43094-2EEE-9AAA-104A-0308D29C3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52"/>
            <a:ext cx="8939336" cy="1371600"/>
          </a:xfrm>
        </p:spPr>
        <p:txBody>
          <a:bodyPr/>
          <a:lstStyle/>
          <a:p>
            <a:r>
              <a:rPr lang="en-US" dirty="0"/>
              <a:t>Exercise: Observing Traffic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CEEC9-0D39-3EEA-B347-563158A69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76" y="1268760"/>
            <a:ext cx="9155360" cy="453210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interface Observer{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public void </a:t>
            </a:r>
            <a:r>
              <a:rPr lang="en-US" sz="2400" dirty="0">
                <a:solidFill>
                  <a:srgbClr val="0070C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update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(); //</a:t>
            </a:r>
            <a:r>
              <a:rPr lang="en-US" sz="2400" dirty="0">
                <a:latin typeface="+mj-lt"/>
                <a:ea typeface="Source Code Pro" panose="020B0509030403020204" pitchFamily="49" charset="0"/>
              </a:rPr>
              <a:t>issue-1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class Pedestrian implements Observer{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public void update(){ //</a:t>
            </a:r>
            <a:r>
              <a:rPr lang="en-US" sz="2400" dirty="0">
                <a:latin typeface="+mj-lt"/>
                <a:ea typeface="Source Code Pro" panose="020B0509030403020204" pitchFamily="49" charset="0"/>
              </a:rPr>
              <a:t>issue-1</a:t>
            </a: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//cross the road if light is green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//stop observing the light </a:t>
            </a:r>
            <a:r>
              <a:rPr lang="en-US" sz="2400" dirty="0">
                <a:latin typeface="+mj-lt"/>
                <a:ea typeface="Source Code Pro" panose="020B0509030403020204" pitchFamily="49" charset="0"/>
              </a:rPr>
              <a:t>issue-3</a:t>
            </a: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//other instance methods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class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MVehicleQueue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implements Observer{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public void update(){…} 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37285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43094-2EEE-9AAA-104A-0308D29C3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52"/>
            <a:ext cx="8939336" cy="1371600"/>
          </a:xfrm>
        </p:spPr>
        <p:txBody>
          <a:bodyPr/>
          <a:lstStyle/>
          <a:p>
            <a:r>
              <a:rPr lang="en-US" dirty="0"/>
              <a:t>Exercise: Observing Traffic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CEEC9-0D39-3EEA-B347-563158A69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68" y="1268760"/>
            <a:ext cx="9515400" cy="453210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interface Observer{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public void update(); //</a:t>
            </a:r>
            <a:r>
              <a:rPr lang="en-US" sz="2400" dirty="0">
                <a:latin typeface="+mj-lt"/>
                <a:ea typeface="Source Code Pro" panose="020B0509030403020204" pitchFamily="49" charset="0"/>
              </a:rPr>
              <a:t>issue-1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class Pedestrian implements Observer{..}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class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VehicleQueue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implements Observer{..}</a:t>
            </a:r>
          </a:p>
          <a:p>
            <a:r>
              <a:rPr lang="en-US" sz="2800" dirty="0">
                <a:latin typeface="Arial  "/>
                <a:ea typeface="Source Code Pro" panose="020B0509030403020204" pitchFamily="49" charset="0"/>
              </a:rPr>
              <a:t>See the loose coupling</a:t>
            </a:r>
          </a:p>
          <a:p>
            <a:r>
              <a:rPr lang="en-US" sz="2800" dirty="0">
                <a:latin typeface="Arial  "/>
                <a:ea typeface="Source Code Pro" panose="020B0509030403020204" pitchFamily="49" charset="0"/>
              </a:rPr>
              <a:t>The only thing common between these two classes </a:t>
            </a:r>
          </a:p>
          <a:p>
            <a:pPr marL="0" indent="0">
              <a:buNone/>
            </a:pPr>
            <a:r>
              <a:rPr lang="en-US" sz="2800" dirty="0">
                <a:latin typeface="Arial  "/>
                <a:ea typeface="Source Code Pro" panose="020B0509030403020204" pitchFamily="49" charset="0"/>
              </a:rPr>
              <a:t>is the Observer interface.</a:t>
            </a:r>
          </a:p>
          <a:p>
            <a:r>
              <a:rPr lang="en-US" sz="2800" dirty="0">
                <a:latin typeface="Arial  "/>
                <a:ea typeface="Source Code Pro" panose="020B0509030403020204" pitchFamily="49" charset="0"/>
              </a:rPr>
              <a:t>Subject is unaware of their primary job</a:t>
            </a:r>
          </a:p>
          <a:p>
            <a:r>
              <a:rPr lang="en-US" sz="2800" dirty="0">
                <a:latin typeface="Arial  "/>
                <a:ea typeface="Source Code Pro" panose="020B0509030403020204" pitchFamily="49" charset="0"/>
              </a:rPr>
              <a:t>OCP: new observer types do not affect the subject</a:t>
            </a:r>
          </a:p>
        </p:txBody>
      </p:sp>
    </p:spTree>
    <p:extLst>
      <p:ext uri="{BB962C8B-B14F-4D97-AF65-F5344CB8AC3E}">
        <p14:creationId xmlns:p14="http://schemas.microsoft.com/office/powerpoint/2010/main" val="2070300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ACAB-2A82-3B4B-D8E7-F5B68238F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 -- Loose coupling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83D7C-5A04-C1BF-2E50-E4BC26997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Subject only know interface. </a:t>
            </a:r>
          </a:p>
          <a:p>
            <a:pPr lvl="1"/>
            <a:r>
              <a:rPr lang="en-US" sz="2400" dirty="0"/>
              <a:t>Don’t know or care what any concrete observer does </a:t>
            </a:r>
          </a:p>
          <a:p>
            <a:r>
              <a:rPr lang="en-US" sz="2400" dirty="0"/>
              <a:t>Add new observers at anytime</a:t>
            </a:r>
          </a:p>
          <a:p>
            <a:pPr lvl="1"/>
            <a:r>
              <a:rPr lang="en-US" sz="2400" dirty="0"/>
              <a:t>Runtime registration and remove</a:t>
            </a:r>
          </a:p>
          <a:p>
            <a:r>
              <a:rPr lang="en-US" sz="2400" dirty="0"/>
              <a:t>Do not modify subject when new kinds of observers come to play </a:t>
            </a:r>
          </a:p>
          <a:p>
            <a:r>
              <a:rPr lang="en-US" sz="2400" dirty="0"/>
              <a:t>Reuse subject and observer independently of each other</a:t>
            </a:r>
          </a:p>
          <a:p>
            <a:r>
              <a:rPr lang="en-US" sz="2400" dirty="0"/>
              <a:t>Changes in subject or an observer will not affect each other –as long as they implement the interfaces</a:t>
            </a:r>
          </a:p>
          <a:p>
            <a:r>
              <a:rPr lang="en-US" sz="2400" dirty="0"/>
              <a:t>Dependency Inversion</a:t>
            </a:r>
          </a:p>
        </p:txBody>
      </p:sp>
    </p:spTree>
    <p:extLst>
      <p:ext uri="{BB962C8B-B14F-4D97-AF65-F5344CB8AC3E}">
        <p14:creationId xmlns:p14="http://schemas.microsoft.com/office/powerpoint/2010/main" val="3660865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B2F364F-0A45-9153-6C02-6A34D23CCF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152"/>
            <a:ext cx="9515400" cy="1371600"/>
          </a:xfrm>
        </p:spPr>
        <p:txBody>
          <a:bodyPr/>
          <a:lstStyle/>
          <a:p>
            <a:pPr eaLnBrk="1" hangingPunct="1"/>
            <a:r>
              <a:rPr lang="en-US" altLang="tr-TR" sz="4000" dirty="0"/>
              <a:t>When to use Observer: Applicability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A5D7A58-793C-AAA4-F4B3-E566B5FBFE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tr-TR" sz="2800" dirty="0"/>
              <a:t>A change to one object requires changing other objects and the actual set of objects is </a:t>
            </a:r>
            <a:r>
              <a:rPr lang="en-US" altLang="tr-TR" sz="2800" i="1" dirty="0"/>
              <a:t>unknown beforehand</a:t>
            </a:r>
            <a:r>
              <a:rPr lang="en-US" altLang="tr-TR" sz="2800" dirty="0"/>
              <a:t> or changes dynamically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tr-TR" sz="2400" dirty="0"/>
              <a:t>notify other objects without making assumptions about who they are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tr-TR" sz="2800" dirty="0"/>
              <a:t>Need to maintain consistency between related objects without tight coupling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tr-TR" sz="2800" dirty="0"/>
              <a:t>An abstraction has two aspects, one dependent on the other. Encapsulate these aspects in separate objects lets you vary and reuse them independently</a:t>
            </a:r>
          </a:p>
        </p:txBody>
      </p:sp>
    </p:spTree>
    <p:extLst>
      <p:ext uri="{BB962C8B-B14F-4D97-AF65-F5344CB8AC3E}">
        <p14:creationId xmlns:p14="http://schemas.microsoft.com/office/powerpoint/2010/main" val="306772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D0A73-D331-93D0-1531-A0213B173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52"/>
            <a:ext cx="8579296" cy="1371600"/>
          </a:xfrm>
        </p:spPr>
        <p:txBody>
          <a:bodyPr/>
          <a:lstStyle/>
          <a:p>
            <a:r>
              <a:rPr lang="en-US" dirty="0"/>
              <a:t>Implementation Issues /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62214-A4CE-EB5B-F4AA-8FE53D94E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291"/>
            <a:ext cx="8579296" cy="511804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Issue1: arguments of 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update()</a:t>
            </a:r>
          </a:p>
          <a:p>
            <a:pPr lvl="1"/>
            <a:r>
              <a:rPr lang="en-US" dirty="0"/>
              <a:t>Pedestrian will cross the road if the 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light</a:t>
            </a:r>
            <a:r>
              <a:rPr lang="en-US" dirty="0"/>
              <a:t> of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TrafficLight</a:t>
            </a:r>
            <a:r>
              <a:rPr lang="en-US" dirty="0"/>
              <a:t> object is 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Green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rgbClr val="0070C0"/>
                </a:solidFill>
              </a:rPr>
              <a:t>Choice </a:t>
            </a:r>
            <a:r>
              <a:rPr lang="en-US" dirty="0"/>
              <a:t>1: Subject sends the data</a:t>
            </a:r>
          </a:p>
          <a:p>
            <a:pPr marL="0" indent="0">
              <a:buNone/>
            </a:pPr>
            <a:r>
              <a:rPr lang="en-US" sz="28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void update (RGY light)</a:t>
            </a:r>
            <a:r>
              <a:rPr lang="en-US" sz="2800" dirty="0"/>
              <a:t> </a:t>
            </a:r>
          </a:p>
          <a:p>
            <a:pPr lvl="1"/>
            <a:r>
              <a:rPr lang="en-US" dirty="0"/>
              <a:t>Push model: push the data observers need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sz="2400" dirty="0"/>
              <a:t>Subject sends detailed information to observers about its state</a:t>
            </a:r>
          </a:p>
          <a:p>
            <a:pPr lvl="1">
              <a:lnSpc>
                <a:spcPct val="90000"/>
              </a:lnSpc>
            </a:pPr>
            <a:r>
              <a:rPr lang="en-US" altLang="tr-TR" sz="2400" dirty="0"/>
              <a:t>observers less reusable, fixed update method signature</a:t>
            </a:r>
          </a:p>
          <a:p>
            <a:pPr lvl="1">
              <a:lnSpc>
                <a:spcPct val="90000"/>
              </a:lnSpc>
            </a:pPr>
            <a:endParaRPr lang="en-US" altLang="tr-TR" sz="2400" dirty="0"/>
          </a:p>
        </p:txBody>
      </p:sp>
    </p:spTree>
    <p:extLst>
      <p:ext uri="{BB962C8B-B14F-4D97-AF65-F5344CB8AC3E}">
        <p14:creationId xmlns:p14="http://schemas.microsoft.com/office/powerpoint/2010/main" val="2598751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43094-2EEE-9AAA-104A-0308D29C3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52"/>
            <a:ext cx="8939336" cy="1371600"/>
          </a:xfrm>
        </p:spPr>
        <p:txBody>
          <a:bodyPr/>
          <a:lstStyle/>
          <a:p>
            <a:r>
              <a:rPr lang="en-US" dirty="0"/>
              <a:t>Exercise: Observing Traffic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CEEC9-0D39-3EEA-B347-563158A69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494" y="1268761"/>
            <a:ext cx="8723312" cy="266429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class Pedestrian implements Observer{</a:t>
            </a:r>
          </a:p>
          <a:p>
            <a:pPr marL="0" indent="0">
              <a:buNone/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public void update(RGY light){ //</a:t>
            </a:r>
            <a:r>
              <a:rPr lang="en-US" sz="2400" b="1" dirty="0">
                <a:latin typeface="+mj-lt"/>
                <a:ea typeface="Source Code Pro" panose="020B0509030403020204" pitchFamily="49" charset="0"/>
              </a:rPr>
              <a:t>issue-1</a:t>
            </a:r>
            <a:endParaRPr lang="en-US" sz="24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if(light==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RGY.Green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    //cross the road 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}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//other methods…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1FFA01-6BDD-46F3-C35B-F02834343425}"/>
              </a:ext>
            </a:extLst>
          </p:cNvPr>
          <p:cNvSpPr txBox="1">
            <a:spLocks/>
          </p:cNvSpPr>
          <p:nvPr/>
        </p:nvSpPr>
        <p:spPr bwMode="auto">
          <a:xfrm>
            <a:off x="179512" y="3933056"/>
            <a:ext cx="9345066" cy="2664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Pro:Pedestrian</a:t>
            </a:r>
            <a:r>
              <a:rPr lang="en-US" sz="2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unaware it is observing a </a:t>
            </a:r>
            <a:r>
              <a:rPr lang="en-US" sz="24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TrafficLight</a:t>
            </a:r>
            <a:r>
              <a:rPr lang="en-US" sz="2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object.</a:t>
            </a:r>
          </a:p>
          <a:p>
            <a:r>
              <a:rPr lang="en-US" sz="2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subject’s code change, maybe it pushes more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Cons: </a:t>
            </a:r>
            <a:r>
              <a:rPr lang="en-US" altLang="tr-T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all observers may need all the data subject pushes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400" kern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371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D0A73-D331-93D0-1531-A0213B173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52"/>
            <a:ext cx="8579296" cy="1371600"/>
          </a:xfrm>
        </p:spPr>
        <p:txBody>
          <a:bodyPr/>
          <a:lstStyle/>
          <a:p>
            <a:r>
              <a:rPr lang="en-US" dirty="0"/>
              <a:t>Implementation Issues /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62214-A4CE-EB5B-F4AA-8FE53D94E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291"/>
            <a:ext cx="8579296" cy="511804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+mj-lt"/>
              </a:rPr>
              <a:t>Issue1: arguments of 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update()</a:t>
            </a:r>
          </a:p>
          <a:p>
            <a:pPr lvl="1"/>
            <a:r>
              <a:rPr lang="en-US" sz="2400" dirty="0"/>
              <a:t>Pedestrian will cross the road if the 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light</a:t>
            </a:r>
            <a:r>
              <a:rPr lang="en-US" sz="2400" dirty="0"/>
              <a:t> of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TrafficLight</a:t>
            </a:r>
            <a:r>
              <a:rPr lang="en-US" sz="2400" dirty="0"/>
              <a:t> object is 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Green</a:t>
            </a:r>
            <a:r>
              <a:rPr lang="en-US" sz="2400" dirty="0"/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Choice 1</a:t>
            </a:r>
            <a:r>
              <a:rPr lang="en-US" sz="2000" dirty="0"/>
              <a:t>: Subject sends the data</a:t>
            </a:r>
          </a:p>
          <a:p>
            <a:pPr marL="0" indent="0">
              <a:buNone/>
            </a:pPr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void update (RGY light)</a:t>
            </a:r>
            <a:r>
              <a:rPr lang="en-US" sz="2000" dirty="0"/>
              <a:t> ;</a:t>
            </a:r>
          </a:p>
          <a:p>
            <a:pPr lvl="1"/>
            <a:r>
              <a:rPr lang="en-US" sz="2000" b="1" dirty="0"/>
              <a:t>Push</a:t>
            </a:r>
            <a:r>
              <a:rPr lang="en-US" sz="2000" dirty="0"/>
              <a:t> model: push the data observers need</a:t>
            </a:r>
          </a:p>
          <a:p>
            <a:r>
              <a:rPr lang="en-US" altLang="tr-TR" sz="2400" dirty="0">
                <a:solidFill>
                  <a:srgbClr val="0070C0"/>
                </a:solidFill>
              </a:rPr>
              <a:t>Choice 2</a:t>
            </a:r>
            <a:r>
              <a:rPr lang="en-US" altLang="tr-TR" sz="2400" dirty="0"/>
              <a:t>: Observers query the subject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void update (Subject s)</a:t>
            </a:r>
            <a:r>
              <a:rPr lang="en-US" sz="2400" dirty="0"/>
              <a:t> 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sz="2400" b="1" dirty="0"/>
              <a:t>Pull</a:t>
            </a:r>
            <a:r>
              <a:rPr lang="en-US" altLang="tr-TR" sz="2400" dirty="0"/>
              <a:t> model: Send the Subject reference, observers asks for details explicitly afterwards</a:t>
            </a:r>
          </a:p>
          <a:p>
            <a:pPr lvl="1">
              <a:lnSpc>
                <a:spcPct val="90000"/>
              </a:lnSpc>
            </a:pPr>
            <a:r>
              <a:rPr lang="en-US" altLang="tr-TR" sz="2400" dirty="0"/>
              <a:t>Subject is ignorant of observers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Observers call Subject back to get the state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173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5D052-57B8-232E-80F0-507D532BC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25310-C6C7-0714-0DC4-0497BC5A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52"/>
            <a:ext cx="8939336" cy="1371600"/>
          </a:xfrm>
        </p:spPr>
        <p:txBody>
          <a:bodyPr/>
          <a:lstStyle/>
          <a:p>
            <a:r>
              <a:rPr lang="en-US" dirty="0"/>
              <a:t>Exercise: Observing Traffic Light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F15333-8645-2BFA-DC75-77BFA21E57EF}"/>
              </a:ext>
            </a:extLst>
          </p:cNvPr>
          <p:cNvSpPr txBox="1">
            <a:spLocks/>
          </p:cNvSpPr>
          <p:nvPr/>
        </p:nvSpPr>
        <p:spPr bwMode="auto">
          <a:xfrm>
            <a:off x="254335" y="1268760"/>
            <a:ext cx="9345066" cy="2664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class Pedestrian implements Observer{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b="1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public void update(Subject s){ //</a:t>
            </a:r>
            <a:r>
              <a:rPr lang="en-US" sz="2400" b="1" kern="0" dirty="0">
                <a:latin typeface="+mj-lt"/>
                <a:ea typeface="Source Code Pro" panose="020B0509030403020204" pitchFamily="49" charset="0"/>
              </a:rPr>
              <a:t>issue-1</a:t>
            </a:r>
            <a:endParaRPr lang="en-US" sz="2400" b="1" kern="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b="1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if(</a:t>
            </a:r>
            <a:r>
              <a:rPr lang="en-US" sz="2400" b="1" kern="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s.equals</a:t>
            </a:r>
            <a:r>
              <a:rPr lang="en-US" sz="2400" b="1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2400" b="1" kern="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mylight</a:t>
            </a:r>
            <a:r>
              <a:rPr lang="en-US" sz="2400" b="1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)){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b="1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if(</a:t>
            </a:r>
            <a:r>
              <a:rPr lang="en-US" sz="2400" b="1" kern="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s.getLight</a:t>
            </a:r>
            <a:r>
              <a:rPr lang="en-US" sz="2400" b="1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()==</a:t>
            </a:r>
            <a:r>
              <a:rPr lang="en-US" sz="2400" b="1" kern="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RGY.Green</a:t>
            </a:r>
            <a:r>
              <a:rPr lang="en-US" sz="2400" b="1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b="1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    //cross the road </a:t>
            </a:r>
          </a:p>
          <a:p>
            <a:pPr marL="0" indent="0">
              <a:buNone/>
            </a:pPr>
            <a:r>
              <a:rPr lang="en-US" sz="2400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} }</a:t>
            </a:r>
            <a:r>
              <a:rPr lang="en-US" sz="2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//other methods…</a:t>
            </a:r>
            <a:endParaRPr lang="en-US" sz="2400" kern="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private Subject </a:t>
            </a:r>
            <a:r>
              <a:rPr lang="en-US" sz="2400" kern="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mylight</a:t>
            </a:r>
            <a:r>
              <a:rPr lang="en-US" sz="2400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FF2F6-7813-4B63-CD5A-E5D2A9486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96472"/>
            <a:ext cx="8229600" cy="2222376"/>
          </a:xfrm>
        </p:spPr>
        <p:txBody>
          <a:bodyPr/>
          <a:lstStyle/>
          <a:p>
            <a:r>
              <a:rPr lang="en-US" sz="2400" dirty="0"/>
              <a:t>the Subject interface needs </a:t>
            </a:r>
            <a:r>
              <a:rPr lang="en-US" sz="2400" b="1" dirty="0"/>
              <a:t>getter</a:t>
            </a:r>
            <a:r>
              <a:rPr lang="en-US" sz="2400" dirty="0"/>
              <a:t> methods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interface Subject{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public RGY 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getLight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(); </a:t>
            </a:r>
            <a:endParaRPr lang="en-US" sz="2400" b="1" dirty="0">
              <a:ea typeface="Source Code Pro" panose="020B0509030403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public void attach(Observer o);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public void remove(Observer o);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public void notify();}</a:t>
            </a:r>
          </a:p>
        </p:txBody>
      </p:sp>
    </p:spTree>
    <p:extLst>
      <p:ext uri="{BB962C8B-B14F-4D97-AF65-F5344CB8AC3E}">
        <p14:creationId xmlns:p14="http://schemas.microsoft.com/office/powerpoint/2010/main" val="2750366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5ED3AD7-119E-FBE8-866D-1127FA02C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 -Collaborations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B066441-B720-8EB2-E72D-DBC645897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47247"/>
            <a:ext cx="8229600" cy="520153"/>
          </a:xfrm>
        </p:spPr>
        <p:txBody>
          <a:bodyPr/>
          <a:lstStyle/>
          <a:p>
            <a:r>
              <a:rPr lang="en-US" dirty="0"/>
              <a:t>Pull model is mostly preferred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8A7D30-DF4A-92F5-EC5C-801626356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412776"/>
            <a:ext cx="7884368" cy="383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520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1BFC-2444-913A-C8D9-32FFA764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 vs Pull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F2381-CDF8-7779-8B5B-A819A3EAB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340768"/>
            <a:ext cx="9299376" cy="4532109"/>
          </a:xfrm>
        </p:spPr>
        <p:txBody>
          <a:bodyPr/>
          <a:lstStyle/>
          <a:p>
            <a:r>
              <a:rPr lang="en-US" dirty="0"/>
              <a:t>Pull Model is more decoupled</a:t>
            </a:r>
          </a:p>
          <a:p>
            <a:pPr lvl="1"/>
            <a:r>
              <a:rPr lang="en-US" dirty="0"/>
              <a:t>Pro: observers are reusable</a:t>
            </a:r>
          </a:p>
          <a:p>
            <a:pPr lvl="1"/>
            <a:r>
              <a:rPr lang="en-US" dirty="0"/>
              <a:t>Pro: subject does not assume what observers need</a:t>
            </a:r>
          </a:p>
          <a:p>
            <a:pPr lvl="1"/>
            <a:r>
              <a:rPr lang="en-US" dirty="0"/>
              <a:t>Cons: observers have to call subject</a:t>
            </a:r>
          </a:p>
          <a:p>
            <a:pPr lvl="2"/>
            <a:r>
              <a:rPr lang="en-US" dirty="0"/>
              <a:t>1K subscribers/observers call your method  to check what happened  </a:t>
            </a:r>
          </a:p>
          <a:p>
            <a:pPr lvl="1"/>
            <a:r>
              <a:rPr lang="en-US" dirty="0"/>
              <a:t>Cons: subject has to provide getter methods</a:t>
            </a:r>
          </a:p>
          <a:p>
            <a:r>
              <a:rPr lang="en-US" dirty="0"/>
              <a:t>Push model is more efficient</a:t>
            </a:r>
          </a:p>
          <a:p>
            <a:pPr lvl="1"/>
            <a:r>
              <a:rPr lang="en-US" dirty="0"/>
              <a:t>Pro: Subject controls what info to reveal</a:t>
            </a:r>
          </a:p>
          <a:p>
            <a:pPr lvl="1"/>
            <a:r>
              <a:rPr lang="en-US" dirty="0"/>
              <a:t>Cons: restricted observers</a:t>
            </a:r>
          </a:p>
        </p:txBody>
      </p:sp>
    </p:spTree>
    <p:extLst>
      <p:ext uri="{BB962C8B-B14F-4D97-AF65-F5344CB8AC3E}">
        <p14:creationId xmlns:p14="http://schemas.microsoft.com/office/powerpoint/2010/main" val="174375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D40B109-336E-F4AA-5679-3107F8B6F3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Implementation issues /Choices</a:t>
            </a:r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22122C08-24DA-53B0-5E7E-7E256DE92E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tr-TR" dirty="0"/>
              <a:t>Issue2: Who triggers the </a:t>
            </a:r>
            <a:r>
              <a:rPr lang="en-US" altLang="tr-TR" i="1" dirty="0"/>
              <a:t>notify </a:t>
            </a:r>
            <a:r>
              <a:rPr lang="en-US" altLang="tr-TR" dirty="0"/>
              <a:t>and when? </a:t>
            </a:r>
          </a:p>
          <a:p>
            <a:pPr>
              <a:lnSpc>
                <a:spcPct val="90000"/>
              </a:lnSpc>
            </a:pPr>
            <a:r>
              <a:rPr lang="en-US" altLang="tr-TR" dirty="0"/>
              <a:t>Subject calls </a:t>
            </a:r>
            <a:r>
              <a:rPr lang="en-US" altLang="tr-TR" i="1" dirty="0"/>
              <a:t>notify</a:t>
            </a:r>
            <a:r>
              <a:rPr lang="en-US" altLang="tr-TR" dirty="0"/>
              <a:t> after each state changing operation	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Pro: Clients do not have to remember to call notify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Cons: when series of operation, consecutive updates results in inefficiency</a:t>
            </a:r>
          </a:p>
          <a:p>
            <a:pPr>
              <a:lnSpc>
                <a:spcPct val="90000"/>
              </a:lnSpc>
            </a:pPr>
            <a:r>
              <a:rPr lang="en-US" altLang="tr-TR" dirty="0"/>
              <a:t>Clients (users of subject) call </a:t>
            </a:r>
            <a:r>
              <a:rPr lang="en-US" altLang="tr-TR" i="1" dirty="0"/>
              <a:t>notify</a:t>
            </a:r>
            <a:r>
              <a:rPr lang="en-US" altLang="tr-TR" dirty="0"/>
              <a:t> at right time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Pro: update after a series of operation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Cons: client may forget it</a:t>
            </a:r>
          </a:p>
        </p:txBody>
      </p:sp>
    </p:spTree>
    <p:extLst>
      <p:ext uri="{BB962C8B-B14F-4D97-AF65-F5344CB8AC3E}">
        <p14:creationId xmlns:p14="http://schemas.microsoft.com/office/powerpoint/2010/main" val="35297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2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2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D40B109-336E-F4AA-5679-3107F8B6F3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Implementation issues /Choices</a:t>
            </a:r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22122C08-24DA-53B0-5E7E-7E256DE92E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tr-TR" b="1" dirty="0"/>
              <a:t>Issue2</a:t>
            </a:r>
            <a:r>
              <a:rPr lang="en-US" altLang="tr-TR" dirty="0"/>
              <a:t>: Who triggers the </a:t>
            </a:r>
            <a:r>
              <a:rPr lang="en-US" altLang="tr-TR" i="1" dirty="0"/>
              <a:t>notify </a:t>
            </a:r>
            <a:r>
              <a:rPr lang="en-US" altLang="tr-TR" dirty="0"/>
              <a:t>and when? </a:t>
            </a:r>
          </a:p>
          <a:p>
            <a:pPr>
              <a:lnSpc>
                <a:spcPct val="90000"/>
              </a:lnSpc>
            </a:pPr>
            <a:r>
              <a:rPr lang="en-US" altLang="tr-TR" dirty="0"/>
              <a:t>Subject calls </a:t>
            </a:r>
            <a:r>
              <a:rPr lang="en-US" altLang="tr-TR" i="1" dirty="0"/>
              <a:t>notify</a:t>
            </a:r>
            <a:r>
              <a:rPr lang="en-US" altLang="tr-TR" dirty="0"/>
              <a:t> after each state changing operation	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Pro: Clients do not have to remember to call notify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Cons: when series of operation, consecutive updates results in inefficiency</a:t>
            </a:r>
          </a:p>
          <a:p>
            <a:pPr lvl="1">
              <a:lnSpc>
                <a:spcPct val="90000"/>
              </a:lnSpc>
            </a:pPr>
            <a:r>
              <a:rPr lang="en-US" altLang="tr-TR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setChanged</a:t>
            </a:r>
            <a:r>
              <a:rPr lang="en-US" altLang="tr-TR" dirty="0"/>
              <a:t>() after series of operations,</a:t>
            </a:r>
          </a:p>
          <a:p>
            <a:pPr lvl="2">
              <a:lnSpc>
                <a:spcPct val="90000"/>
              </a:lnSpc>
            </a:pPr>
            <a:r>
              <a:rPr lang="en-US" altLang="tr-TR" dirty="0"/>
              <a:t>Notify ignores when </a:t>
            </a:r>
            <a:r>
              <a:rPr lang="en-US" altLang="tr-TR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isChanged</a:t>
            </a:r>
            <a:r>
              <a:rPr lang="en-US" altLang="tr-TR" dirty="0"/>
              <a:t> is not set</a:t>
            </a:r>
          </a:p>
          <a:p>
            <a:pPr>
              <a:lnSpc>
                <a:spcPct val="90000"/>
              </a:lnSpc>
            </a:pPr>
            <a:r>
              <a:rPr lang="en-US" altLang="tr-TR" dirty="0"/>
              <a:t>Clients (users of subject) call </a:t>
            </a:r>
            <a:r>
              <a:rPr lang="en-US" altLang="tr-TR" i="1" dirty="0"/>
              <a:t>notify</a:t>
            </a:r>
            <a:r>
              <a:rPr lang="en-US" altLang="tr-TR" dirty="0"/>
              <a:t> at right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31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678B3-E607-6C38-82DA-FB78A110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issues -3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0BFDB-A307-02FF-BFDD-B598A4A49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291"/>
            <a:ext cx="8579296" cy="4532109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tr-TR" dirty="0"/>
              <a:t>Observing more than one subject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dirty="0"/>
              <a:t>Which subject is notifying?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Subject passes itself via update method as a parameter </a:t>
            </a:r>
          </a:p>
          <a:p>
            <a:pPr marL="914400" lvl="2" indent="0">
              <a:lnSpc>
                <a:spcPct val="90000"/>
              </a:lnSpc>
              <a:buNone/>
            </a:pPr>
            <a:endParaRPr lang="en-US" altLang="tr-TR" dirty="0"/>
          </a:p>
          <a:p>
            <a:r>
              <a:rPr lang="en-US" dirty="0"/>
              <a:t>How does an Observer remove itself?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tr-TR" dirty="0"/>
              <a:t>Store Subject references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tr-TR" dirty="0"/>
              <a:t>Sometimes observers remove themselves as a reaction to some event.</a:t>
            </a:r>
          </a:p>
          <a:p>
            <a:pPr lvl="1"/>
            <a:r>
              <a:rPr lang="en-US" altLang="tr-TR" dirty="0"/>
              <a:t>Subject passes itself via update method as a parameter, remove yourself using the reference</a:t>
            </a:r>
          </a:p>
        </p:txBody>
      </p:sp>
    </p:spTree>
    <p:extLst>
      <p:ext uri="{BB962C8B-B14F-4D97-AF65-F5344CB8AC3E}">
        <p14:creationId xmlns:p14="http://schemas.microsoft.com/office/powerpoint/2010/main" val="1815012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62897-E0C1-183A-3D57-F6D98E11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4A3E9-E9F7-874A-8B1F-A3331E6B4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52"/>
            <a:ext cx="8939336" cy="1371600"/>
          </a:xfrm>
        </p:spPr>
        <p:txBody>
          <a:bodyPr/>
          <a:lstStyle/>
          <a:p>
            <a:r>
              <a:rPr lang="en-US" dirty="0"/>
              <a:t>Exercise: Observing Traffic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BB038-2968-71A8-2609-D3C84B448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494" y="1268761"/>
            <a:ext cx="8624986" cy="504055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class Pedestrian implements Observer{</a:t>
            </a:r>
          </a:p>
          <a:p>
            <a:pPr marL="0" indent="0">
              <a:buNone/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public void update(RGY light){ //</a:t>
            </a:r>
            <a:r>
              <a:rPr lang="en-US" sz="2400" b="1" dirty="0">
                <a:latin typeface="+mj-lt"/>
                <a:ea typeface="Source Code Pro" panose="020B0509030403020204" pitchFamily="49" charset="0"/>
              </a:rPr>
              <a:t>push</a:t>
            </a:r>
            <a:endParaRPr lang="en-US" sz="24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if(light==</a:t>
            </a:r>
            <a:r>
              <a:rPr lang="en-US" sz="24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RGY.Green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){</a:t>
            </a:r>
          </a:p>
          <a:p>
            <a:pPr marL="0" indent="0">
              <a:buNone/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    //cross the road 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</a:t>
            </a:r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//how to stop observing the light?</a:t>
            </a:r>
          </a:p>
          <a:p>
            <a:pPr marL="0" indent="0">
              <a:buNone/>
            </a:pPr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      </a:t>
            </a:r>
            <a:r>
              <a:rPr 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mysubject.remove</a:t>
            </a:r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(this);</a:t>
            </a:r>
          </a:p>
          <a:p>
            <a:pPr marL="0" indent="0">
              <a:buNone/>
            </a:pPr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public void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atIntersection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(Subject s){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mySubject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=s;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}  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  <a:cs typeface="Calibri" panose="020F0502020204030204" pitchFamily="34" charset="0"/>
              </a:rPr>
              <a:t> 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//other methods…</a:t>
            </a:r>
          </a:p>
          <a:p>
            <a:pPr marL="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659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43094-2EEE-9AAA-104A-0308D29C3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52"/>
            <a:ext cx="8939336" cy="1371600"/>
          </a:xfrm>
        </p:spPr>
        <p:txBody>
          <a:bodyPr/>
          <a:lstStyle/>
          <a:p>
            <a:r>
              <a:rPr lang="en-US" dirty="0"/>
              <a:t>Exercise: Observing Traffic Light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1FFA01-6BDD-46F3-C35B-F02834343425}"/>
              </a:ext>
            </a:extLst>
          </p:cNvPr>
          <p:cNvSpPr txBox="1">
            <a:spLocks/>
          </p:cNvSpPr>
          <p:nvPr/>
        </p:nvSpPr>
        <p:spPr bwMode="auto">
          <a:xfrm>
            <a:off x="179512" y="1628800"/>
            <a:ext cx="8964488" cy="509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class Pedestrian implements Observer{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b="1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public void update(Subject s){ //</a:t>
            </a:r>
            <a:r>
              <a:rPr lang="en-US" sz="2400" b="1" kern="0" dirty="0">
                <a:latin typeface="+mj-lt"/>
                <a:ea typeface="Source Code Pro" panose="020B0509030403020204" pitchFamily="49" charset="0"/>
              </a:rPr>
              <a:t>pull</a:t>
            </a:r>
            <a:endParaRPr lang="en-US" sz="2400" b="1" kern="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b="1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if(</a:t>
            </a:r>
            <a:r>
              <a:rPr lang="en-US" sz="2400" b="1" kern="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s.equals</a:t>
            </a:r>
            <a:r>
              <a:rPr lang="en-US" sz="2400" b="1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2400" b="1" kern="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mylight</a:t>
            </a:r>
            <a:r>
              <a:rPr lang="en-US" sz="2400" b="1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))</a:t>
            </a:r>
            <a:r>
              <a:rPr lang="en-US" sz="2400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b="1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 if(</a:t>
            </a:r>
            <a:r>
              <a:rPr lang="en-US" sz="2400" b="1" kern="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s.getLight</a:t>
            </a:r>
            <a:r>
              <a:rPr lang="en-US" sz="2400" b="1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()==</a:t>
            </a:r>
            <a:r>
              <a:rPr lang="en-US" sz="2400" b="1" kern="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RGY.Green</a:t>
            </a:r>
            <a:r>
              <a:rPr lang="en-US" sz="2400" b="1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b="1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    //cross the road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</a:t>
            </a:r>
            <a:r>
              <a:rPr lang="en-US" sz="2400" kern="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s.remove</a:t>
            </a:r>
            <a:r>
              <a:rPr lang="en-US" sz="2400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(this);</a:t>
            </a:r>
            <a:r>
              <a:rPr lang="en-US" sz="2000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//stop observing the light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public void </a:t>
            </a:r>
            <a:r>
              <a:rPr lang="en-US" sz="2400" kern="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atIntersection</a:t>
            </a:r>
            <a:r>
              <a:rPr lang="en-US" sz="2400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(Subject s){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</a:t>
            </a:r>
            <a:r>
              <a:rPr lang="en-US" sz="2400" kern="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mylight</a:t>
            </a:r>
            <a:r>
              <a:rPr lang="en-US" sz="2400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=s;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}//</a:t>
            </a:r>
            <a:r>
              <a:rPr lang="en-US" sz="2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methods…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private Subject </a:t>
            </a:r>
            <a:r>
              <a:rPr lang="en-US" sz="2400" kern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mylight</a:t>
            </a:r>
            <a:r>
              <a:rPr lang="en-US" sz="2400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US" sz="2400" kern="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505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EE60937-20A8-5958-DE6F-719C618FB2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Implementation issues -4,5,6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49A65F2-82BD-0D4D-BCF4-16D295B939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291"/>
            <a:ext cx="8723312" cy="4532109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tr-TR" dirty="0"/>
              <a:t>Can an observer be also a subject?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tr-TR" dirty="0"/>
              <a:t>Do not assume an order of updates in Subject::notify</a:t>
            </a:r>
          </a:p>
          <a:p>
            <a:pPr eaLnBrk="1" hangingPunct="1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+mj-lt"/>
              </a:rPr>
              <a:t>Destructor method of Subject </a:t>
            </a:r>
            <a:r>
              <a:rPr lang="en-US" sz="2400" b="0" dirty="0">
                <a:solidFill>
                  <a:schemeClr val="accent5">
                    <a:lumMod val="75000"/>
                  </a:schemeClr>
                </a:solidFill>
                <a:effectLst/>
                <a:latin typeface="+mj-lt"/>
              </a:rPr>
              <a:t>(C++)</a:t>
            </a:r>
            <a:endParaRPr lang="en-US" sz="2400" b="0" i="0" dirty="0">
              <a:solidFill>
                <a:schemeClr val="accent5">
                  <a:lumMod val="75000"/>
                </a:schemeClr>
              </a:solidFill>
              <a:effectLst/>
              <a:latin typeface="+mj-lt"/>
            </a:endParaRPr>
          </a:p>
          <a:p>
            <a:pPr lvl="1">
              <a:lnSpc>
                <a:spcPct val="9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Deleting a subject should not produce dangling references in its observers.</a:t>
            </a:r>
          </a:p>
          <a:p>
            <a:pPr lvl="1">
              <a:lnSpc>
                <a:spcPct val="9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Make the subject notify its observers as it is deleted so that they can reset their reference to it.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000000"/>
                </a:solidFill>
                <a:latin typeface="+mj-lt"/>
              </a:rPr>
              <a:t>Do </a:t>
            </a:r>
            <a:r>
              <a:rPr lang="en-US" b="1" dirty="0">
                <a:solidFill>
                  <a:srgbClr val="000000"/>
                </a:solidFill>
                <a:latin typeface="+mj-lt"/>
              </a:rPr>
              <a:t>not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 delete observers. </a:t>
            </a:r>
          </a:p>
          <a:p>
            <a:pPr lvl="2">
              <a:lnSpc>
                <a:spcPct val="9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 other objects may reference them</a:t>
            </a:r>
          </a:p>
          <a:p>
            <a:pPr lvl="2">
              <a:lnSpc>
                <a:spcPct val="90000"/>
              </a:lnSpc>
            </a:pPr>
            <a:r>
              <a:rPr lang="en-US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they may be observing other subjects as well.</a:t>
            </a:r>
          </a:p>
          <a:p>
            <a:pPr marL="914400" lvl="2" indent="0">
              <a:lnSpc>
                <a:spcPct val="90000"/>
              </a:lnSpc>
              <a:buNone/>
            </a:pPr>
            <a:endParaRPr lang="en-US" altLang="tr-TR" dirty="0">
              <a:latin typeface="+mj-lt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EE60937-20A8-5958-DE6F-719C618FB2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Implementation issues -7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49A65F2-82BD-0D4D-BCF4-16D295B939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291"/>
            <a:ext cx="8723312" cy="202170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tr-TR" dirty="0">
                <a:latin typeface="+mj-lt"/>
              </a:rPr>
              <a:t>Make</a:t>
            </a:r>
            <a:r>
              <a:rPr lang="en-US" altLang="tr-TR" dirty="0"/>
              <a:t> sure the subject updates its state before sending out notifications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dirty="0"/>
              <a:t>Do not notify in the middle of change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dirty="0"/>
              <a:t>A problem caused by inheritance usually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tr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7937DA-AF1A-B80C-AD6F-382A41D62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573016"/>
            <a:ext cx="7201905" cy="24482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67C307-5CED-05D8-8D30-CFBC2A587F1E}"/>
              </a:ext>
            </a:extLst>
          </p:cNvPr>
          <p:cNvSpPr txBox="1"/>
          <p:nvPr/>
        </p:nvSpPr>
        <p:spPr>
          <a:xfrm>
            <a:off x="611560" y="6381328"/>
            <a:ext cx="79944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BaseClassSubject</a:t>
            </a:r>
            <a:r>
              <a:rPr lang="en-US" sz="2000" dirty="0"/>
              <a:t> calls notify itself inside the operation (see issue-2)</a:t>
            </a:r>
          </a:p>
        </p:txBody>
      </p:sp>
    </p:spTree>
    <p:extLst>
      <p:ext uri="{BB962C8B-B14F-4D97-AF65-F5344CB8AC3E}">
        <p14:creationId xmlns:p14="http://schemas.microsoft.com/office/powerpoint/2010/main" val="223359600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995AA875-59DE-3157-14CE-37F1FCF3598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5536" y="548680"/>
            <a:ext cx="8229600" cy="4525962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</a:t>
            </a:r>
            <a:r>
              <a:rPr lang="tr-TR" alt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class</a:t>
            </a:r>
            <a: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alt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CSubject</a:t>
            </a:r>
            <a: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{</a:t>
            </a:r>
            <a:b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tr-TR" alt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int</a:t>
            </a:r>
            <a: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tr-TR" alt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state</a:t>
            </a:r>
            <a: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 0;</a:t>
            </a:r>
            <a:b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tr-TR" alt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public</a:t>
            </a:r>
            <a: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change</a:t>
            </a:r>
            <a: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tr-TR" altLang="en-US" sz="20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int</a:t>
            </a:r>
            <a: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tr-TR" altLang="en-US" sz="20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increment</a:t>
            </a:r>
            <a: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){</a:t>
            </a:r>
            <a:b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</a:t>
            </a:r>
            <a:r>
              <a:rPr lang="tr-TR" alt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state</a:t>
            </a:r>
            <a: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 </a:t>
            </a:r>
            <a:r>
              <a:rPr lang="tr-TR" alt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state</a:t>
            </a:r>
            <a: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+ </a:t>
            </a:r>
            <a:r>
              <a:rPr lang="tr-TR" alt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increment</a:t>
            </a:r>
            <a: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;</a:t>
            </a:r>
            <a:b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</a:t>
            </a:r>
            <a:r>
              <a:rPr lang="tr-TR" altLang="en-US" sz="20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notify</a:t>
            </a:r>
            <a: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();</a:t>
            </a:r>
            <a:b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  <a:b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//…</a:t>
            </a:r>
            <a:b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  <a:b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</a:t>
            </a:r>
            <a:r>
              <a:rPr lang="tr-TR" alt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class</a:t>
            </a:r>
            <a: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C</a:t>
            </a:r>
            <a:r>
              <a:rPr lang="en-US" alt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SubSubject</a:t>
            </a:r>
            <a: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tr-TR" alt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extends</a:t>
            </a:r>
            <a: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alt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CSubject</a:t>
            </a:r>
            <a: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{</a:t>
            </a:r>
            <a:b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tr-TR" alt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int</a:t>
            </a:r>
            <a: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tr-TR" alt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additionalState</a:t>
            </a:r>
            <a: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 0;</a:t>
            </a:r>
            <a:endParaRPr lang="en-US" altLang="en-US" sz="20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FontTx/>
              <a:buNone/>
            </a:pPr>
            <a:r>
              <a:rPr lang="en-US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tr-TR" alt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public</a:t>
            </a:r>
            <a: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change</a:t>
            </a:r>
            <a: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tr-TR" altLang="en-US" sz="20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int</a:t>
            </a:r>
            <a: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tr-TR" altLang="en-US" sz="20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increment</a:t>
            </a:r>
            <a: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){</a:t>
            </a:r>
            <a:b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s</a:t>
            </a:r>
            <a:r>
              <a:rPr lang="tr-TR" altLang="en-US" sz="20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uper</a:t>
            </a:r>
            <a: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  <a:r>
              <a:rPr lang="en-US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change</a:t>
            </a:r>
            <a: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tr-TR" altLang="en-US" sz="20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increment</a:t>
            </a:r>
            <a: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); </a:t>
            </a:r>
            <a:r>
              <a:rPr lang="en-US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//notified</a:t>
            </a:r>
          </a:p>
          <a:p>
            <a:pPr marL="0" indent="0">
              <a:buFontTx/>
              <a:buNone/>
            </a:pPr>
            <a:r>
              <a:rPr lang="en-US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</a:t>
            </a:r>
            <a:b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</a:t>
            </a:r>
            <a:r>
              <a:rPr lang="tr-TR" altLang="en-US" sz="20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additionalState</a:t>
            </a:r>
            <a: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 </a:t>
            </a:r>
            <a:r>
              <a:rPr lang="tr-TR" altLang="en-US" sz="20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additionalState</a:t>
            </a:r>
            <a: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+ </a:t>
            </a:r>
            <a:r>
              <a:rPr lang="tr-TR" altLang="en-US" sz="20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increment</a:t>
            </a:r>
            <a:r>
              <a:rPr lang="tr-TR" altLang="en-US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; </a:t>
            </a:r>
            <a:endParaRPr lang="en-US" altLang="en-US" sz="20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FontTx/>
              <a:buNone/>
            </a:pPr>
            <a:r>
              <a:rPr lang="en-US" altLang="en-US" sz="2000" b="1" i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altLang="en-US" sz="2000" i="1" dirty="0">
                <a:solidFill>
                  <a:srgbClr val="0070C0"/>
                </a:solidFill>
                <a:latin typeface="+mj-lt"/>
                <a:ea typeface="Source Code Pro" panose="020B0509030403020204" pitchFamily="49" charset="0"/>
              </a:rPr>
              <a:t>   </a:t>
            </a:r>
            <a:r>
              <a:rPr lang="tr-TR" altLang="en-US" sz="2000" i="1" dirty="0">
                <a:solidFill>
                  <a:srgbClr val="0070C0"/>
                </a:solidFill>
                <a:latin typeface="+mj-lt"/>
                <a:ea typeface="Source Code Pro" panose="020B0509030403020204" pitchFamily="49" charset="0"/>
              </a:rPr>
              <a:t>// </a:t>
            </a:r>
            <a:r>
              <a:rPr lang="tr-TR" altLang="en-US" sz="2000" i="1" dirty="0" err="1">
                <a:solidFill>
                  <a:srgbClr val="002060"/>
                </a:solidFill>
                <a:latin typeface="+mj-lt"/>
                <a:ea typeface="Source Code Pro" panose="020B0509030403020204" pitchFamily="49" charset="0"/>
              </a:rPr>
              <a:t>the</a:t>
            </a:r>
            <a:r>
              <a:rPr lang="tr-TR" altLang="en-US" sz="2000" i="1" dirty="0">
                <a:solidFill>
                  <a:srgbClr val="002060"/>
                </a:solidFill>
                <a:latin typeface="+mj-lt"/>
                <a:ea typeface="Source Code Pro" panose="020B0509030403020204" pitchFamily="49" charset="0"/>
              </a:rPr>
              <a:t> </a:t>
            </a:r>
            <a:r>
              <a:rPr lang="tr-TR" altLang="en-US" sz="2000" i="1" dirty="0" err="1">
                <a:solidFill>
                  <a:srgbClr val="002060"/>
                </a:solidFill>
                <a:latin typeface="+mj-lt"/>
                <a:ea typeface="Source Code Pro" panose="020B0509030403020204" pitchFamily="49" charset="0"/>
              </a:rPr>
              <a:t>state</a:t>
            </a:r>
            <a:r>
              <a:rPr lang="tr-TR" altLang="en-US" sz="2000" i="1" dirty="0">
                <a:solidFill>
                  <a:srgbClr val="002060"/>
                </a:solidFill>
                <a:latin typeface="+mj-lt"/>
                <a:ea typeface="Source Code Pro" panose="020B0509030403020204" pitchFamily="49" charset="0"/>
              </a:rPr>
              <a:t> </a:t>
            </a:r>
            <a:r>
              <a:rPr lang="en-US" altLang="en-US" sz="2000" i="1" dirty="0" err="1">
                <a:solidFill>
                  <a:srgbClr val="002060"/>
                </a:solidFill>
                <a:latin typeface="+mj-lt"/>
                <a:ea typeface="Source Code Pro" panose="020B0509030403020204" pitchFamily="49" charset="0"/>
              </a:rPr>
              <a:t>i</a:t>
            </a:r>
            <a:r>
              <a:rPr lang="tr-TR" altLang="en-US" sz="2000" i="1" dirty="0">
                <a:solidFill>
                  <a:srgbClr val="002060"/>
                </a:solidFill>
                <a:latin typeface="+mj-lt"/>
                <a:ea typeface="Source Code Pro" panose="020B0509030403020204" pitchFamily="49" charset="0"/>
              </a:rPr>
              <a:t>s </a:t>
            </a:r>
            <a:r>
              <a:rPr lang="tr-TR" altLang="en-US" sz="2000" i="1" dirty="0" err="1">
                <a:solidFill>
                  <a:srgbClr val="002060"/>
                </a:solidFill>
                <a:latin typeface="+mj-lt"/>
                <a:ea typeface="Source Code Pro" panose="020B0509030403020204" pitchFamily="49" charset="0"/>
              </a:rPr>
              <a:t>changed</a:t>
            </a:r>
            <a:r>
              <a:rPr lang="tr-TR" altLang="en-US" sz="2000" i="1" dirty="0">
                <a:solidFill>
                  <a:srgbClr val="002060"/>
                </a:solidFill>
                <a:latin typeface="+mj-lt"/>
                <a:ea typeface="Source Code Pro" panose="020B0509030403020204" pitchFamily="49" charset="0"/>
              </a:rPr>
              <a:t> </a:t>
            </a:r>
            <a:r>
              <a:rPr lang="tr-TR" altLang="en-US" sz="2000" i="1" dirty="0" err="1">
                <a:solidFill>
                  <a:srgbClr val="002060"/>
                </a:solidFill>
                <a:latin typeface="+mj-lt"/>
                <a:ea typeface="Source Code Pro" panose="020B0509030403020204" pitchFamily="49" charset="0"/>
              </a:rPr>
              <a:t>after</a:t>
            </a:r>
            <a:r>
              <a:rPr lang="tr-TR" altLang="en-US" sz="2000" i="1" dirty="0">
                <a:solidFill>
                  <a:srgbClr val="002060"/>
                </a:solidFill>
                <a:latin typeface="+mj-lt"/>
                <a:ea typeface="Source Code Pro" panose="020B0509030403020204" pitchFamily="49" charset="0"/>
              </a:rPr>
              <a:t> </a:t>
            </a:r>
            <a:r>
              <a:rPr lang="tr-TR" altLang="en-US" sz="2000" i="1" dirty="0" err="1">
                <a:solidFill>
                  <a:srgbClr val="002060"/>
                </a:solidFill>
                <a:latin typeface="+mj-lt"/>
                <a:ea typeface="Source Code Pro" panose="020B0509030403020204" pitchFamily="49" charset="0"/>
              </a:rPr>
              <a:t>the</a:t>
            </a:r>
            <a:r>
              <a:rPr lang="tr-TR" altLang="en-US" sz="2000" i="1" dirty="0">
                <a:solidFill>
                  <a:srgbClr val="002060"/>
                </a:solidFill>
                <a:latin typeface="+mj-lt"/>
                <a:ea typeface="Source Code Pro" panose="020B0509030403020204" pitchFamily="49" charset="0"/>
              </a:rPr>
              <a:t> </a:t>
            </a:r>
            <a:r>
              <a:rPr lang="tr-TR" altLang="en-US" sz="2000" i="1" dirty="0" err="1">
                <a:solidFill>
                  <a:srgbClr val="002060"/>
                </a:solidFill>
                <a:latin typeface="+mj-lt"/>
                <a:ea typeface="Source Code Pro" panose="020B0509030403020204" pitchFamily="49" charset="0"/>
              </a:rPr>
              <a:t>notifiers</a:t>
            </a:r>
            <a:r>
              <a:rPr lang="tr-TR" altLang="en-US" sz="2000" i="1" dirty="0">
                <a:solidFill>
                  <a:srgbClr val="002060"/>
                </a:solidFill>
                <a:latin typeface="+mj-lt"/>
                <a:ea typeface="Source Code Pro" panose="020B0509030403020204" pitchFamily="49" charset="0"/>
              </a:rPr>
              <a:t> </a:t>
            </a:r>
            <a:r>
              <a:rPr lang="tr-TR" altLang="en-US" sz="2000" i="1" dirty="0" err="1">
                <a:solidFill>
                  <a:srgbClr val="002060"/>
                </a:solidFill>
                <a:latin typeface="+mj-lt"/>
                <a:ea typeface="Source Code Pro" panose="020B0509030403020204" pitchFamily="49" charset="0"/>
              </a:rPr>
              <a:t>are</a:t>
            </a:r>
            <a:r>
              <a:rPr lang="tr-TR" altLang="en-US" sz="2000" i="1" dirty="0">
                <a:solidFill>
                  <a:srgbClr val="002060"/>
                </a:solidFill>
                <a:latin typeface="+mj-lt"/>
                <a:ea typeface="Source Code Pro" panose="020B0509030403020204" pitchFamily="49" charset="0"/>
              </a:rPr>
              <a:t> </a:t>
            </a:r>
            <a:r>
              <a:rPr lang="tr-TR" altLang="en-US" sz="2000" i="1" dirty="0" err="1">
                <a:solidFill>
                  <a:srgbClr val="002060"/>
                </a:solidFill>
                <a:latin typeface="+mj-lt"/>
                <a:ea typeface="Source Code Pro" panose="020B0509030403020204" pitchFamily="49" charset="0"/>
              </a:rPr>
              <a:t>updated</a:t>
            </a:r>
            <a:br>
              <a:rPr lang="tr-TR" altLang="en-US" sz="2000" i="1" dirty="0">
                <a:solidFill>
                  <a:srgbClr val="0070C0"/>
                </a:solidFill>
                <a:latin typeface="+mj-lt"/>
                <a:ea typeface="Source Code Pro" panose="020B0509030403020204" pitchFamily="49" charset="0"/>
              </a:rPr>
            </a:br>
            <a:r>
              <a:rPr lang="en-US" altLang="en-US" sz="2000" i="1" dirty="0">
                <a:solidFill>
                  <a:srgbClr val="0070C0"/>
                </a:solidFill>
                <a:latin typeface="+mj-lt"/>
                <a:ea typeface="Source Code Pro" panose="020B0509030403020204" pitchFamily="49" charset="0"/>
              </a:rPr>
              <a:t> </a:t>
            </a:r>
            <a: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  <a:b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tr-TR" alt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33A28A-3872-6E15-CEFF-77B408B6B4D2}"/>
              </a:ext>
            </a:extLst>
          </p:cNvPr>
          <p:cNvSpPr txBox="1"/>
          <p:nvPr/>
        </p:nvSpPr>
        <p:spPr>
          <a:xfrm>
            <a:off x="5176247" y="1700808"/>
            <a:ext cx="396775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make the order of operation</a:t>
            </a:r>
          </a:p>
          <a:p>
            <a:r>
              <a:rPr lang="en-US" sz="2400" dirty="0">
                <a:solidFill>
                  <a:srgbClr val="0070C0"/>
                </a:solidFill>
              </a:rPr>
              <a:t>Constant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rgbClr val="0070C0"/>
                </a:solidFill>
              </a:rPr>
              <a:t>Make the change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rgbClr val="0070C0"/>
                </a:solidFill>
              </a:rPr>
              <a:t>Notify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1552D358-2940-24C5-4907-245F8D6EC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Template Method to rescue</a:t>
            </a:r>
            <a:endParaRPr lang="tr-TR" altLang="en-US" dirty="0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9FA84D27-F591-E160-B7FD-27DE76FE7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public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class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CSubject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{</a:t>
            </a:r>
            <a:b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int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state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0;</a:t>
            </a:r>
            <a:endParaRPr lang="en-US" alt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Tx/>
              <a:buNone/>
            </a:pPr>
            <a:r>
              <a:rPr lang="en-US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public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void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tr-TR" altLang="en-US" sz="2000" b="1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final</a:t>
            </a:r>
            <a:r>
              <a:rPr lang="tr-TR" altLang="en-US" sz="20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altLang="en-US" sz="20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change</a:t>
            </a:r>
            <a:r>
              <a:rPr lang="tr-TR" altLang="en-US" sz="20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</a:t>
            </a:r>
            <a:r>
              <a:rPr lang="tr-TR" altLang="en-US" sz="2000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int</a:t>
            </a:r>
            <a:r>
              <a:rPr lang="tr-TR" altLang="en-US" sz="20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tr-TR" altLang="en-US" sz="2000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increment</a:t>
            </a:r>
            <a:r>
              <a:rPr lang="tr-TR" altLang="en-US" sz="20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  <a:r>
              <a:rPr lang="en-US" altLang="en-US" sz="20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tr-TR" altLang="en-US" sz="20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{</a:t>
            </a:r>
            <a:br>
              <a:rPr lang="tr-TR" altLang="en-US" sz="20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altLang="en-US" sz="20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</a:t>
            </a:r>
            <a:r>
              <a:rPr lang="tr-TR" altLang="en-US" sz="2000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doUpdateState</a:t>
            </a:r>
            <a:r>
              <a:rPr lang="tr-TR" altLang="en-US" sz="20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</a:t>
            </a:r>
            <a:r>
              <a:rPr lang="tr-TR" altLang="en-US" sz="2000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increment</a:t>
            </a:r>
            <a:r>
              <a:rPr lang="tr-TR" altLang="en-US" sz="20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);</a:t>
            </a:r>
            <a:br>
              <a:rPr lang="tr-TR" altLang="en-US" sz="20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altLang="en-US" sz="20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</a:t>
            </a:r>
            <a:r>
              <a:rPr lang="tr-TR" altLang="en-US" sz="2000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notifyObservers</a:t>
            </a:r>
            <a:r>
              <a:rPr lang="tr-TR" altLang="en-US" sz="20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();</a:t>
            </a:r>
            <a:b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  <a:b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public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void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tr-TR" altLang="en-US" sz="2000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doUpdateState</a:t>
            </a:r>
            <a:r>
              <a:rPr lang="tr-TR" altLang="en-US" sz="20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int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increment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){</a:t>
            </a:r>
            <a:b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state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state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+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increment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; }</a:t>
            </a:r>
            <a:b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  <a:b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class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C</a:t>
            </a:r>
            <a:r>
              <a:rPr lang="en-US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SubSubject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extends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CSubject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{</a:t>
            </a:r>
            <a:b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public</a:t>
            </a:r>
            <a:r>
              <a:rPr lang="en-US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void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tr-TR" altLang="en-US" sz="2000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doUpdateState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int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increment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){</a:t>
            </a:r>
            <a:b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</a:t>
            </a:r>
            <a:r>
              <a:rPr lang="tr-TR" altLang="en-US" sz="2000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super.doUpdateState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increment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); //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the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observers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are</a:t>
            </a:r>
            <a:r>
              <a:rPr lang="en-US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alt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notified</a:t>
            </a:r>
            <a:b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altLang="en-US" sz="20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additionalState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additionalState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+ </a:t>
            </a:r>
            <a:r>
              <a:rPr lang="tr-TR" alt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increment</a:t>
            </a: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; </a:t>
            </a:r>
            <a:br>
              <a:rPr lang="tr-TR" altLang="en-US" sz="2000" i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tr-TR" alt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9E848-5722-99DF-BEBE-B6F0AF946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issue (optional)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A17EC-63CD-9E12-A73A-79914F163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291"/>
            <a:ext cx="8579296" cy="4532109"/>
          </a:xfrm>
        </p:spPr>
        <p:txBody>
          <a:bodyPr/>
          <a:lstStyle/>
          <a:p>
            <a:r>
              <a:rPr lang="en-US" sz="2800" dirty="0"/>
              <a:t>Lambda and function references (advanced)</a:t>
            </a:r>
          </a:p>
          <a:p>
            <a:pPr lvl="1"/>
            <a:r>
              <a:rPr lang="en-US" sz="2400" dirty="0"/>
              <a:t>If you understood the mechanics of Observer, you may replace the observer interface with function references</a:t>
            </a:r>
          </a:p>
          <a:p>
            <a:pPr marL="0" indent="0">
              <a:buNone/>
            </a:pPr>
            <a:r>
              <a:rPr lang="en-US" sz="24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class Subject{…</a:t>
            </a:r>
          </a:p>
          <a:p>
            <a:pPr marL="0" indent="0">
              <a:buNone/>
            </a:pPr>
            <a:r>
              <a:rPr lang="en-US" sz="24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 typedef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std::function&lt;</a:t>
            </a:r>
            <a:r>
              <a:rPr lang="en-US" sz="24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void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(Subject*)&gt;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ObserverFunction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 void attach(</a:t>
            </a:r>
            <a:r>
              <a:rPr lang="en-US" sz="240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ObserverFunction</a:t>
            </a:r>
            <a:r>
              <a:rPr lang="en-US" sz="24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observer)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{     </a:t>
            </a:r>
          </a:p>
          <a:p>
            <a:pPr marL="0" indent="0"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observers.</a:t>
            </a:r>
            <a:r>
              <a:rPr lang="en-US" sz="240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push_back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(observer); } </a:t>
            </a:r>
          </a:p>
          <a:p>
            <a:pPr marL="0" indent="0">
              <a:buNone/>
            </a:pPr>
            <a:r>
              <a:rPr lang="en-US" sz="24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  void notify()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{ </a:t>
            </a:r>
            <a:r>
              <a:rPr lang="en-US" sz="24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for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(</a:t>
            </a:r>
            <a:r>
              <a:rPr lang="en-US" sz="24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auto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&amp; observer : observers) { </a:t>
            </a:r>
            <a:r>
              <a:rPr lang="en-US" sz="24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observer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(this); }</a:t>
            </a:r>
          </a:p>
          <a:p>
            <a:pPr marL="0" indent="0"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}; </a:t>
            </a:r>
          </a:p>
        </p:txBody>
      </p:sp>
    </p:spTree>
    <p:extLst>
      <p:ext uri="{BB962C8B-B14F-4D97-AF65-F5344CB8AC3E}">
        <p14:creationId xmlns:p14="http://schemas.microsoft.com/office/powerpoint/2010/main" val="28298582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9E848-5722-99DF-BEBE-B6F0AF946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issue (optional)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A17EC-63CD-9E12-A73A-79914F163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291"/>
            <a:ext cx="8579296" cy="4532109"/>
          </a:xfrm>
        </p:spPr>
        <p:txBody>
          <a:bodyPr/>
          <a:lstStyle/>
          <a:p>
            <a:r>
              <a:rPr lang="en-US" sz="2800" dirty="0"/>
              <a:t>Lambda and function references (advanced)</a:t>
            </a:r>
          </a:p>
          <a:p>
            <a:r>
              <a:rPr lang="en-US" sz="2800" dirty="0"/>
              <a:t>Observer attaches itself with a lambda </a:t>
            </a:r>
          </a:p>
          <a:p>
            <a:pPr marL="0" indent="0">
              <a:buNone/>
            </a:pP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subject.</a:t>
            </a:r>
            <a:r>
              <a:rPr lang="en-US" sz="240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attach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</a:t>
            </a:r>
            <a:r>
              <a:rPr lang="en-US" sz="24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this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{ </a:t>
            </a:r>
            <a:r>
              <a:rPr lang="en-US" sz="24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this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-&gt;</a:t>
            </a:r>
            <a:r>
              <a:rPr lang="en-US" sz="24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update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(s); }); //inside an observer</a:t>
            </a:r>
          </a:p>
          <a:p>
            <a:pPr marL="0" indent="0">
              <a:buNone/>
            </a:pP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Another Example: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FD41D33-20D7-6C3F-675D-27A7B34FB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1600" y="4005064"/>
            <a:ext cx="6766310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65247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6084834B-B6D2-B296-7D64-08569DEE7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Scenario </a:t>
            </a:r>
            <a:endParaRPr lang="tr-TR" altLang="en-US" dirty="0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AEA0B231-393A-4FE9-95D3-9AAC97C4B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A news agency gather news and publish them to different subscribers. </a:t>
            </a:r>
          </a:p>
          <a:p>
            <a:r>
              <a:rPr lang="en-US" altLang="en-US" sz="2800" dirty="0"/>
              <a:t>We need to create a framework for and agency to be able to inform immediately, when event occurs, its subscribers about the event. </a:t>
            </a:r>
          </a:p>
          <a:p>
            <a:r>
              <a:rPr lang="en-US" altLang="en-US" sz="2800" dirty="0"/>
              <a:t>The subscribers can receive the news in different ways: Emails, SMS, ... </a:t>
            </a:r>
          </a:p>
          <a:p>
            <a:r>
              <a:rPr lang="en-US" altLang="en-US" sz="2800" dirty="0"/>
              <a:t>The solution need to be extensively enough to support new types of subscribers</a:t>
            </a:r>
          </a:p>
          <a:p>
            <a:pPr lvl="1"/>
            <a:r>
              <a:rPr lang="en-US" altLang="en-US" sz="2400" dirty="0"/>
              <a:t>maybe new communication technologies will appear.</a:t>
            </a:r>
            <a:endParaRPr lang="tr-T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837363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FFB978C3-3F86-9235-9F7C-79E0F692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B4DDDACC-1DD1-680F-B4FD-C09BC0E58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949950"/>
            <a:ext cx="7859713" cy="503238"/>
          </a:xfrm>
        </p:spPr>
        <p:txBody>
          <a:bodyPr/>
          <a:lstStyle/>
          <a:p>
            <a:r>
              <a:rPr lang="tr-TR" altLang="en-US" sz="2000" dirty="0"/>
              <a:t>http://www.oodesign.com/observer-pattern.html</a:t>
            </a:r>
          </a:p>
        </p:txBody>
      </p:sp>
      <p:pic>
        <p:nvPicPr>
          <p:cNvPr id="14340" name="Picture 2" descr="Observer Design Pattern Newspublisher Example - UML Class Diagram">
            <a:extLst>
              <a:ext uri="{FF2B5EF4-FFF2-40B4-BE49-F238E27FC236}">
                <a16:creationId xmlns:a16="http://schemas.microsoft.com/office/drawing/2014/main" id="{853352D5-6571-1324-0B6F-966C04D2E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" y="574675"/>
            <a:ext cx="9280525" cy="523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16092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289F-54E5-6A0A-AD8D-1AE33082E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01174-BE0A-4C10-F6EF-C8B10BF77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Weather station keep tracks of the recent temperature and pressure</a:t>
            </a:r>
          </a:p>
          <a:p>
            <a:pPr lvl="1"/>
            <a:r>
              <a:rPr lang="en-US" dirty="0" err="1"/>
              <a:t>setMeasurement</a:t>
            </a:r>
            <a:r>
              <a:rPr lang="en-US" dirty="0"/>
              <a:t>(float temperature, float pressure)</a:t>
            </a:r>
          </a:p>
          <a:p>
            <a:r>
              <a:rPr lang="en-US" dirty="0"/>
              <a:t>There are several weather data display </a:t>
            </a:r>
          </a:p>
          <a:p>
            <a:pPr lvl="1"/>
            <a:r>
              <a:rPr lang="en-US" dirty="0" err="1"/>
              <a:t>CurrentConditionDisplay</a:t>
            </a:r>
            <a:endParaRPr lang="en-US" dirty="0"/>
          </a:p>
          <a:p>
            <a:pPr lvl="2"/>
            <a:r>
              <a:rPr lang="en-US" dirty="0"/>
              <a:t>Prints current conditions</a:t>
            </a:r>
          </a:p>
          <a:p>
            <a:pPr lvl="1"/>
            <a:r>
              <a:rPr lang="en-US" dirty="0" err="1"/>
              <a:t>ForecastDisplay</a:t>
            </a:r>
            <a:endParaRPr lang="en-US" dirty="0"/>
          </a:p>
          <a:p>
            <a:pPr lvl="2"/>
            <a:r>
              <a:rPr lang="en-US" dirty="0"/>
              <a:t>Calculate prediction using the current data</a:t>
            </a:r>
          </a:p>
        </p:txBody>
      </p:sp>
    </p:spTree>
    <p:extLst>
      <p:ext uri="{BB962C8B-B14F-4D97-AF65-F5344CB8AC3E}">
        <p14:creationId xmlns:p14="http://schemas.microsoft.com/office/powerpoint/2010/main" val="22940359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873A468-7FA5-3C9F-91B9-1EDB5521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Subject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B50C64-A884-CADD-7FE0-7B90BC970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public class </a:t>
            </a:r>
            <a:r>
              <a:rPr 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WeatherStation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implements Subject {</a:t>
            </a:r>
          </a:p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</a:t>
            </a:r>
            <a:r>
              <a:rPr lang="en-US" sz="2000" dirty="0">
                <a:solidFill>
                  <a:srgbClr val="00B0F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private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List&lt;Observer&gt; observers=new </a:t>
            </a:r>
            <a:r>
              <a:rPr 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ArrayList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&lt;&gt;();</a:t>
            </a:r>
          </a:p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</a:t>
            </a:r>
            <a:r>
              <a:rPr lang="en-US" sz="2000" dirty="0">
                <a:solidFill>
                  <a:srgbClr val="00B0F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private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float temperature;</a:t>
            </a:r>
          </a:p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</a:t>
            </a:r>
            <a:r>
              <a:rPr lang="en-US" sz="2000" dirty="0">
                <a:solidFill>
                  <a:srgbClr val="00B0F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private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float pressure;</a:t>
            </a:r>
          </a:p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public void </a:t>
            </a:r>
            <a:r>
              <a:rPr lang="en-US" sz="2000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registerObserver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(Observer o) { </a:t>
            </a:r>
            <a:r>
              <a:rPr 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observers.add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(o);}</a:t>
            </a:r>
          </a:p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public void </a:t>
            </a:r>
            <a:r>
              <a:rPr lang="en-US" sz="2000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removeObserver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(Observer o) { </a:t>
            </a:r>
            <a:r>
              <a:rPr 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observers.remove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(o);    }</a:t>
            </a:r>
          </a:p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public void </a:t>
            </a:r>
            <a:r>
              <a:rPr lang="en-US" sz="2000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notifyObservers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 {</a:t>
            </a:r>
          </a:p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for (Observer </a:t>
            </a:r>
            <a:r>
              <a:rPr 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: observers) </a:t>
            </a:r>
          </a:p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  </a:t>
            </a:r>
            <a:r>
              <a:rPr 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observer.update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(temperature,  pressure);</a:t>
            </a:r>
          </a:p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}</a:t>
            </a:r>
          </a:p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public void </a:t>
            </a:r>
            <a:r>
              <a:rPr lang="en-US" sz="2000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setMeasurements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(float temperature,  float pressure) {</a:t>
            </a:r>
          </a:p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</a:t>
            </a:r>
            <a:r>
              <a:rPr 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this.temperature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temperature;</a:t>
            </a:r>
          </a:p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</a:t>
            </a:r>
            <a:r>
              <a:rPr 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this.pressure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pressure;</a:t>
            </a:r>
          </a:p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</a:t>
            </a:r>
            <a:r>
              <a:rPr lang="en-US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notifyObservers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}</a:t>
            </a:r>
          </a:p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96866E-5C5F-3EBD-C27D-4164A9D107EF}"/>
              </a:ext>
            </a:extLst>
          </p:cNvPr>
          <p:cNvSpPr txBox="1"/>
          <p:nvPr/>
        </p:nvSpPr>
        <p:spPr>
          <a:xfrm>
            <a:off x="6443192" y="332656"/>
            <a:ext cx="27008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Which update model does this code implement?</a:t>
            </a:r>
          </a:p>
          <a:p>
            <a:r>
              <a:rPr lang="en-US" sz="2800" dirty="0">
                <a:solidFill>
                  <a:srgbClr val="0070C0"/>
                </a:solidFill>
              </a:rPr>
              <a:t>Push or Pull</a:t>
            </a:r>
          </a:p>
        </p:txBody>
      </p:sp>
    </p:spTree>
    <p:extLst>
      <p:ext uri="{BB962C8B-B14F-4D97-AF65-F5344CB8AC3E}">
        <p14:creationId xmlns:p14="http://schemas.microsoft.com/office/powerpoint/2010/main" val="3151011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E6F10-A7AD-1134-369D-29771612C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Weather data Observer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B603A-5C7E-641A-3786-9B8F5C984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implement a </a:t>
            </a:r>
            <a:r>
              <a:rPr lang="en-US" dirty="0" err="1"/>
              <a:t>ForecastDisplay</a:t>
            </a:r>
            <a:endParaRPr lang="en-US" dirty="0"/>
          </a:p>
          <a:p>
            <a:pPr lvl="1"/>
            <a:r>
              <a:rPr lang="en-US" dirty="0"/>
              <a:t>Gets current data from 2 stations</a:t>
            </a:r>
          </a:p>
          <a:p>
            <a:pPr lvl="1"/>
            <a:r>
              <a:rPr lang="en-US" dirty="0"/>
              <a:t>Makes prediction and display</a:t>
            </a:r>
          </a:p>
          <a:p>
            <a:pPr lvl="1"/>
            <a:r>
              <a:rPr lang="en-US" dirty="0"/>
              <a:t>pull model or push model?</a:t>
            </a:r>
          </a:p>
        </p:txBody>
      </p:sp>
    </p:spTree>
    <p:extLst>
      <p:ext uri="{BB962C8B-B14F-4D97-AF65-F5344CB8AC3E}">
        <p14:creationId xmlns:p14="http://schemas.microsoft.com/office/powerpoint/2010/main" val="6363618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38DF-7404-83CF-FEA6-015912799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Alternative: Pull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ED373-5C53-84AC-943B-C9A1387B7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291"/>
            <a:ext cx="9227368" cy="453210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public class </a:t>
            </a:r>
            <a:r>
              <a:rPr lang="en-US" sz="2000" dirty="0" err="1"/>
              <a:t>ForecastDisplay</a:t>
            </a:r>
            <a:r>
              <a:rPr lang="en-US" sz="2000" dirty="0"/>
              <a:t> implements Observer {</a:t>
            </a:r>
          </a:p>
          <a:p>
            <a:pPr marL="0" indent="0">
              <a:buNone/>
            </a:pPr>
            <a:r>
              <a:rPr lang="en-US" sz="2000" dirty="0"/>
              <a:t>    private </a:t>
            </a:r>
            <a:r>
              <a:rPr lang="en-US" sz="2000" dirty="0" err="1"/>
              <a:t>WeatherStation</a:t>
            </a:r>
            <a:r>
              <a:rPr lang="en-US" sz="2000" dirty="0"/>
              <a:t> </a:t>
            </a:r>
            <a:r>
              <a:rPr lang="en-US" sz="2000" dirty="0" err="1"/>
              <a:t>myStation</a:t>
            </a:r>
            <a:r>
              <a:rPr lang="en-US" sz="2000" dirty="0"/>
              <a:t>; </a:t>
            </a:r>
          </a:p>
          <a:p>
            <a:pPr marL="0" indent="0">
              <a:buNone/>
            </a:pPr>
            <a:r>
              <a:rPr lang="en-US" sz="2000" dirty="0"/>
              <a:t>    public </a:t>
            </a:r>
            <a:r>
              <a:rPr lang="en-US" sz="2000" dirty="0" err="1"/>
              <a:t>ForecastDisplay</a:t>
            </a:r>
            <a:r>
              <a:rPr lang="en-US" sz="2000" dirty="0"/>
              <a:t>(</a:t>
            </a:r>
            <a:r>
              <a:rPr lang="en-US" sz="2000" dirty="0" err="1"/>
              <a:t>WeatherStation</a:t>
            </a:r>
            <a:r>
              <a:rPr lang="en-US" sz="2000" dirty="0"/>
              <a:t> station) {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this.myStation</a:t>
            </a:r>
            <a:r>
              <a:rPr lang="en-US" sz="2000" dirty="0"/>
              <a:t> = station;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station.registerObserver</a:t>
            </a:r>
            <a:r>
              <a:rPr lang="en-US" sz="2000" dirty="0"/>
              <a:t>(this); // Register itself</a:t>
            </a:r>
          </a:p>
          <a:p>
            <a:pPr marL="0" indent="0">
              <a:buNone/>
            </a:pPr>
            <a:r>
              <a:rPr lang="en-US" sz="2000" dirty="0"/>
              <a:t>    }</a:t>
            </a:r>
          </a:p>
          <a:p>
            <a:pPr marL="0" indent="0">
              <a:buNone/>
            </a:pPr>
            <a:r>
              <a:rPr lang="en-US" sz="2000" dirty="0"/>
              <a:t>public void update(Subject s) {</a:t>
            </a:r>
          </a:p>
          <a:p>
            <a:pPr marL="0" indent="0">
              <a:buNone/>
            </a:pPr>
            <a:r>
              <a:rPr lang="en-US" sz="2000" dirty="0"/>
              <a:t>     if (s == </a:t>
            </a:r>
            <a:r>
              <a:rPr lang="en-US" sz="2000" dirty="0" err="1"/>
              <a:t>myStation</a:t>
            </a:r>
            <a:r>
              <a:rPr lang="en-US" sz="2000" dirty="0"/>
              <a:t>) {  </a:t>
            </a:r>
          </a:p>
          <a:p>
            <a:pPr marL="0" indent="0">
              <a:buNone/>
            </a:pPr>
            <a:r>
              <a:rPr lang="en-US" sz="2000" dirty="0"/>
              <a:t>            float temp = </a:t>
            </a:r>
            <a:r>
              <a:rPr lang="en-US" sz="2000" dirty="0" err="1"/>
              <a:t>myStation.getTemperature</a:t>
            </a:r>
            <a:r>
              <a:rPr lang="en-US" sz="2000" dirty="0"/>
              <a:t>(); //pull</a:t>
            </a:r>
          </a:p>
          <a:p>
            <a:pPr marL="0" indent="0">
              <a:buNone/>
            </a:pPr>
            <a:r>
              <a:rPr lang="en-US" sz="2000" dirty="0"/>
              <a:t>            float pressure = </a:t>
            </a:r>
            <a:r>
              <a:rPr lang="en-US" sz="2000" dirty="0" err="1"/>
              <a:t>myStation.getPressure</a:t>
            </a:r>
            <a:r>
              <a:rPr lang="en-US" sz="2000" dirty="0"/>
              <a:t>(); //pull</a:t>
            </a:r>
          </a:p>
          <a:p>
            <a:pPr marL="0" indent="0">
              <a:buNone/>
            </a:pPr>
            <a:r>
              <a:rPr lang="en-US" sz="2000" dirty="0"/>
              <a:t>           //do the work</a:t>
            </a:r>
          </a:p>
          <a:p>
            <a:pPr marL="0" indent="0">
              <a:buNone/>
            </a:pPr>
            <a:r>
              <a:rPr lang="en-US" sz="2000" dirty="0"/>
              <a:t>            </a:t>
            </a:r>
            <a:r>
              <a:rPr lang="en-US" sz="2000" dirty="0" err="1"/>
              <a:t>System.out.println</a:t>
            </a:r>
            <a:r>
              <a:rPr lang="en-US" sz="2000" dirty="0"/>
              <a:t>("Forecasting with temp: " + temp);</a:t>
            </a:r>
          </a:p>
          <a:p>
            <a:pPr marL="0" indent="0">
              <a:buNone/>
            </a:pPr>
            <a:r>
              <a:rPr lang="en-US" sz="2000" dirty="0"/>
              <a:t>        }</a:t>
            </a:r>
          </a:p>
          <a:p>
            <a:pPr marL="0" indent="0">
              <a:buNone/>
            </a:pPr>
            <a:r>
              <a:rPr lang="en-US" sz="2000" dirty="0"/>
              <a:t>    }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50155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9A559-5E7B-9BE8-7811-49134FABC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9F174-526E-B420-869D-B3D8111AC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Alternative: Pull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A931B-C3B5-BD9A-6BDE-91797EDF2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291"/>
            <a:ext cx="9227368" cy="453210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public class </a:t>
            </a:r>
            <a:r>
              <a:rPr lang="en-US" sz="2000" dirty="0" err="1"/>
              <a:t>ForecastDisplay</a:t>
            </a:r>
            <a:r>
              <a:rPr lang="en-US" sz="2000" dirty="0"/>
              <a:t> implements Observer {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>
                <a:solidFill>
                  <a:schemeClr val="accent3">
                    <a:lumMod val="95000"/>
                  </a:schemeClr>
                </a:solidFill>
              </a:rPr>
              <a:t>private </a:t>
            </a:r>
            <a:r>
              <a:rPr lang="en-US" sz="2000" dirty="0" err="1">
                <a:solidFill>
                  <a:schemeClr val="accent3">
                    <a:lumMod val="95000"/>
                  </a:schemeClr>
                </a:solidFill>
              </a:rPr>
              <a:t>WeatherStation</a:t>
            </a:r>
            <a:r>
              <a:rPr lang="en-US" sz="2000" dirty="0">
                <a:solidFill>
                  <a:schemeClr val="accent3">
                    <a:lumMod val="9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3">
                    <a:lumMod val="95000"/>
                  </a:schemeClr>
                </a:solidFill>
              </a:rPr>
              <a:t>myStation</a:t>
            </a:r>
            <a:r>
              <a:rPr lang="en-US" sz="2000" dirty="0">
                <a:solidFill>
                  <a:schemeClr val="accent3">
                    <a:lumMod val="95000"/>
                  </a:schemeClr>
                </a:solidFill>
              </a:rPr>
              <a:t>;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3">
                    <a:lumMod val="95000"/>
                  </a:schemeClr>
                </a:solidFill>
              </a:rPr>
              <a:t>    public </a:t>
            </a:r>
            <a:r>
              <a:rPr lang="en-US" sz="2000" dirty="0" err="1">
                <a:solidFill>
                  <a:schemeClr val="accent3">
                    <a:lumMod val="95000"/>
                  </a:schemeClr>
                </a:solidFill>
              </a:rPr>
              <a:t>ForecastDisplay</a:t>
            </a:r>
            <a:r>
              <a:rPr lang="en-US" sz="2000" dirty="0">
                <a:solidFill>
                  <a:schemeClr val="accent3">
                    <a:lumMod val="9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3">
                    <a:lumMod val="95000"/>
                  </a:schemeClr>
                </a:solidFill>
              </a:rPr>
              <a:t>WeatherStation</a:t>
            </a:r>
            <a:r>
              <a:rPr lang="en-US" sz="2000" dirty="0">
                <a:solidFill>
                  <a:schemeClr val="accent3">
                    <a:lumMod val="95000"/>
                  </a:schemeClr>
                </a:solidFill>
              </a:rPr>
              <a:t> station) {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3">
                    <a:lumMod val="95000"/>
                  </a:schemeClr>
                </a:solidFill>
              </a:rPr>
              <a:t>        </a:t>
            </a:r>
            <a:r>
              <a:rPr lang="en-US" sz="2000" dirty="0" err="1">
                <a:solidFill>
                  <a:schemeClr val="accent3">
                    <a:lumMod val="95000"/>
                  </a:schemeClr>
                </a:solidFill>
              </a:rPr>
              <a:t>this.myStation</a:t>
            </a:r>
            <a:r>
              <a:rPr lang="en-US" sz="2000" dirty="0">
                <a:solidFill>
                  <a:schemeClr val="accent3">
                    <a:lumMod val="95000"/>
                  </a:schemeClr>
                </a:solidFill>
              </a:rPr>
              <a:t> = station;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3">
                    <a:lumMod val="95000"/>
                  </a:schemeClr>
                </a:solidFill>
              </a:rPr>
              <a:t>        </a:t>
            </a:r>
            <a:r>
              <a:rPr lang="en-US" sz="2000" dirty="0" err="1">
                <a:solidFill>
                  <a:schemeClr val="accent3">
                    <a:lumMod val="95000"/>
                  </a:schemeClr>
                </a:solidFill>
              </a:rPr>
              <a:t>station.registerObserver</a:t>
            </a:r>
            <a:r>
              <a:rPr lang="en-US" sz="2000" dirty="0">
                <a:solidFill>
                  <a:schemeClr val="accent3">
                    <a:lumMod val="95000"/>
                  </a:schemeClr>
                </a:solidFill>
              </a:rPr>
              <a:t>(this); // Register itself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3">
                    <a:lumMod val="95000"/>
                  </a:schemeClr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2000" dirty="0"/>
              <a:t>public void update(Subject s) {</a:t>
            </a:r>
          </a:p>
          <a:p>
            <a:pPr marL="0" indent="0">
              <a:buNone/>
            </a:pPr>
            <a:r>
              <a:rPr lang="en-US" sz="2000" dirty="0"/>
              <a:t>     if (s == </a:t>
            </a:r>
            <a:r>
              <a:rPr lang="en-US" sz="2000" dirty="0" err="1"/>
              <a:t>myStation</a:t>
            </a:r>
            <a:r>
              <a:rPr lang="en-US" sz="2000" dirty="0"/>
              <a:t>) {  </a:t>
            </a:r>
          </a:p>
          <a:p>
            <a:pPr marL="0" indent="0">
              <a:buNone/>
            </a:pPr>
            <a:r>
              <a:rPr lang="en-US" sz="2000" dirty="0"/>
              <a:t>            float temp = </a:t>
            </a:r>
            <a:r>
              <a:rPr lang="en-US" sz="2000" dirty="0" err="1"/>
              <a:t>myStation.getTemperature</a:t>
            </a:r>
            <a:r>
              <a:rPr lang="en-US" sz="2000" dirty="0"/>
              <a:t>(); //pull</a:t>
            </a:r>
          </a:p>
          <a:p>
            <a:pPr marL="0" indent="0">
              <a:buNone/>
            </a:pPr>
            <a:r>
              <a:rPr lang="en-US" sz="2000" dirty="0"/>
              <a:t>            float pressure = </a:t>
            </a:r>
            <a:r>
              <a:rPr lang="en-US" sz="2000" dirty="0" err="1"/>
              <a:t>myStation.getPressure</a:t>
            </a:r>
            <a:r>
              <a:rPr lang="en-US" sz="2000" dirty="0"/>
              <a:t>(); //pull</a:t>
            </a:r>
          </a:p>
          <a:p>
            <a:pPr marL="0" indent="0">
              <a:buNone/>
            </a:pPr>
            <a:r>
              <a:rPr lang="en-US" sz="2000" dirty="0"/>
              <a:t>           //do the work</a:t>
            </a:r>
          </a:p>
          <a:p>
            <a:pPr marL="0" indent="0">
              <a:buNone/>
            </a:pPr>
            <a:r>
              <a:rPr lang="en-US" sz="2000" dirty="0"/>
              <a:t>            </a:t>
            </a:r>
            <a:r>
              <a:rPr lang="en-US" sz="2000" dirty="0" err="1"/>
              <a:t>System.out.println</a:t>
            </a:r>
            <a:r>
              <a:rPr lang="en-US" sz="2000" dirty="0"/>
              <a:t>("Forecasting with temp: " + temp);</a:t>
            </a:r>
          </a:p>
          <a:p>
            <a:pPr marL="0" indent="0">
              <a:buNone/>
            </a:pPr>
            <a:r>
              <a:rPr lang="en-US" sz="2000" dirty="0"/>
              <a:t>        }</a:t>
            </a:r>
          </a:p>
          <a:p>
            <a:pPr marL="0" indent="0">
              <a:buNone/>
            </a:pPr>
            <a:r>
              <a:rPr lang="en-US" sz="2000" dirty="0"/>
              <a:t>    }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8BF20-2F9D-3816-96BE-4FA25FBB8F78}"/>
              </a:ext>
            </a:extLst>
          </p:cNvPr>
          <p:cNvSpPr txBox="1"/>
          <p:nvPr/>
        </p:nvSpPr>
        <p:spPr>
          <a:xfrm>
            <a:off x="4221450" y="1844824"/>
            <a:ext cx="5445278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// Inside </a:t>
            </a:r>
            <a:r>
              <a:rPr lang="en-US" dirty="0" err="1"/>
              <a:t>WeatherStation</a:t>
            </a:r>
            <a:r>
              <a:rPr lang="en-US" dirty="0"/>
              <a:t> class</a:t>
            </a:r>
          </a:p>
          <a:p>
            <a:r>
              <a:rPr lang="en-US" dirty="0"/>
              <a:t>public void </a:t>
            </a:r>
            <a:r>
              <a:rPr lang="en-US" dirty="0" err="1"/>
              <a:t>notifyObservers</a:t>
            </a:r>
            <a:r>
              <a:rPr lang="en-US" dirty="0"/>
              <a:t>() {</a:t>
            </a:r>
          </a:p>
          <a:p>
            <a:r>
              <a:rPr lang="en-US" dirty="0"/>
              <a:t>    for (Observer </a:t>
            </a:r>
            <a:r>
              <a:rPr lang="en-US" dirty="0" err="1"/>
              <a:t>observer</a:t>
            </a:r>
            <a:r>
              <a:rPr lang="en-US" dirty="0"/>
              <a:t> : observers) {</a:t>
            </a:r>
          </a:p>
          <a:p>
            <a:r>
              <a:rPr lang="en-US" dirty="0"/>
              <a:t>        </a:t>
            </a:r>
            <a:r>
              <a:rPr lang="en-US" dirty="0" err="1"/>
              <a:t>observer.update</a:t>
            </a:r>
            <a:r>
              <a:rPr lang="en-US" dirty="0"/>
              <a:t>(this); // "this" is the Subject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9287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0FB5BA0-A391-490A-C9A4-BEF36730E3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Observer – Consequences-1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53FDCD13-B113-51C3-3C92-5A7B1BAF67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Subject and observers are loosely coupled</a:t>
            </a:r>
          </a:p>
          <a:p>
            <a:pPr lvl="1" eaLnBrk="1" hangingPunct="1"/>
            <a:r>
              <a:rPr lang="en-US" altLang="tr-TR"/>
              <a:t>Subject need not know concrete observers just knows each observer implements the update()</a:t>
            </a:r>
          </a:p>
          <a:p>
            <a:pPr lvl="1" eaLnBrk="1" hangingPunct="1"/>
            <a:r>
              <a:rPr lang="en-US" altLang="tr-TR"/>
              <a:t>Can reuse subjects without reusing their observers and vice versa</a:t>
            </a:r>
          </a:p>
          <a:p>
            <a:pPr lvl="1" eaLnBrk="1" hangingPunct="1"/>
            <a:r>
              <a:rPr lang="en-US" altLang="tr-TR"/>
              <a:t>Observers can be added without modifying the subject</a:t>
            </a:r>
          </a:p>
          <a:p>
            <a:pPr lvl="1" eaLnBrk="1" hangingPunct="1"/>
            <a:r>
              <a:rPr lang="en-US" altLang="tr-TR"/>
              <a:t>Subject and observer can belong to different abstraction layers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235A32B-C9AB-B09C-CEA7-2D6C051577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Observer – Consequences-2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C40BF1E-54FD-3047-A7D7-10E20BFE87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Support for broadcasting</a:t>
            </a:r>
          </a:p>
          <a:p>
            <a:pPr lvl="1" eaLnBrk="1" hangingPunct="1"/>
            <a:r>
              <a:rPr lang="en-US" altLang="tr-TR" dirty="0"/>
              <a:t>All observers are notified</a:t>
            </a:r>
          </a:p>
          <a:p>
            <a:pPr lvl="1" eaLnBrk="1" hangingPunct="1"/>
            <a:r>
              <a:rPr lang="en-US" altLang="tr-TR" dirty="0"/>
              <a:t>The subject does not care how many interested objects exist</a:t>
            </a:r>
          </a:p>
          <a:p>
            <a:pPr lvl="1" eaLnBrk="1" hangingPunct="1"/>
            <a:r>
              <a:rPr lang="en-US" altLang="tr-TR" dirty="0"/>
              <a:t>Freedom to add/remove Observers any time</a:t>
            </a:r>
          </a:p>
          <a:p>
            <a:pPr lvl="1" eaLnBrk="1" hangingPunct="1"/>
            <a:r>
              <a:rPr lang="en-US" altLang="tr-TR" dirty="0"/>
              <a:t>It's up to the observer to handle or ignore a notification</a:t>
            </a:r>
          </a:p>
          <a:p>
            <a:pPr eaLnBrk="1" hangingPunct="1"/>
            <a:r>
              <a:rPr lang="en-US" altLang="tr-TR" dirty="0"/>
              <a:t>Unexpected updates</a:t>
            </a:r>
          </a:p>
          <a:p>
            <a:pPr lvl="1" eaLnBrk="1" hangingPunct="1"/>
            <a:r>
              <a:rPr lang="en-US" altLang="tr-TR" dirty="0"/>
              <a:t>An operation on the subject may cause a cascade of updates to observers and their dependent objects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A30F8-5A6D-0E64-642F-DAA8DAD08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based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F6FE9-CE1D-681B-CFAD-E972D6058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Publish/subscribe is observer</a:t>
            </a:r>
          </a:p>
          <a:p>
            <a:r>
              <a:rPr lang="en-US" dirty="0"/>
              <a:t>Event based architectures</a:t>
            </a:r>
          </a:p>
          <a:p>
            <a:r>
              <a:rPr lang="en-US" dirty="0"/>
              <a:t>Put queues/topics or messaging services in between</a:t>
            </a:r>
          </a:p>
          <a:p>
            <a:pPr lvl="1"/>
            <a:r>
              <a:rPr lang="en-US" dirty="0"/>
              <a:t>Publisher(Subject) send events/notifications/messages to the topic/queue</a:t>
            </a:r>
          </a:p>
          <a:p>
            <a:pPr lvl="1"/>
            <a:r>
              <a:rPr lang="en-US" dirty="0"/>
              <a:t>Subscribers get notified and consume events/messages from the topic/queue</a:t>
            </a:r>
          </a:p>
          <a:p>
            <a:pPr lvl="1"/>
            <a:r>
              <a:rPr lang="en-US" dirty="0"/>
              <a:t>Security, availability, recoverability, persistency,….</a:t>
            </a:r>
          </a:p>
        </p:txBody>
      </p:sp>
    </p:spTree>
    <p:extLst>
      <p:ext uri="{BB962C8B-B14F-4D97-AF65-F5344CB8AC3E}">
        <p14:creationId xmlns:p14="http://schemas.microsoft.com/office/powerpoint/2010/main" val="13517756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C38D-9FBD-A236-08DE-92388895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52"/>
            <a:ext cx="9371384" cy="1371600"/>
          </a:xfrm>
        </p:spPr>
        <p:txBody>
          <a:bodyPr/>
          <a:lstStyle/>
          <a:p>
            <a:r>
              <a:rPr lang="en-US" dirty="0"/>
              <a:t>This code is not thread safe (Java)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305A9-5D22-A04F-7173-7B5B2255C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ublic class Subject{     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//lazy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and not thread safe</a:t>
            </a:r>
            <a:endParaRPr lang="en-US" sz="2400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private </a:t>
            </a:r>
            <a:r>
              <a:rPr lang="en-US" sz="24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List&lt;Observer&gt; observers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=null;         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private void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createObservers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(){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 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observers=new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ArrayList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&lt;Observer&gt;();}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public void attach (Observer o)  {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if(observers==null)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createObservers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observers.add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(o);}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public void detach (Observer o) {  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if (observers!=null)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observers.remove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(o);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public void notify ()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if (observers==null) return;</a:t>
            </a:r>
            <a:endParaRPr lang="en-US" sz="2400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for (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Observer o: observers)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o.update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(this);}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  <a:endParaRPr lang="en-US" sz="2400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6617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68C50-4B4F-8B5A-BC8B-81F105A6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thread safe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5F516-4165-86B5-AE7B-A912EF755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public void detach (Observer o) { 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observers.remove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(o);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public void notify ()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if (observers==null) return;</a:t>
            </a:r>
            <a:endParaRPr lang="en-US" sz="2400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for (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Observer o: observers)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o.update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(this);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  <a:p>
            <a:r>
              <a:rPr lang="en-US" sz="2800" kern="0" dirty="0">
                <a:latin typeface="+mj-lt"/>
                <a:ea typeface="Source Sans Pro" panose="020B0503030403020204" pitchFamily="34" charset="0"/>
              </a:rPr>
              <a:t>What happens one thread is executing </a:t>
            </a:r>
            <a:r>
              <a:rPr lang="en-US" sz="2800" u="sng" kern="0" dirty="0">
                <a:latin typeface="+mj-lt"/>
                <a:ea typeface="Source Sans Pro" panose="020B0503030403020204" pitchFamily="34" charset="0"/>
              </a:rPr>
              <a:t>detach</a:t>
            </a:r>
            <a:r>
              <a:rPr lang="en-US" sz="2800" kern="0" dirty="0">
                <a:latin typeface="+mj-lt"/>
                <a:ea typeface="Source Sans Pro" panose="020B0503030403020204" pitchFamily="34" charset="0"/>
              </a:rPr>
              <a:t>(o) while another thread is in </a:t>
            </a:r>
            <a:r>
              <a:rPr lang="en-US" sz="2800" u="sng" kern="0" dirty="0">
                <a:latin typeface="+mj-lt"/>
                <a:ea typeface="Source Sans Pro" panose="020B0503030403020204" pitchFamily="34" charset="0"/>
              </a:rPr>
              <a:t>notify</a:t>
            </a:r>
            <a:r>
              <a:rPr lang="en-US" sz="2800" kern="0" dirty="0">
                <a:latin typeface="+mj-lt"/>
                <a:ea typeface="Source Sans Pro" panose="020B0503030403020204" pitchFamily="34" charset="0"/>
              </a:rPr>
              <a:t>()?</a:t>
            </a:r>
          </a:p>
          <a:p>
            <a:r>
              <a:rPr lang="en-US" sz="32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ConcurrentModificationException</a:t>
            </a:r>
            <a:endParaRPr lang="en-US" sz="3200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7740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EDF22-6883-EC35-1CE0-6D887D730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thread safe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D751A-742A-CA2B-D4DF-4C6DCDFEB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public void attach (Observer o)  {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if(observers==null)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createObservers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observers.add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(o);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}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800" dirty="0">
                <a:latin typeface="+mj-lt"/>
                <a:ea typeface="Source Sans Pro" panose="020B0503030403020204" pitchFamily="34" charset="0"/>
              </a:rPr>
              <a:t>What happens when thread 1 see null observers and just before calling </a:t>
            </a:r>
            <a:r>
              <a:rPr lang="en-US" sz="2800" dirty="0" err="1">
                <a:latin typeface="+mj-lt"/>
                <a:ea typeface="Source Sans Pro" panose="020B0503030403020204" pitchFamily="34" charset="0"/>
              </a:rPr>
              <a:t>createObservers</a:t>
            </a:r>
            <a:r>
              <a:rPr lang="en-US" sz="2800" dirty="0">
                <a:latin typeface="+mj-lt"/>
                <a:ea typeface="Source Sans Pro" panose="020B0503030403020204" pitchFamily="34" charset="0"/>
              </a:rPr>
              <a:t>, thread 2 started and completed attach(o)?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852987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4BB68E-6CA0-7FEE-FBDE-3D3529A15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thread-safe   (C++)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40FD60-94E6-BA17-1950-95DD4C9D7F0D}"/>
              </a:ext>
            </a:extLst>
          </p:cNvPr>
          <p:cNvSpPr txBox="1">
            <a:spLocks/>
          </p:cNvSpPr>
          <p:nvPr/>
        </p:nvSpPr>
        <p:spPr>
          <a:xfrm>
            <a:off x="457200" y="1335291"/>
            <a:ext cx="8229600" cy="4532109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800" kern="0" dirty="0">
                <a:latin typeface="+mj-lt"/>
                <a:ea typeface="Source Sans Pro" panose="020B0503030403020204" pitchFamily="34" charset="0"/>
              </a:rPr>
              <a:t>No lazy initialization but still not thread safe</a:t>
            </a:r>
            <a:r>
              <a:rPr lang="en-US" sz="20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void Subject::attach (Observer* o)  { observers-&gt;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push_back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(o);}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void Subject::detach (Observer* o) {  observers-&gt;remove(o);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void Subject::notify ()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for (auto it = _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observers.begin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(); it !=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observers.end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(); ++it)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  it-&gt;update(this);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}</a:t>
            </a:r>
          </a:p>
          <a:p>
            <a:r>
              <a:rPr lang="en-US" sz="2800" u="sng" kern="0" dirty="0">
                <a:latin typeface="+mj-lt"/>
                <a:ea typeface="Source Sans Pro" panose="020B0503030403020204" pitchFamily="34" charset="0"/>
              </a:rPr>
              <a:t>Race condition</a:t>
            </a:r>
            <a:r>
              <a:rPr lang="en-US" sz="2800" kern="0" dirty="0">
                <a:latin typeface="+mj-lt"/>
                <a:ea typeface="Source Sans Pro" panose="020B0503030403020204" pitchFamily="34" charset="0"/>
              </a:rPr>
              <a:t>: What happens one thread is executing detach(o) while another thread is in notify()?</a:t>
            </a:r>
          </a:p>
          <a:p>
            <a:r>
              <a:rPr lang="en-US" sz="2800" kern="0" dirty="0">
                <a:latin typeface="+mj-lt"/>
                <a:ea typeface="Source Sans Pro" panose="020B0503030403020204" pitchFamily="34" charset="0"/>
              </a:rPr>
              <a:t>Same question is valid for Java implementation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sz="2000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20346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1D11D-76BC-C64C-63C5-DA1E29BD8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safe Subject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BEC2-6C22-804C-E118-288CC0640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291"/>
            <a:ext cx="9155360" cy="4532109"/>
          </a:xfrm>
        </p:spPr>
        <p:txBody>
          <a:bodyPr/>
          <a:lstStyle/>
          <a:p>
            <a:r>
              <a:rPr lang="en-US" dirty="0"/>
              <a:t>Use a thread safe Collection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ublic class Subject{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private final List&lt;Observer&gt; observers=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new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   </a:t>
            </a:r>
            <a:r>
              <a:rPr lang="en-US" sz="2400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CopyOnWriteArrayList</a:t>
            </a:r>
            <a:r>
              <a:rPr lang="en-US" sz="24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&lt;Observer&gt;()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; //in concurrency package</a:t>
            </a:r>
            <a:endParaRPr lang="en-US" sz="2400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public void attach (Observer o)  {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observers.add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(o);}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public void detach (Observer o) { 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observers.remove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(o);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public void notify ()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for (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Observer o: observers)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o.update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(this);}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  //final makes it initiated once. –no lazy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//</a:t>
            </a:r>
            <a:r>
              <a:rPr lang="en-US" sz="2400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CopyOnWriteArrayList</a:t>
            </a:r>
            <a:r>
              <a:rPr lang="en-US" sz="24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is thread safe data structure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000" kern="0" dirty="0">
                <a:latin typeface="Times New Roman" panose="02020603050405020304" pitchFamily="18" charset="0"/>
                <a:ea typeface="Source Sans Pro" panose="020B0503030403020204" pitchFamily="34" charset="0"/>
                <a:cs typeface="Times New Roman" panose="02020603050405020304" pitchFamily="18" charset="0"/>
              </a:rPr>
              <a:t>There are libraries for C++ that provides thread safe data structures (e.g. Boost)</a:t>
            </a:r>
            <a:endParaRPr lang="en-US" sz="2400" kern="0" dirty="0">
              <a:latin typeface="Times New Roman" panose="02020603050405020304" pitchFamily="18" charset="0"/>
              <a:ea typeface="Source Sans Pro" panose="020B0503030403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3077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5F758-A58A-C05E-1156-C777F1AC4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39152"/>
            <a:ext cx="9083352" cy="1371600"/>
          </a:xfrm>
        </p:spPr>
        <p:txBody>
          <a:bodyPr/>
          <a:lstStyle/>
          <a:p>
            <a:r>
              <a:rPr lang="en-US" dirty="0"/>
              <a:t>Thread safe Subject -synchronized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B16F3-BAFA-BA0E-B48A-5F6D8E920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ublic class Subject{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private List&lt;Observer&gt; observers=null;         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private void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createObservers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(){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 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observers=new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ArrayList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&lt;Observer&gt;();}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public void </a:t>
            </a:r>
            <a:r>
              <a:rPr lang="en-US" sz="2400" kern="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synchronized 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attach (Observer o)  {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if(observers==null)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createObservers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observers.add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(o);}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public void </a:t>
            </a:r>
            <a:r>
              <a:rPr lang="en-US" sz="2400" kern="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synchronized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detach (Observer o) {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 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if(observers!=null)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observers.remove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(o);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//see next slide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800" dirty="0">
                <a:latin typeface="Arial  "/>
                <a:ea typeface="Source Sans Pro" panose="020B0503030403020204" pitchFamily="34" charset="0"/>
              </a:rPr>
              <a:t>This is Java synchronized.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800" dirty="0">
                <a:latin typeface="Arial  "/>
                <a:ea typeface="Source Sans Pro" panose="020B0503030403020204" pitchFamily="34" charset="0"/>
              </a:rPr>
              <a:t>There are C++ libraries with locking mechanism</a:t>
            </a:r>
            <a:endParaRPr lang="en-US" sz="1800" dirty="0">
              <a:latin typeface="Arial  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3446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5F758-A58A-C05E-1156-C777F1AC4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39152"/>
            <a:ext cx="9083352" cy="1371600"/>
          </a:xfrm>
        </p:spPr>
        <p:txBody>
          <a:bodyPr/>
          <a:lstStyle/>
          <a:p>
            <a:r>
              <a:rPr lang="en-US" dirty="0"/>
              <a:t>Thread safe Subject -synchronized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B16F3-BAFA-BA0E-B48A-5F6D8E920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public void </a:t>
            </a:r>
            <a:r>
              <a:rPr lang="en-US" sz="2400" kern="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synchronized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detach (Observer o) {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    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observers.remove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(o);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public void notify ()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List&lt;Observer&gt; copy;</a:t>
            </a:r>
            <a:endParaRPr lang="en-US" sz="2400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</a:t>
            </a:r>
            <a:r>
              <a:rPr lang="en-US" sz="24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synchronized(this){</a:t>
            </a:r>
            <a:endParaRPr lang="en-US" sz="2400" kern="0" dirty="0">
              <a:solidFill>
                <a:srgbClr val="0070C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  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if (observers==null) return;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      </a:t>
            </a:r>
            <a:r>
              <a:rPr lang="en-US" sz="2400" kern="0" dirty="0">
                <a:solidFill>
                  <a:srgbClr val="00B0F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copy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=new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ArrayList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&lt;&gt;(observers); //shallow copy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    for (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Observer o: </a:t>
            </a:r>
            <a:r>
              <a:rPr lang="en-US" sz="2400" dirty="0">
                <a:solidFill>
                  <a:srgbClr val="00B0F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copy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</a:t>
            </a:r>
            <a:r>
              <a:rPr 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o.update</a:t>
            </a:r>
            <a:r>
              <a:rPr 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(this);}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} //lazy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init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and pull method</a:t>
            </a:r>
            <a:endParaRPr lang="en-US" sz="2400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3600" dirty="0"/>
              <a:t>If notify is synchronized, deadlock!</a:t>
            </a:r>
          </a:p>
          <a:p>
            <a:pPr lvl="1"/>
            <a:r>
              <a:rPr lang="en-US" sz="2000" dirty="0"/>
              <a:t>Use reentrant locks or </a:t>
            </a:r>
            <a:r>
              <a:rPr lang="en-US" sz="2000" dirty="0" err="1"/>
              <a:t>concurrent.</a:t>
            </a:r>
            <a:r>
              <a:rPr lang="en-US" sz="2000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CopyOnWriteArrayList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253138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87421-E83B-4EB1-64D6-6645B7916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 –Known 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1B298-66D9-F39F-1B66-4F8911C8A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Event based systems</a:t>
            </a:r>
          </a:p>
          <a:p>
            <a:r>
              <a:rPr lang="en-US" dirty="0"/>
              <a:t>Listeners in Java</a:t>
            </a:r>
          </a:p>
          <a:p>
            <a:pPr lvl="1"/>
            <a:r>
              <a:rPr lang="en-US" dirty="0"/>
              <a:t> implementations of </a:t>
            </a:r>
            <a:r>
              <a:rPr lang="en-US" dirty="0" err="1">
                <a:latin typeface="Consolas" panose="020B0609020204030204" pitchFamily="49" charset="0"/>
              </a:rPr>
              <a:t>java.util.EventListener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en-US" dirty="0">
                <a:latin typeface="+mj-lt"/>
              </a:rPr>
              <a:t>All Listeners in </a:t>
            </a:r>
            <a:r>
              <a:rPr lang="en-US" dirty="0" err="1">
                <a:latin typeface="+mj-lt"/>
              </a:rPr>
              <a:t>javax.swing</a:t>
            </a:r>
            <a:endParaRPr lang="en-US" dirty="0">
              <a:latin typeface="+mj-lt"/>
            </a:endParaRPr>
          </a:p>
          <a:p>
            <a:pPr lvl="1"/>
            <a:r>
              <a:rPr lang="en-US" dirty="0" err="1">
                <a:latin typeface="+mj-lt"/>
              </a:rPr>
              <a:t>javax.servlet.http.HttpSessionBindingListener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Any publish/subscriber is an observer </a:t>
            </a:r>
          </a:p>
          <a:p>
            <a:r>
              <a:rPr lang="en-US" dirty="0">
                <a:latin typeface="+mj-lt"/>
              </a:rPr>
              <a:t>Submit a task to cloud, do something else while waiting for task ended notification </a:t>
            </a:r>
          </a:p>
          <a:p>
            <a:r>
              <a:rPr lang="en-US" sz="2400" dirty="0">
                <a:latin typeface="+mj-lt"/>
              </a:rPr>
              <a:t>READ 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https://gameprogrammingpatterns.com/observer.html</a:t>
            </a:r>
          </a:p>
        </p:txBody>
      </p:sp>
    </p:spTree>
    <p:extLst>
      <p:ext uri="{BB962C8B-B14F-4D97-AF65-F5344CB8AC3E}">
        <p14:creationId xmlns:p14="http://schemas.microsoft.com/office/powerpoint/2010/main" val="7017913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9017B0F-F54A-1FA4-E27E-6E31A05D0A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sz="4000" dirty="0"/>
              <a:t>Layered Systems and Observers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FCE09D6-23F5-15A2-BAC4-BD55F1EB66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tr-TR" dirty="0"/>
              <a:t>In layered systems, objects in different layers should be loosely coupled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tr-TR" dirty="0"/>
              <a:t>communication between layers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dirty="0"/>
              <a:t>Top layer calls bottom layer to perform task</a:t>
            </a:r>
          </a:p>
          <a:p>
            <a:pPr lvl="2">
              <a:lnSpc>
                <a:spcPct val="90000"/>
              </a:lnSpc>
            </a:pPr>
            <a:r>
              <a:rPr lang="en-US" altLang="tr-TR" dirty="0"/>
              <a:t>FACADE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dirty="0"/>
              <a:t>If bottom object calls upper one directly, it violates layering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tr-TR" dirty="0"/>
              <a:t>put them in the same layer? </a:t>
            </a:r>
          </a:p>
          <a:p>
            <a:pPr lvl="2">
              <a:lnSpc>
                <a:spcPct val="90000"/>
              </a:lnSpc>
            </a:pPr>
            <a:r>
              <a:rPr lang="en-US" altLang="tr-TR" dirty="0"/>
              <a:t>classes end up in inappropriate layers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dirty="0"/>
              <a:t>observer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tr-TR" dirty="0"/>
              <a:t>upper layer observes the lower layer subject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tr-TR" dirty="0"/>
              <a:t>coupling only at interface level</a:t>
            </a:r>
          </a:p>
        </p:txBody>
      </p:sp>
    </p:spTree>
    <p:extLst>
      <p:ext uri="{BB962C8B-B14F-4D97-AF65-F5344CB8AC3E}">
        <p14:creationId xmlns:p14="http://schemas.microsoft.com/office/powerpoint/2010/main" val="31909321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9BE113C3-1EE9-715B-55BA-7A9C685DB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Related patterns	</a:t>
            </a:r>
            <a:endParaRPr lang="tr-TR" altLang="en-US"/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73C81153-8722-6FE6-D77A-5CBDFA25F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Mediator (next)</a:t>
            </a:r>
          </a:p>
          <a:p>
            <a:pPr lvl="1"/>
            <a:r>
              <a:rPr lang="en-US" altLang="en-US" dirty="0"/>
              <a:t>when we have cases of complex cases of many subjects an many observers</a:t>
            </a:r>
          </a:p>
          <a:p>
            <a:r>
              <a:rPr lang="en-US" altLang="en-US" dirty="0"/>
              <a:t>Chain of responsibility (next week) </a:t>
            </a:r>
          </a:p>
          <a:p>
            <a:pPr lvl="1"/>
            <a:r>
              <a:rPr lang="en-US" altLang="en-US" dirty="0"/>
              <a:t>Observer notifies all registered handlers at once.</a:t>
            </a:r>
          </a:p>
          <a:p>
            <a:pPr lvl="1"/>
            <a:r>
              <a:rPr lang="en-US" altLang="en-US" dirty="0" err="1"/>
              <a:t>CoR</a:t>
            </a:r>
            <a:r>
              <a:rPr lang="en-US" altLang="en-US" dirty="0"/>
              <a:t> sequentially looks for handlers</a:t>
            </a:r>
          </a:p>
          <a:p>
            <a:pPr lvl="2"/>
            <a:r>
              <a:rPr lang="en-US" altLang="en-US" dirty="0"/>
              <a:t>The linked observers in game patterns reading is </a:t>
            </a:r>
            <a:r>
              <a:rPr lang="en-US" altLang="en-US" dirty="0" err="1"/>
              <a:t>CoR</a:t>
            </a:r>
            <a:endParaRPr lang="en-US" altLang="en-US" dirty="0"/>
          </a:p>
          <a:p>
            <a:r>
              <a:rPr lang="en-US" altLang="en-US" dirty="0"/>
              <a:t>Command (next week)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393727C7-4C0B-4C8A-960B-21573C88EF42}" vid="{72BF777F-C220-4904-8C2B-017C5ED9CE6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7608</TotalTime>
  <Words>3658</Words>
  <Application>Microsoft Macintosh PowerPoint</Application>
  <PresentationFormat>On-screen Show (4:3)</PresentationFormat>
  <Paragraphs>566</Paragraphs>
  <Slides>51</Slides>
  <Notes>21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3" baseType="lpstr">
      <vt:lpstr>Arial  </vt:lpstr>
      <vt:lpstr>Source Sans Pro</vt:lpstr>
      <vt:lpstr>Arial</vt:lpstr>
      <vt:lpstr>Arial Black</vt:lpstr>
      <vt:lpstr>Calibri</vt:lpstr>
      <vt:lpstr>Comic Sans MS</vt:lpstr>
      <vt:lpstr>Consolas</vt:lpstr>
      <vt:lpstr>PT Sans</vt:lpstr>
      <vt:lpstr>Source Code Pro</vt:lpstr>
      <vt:lpstr>Times New Roman</vt:lpstr>
      <vt:lpstr>Wingdings</vt:lpstr>
      <vt:lpstr>Theme1</vt:lpstr>
      <vt:lpstr>Behavioral Patterns</vt:lpstr>
      <vt:lpstr>Back to Traffic Flow</vt:lpstr>
      <vt:lpstr>Common problem</vt:lpstr>
      <vt:lpstr>Back to Traffic Flow</vt:lpstr>
      <vt:lpstr>Observer Pattern</vt:lpstr>
      <vt:lpstr>Observer Pattern </vt:lpstr>
      <vt:lpstr> Structure: Observer Pattern</vt:lpstr>
      <vt:lpstr>Observer</vt:lpstr>
      <vt:lpstr>Exercise: Observing Traffic Light</vt:lpstr>
      <vt:lpstr>PowerPoint Presentation</vt:lpstr>
      <vt:lpstr>Exercise: Observing Traffic Light</vt:lpstr>
      <vt:lpstr>Exercise: Observing Traffic Light</vt:lpstr>
      <vt:lpstr>Observer -- Loose coupling</vt:lpstr>
      <vt:lpstr>When to use Observer: Applicability</vt:lpstr>
      <vt:lpstr>Implementation Issues / Choices</vt:lpstr>
      <vt:lpstr>Exercise: Observing Traffic Light</vt:lpstr>
      <vt:lpstr>Implementation Issues / Choices</vt:lpstr>
      <vt:lpstr>Exercise: Observing Traffic Light</vt:lpstr>
      <vt:lpstr>Observer -Collaborations</vt:lpstr>
      <vt:lpstr>Push vs Pull Models</vt:lpstr>
      <vt:lpstr>Implementation issues /Choices</vt:lpstr>
      <vt:lpstr>Implementation issues /Choices</vt:lpstr>
      <vt:lpstr>Implementing issues -3</vt:lpstr>
      <vt:lpstr>Exercise: Observing Traffic Light</vt:lpstr>
      <vt:lpstr>Exercise: Observing Traffic Light</vt:lpstr>
      <vt:lpstr>Implementation issues -4,5,6</vt:lpstr>
      <vt:lpstr>Implementation issues -7</vt:lpstr>
      <vt:lpstr>PowerPoint Presentation</vt:lpstr>
      <vt:lpstr>Template Method to rescue</vt:lpstr>
      <vt:lpstr>Implementation issue (optional)</vt:lpstr>
      <vt:lpstr>Implementation issue (optional)</vt:lpstr>
      <vt:lpstr>Example Scenario </vt:lpstr>
      <vt:lpstr>PowerPoint Presentation</vt:lpstr>
      <vt:lpstr>Exercise 2</vt:lpstr>
      <vt:lpstr>Subject</vt:lpstr>
      <vt:lpstr>Weather data Observer</vt:lpstr>
      <vt:lpstr>Alternative: Pull model</vt:lpstr>
      <vt:lpstr>Alternative: Pull model</vt:lpstr>
      <vt:lpstr>Observer – Consequences-1</vt:lpstr>
      <vt:lpstr>Observer – Consequences-2</vt:lpstr>
      <vt:lpstr>Event based systems</vt:lpstr>
      <vt:lpstr>This code is not thread safe (Java)</vt:lpstr>
      <vt:lpstr>Not thread safe</vt:lpstr>
      <vt:lpstr>Not thread safe</vt:lpstr>
      <vt:lpstr>Not thread-safe   (C++)</vt:lpstr>
      <vt:lpstr>Thread safe Subject </vt:lpstr>
      <vt:lpstr>Thread safe Subject -synchronized</vt:lpstr>
      <vt:lpstr>Thread safe Subject -synchronized</vt:lpstr>
      <vt:lpstr>Observer –Known uses</vt:lpstr>
      <vt:lpstr>Layered Systems and Observers</vt:lpstr>
      <vt:lpstr>Related patterns </vt:lpstr>
    </vt:vector>
  </TitlesOfParts>
  <Company> 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Patterns</dc:title>
  <dc:creator>Aysu Betin-Can</dc:creator>
  <cp:lastModifiedBy>Microsoft Office User</cp:lastModifiedBy>
  <cp:revision>410</cp:revision>
  <dcterms:created xsi:type="dcterms:W3CDTF">2006-02-28T14:58:56Z</dcterms:created>
  <dcterms:modified xsi:type="dcterms:W3CDTF">2025-10-27T21:41:16Z</dcterms:modified>
</cp:coreProperties>
</file>