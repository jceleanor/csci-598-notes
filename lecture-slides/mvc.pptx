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65" r:id="rId3"/>
    <p:sldId id="266" r:id="rId4"/>
    <p:sldId id="302" r:id="rId5"/>
    <p:sldId id="338" r:id="rId6"/>
    <p:sldId id="339" r:id="rId7"/>
    <p:sldId id="305" r:id="rId8"/>
    <p:sldId id="333" r:id="rId9"/>
    <p:sldId id="336" r:id="rId10"/>
    <p:sldId id="296" r:id="rId11"/>
    <p:sldId id="350" r:id="rId12"/>
    <p:sldId id="351" r:id="rId13"/>
    <p:sldId id="352" r:id="rId14"/>
    <p:sldId id="306" r:id="rId15"/>
    <p:sldId id="293" r:id="rId16"/>
    <p:sldId id="272" r:id="rId17"/>
    <p:sldId id="273" r:id="rId18"/>
    <p:sldId id="275" r:id="rId19"/>
    <p:sldId id="308" r:id="rId20"/>
    <p:sldId id="309" r:id="rId21"/>
    <p:sldId id="349" r:id="rId22"/>
    <p:sldId id="287" r:id="rId23"/>
    <p:sldId id="283" r:id="rId24"/>
    <p:sldId id="288" r:id="rId25"/>
    <p:sldId id="289" r:id="rId26"/>
    <p:sldId id="310" r:id="rId27"/>
    <p:sldId id="284" r:id="rId28"/>
    <p:sldId id="285" r:id="rId29"/>
    <p:sldId id="286" r:id="rId30"/>
    <p:sldId id="258" r:id="rId31"/>
    <p:sldId id="282" r:id="rId32"/>
    <p:sldId id="269" r:id="rId33"/>
    <p:sldId id="311" r:id="rId34"/>
    <p:sldId id="328" r:id="rId35"/>
    <p:sldId id="297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774" autoAdjust="0"/>
  </p:normalViewPr>
  <p:slideViewPr>
    <p:cSldViewPr>
      <p:cViewPr varScale="1">
        <p:scale>
          <a:sx n="88" d="100"/>
          <a:sy n="88" d="100"/>
        </p:scale>
        <p:origin x="227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333936-6E85-1DB8-5933-ABCE2503B8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D88030-E31E-0467-36C8-0AE408D1544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7DBB37C-B3AE-4A90-98CA-BC7A139DC3D5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4124E17-DB35-A1EC-C358-2F3004447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44A3799-A198-091A-F063-F6FCE467C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826E4-EA2F-F179-F645-70440BF16F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3E01B-EEC0-1D4A-26BD-12C14D0330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FF8CC89-25CD-4F8A-AA45-7A9EF64DC1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Combines two or more patterns into a solution that solves a recurring or general problem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Patterns are often used together, but </a:t>
            </a:r>
            <a:r>
              <a:rPr lang="en-US" sz="1200" b="1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do not force it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 A simpler solution is always better.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Use a pattern when the need arises naturally and the flexibility will be used in the future.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MVC is the most famous compound pattern, often considered an </a:t>
            </a:r>
            <a:r>
              <a:rPr lang="en-US" sz="1200" b="0" i="1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architectural</a:t>
            </a:r>
            <a:r>
              <a:rPr lang="en-US" sz="12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pattern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2473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Combines two or more patterns into a solution that solves a recurring or general problem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859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 sz="2800" dirty="0"/>
              <a:t>or, a domain class and a huge GUI class </a:t>
            </a:r>
          </a:p>
          <a:p>
            <a:pPr lvl="1"/>
            <a:r>
              <a:rPr lang="en-US" altLang="tr-TR" sz="2400" dirty="0"/>
              <a:t>GUI captures user interactions and interprets/decides what to do </a:t>
            </a:r>
          </a:p>
          <a:p>
            <a:pPr lvl="1"/>
            <a:r>
              <a:rPr lang="en-US" altLang="tr-TR" sz="2400" dirty="0"/>
              <a:t>Intermingled domain and GUI classes</a:t>
            </a:r>
          </a:p>
          <a:p>
            <a:r>
              <a:rPr lang="en-US" dirty="0">
                <a:sym typeface="Wingdings" panose="05000000000000000000" pitchFamily="2" charset="2"/>
              </a:rPr>
              <a:t> This is bad as well. They don’t need to refer each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314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5814-9029-BE3E-BF9A-C901DBA3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6631A-8186-981D-EFDE-C3E303C64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2B9581-789E-930E-3CA2-69F8DC342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 sz="2800" dirty="0"/>
              <a:t>or, a domain class and a huge GUI class </a:t>
            </a:r>
          </a:p>
          <a:p>
            <a:pPr lvl="1"/>
            <a:r>
              <a:rPr lang="en-US" altLang="tr-TR" sz="2400" dirty="0"/>
              <a:t>GUI captures user interactions and interprets/decides what to do </a:t>
            </a:r>
          </a:p>
          <a:p>
            <a:pPr lvl="1"/>
            <a:r>
              <a:rPr lang="en-US" altLang="tr-TR" sz="2400" dirty="0"/>
              <a:t>Intermingled domain and GUI classes</a:t>
            </a:r>
          </a:p>
          <a:p>
            <a:r>
              <a:rPr lang="en-US" dirty="0">
                <a:sym typeface="Wingdings" panose="05000000000000000000" pitchFamily="2" charset="2"/>
              </a:rPr>
              <a:t> This is bad as well. They don’t need to refer each other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680FF-DDD4-A081-EF76-65E0E0FFD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1947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100B-3945-72C6-E75A-10A4474C0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5C5ED3F-F374-BFED-2B60-C155776DA6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6A52540-B367-4C08-34F3-32E6A9CC4A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tr-TR"/>
              <a:t>We need one more thing to separate the view from the model completely</a:t>
            </a:r>
            <a:endParaRPr lang="en-GB" altLang="tr-TR"/>
          </a:p>
        </p:txBody>
      </p:sp>
    </p:spTree>
    <p:extLst>
      <p:ext uri="{BB962C8B-B14F-4D97-AF65-F5344CB8AC3E}">
        <p14:creationId xmlns:p14="http://schemas.microsoft.com/office/powerpoint/2010/main" val="1431340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04CB-4C44-B6C3-EA92-D33FA55C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4B66AC7-769D-5154-0EC0-0A104B1557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F7A23E0-3538-3C69-DDC5-2E7F29A7B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/>
            <a:r>
              <a:rPr lang="en-GB" altLang="tr-TR"/>
              <a:t>sits in the middle of the model and the View</a:t>
            </a:r>
          </a:p>
        </p:txBody>
      </p:sp>
    </p:spTree>
    <p:extLst>
      <p:ext uri="{BB962C8B-B14F-4D97-AF65-F5344CB8AC3E}">
        <p14:creationId xmlns:p14="http://schemas.microsoft.com/office/powerpoint/2010/main" val="4189563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is dumb. No application logic (model) no interaction logic (controller) </a:t>
            </a:r>
          </a:p>
          <a:p>
            <a:r>
              <a:rPr lang="en-US" sz="1200" dirty="0"/>
              <a:t>controller that is responsible for interacting with the model to carry out user requests. The view knows nothing about how this gets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0654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4C090F6-A512-DFC9-1504-ED09BC5BFC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5C467D5-878C-A383-FE7D-E7032A25E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tr-TR"/>
              <a:t>Model is completely independent of the views</a:t>
            </a:r>
            <a:endParaRPr lang="en-GB" alt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Controller observes model? Yes. Controller gets notifications so that it can change the view controls like enable buttons.</a:t>
            </a:r>
          </a:p>
          <a:p>
            <a:r>
              <a:rPr lang="en-US" dirty="0"/>
              <a:t>View is dumb. View only uses getter methods of model and displays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75030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effectLst/>
                <a:highlight>
                  <a:srgbClr val="F3F3F3"/>
                </a:highlight>
                <a:latin typeface="SegoeUIVariable"/>
              </a:rPr>
              <a:t>In </a:t>
            </a:r>
            <a:r>
              <a:rPr lang="en-US" b="0" i="0" dirty="0" err="1">
                <a:effectLst/>
                <a:highlight>
                  <a:srgbClr val="F3F3F3"/>
                </a:highlight>
                <a:latin typeface="SegoeUIVariable"/>
              </a:rPr>
              <a:t>mvpThe</a:t>
            </a:r>
            <a:r>
              <a:rPr lang="en-US" b="0" i="0" dirty="0">
                <a:effectLst/>
                <a:highlight>
                  <a:srgbClr val="F3F3F3"/>
                </a:highlight>
                <a:latin typeface="SegoeUIVariable"/>
              </a:rPr>
              <a:t> Presenter ensures that changes in the Model are reflected in the View. It orchestrates this communication.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582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A51C83D-2A6A-E572-894B-E93066FDDD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749C99EB-D038-9B55-35AE-DD3EA20E9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Read the code example in the head first design pattern book</a:t>
            </a:r>
          </a:p>
          <a:p>
            <a:r>
              <a:rPr lang="en-US" dirty="0"/>
              <a:t> https://courses.cs.duke.edu/compsci308/spring24/readings/mvc-hfdp.pdf</a:t>
            </a:r>
          </a:p>
          <a:p>
            <a:pPr eaLnBrk="1" hangingPunct="1"/>
            <a:endParaRPr lang="en-GB" altLang="tr-T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View queries model and displays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F8CC89-25CD-4F8A-AA45-7A9EF64DC157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669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9C3D24-2FCC-14CF-725E-251F3FED99C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0DD15399-9469-5591-ECF0-495046039E9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72F7146-9184-1BA3-80E8-A9F4F70FA54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428F1D3-534D-D136-C626-4A86A69E19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7C8CEDBC-1C23-44D5-1476-ACE7CFE87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5B7677CB-BF94-FFF1-B88B-CC94F03AA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A1A51723-A75B-CDD4-B18C-9B3501EB6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5B6246E6-197A-E833-BEC1-4C35E423B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2EDB114F-13F2-A485-4B24-CF8FEECA3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3BC5AA94-BCC5-48AC-6B3B-90405B5D4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F352CC00-FFC8-B548-2E01-E27A88C65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0A9C9E35-8E2C-61DF-FAE1-91D56A65A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7B312A3F-9B1F-AC47-688C-782F70DF1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43842315-EC65-4252-06EB-DE6FF25BE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tr-TR" altLang="tr-TR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7547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547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EB4D7C9A-5F71-A1E8-27CA-C1246786D8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733A0B-D79E-4C62-8D63-D04B67C60AD1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C6ED3878-1D6A-8FB8-BC38-B41D3A8883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B8C148B4-3528-DB1C-9B66-E4736FF734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B1039CB-36DE-4E50-A526-F1911D4588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50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603E2-3D35-093E-CA31-8A402406B0DD}"/>
              </a:ext>
            </a:extLst>
          </p:cNvPr>
          <p:cNvSpPr/>
          <p:nvPr/>
        </p:nvSpPr>
        <p:spPr>
          <a:xfrm>
            <a:off x="457200" y="1235075"/>
            <a:ext cx="8370888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9152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291"/>
            <a:ext cx="8229600" cy="45321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F870719-753E-547B-DFC3-6F12341B414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C5E977D-E76A-C8FD-0BC0-C5089F62579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EDA7AC-F847-464C-9F99-70021CAD7E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F1C4701-3D9B-E4A7-152A-12AF5FF7DA6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48B5B1-639C-425D-9FB7-427AA4CDF9A0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3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7DBA227-1796-764B-613B-DE77FD8D61C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032DFD9-0DB6-2441-DD06-686D36E9DD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849B4-54FA-4B17-8EE2-2AF5C017B7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1BE6DEBB-94E0-5146-E67C-D50B879FEF7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84AC3-64FB-40A0-94CB-3909AD3DB503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12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3E7F61-7E87-B1B7-F061-783451AD8135}"/>
              </a:ext>
            </a:extLst>
          </p:cNvPr>
          <p:cNvSpPr/>
          <p:nvPr/>
        </p:nvSpPr>
        <p:spPr>
          <a:xfrm>
            <a:off x="393700" y="1116013"/>
            <a:ext cx="8370888" cy="100012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5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2209"/>
            <a:ext cx="4038600" cy="45951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2209"/>
            <a:ext cx="4038600" cy="45951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35EAF6F-85A5-8805-B336-582C19D4AC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DA73F2-B56E-9A67-AF3C-6A32833BC3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E4CE29B-2013-445C-9F97-2B85B71693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DE942F14-98DD-C535-9FD3-1ED4CBA6D81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382EEEE-D9BB-41CF-B402-B42CC7551561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84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5D41762-3EAC-7E23-1788-C7DF483452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2A366B4-E1C9-E84E-01D1-80B14F52526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BCCE53-8E55-4A52-8061-1D82AD1D98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9853B393-384C-3610-2617-EF1C9E1CACA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DF854-EE67-4E1A-ABF5-041CB82DDBFB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3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A56E20-41B5-D9FD-E35B-807271623B22}"/>
              </a:ext>
            </a:extLst>
          </p:cNvPr>
          <p:cNvSpPr/>
          <p:nvPr/>
        </p:nvSpPr>
        <p:spPr>
          <a:xfrm>
            <a:off x="457200" y="1123950"/>
            <a:ext cx="8370888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631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E6C799-88DD-8810-7DB6-CDD9919966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48570F5-5826-3C8C-E949-AB069C6AA9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F09022-FFB4-4196-911B-B74C834277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09D2CED-A970-7356-7674-5DD8E4818DE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1AC6DB-8A36-474C-A5FB-40611977B2B9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3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8683AD5-EA4A-6354-AB86-1DF113AAE7A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A69DF7A-7C79-375C-AEF2-A72974CD6F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19DC7-56AF-4F02-AB1B-134DFE537E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66B01FCA-4C1B-6724-2CF1-29A7ADAFE2B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BD51C9-33FF-4865-BC32-AAB5CD6D2FE1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3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242C95-0198-F373-55F6-4180F02607A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2B9F462-2EBB-A5A6-FF7B-358BA4D27D7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B607C2-9444-4638-BB6D-2367A16FFE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51ECC11-8D39-B56C-E606-93B80052B17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3FA5B1-BD92-404E-B28C-C7EE44F1CE58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2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78FE36-5A79-7019-EEA9-F7B0102178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914A84A-D342-7B4E-BED9-8B1B9EB0DCB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3C4D8-FF2F-48AD-A7D0-3BED07D81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38DAD44-03F5-7FAE-E8AE-24AC968F3B2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8BE10-6E45-4C34-9E13-DD3FC7FEDB09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32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AF2CDF-CB91-2476-22B5-66EA979FD34F}"/>
              </a:ext>
            </a:extLst>
          </p:cNvPr>
          <p:cNvSpPr/>
          <p:nvPr/>
        </p:nvSpPr>
        <p:spPr>
          <a:xfrm>
            <a:off x="457200" y="1489075"/>
            <a:ext cx="8370888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763FEFB-E525-51F7-6CFB-42D8F53001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2779C2-5F2E-29BF-ABC5-D265A665A8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03C73B-4622-4B15-BA7F-8E86E5E5BC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20D1755-D815-367D-28E2-3615F6AA5A4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DED5A0C-360D-4711-905E-395A84156BF5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833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5621E71-A3CF-9B41-2091-57C91D0C5E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F50A803-0699-7453-259E-E41FA790ADA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818A6B-01E0-4BF3-97D9-61C5D4DC93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669049E6-EF30-C1C5-EF49-8E82EFCA2B3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74218-5470-4CB4-9A65-8D9314F03BFB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0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0ED83C4-D087-2F20-923E-0D582B6D9B07}"/>
              </a:ext>
            </a:extLst>
          </p:cNvPr>
          <p:cNvSpPr/>
          <p:nvPr/>
        </p:nvSpPr>
        <p:spPr>
          <a:xfrm>
            <a:off x="457200" y="1123950"/>
            <a:ext cx="8370888" cy="100013"/>
          </a:xfrm>
          <a:prstGeom prst="rect">
            <a:avLst/>
          </a:prstGeom>
          <a:solidFill>
            <a:srgbClr val="9999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979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67621"/>
            <a:ext cx="4038600" cy="4499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7621"/>
            <a:ext cx="4038600" cy="4499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DED32A7-B566-E20E-D521-2078A21EB1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7A52EE-BE5A-F3DA-5A86-54EC05CA6EF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7AFA2B-E79C-491C-B1EB-56F2005128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C4C753D2-F583-7089-A5DF-F7C38C52ABF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4AA2B3-2463-4652-9F5C-E7A21550606F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40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CD414C12-06E1-16FB-985A-0548FDB727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62B2AA4C-A20C-C723-5092-A1E5440C8A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193A8873-3BC9-459C-9705-23467F6532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21ABAD54-B7F3-5783-681D-B5EA41234CA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202B61F4-EC45-BAB7-2CF2-E11F360E9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8BDED908-7B15-2689-AD9E-DEBE5217E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FCDF1311-C71D-0B4E-DABC-AC9EEBF61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1037E426-B534-234D-F310-E53601F20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2978B8C6-1662-21E3-B88A-E38167CA2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AA18D40A-9BBD-91EB-F2B3-411524081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0A9B3D65-2883-64B8-A09B-12FABE5F5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 sz="2400">
                <a:latin typeface="Times New Roman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C7EE5971-0D5C-8EDA-8BAF-F48D79236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05273A48-9B96-FF01-D26B-6C8095B9C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tr-TR" altLang="tr-TR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E9D0ED05-87AE-D9E2-EBC6-65DACA8EEE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31ABB922-4C61-5EE8-E0E0-22333149D4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274448" name="Rectangle 16">
            <a:extLst>
              <a:ext uri="{FF2B5EF4-FFF2-40B4-BE49-F238E27FC236}">
                <a16:creationId xmlns:a16="http://schemas.microsoft.com/office/drawing/2014/main" id="{1CB7C935-612A-6930-0DD2-B45AB4FF86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C05A3205-4775-44E7-9DB8-2623BC2109FA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79" r:id="rId3"/>
    <p:sldLayoutId id="2147483687" r:id="rId4"/>
    <p:sldLayoutId id="2147483680" r:id="rId5"/>
    <p:sldLayoutId id="2147483688" r:id="rId6"/>
    <p:sldLayoutId id="2147483681" r:id="rId7"/>
    <p:sldLayoutId id="2147483682" r:id="rId8"/>
    <p:sldLayoutId id="2147483683" r:id="rId9"/>
    <p:sldLayoutId id="2147483689" r:id="rId10"/>
    <p:sldLayoutId id="2147483684" r:id="rId11"/>
    <p:sldLayoutId id="2147483690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9797F222-A0B4-F7FF-8D90-39A06270123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tr-TR"/>
              <a:t>Compound patterns</a:t>
            </a:r>
          </a:p>
        </p:txBody>
      </p:sp>
      <p:sp>
        <p:nvSpPr>
          <p:cNvPr id="9219" name="Subtitle 2">
            <a:extLst>
              <a:ext uri="{FF2B5EF4-FFF2-40B4-BE49-F238E27FC236}">
                <a16:creationId xmlns:a16="http://schemas.microsoft.com/office/drawing/2014/main" id="{F1B17047-8A11-A8F4-92E9-7237964BD1C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Model View 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673298-2539-C351-46EA-760C7F101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endParaRPr lang="en-GB" altLang="tr-TR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1E6FAD8E-58D9-B1C7-96D1-CBFBAE6B80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532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Patterns are often used together, but…</a:t>
            </a:r>
          </a:p>
          <a:p>
            <a:pPr>
              <a:spcBef>
                <a:spcPts val="1200"/>
              </a:spcBef>
            </a:pPr>
            <a:r>
              <a:rPr lang="en-US" altLang="tr-TR" b="1" i="1" dirty="0"/>
              <a:t>do not force </a:t>
            </a:r>
            <a:r>
              <a:rPr lang="en-US" altLang="tr-TR" dirty="0"/>
              <a:t>it 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A simpler solution is always better.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 do not strive to use a design pattern</a:t>
            </a:r>
          </a:p>
          <a:p>
            <a:pPr lvl="2">
              <a:lnSpc>
                <a:spcPct val="90000"/>
              </a:lnSpc>
            </a:pPr>
            <a:endParaRPr lang="en-US" altLang="tr-TR" dirty="0"/>
          </a:p>
          <a:p>
            <a:pPr>
              <a:lnSpc>
                <a:spcPct val="90000"/>
              </a:lnSpc>
            </a:pPr>
            <a:r>
              <a:rPr lang="en-US" altLang="tr-TR" dirty="0"/>
              <a:t>Use a pattern when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the need arises naturally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the flexibility the pattern introduces will be used in the future</a:t>
            </a:r>
            <a:endParaRPr lang="en-GB" alt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AFCE118-BD1C-52FF-9AA7-83616816A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Compound patterns</a:t>
            </a:r>
            <a:endParaRPr lang="en-GB" altLang="tr-TR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1694012-9115-C40E-9A54-767A86DF1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r>
              <a:rPr lang="en-US" altLang="tr-TR" dirty="0"/>
              <a:t>Compound pattern</a:t>
            </a:r>
          </a:p>
          <a:p>
            <a:pPr lvl="1"/>
            <a:r>
              <a:rPr lang="en-US" altLang="tr-TR" dirty="0">
                <a:solidFill>
                  <a:srgbClr val="002060"/>
                </a:solidFill>
              </a:rPr>
              <a:t>Combines two or more patterns into a solution that solves a </a:t>
            </a:r>
            <a:r>
              <a:rPr lang="en-US" altLang="tr-TR" b="1" i="1" dirty="0">
                <a:solidFill>
                  <a:srgbClr val="002060"/>
                </a:solidFill>
              </a:rPr>
              <a:t>recurring</a:t>
            </a:r>
            <a:r>
              <a:rPr lang="en-US" altLang="tr-TR" i="1" dirty="0">
                <a:solidFill>
                  <a:srgbClr val="002060"/>
                </a:solidFill>
              </a:rPr>
              <a:t> or a </a:t>
            </a:r>
            <a:r>
              <a:rPr lang="en-US" altLang="tr-TR" b="1" i="1" dirty="0">
                <a:solidFill>
                  <a:srgbClr val="002060"/>
                </a:solidFill>
              </a:rPr>
              <a:t>general</a:t>
            </a:r>
            <a:r>
              <a:rPr lang="en-US" altLang="tr-TR" i="1" dirty="0">
                <a:solidFill>
                  <a:srgbClr val="002060"/>
                </a:solidFill>
              </a:rPr>
              <a:t> problem</a:t>
            </a:r>
          </a:p>
          <a:p>
            <a:pPr lvl="1"/>
            <a:endParaRPr lang="en-GB" altLang="tr-TR" i="1" dirty="0"/>
          </a:p>
          <a:p>
            <a:r>
              <a:rPr lang="en-US" altLang="tr-TR" dirty="0"/>
              <a:t>We can combine patterns to achieve a particular solution but</a:t>
            </a:r>
          </a:p>
          <a:p>
            <a:pPr lvl="1"/>
            <a:r>
              <a:rPr lang="en-US" altLang="tr-TR" sz="2400" dirty="0"/>
              <a:t>Not every combination is a compound pattern </a:t>
            </a:r>
            <a:r>
              <a:rPr lang="en-US" altLang="tr-TR" sz="2400" dirty="0">
                <a:sym typeface="Wingdings" panose="05000000000000000000" pitchFamily="2" charset="2"/>
              </a:rPr>
              <a:t></a:t>
            </a:r>
            <a:endParaRPr lang="en-US" altLang="tr-TR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419CED11-BCBD-67FE-DB08-96BD3C8566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Model View Controller</a:t>
            </a:r>
            <a:endParaRPr lang="en-GB" altLang="tr-TR"/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E5CEC9C4-3AE9-BE4E-C56B-B1068E5B3E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382000" cy="45323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tr-TR" dirty="0"/>
              <a:t>MVC is the most famous compound pattern</a:t>
            </a:r>
          </a:p>
          <a:p>
            <a:pPr lvl="1">
              <a:spcBef>
                <a:spcPts val="1200"/>
              </a:spcBef>
            </a:pPr>
            <a:r>
              <a:rPr lang="en-US" altLang="tr-TR" dirty="0"/>
              <a:t>an architectural pattern for applications with many User interfaces</a:t>
            </a:r>
          </a:p>
          <a:p>
            <a:pPr>
              <a:spcBef>
                <a:spcPts val="1200"/>
              </a:spcBef>
            </a:pPr>
            <a:r>
              <a:rPr lang="en-US" altLang="tr-TR" dirty="0"/>
              <a:t>First described in 1979 and published in 1987</a:t>
            </a:r>
          </a:p>
          <a:p>
            <a:pPr lvl="1">
              <a:spcBef>
                <a:spcPts val="1200"/>
              </a:spcBef>
            </a:pPr>
            <a:r>
              <a:rPr lang="en-US" altLang="tr-TR" i="1" dirty="0"/>
              <a:t>“Applications Programming in Smalltalk-80: How to use Model-View-Controller”</a:t>
            </a:r>
          </a:p>
          <a:p>
            <a:pPr>
              <a:spcBef>
                <a:spcPts val="1200"/>
              </a:spcBef>
            </a:pPr>
            <a:r>
              <a:rPr lang="en-US" altLang="tr-TR" dirty="0"/>
              <a:t>Separating View from domain concerns</a:t>
            </a:r>
          </a:p>
          <a:p>
            <a:pPr>
              <a:spcBef>
                <a:spcPts val="1200"/>
              </a:spcBef>
            </a:pPr>
            <a:endParaRPr lang="en-US" alt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1783-9C4C-2803-65BF-AC5D5E40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221E436-35BF-72B0-E108-C014EB972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Life without MVC</a:t>
            </a:r>
            <a:endParaRPr lang="en-GB" altLang="tr-TR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A59E8AF-2627-7B08-8F51-844EC38685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610600" cy="4532312"/>
          </a:xfrm>
        </p:spPr>
        <p:txBody>
          <a:bodyPr/>
          <a:lstStyle/>
          <a:p>
            <a:r>
              <a:rPr lang="en-US" altLang="tr-TR" dirty="0"/>
              <a:t>A huge GUI class that </a:t>
            </a:r>
          </a:p>
          <a:p>
            <a:pPr lvl="1"/>
            <a:r>
              <a:rPr lang="en-US" altLang="tr-TR" dirty="0"/>
              <a:t>Displays data and</a:t>
            </a:r>
          </a:p>
          <a:p>
            <a:pPr lvl="1"/>
            <a:r>
              <a:rPr lang="en-US" altLang="tr-TR" dirty="0"/>
              <a:t>captures user interactions and </a:t>
            </a:r>
          </a:p>
          <a:p>
            <a:pPr lvl="1"/>
            <a:r>
              <a:rPr lang="en-US" altLang="tr-TR" dirty="0"/>
              <a:t>interprets/decides what to do and</a:t>
            </a:r>
          </a:p>
          <a:p>
            <a:pPr lvl="1"/>
            <a:r>
              <a:rPr lang="en-US" altLang="tr-TR" dirty="0"/>
              <a:t>holds data structures and manipulates them</a:t>
            </a:r>
          </a:p>
          <a:p>
            <a:pPr>
              <a:lnSpc>
                <a:spcPct val="110000"/>
              </a:lnSpc>
            </a:pPr>
            <a:endParaRPr lang="en-US" altLang="en-US" sz="2400" dirty="0"/>
          </a:p>
          <a:p>
            <a:pPr>
              <a:lnSpc>
                <a:spcPct val="110000"/>
              </a:lnSpc>
            </a:pPr>
            <a:r>
              <a:rPr lang="en-US" altLang="en-US" sz="2400" dirty="0"/>
              <a:t>Developers used to create a View using window and then write all logical code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View classes: button, panel, text area,….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/>
              <a:t>Logical code: Event handling, initialization and data model, …</a:t>
            </a:r>
            <a:endParaRPr lang="en-US" altLang="tr-TR" dirty="0"/>
          </a:p>
          <a:p>
            <a:pPr marL="457200" lvl="1" indent="0">
              <a:buNone/>
            </a:pPr>
            <a:endParaRPr lang="en-US" altLang="tr-TR" dirty="0"/>
          </a:p>
          <a:p>
            <a:pPr lvl="1"/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2757643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64772-3C84-6771-DA40-3F9C9B88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A9A8D46-1A23-FBDE-54EB-D706BB6F8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Life without MVC</a:t>
            </a:r>
            <a:endParaRPr lang="en-GB" altLang="tr-TR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09D8CD-4677-897C-72AD-BA7349FAA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610600" cy="4532312"/>
          </a:xfrm>
        </p:spPr>
        <p:txBody>
          <a:bodyPr/>
          <a:lstStyle/>
          <a:p>
            <a:r>
              <a:rPr lang="en-US" altLang="tr-TR" dirty="0"/>
              <a:t>A huge GUI class that </a:t>
            </a:r>
          </a:p>
          <a:p>
            <a:pPr lvl="1"/>
            <a:r>
              <a:rPr lang="en-US" altLang="tr-TR" dirty="0"/>
              <a:t>Displays data and</a:t>
            </a:r>
          </a:p>
          <a:p>
            <a:pPr lvl="1"/>
            <a:r>
              <a:rPr lang="en-US" altLang="tr-TR" dirty="0"/>
              <a:t>captures user interactions and </a:t>
            </a:r>
          </a:p>
          <a:p>
            <a:pPr lvl="1"/>
            <a:r>
              <a:rPr lang="en-US" altLang="tr-TR" dirty="0"/>
              <a:t>interprets/decides what to do and</a:t>
            </a:r>
          </a:p>
          <a:p>
            <a:pPr lvl="1"/>
            <a:r>
              <a:rPr lang="en-US" altLang="tr-TR" dirty="0"/>
              <a:t>holds data structures and manipulates them</a:t>
            </a:r>
          </a:p>
          <a:p>
            <a:pPr>
              <a:lnSpc>
                <a:spcPct val="110000"/>
              </a:lnSpc>
            </a:pPr>
            <a:endParaRPr lang="en-US" altLang="en-US" sz="2400" dirty="0"/>
          </a:p>
          <a:p>
            <a:pPr>
              <a:lnSpc>
                <a:spcPct val="110000"/>
              </a:lnSpc>
            </a:pPr>
            <a:r>
              <a:rPr lang="en-US" altLang="en-US" sz="2400" dirty="0"/>
              <a:t>Everything is in one place is always a </a:t>
            </a:r>
            <a:r>
              <a:rPr lang="en-US" altLang="en-US" sz="2400" b="1" dirty="0"/>
              <a:t>bad idea</a:t>
            </a:r>
            <a:endParaRPr lang="en-US" altLang="tr-TR" dirty="0"/>
          </a:p>
          <a:p>
            <a:pPr lvl="1"/>
            <a:endParaRPr lang="en-US" altLang="tr-TR" dirty="0"/>
          </a:p>
        </p:txBody>
      </p:sp>
    </p:spTree>
    <p:extLst>
      <p:ext uri="{BB962C8B-B14F-4D97-AF65-F5344CB8AC3E}">
        <p14:creationId xmlns:p14="http://schemas.microsoft.com/office/powerpoint/2010/main" val="188405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E0C0AB9-E872-B52C-3913-E888BE7B4E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en-US"/>
              <a:t>Developing UI w/o separation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857FD78-090E-F52C-4A6B-2677F81DB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088"/>
            <a:ext cx="8610600" cy="4532312"/>
          </a:xfrm>
        </p:spPr>
        <p:txBody>
          <a:bodyPr/>
          <a:lstStyle/>
          <a:p>
            <a:pPr>
              <a:spcBef>
                <a:spcPts val="1200"/>
              </a:spcBef>
              <a:defRPr/>
            </a:pPr>
            <a:r>
              <a:rPr lang="en-US" altLang="en-US" sz="2400" dirty="0"/>
              <a:t>Everything is in one place is always a </a:t>
            </a:r>
            <a:r>
              <a:rPr lang="en-US" altLang="en-US" sz="2400" b="1" dirty="0"/>
              <a:t>bad idea</a:t>
            </a:r>
            <a:endParaRPr lang="en-US" altLang="tr-TR" sz="2400" dirty="0"/>
          </a:p>
          <a:p>
            <a:pPr lvl="1">
              <a:spcBef>
                <a:spcPts val="1200"/>
              </a:spcBef>
              <a:defRPr/>
            </a:pPr>
            <a:r>
              <a:rPr lang="en-US" sz="2400" b="1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Maintainability: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>
                <a:latin typeface="DM Sans"/>
                <a:ea typeface="DM Sans"/>
                <a:cs typeface="DM Sans"/>
                <a:sym typeface="DM Sans"/>
              </a:rPr>
              <a:t>A bug in one part breaks everything.</a:t>
            </a:r>
            <a:endParaRPr lang="en-US" sz="2400" dirty="0"/>
          </a:p>
          <a:p>
            <a:pPr lvl="2">
              <a:spcBef>
                <a:spcPts val="1200"/>
              </a:spcBef>
              <a:defRPr/>
            </a:pPr>
            <a:r>
              <a:rPr lang="en-US" altLang="en-US" sz="2000" dirty="0"/>
              <a:t>one developer's changes might break the other code.</a:t>
            </a:r>
          </a:p>
          <a:p>
            <a:pPr lvl="1">
              <a:spcBef>
                <a:spcPts val="1200"/>
              </a:spcBef>
              <a:defRPr/>
            </a:pPr>
            <a:r>
              <a:rPr lang="en-US" sz="2400" b="1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Collaboration: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>
                <a:latin typeface="DM Sans"/>
                <a:ea typeface="DM Sans"/>
                <a:cs typeface="DM Sans"/>
                <a:sym typeface="DM Sans"/>
              </a:rPr>
              <a:t>Two developers cannot work on it.</a:t>
            </a:r>
            <a:endParaRPr lang="en-US" sz="2400" dirty="0"/>
          </a:p>
          <a:p>
            <a:pPr lvl="1">
              <a:spcBef>
                <a:spcPts val="1200"/>
              </a:spcBef>
              <a:defRPr/>
            </a:pPr>
            <a:r>
              <a:rPr lang="en-US" sz="2400" b="1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Extendibility: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>
                <a:latin typeface="DM Sans"/>
                <a:ea typeface="DM Sans"/>
                <a:cs typeface="DM Sans"/>
                <a:sym typeface="DM Sans"/>
              </a:rPr>
              <a:t>How do you add a new feature?</a:t>
            </a:r>
            <a:endParaRPr lang="en-US" sz="2400" dirty="0"/>
          </a:p>
          <a:p>
            <a:pPr lvl="1">
              <a:spcBef>
                <a:spcPts val="1200"/>
              </a:spcBef>
              <a:defRPr/>
            </a:pPr>
            <a:r>
              <a:rPr lang="en-US" sz="2400" b="1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Testability: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400" dirty="0">
                <a:latin typeface="DM Sans"/>
                <a:ea typeface="DM Sans"/>
                <a:cs typeface="DM Sans"/>
                <a:sym typeface="DM Sans"/>
              </a:rPr>
              <a:t>Cannot test logic without the UI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altLang="en-US" sz="2400" dirty="0"/>
          </a:p>
          <a:p>
            <a:pPr>
              <a:spcBef>
                <a:spcPts val="1200"/>
              </a:spcBef>
              <a:defRPr/>
            </a:pPr>
            <a:endParaRPr lang="en-US" altLang="en-US" sz="2400" dirty="0"/>
          </a:p>
          <a:p>
            <a:pPr>
              <a:spcBef>
                <a:spcPts val="1200"/>
              </a:spcBef>
              <a:defRPr/>
            </a:pPr>
            <a:r>
              <a:rPr lang="en-US" altLang="en-US" sz="2400" dirty="0"/>
              <a:t> Reason: there is a </a:t>
            </a:r>
            <a:r>
              <a:rPr lang="en-US" altLang="en-US" sz="2400" b="1" dirty="0"/>
              <a:t>very tight </a:t>
            </a:r>
            <a:r>
              <a:rPr lang="en-US" altLang="en-US" sz="2400" dirty="0"/>
              <a:t>coupling between </a:t>
            </a:r>
            <a:r>
              <a:rPr lang="en-US" altLang="en-US" sz="2400" b="1" dirty="0">
                <a:solidFill>
                  <a:schemeClr val="accent1">
                    <a:lumMod val="50000"/>
                  </a:schemeClr>
                </a:solidFill>
              </a:rPr>
              <a:t>visualization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7030A0"/>
                </a:solidFill>
              </a:rPr>
              <a:t>handling interaction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0070C0"/>
                </a:solidFill>
              </a:rPr>
              <a:t>data and business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6B5F97-A928-1676-EBAC-44C4C8EFB033}"/>
              </a:ext>
            </a:extLst>
          </p:cNvPr>
          <p:cNvSpPr txBox="1"/>
          <p:nvPr/>
        </p:nvSpPr>
        <p:spPr>
          <a:xfrm>
            <a:off x="27460" y="1981201"/>
            <a:ext cx="39726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CalculatorModel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private int result;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add(int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+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subtract(int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-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multiply(int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*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divide(int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/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int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getResult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return result;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1F5EA-5DCD-7BB9-CCB9-65FBF1DF7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"/>
            <a:ext cx="8839200" cy="549969"/>
          </a:xfrm>
        </p:spPr>
        <p:txBody>
          <a:bodyPr/>
          <a:lstStyle/>
          <a:p>
            <a:r>
              <a:rPr lang="en-US" dirty="0"/>
              <a:t>Separate Model and View</a:t>
            </a:r>
          </a:p>
        </p:txBody>
      </p:sp>
      <p:sp>
        <p:nvSpPr>
          <p:cNvPr id="3" name="Google Shape;154;p17">
            <a:extLst>
              <a:ext uri="{FF2B5EF4-FFF2-40B4-BE49-F238E27FC236}">
                <a16:creationId xmlns:a16="http://schemas.microsoft.com/office/drawing/2014/main" id="{789374E6-B5AF-C152-3A52-48D47955B9D8}"/>
              </a:ext>
            </a:extLst>
          </p:cNvPr>
          <p:cNvSpPr txBox="1"/>
          <p:nvPr/>
        </p:nvSpPr>
        <p:spPr>
          <a:xfrm>
            <a:off x="4343400" y="3124173"/>
            <a:ext cx="4207445" cy="236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DM Sans"/>
                <a:cs typeface="DM Sans"/>
                <a:sym typeface="DM Sans"/>
              </a:rPr>
              <a:t>Model holds data and logic. </a:t>
            </a: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DM Sans"/>
                <a:cs typeface="DM Sans"/>
                <a:sym typeface="DM Sans"/>
              </a:rPr>
              <a:t>It knows </a:t>
            </a:r>
            <a:r>
              <a:rPr lang="en-US" sz="2400" i="1" dirty="0">
                <a:solidFill>
                  <a:srgbClr val="002060"/>
                </a:solidFill>
                <a:latin typeface="+mj-lt"/>
                <a:ea typeface="DM Sans"/>
                <a:cs typeface="DM Sans"/>
                <a:sym typeface="DM Sans"/>
              </a:rPr>
              <a:t>nothing</a:t>
            </a:r>
            <a:r>
              <a:rPr lang="en-US" sz="2400" dirty="0">
                <a:solidFill>
                  <a:srgbClr val="002060"/>
                </a:solidFill>
                <a:latin typeface="+mj-lt"/>
                <a:ea typeface="DM Sans"/>
                <a:cs typeface="DM Sans"/>
                <a:sym typeface="DM Sans"/>
              </a:rPr>
              <a:t> about buttons or text fields. </a:t>
            </a: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+mj-lt"/>
                <a:ea typeface="DM Sans"/>
                <a:cs typeface="DM Sans"/>
                <a:sym typeface="DM Sans"/>
              </a:rPr>
              <a:t>It is pure, reusable logic.</a:t>
            </a:r>
            <a:endParaRPr sz="2400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908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B786-4D43-6AD1-1A22-148A80E2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D422AC-120D-26C1-AAD0-4F8C7ACA7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158" y="2743200"/>
            <a:ext cx="4873336" cy="320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83CB4B-A8B6-AA69-7706-9E71AF63B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53" y="609600"/>
            <a:ext cx="8139241" cy="129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3423E9-BCD7-87CA-2B3E-E254BC513F5A}"/>
              </a:ext>
            </a:extLst>
          </p:cNvPr>
          <p:cNvSpPr txBox="1"/>
          <p:nvPr/>
        </p:nvSpPr>
        <p:spPr>
          <a:xfrm>
            <a:off x="27460" y="1981201"/>
            <a:ext cx="39726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class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CalculatorModel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private int result;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add(int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+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subtract(int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-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multiply(int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*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void divide(int x, int y)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result = x / y;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public int </a:t>
            </a:r>
            <a:r>
              <a:rPr lang="en-US" kern="1200" dirty="0" err="1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getResult</a:t>
            </a:r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() {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    return result;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    }</a:t>
            </a:r>
          </a:p>
          <a:p>
            <a:r>
              <a:rPr lang="en-US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BDEC4-D852-F9DD-937F-8F5592B9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-84484"/>
            <a:ext cx="5257800" cy="549969"/>
          </a:xfrm>
        </p:spPr>
        <p:txBody>
          <a:bodyPr/>
          <a:lstStyle/>
          <a:p>
            <a:r>
              <a:rPr lang="en-US" dirty="0"/>
              <a:t>Reuse is easy</a:t>
            </a:r>
          </a:p>
        </p:txBody>
      </p:sp>
    </p:spTree>
    <p:extLst>
      <p:ext uri="{BB962C8B-B14F-4D97-AF65-F5344CB8AC3E}">
        <p14:creationId xmlns:p14="http://schemas.microsoft.com/office/powerpoint/2010/main" val="215686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0283F45-47B8-0653-79A5-0C3F84C583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325"/>
            <a:ext cx="8229600" cy="1371600"/>
          </a:xfrm>
        </p:spPr>
        <p:txBody>
          <a:bodyPr/>
          <a:lstStyle/>
          <a:p>
            <a:r>
              <a:rPr lang="en-US" altLang="tr-TR" dirty="0"/>
              <a:t>One Model and Many Views</a:t>
            </a:r>
            <a:endParaRPr lang="en-GB" altLang="tr-TR" dirty="0"/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2CC456F1-A97B-8B8A-FBE7-530FEB97B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09800"/>
            <a:ext cx="6657975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6" name="Text Box 4">
            <a:extLst>
              <a:ext uri="{FF2B5EF4-FFF2-40B4-BE49-F238E27FC236}">
                <a16:creationId xmlns:a16="http://schemas.microsoft.com/office/drawing/2014/main" id="{3F84D8BA-5B1B-C2B1-71C9-0192785DA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6132513"/>
            <a:ext cx="806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800"/>
              <a:t>Model</a:t>
            </a:r>
            <a:endParaRPr lang="en-GB" altLang="tr-TR" sz="1800"/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575C7552-8BE5-0D5E-5AAB-93BBFDB94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1560513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800"/>
              <a:t>views</a:t>
            </a:r>
            <a:endParaRPr lang="en-GB" altLang="tr-TR" sz="1800"/>
          </a:p>
        </p:txBody>
      </p:sp>
    </p:spTree>
    <p:extLst>
      <p:ext uri="{BB962C8B-B14F-4D97-AF65-F5344CB8AC3E}">
        <p14:creationId xmlns:p14="http://schemas.microsoft.com/office/powerpoint/2010/main" val="2420102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28CBE-E0FF-1B96-C296-25542449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1715B6C-9F80-8AC7-B7B6-841BEB77F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 dirty="0"/>
              <a:t>More decoupling…</a:t>
            </a:r>
            <a:endParaRPr lang="en-GB" altLang="tr-T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36503AF-1738-8D6D-220A-E0856EF573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tr-TR" sz="2800" dirty="0"/>
              <a:t>View should be concerned only with the visual aspects of the application</a:t>
            </a:r>
          </a:p>
          <a:p>
            <a:pPr lvl="1">
              <a:spcBef>
                <a:spcPts val="1200"/>
              </a:spcBef>
            </a:pPr>
            <a:endParaRPr lang="en-US" altLang="tr-TR" sz="2400" dirty="0"/>
          </a:p>
          <a:p>
            <a:pPr>
              <a:spcBef>
                <a:spcPts val="1200"/>
              </a:spcBef>
            </a:pPr>
            <a:r>
              <a:rPr lang="en-US" altLang="tr-TR" sz="2800" dirty="0"/>
              <a:t>What about the responsibilities for </a:t>
            </a:r>
            <a:r>
              <a:rPr lang="en-US" altLang="tr-TR" sz="2800" dirty="0">
                <a:solidFill>
                  <a:srgbClr val="7030A0"/>
                </a:solidFill>
              </a:rPr>
              <a:t>interacting with the model to carry out the user requests</a:t>
            </a:r>
            <a:r>
              <a:rPr lang="en-US" altLang="tr-TR" sz="2800" dirty="0"/>
              <a:t>?</a:t>
            </a:r>
          </a:p>
          <a:p>
            <a:pPr lvl="1">
              <a:spcBef>
                <a:spcPts val="1200"/>
              </a:spcBef>
            </a:pPr>
            <a:r>
              <a:rPr lang="en-US" altLang="tr-TR" sz="2400" dirty="0"/>
              <a:t>Including the decisions about the interface behavior</a:t>
            </a:r>
          </a:p>
          <a:p>
            <a:pPr>
              <a:spcBef>
                <a:spcPts val="1200"/>
              </a:spcBef>
            </a:pPr>
            <a:r>
              <a:rPr lang="en-US" altLang="tr-TR" sz="2800" dirty="0"/>
              <a:t>The view knows nothing about how this gets done</a:t>
            </a:r>
            <a:endParaRPr lang="en-GB" altLang="tr-TR" sz="2800" dirty="0"/>
          </a:p>
        </p:txBody>
      </p:sp>
    </p:spTree>
    <p:extLst>
      <p:ext uri="{BB962C8B-B14F-4D97-AF65-F5344CB8AC3E}">
        <p14:creationId xmlns:p14="http://schemas.microsoft.com/office/powerpoint/2010/main" val="113074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F5BAE-A998-5A43-8936-564DB8CD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EE41169-780D-6854-7876-142896E59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MVC – the Controller</a:t>
            </a:r>
            <a:endParaRPr lang="en-GB" altLang="tr-TR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72564E7-00B7-E100-71F3-694ABFA379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r>
              <a:rPr lang="en-GB" altLang="tr-TR" sz="2800" dirty="0"/>
              <a:t>Controller </a:t>
            </a:r>
            <a:r>
              <a:rPr lang="en-US" altLang="tr-TR" sz="2800" dirty="0"/>
              <a:t>is responsible for interacting with the model to carry out the user request</a:t>
            </a:r>
          </a:p>
          <a:p>
            <a:pPr lvl="1"/>
            <a:r>
              <a:rPr lang="en-GB" altLang="tr-TR" sz="2400" dirty="0"/>
              <a:t>View delegates the request to the controller and the controller </a:t>
            </a:r>
            <a:r>
              <a:rPr lang="en-US" altLang="tr-TR" sz="2400" i="1" dirty="0"/>
              <a:t>translates</a:t>
            </a:r>
            <a:r>
              <a:rPr lang="en-US" altLang="tr-TR" sz="2400" dirty="0"/>
              <a:t> them into actions to be performed by the model</a:t>
            </a:r>
            <a:r>
              <a:rPr lang="en-GB" altLang="tr-TR" sz="2400" dirty="0"/>
              <a:t> </a:t>
            </a:r>
          </a:p>
          <a:p>
            <a:pPr lvl="1"/>
            <a:r>
              <a:rPr lang="en-GB" altLang="tr-TR" sz="2400" dirty="0"/>
              <a:t>Controller </a:t>
            </a:r>
            <a:r>
              <a:rPr lang="en-GB" altLang="tr-TR" sz="2400" i="1" dirty="0"/>
              <a:t>decides</a:t>
            </a:r>
            <a:r>
              <a:rPr lang="en-GB" altLang="tr-TR" sz="2400" dirty="0"/>
              <a:t> what model operations to call</a:t>
            </a:r>
          </a:p>
          <a:p>
            <a:pPr lvl="1"/>
            <a:r>
              <a:rPr lang="en-GB" altLang="tr-TR" sz="2400" dirty="0"/>
              <a:t>Controller decides how the view should change</a:t>
            </a:r>
          </a:p>
          <a:p>
            <a:endParaRPr lang="en-US" altLang="tr-TR" sz="2800" dirty="0"/>
          </a:p>
          <a:p>
            <a:r>
              <a:rPr lang="en-US" altLang="tr-TR" sz="2800" dirty="0"/>
              <a:t>Now view and model are totally decoupled</a:t>
            </a:r>
          </a:p>
          <a:p>
            <a:pPr lvl="1"/>
            <a:r>
              <a:rPr lang="en-US" altLang="tr-TR" sz="2400" dirty="0"/>
              <a:t>View is concerned only with the visual aspects of the application and delegates to the controller for any </a:t>
            </a:r>
            <a:r>
              <a:rPr lang="en-US" altLang="tr-TR" sz="2400" i="1" dirty="0"/>
              <a:t>decisions</a:t>
            </a:r>
            <a:r>
              <a:rPr lang="en-US" altLang="tr-TR" sz="2400" dirty="0"/>
              <a:t> about the interface behavior</a:t>
            </a:r>
          </a:p>
          <a:p>
            <a:pPr lvl="1"/>
            <a:endParaRPr lang="en-US" altLang="tr-TR" sz="2400" dirty="0"/>
          </a:p>
        </p:txBody>
      </p:sp>
    </p:spTree>
    <p:extLst>
      <p:ext uri="{BB962C8B-B14F-4D97-AF65-F5344CB8AC3E}">
        <p14:creationId xmlns:p14="http://schemas.microsoft.com/office/powerpoint/2010/main" val="138066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3D7E-1F80-5D77-9F10-FAEEB11A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413F2-5F6E-D52B-66BB-D86941A8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152"/>
            <a:ext cx="8686800" cy="1371600"/>
          </a:xfrm>
        </p:spPr>
        <p:txBody>
          <a:bodyPr/>
          <a:lstStyle/>
          <a:p>
            <a:r>
              <a:rPr lang="en-US" altLang="tr-TR" sz="4000" dirty="0"/>
              <a:t>Separate the  concerns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DBA6D-245D-A7E8-43D3-E6A0A1749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828800"/>
            <a:ext cx="4267200" cy="270330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800" dirty="0">
                <a:solidFill>
                  <a:srgbClr val="002060"/>
                </a:solidFill>
              </a:rPr>
              <a:t>VIEW</a:t>
            </a:r>
            <a:r>
              <a:rPr lang="en-US" altLang="en-US" sz="2800" dirty="0"/>
              <a:t> : displaying data</a:t>
            </a:r>
          </a:p>
          <a:p>
            <a:pPr>
              <a:spcBef>
                <a:spcPts val="1200"/>
              </a:spcBef>
            </a:pPr>
            <a:endParaRPr lang="en-US" altLang="en-US" sz="2800" dirty="0"/>
          </a:p>
          <a:p>
            <a:pPr>
              <a:spcBef>
                <a:spcPts val="1200"/>
              </a:spcBef>
            </a:pPr>
            <a:r>
              <a:rPr lang="en-US" altLang="en-US" sz="2800" dirty="0">
                <a:solidFill>
                  <a:srgbClr val="7030A0"/>
                </a:solidFill>
              </a:rPr>
              <a:t>Controller: user event handling</a:t>
            </a:r>
            <a:r>
              <a:rPr lang="en-US" altLang="en-US" sz="2800" dirty="0"/>
              <a:t>, reaction to user interaction</a:t>
            </a:r>
          </a:p>
          <a:p>
            <a:pPr>
              <a:spcBef>
                <a:spcPts val="1200"/>
              </a:spcBef>
            </a:pPr>
            <a:endParaRPr lang="en-US" altLang="en-US" sz="1600" dirty="0"/>
          </a:p>
          <a:p>
            <a:pPr>
              <a:spcBef>
                <a:spcPts val="1200"/>
              </a:spcBef>
            </a:pPr>
            <a:r>
              <a:rPr lang="en-US" altLang="en-US" sz="2800" dirty="0">
                <a:solidFill>
                  <a:srgbClr val="0070C0"/>
                </a:solidFill>
              </a:rPr>
              <a:t>MODEL: data and application logic</a:t>
            </a:r>
            <a:endParaRPr lang="en-US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7EC9D1-8D95-33A2-7FF6-C9577E6B7E6E}"/>
              </a:ext>
            </a:extLst>
          </p:cNvPr>
          <p:cNvSpPr/>
          <p:nvPr/>
        </p:nvSpPr>
        <p:spPr bwMode="auto">
          <a:xfrm>
            <a:off x="4839766" y="5116286"/>
            <a:ext cx="3057820" cy="13716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MODEL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Aptos" panose="020B0004020202020204" pitchFamily="34" charset="0"/>
              </a:rPr>
              <a:t>Manages data, state, and business logic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4D92F4-5330-8D1D-CE86-0DA2F7314CCD}"/>
              </a:ext>
            </a:extLst>
          </p:cNvPr>
          <p:cNvSpPr/>
          <p:nvPr/>
        </p:nvSpPr>
        <p:spPr bwMode="auto">
          <a:xfrm>
            <a:off x="6172200" y="3490497"/>
            <a:ext cx="2667000" cy="121684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Aptos" panose="020B0004020202020204" pitchFamily="34" charset="0"/>
              </a:rPr>
              <a:t>CONTROLLER</a:t>
            </a:r>
          </a:p>
          <a:p>
            <a:pPr algn="ctr"/>
            <a:r>
              <a:rPr lang="en-US" sz="2400" dirty="0">
                <a:latin typeface="Aptos" panose="020B0004020202020204" pitchFamily="34" charset="0"/>
              </a:rPr>
              <a:t>Handles interactions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4821A1-C660-5969-2ACA-7C195ED64369}"/>
              </a:ext>
            </a:extLst>
          </p:cNvPr>
          <p:cNvSpPr/>
          <p:nvPr/>
        </p:nvSpPr>
        <p:spPr bwMode="auto">
          <a:xfrm>
            <a:off x="4839766" y="1543409"/>
            <a:ext cx="3057820" cy="152046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Arial" charset="0"/>
              </a:rPr>
              <a:t>VIEW</a:t>
            </a:r>
            <a:endParaRPr lang="en-US" sz="2400" dirty="0">
              <a:latin typeface="Aptos" panose="020B0004020202020204" pitchFamily="34" charset="0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0" i="0" dirty="0">
                <a:solidFill>
                  <a:srgbClr val="111111"/>
                </a:solidFill>
                <a:effectLst/>
                <a:latin typeface="Aptos" panose="020B0004020202020204" pitchFamily="34" charset="0"/>
              </a:rPr>
              <a:t>Handles the display of information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057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2EA27F3-63FE-DE48-FDD7-62E77E451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 dirty="0"/>
              <a:t>MVC–Responsibilities</a:t>
            </a:r>
            <a:endParaRPr lang="en-GB" alt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5CE56-4CFA-F086-124D-E37BAA8C4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088"/>
            <a:ext cx="8610600" cy="5383212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Model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Holds data, state, and application logic 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Unaware of view and controller classes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View 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display model’s data</a:t>
            </a:r>
          </a:p>
          <a:p>
            <a:pPr lvl="2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gets the state and data from the model 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No application logic, no interaction logic –it is dumb</a:t>
            </a: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Controller</a:t>
            </a:r>
          </a:p>
          <a:p>
            <a:pPr lvl="1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I</a:t>
            </a:r>
            <a:r>
              <a:rPr lang="en-US" sz="2800" dirty="0"/>
              <a:t>nteracts with the model to carry out user requests coming fro</a:t>
            </a:r>
            <a:r>
              <a:rPr lang="en-US" dirty="0"/>
              <a:t>m view</a:t>
            </a:r>
            <a:r>
              <a:rPr lang="en-US" sz="2800" dirty="0"/>
              <a:t>.</a:t>
            </a:r>
            <a:endParaRPr lang="en-US" dirty="0"/>
          </a:p>
          <a:p>
            <a:pPr lvl="2" fontAlgn="auto">
              <a:spcBef>
                <a:spcPts val="1200"/>
              </a:spcBef>
              <a:spcAft>
                <a:spcPts val="0"/>
              </a:spcAft>
              <a:defRPr/>
            </a:pPr>
            <a:r>
              <a:rPr lang="en-US" dirty="0"/>
              <a:t>Calls the model operations to perform actions</a:t>
            </a:r>
          </a:p>
        </p:txBody>
      </p:sp>
    </p:spTree>
    <p:extLst>
      <p:ext uri="{BB962C8B-B14F-4D97-AF65-F5344CB8AC3E}">
        <p14:creationId xmlns:p14="http://schemas.microsoft.com/office/powerpoint/2010/main" val="889898820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F2833F8-8D7A-0EA1-C2F4-E96A2CDBF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 dirty="0"/>
              <a:t>MVC enables</a:t>
            </a:r>
            <a:endParaRPr lang="en-GB" altLang="tr-TR" dirty="0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76550FA-BB2A-ED18-0F06-94D000C7C6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tr-TR" dirty="0"/>
              <a:t>Attach multiple presentation for a domain model</a:t>
            </a:r>
          </a:p>
          <a:p>
            <a:pPr lvl="1">
              <a:spcBef>
                <a:spcPts val="1200"/>
              </a:spcBef>
            </a:pPr>
            <a:r>
              <a:rPr lang="en-US" altLang="tr-TR" dirty="0"/>
              <a:t>a GUI, a command line, a web presentation</a:t>
            </a:r>
          </a:p>
          <a:p>
            <a:pPr lvl="1">
              <a:spcBef>
                <a:spcPts val="1200"/>
              </a:spcBef>
            </a:pPr>
            <a:r>
              <a:rPr lang="en-US" altLang="tr-TR" dirty="0"/>
              <a:t>Reuse the domain</a:t>
            </a:r>
          </a:p>
          <a:p>
            <a:pPr>
              <a:spcBef>
                <a:spcPts val="1200"/>
              </a:spcBef>
            </a:pPr>
            <a:r>
              <a:rPr lang="en-US" altLang="tr-TR" dirty="0"/>
              <a:t>Reuse the visual part for many domains</a:t>
            </a:r>
          </a:p>
          <a:p>
            <a:pPr lvl="1">
              <a:spcBef>
                <a:spcPts val="1200"/>
              </a:spcBef>
            </a:pPr>
            <a:r>
              <a:rPr lang="en-US" altLang="tr-TR" dirty="0"/>
              <a:t>Reuse View</a:t>
            </a:r>
          </a:p>
          <a:p>
            <a:pPr>
              <a:spcBef>
                <a:spcPts val="1200"/>
              </a:spcBef>
            </a:pPr>
            <a:r>
              <a:rPr lang="en-US" altLang="tr-TR" dirty="0"/>
              <a:t>Ability to change the way a view responds to user inputs </a:t>
            </a:r>
          </a:p>
          <a:p>
            <a:pPr lvl="1">
              <a:spcBef>
                <a:spcPts val="1200"/>
              </a:spcBef>
            </a:pPr>
            <a:r>
              <a:rPr lang="en-US" altLang="tr-TR" dirty="0"/>
              <a:t>change controllers </a:t>
            </a:r>
            <a:endParaRPr lang="en-GB" altLang="tr-TR" dirty="0"/>
          </a:p>
        </p:txBody>
      </p:sp>
    </p:spTree>
    <p:extLst>
      <p:ext uri="{BB962C8B-B14F-4D97-AF65-F5344CB8AC3E}">
        <p14:creationId xmlns:p14="http://schemas.microsoft.com/office/powerpoint/2010/main" val="2572594696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CE505FA0-5A67-F8FB-EE80-C2E2846C78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486775" cy="45323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tr-TR" sz="2800" dirty="0"/>
              <a:t>A view must ensure that its appearance reflects the state of the model</a:t>
            </a:r>
          </a:p>
          <a:p>
            <a:pPr lvl="1">
              <a:spcBef>
                <a:spcPts val="1200"/>
              </a:spcBef>
            </a:pPr>
            <a:r>
              <a:rPr lang="en-US" altLang="tr-TR" sz="2400" dirty="0"/>
              <a:t>Change the view whenever the model’s data changes</a:t>
            </a:r>
          </a:p>
          <a:p>
            <a:pPr lvl="1">
              <a:spcBef>
                <a:spcPts val="1200"/>
              </a:spcBef>
            </a:pPr>
            <a:r>
              <a:rPr lang="en-US" altLang="tr-TR" sz="2400" dirty="0"/>
              <a:t>Remember, 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the Model </a:t>
            </a:r>
            <a:r>
              <a:rPr lang="en-US" sz="2400" b="1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cannot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2400" b="1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should not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know about the View classes. </a:t>
            </a:r>
          </a:p>
          <a:p>
            <a:pPr lvl="1">
              <a:spcBef>
                <a:spcPts val="1200"/>
              </a:spcBef>
            </a:pPr>
            <a:endParaRPr lang="en-US" altLang="tr-TR" sz="2800" dirty="0"/>
          </a:p>
          <a:p>
            <a:pPr>
              <a:spcBef>
                <a:spcPts val="1200"/>
              </a:spcBef>
            </a:pPr>
            <a:r>
              <a:rPr lang="en-US" altLang="tr-TR" sz="2400" dirty="0"/>
              <a:t>Ability to attach multiple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tr-TR" sz="2400" dirty="0"/>
              <a:t>   views and new ones</a:t>
            </a:r>
          </a:p>
          <a:p>
            <a:pPr>
              <a:spcBef>
                <a:spcPts val="1200"/>
              </a:spcBef>
            </a:pPr>
            <a:r>
              <a:rPr lang="en-US" altLang="tr-TR" sz="2400" dirty="0"/>
              <a:t>Each view gets an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tr-TR" sz="2400" dirty="0"/>
              <a:t>    opportunity to update itself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299EE1F0-C06A-4E29-E308-C24F521D5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583327"/>
            <a:ext cx="4829175" cy="274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458" name="Rectangle 2">
            <a:extLst>
              <a:ext uri="{FF2B5EF4-FFF2-40B4-BE49-F238E27FC236}">
                <a16:creationId xmlns:a16="http://schemas.microsoft.com/office/drawing/2014/main" id="{70ADE163-0FE5-5141-8E05-957F0D432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 dirty="0"/>
              <a:t>Problem1 -- Pattern #1</a:t>
            </a:r>
            <a:endParaRPr lang="en-GB" altLang="tr-TR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213DFE38-5E42-8459-8CB5-8973DB345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Pattern #1</a:t>
            </a:r>
            <a:endParaRPr lang="en-GB" altLang="tr-TR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9352C9D-E0F5-EFF6-9243-D7F9D0C881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A view must ensure that its appearance reflects the state of the model</a:t>
            </a:r>
          </a:p>
          <a:p>
            <a:pPr>
              <a:lnSpc>
                <a:spcPct val="90000"/>
              </a:lnSpc>
            </a:pPr>
            <a:r>
              <a:rPr lang="en-US" altLang="tr-TR" dirty="0"/>
              <a:t>Whenever the model’s data changes, the model notifies views that depend on it</a:t>
            </a:r>
          </a:p>
          <a:p>
            <a:pPr>
              <a:lnSpc>
                <a:spcPct val="90000"/>
              </a:lnSpc>
            </a:pPr>
            <a:endParaRPr lang="en-US" altLang="tr-TR" dirty="0"/>
          </a:p>
          <a:p>
            <a:pPr>
              <a:lnSpc>
                <a:spcPct val="90000"/>
              </a:lnSpc>
            </a:pPr>
            <a:r>
              <a:rPr lang="en-US" altLang="tr-TR" dirty="0"/>
              <a:t>Each view gets an opportunity to update itself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Views communicate with the model to access the changes values</a:t>
            </a:r>
            <a:endParaRPr lang="en-GB" altLang="tr-T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FE7DA3B4-125F-FE59-AFEC-85ABB0C42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Pattern #1</a:t>
            </a:r>
            <a:endParaRPr lang="en-GB" altLang="tr-T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8DE7B16-9426-B3E7-F244-34CF7CC3F5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r>
              <a:rPr lang="en-US" altLang="tr-TR"/>
              <a:t>Pattern name?</a:t>
            </a:r>
          </a:p>
          <a:p>
            <a:pPr lvl="1"/>
            <a:r>
              <a:rPr lang="en-US" altLang="tr-TR"/>
              <a:t>General problem: Decoupling objects so that changes to one can affect any number of others without requiring the changed object to know details of the others.</a:t>
            </a:r>
          </a:p>
          <a:p>
            <a:r>
              <a:rPr lang="en-US" altLang="tr-TR"/>
              <a:t>Participants?</a:t>
            </a:r>
            <a:endParaRPr lang="en-GB" alt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4397E-CD07-2550-4030-8964BD64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Pattern #1: </a:t>
            </a:r>
            <a:r>
              <a:rPr lang="en-US" altLang="en-US" dirty="0">
                <a:solidFill>
                  <a:srgbClr val="C00000"/>
                </a:solidFill>
              </a:rPr>
              <a:t>Observer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E6265-114E-83BE-BB71-98E657153C69}"/>
              </a:ext>
            </a:extLst>
          </p:cNvPr>
          <p:cNvSpPr/>
          <p:nvPr/>
        </p:nvSpPr>
        <p:spPr bwMode="auto">
          <a:xfrm>
            <a:off x="1092751" y="2133600"/>
            <a:ext cx="1828800" cy="2590800"/>
          </a:xfrm>
          <a:prstGeom prst="rect">
            <a:avLst/>
          </a:prstGeom>
          <a:noFill/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34701A-CB84-21A8-4226-A8EDBF5713A6}"/>
              </a:ext>
            </a:extLst>
          </p:cNvPr>
          <p:cNvSpPr/>
          <p:nvPr/>
        </p:nvSpPr>
        <p:spPr bwMode="auto">
          <a:xfrm>
            <a:off x="1177947" y="2692400"/>
            <a:ext cx="1219200" cy="16002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charset="0"/>
              </a:rPr>
              <a:t>Player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charset="0"/>
              </a:rPr>
              <a:t>p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lay()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charset="0"/>
              </a:rPr>
              <a:t>stop()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charset="0"/>
              </a:rPr>
              <a:t>forward()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charset="0"/>
              </a:rPr>
              <a:t>rewind()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58B457-FDA9-FF6B-87DE-1BE01ABB5015}"/>
              </a:ext>
            </a:extLst>
          </p:cNvPr>
          <p:cNvCxnSpPr/>
          <p:nvPr/>
        </p:nvCxnSpPr>
        <p:spPr bwMode="auto">
          <a:xfrm>
            <a:off x="1257073" y="3024968"/>
            <a:ext cx="10668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4E3EE33-36E4-BC5F-664A-DB945DB75ADB}"/>
              </a:ext>
            </a:extLst>
          </p:cNvPr>
          <p:cNvSpPr/>
          <p:nvPr/>
        </p:nvSpPr>
        <p:spPr bwMode="auto">
          <a:xfrm>
            <a:off x="5305094" y="1474296"/>
            <a:ext cx="2687439" cy="2133600"/>
          </a:xfrm>
          <a:prstGeom prst="rect">
            <a:avLst/>
          </a:prstGeom>
          <a:noFill/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56AA86-6B7B-5ACE-9F20-836067989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902" y="4292600"/>
            <a:ext cx="2080818" cy="4699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EA04B18-3DEF-CE87-32D1-00CB200039E2}"/>
              </a:ext>
            </a:extLst>
          </p:cNvPr>
          <p:cNvSpPr/>
          <p:nvPr/>
        </p:nvSpPr>
        <p:spPr bwMode="auto">
          <a:xfrm>
            <a:off x="4267200" y="4147461"/>
            <a:ext cx="1447800" cy="571500"/>
          </a:xfrm>
          <a:prstGeom prst="rect">
            <a:avLst/>
          </a:prstGeom>
          <a:noFill/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Arial" charset="0"/>
              </a:rPr>
              <a:t>C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ontroller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29660-732F-F397-BB0B-9301B86EDAD2}"/>
              </a:ext>
            </a:extLst>
          </p:cNvPr>
          <p:cNvSpPr/>
          <p:nvPr/>
        </p:nvSpPr>
        <p:spPr bwMode="auto">
          <a:xfrm>
            <a:off x="6172201" y="3913422"/>
            <a:ext cx="2362200" cy="1039578"/>
          </a:xfrm>
          <a:prstGeom prst="rect">
            <a:avLst/>
          </a:prstGeom>
          <a:noFill/>
          <a:ln w="508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View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427A741-794B-F379-3B90-D13FE0ED5C62}"/>
              </a:ext>
            </a:extLst>
          </p:cNvPr>
          <p:cNvGrpSpPr/>
          <p:nvPr/>
        </p:nvGrpSpPr>
        <p:grpSpPr>
          <a:xfrm>
            <a:off x="5557520" y="1846454"/>
            <a:ext cx="1823791" cy="1515660"/>
            <a:chOff x="4572007" y="1983786"/>
            <a:chExt cx="1823791" cy="151566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4AE491B-B99D-6FBC-E3EC-FE6CC945C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38642" y="1986097"/>
              <a:ext cx="1257156" cy="1372458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0C874D0-2BB5-8D03-8DAA-885B0A585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90617" y="1983786"/>
              <a:ext cx="561866" cy="15156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44724BF-5F3D-692C-48F7-8E465A09B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72007" y="3162300"/>
              <a:ext cx="1768895" cy="311619"/>
            </a:xfrm>
            <a:prstGeom prst="rect">
              <a:avLst/>
            </a:prstGeom>
          </p:spPr>
        </p:pic>
      </p:grp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B298659-D3ED-5E27-88F3-691C50A16EF6}"/>
              </a:ext>
            </a:extLst>
          </p:cNvPr>
          <p:cNvSpPr/>
          <p:nvPr/>
        </p:nvSpPr>
        <p:spPr bwMode="auto">
          <a:xfrm>
            <a:off x="3353352" y="2758361"/>
            <a:ext cx="1438576" cy="190500"/>
          </a:xfrm>
          <a:prstGeom prst="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CE3C9E-60A6-64EE-8D7D-EF991D168A00}"/>
              </a:ext>
            </a:extLst>
          </p:cNvPr>
          <p:cNvSpPr txBox="1"/>
          <p:nvPr/>
        </p:nvSpPr>
        <p:spPr>
          <a:xfrm>
            <a:off x="1225833" y="563880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Subject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703FE6-2132-9722-5ABD-E442DDD12F75}"/>
              </a:ext>
            </a:extLst>
          </p:cNvPr>
          <p:cNvSpPr txBox="1"/>
          <p:nvPr/>
        </p:nvSpPr>
        <p:spPr>
          <a:xfrm>
            <a:off x="5817437" y="5634112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Observers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CCD39E-BD35-6606-7AAE-DB31F2BDC883}"/>
              </a:ext>
            </a:extLst>
          </p:cNvPr>
          <p:cNvSpPr txBox="1"/>
          <p:nvPr/>
        </p:nvSpPr>
        <p:spPr>
          <a:xfrm>
            <a:off x="3570625" y="244611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BCA2D65-9FC6-4F64-BADE-BA83A273405F}"/>
              </a:ext>
            </a:extLst>
          </p:cNvPr>
          <p:cNvSpPr/>
          <p:nvPr/>
        </p:nvSpPr>
        <p:spPr bwMode="auto">
          <a:xfrm rot="924724">
            <a:off x="3352800" y="3124200"/>
            <a:ext cx="1438576" cy="190500"/>
          </a:xfrm>
          <a:prstGeom prst="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DDA374C7-2CE8-F2EB-C969-7C1350BF5E4B}"/>
              </a:ext>
            </a:extLst>
          </p:cNvPr>
          <p:cNvSpPr/>
          <p:nvPr/>
        </p:nvSpPr>
        <p:spPr bwMode="auto">
          <a:xfrm rot="1477461">
            <a:off x="3191933" y="3429000"/>
            <a:ext cx="1438576" cy="190500"/>
          </a:xfrm>
          <a:prstGeom prst="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73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D035-FF45-6962-3682-E1D71C13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96433-F958-1A19-A6DB-503966A0A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800" dirty="0"/>
              <a:t>Multiple views and controller </a:t>
            </a:r>
            <a:r>
              <a:rPr lang="en-US" sz="2800" b="1" dirty="0"/>
              <a:t>observe</a:t>
            </a:r>
            <a:r>
              <a:rPr lang="en-US" sz="2800" dirty="0"/>
              <a:t> the Model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View gets the state/data from model </a:t>
            </a:r>
          </a:p>
          <a:p>
            <a:pPr lvl="2">
              <a:spcBef>
                <a:spcPts val="1200"/>
              </a:spcBef>
            </a:pPr>
            <a:r>
              <a:rPr lang="en-US" sz="2000" dirty="0"/>
              <a:t>Push or pull?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Controller observes model so that it can change the view </a:t>
            </a:r>
          </a:p>
          <a:p>
            <a:pPr lvl="2">
              <a:spcBef>
                <a:spcPts val="1200"/>
              </a:spcBef>
            </a:pPr>
            <a:r>
              <a:rPr lang="en-US" sz="2000" dirty="0"/>
              <a:t>Disable widgets, open a dialog,…</a:t>
            </a:r>
          </a:p>
          <a:p>
            <a:pPr>
              <a:spcBef>
                <a:spcPts val="1200"/>
              </a:spcBef>
            </a:pPr>
            <a:r>
              <a:rPr lang="en-US" sz="2800" dirty="0"/>
              <a:t>Model is independent of views and controllers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Reusable model</a:t>
            </a:r>
          </a:p>
          <a:p>
            <a:pPr lvl="1">
              <a:spcBef>
                <a:spcPts val="1200"/>
              </a:spcBef>
            </a:pPr>
            <a:r>
              <a:rPr lang="en-US" sz="2400" dirty="0"/>
              <a:t>Multiple views is possible</a:t>
            </a:r>
          </a:p>
        </p:txBody>
      </p:sp>
    </p:spTree>
    <p:extLst>
      <p:ext uri="{BB962C8B-B14F-4D97-AF65-F5344CB8AC3E}">
        <p14:creationId xmlns:p14="http://schemas.microsoft.com/office/powerpoint/2010/main" val="1295804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87B233D-D4C5-5788-A5D4-1912CAB5A6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Pattern #1: Observer</a:t>
            </a:r>
            <a:endParaRPr lang="en-US" altLang="tr-TR" dirty="0"/>
          </a:p>
        </p:txBody>
      </p:sp>
      <p:grpSp>
        <p:nvGrpSpPr>
          <p:cNvPr id="10243" name="Group 3">
            <a:extLst>
              <a:ext uri="{FF2B5EF4-FFF2-40B4-BE49-F238E27FC236}">
                <a16:creationId xmlns:a16="http://schemas.microsoft.com/office/drawing/2014/main" id="{9D204458-8B21-0785-972B-52CD8F7FBF57}"/>
              </a:ext>
            </a:extLst>
          </p:cNvPr>
          <p:cNvGrpSpPr>
            <a:grpSpLocks/>
          </p:cNvGrpSpPr>
          <p:nvPr/>
        </p:nvGrpSpPr>
        <p:grpSpPr bwMode="auto">
          <a:xfrm>
            <a:off x="683932" y="1500821"/>
            <a:ext cx="2701303" cy="1727198"/>
            <a:chOff x="498" y="2132014"/>
            <a:chExt cx="1458" cy="1479551"/>
          </a:xfrm>
        </p:grpSpPr>
        <p:sp>
          <p:nvSpPr>
            <p:cNvPr id="10267" name="Rectangle 4">
              <a:extLst>
                <a:ext uri="{FF2B5EF4-FFF2-40B4-BE49-F238E27FC236}">
                  <a16:creationId xmlns:a16="http://schemas.microsoft.com/office/drawing/2014/main" id="{677DA747-2DF1-D007-2F55-0FE98DA23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132014"/>
              <a:ext cx="1225" cy="12969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  <p:sp>
          <p:nvSpPr>
            <p:cNvPr id="10268" name="Text Box 5">
              <a:extLst>
                <a:ext uri="{FF2B5EF4-FFF2-40B4-BE49-F238E27FC236}">
                  <a16:creationId xmlns:a16="http://schemas.microsoft.com/office/drawing/2014/main" id="{0602C244-A0A5-8267-515E-D0AC2A85F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" y="2133602"/>
              <a:ext cx="1458" cy="147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b="1" i="1" dirty="0"/>
                <a:t>Subject</a:t>
              </a:r>
              <a:endParaRPr lang="en-US" altLang="tr-TR" sz="1800" b="1" i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tr-TR" sz="1000" b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1800" dirty="0"/>
                <a:t>+</a:t>
              </a:r>
              <a:r>
                <a:rPr lang="en-US" altLang="tr-TR" sz="2000" dirty="0"/>
                <a:t>attach(observer)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/>
                <a:t>+detach(observer)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dirty="0"/>
                <a:t>+notify()                 </a:t>
              </a:r>
            </a:p>
          </p:txBody>
        </p:sp>
        <p:sp>
          <p:nvSpPr>
            <p:cNvPr id="10269" name="Line 6">
              <a:extLst>
                <a:ext uri="{FF2B5EF4-FFF2-40B4-BE49-F238E27FC236}">
                  <a16:creationId xmlns:a16="http://schemas.microsoft.com/office/drawing/2014/main" id="{133DBA41-DF03-81B0-CF37-BE7C0F5F5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" y="2492377"/>
              <a:ext cx="1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Line 7">
              <a:extLst>
                <a:ext uri="{FF2B5EF4-FFF2-40B4-BE49-F238E27FC236}">
                  <a16:creationId xmlns:a16="http://schemas.microsoft.com/office/drawing/2014/main" id="{F8673107-7B3E-2EEF-3F3B-576FAAB59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563813"/>
              <a:ext cx="1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4" name="Line 8">
            <a:extLst>
              <a:ext uri="{FF2B5EF4-FFF2-40B4-BE49-F238E27FC236}">
                <a16:creationId xmlns:a16="http://schemas.microsoft.com/office/drawing/2014/main" id="{B9770AEB-1F00-77FE-46BF-B606F87427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5518" y="2349499"/>
            <a:ext cx="2087207" cy="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45" name="Group 9">
            <a:extLst>
              <a:ext uri="{FF2B5EF4-FFF2-40B4-BE49-F238E27FC236}">
                <a16:creationId xmlns:a16="http://schemas.microsoft.com/office/drawing/2014/main" id="{B4205B68-664E-E721-142F-602CC429A935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2133600"/>
            <a:ext cx="1366838" cy="1008063"/>
            <a:chOff x="3334" y="1344"/>
            <a:chExt cx="861" cy="635"/>
          </a:xfrm>
        </p:grpSpPr>
        <p:sp>
          <p:nvSpPr>
            <p:cNvPr id="10262" name="Rectangle 10">
              <a:extLst>
                <a:ext uri="{FF2B5EF4-FFF2-40B4-BE49-F238E27FC236}">
                  <a16:creationId xmlns:a16="http://schemas.microsoft.com/office/drawing/2014/main" id="{8627217F-0065-7BAA-2A58-2EDD06BCF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344"/>
              <a:ext cx="861" cy="49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  <p:sp>
          <p:nvSpPr>
            <p:cNvPr id="10263" name="Text Box 11">
              <a:extLst>
                <a:ext uri="{FF2B5EF4-FFF2-40B4-BE49-F238E27FC236}">
                  <a16:creationId xmlns:a16="http://schemas.microsoft.com/office/drawing/2014/main" id="{3C40EC36-A0DF-CBF6-57B7-0EF49E854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1345"/>
              <a:ext cx="855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b="1" i="1" dirty="0"/>
                <a:t>Observer</a:t>
              </a:r>
              <a:endParaRPr lang="en-US" altLang="tr-TR" sz="1800" b="1" i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tr-TR" sz="1000" b="1" dirty="0"/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tr-TR" sz="2000" i="1" dirty="0"/>
                <a:t>+update() </a:t>
              </a:r>
            </a:p>
          </p:txBody>
        </p:sp>
        <p:sp>
          <p:nvSpPr>
            <p:cNvPr id="10264" name="Line 12">
              <a:extLst>
                <a:ext uri="{FF2B5EF4-FFF2-40B4-BE49-F238E27FC236}">
                  <a16:creationId xmlns:a16="http://schemas.microsoft.com/office/drawing/2014/main" id="{83B699E7-DC42-B51D-5CA8-A4C5AC59D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616"/>
              <a:ext cx="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Line 13">
              <a:extLst>
                <a:ext uri="{FF2B5EF4-FFF2-40B4-BE49-F238E27FC236}">
                  <a16:creationId xmlns:a16="http://schemas.microsoft.com/office/drawing/2014/main" id="{8A3E3644-E01C-951D-3BCA-497734BD0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570"/>
              <a:ext cx="8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AutoShape 14">
              <a:extLst>
                <a:ext uri="{FF2B5EF4-FFF2-40B4-BE49-F238E27FC236}">
                  <a16:creationId xmlns:a16="http://schemas.microsoft.com/office/drawing/2014/main" id="{BA5B4CFE-868F-3AA0-16F0-96A872AB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842"/>
              <a:ext cx="182" cy="1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GB" altLang="tr-TR" sz="1800"/>
            </a:p>
          </p:txBody>
        </p:sp>
      </p:grpSp>
      <p:cxnSp>
        <p:nvCxnSpPr>
          <p:cNvPr id="10247" name="AutoShape 20">
            <a:extLst>
              <a:ext uri="{FF2B5EF4-FFF2-40B4-BE49-F238E27FC236}">
                <a16:creationId xmlns:a16="http://schemas.microsoft.com/office/drawing/2014/main" id="{D7FACBC7-0776-E551-B82A-D0971A69DF42}"/>
              </a:ext>
            </a:extLst>
          </p:cNvPr>
          <p:cNvCxnSpPr>
            <a:cxnSpLocks noChangeShapeType="1"/>
            <a:stCxn id="10266" idx="3"/>
            <a:endCxn id="10" idx="0"/>
          </p:cNvCxnSpPr>
          <p:nvPr/>
        </p:nvCxnSpPr>
        <p:spPr bwMode="auto">
          <a:xfrm rot="16200000" flipH="1">
            <a:off x="5467785" y="3685741"/>
            <a:ext cx="1232619" cy="1444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5" name="Text Box 23">
            <a:extLst>
              <a:ext uri="{FF2B5EF4-FFF2-40B4-BE49-F238E27FC236}">
                <a16:creationId xmlns:a16="http://schemas.microsoft.com/office/drawing/2014/main" id="{0CFF42D0-2E63-E17F-30A7-5272ADCD2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044" y="4374282"/>
            <a:ext cx="1447800" cy="80021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800" b="1" dirty="0"/>
              <a:t>Model</a:t>
            </a:r>
            <a:endParaRPr lang="en-US" altLang="tr-T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1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800" dirty="0"/>
          </a:p>
        </p:txBody>
      </p:sp>
      <p:sp>
        <p:nvSpPr>
          <p:cNvPr id="10249" name="AutoShape 26">
            <a:extLst>
              <a:ext uri="{FF2B5EF4-FFF2-40B4-BE49-F238E27FC236}">
                <a16:creationId xmlns:a16="http://schemas.microsoft.com/office/drawing/2014/main" id="{244A2159-FF12-C5DA-BC3A-366826B71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998788"/>
            <a:ext cx="287338" cy="215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tr-TR" sz="1800"/>
          </a:p>
        </p:txBody>
      </p:sp>
      <p:cxnSp>
        <p:nvCxnSpPr>
          <p:cNvPr id="10250" name="AutoShape 27">
            <a:extLst>
              <a:ext uri="{FF2B5EF4-FFF2-40B4-BE49-F238E27FC236}">
                <a16:creationId xmlns:a16="http://schemas.microsoft.com/office/drawing/2014/main" id="{A8B03006-00A5-24C5-A495-1A36B51F2F01}"/>
              </a:ext>
            </a:extLst>
          </p:cNvPr>
          <p:cNvCxnSpPr>
            <a:cxnSpLocks noChangeShapeType="1"/>
            <a:stCxn id="10249" idx="3"/>
            <a:endCxn id="10255" idx="0"/>
          </p:cNvCxnSpPr>
          <p:nvPr/>
        </p:nvCxnSpPr>
        <p:spPr bwMode="auto">
          <a:xfrm rot="5400000">
            <a:off x="1256147" y="3794485"/>
            <a:ext cx="1159594" cy="127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1" name="TextBox 29">
            <a:extLst>
              <a:ext uri="{FF2B5EF4-FFF2-40B4-BE49-F238E27FC236}">
                <a16:creationId xmlns:a16="http://schemas.microsoft.com/office/drawing/2014/main" id="{29191FB2-07DF-9174-0D7E-16D716D04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563" y="3357563"/>
            <a:ext cx="201850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dirty="0"/>
              <a:t>for all observers 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 dirty="0"/>
              <a:t>    </a:t>
            </a:r>
            <a:r>
              <a:rPr lang="en-US" altLang="tr-TR" sz="1800" dirty="0" err="1"/>
              <a:t>o.update</a:t>
            </a:r>
            <a:r>
              <a:rPr lang="en-US" altLang="tr-TR" sz="1800" dirty="0"/>
              <a:t>();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D57277-32C7-5E40-D40E-3C42F3997907}"/>
              </a:ext>
            </a:extLst>
          </p:cNvPr>
          <p:cNvCxnSpPr/>
          <p:nvPr/>
        </p:nvCxnSpPr>
        <p:spPr>
          <a:xfrm rot="16200000" flipH="1">
            <a:off x="2071688" y="2928938"/>
            <a:ext cx="428625" cy="428625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53" name="TextBox 29">
            <a:extLst>
              <a:ext uri="{FF2B5EF4-FFF2-40B4-BE49-F238E27FC236}">
                <a16:creationId xmlns:a16="http://schemas.microsoft.com/office/drawing/2014/main" id="{47D78BE8-7D56-8C1E-2AD8-D5A46D612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2062163"/>
            <a:ext cx="274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tr-TR" sz="1800"/>
              <a:t>*</a:t>
            </a:r>
          </a:p>
        </p:txBody>
      </p:sp>
      <p:sp>
        <p:nvSpPr>
          <p:cNvPr id="9" name="Text Box 23">
            <a:extLst>
              <a:ext uri="{FF2B5EF4-FFF2-40B4-BE49-F238E27FC236}">
                <a16:creationId xmlns:a16="http://schemas.microsoft.com/office/drawing/2014/main" id="{25DA98B6-9C7B-A68D-443E-4D0031501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2647" y="4380632"/>
            <a:ext cx="2018617" cy="80021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800" b="1" dirty="0"/>
              <a:t>Controller</a:t>
            </a:r>
            <a:endParaRPr lang="en-US" altLang="tr-T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1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800" dirty="0"/>
          </a:p>
        </p:txBody>
      </p:sp>
      <p:sp>
        <p:nvSpPr>
          <p:cNvPr id="10" name="Text Box 23">
            <a:extLst>
              <a:ext uri="{FF2B5EF4-FFF2-40B4-BE49-F238E27FC236}">
                <a16:creationId xmlns:a16="http://schemas.microsoft.com/office/drawing/2014/main" id="{8E791ACB-BA73-9089-C85E-97F5F7497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425" y="4374282"/>
            <a:ext cx="1447800" cy="80021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800" b="1" dirty="0"/>
              <a:t>View2</a:t>
            </a:r>
            <a:endParaRPr lang="en-US" altLang="tr-T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1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800" dirty="0"/>
          </a:p>
        </p:txBody>
      </p:sp>
      <p:cxnSp>
        <p:nvCxnSpPr>
          <p:cNvPr id="12" name="AutoShape 20">
            <a:extLst>
              <a:ext uri="{FF2B5EF4-FFF2-40B4-BE49-F238E27FC236}">
                <a16:creationId xmlns:a16="http://schemas.microsoft.com/office/drawing/2014/main" id="{EAF81674-DA67-6940-2EE1-F91060B3943E}"/>
              </a:ext>
            </a:extLst>
          </p:cNvPr>
          <p:cNvCxnSpPr>
            <a:cxnSpLocks noChangeShapeType="1"/>
            <a:stCxn id="10266" idx="3"/>
            <a:endCxn id="9" idx="0"/>
          </p:cNvCxnSpPr>
          <p:nvPr/>
        </p:nvCxnSpPr>
        <p:spPr bwMode="auto">
          <a:xfrm rot="16200000" flipH="1">
            <a:off x="6402425" y="2751100"/>
            <a:ext cx="1238969" cy="202009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 Box 23">
            <a:extLst>
              <a:ext uri="{FF2B5EF4-FFF2-40B4-BE49-F238E27FC236}">
                <a16:creationId xmlns:a16="http://schemas.microsoft.com/office/drawing/2014/main" id="{C9523D0E-A150-89AB-E61D-354AADD3B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754" y="4363397"/>
            <a:ext cx="1447800" cy="80021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tr-TR" sz="2800" b="1" dirty="0"/>
              <a:t>View1</a:t>
            </a:r>
            <a:endParaRPr lang="en-US" altLang="tr-TR" sz="1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10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tr-TR" sz="800" dirty="0"/>
          </a:p>
        </p:txBody>
      </p:sp>
      <p:cxnSp>
        <p:nvCxnSpPr>
          <p:cNvPr id="25" name="AutoShape 20">
            <a:extLst>
              <a:ext uri="{FF2B5EF4-FFF2-40B4-BE49-F238E27FC236}">
                <a16:creationId xmlns:a16="http://schemas.microsoft.com/office/drawing/2014/main" id="{0DBFAAEF-6FB4-B10F-5433-67EEF06C1818}"/>
              </a:ext>
            </a:extLst>
          </p:cNvPr>
          <p:cNvCxnSpPr>
            <a:cxnSpLocks noChangeShapeType="1"/>
            <a:stCxn id="10266" idx="3"/>
            <a:endCxn id="19" idx="0"/>
          </p:cNvCxnSpPr>
          <p:nvPr/>
        </p:nvCxnSpPr>
        <p:spPr bwMode="auto">
          <a:xfrm rot="5400000">
            <a:off x="4534392" y="2885926"/>
            <a:ext cx="1221734" cy="173320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26CC236-32A3-1CCE-CDD9-6863136EE1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 dirty="0"/>
              <a:t>Problem2 --Pattern #2</a:t>
            </a:r>
            <a:endParaRPr lang="en-GB" altLang="tr-TR" dirty="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634E822-66A8-A15D-7A7F-97E96BCE42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458200" cy="45323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sz="2600" dirty="0">
                <a:latin typeface="+mj-lt"/>
                <a:ea typeface="DM Sans"/>
                <a:cs typeface="DM Sans"/>
                <a:sym typeface="DM Sans"/>
              </a:rPr>
              <a:t>We need to change a View’s  response </a:t>
            </a:r>
            <a:r>
              <a:rPr lang="en-US" sz="2600" i="1" dirty="0">
                <a:latin typeface="+mj-lt"/>
                <a:ea typeface="DM Sans"/>
                <a:cs typeface="DM Sans"/>
                <a:sym typeface="DM Sans"/>
              </a:rPr>
              <a:t>behavior</a:t>
            </a:r>
            <a:r>
              <a:rPr lang="en-US" sz="2600" dirty="0">
                <a:latin typeface="+mj-lt"/>
                <a:ea typeface="DM Sans"/>
                <a:cs typeface="DM Sans"/>
                <a:sym typeface="DM Sans"/>
              </a:rPr>
              <a:t> without changing its visual presentation</a:t>
            </a:r>
            <a:endParaRPr lang="en-GB" altLang="tr-TR" sz="2600" dirty="0">
              <a:latin typeface="+mj-lt"/>
            </a:endParaRPr>
          </a:p>
          <a:p>
            <a:pPr lvl="1">
              <a:spcBef>
                <a:spcPts val="1200"/>
              </a:spcBef>
            </a:pPr>
            <a:r>
              <a:rPr lang="en-GB" altLang="tr-TR" sz="2400" dirty="0">
                <a:latin typeface="+mj-lt"/>
              </a:rPr>
              <a:t>E.g. change respond to a user action, for example, use a pop-up menu instead of a new page</a:t>
            </a:r>
          </a:p>
          <a:p>
            <a:pPr>
              <a:spcBef>
                <a:spcPts val="1200"/>
              </a:spcBef>
            </a:pPr>
            <a:r>
              <a:rPr lang="en-GB" altLang="tr-TR" sz="2600" dirty="0">
                <a:latin typeface="+mj-lt"/>
              </a:rPr>
              <a:t>MVC encapsulates the response mechanism in a separate object: the Controller</a:t>
            </a:r>
          </a:p>
          <a:p>
            <a:pPr lvl="1">
              <a:spcBef>
                <a:spcPts val="1200"/>
              </a:spcBef>
            </a:pPr>
            <a:r>
              <a:rPr lang="en-US" sz="2200" dirty="0">
                <a:latin typeface="+mj-lt"/>
                <a:ea typeface="DM Sans"/>
                <a:cs typeface="DM Sans"/>
                <a:sym typeface="DM Sans"/>
              </a:rPr>
              <a:t>View (JButton) knows </a:t>
            </a:r>
            <a:r>
              <a:rPr lang="en-US" sz="2200" i="1" dirty="0">
                <a:latin typeface="+mj-lt"/>
                <a:ea typeface="DM Sans"/>
                <a:cs typeface="DM Sans"/>
                <a:sym typeface="DM Sans"/>
              </a:rPr>
              <a:t>when</a:t>
            </a:r>
            <a:r>
              <a:rPr lang="en-US" sz="2200" dirty="0">
                <a:latin typeface="+mj-lt"/>
                <a:ea typeface="DM Sans"/>
                <a:cs typeface="DM Sans"/>
                <a:sym typeface="DM Sans"/>
              </a:rPr>
              <a:t> a click happens, but not </a:t>
            </a:r>
            <a:r>
              <a:rPr lang="en-US" sz="2200" i="1" dirty="0">
                <a:latin typeface="+mj-lt"/>
                <a:ea typeface="DM Sans"/>
                <a:cs typeface="DM Sans"/>
                <a:sym typeface="DM Sans"/>
              </a:rPr>
              <a:t>what</a:t>
            </a:r>
            <a:r>
              <a:rPr lang="en-US" sz="2200" dirty="0">
                <a:latin typeface="+mj-lt"/>
                <a:ea typeface="DM Sans"/>
                <a:cs typeface="DM Sans"/>
                <a:sym typeface="DM Sans"/>
              </a:rPr>
              <a:t> to do.</a:t>
            </a:r>
            <a:endParaRPr lang="en-US" sz="2200" dirty="0">
              <a:latin typeface="+mj-lt"/>
            </a:endParaRPr>
          </a:p>
          <a:p>
            <a:pPr lvl="1">
              <a:spcBef>
                <a:spcPts val="1200"/>
              </a:spcBef>
            </a:pPr>
            <a:r>
              <a:rPr lang="en-GB" altLang="tr-TR" sz="2400" dirty="0">
                <a:latin typeface="+mj-lt"/>
              </a:rPr>
              <a:t>View delegates it to the response policy: the Controller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E251BA2-CA89-ECCD-96E6-EEF3A203F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Pattern #2</a:t>
            </a:r>
            <a:endParaRPr lang="en-GB" altLang="tr-T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652F051-1076-5FF5-0505-F9D8AFD79B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GB" altLang="tr-TR" sz="2400" dirty="0"/>
              <a:t>A class hierarchy of controllers,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GB" altLang="tr-TR" sz="2000" dirty="0"/>
              <a:t>making it easy to create a new controller as a variation on an existing one.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GB" altLang="tr-TR" sz="2400" dirty="0"/>
              <a:t>A view uses an instance of a Controller subclass to implement a particular response policy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GB" altLang="tr-TR" sz="2000" dirty="0"/>
              <a:t>to implement a different response mechanism, simply replace the instance with a different kind of controller. 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GB" altLang="tr-TR" sz="2400" dirty="0"/>
              <a:t>Change a view's controller at run-time to change the way it responds to user input. 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GB" altLang="tr-TR" sz="2000" dirty="0"/>
              <a:t>For example, a view can be disabled so that it doesn't accept input simply by giving it a controller that ignores input events.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9F994C2-77CA-AF21-8250-CE6ED1055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 dirty="0"/>
              <a:t>Pattern #2 </a:t>
            </a:r>
            <a:endParaRPr lang="en-GB" altLang="tr-TR" dirty="0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97B244B-8AF2-6C3E-C452-9BD4BFF7BB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r>
              <a:rPr lang="en-GB" altLang="tr-TR" dirty="0"/>
              <a:t>The View-Controller relationship is an example of which design pattern?</a:t>
            </a:r>
          </a:p>
          <a:p>
            <a:endParaRPr lang="en-GB" altLang="tr-TR" dirty="0"/>
          </a:p>
          <a:p>
            <a:r>
              <a:rPr lang="en-GB" altLang="tr-TR" u="sng" dirty="0"/>
              <a:t>General problem</a:t>
            </a:r>
            <a:r>
              <a:rPr lang="en-GB" altLang="tr-TR" dirty="0"/>
              <a:t>:  we want to replace the algorithm either statically or dynamically;</a:t>
            </a:r>
          </a:p>
          <a:p>
            <a:pPr lvl="1"/>
            <a:r>
              <a:rPr lang="en-GB" altLang="tr-TR" dirty="0"/>
              <a:t> we have a lot of variants of the algorithm; </a:t>
            </a:r>
          </a:p>
          <a:p>
            <a:pPr lvl="1"/>
            <a:r>
              <a:rPr lang="en-GB" altLang="tr-TR" dirty="0"/>
              <a:t>or the algorithm has complex data structures that we want to encapsulate.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>
            <a:extLst>
              <a:ext uri="{FF2B5EF4-FFF2-40B4-BE49-F238E27FC236}">
                <a16:creationId xmlns:a16="http://schemas.microsoft.com/office/drawing/2014/main" id="{0DD50EF7-EDF5-31D3-7A9C-C1D670F09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325"/>
            <a:ext cx="8229600" cy="1371600"/>
          </a:xfrm>
        </p:spPr>
        <p:txBody>
          <a:bodyPr/>
          <a:lstStyle/>
          <a:p>
            <a:r>
              <a:rPr lang="en-US" altLang="tr-TR" dirty="0"/>
              <a:t>Pattern #2 -</a:t>
            </a:r>
            <a:r>
              <a:rPr lang="en-US" altLang="tr-TR" dirty="0">
                <a:solidFill>
                  <a:srgbClr val="C00000"/>
                </a:solidFill>
              </a:rPr>
              <a:t>Strategy</a:t>
            </a:r>
            <a:endParaRPr lang="en-GB" altLang="tr-TR" dirty="0">
              <a:solidFill>
                <a:srgbClr val="C00000"/>
              </a:solidFill>
            </a:endParaRPr>
          </a:p>
        </p:txBody>
      </p:sp>
      <p:pic>
        <p:nvPicPr>
          <p:cNvPr id="32771" name="Picture 5">
            <a:extLst>
              <a:ext uri="{FF2B5EF4-FFF2-40B4-BE49-F238E27FC236}">
                <a16:creationId xmlns:a16="http://schemas.microsoft.com/office/drawing/2014/main" id="{B3088DC2-7837-BD3C-0ABA-EF5B2F1CD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1938338"/>
            <a:ext cx="8202612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 Box 6">
            <a:extLst>
              <a:ext uri="{FF2B5EF4-FFF2-40B4-BE49-F238E27FC236}">
                <a16:creationId xmlns:a16="http://schemas.microsoft.com/office/drawing/2014/main" id="{2F96CEAB-FD6B-9BAD-456F-BFADA0E91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6335713"/>
            <a:ext cx="32670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400"/>
              <a:t>Figure from Head First Design Patterns</a:t>
            </a:r>
            <a:endParaRPr lang="en-GB" altLang="tr-TR" sz="1400"/>
          </a:p>
        </p:txBody>
      </p:sp>
      <p:sp>
        <p:nvSpPr>
          <p:cNvPr id="32773" name="Text Box 7">
            <a:extLst>
              <a:ext uri="{FF2B5EF4-FFF2-40B4-BE49-F238E27FC236}">
                <a16:creationId xmlns:a16="http://schemas.microsoft.com/office/drawing/2014/main" id="{0AE8A36E-631A-D7F3-EAC0-641B8DFAF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289050"/>
            <a:ext cx="6138863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tr-TR" sz="2400"/>
              <a:t>View is an object configured with a strategy</a:t>
            </a:r>
            <a:endParaRPr lang="en-GB" altLang="tr-TR" sz="2400"/>
          </a:p>
        </p:txBody>
      </p:sp>
      <p:sp>
        <p:nvSpPr>
          <p:cNvPr id="2" name="Google Shape;264;p24">
            <a:extLst>
              <a:ext uri="{FF2B5EF4-FFF2-40B4-BE49-F238E27FC236}">
                <a16:creationId xmlns:a16="http://schemas.microsoft.com/office/drawing/2014/main" id="{D79CA6B2-C899-D7C7-8C90-59D50633592A}"/>
              </a:ext>
            </a:extLst>
          </p:cNvPr>
          <p:cNvSpPr txBox="1"/>
          <p:nvPr/>
        </p:nvSpPr>
        <p:spPr>
          <a:xfrm>
            <a:off x="838200" y="5042899"/>
            <a:ext cx="67818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We can swap in a </a:t>
            </a:r>
            <a:r>
              <a:rPr lang="en-US" sz="1650" b="0" i="1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different</a:t>
            </a:r>
            <a:r>
              <a:rPr lang="en-US" sz="165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Controller to change the program’s behavior without touching the View's code.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F52739-F378-2899-B575-BC2C6295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Pattern#2  - alternative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73CC1-7B43-486A-6FA9-6EF59E638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382000" cy="5217909"/>
          </a:xfrm>
        </p:spPr>
        <p:txBody>
          <a:bodyPr/>
          <a:lstStyle/>
          <a:p>
            <a:r>
              <a:rPr lang="en-US" sz="2800" dirty="0"/>
              <a:t>In the classical MVC, the view is </a:t>
            </a:r>
            <a:r>
              <a:rPr lang="en-US" sz="2800" b="1" dirty="0"/>
              <a:t>directly </a:t>
            </a:r>
            <a:r>
              <a:rPr lang="en-US" sz="2800" dirty="0"/>
              <a:t>accessing the model to get data</a:t>
            </a:r>
          </a:p>
          <a:p>
            <a:pPr lvl="1"/>
            <a:r>
              <a:rPr lang="en-US" sz="2400" dirty="0"/>
              <a:t>Does </a:t>
            </a:r>
            <a:r>
              <a:rPr lang="en-US" sz="2400" b="1" u="sng" dirty="0"/>
              <a:t>not</a:t>
            </a:r>
            <a:r>
              <a:rPr lang="en-US" sz="2400" dirty="0"/>
              <a:t> happen in a mediator behavior</a:t>
            </a:r>
          </a:p>
          <a:p>
            <a:pPr lvl="1"/>
            <a:endParaRPr lang="en-US" sz="2400" dirty="0"/>
          </a:p>
          <a:p>
            <a:r>
              <a:rPr lang="en-US" sz="2800" b="1" dirty="0">
                <a:solidFill>
                  <a:srgbClr val="C00000"/>
                </a:solidFill>
              </a:rPr>
              <a:t>MVP</a:t>
            </a:r>
            <a:r>
              <a:rPr lang="en-US" sz="2800" dirty="0"/>
              <a:t>: model-view-presenter</a:t>
            </a:r>
          </a:p>
          <a:p>
            <a:pPr lvl="1"/>
            <a:r>
              <a:rPr lang="en-US" sz="2400" b="1" dirty="0">
                <a:solidFill>
                  <a:srgbClr val="C00000"/>
                </a:solidFill>
              </a:rPr>
              <a:t>Presenter acts as Mediator</a:t>
            </a:r>
          </a:p>
          <a:p>
            <a:pPr lvl="1"/>
            <a:r>
              <a:rPr lang="en-US" sz="2400" dirty="0"/>
              <a:t>Model data change notifies Presenter, then Presenter reflects the change in the view.</a:t>
            </a:r>
          </a:p>
          <a:p>
            <a:pPr lvl="2"/>
            <a:r>
              <a:rPr lang="en-US" b="0" i="0" dirty="0">
                <a:effectLst/>
                <a:highlight>
                  <a:srgbClr val="F3F3F3"/>
                </a:highlight>
                <a:latin typeface="SegoeUIVariable"/>
              </a:rPr>
              <a:t> </a:t>
            </a:r>
            <a:r>
              <a:rPr lang="en-US" sz="2200" dirty="0"/>
              <a:t>View does not access model at all.</a:t>
            </a:r>
          </a:p>
          <a:p>
            <a:pPr lvl="1"/>
            <a:r>
              <a:rPr lang="en-US" sz="2400" dirty="0"/>
              <a:t>View sends user interactions to Presenter, then Presenter invokes the model accordingly.</a:t>
            </a:r>
          </a:p>
        </p:txBody>
      </p:sp>
    </p:spTree>
    <p:extLst>
      <p:ext uri="{BB962C8B-B14F-4D97-AF65-F5344CB8AC3E}">
        <p14:creationId xmlns:p14="http://schemas.microsoft.com/office/powerpoint/2010/main" val="4115801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FFDE9BD-7F3B-7937-3B31-1E779003F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MVC – The View</a:t>
            </a:r>
            <a:endParaRPr lang="en-GB" altLang="tr-TR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D37D464-D090-3447-04B1-DFB53688F9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sz="2800" dirty="0"/>
              <a:t>Views can be nested</a:t>
            </a:r>
          </a:p>
          <a:p>
            <a:pPr lvl="1">
              <a:lnSpc>
                <a:spcPct val="90000"/>
              </a:lnSpc>
            </a:pPr>
            <a:r>
              <a:rPr lang="en-GB" altLang="tr-TR" sz="2400" dirty="0"/>
              <a:t>E.g. a control panel of buttons containing nested button views. </a:t>
            </a:r>
          </a:p>
          <a:p>
            <a:pPr lvl="1">
              <a:lnSpc>
                <a:spcPct val="90000"/>
              </a:lnSpc>
            </a:pPr>
            <a:r>
              <a:rPr lang="en-GB" altLang="tr-TR" sz="2400" dirty="0"/>
              <a:t>E.g. The user interface for an object inspector can consist of nested views that may be reused in a debugger. </a:t>
            </a:r>
          </a:p>
          <a:p>
            <a:pPr>
              <a:lnSpc>
                <a:spcPct val="90000"/>
              </a:lnSpc>
            </a:pPr>
            <a:r>
              <a:rPr lang="en-US" altLang="tr-TR" sz="2800" dirty="0"/>
              <a:t>This is the standard now with GUI frameworks.</a:t>
            </a:r>
          </a:p>
          <a:p>
            <a:pPr lvl="1">
              <a:lnSpc>
                <a:spcPct val="90000"/>
              </a:lnSpc>
            </a:pPr>
            <a:r>
              <a:rPr lang="en-US" altLang="tr-TR" sz="2400" dirty="0"/>
              <a:t>It is the norm that we don’t realize the pattern anymore </a:t>
            </a:r>
            <a:r>
              <a:rPr lang="en-US" altLang="tr-TR" sz="2400" dirty="0">
                <a:sym typeface="Wingdings" panose="05000000000000000000" pitchFamily="2" charset="2"/>
              </a:rPr>
              <a:t></a:t>
            </a:r>
            <a:endParaRPr lang="en-US" altLang="tr-TR" sz="2400" dirty="0"/>
          </a:p>
          <a:p>
            <a:pPr>
              <a:lnSpc>
                <a:spcPct val="90000"/>
              </a:lnSpc>
            </a:pPr>
            <a:r>
              <a:rPr lang="en-GB" altLang="tr-TR" sz="2800" dirty="0"/>
              <a:t>When the controller tells the view to update, it only needs to tell the top view component</a:t>
            </a:r>
          </a:p>
          <a:p>
            <a:pPr lvl="1">
              <a:lnSpc>
                <a:spcPct val="90000"/>
              </a:lnSpc>
            </a:pPr>
            <a:r>
              <a:rPr lang="en-US" sz="2400" dirty="0" err="1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E.g</a:t>
            </a:r>
            <a:r>
              <a:rPr lang="en-US" sz="2400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 When a Frame is told to update, it tells its children, like Panel`s, to update, and so on.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6B5A608-EA8C-366E-6F76-2A439C4E5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Pattern #3</a:t>
            </a:r>
            <a:endParaRPr lang="en-GB" altLang="tr-TR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13F21972-2FED-6006-815D-20BC4CE7B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r>
              <a:rPr lang="en-US" altLang="tr-TR" sz="2800" dirty="0"/>
              <a:t>MVC supports nested views</a:t>
            </a:r>
          </a:p>
          <a:p>
            <a:pPr lvl="1"/>
            <a:r>
              <a:rPr lang="en-GB" altLang="tr-TR" sz="2400" dirty="0"/>
              <a:t>A composite view can be used wherever a view can be used, but it also contains and manages nested views.</a:t>
            </a:r>
          </a:p>
          <a:p>
            <a:r>
              <a:rPr lang="en-GB" altLang="tr-TR" sz="2800" dirty="0"/>
              <a:t>When the controller tells the view to update, it only needs to tell the top view component</a:t>
            </a:r>
          </a:p>
          <a:p>
            <a:r>
              <a:rPr lang="en-US" altLang="tr-TR" sz="2800" dirty="0"/>
              <a:t>The pattern is ….</a:t>
            </a:r>
          </a:p>
          <a:p>
            <a:pPr lvl="1"/>
            <a:r>
              <a:rPr lang="en-US" altLang="tr-TR" sz="2400" u="sng" dirty="0"/>
              <a:t>general problem:</a:t>
            </a:r>
            <a:r>
              <a:rPr lang="en-US" altLang="tr-TR" sz="2400" dirty="0"/>
              <a:t> We want to group objects and treat the group like an individual object and give a part-whole hierarchy.</a:t>
            </a:r>
            <a:endParaRPr lang="en-GB" altLang="tr-TR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7E1970F-B73C-7836-0263-A0B1FEF59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325"/>
            <a:ext cx="8229600" cy="1371600"/>
          </a:xfrm>
        </p:spPr>
        <p:txBody>
          <a:bodyPr/>
          <a:lstStyle/>
          <a:p>
            <a:r>
              <a:rPr lang="en-US" altLang="tr-TR"/>
              <a:t>Pattern #3</a:t>
            </a:r>
            <a:endParaRPr lang="en-GB" altLang="tr-TR"/>
          </a:p>
        </p:txBody>
      </p:sp>
      <p:pic>
        <p:nvPicPr>
          <p:cNvPr id="35843" name="Picture 3">
            <a:extLst>
              <a:ext uri="{FF2B5EF4-FFF2-40B4-BE49-F238E27FC236}">
                <a16:creationId xmlns:a16="http://schemas.microsoft.com/office/drawing/2014/main" id="{C1984BFC-60AE-EC8B-4D87-1C1621A9C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7543800" cy="343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4" name="Text Box 4">
            <a:extLst>
              <a:ext uri="{FF2B5EF4-FFF2-40B4-BE49-F238E27FC236}">
                <a16:creationId xmlns:a16="http://schemas.microsoft.com/office/drawing/2014/main" id="{1A5816FD-3542-48E4-3BD2-860A2A884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6324600"/>
            <a:ext cx="32670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400"/>
              <a:t>Figure from Head First Design Patterns</a:t>
            </a:r>
            <a:endParaRPr lang="en-GB" altLang="tr-TR" sz="1400"/>
          </a:p>
        </p:txBody>
      </p:sp>
      <p:sp>
        <p:nvSpPr>
          <p:cNvPr id="2" name="Google Shape;351;p29">
            <a:extLst>
              <a:ext uri="{FF2B5EF4-FFF2-40B4-BE49-F238E27FC236}">
                <a16:creationId xmlns:a16="http://schemas.microsoft.com/office/drawing/2014/main" id="{CE979DBD-4C4B-6F3F-11FB-D4AB5AF098B3}"/>
              </a:ext>
            </a:extLst>
          </p:cNvPr>
          <p:cNvSpPr txBox="1"/>
          <p:nvPr/>
        </p:nvSpPr>
        <p:spPr>
          <a:xfrm>
            <a:off x="457200" y="5470979"/>
            <a:ext cx="80010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2C3E50"/>
                </a:solidFill>
                <a:latin typeface="DM Sans"/>
                <a:ea typeface="DM Sans"/>
                <a:cs typeface="DM Sans"/>
                <a:sym typeface="DM Sans"/>
              </a:rPr>
              <a:t>The paint() or update() travels down the tree, and each object knows how to draw itself.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BC6514CF-D750-78A0-E81D-FF581E53A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/>
              <a:t>Patterns in MVC</a:t>
            </a:r>
            <a:endParaRPr lang="en-GB" altLang="tr-TR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14207281-B362-8035-0B7D-067C232E52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r>
              <a:rPr lang="en-US" altLang="tr-TR" dirty="0"/>
              <a:t>Model</a:t>
            </a:r>
          </a:p>
          <a:p>
            <a:pPr lvl="1"/>
            <a:r>
              <a:rPr lang="en-US" altLang="tr-TR" dirty="0"/>
              <a:t>Observer: model notifies views and controllers</a:t>
            </a:r>
          </a:p>
          <a:p>
            <a:r>
              <a:rPr lang="en-US" altLang="tr-TR" dirty="0"/>
              <a:t>View</a:t>
            </a:r>
          </a:p>
          <a:p>
            <a:pPr lvl="1"/>
            <a:r>
              <a:rPr lang="en-US" altLang="tr-TR" dirty="0"/>
              <a:t>Composite: view elements in a hierarchy</a:t>
            </a:r>
          </a:p>
          <a:p>
            <a:r>
              <a:rPr lang="en-US" altLang="tr-TR" dirty="0"/>
              <a:t>Controller</a:t>
            </a:r>
          </a:p>
          <a:p>
            <a:pPr lvl="1"/>
            <a:r>
              <a:rPr lang="en-US" altLang="tr-TR" dirty="0"/>
              <a:t>Strategy: controller is the action strategy of the view</a:t>
            </a:r>
          </a:p>
          <a:p>
            <a:pPr lvl="1"/>
            <a:endParaRPr lang="en-US" altLang="tr-TR" dirty="0"/>
          </a:p>
          <a:p>
            <a:pPr lvl="1"/>
            <a:r>
              <a:rPr lang="en-US" altLang="tr-TR" dirty="0"/>
              <a:t>Adapter also comes along (adapt a new model to an existing view &amp; controller)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>
            <a:extLst>
              <a:ext uri="{FF2B5EF4-FFF2-40B4-BE49-F238E27FC236}">
                <a16:creationId xmlns:a16="http://schemas.microsoft.com/office/drawing/2014/main" id="{1E6959CC-E7A5-AFF9-6A19-531D438E4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0325"/>
            <a:ext cx="8229600" cy="1371600"/>
          </a:xfrm>
        </p:spPr>
        <p:txBody>
          <a:bodyPr/>
          <a:lstStyle/>
          <a:p>
            <a:r>
              <a:rPr lang="en-US" altLang="tr-TR"/>
              <a:t>Collaborations in MVC </a:t>
            </a:r>
            <a:endParaRPr lang="en-GB" altLang="tr-TR"/>
          </a:p>
        </p:txBody>
      </p:sp>
      <p:pic>
        <p:nvPicPr>
          <p:cNvPr id="39939" name="Picture 7">
            <a:extLst>
              <a:ext uri="{FF2B5EF4-FFF2-40B4-BE49-F238E27FC236}">
                <a16:creationId xmlns:a16="http://schemas.microsoft.com/office/drawing/2014/main" id="{0780A270-3428-F736-EAB9-031EA856B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7778750" cy="427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Text Box 8">
            <a:extLst>
              <a:ext uri="{FF2B5EF4-FFF2-40B4-BE49-F238E27FC236}">
                <a16:creationId xmlns:a16="http://schemas.microsoft.com/office/drawing/2014/main" id="{B2BC2A28-4D1B-2572-5406-733F280A9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6335713"/>
            <a:ext cx="32670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400"/>
              <a:t>Figure from Head First Design Patterns</a:t>
            </a:r>
            <a:endParaRPr lang="en-GB" altLang="tr-TR" sz="1400"/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3" descr="mvc-structure-generic">
            <a:extLst>
              <a:ext uri="{FF2B5EF4-FFF2-40B4-BE49-F238E27FC236}">
                <a16:creationId xmlns:a16="http://schemas.microsoft.com/office/drawing/2014/main" id="{1D49B7C2-5CCE-EAB8-19D5-60C0793F8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9" y="922337"/>
            <a:ext cx="71628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 Box 4">
            <a:extLst>
              <a:ext uri="{FF2B5EF4-FFF2-40B4-BE49-F238E27FC236}">
                <a16:creationId xmlns:a16="http://schemas.microsoft.com/office/drawing/2014/main" id="{5B99755A-E966-3B9F-4AAC-8A002DFFF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400800"/>
            <a:ext cx="667543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tr-TR" sz="1000"/>
              <a:t>Figure from http://java.sun.com/blueprints/guidelines/designing_enterprise_applications_2e/app-arch/app-arch2.html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915D0-E560-CC37-A833-EC366197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Merriweather"/>
                <a:cs typeface="Merriweather"/>
                <a:sym typeface="Merriweather"/>
              </a:rPr>
              <a:t>Passive Model Collaboration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A4D2-721B-B4E1-391E-2F157887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68ADB-20CE-68B5-3F63-1DF74FE6E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291"/>
            <a:ext cx="8305800" cy="5383557"/>
          </a:xfrm>
        </p:spPr>
        <p:txBody>
          <a:bodyPr/>
          <a:lstStyle/>
          <a:p>
            <a:r>
              <a:rPr lang="en-US" sz="2400" dirty="0"/>
              <a:t>MVC is an architectural pattern for GUI based software</a:t>
            </a:r>
          </a:p>
          <a:p>
            <a:r>
              <a:rPr lang="en-US" sz="2400" dirty="0"/>
              <a:t>Model2, or MVC2 for web development</a:t>
            </a:r>
          </a:p>
          <a:p>
            <a:pPr lvl="1"/>
            <a:r>
              <a:rPr lang="en-US" sz="2000" dirty="0"/>
              <a:t>Servlet as the controller</a:t>
            </a:r>
          </a:p>
          <a:p>
            <a:pPr lvl="1"/>
            <a:r>
              <a:rPr lang="en-US" sz="2000" dirty="0"/>
              <a:t>JSP is the View producing HTML</a:t>
            </a:r>
          </a:p>
          <a:p>
            <a:r>
              <a:rPr lang="en-US" sz="2400" dirty="0"/>
              <a:t>MVP: Presenter acts as Mediator</a:t>
            </a:r>
          </a:p>
          <a:p>
            <a:pPr lvl="1"/>
            <a:r>
              <a:rPr lang="en-US" sz="2000" dirty="0"/>
              <a:t>When model changes, presenter updates the view</a:t>
            </a:r>
          </a:p>
          <a:p>
            <a:pPr lvl="1"/>
            <a:r>
              <a:rPr lang="en-US" sz="2000" dirty="0"/>
              <a:t>Presenter implements the UI logic</a:t>
            </a:r>
          </a:p>
          <a:p>
            <a:r>
              <a:rPr lang="en-US" sz="2400" dirty="0"/>
              <a:t>MVVP: Model-View-</a:t>
            </a:r>
            <a:r>
              <a:rPr lang="en-US" sz="2400" dirty="0" err="1"/>
              <a:t>ViewModel</a:t>
            </a:r>
            <a:endParaRPr lang="en-US" sz="2400" dirty="0"/>
          </a:p>
          <a:p>
            <a:pPr lvl="1"/>
            <a:r>
              <a:rPr lang="en-US" sz="2400" dirty="0">
                <a:latin typeface="DM Sans"/>
                <a:ea typeface="DM Sans"/>
                <a:cs typeface="DM Sans"/>
                <a:sym typeface="DM Sans"/>
              </a:rPr>
              <a:t>"Passive Model" is its direct ancestor.</a:t>
            </a:r>
            <a:endParaRPr lang="en-US" sz="2400" dirty="0"/>
          </a:p>
          <a:p>
            <a:pPr lvl="1"/>
            <a:r>
              <a:rPr lang="en-US" sz="2000" dirty="0" err="1">
                <a:latin typeface="DM Sans"/>
                <a:ea typeface="DM Sans"/>
                <a:cs typeface="DM Sans"/>
                <a:sym typeface="DM Sans"/>
              </a:rPr>
              <a:t>ViewModel</a:t>
            </a:r>
            <a:r>
              <a:rPr lang="en-US" sz="2000" dirty="0">
                <a:latin typeface="DM Sans"/>
                <a:ea typeface="DM Sans"/>
                <a:cs typeface="DM Sans"/>
                <a:sym typeface="DM Sans"/>
              </a:rPr>
              <a:t> is the state of the View. </a:t>
            </a:r>
          </a:p>
          <a:p>
            <a:pPr lvl="1"/>
            <a:r>
              <a:rPr lang="en-US" sz="2000" dirty="0"/>
              <a:t>Changes in the </a:t>
            </a:r>
            <a:r>
              <a:rPr lang="en-US" sz="2000" dirty="0" err="1"/>
              <a:t>ViewModel</a:t>
            </a:r>
            <a:r>
              <a:rPr lang="en-US" sz="2000" dirty="0"/>
              <a:t> automatically update the View, and vice versa.</a:t>
            </a:r>
          </a:p>
          <a:p>
            <a:pPr lvl="2"/>
            <a:r>
              <a:rPr lang="en-US" sz="1600" dirty="0"/>
              <a:t>Two-way data binding between View and </a:t>
            </a:r>
            <a:r>
              <a:rPr lang="en-US" sz="1600" dirty="0" err="1"/>
              <a:t>ViewModel</a:t>
            </a:r>
            <a:endParaRPr lang="en-US" sz="1600" dirty="0"/>
          </a:p>
          <a:p>
            <a:pPr lvl="2"/>
            <a:r>
              <a:rPr lang="en-US" sz="1600" dirty="0"/>
              <a:t>https://learn.microsoft.com/en-us/dotnet/architecture/maui/mvvm</a:t>
            </a:r>
          </a:p>
        </p:txBody>
      </p:sp>
    </p:spTree>
    <p:extLst>
      <p:ext uri="{BB962C8B-B14F-4D97-AF65-F5344CB8AC3E}">
        <p14:creationId xmlns:p14="http://schemas.microsoft.com/office/powerpoint/2010/main" val="33100979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3864-3AA4-4F2C-981F-D614968D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F00B4-865A-B9DE-9E58-C08491A69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spcBef>
                <a:spcPts val="900"/>
              </a:spcBef>
              <a:buNone/>
            </a:pPr>
            <a:endParaRPr lang="en-US" b="1" i="0" dirty="0">
              <a:solidFill>
                <a:srgbClr val="111111"/>
              </a:solidFill>
              <a:effectLst/>
              <a:latin typeface="-apple-system"/>
            </a:endParaRPr>
          </a:p>
          <a:p>
            <a:pPr algn="l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Separation of Concerns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The application is divided into three components: Model, View, and Controller.</a:t>
            </a:r>
          </a:p>
          <a:p>
            <a:pPr algn="l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Easier to Maintain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Changes in one component do not affect the others.</a:t>
            </a:r>
          </a:p>
          <a:p>
            <a:pPr algn="l"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Improved Testability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: Each component can be tested independently.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37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E612526-4E2D-CAF2-C1E3-A78331D807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9700"/>
            <a:ext cx="8229600" cy="1371600"/>
          </a:xfrm>
        </p:spPr>
        <p:txBody>
          <a:bodyPr/>
          <a:lstStyle/>
          <a:p>
            <a:r>
              <a:rPr lang="en-US" altLang="tr-TR" dirty="0"/>
              <a:t>Recap: MVC</a:t>
            </a:r>
            <a:endParaRPr lang="en-GB" altLang="tr-TR" dirty="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8E5B0E9-24CC-9515-6B18-E57E970D04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35088"/>
            <a:ext cx="8229600" cy="4532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dirty="0"/>
              <a:t>View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A display of the model (its state and data)</a:t>
            </a:r>
          </a:p>
          <a:p>
            <a:pPr>
              <a:lnSpc>
                <a:spcPct val="90000"/>
              </a:lnSpc>
            </a:pPr>
            <a:r>
              <a:rPr lang="en-US" altLang="tr-TR" dirty="0"/>
              <a:t>Controller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Takes user input and figures out what it means to the model</a:t>
            </a:r>
          </a:p>
          <a:p>
            <a:pPr lvl="2">
              <a:lnSpc>
                <a:spcPct val="90000"/>
              </a:lnSpc>
            </a:pPr>
            <a:r>
              <a:rPr lang="en-US" altLang="tr-TR" dirty="0"/>
              <a:t>Call model methods and view method to change them according to user interaction</a:t>
            </a:r>
          </a:p>
          <a:p>
            <a:pPr>
              <a:lnSpc>
                <a:spcPct val="90000"/>
              </a:lnSpc>
            </a:pPr>
            <a:r>
              <a:rPr lang="en-US" altLang="tr-TR" dirty="0"/>
              <a:t>Model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Holds data, state and application logic</a:t>
            </a:r>
          </a:p>
          <a:p>
            <a:pPr lvl="1">
              <a:lnSpc>
                <a:spcPct val="90000"/>
              </a:lnSpc>
            </a:pPr>
            <a:r>
              <a:rPr lang="en-US" altLang="tr-TR" dirty="0"/>
              <a:t>Unaware of the controllers and the views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GB" altLang="tr-T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3724A5-ECAA-BC07-B72B-A4A9E71C9729}"/>
              </a:ext>
            </a:extLst>
          </p:cNvPr>
          <p:cNvSpPr txBox="1"/>
          <p:nvPr/>
        </p:nvSpPr>
        <p:spPr>
          <a:xfrm>
            <a:off x="228600" y="6477000"/>
            <a:ext cx="76482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the code example in the head first design pattern book</a:t>
            </a:r>
          </a:p>
          <a:p>
            <a:r>
              <a:rPr lang="en-US" dirty="0"/>
              <a:t> https://courses.cs.duke.edu/compsci308/spring24/readings/mvc-hfdp.pdf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1" id="{393727C7-4C0B-4C8A-960B-21573C88EF42}" vid="{72BF777F-C220-4904-8C2B-017C5ED9CE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7048</TotalTime>
  <Words>2296</Words>
  <Application>Microsoft Office PowerPoint</Application>
  <PresentationFormat>On-screen Show (4:3)</PresentationFormat>
  <Paragraphs>319</Paragraphs>
  <Slides>35</Slides>
  <Notes>12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-apple-system</vt:lpstr>
      <vt:lpstr>Aptos</vt:lpstr>
      <vt:lpstr>Arial</vt:lpstr>
      <vt:lpstr>Arial Black</vt:lpstr>
      <vt:lpstr>Calibri</vt:lpstr>
      <vt:lpstr>DM Sans</vt:lpstr>
      <vt:lpstr>Merriweather</vt:lpstr>
      <vt:lpstr>SegoeUIVariable</vt:lpstr>
      <vt:lpstr>Times New Roman</vt:lpstr>
      <vt:lpstr>Wingdings</vt:lpstr>
      <vt:lpstr>Theme1</vt:lpstr>
      <vt:lpstr>Compound patterns</vt:lpstr>
      <vt:lpstr>PowerPoint Presentation</vt:lpstr>
      <vt:lpstr>Compound patterns</vt:lpstr>
      <vt:lpstr>Model View Controller</vt:lpstr>
      <vt:lpstr>Life without MVC</vt:lpstr>
      <vt:lpstr>Life without MVC</vt:lpstr>
      <vt:lpstr>Developing UI w/o separation</vt:lpstr>
      <vt:lpstr>Separate Model and View</vt:lpstr>
      <vt:lpstr>Reuse is easy</vt:lpstr>
      <vt:lpstr>One Model and Many Views</vt:lpstr>
      <vt:lpstr>More decoupling…</vt:lpstr>
      <vt:lpstr>MVC – the Controller</vt:lpstr>
      <vt:lpstr>Separate the  concerns</vt:lpstr>
      <vt:lpstr>MVC–Responsibilities</vt:lpstr>
      <vt:lpstr>MVC enables</vt:lpstr>
      <vt:lpstr>Problem1 -- Pattern #1</vt:lpstr>
      <vt:lpstr>Pattern #1</vt:lpstr>
      <vt:lpstr>Pattern #1</vt:lpstr>
      <vt:lpstr>Pattern #1: Observer</vt:lpstr>
      <vt:lpstr>Observer pattern</vt:lpstr>
      <vt:lpstr>Pattern #1: Observer</vt:lpstr>
      <vt:lpstr>Problem2 --Pattern #2</vt:lpstr>
      <vt:lpstr>Pattern #2</vt:lpstr>
      <vt:lpstr>Pattern #2 </vt:lpstr>
      <vt:lpstr>Pattern #2 -Strategy</vt:lpstr>
      <vt:lpstr>Pattern#2  - alternative</vt:lpstr>
      <vt:lpstr>MVC – The View</vt:lpstr>
      <vt:lpstr>Pattern #3</vt:lpstr>
      <vt:lpstr>Pattern #3</vt:lpstr>
      <vt:lpstr>Patterns in MVC</vt:lpstr>
      <vt:lpstr>Collaborations in MVC </vt:lpstr>
      <vt:lpstr>Passive Model Collaboration</vt:lpstr>
      <vt:lpstr>Variations</vt:lpstr>
      <vt:lpstr>With MVC</vt:lpstr>
      <vt:lpstr>Recap: MVC</vt:lpstr>
    </vt:vector>
  </TitlesOfParts>
  <Company>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patterns</dc:title>
  <dc:creator>Tolga Can</dc:creator>
  <cp:lastModifiedBy>Aysu Betin Can</cp:lastModifiedBy>
  <cp:revision>92</cp:revision>
  <dcterms:created xsi:type="dcterms:W3CDTF">2008-05-04T20:38:29Z</dcterms:created>
  <dcterms:modified xsi:type="dcterms:W3CDTF">2025-11-12T21:36:37Z</dcterms:modified>
</cp:coreProperties>
</file>