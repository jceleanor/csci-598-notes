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77"/>
  </p:notesMasterIdLst>
  <p:handoutMasterIdLst>
    <p:handoutMasterId r:id="rId78"/>
  </p:handoutMasterIdLst>
  <p:sldIdLst>
    <p:sldId id="447" r:id="rId2"/>
    <p:sldId id="527" r:id="rId3"/>
    <p:sldId id="389" r:id="rId4"/>
    <p:sldId id="359" r:id="rId5"/>
    <p:sldId id="497" r:id="rId6"/>
    <p:sldId id="498" r:id="rId7"/>
    <p:sldId id="499" r:id="rId8"/>
    <p:sldId id="515" r:id="rId9"/>
    <p:sldId id="516" r:id="rId10"/>
    <p:sldId id="391" r:id="rId11"/>
    <p:sldId id="509" r:id="rId12"/>
    <p:sldId id="500" r:id="rId13"/>
    <p:sldId id="506" r:id="rId14"/>
    <p:sldId id="525" r:id="rId15"/>
    <p:sldId id="508" r:id="rId16"/>
    <p:sldId id="452" r:id="rId17"/>
    <p:sldId id="526" r:id="rId18"/>
    <p:sldId id="361" r:id="rId19"/>
    <p:sldId id="496" r:id="rId20"/>
    <p:sldId id="415" r:id="rId21"/>
    <p:sldId id="455" r:id="rId22"/>
    <p:sldId id="454" r:id="rId23"/>
    <p:sldId id="456" r:id="rId24"/>
    <p:sldId id="448" r:id="rId25"/>
    <p:sldId id="472" r:id="rId26"/>
    <p:sldId id="520" r:id="rId27"/>
    <p:sldId id="351" r:id="rId28"/>
    <p:sldId id="523" r:id="rId29"/>
    <p:sldId id="522" r:id="rId30"/>
    <p:sldId id="475" r:id="rId31"/>
    <p:sldId id="524" r:id="rId32"/>
    <p:sldId id="476" r:id="rId33"/>
    <p:sldId id="477" r:id="rId34"/>
    <p:sldId id="478" r:id="rId35"/>
    <p:sldId id="390" r:id="rId36"/>
    <p:sldId id="408" r:id="rId37"/>
    <p:sldId id="479" r:id="rId38"/>
    <p:sldId id="412" r:id="rId39"/>
    <p:sldId id="411" r:id="rId40"/>
    <p:sldId id="480" r:id="rId41"/>
    <p:sldId id="481" r:id="rId42"/>
    <p:sldId id="488" r:id="rId43"/>
    <p:sldId id="487" r:id="rId44"/>
    <p:sldId id="482" r:id="rId45"/>
    <p:sldId id="443" r:id="rId46"/>
    <p:sldId id="489" r:id="rId47"/>
    <p:sldId id="490" r:id="rId48"/>
    <p:sldId id="492" r:id="rId49"/>
    <p:sldId id="491" r:id="rId50"/>
    <p:sldId id="484" r:id="rId51"/>
    <p:sldId id="439" r:id="rId52"/>
    <p:sldId id="486" r:id="rId53"/>
    <p:sldId id="493" r:id="rId54"/>
    <p:sldId id="442" r:id="rId55"/>
    <p:sldId id="494" r:id="rId56"/>
    <p:sldId id="423" r:id="rId57"/>
    <p:sldId id="421" r:id="rId58"/>
    <p:sldId id="422" r:id="rId59"/>
    <p:sldId id="418" r:id="rId60"/>
    <p:sldId id="419" r:id="rId61"/>
    <p:sldId id="420" r:id="rId62"/>
    <p:sldId id="469" r:id="rId63"/>
    <p:sldId id="416" r:id="rId64"/>
    <p:sldId id="495" r:id="rId65"/>
    <p:sldId id="431" r:id="rId66"/>
    <p:sldId id="427" r:id="rId67"/>
    <p:sldId id="428" r:id="rId68"/>
    <p:sldId id="429" r:id="rId69"/>
    <p:sldId id="430" r:id="rId70"/>
    <p:sldId id="432" r:id="rId71"/>
    <p:sldId id="433" r:id="rId72"/>
    <p:sldId id="434" r:id="rId73"/>
    <p:sldId id="435" r:id="rId74"/>
    <p:sldId id="436" r:id="rId75"/>
    <p:sldId id="437" r:id="rId76"/>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4500" autoAdjust="0"/>
  </p:normalViewPr>
  <p:slideViewPr>
    <p:cSldViewPr>
      <p:cViewPr varScale="1">
        <p:scale>
          <a:sx n="93" d="100"/>
          <a:sy n="93" d="100"/>
        </p:scale>
        <p:origin x="2124" y="90"/>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handoutMaster" Target="handoutMasters/handoutMaster1.xml"/><Relationship Id="rId8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1074" name="Rectangle 2">
            <a:extLst>
              <a:ext uri="{FF2B5EF4-FFF2-40B4-BE49-F238E27FC236}">
                <a16:creationId xmlns:a16="http://schemas.microsoft.com/office/drawing/2014/main" id="{1110A165-97D2-492A-B85F-0DC6FAFFAF1F}"/>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Arial" charset="0"/>
              </a:defRPr>
            </a:lvl1pPr>
          </a:lstStyle>
          <a:p>
            <a:pPr>
              <a:defRPr/>
            </a:pPr>
            <a:endParaRPr lang="en-US"/>
          </a:p>
        </p:txBody>
      </p:sp>
      <p:sp>
        <p:nvSpPr>
          <p:cNvPr id="131075" name="Rectangle 3">
            <a:extLst>
              <a:ext uri="{FF2B5EF4-FFF2-40B4-BE49-F238E27FC236}">
                <a16:creationId xmlns:a16="http://schemas.microsoft.com/office/drawing/2014/main" id="{CEBEC370-CA26-4DFA-BA00-028C4DEB68EA}"/>
              </a:ext>
            </a:extLst>
          </p:cNvPr>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defRPr>
            </a:lvl1pPr>
          </a:lstStyle>
          <a:p>
            <a:pPr>
              <a:defRPr/>
            </a:pPr>
            <a:endParaRPr lang="en-US"/>
          </a:p>
        </p:txBody>
      </p:sp>
      <p:sp>
        <p:nvSpPr>
          <p:cNvPr id="131076" name="Rectangle 4">
            <a:extLst>
              <a:ext uri="{FF2B5EF4-FFF2-40B4-BE49-F238E27FC236}">
                <a16:creationId xmlns:a16="http://schemas.microsoft.com/office/drawing/2014/main" id="{58D583C0-04B5-4868-9DD8-A07C0F2EC4B7}"/>
              </a:ext>
            </a:extLst>
          </p:cNvPr>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charset="0"/>
              </a:defRPr>
            </a:lvl1pPr>
          </a:lstStyle>
          <a:p>
            <a:pPr>
              <a:defRPr/>
            </a:pPr>
            <a:endParaRPr lang="en-US"/>
          </a:p>
        </p:txBody>
      </p:sp>
      <p:sp>
        <p:nvSpPr>
          <p:cNvPr id="131077" name="Rectangle 5">
            <a:extLst>
              <a:ext uri="{FF2B5EF4-FFF2-40B4-BE49-F238E27FC236}">
                <a16:creationId xmlns:a16="http://schemas.microsoft.com/office/drawing/2014/main" id="{277804CD-AD63-4737-B9B6-2D6E0A80849E}"/>
              </a:ext>
            </a:extLst>
          </p:cNvPr>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fld id="{BDFB0EB6-1472-4CF7-BC0D-E2D9C0DBACD6}" type="slidenum">
              <a:rPr lang="en-US" altLang="en-US"/>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74411D34-FDD5-4DAF-AD9C-092D330D1833}"/>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Arial" charset="0"/>
              </a:defRPr>
            </a:lvl1pPr>
          </a:lstStyle>
          <a:p>
            <a:pPr>
              <a:defRPr/>
            </a:pPr>
            <a:endParaRPr lang="en-US"/>
          </a:p>
        </p:txBody>
      </p:sp>
      <p:sp>
        <p:nvSpPr>
          <p:cNvPr id="32771" name="Rectangle 3">
            <a:extLst>
              <a:ext uri="{FF2B5EF4-FFF2-40B4-BE49-F238E27FC236}">
                <a16:creationId xmlns:a16="http://schemas.microsoft.com/office/drawing/2014/main" id="{CC098A8B-F1E8-489F-8F80-3502E25372C2}"/>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defRPr>
            </a:lvl1pPr>
          </a:lstStyle>
          <a:p>
            <a:pPr>
              <a:defRPr/>
            </a:pPr>
            <a:endParaRPr lang="en-US"/>
          </a:p>
        </p:txBody>
      </p:sp>
      <p:sp>
        <p:nvSpPr>
          <p:cNvPr id="2052" name="Rectangle 4">
            <a:extLst>
              <a:ext uri="{FF2B5EF4-FFF2-40B4-BE49-F238E27FC236}">
                <a16:creationId xmlns:a16="http://schemas.microsoft.com/office/drawing/2014/main" id="{506E8AE3-13B8-477B-AEDA-C90B83BC104B}"/>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3" name="Rectangle 5">
            <a:extLst>
              <a:ext uri="{FF2B5EF4-FFF2-40B4-BE49-F238E27FC236}">
                <a16:creationId xmlns:a16="http://schemas.microsoft.com/office/drawing/2014/main" id="{F765BB20-482E-4DD5-A8DC-CC576F4FE826}"/>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2774" name="Rectangle 6">
            <a:extLst>
              <a:ext uri="{FF2B5EF4-FFF2-40B4-BE49-F238E27FC236}">
                <a16:creationId xmlns:a16="http://schemas.microsoft.com/office/drawing/2014/main" id="{5E32C1A4-38FD-486E-8D76-204737E4842F}"/>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charset="0"/>
              </a:defRPr>
            </a:lvl1pPr>
          </a:lstStyle>
          <a:p>
            <a:pPr>
              <a:defRPr/>
            </a:pPr>
            <a:endParaRPr lang="en-US"/>
          </a:p>
        </p:txBody>
      </p:sp>
      <p:sp>
        <p:nvSpPr>
          <p:cNvPr id="32775" name="Rectangle 7">
            <a:extLst>
              <a:ext uri="{FF2B5EF4-FFF2-40B4-BE49-F238E27FC236}">
                <a16:creationId xmlns:a16="http://schemas.microsoft.com/office/drawing/2014/main" id="{7FEC3753-1BA5-4AE9-9987-211FA9B46F78}"/>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fld id="{59526492-DB80-4875-B101-22338C9166D0}"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refactoring.guru/design-patterns/iterator" TargetMode="External"/><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know </a:t>
            </a:r>
            <a:r>
              <a:rPr lang="en-US" i="1" dirty="0"/>
              <a:t>how to use</a:t>
            </a:r>
            <a:r>
              <a:rPr lang="en-US" dirty="0"/>
              <a:t> it. Today, you learned </a:t>
            </a:r>
            <a:r>
              <a:rPr lang="en-US" i="1" dirty="0"/>
              <a:t>why we must have</a:t>
            </a:r>
            <a:r>
              <a:rPr lang="en-US" dirty="0"/>
              <a:t> it</a:t>
            </a:r>
          </a:p>
        </p:txBody>
      </p:sp>
      <p:sp>
        <p:nvSpPr>
          <p:cNvPr id="4" name="Slide Number Placeholder 3"/>
          <p:cNvSpPr>
            <a:spLocks noGrp="1"/>
          </p:cNvSpPr>
          <p:nvPr>
            <p:ph type="sldNum" sz="quarter" idx="5"/>
          </p:nvPr>
        </p:nvSpPr>
        <p:spPr/>
        <p:txBody>
          <a:bodyPr/>
          <a:lstStyle/>
          <a:p>
            <a:fld id="{59526492-DB80-4875-B101-22338C9166D0}" type="slidenum">
              <a:rPr lang="en-US" altLang="en-US" smtClean="0"/>
              <a:pPr/>
              <a:t>5</a:t>
            </a:fld>
            <a:endParaRPr lang="en-US" altLang="en-US"/>
          </a:p>
        </p:txBody>
      </p:sp>
    </p:spTree>
    <p:extLst>
      <p:ext uri="{BB962C8B-B14F-4D97-AF65-F5344CB8AC3E}">
        <p14:creationId xmlns:p14="http://schemas.microsoft.com/office/powerpoint/2010/main" val="161933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exiting iterator, but sometimes you might need your own as well.</a:t>
            </a:r>
          </a:p>
        </p:txBody>
      </p:sp>
      <p:sp>
        <p:nvSpPr>
          <p:cNvPr id="4" name="Slide Number Placeholder 3"/>
          <p:cNvSpPr>
            <a:spLocks noGrp="1"/>
          </p:cNvSpPr>
          <p:nvPr>
            <p:ph type="sldNum" sz="quarter" idx="5"/>
          </p:nvPr>
        </p:nvSpPr>
        <p:spPr/>
        <p:txBody>
          <a:bodyPr/>
          <a:lstStyle/>
          <a:p>
            <a:fld id="{59526492-DB80-4875-B101-22338C9166D0}" type="slidenum">
              <a:rPr lang="en-US" altLang="en-US" smtClean="0"/>
              <a:pPr/>
              <a:t>10</a:t>
            </a:fld>
            <a:endParaRPr lang="en-US" altLang="en-US"/>
          </a:p>
        </p:txBody>
      </p:sp>
    </p:spTree>
    <p:extLst>
      <p:ext uri="{BB962C8B-B14F-4D97-AF65-F5344CB8AC3E}">
        <p14:creationId xmlns:p14="http://schemas.microsoft.com/office/powerpoint/2010/main" val="29966956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hlinkClick r:id="rId3"/>
              </a:rPr>
              <a:t>Iterator (</a:t>
            </a:r>
            <a:r>
              <a:rPr lang="en-US" dirty="0" err="1">
                <a:hlinkClick r:id="rId3"/>
              </a:rPr>
              <a:t>refactoring.guru</a:t>
            </a:r>
            <a:r>
              <a:rPr lang="en-US" dirty="0">
                <a:hlinkClick r:id="rId3"/>
              </a:rPr>
              <a:t>)</a:t>
            </a:r>
            <a:endParaRPr lang="en-US" dirty="0"/>
          </a:p>
        </p:txBody>
      </p:sp>
      <p:sp>
        <p:nvSpPr>
          <p:cNvPr id="4" name="Slide Number Placeholder 3"/>
          <p:cNvSpPr>
            <a:spLocks noGrp="1"/>
          </p:cNvSpPr>
          <p:nvPr>
            <p:ph type="sldNum" sz="quarter" idx="5"/>
          </p:nvPr>
        </p:nvSpPr>
        <p:spPr/>
        <p:txBody>
          <a:bodyPr/>
          <a:lstStyle/>
          <a:p>
            <a:fld id="{59526492-DB80-4875-B101-22338C9166D0}" type="slidenum">
              <a:rPr lang="en-US" altLang="en-US" smtClean="0"/>
              <a:pPr/>
              <a:t>11</a:t>
            </a:fld>
            <a:endParaRPr lang="en-US" altLang="en-US"/>
          </a:p>
        </p:txBody>
      </p:sp>
    </p:spTree>
    <p:extLst>
      <p:ext uri="{BB962C8B-B14F-4D97-AF65-F5344CB8AC3E}">
        <p14:creationId xmlns:p14="http://schemas.microsoft.com/office/powerpoint/2010/main" val="8526756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Collection or List or any other common abstraction.</a:t>
            </a:r>
          </a:p>
        </p:txBody>
      </p:sp>
      <p:sp>
        <p:nvSpPr>
          <p:cNvPr id="4" name="Slide Number Placeholder 3"/>
          <p:cNvSpPr>
            <a:spLocks noGrp="1"/>
          </p:cNvSpPr>
          <p:nvPr>
            <p:ph type="sldNum" sz="quarter" idx="5"/>
          </p:nvPr>
        </p:nvSpPr>
        <p:spPr/>
        <p:txBody>
          <a:bodyPr/>
          <a:lstStyle/>
          <a:p>
            <a:fld id="{59526492-DB80-4875-B101-22338C9166D0}" type="slidenum">
              <a:rPr lang="en-US" altLang="en-US" smtClean="0"/>
              <a:pPr/>
              <a:t>13</a:t>
            </a:fld>
            <a:endParaRPr lang="en-US" altLang="en-US"/>
          </a:p>
        </p:txBody>
      </p:sp>
    </p:spTree>
    <p:extLst>
      <p:ext uri="{BB962C8B-B14F-4D97-AF65-F5344CB8AC3E}">
        <p14:creationId xmlns:p14="http://schemas.microsoft.com/office/powerpoint/2010/main" val="9933665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46091F-128A-944F-549E-1100DD5178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CF9385-0D49-BF7B-96EA-D11EDD98E91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65C667-B3FB-BE7E-CEFB-14519661B980}"/>
              </a:ext>
            </a:extLst>
          </p:cNvPr>
          <p:cNvSpPr>
            <a:spLocks noGrp="1"/>
          </p:cNvSpPr>
          <p:nvPr>
            <p:ph type="body" idx="1"/>
          </p:nvPr>
        </p:nvSpPr>
        <p:spPr/>
        <p:txBody>
          <a:bodyPr/>
          <a:lstStyle/>
          <a:p>
            <a:r>
              <a:rPr lang="en-US" dirty="0"/>
              <a:t>Collection or List or any other common abstraction.</a:t>
            </a:r>
          </a:p>
        </p:txBody>
      </p:sp>
      <p:sp>
        <p:nvSpPr>
          <p:cNvPr id="4" name="Slide Number Placeholder 3">
            <a:extLst>
              <a:ext uri="{FF2B5EF4-FFF2-40B4-BE49-F238E27FC236}">
                <a16:creationId xmlns:a16="http://schemas.microsoft.com/office/drawing/2014/main" id="{8DBACB20-BF18-D33B-6607-7F0D779D1D50}"/>
              </a:ext>
            </a:extLst>
          </p:cNvPr>
          <p:cNvSpPr>
            <a:spLocks noGrp="1"/>
          </p:cNvSpPr>
          <p:nvPr>
            <p:ph type="sldNum" sz="quarter" idx="5"/>
          </p:nvPr>
        </p:nvSpPr>
        <p:spPr/>
        <p:txBody>
          <a:bodyPr/>
          <a:lstStyle/>
          <a:p>
            <a:fld id="{59526492-DB80-4875-B101-22338C9166D0}" type="slidenum">
              <a:rPr lang="en-US" altLang="en-US" smtClean="0"/>
              <a:pPr/>
              <a:t>14</a:t>
            </a:fld>
            <a:endParaRPr lang="en-US" altLang="en-US"/>
          </a:p>
        </p:txBody>
      </p:sp>
    </p:spTree>
    <p:extLst>
      <p:ext uri="{BB962C8B-B14F-4D97-AF65-F5344CB8AC3E}">
        <p14:creationId xmlns:p14="http://schemas.microsoft.com/office/powerpoint/2010/main" val="25060313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Slide Image Placeholder 1">
            <a:extLst>
              <a:ext uri="{FF2B5EF4-FFF2-40B4-BE49-F238E27FC236}">
                <a16:creationId xmlns:a16="http://schemas.microsoft.com/office/drawing/2014/main" id="{BB1458BB-5E96-6D19-67DF-A5CE646ACCE8}"/>
              </a:ext>
            </a:extLst>
          </p:cNvPr>
          <p:cNvSpPr>
            <a:spLocks noGrp="1" noRot="1" noChangeAspect="1" noChangeArrowheads="1" noTextEdit="1"/>
          </p:cNvSpPr>
          <p:nvPr>
            <p:ph type="sldImg"/>
          </p:nvPr>
        </p:nvSpPr>
        <p:spPr>
          <a:ln/>
        </p:spPr>
      </p:sp>
      <p:sp>
        <p:nvSpPr>
          <p:cNvPr id="80899" name="Notes Placeholder 2">
            <a:extLst>
              <a:ext uri="{FF2B5EF4-FFF2-40B4-BE49-F238E27FC236}">
                <a16:creationId xmlns:a16="http://schemas.microsoft.com/office/drawing/2014/main" id="{FD1410E2-44D7-8169-1760-A59489AAC765}"/>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tr-TR">
                <a:latin typeface="Arial" panose="020B0604020202020204" pitchFamily="34" charset="0"/>
              </a:rPr>
              <a:t>A </a:t>
            </a:r>
            <a:r>
              <a:rPr lang="en-US" altLang="tr-TR" b="1">
                <a:latin typeface="Arial" panose="020B0604020202020204" pitchFamily="34" charset="0"/>
              </a:rPr>
              <a:t>robust iterator</a:t>
            </a:r>
            <a:r>
              <a:rPr lang="en-US" altLang="tr-TR">
                <a:latin typeface="Arial" panose="020B0604020202020204" pitchFamily="34" charset="0"/>
              </a:rPr>
              <a:t> ensures that insertions and removals won't interfere with traversal, and it does it without copying the aggregate. There are many ways to implement robust iterators. Most rely on registering the iterator with the aggregate. On insertion or removal, the aggregate either adjusts the internal state of iterators it has produced, or it maintains information internally to ensure proper traversal.</a:t>
            </a:r>
            <a:endParaRPr lang="tr-TR" altLang="tr-TR">
              <a:latin typeface="Arial" panose="020B0604020202020204" pitchFamily="34" charset="0"/>
            </a:endParaRPr>
          </a:p>
        </p:txBody>
      </p:sp>
      <p:sp>
        <p:nvSpPr>
          <p:cNvPr id="80900" name="Slide Number Placeholder 3">
            <a:extLst>
              <a:ext uri="{FF2B5EF4-FFF2-40B4-BE49-F238E27FC236}">
                <a16:creationId xmlns:a16="http://schemas.microsoft.com/office/drawing/2014/main" id="{86A7A74A-39B1-89E4-6E3B-8D19B5644632}"/>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D8C5FEC0-EAA5-4CC6-A6E9-E14913378B79}" type="slidenum">
              <a:rPr lang="en-US" altLang="tr-TR"/>
              <a:pPr>
                <a:spcBef>
                  <a:spcPct val="0"/>
                </a:spcBef>
              </a:pPr>
              <a:t>21</a:t>
            </a:fld>
            <a:endParaRPr lang="en-US" altLang="tr-T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Slide Image Placeholder 1">
            <a:extLst>
              <a:ext uri="{FF2B5EF4-FFF2-40B4-BE49-F238E27FC236}">
                <a16:creationId xmlns:a16="http://schemas.microsoft.com/office/drawing/2014/main" id="{89C0AEE9-6FCA-BB6B-72C9-05EFD84CDE6B}"/>
              </a:ext>
            </a:extLst>
          </p:cNvPr>
          <p:cNvSpPr>
            <a:spLocks noGrp="1" noRot="1" noChangeAspect="1" noChangeArrowheads="1" noTextEdit="1"/>
          </p:cNvSpPr>
          <p:nvPr>
            <p:ph type="sldImg"/>
          </p:nvPr>
        </p:nvSpPr>
        <p:spPr>
          <a:ln/>
        </p:spPr>
      </p:sp>
      <p:sp>
        <p:nvSpPr>
          <p:cNvPr id="78851" name="Notes Placeholder 2">
            <a:extLst>
              <a:ext uri="{FF2B5EF4-FFF2-40B4-BE49-F238E27FC236}">
                <a16:creationId xmlns:a16="http://schemas.microsoft.com/office/drawing/2014/main" id="{D8DEF755-2839-6AFE-6396-E2A4A982C116}"/>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tr-TR" altLang="tr-TR" dirty="0">
              <a:latin typeface="Arial" panose="020B0604020202020204" pitchFamily="34" charset="0"/>
            </a:endParaRPr>
          </a:p>
        </p:txBody>
      </p:sp>
      <p:sp>
        <p:nvSpPr>
          <p:cNvPr id="78852" name="Slide Number Placeholder 3">
            <a:extLst>
              <a:ext uri="{FF2B5EF4-FFF2-40B4-BE49-F238E27FC236}">
                <a16:creationId xmlns:a16="http://schemas.microsoft.com/office/drawing/2014/main" id="{8867AC3F-513D-0DA3-5990-DE2D550F4C1D}"/>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144E8A1E-0F62-4A8E-9964-C020B4F01098}" type="slidenum">
              <a:rPr lang="en-US" altLang="tr-TR"/>
              <a:pPr>
                <a:spcBef>
                  <a:spcPct val="0"/>
                </a:spcBef>
              </a:pPr>
              <a:t>22</a:t>
            </a:fld>
            <a:endParaRPr lang="en-US" altLang="tr-T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lide Image Placeholder 1">
            <a:extLst>
              <a:ext uri="{FF2B5EF4-FFF2-40B4-BE49-F238E27FC236}">
                <a16:creationId xmlns:a16="http://schemas.microsoft.com/office/drawing/2014/main" id="{AC698AB1-AE25-084E-F88D-1DBFF709FA30}"/>
              </a:ext>
            </a:extLst>
          </p:cNvPr>
          <p:cNvSpPr>
            <a:spLocks noGrp="1" noRot="1" noChangeAspect="1" noChangeArrowheads="1" noTextEdit="1"/>
          </p:cNvSpPr>
          <p:nvPr>
            <p:ph type="sldImg"/>
          </p:nvPr>
        </p:nvSpPr>
        <p:spPr>
          <a:ln/>
        </p:spPr>
      </p:sp>
      <p:sp>
        <p:nvSpPr>
          <p:cNvPr id="7171" name="Notes Placeholder 2">
            <a:extLst>
              <a:ext uri="{FF2B5EF4-FFF2-40B4-BE49-F238E27FC236}">
                <a16:creationId xmlns:a16="http://schemas.microsoft.com/office/drawing/2014/main" id="{45DF1166-0F80-2E1B-D7ED-342553E80983}"/>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tr-TR">
                <a:latin typeface="Arial" panose="020B0604020202020204" pitchFamily="34" charset="0"/>
              </a:rPr>
              <a:t>Another example: Traversing an abstract syntax tree</a:t>
            </a:r>
          </a:p>
          <a:p>
            <a:endParaRPr lang="en-US" altLang="tr-TR">
              <a:latin typeface="Arial" panose="020B0604020202020204" pitchFamily="34" charset="0"/>
            </a:endParaRPr>
          </a:p>
        </p:txBody>
      </p:sp>
      <p:sp>
        <p:nvSpPr>
          <p:cNvPr id="7172" name="Slide Number Placeholder 3">
            <a:extLst>
              <a:ext uri="{FF2B5EF4-FFF2-40B4-BE49-F238E27FC236}">
                <a16:creationId xmlns:a16="http://schemas.microsoft.com/office/drawing/2014/main" id="{C88263DD-C564-327B-0451-C4CDA3F41609}"/>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A102E9A5-D0AB-4E3E-9784-6F7DEE9E7229}" type="slidenum">
              <a:rPr lang="en-US" altLang="tr-TR"/>
              <a:pPr>
                <a:spcBef>
                  <a:spcPct val="0"/>
                </a:spcBef>
              </a:pPr>
              <a:t>35</a:t>
            </a:fld>
            <a:endParaRPr lang="en-US" altLang="tr-T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b="0" i="0" dirty="0">
                <a:solidFill>
                  <a:srgbClr val="111111"/>
                </a:solidFill>
                <a:effectLst/>
                <a:latin typeface="-apple-system"/>
              </a:rPr>
              <a:t>Allows adding further operations to objects without modifying them.</a:t>
            </a:r>
          </a:p>
          <a:p>
            <a:endParaRPr lang="en-US" dirty="0"/>
          </a:p>
        </p:txBody>
      </p:sp>
      <p:sp>
        <p:nvSpPr>
          <p:cNvPr id="4" name="Slide Number Placeholder 3"/>
          <p:cNvSpPr>
            <a:spLocks noGrp="1"/>
          </p:cNvSpPr>
          <p:nvPr>
            <p:ph type="sldNum" sz="quarter" idx="5"/>
          </p:nvPr>
        </p:nvSpPr>
        <p:spPr/>
        <p:txBody>
          <a:bodyPr/>
          <a:lstStyle/>
          <a:p>
            <a:fld id="{59526492-DB80-4875-B101-22338C9166D0}" type="slidenum">
              <a:rPr lang="en-US" altLang="en-US" smtClean="0"/>
              <a:pPr/>
              <a:t>36</a:t>
            </a:fld>
            <a:endParaRPr lang="en-US" altLang="en-US"/>
          </a:p>
        </p:txBody>
      </p:sp>
    </p:spTree>
    <p:extLst>
      <p:ext uri="{BB962C8B-B14F-4D97-AF65-F5344CB8AC3E}">
        <p14:creationId xmlns:p14="http://schemas.microsoft.com/office/powerpoint/2010/main" val="22049449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prefer overloading visit methods</a:t>
            </a:r>
          </a:p>
        </p:txBody>
      </p:sp>
      <p:sp>
        <p:nvSpPr>
          <p:cNvPr id="4" name="Slide Number Placeholder 3"/>
          <p:cNvSpPr>
            <a:spLocks noGrp="1"/>
          </p:cNvSpPr>
          <p:nvPr>
            <p:ph type="sldNum" sz="quarter" idx="5"/>
          </p:nvPr>
        </p:nvSpPr>
        <p:spPr/>
        <p:txBody>
          <a:bodyPr/>
          <a:lstStyle/>
          <a:p>
            <a:fld id="{59526492-DB80-4875-B101-22338C9166D0}" type="slidenum">
              <a:rPr lang="en-US" altLang="en-US" smtClean="0"/>
              <a:pPr/>
              <a:t>44</a:t>
            </a:fld>
            <a:endParaRPr lang="en-US" altLang="en-US"/>
          </a:p>
        </p:txBody>
      </p:sp>
    </p:spTree>
    <p:extLst>
      <p:ext uri="{BB962C8B-B14F-4D97-AF65-F5344CB8AC3E}">
        <p14:creationId xmlns:p14="http://schemas.microsoft.com/office/powerpoint/2010/main" val="173709998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Arial" panose="020B0604020202020204" pitchFamily="34" charset="0"/>
              </a:rPr>
              <a:t>the above is slightly modified from the original </a:t>
            </a:r>
            <a:r>
              <a:rPr lang="en-US" altLang="en-US" dirty="0" err="1">
                <a:latin typeface="Arial" panose="020B0604020202020204" pitchFamily="34" charset="0"/>
              </a:rPr>
              <a:t>ExtrinsicVisitor</a:t>
            </a:r>
            <a:r>
              <a:rPr lang="en-US" altLang="en-US" dirty="0">
                <a:latin typeface="Arial" panose="020B0604020202020204" pitchFamily="34" charset="0"/>
              </a:rPr>
              <a:t> </a:t>
            </a:r>
            <a:r>
              <a:rPr lang="en-US" altLang="en-US" dirty="0" err="1">
                <a:latin typeface="Arial" panose="020B0604020202020204" pitchFamily="34" charset="0"/>
              </a:rPr>
              <a:t>patternIn</a:t>
            </a:r>
            <a:r>
              <a:rPr lang="en-US" altLang="en-US" dirty="0">
                <a:latin typeface="Arial" panose="020B0604020202020204" pitchFamily="34" charset="0"/>
              </a:rPr>
              <a:t> the original</a:t>
            </a:r>
          </a:p>
          <a:p>
            <a:r>
              <a:rPr lang="en-US" altLang="en-US" dirty="0">
                <a:latin typeface="Arial" panose="020B0604020202020204" pitchFamily="34" charset="0"/>
              </a:rPr>
              <a:t>Element does not have an accept method</a:t>
            </a:r>
          </a:p>
          <a:p>
            <a:r>
              <a:rPr lang="en-US" altLang="en-US" dirty="0">
                <a:latin typeface="Arial" panose="020B0604020202020204" pitchFamily="34" charset="0"/>
              </a:rPr>
              <a:t>The visit method of </a:t>
            </a:r>
            <a:r>
              <a:rPr lang="en-US" altLang="en-US" dirty="0" err="1">
                <a:latin typeface="Arial" panose="020B0604020202020204" pitchFamily="34" charset="0"/>
              </a:rPr>
              <a:t>ExtrinsicVisitor</a:t>
            </a:r>
            <a:r>
              <a:rPr lang="en-US" altLang="en-US" dirty="0">
                <a:latin typeface="Arial" panose="020B0604020202020204" pitchFamily="34" charset="0"/>
              </a:rPr>
              <a:t> does not call </a:t>
            </a:r>
            <a:r>
              <a:rPr lang="en-US" altLang="en-US" dirty="0" err="1">
                <a:latin typeface="Arial" panose="020B0604020202020204" pitchFamily="34" charset="0"/>
              </a:rPr>
              <a:t>canVisit</a:t>
            </a:r>
            <a:endParaRPr lang="en-US" altLang="en-US" dirty="0">
              <a:latin typeface="Arial" panose="020B0604020202020204" pitchFamily="34" charset="0"/>
            </a:endParaRPr>
          </a:p>
          <a:p>
            <a:r>
              <a:rPr lang="en-US" altLang="en-US" dirty="0" err="1">
                <a:latin typeface="Arial" panose="020B0604020202020204" pitchFamily="34" charset="0"/>
              </a:rPr>
              <a:t>ObjectStructure</a:t>
            </a:r>
            <a:r>
              <a:rPr lang="en-US" altLang="en-US" dirty="0">
                <a:latin typeface="Arial" panose="020B0604020202020204" pitchFamily="34" charset="0"/>
              </a:rPr>
              <a:t> calls </a:t>
            </a:r>
            <a:r>
              <a:rPr lang="en-US" altLang="en-US" dirty="0" err="1">
                <a:latin typeface="Arial" panose="020B0604020202020204" pitchFamily="34" charset="0"/>
              </a:rPr>
              <a:t>canVisit</a:t>
            </a:r>
            <a:r>
              <a:rPr lang="en-US" altLang="en-US" dirty="0">
                <a:latin typeface="Arial" panose="020B0604020202020204" pitchFamily="34" charset="0"/>
              </a:rPr>
              <a:t> to determine if an element can be visited, then calls visit</a:t>
            </a:r>
          </a:p>
          <a:p>
            <a:r>
              <a:rPr lang="en-US" altLang="en-US" dirty="0">
                <a:latin typeface="Arial" panose="020B0604020202020204" pitchFamily="34" charset="0"/>
              </a:rPr>
              <a:t>The </a:t>
            </a:r>
            <a:r>
              <a:rPr lang="en-US" altLang="en-US" dirty="0" err="1">
                <a:latin typeface="Arial" panose="020B0604020202020204" pitchFamily="34" charset="0"/>
              </a:rPr>
              <a:t>visitElement</a:t>
            </a:r>
            <a:r>
              <a:rPr lang="en-US" altLang="en-US" dirty="0">
                <a:latin typeface="Arial" panose="020B0604020202020204" pitchFamily="34" charset="0"/>
              </a:rPr>
              <a:t> methods are not over loaded</a:t>
            </a:r>
            <a:endParaRPr lang="tr-TR" altLang="en-US" dirty="0">
              <a:latin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59526492-DB80-4875-B101-22338C9166D0}" type="slidenum">
              <a:rPr lang="en-US" altLang="en-US" smtClean="0"/>
              <a:pPr/>
              <a:t>57</a:t>
            </a:fld>
            <a:endParaRPr lang="en-US" altLang="en-US"/>
          </a:p>
        </p:txBody>
      </p:sp>
    </p:spTree>
    <p:extLst>
      <p:ext uri="{BB962C8B-B14F-4D97-AF65-F5344CB8AC3E}">
        <p14:creationId xmlns:p14="http://schemas.microsoft.com/office/powerpoint/2010/main" val="375602586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a:extLst>
              <a:ext uri="{FF2B5EF4-FFF2-40B4-BE49-F238E27FC236}">
                <a16:creationId xmlns:a16="http://schemas.microsoft.com/office/drawing/2014/main" id="{1FA20BF7-7AE3-BCC0-6565-CCA8FBF434C5}"/>
              </a:ext>
            </a:extLst>
          </p:cNvPr>
          <p:cNvSpPr>
            <a:spLocks noGrp="1" noRot="1" noChangeAspect="1" noChangeArrowheads="1" noTextEdit="1"/>
          </p:cNvSpPr>
          <p:nvPr>
            <p:ph type="sldImg"/>
          </p:nvPr>
        </p:nvSpPr>
        <p:spPr>
          <a:ln/>
        </p:spPr>
      </p:sp>
      <p:sp>
        <p:nvSpPr>
          <p:cNvPr id="33795" name="Notes Placeholder 2">
            <a:extLst>
              <a:ext uri="{FF2B5EF4-FFF2-40B4-BE49-F238E27FC236}">
                <a16:creationId xmlns:a16="http://schemas.microsoft.com/office/drawing/2014/main" id="{49D8C78D-400A-D27A-BA31-51747C6E6B00}"/>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tr-TR" altLang="en-US" dirty="0">
              <a:latin typeface="Arial" panose="020B0604020202020204" pitchFamily="34" charset="0"/>
            </a:endParaRPr>
          </a:p>
        </p:txBody>
      </p:sp>
      <p:sp>
        <p:nvSpPr>
          <p:cNvPr id="33796" name="Slide Number Placeholder 3">
            <a:extLst>
              <a:ext uri="{FF2B5EF4-FFF2-40B4-BE49-F238E27FC236}">
                <a16:creationId xmlns:a16="http://schemas.microsoft.com/office/drawing/2014/main" id="{18AA95D8-D2C5-EA00-B3A5-16A95C2DFAC4}"/>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61FFB46C-24C5-402B-81F9-C064311094FA}" type="slidenum">
              <a:rPr lang="en-US" altLang="en-US"/>
              <a:pPr>
                <a:spcBef>
                  <a:spcPct val="0"/>
                </a:spcBef>
              </a:pPr>
              <a:t>58</a:t>
            </a:fld>
            <a:endParaRPr lang="en-US"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b="0" i="0" dirty="0">
                <a:solidFill>
                  <a:srgbClr val="111111"/>
                </a:solidFill>
                <a:effectLst/>
                <a:latin typeface="-apple-system"/>
              </a:rPr>
              <a:t>Allows adding further operations to objects without modifying them.</a:t>
            </a:r>
          </a:p>
          <a:p>
            <a:endParaRPr lang="en-US" dirty="0"/>
          </a:p>
        </p:txBody>
      </p:sp>
      <p:sp>
        <p:nvSpPr>
          <p:cNvPr id="4" name="Slide Number Placeholder 3"/>
          <p:cNvSpPr>
            <a:spLocks noGrp="1"/>
          </p:cNvSpPr>
          <p:nvPr>
            <p:ph type="sldNum" sz="quarter" idx="5"/>
          </p:nvPr>
        </p:nvSpPr>
        <p:spPr/>
        <p:txBody>
          <a:bodyPr/>
          <a:lstStyle/>
          <a:p>
            <a:fld id="{59526492-DB80-4875-B101-22338C9166D0}" type="slidenum">
              <a:rPr lang="en-US" altLang="en-US" smtClean="0"/>
              <a:pPr/>
              <a:t>61</a:t>
            </a:fld>
            <a:endParaRPr lang="en-US" altLang="en-US"/>
          </a:p>
        </p:txBody>
      </p:sp>
    </p:spTree>
    <p:extLst>
      <p:ext uri="{BB962C8B-B14F-4D97-AF65-F5344CB8AC3E}">
        <p14:creationId xmlns:p14="http://schemas.microsoft.com/office/powerpoint/2010/main" val="31967102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A933B59C-C21A-EFF7-079C-36DC23EE087B}"/>
              </a:ext>
            </a:extLst>
          </p:cNvPr>
          <p:cNvGrpSpPr>
            <a:grpSpLocks/>
          </p:cNvGrpSpPr>
          <p:nvPr/>
        </p:nvGrpSpPr>
        <p:grpSpPr bwMode="auto">
          <a:xfrm>
            <a:off x="0" y="0"/>
            <a:ext cx="9144000" cy="6858000"/>
            <a:chOff x="0" y="0"/>
            <a:chExt cx="5760" cy="4320"/>
          </a:xfrm>
        </p:grpSpPr>
        <p:sp>
          <p:nvSpPr>
            <p:cNvPr id="3" name="Rectangle 3">
              <a:extLst>
                <a:ext uri="{FF2B5EF4-FFF2-40B4-BE49-F238E27FC236}">
                  <a16:creationId xmlns:a16="http://schemas.microsoft.com/office/drawing/2014/main" id="{8812F79E-FF62-E510-396A-C6BFF8246D74}"/>
                </a:ext>
              </a:extLst>
            </p:cNvPr>
            <p:cNvSpPr>
              <a:spLocks noChangeArrowheads="1"/>
            </p:cNvSpPr>
            <p:nvPr/>
          </p:nvSpPr>
          <p:spPr bwMode="hidden">
            <a:xfrm>
              <a:off x="0" y="0"/>
              <a:ext cx="2208" cy="4320"/>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defRPr/>
              </a:pPr>
              <a:endParaRPr lang="tr-TR" altLang="tr-TR" sz="2400">
                <a:latin typeface="Times New Roman" pitchFamily="18" charset="0"/>
              </a:endParaRPr>
            </a:p>
          </p:txBody>
        </p:sp>
        <p:sp>
          <p:nvSpPr>
            <p:cNvPr id="4" name="Rectangle 4">
              <a:extLst>
                <a:ext uri="{FF2B5EF4-FFF2-40B4-BE49-F238E27FC236}">
                  <a16:creationId xmlns:a16="http://schemas.microsoft.com/office/drawing/2014/main" id="{8384749C-74BF-0084-E8B6-9285624CAF26}"/>
                </a:ext>
              </a:extLst>
            </p:cNvPr>
            <p:cNvSpPr>
              <a:spLocks noChangeArrowheads="1"/>
            </p:cNvSpPr>
            <p:nvPr/>
          </p:nvSpPr>
          <p:spPr bwMode="hidden">
            <a:xfrm>
              <a:off x="1081" y="1065"/>
              <a:ext cx="4679" cy="1596"/>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tr-TR" altLang="tr-TR" sz="2400">
                <a:latin typeface="Times New Roman" pitchFamily="18" charset="0"/>
              </a:endParaRPr>
            </a:p>
          </p:txBody>
        </p:sp>
        <p:grpSp>
          <p:nvGrpSpPr>
            <p:cNvPr id="5" name="Group 5">
              <a:extLst>
                <a:ext uri="{FF2B5EF4-FFF2-40B4-BE49-F238E27FC236}">
                  <a16:creationId xmlns:a16="http://schemas.microsoft.com/office/drawing/2014/main" id="{164DD8CE-944C-179B-CB16-B5BA3531336C}"/>
                </a:ext>
              </a:extLst>
            </p:cNvPr>
            <p:cNvGrpSpPr>
              <a:grpSpLocks/>
            </p:cNvGrpSpPr>
            <p:nvPr/>
          </p:nvGrpSpPr>
          <p:grpSpPr bwMode="auto">
            <a:xfrm>
              <a:off x="0" y="672"/>
              <a:ext cx="1806" cy="1989"/>
              <a:chOff x="0" y="672"/>
              <a:chExt cx="1806" cy="1989"/>
            </a:xfrm>
          </p:grpSpPr>
          <p:sp>
            <p:nvSpPr>
              <p:cNvPr id="6" name="Rectangle 6">
                <a:extLst>
                  <a:ext uri="{FF2B5EF4-FFF2-40B4-BE49-F238E27FC236}">
                    <a16:creationId xmlns:a16="http://schemas.microsoft.com/office/drawing/2014/main" id="{B05A5323-8585-B6BD-AC93-A049C167CD8C}"/>
                  </a:ext>
                </a:extLst>
              </p:cNvPr>
              <p:cNvSpPr>
                <a:spLocks noChangeArrowheads="1"/>
              </p:cNvSpPr>
              <p:nvPr/>
            </p:nvSpPr>
            <p:spPr bwMode="auto">
              <a:xfrm>
                <a:off x="361" y="2257"/>
                <a:ext cx="363" cy="404"/>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tr-TR" altLang="tr-TR" sz="2400">
                  <a:latin typeface="Times New Roman" pitchFamily="18" charset="0"/>
                </a:endParaRPr>
              </a:p>
            </p:txBody>
          </p:sp>
          <p:sp>
            <p:nvSpPr>
              <p:cNvPr id="7" name="Rectangle 7">
                <a:extLst>
                  <a:ext uri="{FF2B5EF4-FFF2-40B4-BE49-F238E27FC236}">
                    <a16:creationId xmlns:a16="http://schemas.microsoft.com/office/drawing/2014/main" id="{AA23FA9B-52FD-2B96-5E71-BB72606D655E}"/>
                  </a:ext>
                </a:extLst>
              </p:cNvPr>
              <p:cNvSpPr>
                <a:spLocks noChangeArrowheads="1"/>
              </p:cNvSpPr>
              <p:nvPr/>
            </p:nvSpPr>
            <p:spPr bwMode="auto">
              <a:xfrm>
                <a:off x="1081" y="1065"/>
                <a:ext cx="362" cy="405"/>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tr-TR" altLang="tr-TR" sz="2400">
                  <a:latin typeface="Times New Roman" pitchFamily="18" charset="0"/>
                </a:endParaRPr>
              </a:p>
            </p:txBody>
          </p:sp>
          <p:sp>
            <p:nvSpPr>
              <p:cNvPr id="8" name="Rectangle 8">
                <a:extLst>
                  <a:ext uri="{FF2B5EF4-FFF2-40B4-BE49-F238E27FC236}">
                    <a16:creationId xmlns:a16="http://schemas.microsoft.com/office/drawing/2014/main" id="{D8D678C9-6F3B-C7A9-1EAA-9699903B1B76}"/>
                  </a:ext>
                </a:extLst>
              </p:cNvPr>
              <p:cNvSpPr>
                <a:spLocks noChangeArrowheads="1"/>
              </p:cNvSpPr>
              <p:nvPr/>
            </p:nvSpPr>
            <p:spPr bwMode="auto">
              <a:xfrm>
                <a:off x="1437" y="672"/>
                <a:ext cx="369" cy="400"/>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tr-TR" altLang="tr-TR" sz="2400">
                  <a:latin typeface="Times New Roman" pitchFamily="18" charset="0"/>
                </a:endParaRPr>
              </a:p>
            </p:txBody>
          </p:sp>
          <p:sp>
            <p:nvSpPr>
              <p:cNvPr id="9" name="Rectangle 9">
                <a:extLst>
                  <a:ext uri="{FF2B5EF4-FFF2-40B4-BE49-F238E27FC236}">
                    <a16:creationId xmlns:a16="http://schemas.microsoft.com/office/drawing/2014/main" id="{5143ABB3-F426-2AC8-BB1F-191FB4CAE0A4}"/>
                  </a:ext>
                </a:extLst>
              </p:cNvPr>
              <p:cNvSpPr>
                <a:spLocks noChangeArrowheads="1"/>
              </p:cNvSpPr>
              <p:nvPr/>
            </p:nvSpPr>
            <p:spPr bwMode="auto">
              <a:xfrm>
                <a:off x="719" y="2257"/>
                <a:ext cx="368" cy="404"/>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tr-TR" altLang="tr-TR" sz="2400">
                  <a:latin typeface="Times New Roman" pitchFamily="18" charset="0"/>
                </a:endParaRPr>
              </a:p>
            </p:txBody>
          </p:sp>
          <p:sp>
            <p:nvSpPr>
              <p:cNvPr id="10" name="Rectangle 10">
                <a:extLst>
                  <a:ext uri="{FF2B5EF4-FFF2-40B4-BE49-F238E27FC236}">
                    <a16:creationId xmlns:a16="http://schemas.microsoft.com/office/drawing/2014/main" id="{7AA1FBF0-4FD8-2BB7-4C49-347E1D331F55}"/>
                  </a:ext>
                </a:extLst>
              </p:cNvPr>
              <p:cNvSpPr>
                <a:spLocks noChangeArrowheads="1"/>
              </p:cNvSpPr>
              <p:nvPr/>
            </p:nvSpPr>
            <p:spPr bwMode="auto">
              <a:xfrm>
                <a:off x="1437" y="1065"/>
                <a:ext cx="369" cy="405"/>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tr-TR" altLang="tr-TR" sz="2400">
                  <a:latin typeface="Times New Roman" pitchFamily="18" charset="0"/>
                </a:endParaRPr>
              </a:p>
            </p:txBody>
          </p:sp>
          <p:sp>
            <p:nvSpPr>
              <p:cNvPr id="11" name="Rectangle 11">
                <a:extLst>
                  <a:ext uri="{FF2B5EF4-FFF2-40B4-BE49-F238E27FC236}">
                    <a16:creationId xmlns:a16="http://schemas.microsoft.com/office/drawing/2014/main" id="{41C0CB80-437C-A2B0-4899-417F6BFD07D6}"/>
                  </a:ext>
                </a:extLst>
              </p:cNvPr>
              <p:cNvSpPr>
                <a:spLocks noChangeArrowheads="1"/>
              </p:cNvSpPr>
              <p:nvPr/>
            </p:nvSpPr>
            <p:spPr bwMode="auto">
              <a:xfrm>
                <a:off x="719" y="1464"/>
                <a:ext cx="368" cy="39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tr-TR" altLang="tr-TR" sz="2400">
                  <a:latin typeface="Times New Roman" pitchFamily="18" charset="0"/>
                </a:endParaRPr>
              </a:p>
            </p:txBody>
          </p:sp>
          <p:sp>
            <p:nvSpPr>
              <p:cNvPr id="12" name="Rectangle 12">
                <a:extLst>
                  <a:ext uri="{FF2B5EF4-FFF2-40B4-BE49-F238E27FC236}">
                    <a16:creationId xmlns:a16="http://schemas.microsoft.com/office/drawing/2014/main" id="{E2510295-A619-5795-3ABE-3DEF02A6816C}"/>
                  </a:ext>
                </a:extLst>
              </p:cNvPr>
              <p:cNvSpPr>
                <a:spLocks noChangeArrowheads="1"/>
              </p:cNvSpPr>
              <p:nvPr/>
            </p:nvSpPr>
            <p:spPr bwMode="auto">
              <a:xfrm>
                <a:off x="0" y="1464"/>
                <a:ext cx="367" cy="399"/>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tr-TR" altLang="tr-TR" sz="2400">
                  <a:latin typeface="Times New Roman" pitchFamily="18" charset="0"/>
                </a:endParaRPr>
              </a:p>
            </p:txBody>
          </p:sp>
          <p:sp>
            <p:nvSpPr>
              <p:cNvPr id="13" name="Rectangle 13">
                <a:extLst>
                  <a:ext uri="{FF2B5EF4-FFF2-40B4-BE49-F238E27FC236}">
                    <a16:creationId xmlns:a16="http://schemas.microsoft.com/office/drawing/2014/main" id="{4EEE409E-3190-DDAC-3C95-B847DC50C356}"/>
                  </a:ext>
                </a:extLst>
              </p:cNvPr>
              <p:cNvSpPr>
                <a:spLocks noChangeArrowheads="1"/>
              </p:cNvSpPr>
              <p:nvPr/>
            </p:nvSpPr>
            <p:spPr bwMode="auto">
              <a:xfrm>
                <a:off x="1081" y="1464"/>
                <a:ext cx="362" cy="399"/>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tr-TR" altLang="tr-TR" sz="2400">
                  <a:latin typeface="Times New Roman" pitchFamily="18" charset="0"/>
                </a:endParaRPr>
              </a:p>
            </p:txBody>
          </p:sp>
          <p:sp>
            <p:nvSpPr>
              <p:cNvPr id="14" name="Rectangle 14">
                <a:extLst>
                  <a:ext uri="{FF2B5EF4-FFF2-40B4-BE49-F238E27FC236}">
                    <a16:creationId xmlns:a16="http://schemas.microsoft.com/office/drawing/2014/main" id="{D050F70B-926A-5D79-113A-950E4AB98DC7}"/>
                  </a:ext>
                </a:extLst>
              </p:cNvPr>
              <p:cNvSpPr>
                <a:spLocks noChangeArrowheads="1"/>
              </p:cNvSpPr>
              <p:nvPr/>
            </p:nvSpPr>
            <p:spPr bwMode="auto">
              <a:xfrm>
                <a:off x="361" y="1857"/>
                <a:ext cx="363" cy="406"/>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tr-TR" altLang="tr-TR" sz="2400">
                  <a:latin typeface="Times New Roman" pitchFamily="18" charset="0"/>
                </a:endParaRPr>
              </a:p>
            </p:txBody>
          </p:sp>
          <p:sp>
            <p:nvSpPr>
              <p:cNvPr id="15" name="Rectangle 15">
                <a:extLst>
                  <a:ext uri="{FF2B5EF4-FFF2-40B4-BE49-F238E27FC236}">
                    <a16:creationId xmlns:a16="http://schemas.microsoft.com/office/drawing/2014/main" id="{76D42C04-ABE0-77B6-EA6E-681474BFC483}"/>
                  </a:ext>
                </a:extLst>
              </p:cNvPr>
              <p:cNvSpPr>
                <a:spLocks noChangeArrowheads="1"/>
              </p:cNvSpPr>
              <p:nvPr/>
            </p:nvSpPr>
            <p:spPr bwMode="auto">
              <a:xfrm>
                <a:off x="719" y="1857"/>
                <a:ext cx="368" cy="40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tr-TR" altLang="tr-TR" sz="2400">
                  <a:latin typeface="Times New Roman" pitchFamily="18" charset="0"/>
                </a:endParaRPr>
              </a:p>
            </p:txBody>
          </p:sp>
        </p:grpSp>
      </p:grpSp>
      <p:sp>
        <p:nvSpPr>
          <p:cNvPr id="275475" name="Rectangle 19"/>
          <p:cNvSpPr>
            <a:spLocks noGrp="1" noChangeArrowheads="1"/>
          </p:cNvSpPr>
          <p:nvPr>
            <p:ph type="ctrTitle"/>
          </p:nvPr>
        </p:nvSpPr>
        <p:spPr>
          <a:xfrm>
            <a:off x="2971800" y="1828800"/>
            <a:ext cx="6019800" cy="2209800"/>
          </a:xfrm>
        </p:spPr>
        <p:txBody>
          <a:bodyPr/>
          <a:lstStyle>
            <a:lvl1pPr>
              <a:defRPr sz="5000">
                <a:solidFill>
                  <a:srgbClr val="FFFFFF"/>
                </a:solidFill>
              </a:defRPr>
            </a:lvl1pPr>
          </a:lstStyle>
          <a:p>
            <a:r>
              <a:rPr lang="en-US"/>
              <a:t>Click to edit Master title style</a:t>
            </a:r>
          </a:p>
        </p:txBody>
      </p:sp>
      <p:sp>
        <p:nvSpPr>
          <p:cNvPr id="275476" name="Rectangle 20"/>
          <p:cNvSpPr>
            <a:spLocks noGrp="1" noChangeArrowheads="1"/>
          </p:cNvSpPr>
          <p:nvPr>
            <p:ph type="subTitle" idx="1"/>
          </p:nvPr>
        </p:nvSpPr>
        <p:spPr>
          <a:xfrm>
            <a:off x="2971800" y="4267200"/>
            <a:ext cx="6019800" cy="1752600"/>
          </a:xfrm>
        </p:spPr>
        <p:txBody>
          <a:bodyPr/>
          <a:lstStyle>
            <a:lvl1pPr marL="0" indent="0">
              <a:buFont typeface="Wingdings" pitchFamily="2" charset="2"/>
              <a:buNone/>
              <a:defRPr sz="3400"/>
            </a:lvl1pPr>
          </a:lstStyle>
          <a:p>
            <a:r>
              <a:rPr lang="en-US"/>
              <a:t>Click to edit Master subtitle style</a:t>
            </a:r>
          </a:p>
        </p:txBody>
      </p:sp>
      <p:sp>
        <p:nvSpPr>
          <p:cNvPr id="16" name="Rectangle 16">
            <a:extLst>
              <a:ext uri="{FF2B5EF4-FFF2-40B4-BE49-F238E27FC236}">
                <a16:creationId xmlns:a16="http://schemas.microsoft.com/office/drawing/2014/main" id="{4F73EBD4-CCE7-9750-88B2-4F42B3E6B5A5}"/>
              </a:ext>
            </a:extLst>
          </p:cNvPr>
          <p:cNvSpPr>
            <a:spLocks noGrp="1" noChangeArrowheads="1"/>
          </p:cNvSpPr>
          <p:nvPr>
            <p:ph type="dt" sz="half" idx="10"/>
          </p:nvPr>
        </p:nvSpPr>
        <p:spPr>
          <a:xfrm>
            <a:off x="457200" y="6248400"/>
            <a:ext cx="2133600" cy="457200"/>
          </a:xfrm>
        </p:spPr>
        <p:txBody>
          <a:bodyPr/>
          <a:lstStyle>
            <a:lvl1pPr>
              <a:defRPr/>
            </a:lvl1pPr>
          </a:lstStyle>
          <a:p>
            <a:pPr>
              <a:defRPr/>
            </a:pPr>
            <a:endParaRPr lang="en-US"/>
          </a:p>
        </p:txBody>
      </p:sp>
      <p:sp>
        <p:nvSpPr>
          <p:cNvPr id="17" name="Rectangle 17">
            <a:extLst>
              <a:ext uri="{FF2B5EF4-FFF2-40B4-BE49-F238E27FC236}">
                <a16:creationId xmlns:a16="http://schemas.microsoft.com/office/drawing/2014/main" id="{9D7DF7F7-A2C1-53AF-62C8-9F821F0ABD28}"/>
              </a:ext>
            </a:extLst>
          </p:cNvPr>
          <p:cNvSpPr>
            <a:spLocks noGrp="1" noChangeArrowheads="1"/>
          </p:cNvSpPr>
          <p:nvPr>
            <p:ph type="ftr" sz="quarter" idx="11"/>
          </p:nvPr>
        </p:nvSpPr>
        <p:spPr/>
        <p:txBody>
          <a:bodyPr/>
          <a:lstStyle>
            <a:lvl1pPr>
              <a:defRPr/>
            </a:lvl1pPr>
          </a:lstStyle>
          <a:p>
            <a:pPr>
              <a:defRPr/>
            </a:pPr>
            <a:endParaRPr lang="en-US"/>
          </a:p>
        </p:txBody>
      </p:sp>
      <p:sp>
        <p:nvSpPr>
          <p:cNvPr id="18" name="Rectangle 18">
            <a:extLst>
              <a:ext uri="{FF2B5EF4-FFF2-40B4-BE49-F238E27FC236}">
                <a16:creationId xmlns:a16="http://schemas.microsoft.com/office/drawing/2014/main" id="{70CF21F3-917C-9218-B2BE-4E927D4358E1}"/>
              </a:ext>
            </a:extLst>
          </p:cNvPr>
          <p:cNvSpPr>
            <a:spLocks noGrp="1" noChangeArrowheads="1"/>
          </p:cNvSpPr>
          <p:nvPr>
            <p:ph type="sldNum" sz="quarter" idx="12"/>
          </p:nvPr>
        </p:nvSpPr>
        <p:spPr/>
        <p:txBody>
          <a:bodyPr/>
          <a:lstStyle>
            <a:lvl1pPr>
              <a:defRPr/>
            </a:lvl1pPr>
          </a:lstStyle>
          <a:p>
            <a:fld id="{A8B0AB7C-6A85-4D63-B651-FB3DA44B4A7B}" type="slidenum">
              <a:rPr lang="en-US" altLang="en-US" smtClean="0"/>
              <a:pPr/>
              <a:t>‹#›</a:t>
            </a:fld>
            <a:endParaRPr lang="en-US" altLang="en-US"/>
          </a:p>
        </p:txBody>
      </p:sp>
    </p:spTree>
    <p:extLst>
      <p:ext uri="{BB962C8B-B14F-4D97-AF65-F5344CB8AC3E}">
        <p14:creationId xmlns:p14="http://schemas.microsoft.com/office/powerpoint/2010/main" val="34983907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39152"/>
            <a:ext cx="8229600" cy="1371600"/>
          </a:xfrm>
        </p:spPr>
        <p:txBody>
          <a:bodyPr/>
          <a:lstStyle/>
          <a:p>
            <a:r>
              <a:rPr lang="en-US"/>
              <a:t>Click to edit Master title style</a:t>
            </a:r>
          </a:p>
        </p:txBody>
      </p:sp>
      <p:sp>
        <p:nvSpPr>
          <p:cNvPr id="3" name="Content Placeholder 2"/>
          <p:cNvSpPr>
            <a:spLocks noGrp="1"/>
          </p:cNvSpPr>
          <p:nvPr>
            <p:ph idx="1"/>
          </p:nvPr>
        </p:nvSpPr>
        <p:spPr>
          <a:xfrm>
            <a:off x="457200" y="1335291"/>
            <a:ext cx="8229600" cy="453210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Rectangle 2">
            <a:extLst>
              <a:ext uri="{FF2B5EF4-FFF2-40B4-BE49-F238E27FC236}">
                <a16:creationId xmlns:a16="http://schemas.microsoft.com/office/drawing/2014/main" id="{0EC5D840-B6D3-623A-8343-93C530153A97}"/>
              </a:ext>
            </a:extLst>
          </p:cNvPr>
          <p:cNvSpPr>
            <a:spLocks noGrp="1" noChangeArrowheads="1"/>
          </p:cNvSpPr>
          <p:nvPr>
            <p:ph type="ftr" sz="quarter" idx="10"/>
          </p:nvPr>
        </p:nvSpPr>
        <p:spPr>
          <a:ln/>
        </p:spPr>
        <p:txBody>
          <a:bodyPr/>
          <a:lstStyle>
            <a:lvl1pPr>
              <a:defRPr/>
            </a:lvl1pPr>
          </a:lstStyle>
          <a:p>
            <a:pPr>
              <a:defRPr/>
            </a:pPr>
            <a:endParaRPr lang="en-US"/>
          </a:p>
        </p:txBody>
      </p:sp>
      <p:sp>
        <p:nvSpPr>
          <p:cNvPr id="5" name="Rectangle 3">
            <a:extLst>
              <a:ext uri="{FF2B5EF4-FFF2-40B4-BE49-F238E27FC236}">
                <a16:creationId xmlns:a16="http://schemas.microsoft.com/office/drawing/2014/main" id="{0E189FA2-29A5-C5CE-0D92-C90FF73CF759}"/>
              </a:ext>
            </a:extLst>
          </p:cNvPr>
          <p:cNvSpPr>
            <a:spLocks noGrp="1" noChangeArrowheads="1"/>
          </p:cNvSpPr>
          <p:nvPr>
            <p:ph type="sldNum" sz="quarter" idx="11"/>
          </p:nvPr>
        </p:nvSpPr>
        <p:spPr>
          <a:ln/>
        </p:spPr>
        <p:txBody>
          <a:bodyPr/>
          <a:lstStyle>
            <a:lvl1pPr>
              <a:defRPr/>
            </a:lvl1pPr>
          </a:lstStyle>
          <a:p>
            <a:fld id="{423EB225-5E18-4AFB-A9CB-BDD73ED6F885}" type="slidenum">
              <a:rPr lang="en-US" altLang="en-US" smtClean="0"/>
              <a:pPr/>
              <a:t>‹#›</a:t>
            </a:fld>
            <a:endParaRPr lang="en-US" altLang="en-US"/>
          </a:p>
        </p:txBody>
      </p:sp>
      <p:sp>
        <p:nvSpPr>
          <p:cNvPr id="6" name="Rectangle 16">
            <a:extLst>
              <a:ext uri="{FF2B5EF4-FFF2-40B4-BE49-F238E27FC236}">
                <a16:creationId xmlns:a16="http://schemas.microsoft.com/office/drawing/2014/main" id="{31D4348B-EA71-879E-8203-54391C73D5E5}"/>
              </a:ext>
            </a:extLst>
          </p:cNvPr>
          <p:cNvSpPr>
            <a:spLocks noGrp="1" noChangeArrowheads="1"/>
          </p:cNvSpPr>
          <p:nvPr>
            <p:ph type="dt" sz="half" idx="12"/>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7447597C-5350-48B6-DCBD-9BF1411017F9}"/>
              </a:ext>
            </a:extLst>
          </p:cNvPr>
          <p:cNvSpPr/>
          <p:nvPr/>
        </p:nvSpPr>
        <p:spPr>
          <a:xfrm>
            <a:off x="457200" y="1235278"/>
            <a:ext cx="8370500" cy="100013"/>
          </a:xfrm>
          <a:prstGeom prst="rect">
            <a:avLst/>
          </a:prstGeom>
          <a:solidFill>
            <a:srgbClr val="9999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648306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2">
            <a:extLst>
              <a:ext uri="{FF2B5EF4-FFF2-40B4-BE49-F238E27FC236}">
                <a16:creationId xmlns:a16="http://schemas.microsoft.com/office/drawing/2014/main" id="{F9AD54EF-3FC5-3272-FE54-D0E3F9534B35}"/>
              </a:ext>
            </a:extLst>
          </p:cNvPr>
          <p:cNvSpPr>
            <a:spLocks noGrp="1" noChangeArrowheads="1"/>
          </p:cNvSpPr>
          <p:nvPr>
            <p:ph type="ftr" sz="quarter" idx="10"/>
          </p:nvPr>
        </p:nvSpPr>
        <p:spPr>
          <a:ln/>
        </p:spPr>
        <p:txBody>
          <a:bodyPr/>
          <a:lstStyle>
            <a:lvl1pPr>
              <a:defRPr/>
            </a:lvl1pPr>
          </a:lstStyle>
          <a:p>
            <a:pPr>
              <a:defRPr/>
            </a:pPr>
            <a:endParaRPr lang="en-US"/>
          </a:p>
        </p:txBody>
      </p:sp>
      <p:sp>
        <p:nvSpPr>
          <p:cNvPr id="5" name="Rectangle 3">
            <a:extLst>
              <a:ext uri="{FF2B5EF4-FFF2-40B4-BE49-F238E27FC236}">
                <a16:creationId xmlns:a16="http://schemas.microsoft.com/office/drawing/2014/main" id="{FC321292-8B6B-0F21-263A-B1B9598BB422}"/>
              </a:ext>
            </a:extLst>
          </p:cNvPr>
          <p:cNvSpPr>
            <a:spLocks noGrp="1" noChangeArrowheads="1"/>
          </p:cNvSpPr>
          <p:nvPr>
            <p:ph type="sldNum" sz="quarter" idx="11"/>
          </p:nvPr>
        </p:nvSpPr>
        <p:spPr>
          <a:ln/>
        </p:spPr>
        <p:txBody>
          <a:bodyPr/>
          <a:lstStyle>
            <a:lvl1pPr>
              <a:defRPr/>
            </a:lvl1pPr>
          </a:lstStyle>
          <a:p>
            <a:fld id="{4C3FD8C3-AC2B-4C0E-A64B-75F459BB9F1F}" type="slidenum">
              <a:rPr lang="en-US" altLang="en-US" smtClean="0"/>
              <a:pPr/>
              <a:t>‹#›</a:t>
            </a:fld>
            <a:endParaRPr lang="en-US" altLang="en-US"/>
          </a:p>
        </p:txBody>
      </p:sp>
      <p:sp>
        <p:nvSpPr>
          <p:cNvPr id="6" name="Rectangle 16">
            <a:extLst>
              <a:ext uri="{FF2B5EF4-FFF2-40B4-BE49-F238E27FC236}">
                <a16:creationId xmlns:a16="http://schemas.microsoft.com/office/drawing/2014/main" id="{383AEF31-1D37-5B40-3DEC-C3679BA6A474}"/>
              </a:ext>
            </a:extLst>
          </p:cNvPr>
          <p:cNvSpPr>
            <a:spLocks noGrp="1" noChangeArrowheads="1"/>
          </p:cNvSpPr>
          <p:nvPr>
            <p:ph type="dt" sz="half" idx="12"/>
          </p:nvPr>
        </p:nvSpPr>
        <p:spPr>
          <a:ln/>
        </p:spPr>
        <p:txBody>
          <a:bodyPr/>
          <a:lstStyle>
            <a:lvl1pPr>
              <a:defRPr/>
            </a:lvl1pPr>
          </a:lstStyle>
          <a:p>
            <a:pPr>
              <a:defRPr/>
            </a:pPr>
            <a:endParaRPr lang="en-US"/>
          </a:p>
        </p:txBody>
      </p:sp>
    </p:spTree>
    <p:extLst>
      <p:ext uri="{BB962C8B-B14F-4D97-AF65-F5344CB8AC3E}">
        <p14:creationId xmlns:p14="http://schemas.microsoft.com/office/powerpoint/2010/main" val="21514978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91445"/>
            <a:ext cx="8229600" cy="1371600"/>
          </a:xfrm>
        </p:spPr>
        <p:txBody>
          <a:bodyPr/>
          <a:lstStyle/>
          <a:p>
            <a:r>
              <a:rPr lang="en-US"/>
              <a:t>Click to edit Master title style</a:t>
            </a:r>
          </a:p>
        </p:txBody>
      </p:sp>
      <p:sp>
        <p:nvSpPr>
          <p:cNvPr id="3" name="Content Placeholder 2"/>
          <p:cNvSpPr>
            <a:spLocks noGrp="1"/>
          </p:cNvSpPr>
          <p:nvPr>
            <p:ph sz="half" idx="1"/>
          </p:nvPr>
        </p:nvSpPr>
        <p:spPr>
          <a:xfrm>
            <a:off x="457200" y="1272209"/>
            <a:ext cx="4038600" cy="4595191"/>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1272209"/>
            <a:ext cx="4038600" cy="4595191"/>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Rectangle 2">
            <a:extLst>
              <a:ext uri="{FF2B5EF4-FFF2-40B4-BE49-F238E27FC236}">
                <a16:creationId xmlns:a16="http://schemas.microsoft.com/office/drawing/2014/main" id="{00A05A1D-7095-7E52-0847-E1EB13A8AB9B}"/>
              </a:ext>
            </a:extLst>
          </p:cNvPr>
          <p:cNvSpPr>
            <a:spLocks noGrp="1" noChangeArrowheads="1"/>
          </p:cNvSpPr>
          <p:nvPr>
            <p:ph type="ftr" sz="quarter" idx="10"/>
          </p:nvPr>
        </p:nvSpPr>
        <p:spPr>
          <a:ln/>
        </p:spPr>
        <p:txBody>
          <a:bodyPr/>
          <a:lstStyle>
            <a:lvl1pPr>
              <a:defRPr/>
            </a:lvl1pPr>
          </a:lstStyle>
          <a:p>
            <a:pPr>
              <a:defRPr/>
            </a:pPr>
            <a:endParaRPr lang="en-US"/>
          </a:p>
        </p:txBody>
      </p:sp>
      <p:sp>
        <p:nvSpPr>
          <p:cNvPr id="6" name="Rectangle 3">
            <a:extLst>
              <a:ext uri="{FF2B5EF4-FFF2-40B4-BE49-F238E27FC236}">
                <a16:creationId xmlns:a16="http://schemas.microsoft.com/office/drawing/2014/main" id="{E573A413-50AA-E10E-D1C4-54AB2929A249}"/>
              </a:ext>
            </a:extLst>
          </p:cNvPr>
          <p:cNvSpPr>
            <a:spLocks noGrp="1" noChangeArrowheads="1"/>
          </p:cNvSpPr>
          <p:nvPr>
            <p:ph type="sldNum" sz="quarter" idx="11"/>
          </p:nvPr>
        </p:nvSpPr>
        <p:spPr>
          <a:ln/>
        </p:spPr>
        <p:txBody>
          <a:bodyPr/>
          <a:lstStyle>
            <a:lvl1pPr>
              <a:defRPr/>
            </a:lvl1pPr>
          </a:lstStyle>
          <a:p>
            <a:fld id="{D13A7BE9-7B13-42C1-A68A-8BCBE31F03F3}" type="slidenum">
              <a:rPr lang="en-US" altLang="en-US" smtClean="0"/>
              <a:pPr/>
              <a:t>‹#›</a:t>
            </a:fld>
            <a:endParaRPr lang="en-US" altLang="en-US"/>
          </a:p>
        </p:txBody>
      </p:sp>
      <p:sp>
        <p:nvSpPr>
          <p:cNvPr id="7" name="Rectangle 16">
            <a:extLst>
              <a:ext uri="{FF2B5EF4-FFF2-40B4-BE49-F238E27FC236}">
                <a16:creationId xmlns:a16="http://schemas.microsoft.com/office/drawing/2014/main" id="{6DC26CCE-5CF2-05E4-A18F-AF9D89E652A9}"/>
              </a:ext>
            </a:extLst>
          </p:cNvPr>
          <p:cNvSpPr>
            <a:spLocks noGrp="1" noChangeArrowheads="1"/>
          </p:cNvSpPr>
          <p:nvPr>
            <p:ph type="dt" sz="half" idx="12"/>
          </p:nvPr>
        </p:nvSpPr>
        <p:spPr>
          <a:ln/>
        </p:spPr>
        <p:txBody>
          <a:bodyPr/>
          <a:lstStyle>
            <a:lvl1pPr>
              <a:defRPr/>
            </a:lvl1pPr>
          </a:lstStyle>
          <a:p>
            <a:pPr>
              <a:defRPr/>
            </a:pPr>
            <a:endParaRPr lang="en-US"/>
          </a:p>
        </p:txBody>
      </p:sp>
      <p:sp>
        <p:nvSpPr>
          <p:cNvPr id="8" name="Rectangle 7">
            <a:extLst>
              <a:ext uri="{FF2B5EF4-FFF2-40B4-BE49-F238E27FC236}">
                <a16:creationId xmlns:a16="http://schemas.microsoft.com/office/drawing/2014/main" id="{DC8178A5-120B-E6E0-32D5-B9979205E616}"/>
              </a:ext>
            </a:extLst>
          </p:cNvPr>
          <p:cNvSpPr/>
          <p:nvPr/>
        </p:nvSpPr>
        <p:spPr>
          <a:xfrm>
            <a:off x="393589" y="1116008"/>
            <a:ext cx="8370500" cy="100013"/>
          </a:xfrm>
          <a:prstGeom prst="rect">
            <a:avLst/>
          </a:prstGeom>
          <a:solidFill>
            <a:srgbClr val="9999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875035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2">
            <a:extLst>
              <a:ext uri="{FF2B5EF4-FFF2-40B4-BE49-F238E27FC236}">
                <a16:creationId xmlns:a16="http://schemas.microsoft.com/office/drawing/2014/main" id="{596FBAD0-FE05-8FD5-F008-8D91060EE183}"/>
              </a:ext>
            </a:extLst>
          </p:cNvPr>
          <p:cNvSpPr>
            <a:spLocks noGrp="1" noChangeArrowheads="1"/>
          </p:cNvSpPr>
          <p:nvPr>
            <p:ph type="ftr" sz="quarter" idx="10"/>
          </p:nvPr>
        </p:nvSpPr>
        <p:spPr>
          <a:ln/>
        </p:spPr>
        <p:txBody>
          <a:bodyPr/>
          <a:lstStyle>
            <a:lvl1pPr>
              <a:defRPr/>
            </a:lvl1pPr>
          </a:lstStyle>
          <a:p>
            <a:pPr>
              <a:defRPr/>
            </a:pPr>
            <a:endParaRPr lang="en-US"/>
          </a:p>
        </p:txBody>
      </p:sp>
      <p:sp>
        <p:nvSpPr>
          <p:cNvPr id="8" name="Rectangle 3">
            <a:extLst>
              <a:ext uri="{FF2B5EF4-FFF2-40B4-BE49-F238E27FC236}">
                <a16:creationId xmlns:a16="http://schemas.microsoft.com/office/drawing/2014/main" id="{D3F60B54-4634-BE12-F781-52C02402AE84}"/>
              </a:ext>
            </a:extLst>
          </p:cNvPr>
          <p:cNvSpPr>
            <a:spLocks noGrp="1" noChangeArrowheads="1"/>
          </p:cNvSpPr>
          <p:nvPr>
            <p:ph type="sldNum" sz="quarter" idx="11"/>
          </p:nvPr>
        </p:nvSpPr>
        <p:spPr>
          <a:ln/>
        </p:spPr>
        <p:txBody>
          <a:bodyPr/>
          <a:lstStyle>
            <a:lvl1pPr>
              <a:defRPr/>
            </a:lvl1pPr>
          </a:lstStyle>
          <a:p>
            <a:fld id="{82ECF7F1-A95F-4109-9F7A-4CDC1FD99B02}" type="slidenum">
              <a:rPr lang="en-US" altLang="en-US" smtClean="0"/>
              <a:pPr/>
              <a:t>‹#›</a:t>
            </a:fld>
            <a:endParaRPr lang="en-US" altLang="en-US"/>
          </a:p>
        </p:txBody>
      </p:sp>
      <p:sp>
        <p:nvSpPr>
          <p:cNvPr id="9" name="Rectangle 16">
            <a:extLst>
              <a:ext uri="{FF2B5EF4-FFF2-40B4-BE49-F238E27FC236}">
                <a16:creationId xmlns:a16="http://schemas.microsoft.com/office/drawing/2014/main" id="{DA344AEB-D089-F4D4-7617-091325A689F7}"/>
              </a:ext>
            </a:extLst>
          </p:cNvPr>
          <p:cNvSpPr>
            <a:spLocks noGrp="1" noChangeArrowheads="1"/>
          </p:cNvSpPr>
          <p:nvPr>
            <p:ph type="dt" sz="half" idx="12"/>
          </p:nvPr>
        </p:nvSpPr>
        <p:spPr>
          <a:ln/>
        </p:spPr>
        <p:txBody>
          <a:bodyPr/>
          <a:lstStyle>
            <a:lvl1pPr>
              <a:defRPr/>
            </a:lvl1pPr>
          </a:lstStyle>
          <a:p>
            <a:pPr>
              <a:defRPr/>
            </a:pPr>
            <a:endParaRPr lang="en-US"/>
          </a:p>
        </p:txBody>
      </p:sp>
    </p:spTree>
    <p:extLst>
      <p:ext uri="{BB962C8B-B14F-4D97-AF65-F5344CB8AC3E}">
        <p14:creationId xmlns:p14="http://schemas.microsoft.com/office/powerpoint/2010/main" val="20119549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59631"/>
            <a:ext cx="8229600" cy="1371600"/>
          </a:xfrm>
        </p:spPr>
        <p:txBody>
          <a:bodyPr/>
          <a:lstStyle/>
          <a:p>
            <a:r>
              <a:rPr lang="en-US"/>
              <a:t>Click to edit Master title style</a:t>
            </a:r>
          </a:p>
        </p:txBody>
      </p:sp>
      <p:sp>
        <p:nvSpPr>
          <p:cNvPr id="3" name="Rectangle 2">
            <a:extLst>
              <a:ext uri="{FF2B5EF4-FFF2-40B4-BE49-F238E27FC236}">
                <a16:creationId xmlns:a16="http://schemas.microsoft.com/office/drawing/2014/main" id="{54877D71-2F49-0598-EF2D-EBDFDC849CDC}"/>
              </a:ext>
            </a:extLst>
          </p:cNvPr>
          <p:cNvSpPr>
            <a:spLocks noGrp="1" noChangeArrowheads="1"/>
          </p:cNvSpPr>
          <p:nvPr>
            <p:ph type="ftr" sz="quarter" idx="10"/>
          </p:nvPr>
        </p:nvSpPr>
        <p:spPr>
          <a:ln/>
        </p:spPr>
        <p:txBody>
          <a:bodyPr/>
          <a:lstStyle>
            <a:lvl1pPr>
              <a:defRPr/>
            </a:lvl1pPr>
          </a:lstStyle>
          <a:p>
            <a:pPr>
              <a:defRPr/>
            </a:pPr>
            <a:endParaRPr lang="en-US"/>
          </a:p>
        </p:txBody>
      </p:sp>
      <p:sp>
        <p:nvSpPr>
          <p:cNvPr id="4" name="Rectangle 3">
            <a:extLst>
              <a:ext uri="{FF2B5EF4-FFF2-40B4-BE49-F238E27FC236}">
                <a16:creationId xmlns:a16="http://schemas.microsoft.com/office/drawing/2014/main" id="{4366AE2E-7FBB-CFF0-6AB7-FC12419D5308}"/>
              </a:ext>
            </a:extLst>
          </p:cNvPr>
          <p:cNvSpPr>
            <a:spLocks noGrp="1" noChangeArrowheads="1"/>
          </p:cNvSpPr>
          <p:nvPr>
            <p:ph type="sldNum" sz="quarter" idx="11"/>
          </p:nvPr>
        </p:nvSpPr>
        <p:spPr>
          <a:ln/>
        </p:spPr>
        <p:txBody>
          <a:bodyPr/>
          <a:lstStyle>
            <a:lvl1pPr>
              <a:defRPr/>
            </a:lvl1pPr>
          </a:lstStyle>
          <a:p>
            <a:fld id="{8AFCC18E-3C17-47D6-BD39-B55E432C71C7}" type="slidenum">
              <a:rPr lang="en-US" altLang="en-US" smtClean="0"/>
              <a:pPr/>
              <a:t>‹#›</a:t>
            </a:fld>
            <a:endParaRPr lang="en-US" altLang="en-US"/>
          </a:p>
        </p:txBody>
      </p:sp>
      <p:sp>
        <p:nvSpPr>
          <p:cNvPr id="5" name="Rectangle 16">
            <a:extLst>
              <a:ext uri="{FF2B5EF4-FFF2-40B4-BE49-F238E27FC236}">
                <a16:creationId xmlns:a16="http://schemas.microsoft.com/office/drawing/2014/main" id="{5F852CBA-CBBB-399C-F561-B565F6D8807B}"/>
              </a:ext>
            </a:extLst>
          </p:cNvPr>
          <p:cNvSpPr>
            <a:spLocks noGrp="1" noChangeArrowheads="1"/>
          </p:cNvSpPr>
          <p:nvPr>
            <p:ph type="dt" sz="half" idx="12"/>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C1283EA4-DAA1-6A9A-377D-4591821B0A48}"/>
              </a:ext>
            </a:extLst>
          </p:cNvPr>
          <p:cNvSpPr/>
          <p:nvPr/>
        </p:nvSpPr>
        <p:spPr>
          <a:xfrm>
            <a:off x="457200" y="1123965"/>
            <a:ext cx="8370500" cy="100013"/>
          </a:xfrm>
          <a:prstGeom prst="rect">
            <a:avLst/>
          </a:prstGeom>
          <a:solidFill>
            <a:srgbClr val="9999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381907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74475522-F225-2F07-54B2-1A858EEC50CF}"/>
              </a:ext>
            </a:extLst>
          </p:cNvPr>
          <p:cNvSpPr>
            <a:spLocks noGrp="1" noChangeArrowheads="1"/>
          </p:cNvSpPr>
          <p:nvPr>
            <p:ph type="ftr" sz="quarter" idx="10"/>
          </p:nvPr>
        </p:nvSpPr>
        <p:spPr>
          <a:ln/>
        </p:spPr>
        <p:txBody>
          <a:bodyPr/>
          <a:lstStyle>
            <a:lvl1pPr>
              <a:defRPr/>
            </a:lvl1pPr>
          </a:lstStyle>
          <a:p>
            <a:pPr>
              <a:defRPr/>
            </a:pPr>
            <a:endParaRPr lang="en-US"/>
          </a:p>
        </p:txBody>
      </p:sp>
      <p:sp>
        <p:nvSpPr>
          <p:cNvPr id="3" name="Rectangle 3">
            <a:extLst>
              <a:ext uri="{FF2B5EF4-FFF2-40B4-BE49-F238E27FC236}">
                <a16:creationId xmlns:a16="http://schemas.microsoft.com/office/drawing/2014/main" id="{93A36220-D3BB-2220-E328-1BDC3ECBD9A3}"/>
              </a:ext>
            </a:extLst>
          </p:cNvPr>
          <p:cNvSpPr>
            <a:spLocks noGrp="1" noChangeArrowheads="1"/>
          </p:cNvSpPr>
          <p:nvPr>
            <p:ph type="sldNum" sz="quarter" idx="11"/>
          </p:nvPr>
        </p:nvSpPr>
        <p:spPr>
          <a:ln/>
        </p:spPr>
        <p:txBody>
          <a:bodyPr/>
          <a:lstStyle>
            <a:lvl1pPr>
              <a:defRPr/>
            </a:lvl1pPr>
          </a:lstStyle>
          <a:p>
            <a:fld id="{E84EE5D9-BDE8-4642-8E0E-45766C5B1CFC}" type="slidenum">
              <a:rPr lang="en-US" altLang="en-US" smtClean="0"/>
              <a:pPr/>
              <a:t>‹#›</a:t>
            </a:fld>
            <a:endParaRPr lang="en-US" altLang="en-US"/>
          </a:p>
        </p:txBody>
      </p:sp>
      <p:sp>
        <p:nvSpPr>
          <p:cNvPr id="4" name="Rectangle 16">
            <a:extLst>
              <a:ext uri="{FF2B5EF4-FFF2-40B4-BE49-F238E27FC236}">
                <a16:creationId xmlns:a16="http://schemas.microsoft.com/office/drawing/2014/main" id="{C69C6519-7D7E-1C39-19BF-6118A091BF04}"/>
              </a:ext>
            </a:extLst>
          </p:cNvPr>
          <p:cNvSpPr>
            <a:spLocks noGrp="1" noChangeArrowheads="1"/>
          </p:cNvSpPr>
          <p:nvPr>
            <p:ph type="dt" sz="half" idx="12"/>
          </p:nvPr>
        </p:nvSpPr>
        <p:spPr>
          <a:ln/>
        </p:spPr>
        <p:txBody>
          <a:bodyPr/>
          <a:lstStyle>
            <a:lvl1pPr>
              <a:defRPr/>
            </a:lvl1pPr>
          </a:lstStyle>
          <a:p>
            <a:pPr>
              <a:defRPr/>
            </a:pPr>
            <a:endParaRPr lang="en-US"/>
          </a:p>
        </p:txBody>
      </p:sp>
    </p:spTree>
    <p:extLst>
      <p:ext uri="{BB962C8B-B14F-4D97-AF65-F5344CB8AC3E}">
        <p14:creationId xmlns:p14="http://schemas.microsoft.com/office/powerpoint/2010/main" val="34038871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2">
            <a:extLst>
              <a:ext uri="{FF2B5EF4-FFF2-40B4-BE49-F238E27FC236}">
                <a16:creationId xmlns:a16="http://schemas.microsoft.com/office/drawing/2014/main" id="{C22C61B4-AE33-53ED-41FE-79C0EE9343BF}"/>
              </a:ext>
            </a:extLst>
          </p:cNvPr>
          <p:cNvSpPr>
            <a:spLocks noGrp="1" noChangeArrowheads="1"/>
          </p:cNvSpPr>
          <p:nvPr>
            <p:ph type="ftr" sz="quarter" idx="10"/>
          </p:nvPr>
        </p:nvSpPr>
        <p:spPr>
          <a:ln/>
        </p:spPr>
        <p:txBody>
          <a:bodyPr/>
          <a:lstStyle>
            <a:lvl1pPr>
              <a:defRPr/>
            </a:lvl1pPr>
          </a:lstStyle>
          <a:p>
            <a:pPr>
              <a:defRPr/>
            </a:pPr>
            <a:endParaRPr lang="en-US"/>
          </a:p>
        </p:txBody>
      </p:sp>
      <p:sp>
        <p:nvSpPr>
          <p:cNvPr id="6" name="Rectangle 3">
            <a:extLst>
              <a:ext uri="{FF2B5EF4-FFF2-40B4-BE49-F238E27FC236}">
                <a16:creationId xmlns:a16="http://schemas.microsoft.com/office/drawing/2014/main" id="{0E4B1558-DE88-2783-2867-4510C41576C6}"/>
              </a:ext>
            </a:extLst>
          </p:cNvPr>
          <p:cNvSpPr>
            <a:spLocks noGrp="1" noChangeArrowheads="1"/>
          </p:cNvSpPr>
          <p:nvPr>
            <p:ph type="sldNum" sz="quarter" idx="11"/>
          </p:nvPr>
        </p:nvSpPr>
        <p:spPr>
          <a:ln/>
        </p:spPr>
        <p:txBody>
          <a:bodyPr/>
          <a:lstStyle>
            <a:lvl1pPr>
              <a:defRPr/>
            </a:lvl1pPr>
          </a:lstStyle>
          <a:p>
            <a:fld id="{CDEFE1D6-1B81-4070-9A19-F809DD7BF064}" type="slidenum">
              <a:rPr lang="en-US" altLang="en-US" smtClean="0"/>
              <a:pPr/>
              <a:t>‹#›</a:t>
            </a:fld>
            <a:endParaRPr lang="en-US" altLang="en-US"/>
          </a:p>
        </p:txBody>
      </p:sp>
      <p:sp>
        <p:nvSpPr>
          <p:cNvPr id="7" name="Rectangle 16">
            <a:extLst>
              <a:ext uri="{FF2B5EF4-FFF2-40B4-BE49-F238E27FC236}">
                <a16:creationId xmlns:a16="http://schemas.microsoft.com/office/drawing/2014/main" id="{77726854-7C99-0A3F-EDA6-7BF7556D1817}"/>
              </a:ext>
            </a:extLst>
          </p:cNvPr>
          <p:cNvSpPr>
            <a:spLocks noGrp="1" noChangeArrowheads="1"/>
          </p:cNvSpPr>
          <p:nvPr>
            <p:ph type="dt" sz="half" idx="12"/>
          </p:nvPr>
        </p:nvSpPr>
        <p:spPr>
          <a:ln/>
        </p:spPr>
        <p:txBody>
          <a:bodyPr/>
          <a:lstStyle>
            <a:lvl1pPr>
              <a:defRPr/>
            </a:lvl1pPr>
          </a:lstStyle>
          <a:p>
            <a:pPr>
              <a:defRPr/>
            </a:pPr>
            <a:endParaRPr lang="en-US"/>
          </a:p>
        </p:txBody>
      </p:sp>
    </p:spTree>
    <p:extLst>
      <p:ext uri="{BB962C8B-B14F-4D97-AF65-F5344CB8AC3E}">
        <p14:creationId xmlns:p14="http://schemas.microsoft.com/office/powerpoint/2010/main" val="5860956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2">
            <a:extLst>
              <a:ext uri="{FF2B5EF4-FFF2-40B4-BE49-F238E27FC236}">
                <a16:creationId xmlns:a16="http://schemas.microsoft.com/office/drawing/2014/main" id="{7D913869-D610-825F-F9E5-B607130B6F12}"/>
              </a:ext>
            </a:extLst>
          </p:cNvPr>
          <p:cNvSpPr>
            <a:spLocks noGrp="1" noChangeArrowheads="1"/>
          </p:cNvSpPr>
          <p:nvPr>
            <p:ph type="ftr" sz="quarter" idx="10"/>
          </p:nvPr>
        </p:nvSpPr>
        <p:spPr>
          <a:ln/>
        </p:spPr>
        <p:txBody>
          <a:bodyPr/>
          <a:lstStyle>
            <a:lvl1pPr>
              <a:defRPr/>
            </a:lvl1pPr>
          </a:lstStyle>
          <a:p>
            <a:pPr>
              <a:defRPr/>
            </a:pPr>
            <a:endParaRPr lang="en-US"/>
          </a:p>
        </p:txBody>
      </p:sp>
      <p:sp>
        <p:nvSpPr>
          <p:cNvPr id="6" name="Rectangle 3">
            <a:extLst>
              <a:ext uri="{FF2B5EF4-FFF2-40B4-BE49-F238E27FC236}">
                <a16:creationId xmlns:a16="http://schemas.microsoft.com/office/drawing/2014/main" id="{F017CFA3-154C-A10B-09C3-3B57E49AF1F5}"/>
              </a:ext>
            </a:extLst>
          </p:cNvPr>
          <p:cNvSpPr>
            <a:spLocks noGrp="1" noChangeArrowheads="1"/>
          </p:cNvSpPr>
          <p:nvPr>
            <p:ph type="sldNum" sz="quarter" idx="11"/>
          </p:nvPr>
        </p:nvSpPr>
        <p:spPr>
          <a:ln/>
        </p:spPr>
        <p:txBody>
          <a:bodyPr/>
          <a:lstStyle>
            <a:lvl1pPr>
              <a:defRPr/>
            </a:lvl1pPr>
          </a:lstStyle>
          <a:p>
            <a:fld id="{E10289EB-BDE2-4E27-9E7F-E79D344B3119}" type="slidenum">
              <a:rPr lang="en-US" altLang="en-US" smtClean="0"/>
              <a:pPr/>
              <a:t>‹#›</a:t>
            </a:fld>
            <a:endParaRPr lang="en-US" altLang="en-US"/>
          </a:p>
        </p:txBody>
      </p:sp>
      <p:sp>
        <p:nvSpPr>
          <p:cNvPr id="7" name="Rectangle 16">
            <a:extLst>
              <a:ext uri="{FF2B5EF4-FFF2-40B4-BE49-F238E27FC236}">
                <a16:creationId xmlns:a16="http://schemas.microsoft.com/office/drawing/2014/main" id="{3C3434A0-709E-9E6E-7071-5493364FC1E4}"/>
              </a:ext>
            </a:extLst>
          </p:cNvPr>
          <p:cNvSpPr>
            <a:spLocks noGrp="1" noChangeArrowheads="1"/>
          </p:cNvSpPr>
          <p:nvPr>
            <p:ph type="dt" sz="half" idx="12"/>
          </p:nvPr>
        </p:nvSpPr>
        <p:spPr>
          <a:ln/>
        </p:spPr>
        <p:txBody>
          <a:bodyPr/>
          <a:lstStyle>
            <a:lvl1pPr>
              <a:defRPr/>
            </a:lvl1pPr>
          </a:lstStyle>
          <a:p>
            <a:pPr>
              <a:defRPr/>
            </a:pPr>
            <a:endParaRPr lang="en-US"/>
          </a:p>
        </p:txBody>
      </p:sp>
    </p:spTree>
    <p:extLst>
      <p:ext uri="{BB962C8B-B14F-4D97-AF65-F5344CB8AC3E}">
        <p14:creationId xmlns:p14="http://schemas.microsoft.com/office/powerpoint/2010/main" val="21273976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
            <a:extLst>
              <a:ext uri="{FF2B5EF4-FFF2-40B4-BE49-F238E27FC236}">
                <a16:creationId xmlns:a16="http://schemas.microsoft.com/office/drawing/2014/main" id="{9CF0EAA2-82E3-02C6-88F1-73BB7BF71727}"/>
              </a:ext>
            </a:extLst>
          </p:cNvPr>
          <p:cNvSpPr>
            <a:spLocks noGrp="1" noChangeArrowheads="1"/>
          </p:cNvSpPr>
          <p:nvPr>
            <p:ph type="ftr" sz="quarter" idx="10"/>
          </p:nvPr>
        </p:nvSpPr>
        <p:spPr>
          <a:ln/>
        </p:spPr>
        <p:txBody>
          <a:bodyPr/>
          <a:lstStyle>
            <a:lvl1pPr>
              <a:defRPr/>
            </a:lvl1pPr>
          </a:lstStyle>
          <a:p>
            <a:pPr>
              <a:defRPr/>
            </a:pPr>
            <a:endParaRPr lang="en-US"/>
          </a:p>
        </p:txBody>
      </p:sp>
      <p:sp>
        <p:nvSpPr>
          <p:cNvPr id="5" name="Rectangle 3">
            <a:extLst>
              <a:ext uri="{FF2B5EF4-FFF2-40B4-BE49-F238E27FC236}">
                <a16:creationId xmlns:a16="http://schemas.microsoft.com/office/drawing/2014/main" id="{18EA639E-141C-5355-9BB9-53EDDE383098}"/>
              </a:ext>
            </a:extLst>
          </p:cNvPr>
          <p:cNvSpPr>
            <a:spLocks noGrp="1" noChangeArrowheads="1"/>
          </p:cNvSpPr>
          <p:nvPr>
            <p:ph type="sldNum" sz="quarter" idx="11"/>
          </p:nvPr>
        </p:nvSpPr>
        <p:spPr>
          <a:ln/>
        </p:spPr>
        <p:txBody>
          <a:bodyPr/>
          <a:lstStyle>
            <a:lvl1pPr>
              <a:defRPr/>
            </a:lvl1pPr>
          </a:lstStyle>
          <a:p>
            <a:fld id="{CF50B97F-B5FB-4564-A051-2A03C2FFF431}" type="slidenum">
              <a:rPr lang="en-US" altLang="en-US" smtClean="0"/>
              <a:pPr/>
              <a:t>‹#›</a:t>
            </a:fld>
            <a:endParaRPr lang="en-US" altLang="en-US"/>
          </a:p>
        </p:txBody>
      </p:sp>
      <p:sp>
        <p:nvSpPr>
          <p:cNvPr id="6" name="Rectangle 16">
            <a:extLst>
              <a:ext uri="{FF2B5EF4-FFF2-40B4-BE49-F238E27FC236}">
                <a16:creationId xmlns:a16="http://schemas.microsoft.com/office/drawing/2014/main" id="{40486604-361D-BDC1-D24E-D3F5D2116CB6}"/>
              </a:ext>
            </a:extLst>
          </p:cNvPr>
          <p:cNvSpPr>
            <a:spLocks noGrp="1" noChangeArrowheads="1"/>
          </p:cNvSpPr>
          <p:nvPr>
            <p:ph type="dt" sz="half" idx="12"/>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BA654C8D-54CF-CA81-68E7-A81525D4F2D8}"/>
              </a:ext>
            </a:extLst>
          </p:cNvPr>
          <p:cNvSpPr/>
          <p:nvPr/>
        </p:nvSpPr>
        <p:spPr>
          <a:xfrm>
            <a:off x="457200" y="1489718"/>
            <a:ext cx="8370500" cy="100013"/>
          </a:xfrm>
          <a:prstGeom prst="rect">
            <a:avLst/>
          </a:prstGeom>
          <a:solidFill>
            <a:srgbClr val="9999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294949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457200"/>
            <a:ext cx="2057400" cy="54102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457200"/>
            <a:ext cx="60198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
            <a:extLst>
              <a:ext uri="{FF2B5EF4-FFF2-40B4-BE49-F238E27FC236}">
                <a16:creationId xmlns:a16="http://schemas.microsoft.com/office/drawing/2014/main" id="{617D27DD-053B-89C8-0CDD-8B6FC2AA33E3}"/>
              </a:ext>
            </a:extLst>
          </p:cNvPr>
          <p:cNvSpPr>
            <a:spLocks noGrp="1" noChangeArrowheads="1"/>
          </p:cNvSpPr>
          <p:nvPr>
            <p:ph type="ftr" sz="quarter" idx="10"/>
          </p:nvPr>
        </p:nvSpPr>
        <p:spPr>
          <a:ln/>
        </p:spPr>
        <p:txBody>
          <a:bodyPr/>
          <a:lstStyle>
            <a:lvl1pPr>
              <a:defRPr/>
            </a:lvl1pPr>
          </a:lstStyle>
          <a:p>
            <a:pPr>
              <a:defRPr/>
            </a:pPr>
            <a:endParaRPr lang="en-US"/>
          </a:p>
        </p:txBody>
      </p:sp>
      <p:sp>
        <p:nvSpPr>
          <p:cNvPr id="5" name="Rectangle 3">
            <a:extLst>
              <a:ext uri="{FF2B5EF4-FFF2-40B4-BE49-F238E27FC236}">
                <a16:creationId xmlns:a16="http://schemas.microsoft.com/office/drawing/2014/main" id="{91E5CC0D-020C-9B72-2432-4E828F0DC860}"/>
              </a:ext>
            </a:extLst>
          </p:cNvPr>
          <p:cNvSpPr>
            <a:spLocks noGrp="1" noChangeArrowheads="1"/>
          </p:cNvSpPr>
          <p:nvPr>
            <p:ph type="sldNum" sz="quarter" idx="11"/>
          </p:nvPr>
        </p:nvSpPr>
        <p:spPr>
          <a:ln/>
        </p:spPr>
        <p:txBody>
          <a:bodyPr/>
          <a:lstStyle>
            <a:lvl1pPr>
              <a:defRPr/>
            </a:lvl1pPr>
          </a:lstStyle>
          <a:p>
            <a:fld id="{29930400-99E8-46B2-8710-733B421157EB}" type="slidenum">
              <a:rPr lang="en-US" altLang="en-US" smtClean="0"/>
              <a:pPr/>
              <a:t>‹#›</a:t>
            </a:fld>
            <a:endParaRPr lang="en-US" altLang="en-US"/>
          </a:p>
        </p:txBody>
      </p:sp>
      <p:sp>
        <p:nvSpPr>
          <p:cNvPr id="6" name="Rectangle 16">
            <a:extLst>
              <a:ext uri="{FF2B5EF4-FFF2-40B4-BE49-F238E27FC236}">
                <a16:creationId xmlns:a16="http://schemas.microsoft.com/office/drawing/2014/main" id="{9E509658-25AD-20B6-AFBB-7F6CECBCBA90}"/>
              </a:ext>
            </a:extLst>
          </p:cNvPr>
          <p:cNvSpPr>
            <a:spLocks noGrp="1" noChangeArrowheads="1"/>
          </p:cNvSpPr>
          <p:nvPr>
            <p:ph type="dt" sz="half" idx="12"/>
          </p:nvPr>
        </p:nvSpPr>
        <p:spPr>
          <a:ln/>
        </p:spPr>
        <p:txBody>
          <a:bodyPr/>
          <a:lstStyle>
            <a:lvl1pPr>
              <a:defRPr/>
            </a:lvl1pPr>
          </a:lstStyle>
          <a:p>
            <a:pPr>
              <a:defRPr/>
            </a:pPr>
            <a:endParaRPr lang="en-US"/>
          </a:p>
        </p:txBody>
      </p:sp>
    </p:spTree>
    <p:extLst>
      <p:ext uri="{BB962C8B-B14F-4D97-AF65-F5344CB8AC3E}">
        <p14:creationId xmlns:p14="http://schemas.microsoft.com/office/powerpoint/2010/main" val="5321067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3979"/>
            <a:ext cx="8229600" cy="1371600"/>
          </a:xfrm>
        </p:spPr>
        <p:txBody>
          <a:bodyPr/>
          <a:lstStyle/>
          <a:p>
            <a:r>
              <a:rPr lang="en-US"/>
              <a:t>Click to edit Master title style</a:t>
            </a:r>
          </a:p>
        </p:txBody>
      </p:sp>
      <p:sp>
        <p:nvSpPr>
          <p:cNvPr id="3" name="Text Placeholder 2"/>
          <p:cNvSpPr>
            <a:spLocks noGrp="1"/>
          </p:cNvSpPr>
          <p:nvPr>
            <p:ph type="body" sz="half" idx="1"/>
          </p:nvPr>
        </p:nvSpPr>
        <p:spPr>
          <a:xfrm>
            <a:off x="457200" y="1367621"/>
            <a:ext cx="4038600" cy="44997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1367621"/>
            <a:ext cx="4038600" cy="44997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Rectangle 2">
            <a:extLst>
              <a:ext uri="{FF2B5EF4-FFF2-40B4-BE49-F238E27FC236}">
                <a16:creationId xmlns:a16="http://schemas.microsoft.com/office/drawing/2014/main" id="{2F719EAA-249E-4846-9B33-E1E9151C6F68}"/>
              </a:ext>
            </a:extLst>
          </p:cNvPr>
          <p:cNvSpPr>
            <a:spLocks noGrp="1" noChangeArrowheads="1"/>
          </p:cNvSpPr>
          <p:nvPr>
            <p:ph type="ftr" sz="quarter" idx="10"/>
          </p:nvPr>
        </p:nvSpPr>
        <p:spPr>
          <a:ln/>
        </p:spPr>
        <p:txBody>
          <a:bodyPr/>
          <a:lstStyle>
            <a:lvl1pPr>
              <a:defRPr/>
            </a:lvl1pPr>
          </a:lstStyle>
          <a:p>
            <a:pPr>
              <a:defRPr/>
            </a:pPr>
            <a:endParaRPr lang="en-US"/>
          </a:p>
        </p:txBody>
      </p:sp>
      <p:sp>
        <p:nvSpPr>
          <p:cNvPr id="6" name="Rectangle 3">
            <a:extLst>
              <a:ext uri="{FF2B5EF4-FFF2-40B4-BE49-F238E27FC236}">
                <a16:creationId xmlns:a16="http://schemas.microsoft.com/office/drawing/2014/main" id="{8E8C8794-0110-F974-AD1D-4DCD32757EE5}"/>
              </a:ext>
            </a:extLst>
          </p:cNvPr>
          <p:cNvSpPr>
            <a:spLocks noGrp="1" noChangeArrowheads="1"/>
          </p:cNvSpPr>
          <p:nvPr>
            <p:ph type="sldNum" sz="quarter" idx="11"/>
          </p:nvPr>
        </p:nvSpPr>
        <p:spPr>
          <a:ln/>
        </p:spPr>
        <p:txBody>
          <a:bodyPr/>
          <a:lstStyle>
            <a:lvl1pPr>
              <a:defRPr/>
            </a:lvl1pPr>
          </a:lstStyle>
          <a:p>
            <a:fld id="{F717C09C-1831-4B4C-85F7-B744B9F67890}" type="slidenum">
              <a:rPr lang="en-US" altLang="en-US" smtClean="0"/>
              <a:pPr/>
              <a:t>‹#›</a:t>
            </a:fld>
            <a:endParaRPr lang="en-US" altLang="en-US"/>
          </a:p>
        </p:txBody>
      </p:sp>
      <p:sp>
        <p:nvSpPr>
          <p:cNvPr id="7" name="Rectangle 16">
            <a:extLst>
              <a:ext uri="{FF2B5EF4-FFF2-40B4-BE49-F238E27FC236}">
                <a16:creationId xmlns:a16="http://schemas.microsoft.com/office/drawing/2014/main" id="{61220F6A-C0D2-982C-0CC2-BB2367B1A201}"/>
              </a:ext>
            </a:extLst>
          </p:cNvPr>
          <p:cNvSpPr>
            <a:spLocks noGrp="1" noChangeArrowheads="1"/>
          </p:cNvSpPr>
          <p:nvPr>
            <p:ph type="dt" sz="half" idx="12"/>
          </p:nvPr>
        </p:nvSpPr>
        <p:spPr>
          <a:ln/>
        </p:spPr>
        <p:txBody>
          <a:bodyPr/>
          <a:lstStyle>
            <a:lvl1pPr>
              <a:defRPr/>
            </a:lvl1pPr>
          </a:lstStyle>
          <a:p>
            <a:pPr>
              <a:defRPr/>
            </a:pPr>
            <a:endParaRPr lang="en-US"/>
          </a:p>
        </p:txBody>
      </p:sp>
      <p:sp>
        <p:nvSpPr>
          <p:cNvPr id="8" name="Rectangle 7">
            <a:extLst>
              <a:ext uri="{FF2B5EF4-FFF2-40B4-BE49-F238E27FC236}">
                <a16:creationId xmlns:a16="http://schemas.microsoft.com/office/drawing/2014/main" id="{FD10BF89-6D8F-274F-4F19-5735B86ED250}"/>
              </a:ext>
            </a:extLst>
          </p:cNvPr>
          <p:cNvSpPr/>
          <p:nvPr/>
        </p:nvSpPr>
        <p:spPr>
          <a:xfrm>
            <a:off x="457200" y="1123958"/>
            <a:ext cx="8370500" cy="100013"/>
          </a:xfrm>
          <a:prstGeom prst="rect">
            <a:avLst/>
          </a:prstGeom>
          <a:solidFill>
            <a:srgbClr val="9999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940383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74434" name="Rectangle 2">
            <a:extLst>
              <a:ext uri="{FF2B5EF4-FFF2-40B4-BE49-F238E27FC236}">
                <a16:creationId xmlns:a16="http://schemas.microsoft.com/office/drawing/2014/main" id="{839B0420-276A-4BBA-9B8D-2581239FCA9A}"/>
              </a:ext>
            </a:extLst>
          </p:cNvPr>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eaLnBrk="1" hangingPunct="1">
              <a:defRPr sz="1200">
                <a:latin typeface="Arial" charset="0"/>
              </a:defRPr>
            </a:lvl1pPr>
          </a:lstStyle>
          <a:p>
            <a:pPr>
              <a:defRPr/>
            </a:pPr>
            <a:endParaRPr lang="en-US"/>
          </a:p>
        </p:txBody>
      </p:sp>
      <p:sp>
        <p:nvSpPr>
          <p:cNvPr id="274435" name="Rectangle 3">
            <a:extLst>
              <a:ext uri="{FF2B5EF4-FFF2-40B4-BE49-F238E27FC236}">
                <a16:creationId xmlns:a16="http://schemas.microsoft.com/office/drawing/2014/main" id="{C6836D65-D844-48C1-BD51-5896174C9132}"/>
              </a:ext>
            </a:extLst>
          </p:cNvPr>
          <p:cNvSpPr>
            <a:spLocks noGrp="1" noChangeArrowheads="1"/>
          </p:cNvSpPr>
          <p:nvPr>
            <p:ph type="sldNum" sz="quarter" idx="4"/>
          </p:nvPr>
        </p:nvSpPr>
        <p:spPr bwMode="auto">
          <a:xfrm>
            <a:off x="6553200" y="6248400"/>
            <a:ext cx="2133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atin typeface="Arial Black" panose="020B0A04020102020204" pitchFamily="34" charset="0"/>
              </a:defRPr>
            </a:lvl1pPr>
          </a:lstStyle>
          <a:p>
            <a:fld id="{F717C09C-1831-4B4C-85F7-B744B9F67890}" type="slidenum">
              <a:rPr lang="en-US" altLang="en-US" smtClean="0"/>
              <a:pPr/>
              <a:t>‹#›</a:t>
            </a:fld>
            <a:endParaRPr lang="en-US" altLang="en-US"/>
          </a:p>
        </p:txBody>
      </p:sp>
      <p:grpSp>
        <p:nvGrpSpPr>
          <p:cNvPr id="1028" name="Group 4">
            <a:extLst>
              <a:ext uri="{FF2B5EF4-FFF2-40B4-BE49-F238E27FC236}">
                <a16:creationId xmlns:a16="http://schemas.microsoft.com/office/drawing/2014/main" id="{FEE57E7A-C80A-0755-2089-2C53E3FA96DB}"/>
              </a:ext>
            </a:extLst>
          </p:cNvPr>
          <p:cNvGrpSpPr>
            <a:grpSpLocks/>
          </p:cNvGrpSpPr>
          <p:nvPr/>
        </p:nvGrpSpPr>
        <p:grpSpPr bwMode="auto">
          <a:xfrm>
            <a:off x="0" y="0"/>
            <a:ext cx="9144000" cy="546100"/>
            <a:chOff x="0" y="0"/>
            <a:chExt cx="5760" cy="344"/>
          </a:xfrm>
        </p:grpSpPr>
        <p:sp>
          <p:nvSpPr>
            <p:cNvPr id="1032" name="Rectangle 5">
              <a:extLst>
                <a:ext uri="{FF2B5EF4-FFF2-40B4-BE49-F238E27FC236}">
                  <a16:creationId xmlns:a16="http://schemas.microsoft.com/office/drawing/2014/main" id="{B653B317-0A87-4CCC-9571-2F709F322035}"/>
                </a:ext>
              </a:extLst>
            </p:cNvPr>
            <p:cNvSpPr>
              <a:spLocks noChangeArrowheads="1"/>
            </p:cNvSpPr>
            <p:nvPr/>
          </p:nvSpPr>
          <p:spPr bwMode="auto">
            <a:xfrm>
              <a:off x="0" y="0"/>
              <a:ext cx="180" cy="336"/>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defRPr/>
              </a:pPr>
              <a:endParaRPr lang="tr-TR" altLang="tr-TR" sz="2400">
                <a:latin typeface="Times New Roman" pitchFamily="18" charset="0"/>
              </a:endParaRPr>
            </a:p>
          </p:txBody>
        </p:sp>
        <p:sp>
          <p:nvSpPr>
            <p:cNvPr id="1033" name="Rectangle 6">
              <a:extLst>
                <a:ext uri="{FF2B5EF4-FFF2-40B4-BE49-F238E27FC236}">
                  <a16:creationId xmlns:a16="http://schemas.microsoft.com/office/drawing/2014/main" id="{4A1A39B1-7157-46C7-80EE-A6A6C6068A8C}"/>
                </a:ext>
              </a:extLst>
            </p:cNvPr>
            <p:cNvSpPr>
              <a:spLocks noChangeArrowheads="1"/>
            </p:cNvSpPr>
            <p:nvPr/>
          </p:nvSpPr>
          <p:spPr bwMode="auto">
            <a:xfrm>
              <a:off x="260" y="85"/>
              <a:ext cx="5500" cy="173"/>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tr-TR" altLang="tr-TR" sz="2400">
                <a:latin typeface="Times New Roman" pitchFamily="18" charset="0"/>
              </a:endParaRPr>
            </a:p>
          </p:txBody>
        </p:sp>
        <p:sp>
          <p:nvSpPr>
            <p:cNvPr id="1034" name="Rectangle 7">
              <a:extLst>
                <a:ext uri="{FF2B5EF4-FFF2-40B4-BE49-F238E27FC236}">
                  <a16:creationId xmlns:a16="http://schemas.microsoft.com/office/drawing/2014/main" id="{DFC27E1E-7B31-4EF5-90FB-EAF7F2E3ACFD}"/>
                </a:ext>
              </a:extLst>
            </p:cNvPr>
            <p:cNvSpPr>
              <a:spLocks noChangeArrowheads="1"/>
            </p:cNvSpPr>
            <p:nvPr/>
          </p:nvSpPr>
          <p:spPr bwMode="auto">
            <a:xfrm>
              <a:off x="258" y="85"/>
              <a:ext cx="87" cy="8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tr-TR" altLang="tr-TR">
                <a:solidFill>
                  <a:schemeClr val="hlink"/>
                </a:solidFill>
              </a:endParaRPr>
            </a:p>
          </p:txBody>
        </p:sp>
        <p:sp>
          <p:nvSpPr>
            <p:cNvPr id="1035" name="Rectangle 8">
              <a:extLst>
                <a:ext uri="{FF2B5EF4-FFF2-40B4-BE49-F238E27FC236}">
                  <a16:creationId xmlns:a16="http://schemas.microsoft.com/office/drawing/2014/main" id="{85D778C1-1BD5-4A50-8DAF-E49C9C92C5CD}"/>
                </a:ext>
              </a:extLst>
            </p:cNvPr>
            <p:cNvSpPr>
              <a:spLocks noChangeArrowheads="1"/>
            </p:cNvSpPr>
            <p:nvPr/>
          </p:nvSpPr>
          <p:spPr bwMode="auto">
            <a:xfrm>
              <a:off x="345" y="0"/>
              <a:ext cx="88" cy="87"/>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tr-TR" altLang="tr-TR">
                <a:solidFill>
                  <a:schemeClr val="hlink"/>
                </a:solidFill>
              </a:endParaRPr>
            </a:p>
          </p:txBody>
        </p:sp>
        <p:sp>
          <p:nvSpPr>
            <p:cNvPr id="1036" name="Rectangle 9">
              <a:extLst>
                <a:ext uri="{FF2B5EF4-FFF2-40B4-BE49-F238E27FC236}">
                  <a16:creationId xmlns:a16="http://schemas.microsoft.com/office/drawing/2014/main" id="{FD8969B2-448C-46E3-BC56-5143A8B3FA36}"/>
                </a:ext>
              </a:extLst>
            </p:cNvPr>
            <p:cNvSpPr>
              <a:spLocks noChangeArrowheads="1"/>
            </p:cNvSpPr>
            <p:nvPr/>
          </p:nvSpPr>
          <p:spPr bwMode="auto">
            <a:xfrm>
              <a:off x="345" y="85"/>
              <a:ext cx="88" cy="89"/>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tr-TR" altLang="tr-TR">
                <a:solidFill>
                  <a:schemeClr val="accent2"/>
                </a:solidFill>
              </a:endParaRPr>
            </a:p>
          </p:txBody>
        </p:sp>
        <p:sp>
          <p:nvSpPr>
            <p:cNvPr id="1037" name="Rectangle 10">
              <a:extLst>
                <a:ext uri="{FF2B5EF4-FFF2-40B4-BE49-F238E27FC236}">
                  <a16:creationId xmlns:a16="http://schemas.microsoft.com/office/drawing/2014/main" id="{B4792188-569F-498A-8387-6928A2C1BBB0}"/>
                </a:ext>
              </a:extLst>
            </p:cNvPr>
            <p:cNvSpPr>
              <a:spLocks noChangeArrowheads="1"/>
            </p:cNvSpPr>
            <p:nvPr/>
          </p:nvSpPr>
          <p:spPr bwMode="auto">
            <a:xfrm>
              <a:off x="173" y="173"/>
              <a:ext cx="86" cy="87"/>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tr-TR" altLang="tr-TR">
                <a:solidFill>
                  <a:schemeClr val="hlink"/>
                </a:solidFill>
              </a:endParaRPr>
            </a:p>
          </p:txBody>
        </p:sp>
        <p:sp>
          <p:nvSpPr>
            <p:cNvPr id="1038" name="Rectangle 11">
              <a:extLst>
                <a:ext uri="{FF2B5EF4-FFF2-40B4-BE49-F238E27FC236}">
                  <a16:creationId xmlns:a16="http://schemas.microsoft.com/office/drawing/2014/main" id="{3524B95B-5120-4208-9243-49F80DD33196}"/>
                </a:ext>
              </a:extLst>
            </p:cNvPr>
            <p:cNvSpPr>
              <a:spLocks noChangeArrowheads="1"/>
            </p:cNvSpPr>
            <p:nvPr/>
          </p:nvSpPr>
          <p:spPr bwMode="auto">
            <a:xfrm>
              <a:off x="83" y="86"/>
              <a:ext cx="89" cy="87"/>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tr-TR" altLang="tr-TR" sz="2400">
                <a:latin typeface="Times New Roman" pitchFamily="18" charset="0"/>
              </a:endParaRPr>
            </a:p>
          </p:txBody>
        </p:sp>
        <p:sp>
          <p:nvSpPr>
            <p:cNvPr id="1039" name="Rectangle 12">
              <a:extLst>
                <a:ext uri="{FF2B5EF4-FFF2-40B4-BE49-F238E27FC236}">
                  <a16:creationId xmlns:a16="http://schemas.microsoft.com/office/drawing/2014/main" id="{53832FA5-0898-4881-A7EA-D17A82CD83D4}"/>
                </a:ext>
              </a:extLst>
            </p:cNvPr>
            <p:cNvSpPr>
              <a:spLocks noChangeArrowheads="1"/>
            </p:cNvSpPr>
            <p:nvPr/>
          </p:nvSpPr>
          <p:spPr bwMode="auto">
            <a:xfrm>
              <a:off x="258" y="171"/>
              <a:ext cx="87" cy="87"/>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tr-TR" altLang="tr-TR">
                <a:solidFill>
                  <a:schemeClr val="accent2"/>
                </a:solidFill>
              </a:endParaRPr>
            </a:p>
          </p:txBody>
        </p:sp>
        <p:sp>
          <p:nvSpPr>
            <p:cNvPr id="1040" name="Rectangle 13">
              <a:extLst>
                <a:ext uri="{FF2B5EF4-FFF2-40B4-BE49-F238E27FC236}">
                  <a16:creationId xmlns:a16="http://schemas.microsoft.com/office/drawing/2014/main" id="{20A8BA7D-3BED-4998-AB4F-0059C14654B8}"/>
                </a:ext>
              </a:extLst>
            </p:cNvPr>
            <p:cNvSpPr>
              <a:spLocks noChangeArrowheads="1"/>
            </p:cNvSpPr>
            <p:nvPr/>
          </p:nvSpPr>
          <p:spPr bwMode="auto">
            <a:xfrm>
              <a:off x="173" y="258"/>
              <a:ext cx="86" cy="8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tr-TR" altLang="tr-TR">
                <a:solidFill>
                  <a:schemeClr val="accent2"/>
                </a:solidFill>
              </a:endParaRPr>
            </a:p>
          </p:txBody>
        </p:sp>
      </p:grpSp>
      <p:sp>
        <p:nvSpPr>
          <p:cNvPr id="1029" name="Rectangle 14">
            <a:extLst>
              <a:ext uri="{FF2B5EF4-FFF2-40B4-BE49-F238E27FC236}">
                <a16:creationId xmlns:a16="http://schemas.microsoft.com/office/drawing/2014/main" id="{3CB25864-D50C-C571-C6CD-72975AC5545F}"/>
              </a:ext>
            </a:extLst>
          </p:cNvPr>
          <p:cNvSpPr>
            <a:spLocks noGrp="1" noChangeArrowheads="1"/>
          </p:cNvSpPr>
          <p:nvPr>
            <p:ph type="title"/>
          </p:nvPr>
        </p:nvSpPr>
        <p:spPr bwMode="auto">
          <a:xfrm>
            <a:off x="457200" y="457200"/>
            <a:ext cx="822960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tr-TR"/>
              <a:t>Click to edit Master title style</a:t>
            </a:r>
          </a:p>
        </p:txBody>
      </p:sp>
      <p:sp>
        <p:nvSpPr>
          <p:cNvPr id="1030" name="Rectangle 15">
            <a:extLst>
              <a:ext uri="{FF2B5EF4-FFF2-40B4-BE49-F238E27FC236}">
                <a16:creationId xmlns:a16="http://schemas.microsoft.com/office/drawing/2014/main" id="{105057BF-8809-45AA-6DAD-6465C3A20B0B}"/>
              </a:ext>
            </a:extLst>
          </p:cNvPr>
          <p:cNvSpPr>
            <a:spLocks noGrp="1" noChangeArrowheads="1"/>
          </p:cNvSpPr>
          <p:nvPr>
            <p:ph type="body" idx="1"/>
          </p:nvPr>
        </p:nvSpPr>
        <p:spPr bwMode="auto">
          <a:xfrm>
            <a:off x="457200" y="1981200"/>
            <a:ext cx="8229600" cy="388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tr-TR"/>
              <a:t>Click to edit Master text styles</a:t>
            </a:r>
          </a:p>
          <a:p>
            <a:pPr lvl="1"/>
            <a:r>
              <a:rPr lang="en-US" altLang="tr-TR"/>
              <a:t>Second level</a:t>
            </a:r>
          </a:p>
          <a:p>
            <a:pPr lvl="2"/>
            <a:r>
              <a:rPr lang="en-US" altLang="tr-TR"/>
              <a:t>Third level</a:t>
            </a:r>
          </a:p>
          <a:p>
            <a:pPr lvl="3"/>
            <a:r>
              <a:rPr lang="en-US" altLang="tr-TR"/>
              <a:t>Fourth level</a:t>
            </a:r>
          </a:p>
          <a:p>
            <a:pPr lvl="4"/>
            <a:r>
              <a:rPr lang="en-US" altLang="tr-TR"/>
              <a:t>Fifth level</a:t>
            </a:r>
          </a:p>
        </p:txBody>
      </p:sp>
      <p:sp>
        <p:nvSpPr>
          <p:cNvPr id="274448" name="Rectangle 16">
            <a:extLst>
              <a:ext uri="{FF2B5EF4-FFF2-40B4-BE49-F238E27FC236}">
                <a16:creationId xmlns:a16="http://schemas.microsoft.com/office/drawing/2014/main" id="{353943DA-78F6-4B90-86EF-119FC03DFEB3}"/>
              </a:ext>
            </a:extLst>
          </p:cNvPr>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charset="0"/>
              </a:defRPr>
            </a:lvl1pPr>
          </a:lstStyle>
          <a:p>
            <a:pPr>
              <a:defRPr/>
            </a:pPr>
            <a:endParaRPr lang="en-US"/>
          </a:p>
        </p:txBody>
      </p:sp>
    </p:spTree>
    <p:extLst>
      <p:ext uri="{BB962C8B-B14F-4D97-AF65-F5344CB8AC3E}">
        <p14:creationId xmlns:p14="http://schemas.microsoft.com/office/powerpoint/2010/main" val="308702659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rtl="0" eaLnBrk="1" fontAlgn="base" hangingPunct="1">
        <a:spcBef>
          <a:spcPct val="0"/>
        </a:spcBef>
        <a:spcAft>
          <a:spcPct val="0"/>
        </a:spcAft>
        <a:defRPr sz="4400">
          <a:solidFill>
            <a:schemeClr val="tx1"/>
          </a:solidFill>
          <a:latin typeface="+mj-lt"/>
          <a:ea typeface="+mj-ea"/>
          <a:cs typeface="+mj-cs"/>
        </a:defRPr>
      </a:lvl1pPr>
      <a:lvl2pPr algn="l" rtl="0" eaLnBrk="1" fontAlgn="base" hangingPunct="1">
        <a:spcBef>
          <a:spcPct val="0"/>
        </a:spcBef>
        <a:spcAft>
          <a:spcPct val="0"/>
        </a:spcAft>
        <a:defRPr sz="4400">
          <a:solidFill>
            <a:schemeClr val="tx1"/>
          </a:solidFill>
          <a:latin typeface="Arial" charset="0"/>
        </a:defRPr>
      </a:lvl2pPr>
      <a:lvl3pPr algn="l" rtl="0" eaLnBrk="1" fontAlgn="base" hangingPunct="1">
        <a:spcBef>
          <a:spcPct val="0"/>
        </a:spcBef>
        <a:spcAft>
          <a:spcPct val="0"/>
        </a:spcAft>
        <a:defRPr sz="4400">
          <a:solidFill>
            <a:schemeClr val="tx1"/>
          </a:solidFill>
          <a:latin typeface="Arial" charset="0"/>
        </a:defRPr>
      </a:lvl3pPr>
      <a:lvl4pPr algn="l" rtl="0" eaLnBrk="1" fontAlgn="base" hangingPunct="1">
        <a:spcBef>
          <a:spcPct val="0"/>
        </a:spcBef>
        <a:spcAft>
          <a:spcPct val="0"/>
        </a:spcAft>
        <a:defRPr sz="4400">
          <a:solidFill>
            <a:schemeClr val="tx1"/>
          </a:solidFill>
          <a:latin typeface="Arial" charset="0"/>
        </a:defRPr>
      </a:lvl4pPr>
      <a:lvl5pPr algn="l" rtl="0" eaLnBrk="1" fontAlgn="base" hangingPunct="1">
        <a:spcBef>
          <a:spcPct val="0"/>
        </a:spcBef>
        <a:spcAft>
          <a:spcPct val="0"/>
        </a:spcAft>
        <a:defRPr sz="4400">
          <a:solidFill>
            <a:schemeClr val="tx1"/>
          </a:solidFill>
          <a:latin typeface="Arial" charset="0"/>
        </a:defRPr>
      </a:lvl5pPr>
      <a:lvl6pPr marL="457200" algn="l" rtl="0" eaLnBrk="1" fontAlgn="base" hangingPunct="1">
        <a:spcBef>
          <a:spcPct val="0"/>
        </a:spcBef>
        <a:spcAft>
          <a:spcPct val="0"/>
        </a:spcAft>
        <a:defRPr sz="4400">
          <a:solidFill>
            <a:schemeClr val="tx1"/>
          </a:solidFill>
          <a:latin typeface="Arial" charset="0"/>
        </a:defRPr>
      </a:lvl6pPr>
      <a:lvl7pPr marL="914400" algn="l" rtl="0" eaLnBrk="1" fontAlgn="base" hangingPunct="1">
        <a:spcBef>
          <a:spcPct val="0"/>
        </a:spcBef>
        <a:spcAft>
          <a:spcPct val="0"/>
        </a:spcAft>
        <a:defRPr sz="4400">
          <a:solidFill>
            <a:schemeClr val="tx1"/>
          </a:solidFill>
          <a:latin typeface="Arial" charset="0"/>
        </a:defRPr>
      </a:lvl7pPr>
      <a:lvl8pPr marL="1371600" algn="l" rtl="0" eaLnBrk="1" fontAlgn="base" hangingPunct="1">
        <a:spcBef>
          <a:spcPct val="0"/>
        </a:spcBef>
        <a:spcAft>
          <a:spcPct val="0"/>
        </a:spcAft>
        <a:defRPr sz="4400">
          <a:solidFill>
            <a:schemeClr val="tx1"/>
          </a:solidFill>
          <a:latin typeface="Arial" charset="0"/>
        </a:defRPr>
      </a:lvl8pPr>
      <a:lvl9pPr marL="1828800" algn="l" rtl="0" eaLnBrk="1" fontAlgn="base" hangingPunct="1">
        <a:spcBef>
          <a:spcPct val="0"/>
        </a:spcBef>
        <a:spcAft>
          <a:spcPct val="0"/>
        </a:spcAft>
        <a:defRPr sz="4400">
          <a:solidFill>
            <a:schemeClr val="tx1"/>
          </a:solidFill>
          <a:latin typeface="Arial" charset="0"/>
        </a:defRPr>
      </a:lvl9pPr>
    </p:titleStyle>
    <p:body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1" fontAlgn="base" hangingPunct="1">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defRPr>
      </a:lvl2pPr>
      <a:lvl3pPr marL="1143000" indent="-228600" algn="l" rtl="0" eaLnBrk="1" fontAlgn="base" hangingPunct="1">
        <a:spcBef>
          <a:spcPct val="20000"/>
        </a:spcBef>
        <a:spcAft>
          <a:spcPct val="0"/>
        </a:spcAft>
        <a:buClr>
          <a:schemeClr val="bg2"/>
        </a:buClr>
        <a:buSzPct val="65000"/>
        <a:buFont typeface="Wingdings" panose="05000000000000000000" pitchFamily="2" charset="2"/>
        <a:buChar char="n"/>
        <a:defRPr sz="2400">
          <a:solidFill>
            <a:schemeClr val="tx1"/>
          </a:solidFill>
          <a:latin typeface="+mn-lt"/>
        </a:defRPr>
      </a:lvl3pPr>
      <a:lvl4pPr marL="1600200" indent="-228600" algn="l" rtl="0" eaLnBrk="1" fontAlgn="base" hangingPunct="1">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defRPr>
      </a:lvl4pPr>
      <a:lvl5pPr marL="20574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defRPr>
      </a:lvl5pPr>
      <a:lvl6pPr marL="2514600" indent="-228600" algn="l" rtl="0" eaLnBrk="1" fontAlgn="base" hangingPunct="1">
        <a:spcBef>
          <a:spcPct val="20000"/>
        </a:spcBef>
        <a:spcAft>
          <a:spcPct val="0"/>
        </a:spcAft>
        <a:buClr>
          <a:schemeClr val="bg2"/>
        </a:buClr>
        <a:buFont typeface="Wingdings" pitchFamily="2" charset="2"/>
        <a:buChar char="§"/>
        <a:defRPr sz="2000">
          <a:solidFill>
            <a:schemeClr val="tx1"/>
          </a:solidFill>
          <a:latin typeface="+mn-lt"/>
        </a:defRPr>
      </a:lvl6pPr>
      <a:lvl7pPr marL="2971800" indent="-228600" algn="l" rtl="0" eaLnBrk="1" fontAlgn="base" hangingPunct="1">
        <a:spcBef>
          <a:spcPct val="20000"/>
        </a:spcBef>
        <a:spcAft>
          <a:spcPct val="0"/>
        </a:spcAft>
        <a:buClr>
          <a:schemeClr val="bg2"/>
        </a:buClr>
        <a:buFont typeface="Wingdings" pitchFamily="2" charset="2"/>
        <a:buChar char="§"/>
        <a:defRPr sz="2000">
          <a:solidFill>
            <a:schemeClr val="tx1"/>
          </a:solidFill>
          <a:latin typeface="+mn-lt"/>
        </a:defRPr>
      </a:lvl7pPr>
      <a:lvl8pPr marL="3429000" indent="-228600" algn="l" rtl="0" eaLnBrk="1" fontAlgn="base" hangingPunct="1">
        <a:spcBef>
          <a:spcPct val="20000"/>
        </a:spcBef>
        <a:spcAft>
          <a:spcPct val="0"/>
        </a:spcAft>
        <a:buClr>
          <a:schemeClr val="bg2"/>
        </a:buClr>
        <a:buFont typeface="Wingdings" pitchFamily="2" charset="2"/>
        <a:buChar char="§"/>
        <a:defRPr sz="2000">
          <a:solidFill>
            <a:schemeClr val="tx1"/>
          </a:solidFill>
          <a:latin typeface="+mn-lt"/>
        </a:defRPr>
      </a:lvl8pPr>
      <a:lvl9pPr marL="3886200" indent="-228600" algn="l" rtl="0" eaLnBrk="1" fontAlgn="base" hangingPunct="1">
        <a:spcBef>
          <a:spcPct val="20000"/>
        </a:spcBef>
        <a:spcAft>
          <a:spcPct val="0"/>
        </a:spcAft>
        <a:buClr>
          <a:schemeClr val="bg2"/>
        </a:buClr>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hyperlink" Target="https://docs.oracle.com/javase/8/docs/api/java/util/Iterator.html" TargetMode="External"/><Relationship Id="rId2" Type="http://schemas.openxmlformats.org/officeDocument/2006/relationships/hyperlink" Target="https://en.cppreference.com/w/cpp/iterator"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F1AE05B-22E2-B200-2034-700D2F5C9996}"/>
              </a:ext>
            </a:extLst>
          </p:cNvPr>
          <p:cNvSpPr>
            <a:spLocks noGrp="1"/>
          </p:cNvSpPr>
          <p:nvPr>
            <p:ph type="ctrTitle"/>
          </p:nvPr>
        </p:nvSpPr>
        <p:spPr/>
        <p:txBody>
          <a:bodyPr/>
          <a:lstStyle/>
          <a:p>
            <a:r>
              <a:rPr lang="en-US" dirty="0"/>
              <a:t>Behavioral Patterns</a:t>
            </a:r>
          </a:p>
        </p:txBody>
      </p:sp>
      <p:sp>
        <p:nvSpPr>
          <p:cNvPr id="5" name="Subtitle 4">
            <a:extLst>
              <a:ext uri="{FF2B5EF4-FFF2-40B4-BE49-F238E27FC236}">
                <a16:creationId xmlns:a16="http://schemas.microsoft.com/office/drawing/2014/main" id="{8EA57E58-7D08-16E5-82B2-71B5B305C974}"/>
              </a:ext>
            </a:extLst>
          </p:cNvPr>
          <p:cNvSpPr>
            <a:spLocks noGrp="1"/>
          </p:cNvSpPr>
          <p:nvPr>
            <p:ph type="subTitle" idx="1"/>
          </p:nvPr>
        </p:nvSpPr>
        <p:spPr/>
        <p:txBody>
          <a:bodyPr/>
          <a:lstStyle/>
          <a:p>
            <a:r>
              <a:rPr lang="en-US" dirty="0"/>
              <a:t>Iterator</a:t>
            </a:r>
          </a:p>
          <a:p>
            <a:r>
              <a:rPr lang="en-US" dirty="0"/>
              <a:t>Visitor</a:t>
            </a:r>
          </a:p>
          <a:p>
            <a:endParaRPr lang="en-US" dirty="0"/>
          </a:p>
        </p:txBody>
      </p:sp>
    </p:spTree>
    <p:extLst>
      <p:ext uri="{BB962C8B-B14F-4D97-AF65-F5344CB8AC3E}">
        <p14:creationId xmlns:p14="http://schemas.microsoft.com/office/powerpoint/2010/main" val="27131444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21BE6D1-7187-9E71-BA45-8B2D5E4653E9}"/>
              </a:ext>
            </a:extLst>
          </p:cNvPr>
          <p:cNvSpPr>
            <a:spLocks noGrp="1"/>
          </p:cNvSpPr>
          <p:nvPr>
            <p:ph idx="4294967295"/>
          </p:nvPr>
        </p:nvSpPr>
        <p:spPr>
          <a:xfrm>
            <a:off x="467544" y="476672"/>
            <a:ext cx="8604448" cy="5102696"/>
          </a:xfrm>
        </p:spPr>
        <p:txBody>
          <a:bodyPr/>
          <a:lstStyle/>
          <a:p>
            <a:pPr marL="0" indent="0">
              <a:buNone/>
            </a:pPr>
            <a:r>
              <a:rPr lang="en-US" sz="2400" dirty="0"/>
              <a:t>class </a:t>
            </a:r>
            <a:r>
              <a:rPr lang="en-US" sz="2400" dirty="0" err="1"/>
              <a:t>ProductCatalog</a:t>
            </a:r>
            <a:r>
              <a:rPr lang="en-US" sz="2400" dirty="0"/>
              <a:t>&lt;T&gt; {</a:t>
            </a:r>
          </a:p>
          <a:p>
            <a:pPr marL="0" indent="0">
              <a:buNone/>
            </a:pPr>
            <a:r>
              <a:rPr lang="en-US" sz="2400" dirty="0"/>
              <a:t>    private Node&lt;T&gt; </a:t>
            </a:r>
            <a:r>
              <a:rPr lang="en-US" sz="2400" dirty="0" err="1"/>
              <a:t>productRoot</a:t>
            </a:r>
            <a:r>
              <a:rPr lang="en-US" sz="2400" dirty="0"/>
              <a:t>; // This is a BST</a:t>
            </a:r>
          </a:p>
          <a:p>
            <a:pPr marL="0" indent="0">
              <a:buNone/>
            </a:pPr>
            <a:r>
              <a:rPr lang="en-US" sz="2400" dirty="0"/>
              <a:t>    public Node&lt;T&gt; </a:t>
            </a:r>
            <a:r>
              <a:rPr lang="en-US" sz="2400" dirty="0" err="1"/>
              <a:t>getElements</a:t>
            </a:r>
            <a:r>
              <a:rPr lang="en-US" sz="2400" dirty="0"/>
              <a:t>() {</a:t>
            </a:r>
          </a:p>
          <a:p>
            <a:pPr marL="0" indent="0">
              <a:buNone/>
            </a:pPr>
            <a:r>
              <a:rPr lang="en-US" sz="2400" dirty="0"/>
              <a:t>        </a:t>
            </a:r>
            <a:r>
              <a:rPr lang="en-US" sz="2400" b="1" dirty="0"/>
              <a:t>return </a:t>
            </a:r>
            <a:r>
              <a:rPr lang="en-US" sz="2400" b="1" dirty="0" err="1"/>
              <a:t>this.productRoot</a:t>
            </a:r>
            <a:r>
              <a:rPr lang="en-US" sz="2400" b="1" dirty="0"/>
              <a:t>; //  DESIGN FLAW</a:t>
            </a:r>
          </a:p>
          <a:p>
            <a:pPr marL="0" indent="0">
              <a:buNone/>
            </a:pPr>
            <a:r>
              <a:rPr lang="en-US" sz="2400" dirty="0"/>
              <a:t>    } //… methods to manage catalog item like add in BST</a:t>
            </a:r>
          </a:p>
          <a:p>
            <a:pPr marL="0" indent="0">
              <a:buNone/>
            </a:pPr>
            <a:r>
              <a:rPr lang="en-US" sz="2400" dirty="0"/>
              <a:t>}</a:t>
            </a:r>
          </a:p>
          <a:p>
            <a:pPr marL="0" indent="0">
              <a:buNone/>
            </a:pPr>
            <a:r>
              <a:rPr lang="en-US" sz="2400" dirty="0"/>
              <a:t>class Client {</a:t>
            </a:r>
          </a:p>
          <a:p>
            <a:pPr marL="0" indent="0">
              <a:buNone/>
            </a:pPr>
            <a:r>
              <a:rPr lang="en-US" sz="2400" dirty="0"/>
              <a:t>    public &lt;T&gt; void </a:t>
            </a:r>
            <a:r>
              <a:rPr lang="en-US" sz="2400" dirty="0" err="1"/>
              <a:t>printCatalog</a:t>
            </a:r>
            <a:r>
              <a:rPr lang="en-US" sz="2400" dirty="0"/>
              <a:t> (</a:t>
            </a:r>
            <a:r>
              <a:rPr lang="en-US" sz="2400" dirty="0" err="1"/>
              <a:t>ProductCatalog</a:t>
            </a:r>
            <a:r>
              <a:rPr lang="en-US" sz="2400" dirty="0"/>
              <a:t>&lt;T&gt; catalog) {</a:t>
            </a:r>
          </a:p>
          <a:p>
            <a:pPr marL="0" indent="0">
              <a:buNone/>
            </a:pPr>
            <a:r>
              <a:rPr lang="en-US" sz="2400" dirty="0"/>
              <a:t>        Node&lt;T&gt; root = </a:t>
            </a:r>
            <a:r>
              <a:rPr lang="en-US" sz="2400" dirty="0" err="1"/>
              <a:t>catalog.getElements</a:t>
            </a:r>
            <a:r>
              <a:rPr lang="en-US" sz="2400" dirty="0"/>
              <a:t>(); </a:t>
            </a:r>
          </a:p>
          <a:p>
            <a:pPr marL="0" indent="0">
              <a:buNone/>
            </a:pPr>
            <a:r>
              <a:rPr lang="en-US" sz="2400" dirty="0"/>
              <a:t>        </a:t>
            </a:r>
            <a:r>
              <a:rPr lang="en-US" sz="2400" dirty="0" err="1"/>
              <a:t>this.printInOrder</a:t>
            </a:r>
            <a:r>
              <a:rPr lang="en-US" sz="2400" dirty="0"/>
              <a:t>(root); </a:t>
            </a:r>
          </a:p>
          <a:p>
            <a:pPr marL="0" indent="0">
              <a:buNone/>
            </a:pPr>
            <a:r>
              <a:rPr lang="en-US" sz="2400" dirty="0"/>
              <a:t>        //Client is forced to write its own logic, go left/right </a:t>
            </a:r>
            <a:r>
              <a:rPr lang="en-US" sz="2400" dirty="0" err="1"/>
              <a:t>etc</a:t>
            </a:r>
            <a:endParaRPr lang="en-US" sz="2400" dirty="0"/>
          </a:p>
          <a:p>
            <a:pPr marL="0" indent="0">
              <a:buNone/>
            </a:pPr>
            <a:r>
              <a:rPr lang="en-US" sz="2400" dirty="0"/>
              <a:t>    }</a:t>
            </a:r>
          </a:p>
          <a:p>
            <a:pPr marL="0" indent="0">
              <a:buNone/>
            </a:pPr>
            <a:r>
              <a:rPr lang="en-US" sz="2400" dirty="0"/>
              <a:t>    private &lt;T&gt; void </a:t>
            </a:r>
            <a:r>
              <a:rPr lang="en-US" sz="2400" dirty="0" err="1"/>
              <a:t>printInOrder</a:t>
            </a:r>
            <a:r>
              <a:rPr lang="en-US" sz="2400" dirty="0"/>
              <a:t>(Node&lt;T&gt; node) { /* ... */ }</a:t>
            </a:r>
          </a:p>
          <a:p>
            <a:pPr marL="0" indent="0">
              <a:buNone/>
            </a:pPr>
            <a:r>
              <a:rPr lang="en-US" sz="2400" dirty="0"/>
              <a:t>}</a:t>
            </a:r>
          </a:p>
        </p:txBody>
      </p:sp>
    </p:spTree>
    <p:extLst>
      <p:ext uri="{BB962C8B-B14F-4D97-AF65-F5344CB8AC3E}">
        <p14:creationId xmlns:p14="http://schemas.microsoft.com/office/powerpoint/2010/main" val="9946407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0418" name="Rectangle 2">
            <a:extLst>
              <a:ext uri="{FF2B5EF4-FFF2-40B4-BE49-F238E27FC236}">
                <a16:creationId xmlns:a16="http://schemas.microsoft.com/office/drawing/2014/main" id="{46FE9115-07A7-7A91-D672-0D10A664985E}"/>
              </a:ext>
            </a:extLst>
          </p:cNvPr>
          <p:cNvSpPr>
            <a:spLocks noGrp="1" noChangeArrowheads="1"/>
          </p:cNvSpPr>
          <p:nvPr>
            <p:ph type="title"/>
          </p:nvPr>
        </p:nvSpPr>
        <p:spPr/>
        <p:txBody>
          <a:bodyPr/>
          <a:lstStyle/>
          <a:p>
            <a:pPr eaLnBrk="1" hangingPunct="1"/>
            <a:r>
              <a:rPr lang="en-GB" altLang="tr-TR" dirty="0"/>
              <a:t>Iterator is a </a:t>
            </a:r>
            <a:r>
              <a:rPr lang="en-GB" altLang="tr-TR" dirty="0" err="1"/>
              <a:t>GoF</a:t>
            </a:r>
            <a:r>
              <a:rPr lang="en-GB" altLang="tr-TR" dirty="0"/>
              <a:t> pattern </a:t>
            </a:r>
            <a:r>
              <a:rPr lang="en-GB" altLang="tr-TR" dirty="0">
                <a:sym typeface="Wingdings" panose="05000000000000000000" pitchFamily="2" charset="2"/>
              </a:rPr>
              <a:t></a:t>
            </a:r>
            <a:endParaRPr lang="en-GB" altLang="tr-TR" dirty="0"/>
          </a:p>
        </p:txBody>
      </p:sp>
      <p:sp>
        <p:nvSpPr>
          <p:cNvPr id="60419" name="Rectangle 3">
            <a:extLst>
              <a:ext uri="{FF2B5EF4-FFF2-40B4-BE49-F238E27FC236}">
                <a16:creationId xmlns:a16="http://schemas.microsoft.com/office/drawing/2014/main" id="{27907512-C3F1-ECC4-FEE8-25567D573568}"/>
              </a:ext>
            </a:extLst>
          </p:cNvPr>
          <p:cNvSpPr>
            <a:spLocks noGrp="1" noChangeArrowheads="1"/>
          </p:cNvSpPr>
          <p:nvPr>
            <p:ph idx="1"/>
          </p:nvPr>
        </p:nvSpPr>
        <p:spPr/>
        <p:txBody>
          <a:bodyPr/>
          <a:lstStyle/>
          <a:p>
            <a:pPr eaLnBrk="1" hangingPunct="1"/>
            <a:r>
              <a:rPr lang="en-US" altLang="tr-TR" dirty="0"/>
              <a:t>They are so good and part of languages</a:t>
            </a:r>
          </a:p>
          <a:p>
            <a:pPr lvl="1"/>
            <a:r>
              <a:rPr lang="en-US" dirty="0">
                <a:hlinkClick r:id="rId2"/>
              </a:rPr>
              <a:t>Iterator library - cppreference.com</a:t>
            </a:r>
            <a:endParaRPr lang="en-US" dirty="0"/>
          </a:p>
          <a:p>
            <a:pPr lvl="1"/>
            <a:r>
              <a:rPr lang="en-US" dirty="0">
                <a:hlinkClick r:id="rId3"/>
              </a:rPr>
              <a:t>Iterator (Java Platform SE 8 ) (oracle.com)</a:t>
            </a:r>
            <a:endParaRPr lang="en-US" altLang="tr-TR" dirty="0"/>
          </a:p>
          <a:p>
            <a:pPr eaLnBrk="1" hangingPunct="1"/>
            <a:endParaRPr lang="en-US" altLang="tr-TR" dirty="0"/>
          </a:p>
          <a:p>
            <a:pPr eaLnBrk="1" hangingPunct="1"/>
            <a:r>
              <a:rPr lang="en-US" altLang="tr-TR" dirty="0"/>
              <a:t>Traverse the elements of an aggregate without exposing the underlying implementation</a:t>
            </a:r>
          </a:p>
          <a:p>
            <a:pPr lvl="1" eaLnBrk="1" hangingPunct="1"/>
            <a:r>
              <a:rPr lang="en-US" altLang="tr-TR" dirty="0"/>
              <a:t>Aggregate can be a collection, an array,…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a:extLst>
              <a:ext uri="{FF2B5EF4-FFF2-40B4-BE49-F238E27FC236}">
                <a16:creationId xmlns:a16="http://schemas.microsoft.com/office/drawing/2014/main" id="{179BD171-B6D6-D92F-6158-BC9B86E63463}"/>
              </a:ext>
            </a:extLst>
          </p:cNvPr>
          <p:cNvSpPr>
            <a:spLocks noGrp="1" noChangeArrowheads="1"/>
          </p:cNvSpPr>
          <p:nvPr>
            <p:ph type="title"/>
          </p:nvPr>
        </p:nvSpPr>
        <p:spPr/>
        <p:txBody>
          <a:bodyPr/>
          <a:lstStyle/>
          <a:p>
            <a:pPr eaLnBrk="1" hangingPunct="1"/>
            <a:r>
              <a:rPr lang="en-US" altLang="tr-TR"/>
              <a:t>Iterator Pattern</a:t>
            </a:r>
          </a:p>
        </p:txBody>
      </p:sp>
      <p:sp>
        <p:nvSpPr>
          <p:cNvPr id="61443" name="Rectangle 3">
            <a:extLst>
              <a:ext uri="{FF2B5EF4-FFF2-40B4-BE49-F238E27FC236}">
                <a16:creationId xmlns:a16="http://schemas.microsoft.com/office/drawing/2014/main" id="{B6AE6515-018F-087D-74CF-0BC6A50D1899}"/>
              </a:ext>
            </a:extLst>
          </p:cNvPr>
          <p:cNvSpPr>
            <a:spLocks noGrp="1" noChangeArrowheads="1"/>
          </p:cNvSpPr>
          <p:nvPr>
            <p:ph idx="1"/>
          </p:nvPr>
        </p:nvSpPr>
        <p:spPr/>
        <p:txBody>
          <a:bodyPr/>
          <a:lstStyle/>
          <a:p>
            <a:pPr eaLnBrk="1" hangingPunct="1">
              <a:lnSpc>
                <a:spcPct val="110000"/>
              </a:lnSpc>
              <a:spcBef>
                <a:spcPts val="600"/>
              </a:spcBef>
            </a:pPr>
            <a:r>
              <a:rPr lang="en-US" altLang="tr-TR" b="1" dirty="0"/>
              <a:t>Intent</a:t>
            </a:r>
          </a:p>
          <a:p>
            <a:pPr lvl="1" eaLnBrk="1" hangingPunct="1">
              <a:lnSpc>
                <a:spcPct val="110000"/>
              </a:lnSpc>
              <a:spcBef>
                <a:spcPts val="600"/>
              </a:spcBef>
            </a:pPr>
            <a:r>
              <a:rPr lang="en-US" altLang="tr-TR" dirty="0"/>
              <a:t>Provide a way to access the elements of an aggregate object </a:t>
            </a:r>
            <a:r>
              <a:rPr lang="en-US" altLang="tr-TR" i="1" dirty="0"/>
              <a:t>sequentially</a:t>
            </a:r>
            <a:r>
              <a:rPr lang="en-US" altLang="tr-TR" dirty="0"/>
              <a:t> </a:t>
            </a:r>
            <a:r>
              <a:rPr lang="en-US" altLang="tr-TR" u="sng" dirty="0"/>
              <a:t>without exposing </a:t>
            </a:r>
            <a:r>
              <a:rPr lang="en-US" altLang="tr-TR" dirty="0"/>
              <a:t>its underlying representation</a:t>
            </a:r>
          </a:p>
          <a:p>
            <a:pPr lvl="1" eaLnBrk="1" hangingPunct="1">
              <a:lnSpc>
                <a:spcPct val="110000"/>
              </a:lnSpc>
              <a:spcBef>
                <a:spcPts val="600"/>
              </a:spcBef>
            </a:pPr>
            <a:r>
              <a:rPr lang="en-US" altLang="tr-TR" dirty="0"/>
              <a:t>An </a:t>
            </a:r>
            <a:r>
              <a:rPr lang="en-US" altLang="tr-TR" i="1" dirty="0"/>
              <a:t>aggregate object </a:t>
            </a:r>
            <a:r>
              <a:rPr lang="en-US" altLang="tr-TR" dirty="0"/>
              <a:t>is an object that contains other objects for the purpose of grouping those objects as a unit. </a:t>
            </a:r>
          </a:p>
        </p:txBody>
      </p:sp>
      <p:pic>
        <p:nvPicPr>
          <p:cNvPr id="3" name="Picture 2">
            <a:extLst>
              <a:ext uri="{FF2B5EF4-FFF2-40B4-BE49-F238E27FC236}">
                <a16:creationId xmlns:a16="http://schemas.microsoft.com/office/drawing/2014/main" id="{6ECBF16A-7870-3A84-21E7-F1F6A03F9D0E}"/>
              </a:ext>
            </a:extLst>
          </p:cNvPr>
          <p:cNvPicPr>
            <a:picLocks noChangeAspect="1"/>
          </p:cNvPicPr>
          <p:nvPr/>
        </p:nvPicPr>
        <p:blipFill>
          <a:blip r:embed="rId2"/>
          <a:stretch>
            <a:fillRect/>
          </a:stretch>
        </p:blipFill>
        <p:spPr>
          <a:xfrm>
            <a:off x="1556916" y="5214913"/>
            <a:ext cx="6030167" cy="1238423"/>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04CD90-04CE-B3E0-4A5A-DE55C09E3310}"/>
              </a:ext>
            </a:extLst>
          </p:cNvPr>
          <p:cNvSpPr>
            <a:spLocks noGrp="1"/>
          </p:cNvSpPr>
          <p:nvPr>
            <p:ph type="title"/>
          </p:nvPr>
        </p:nvSpPr>
        <p:spPr/>
        <p:txBody>
          <a:bodyPr/>
          <a:lstStyle/>
          <a:p>
            <a:r>
              <a:rPr lang="en-US" dirty="0"/>
              <a:t>Why talk about iterator?</a:t>
            </a:r>
          </a:p>
        </p:txBody>
      </p:sp>
      <p:sp>
        <p:nvSpPr>
          <p:cNvPr id="3" name="Content Placeholder 2">
            <a:extLst>
              <a:ext uri="{FF2B5EF4-FFF2-40B4-BE49-F238E27FC236}">
                <a16:creationId xmlns:a16="http://schemas.microsoft.com/office/drawing/2014/main" id="{FEA6F57D-75C6-9070-CE2A-1367F2A01072}"/>
              </a:ext>
            </a:extLst>
          </p:cNvPr>
          <p:cNvSpPr>
            <a:spLocks noGrp="1"/>
          </p:cNvSpPr>
          <p:nvPr>
            <p:ph idx="1"/>
          </p:nvPr>
        </p:nvSpPr>
        <p:spPr>
          <a:xfrm>
            <a:off x="457200" y="1335291"/>
            <a:ext cx="8686800" cy="4532109"/>
          </a:xfrm>
        </p:spPr>
        <p:txBody>
          <a:bodyPr/>
          <a:lstStyle/>
          <a:p>
            <a:pPr>
              <a:lnSpc>
                <a:spcPct val="110000"/>
              </a:lnSpc>
            </a:pPr>
            <a:r>
              <a:rPr lang="en-US" dirty="0"/>
              <a:t>We can write our own iterator!</a:t>
            </a:r>
          </a:p>
          <a:p>
            <a:pPr lvl="1">
              <a:lnSpc>
                <a:spcPct val="110000"/>
              </a:lnSpc>
            </a:pPr>
            <a:r>
              <a:rPr lang="en-US" dirty="0"/>
              <a:t>Customized iterator for our own classes</a:t>
            </a:r>
          </a:p>
          <a:p>
            <a:pPr lvl="1">
              <a:lnSpc>
                <a:spcPct val="110000"/>
              </a:lnSpc>
            </a:pPr>
            <a:r>
              <a:rPr lang="en-US" dirty="0"/>
              <a:t>Customized traversal algorithms for our own classes</a:t>
            </a:r>
          </a:p>
          <a:p>
            <a:pPr>
              <a:lnSpc>
                <a:spcPct val="110000"/>
              </a:lnSpc>
            </a:pPr>
            <a:r>
              <a:rPr lang="en-US" dirty="0"/>
              <a:t>When should we use an iterator?</a:t>
            </a:r>
          </a:p>
          <a:p>
            <a:pPr>
              <a:lnSpc>
                <a:spcPct val="110000"/>
              </a:lnSpc>
            </a:pPr>
            <a:r>
              <a:rPr lang="en-US" dirty="0"/>
              <a:t>Why using iterators make sense?</a:t>
            </a:r>
          </a:p>
          <a:p>
            <a:pPr>
              <a:lnSpc>
                <a:spcPct val="110000"/>
              </a:lnSpc>
            </a:pPr>
            <a:endParaRPr lang="en-US" dirty="0"/>
          </a:p>
          <a:p>
            <a:pPr marL="0" indent="0">
              <a:lnSpc>
                <a:spcPct val="110000"/>
              </a:lnSpc>
              <a:buNone/>
            </a:pPr>
            <a:r>
              <a:rPr lang="en-US" sz="2800" dirty="0"/>
              <a:t>You know </a:t>
            </a:r>
            <a:r>
              <a:rPr lang="en-US" sz="2800" i="1" dirty="0"/>
              <a:t>how to use</a:t>
            </a:r>
            <a:r>
              <a:rPr lang="en-US" sz="2800" dirty="0"/>
              <a:t> it. Today, </a:t>
            </a:r>
            <a:r>
              <a:rPr lang="en-US" sz="2800" i="1" dirty="0"/>
              <a:t>why we must have</a:t>
            </a:r>
            <a:r>
              <a:rPr lang="en-US" sz="2800" dirty="0"/>
              <a:t> it</a:t>
            </a:r>
          </a:p>
          <a:p>
            <a:pPr>
              <a:lnSpc>
                <a:spcPct val="110000"/>
              </a:lnSpc>
            </a:pPr>
            <a:r>
              <a:rPr lang="en-US" sz="2800" dirty="0"/>
              <a:t>Suggestion: </a:t>
            </a:r>
            <a:r>
              <a:rPr lang="en-US" sz="2800"/>
              <a:t>use an existing </a:t>
            </a:r>
            <a:r>
              <a:rPr lang="en-US" sz="2800" dirty="0"/>
              <a:t>iterator if possible. </a:t>
            </a:r>
          </a:p>
          <a:p>
            <a:pPr>
              <a:lnSpc>
                <a:spcPct val="110000"/>
              </a:lnSpc>
            </a:pPr>
            <a:endParaRPr lang="en-US" dirty="0"/>
          </a:p>
        </p:txBody>
      </p:sp>
    </p:spTree>
    <p:extLst>
      <p:ext uri="{BB962C8B-B14F-4D97-AF65-F5344CB8AC3E}">
        <p14:creationId xmlns:p14="http://schemas.microsoft.com/office/powerpoint/2010/main" val="33443914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98B1DB-554E-D264-8473-05FEE53A8B26}"/>
              </a:ext>
            </a:extLst>
          </p:cNvPr>
          <p:cNvSpPr>
            <a:spLocks noGrp="1"/>
          </p:cNvSpPr>
          <p:nvPr>
            <p:ph type="title"/>
          </p:nvPr>
        </p:nvSpPr>
        <p:spPr/>
        <p:txBody>
          <a:bodyPr/>
          <a:lstStyle/>
          <a:p>
            <a:r>
              <a:rPr lang="en-US" dirty="0"/>
              <a:t>Structure –</a:t>
            </a:r>
            <a:r>
              <a:rPr lang="en-US" dirty="0" err="1"/>
              <a:t>GoF</a:t>
            </a:r>
            <a:r>
              <a:rPr lang="en-US" dirty="0"/>
              <a:t> </a:t>
            </a:r>
          </a:p>
        </p:txBody>
      </p:sp>
      <p:pic>
        <p:nvPicPr>
          <p:cNvPr id="6" name="Picture 5">
            <a:extLst>
              <a:ext uri="{FF2B5EF4-FFF2-40B4-BE49-F238E27FC236}">
                <a16:creationId xmlns:a16="http://schemas.microsoft.com/office/drawing/2014/main" id="{AB9811EB-40D9-243D-1933-2BFA07966068}"/>
              </a:ext>
            </a:extLst>
          </p:cNvPr>
          <p:cNvPicPr>
            <a:picLocks noChangeAspect="1"/>
          </p:cNvPicPr>
          <p:nvPr/>
        </p:nvPicPr>
        <p:blipFill>
          <a:blip r:embed="rId2"/>
          <a:stretch>
            <a:fillRect/>
          </a:stretch>
        </p:blipFill>
        <p:spPr>
          <a:xfrm>
            <a:off x="431651" y="1376772"/>
            <a:ext cx="7884765" cy="4104456"/>
          </a:xfrm>
          <a:prstGeom prst="rect">
            <a:avLst/>
          </a:prstGeom>
        </p:spPr>
      </p:pic>
      <p:sp>
        <p:nvSpPr>
          <p:cNvPr id="7" name="TextBox 6">
            <a:extLst>
              <a:ext uri="{FF2B5EF4-FFF2-40B4-BE49-F238E27FC236}">
                <a16:creationId xmlns:a16="http://schemas.microsoft.com/office/drawing/2014/main" id="{F327729B-A2CA-3C69-4A40-259736E62D38}"/>
              </a:ext>
            </a:extLst>
          </p:cNvPr>
          <p:cNvSpPr txBox="1"/>
          <p:nvPr/>
        </p:nvSpPr>
        <p:spPr>
          <a:xfrm>
            <a:off x="3851920" y="5661248"/>
            <a:ext cx="5442516" cy="923330"/>
          </a:xfrm>
          <a:prstGeom prst="rect">
            <a:avLst/>
          </a:prstGeom>
          <a:noFill/>
        </p:spPr>
        <p:txBody>
          <a:bodyPr wrap="none" rtlCol="0">
            <a:spAutoFit/>
          </a:bodyPr>
          <a:lstStyle/>
          <a:p>
            <a:r>
              <a:rPr lang="en-US" dirty="0"/>
              <a:t>iterator(); next(); </a:t>
            </a:r>
            <a:r>
              <a:rPr lang="en-US" dirty="0" err="1"/>
              <a:t>hasNext</a:t>
            </a:r>
            <a:r>
              <a:rPr lang="en-US" dirty="0"/>
              <a:t>(); Java  alternative</a:t>
            </a:r>
          </a:p>
          <a:p>
            <a:r>
              <a:rPr lang="en-US" dirty="0"/>
              <a:t>begin(); it++; end(); C++ alternative</a:t>
            </a:r>
          </a:p>
          <a:p>
            <a:r>
              <a:rPr lang="en-US" dirty="0"/>
              <a:t>Foreach loops are using iterators behind the scene </a:t>
            </a:r>
          </a:p>
        </p:txBody>
      </p:sp>
      <p:pic>
        <p:nvPicPr>
          <p:cNvPr id="3" name="Picture 2">
            <a:extLst>
              <a:ext uri="{FF2B5EF4-FFF2-40B4-BE49-F238E27FC236}">
                <a16:creationId xmlns:a16="http://schemas.microsoft.com/office/drawing/2014/main" id="{28A77112-4C8D-AF33-22A6-4AE93EE2F0D7}"/>
              </a:ext>
            </a:extLst>
          </p:cNvPr>
          <p:cNvPicPr>
            <a:picLocks noChangeAspect="1"/>
          </p:cNvPicPr>
          <p:nvPr/>
        </p:nvPicPr>
        <p:blipFill>
          <a:blip r:embed="rId3"/>
          <a:stretch>
            <a:fillRect/>
          </a:stretch>
        </p:blipFill>
        <p:spPr>
          <a:xfrm>
            <a:off x="-2124744" y="5502945"/>
            <a:ext cx="6030167" cy="1238423"/>
          </a:xfrm>
          <a:prstGeom prst="rect">
            <a:avLst/>
          </a:prstGeom>
        </p:spPr>
      </p:pic>
    </p:spTree>
    <p:extLst>
      <p:ext uri="{BB962C8B-B14F-4D97-AF65-F5344CB8AC3E}">
        <p14:creationId xmlns:p14="http://schemas.microsoft.com/office/powerpoint/2010/main" val="24826346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6B101D-7A14-504B-75D4-3D000CB5B3C7}"/>
              </a:ext>
            </a:extLst>
          </p:cNvPr>
          <p:cNvSpPr>
            <a:spLocks noGrp="1"/>
          </p:cNvSpPr>
          <p:nvPr>
            <p:ph type="title"/>
          </p:nvPr>
        </p:nvSpPr>
        <p:spPr/>
        <p:txBody>
          <a:bodyPr/>
          <a:lstStyle/>
          <a:p>
            <a:r>
              <a:rPr lang="en-US" dirty="0"/>
              <a:t>Why iterator anyway?</a:t>
            </a:r>
          </a:p>
        </p:txBody>
      </p:sp>
      <p:sp>
        <p:nvSpPr>
          <p:cNvPr id="3" name="Content Placeholder 2">
            <a:extLst>
              <a:ext uri="{FF2B5EF4-FFF2-40B4-BE49-F238E27FC236}">
                <a16:creationId xmlns:a16="http://schemas.microsoft.com/office/drawing/2014/main" id="{C9BD66BD-1377-9607-F73B-1C2C802E870F}"/>
              </a:ext>
            </a:extLst>
          </p:cNvPr>
          <p:cNvSpPr>
            <a:spLocks noGrp="1"/>
          </p:cNvSpPr>
          <p:nvPr>
            <p:ph idx="1"/>
          </p:nvPr>
        </p:nvSpPr>
        <p:spPr>
          <a:xfrm>
            <a:off x="457200" y="1335291"/>
            <a:ext cx="8579296" cy="4532109"/>
          </a:xfrm>
        </p:spPr>
        <p:txBody>
          <a:bodyPr/>
          <a:lstStyle/>
          <a:p>
            <a:r>
              <a:rPr lang="en-US" sz="2800" dirty="0"/>
              <a:t>Iterator </a:t>
            </a:r>
            <a:r>
              <a:rPr lang="en-US" sz="2800" b="1" u="sng" dirty="0"/>
              <a:t>hides</a:t>
            </a:r>
            <a:r>
              <a:rPr lang="en-US" sz="2800" b="1" dirty="0"/>
              <a:t> internal representation</a:t>
            </a:r>
          </a:p>
          <a:p>
            <a:pPr lvl="1"/>
            <a:r>
              <a:rPr lang="en-US" sz="2400" dirty="0"/>
              <a:t>Iterator of a any collection has the same interface </a:t>
            </a:r>
          </a:p>
          <a:p>
            <a:pPr lvl="1"/>
            <a:r>
              <a:rPr lang="en-US" sz="2400" dirty="0"/>
              <a:t>List, Set, </a:t>
            </a:r>
            <a:r>
              <a:rPr lang="en-US" sz="2400" dirty="0" err="1"/>
              <a:t>PriorityQueue</a:t>
            </a:r>
            <a:r>
              <a:rPr lang="en-US" sz="2400" dirty="0"/>
              <a:t> …all create iterator with the same interface</a:t>
            </a:r>
          </a:p>
          <a:p>
            <a:r>
              <a:rPr lang="en-US" sz="2800" dirty="0"/>
              <a:t>Encapsulate traversal of a collection</a:t>
            </a:r>
          </a:p>
          <a:p>
            <a:pPr lvl="1"/>
            <a:r>
              <a:rPr lang="en-US" sz="2400" dirty="0"/>
              <a:t>Clients do not have to implement them</a:t>
            </a:r>
          </a:p>
          <a:p>
            <a:r>
              <a:rPr lang="en-US" sz="2800" dirty="0"/>
              <a:t>Simpler </a:t>
            </a:r>
            <a:r>
              <a:rPr lang="en-US" altLang="tr-TR" sz="2800" dirty="0"/>
              <a:t>aggregates: w</a:t>
            </a:r>
            <a:r>
              <a:rPr lang="en-US" sz="2800" dirty="0"/>
              <a:t>hen the collection </a:t>
            </a:r>
            <a:r>
              <a:rPr lang="en-US" sz="2800" b="1" dirty="0"/>
              <a:t>itself provides traversal</a:t>
            </a:r>
            <a:r>
              <a:rPr lang="en-US" sz="2800" dirty="0"/>
              <a:t>, it will be a </a:t>
            </a:r>
            <a:r>
              <a:rPr lang="en-US" sz="2800" b="1" dirty="0"/>
              <a:t>mess</a:t>
            </a:r>
          </a:p>
          <a:p>
            <a:pPr lvl="1"/>
            <a:r>
              <a:rPr lang="en-US" sz="2400" dirty="0"/>
              <a:t>Many traversal happen at the same time</a:t>
            </a:r>
          </a:p>
          <a:p>
            <a:pPr lvl="1"/>
            <a:r>
              <a:rPr lang="en-US" sz="2400" dirty="0"/>
              <a:t>Many object will call next(), how to save the position of the traversal for each of them?</a:t>
            </a:r>
          </a:p>
        </p:txBody>
      </p:sp>
    </p:spTree>
    <p:extLst>
      <p:ext uri="{BB962C8B-B14F-4D97-AF65-F5344CB8AC3E}">
        <p14:creationId xmlns:p14="http://schemas.microsoft.com/office/powerpoint/2010/main" val="9959590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55B805-2BD8-C0C2-19CC-3B22433811C8}"/>
            </a:ext>
          </a:extLst>
        </p:cNvPr>
        <p:cNvGrpSpPr/>
        <p:nvPr/>
      </p:nvGrpSpPr>
      <p:grpSpPr>
        <a:xfrm>
          <a:off x="0" y="0"/>
          <a:ext cx="0" cy="0"/>
          <a:chOff x="0" y="0"/>
          <a:chExt cx="0" cy="0"/>
        </a:xfrm>
      </p:grpSpPr>
      <p:sp>
        <p:nvSpPr>
          <p:cNvPr id="66562" name="Rectangle 4">
            <a:extLst>
              <a:ext uri="{FF2B5EF4-FFF2-40B4-BE49-F238E27FC236}">
                <a16:creationId xmlns:a16="http://schemas.microsoft.com/office/drawing/2014/main" id="{31633613-7DFC-5013-6D06-4E793E5ED8A0}"/>
              </a:ext>
            </a:extLst>
          </p:cNvPr>
          <p:cNvSpPr>
            <a:spLocks noGrp="1" noChangeArrowheads="1"/>
          </p:cNvSpPr>
          <p:nvPr>
            <p:ph type="title"/>
          </p:nvPr>
        </p:nvSpPr>
        <p:spPr/>
        <p:txBody>
          <a:bodyPr/>
          <a:lstStyle/>
          <a:p>
            <a:r>
              <a:rPr lang="en-US" altLang="tr-TR"/>
              <a:t>Iterator</a:t>
            </a:r>
            <a:endParaRPr lang="en-GB" altLang="tr-TR"/>
          </a:p>
        </p:txBody>
      </p:sp>
      <p:sp>
        <p:nvSpPr>
          <p:cNvPr id="2" name="Content Placeholder 1">
            <a:extLst>
              <a:ext uri="{FF2B5EF4-FFF2-40B4-BE49-F238E27FC236}">
                <a16:creationId xmlns:a16="http://schemas.microsoft.com/office/drawing/2014/main" id="{453A2DD1-DDDE-DF30-3648-072009B009DA}"/>
              </a:ext>
            </a:extLst>
          </p:cNvPr>
          <p:cNvSpPr>
            <a:spLocks noGrp="1"/>
          </p:cNvSpPr>
          <p:nvPr>
            <p:ph idx="1"/>
          </p:nvPr>
        </p:nvSpPr>
        <p:spPr>
          <a:xfrm>
            <a:off x="323528" y="3258160"/>
            <a:ext cx="8229600" cy="2222376"/>
          </a:xfrm>
        </p:spPr>
        <p:txBody>
          <a:bodyPr/>
          <a:lstStyle/>
          <a:p>
            <a:r>
              <a:rPr lang="en-US" sz="2200" dirty="0"/>
              <a:t>Traveling task is on the iterator, not on the aggregate</a:t>
            </a:r>
          </a:p>
          <a:p>
            <a:r>
              <a:rPr lang="en-US" sz="2200" b="1" dirty="0"/>
              <a:t>Simplify</a:t>
            </a:r>
            <a:r>
              <a:rPr lang="en-US" sz="2200" dirty="0"/>
              <a:t>ing the aggregate interface</a:t>
            </a:r>
          </a:p>
          <a:p>
            <a:r>
              <a:rPr lang="en-US" sz="2200" dirty="0"/>
              <a:t>Relieves the aggregate from the  traversing responsibility (more cohesive)</a:t>
            </a:r>
          </a:p>
          <a:p>
            <a:r>
              <a:rPr lang="en-US" sz="2200" b="1" dirty="0"/>
              <a:t>Multiple</a:t>
            </a:r>
            <a:r>
              <a:rPr lang="en-US" sz="2200" dirty="0"/>
              <a:t> traversal</a:t>
            </a:r>
          </a:p>
          <a:p>
            <a:pPr marL="0" indent="0">
              <a:buNone/>
            </a:pPr>
            <a:r>
              <a:rPr lang="en-US" sz="2200" dirty="0"/>
              <a:t>   </a:t>
            </a:r>
            <a:r>
              <a:rPr lang="en-US" sz="2200" dirty="0">
                <a:latin typeface="Source Sans Pro" panose="020B0503030403020204" pitchFamily="34" charset="0"/>
                <a:ea typeface="Source Sans Pro" panose="020B0503030403020204" pitchFamily="34" charset="0"/>
              </a:rPr>
              <a:t>List&lt;Object&gt; </a:t>
            </a:r>
            <a:r>
              <a:rPr lang="en-US" sz="2200" dirty="0" err="1">
                <a:latin typeface="Source Sans Pro" panose="020B0503030403020204" pitchFamily="34" charset="0"/>
                <a:ea typeface="Source Sans Pro" panose="020B0503030403020204" pitchFamily="34" charset="0"/>
              </a:rPr>
              <a:t>lst</a:t>
            </a:r>
            <a:r>
              <a:rPr lang="en-US" sz="2200" dirty="0">
                <a:latin typeface="Source Sans Pro" panose="020B0503030403020204" pitchFamily="34" charset="0"/>
                <a:ea typeface="Source Sans Pro" panose="020B0503030403020204" pitchFamily="34" charset="0"/>
              </a:rPr>
              <a:t>=new </a:t>
            </a:r>
            <a:r>
              <a:rPr lang="en-US" sz="2200" dirty="0" err="1">
                <a:latin typeface="Source Sans Pro" panose="020B0503030403020204" pitchFamily="34" charset="0"/>
                <a:ea typeface="Source Sans Pro" panose="020B0503030403020204" pitchFamily="34" charset="0"/>
              </a:rPr>
              <a:t>ArrayList</a:t>
            </a:r>
            <a:r>
              <a:rPr lang="en-US" sz="2200" dirty="0">
                <a:latin typeface="Source Sans Pro" panose="020B0503030403020204" pitchFamily="34" charset="0"/>
                <a:ea typeface="Source Sans Pro" panose="020B0503030403020204" pitchFamily="34" charset="0"/>
              </a:rPr>
              <a:t>&lt;Object&gt;();</a:t>
            </a:r>
          </a:p>
          <a:p>
            <a:pPr marL="0" indent="0">
              <a:buNone/>
            </a:pPr>
            <a:r>
              <a:rPr lang="en-US" sz="2200" dirty="0">
                <a:latin typeface="Source Sans Pro" panose="020B0503030403020204" pitchFamily="34" charset="0"/>
                <a:ea typeface="Source Sans Pro" panose="020B0503030403020204" pitchFamily="34" charset="0"/>
              </a:rPr>
              <a:t>    Iterator it1=</a:t>
            </a:r>
            <a:r>
              <a:rPr lang="en-US" sz="2200" dirty="0" err="1">
                <a:latin typeface="Source Sans Pro" panose="020B0503030403020204" pitchFamily="34" charset="0"/>
                <a:ea typeface="Source Sans Pro" panose="020B0503030403020204" pitchFamily="34" charset="0"/>
              </a:rPr>
              <a:t>lst.iterator</a:t>
            </a:r>
            <a:r>
              <a:rPr lang="en-US" sz="2200" dirty="0">
                <a:latin typeface="Source Sans Pro" panose="020B0503030403020204" pitchFamily="34" charset="0"/>
                <a:ea typeface="Source Sans Pro" panose="020B0503030403020204" pitchFamily="34" charset="0"/>
              </a:rPr>
              <a:t>(); it1.next();  //traversal one      </a:t>
            </a:r>
          </a:p>
          <a:p>
            <a:pPr marL="0" indent="0">
              <a:buNone/>
            </a:pPr>
            <a:r>
              <a:rPr lang="en-US" sz="2200" dirty="0">
                <a:latin typeface="Source Sans Pro" panose="020B0503030403020204" pitchFamily="34" charset="0"/>
                <a:ea typeface="Source Sans Pro" panose="020B0503030403020204" pitchFamily="34" charset="0"/>
              </a:rPr>
              <a:t>    Iterator it2=</a:t>
            </a:r>
            <a:r>
              <a:rPr lang="en-US" sz="2200" dirty="0" err="1">
                <a:latin typeface="Source Sans Pro" panose="020B0503030403020204" pitchFamily="34" charset="0"/>
                <a:ea typeface="Source Sans Pro" panose="020B0503030403020204" pitchFamily="34" charset="0"/>
              </a:rPr>
              <a:t>lst.iterator</a:t>
            </a:r>
            <a:r>
              <a:rPr lang="en-US" sz="2200" dirty="0">
                <a:latin typeface="Source Sans Pro" panose="020B0503030403020204" pitchFamily="34" charset="0"/>
                <a:ea typeface="Source Sans Pro" panose="020B0503030403020204" pitchFamily="34" charset="0"/>
              </a:rPr>
              <a:t>();  it2.next(); it2.next(); //traversal two</a:t>
            </a:r>
          </a:p>
          <a:p>
            <a:endParaRPr lang="en-US" sz="2200" dirty="0"/>
          </a:p>
        </p:txBody>
      </p:sp>
      <p:pic>
        <p:nvPicPr>
          <p:cNvPr id="66563" name="Picture 2">
            <a:extLst>
              <a:ext uri="{FF2B5EF4-FFF2-40B4-BE49-F238E27FC236}">
                <a16:creationId xmlns:a16="http://schemas.microsoft.com/office/drawing/2014/main" id="{B43BB4D0-E618-46D1-B5AC-AB9A13C0055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1640" y="1353344"/>
            <a:ext cx="5761037" cy="1801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6564" name="Line 6">
            <a:extLst>
              <a:ext uri="{FF2B5EF4-FFF2-40B4-BE49-F238E27FC236}">
                <a16:creationId xmlns:a16="http://schemas.microsoft.com/office/drawing/2014/main" id="{47FB7C88-BD1A-663F-C482-B7146A9B7ABE}"/>
              </a:ext>
            </a:extLst>
          </p:cNvPr>
          <p:cNvSpPr>
            <a:spLocks noChangeShapeType="1"/>
          </p:cNvSpPr>
          <p:nvPr/>
        </p:nvSpPr>
        <p:spPr bwMode="auto">
          <a:xfrm>
            <a:off x="3333477" y="2512219"/>
            <a:ext cx="2165350" cy="25400"/>
          </a:xfrm>
          <a:prstGeom prst="line">
            <a:avLst/>
          </a:prstGeom>
          <a:noFill/>
          <a:ln w="9525">
            <a:solidFill>
              <a:schemeClr val="tx1"/>
            </a:solidFill>
            <a:prstDash val="dash"/>
            <a:round/>
            <a:headEnd/>
            <a:tailEnd type="arrow" w="med" len="med"/>
          </a:ln>
          <a:extLst>
            <a:ext uri="{909E8E84-426E-40DD-AFC4-6F175D3DCCD1}">
              <a14:hiddenFill xmlns:a14="http://schemas.microsoft.com/office/drawing/2010/main">
                <a:noFill/>
              </a14:hiddenFill>
            </a:ext>
          </a:extLst>
        </p:spPr>
        <p:txBody>
          <a:bodyPr/>
          <a:lstStyle/>
          <a:p>
            <a:endParaRPr lang="en-US"/>
          </a:p>
        </p:txBody>
      </p:sp>
      <p:sp>
        <p:nvSpPr>
          <p:cNvPr id="66565" name="Text Box 7">
            <a:extLst>
              <a:ext uri="{FF2B5EF4-FFF2-40B4-BE49-F238E27FC236}">
                <a16:creationId xmlns:a16="http://schemas.microsoft.com/office/drawing/2014/main" id="{2B8C0F84-8B1E-881F-9197-385CBC34BBA7}"/>
              </a:ext>
            </a:extLst>
          </p:cNvPr>
          <p:cNvSpPr txBox="1">
            <a:spLocks noChangeArrowheads="1"/>
          </p:cNvSpPr>
          <p:nvPr/>
        </p:nvSpPr>
        <p:spPr bwMode="auto">
          <a:xfrm>
            <a:off x="4287565" y="2437606"/>
            <a:ext cx="1200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tr-TR" sz="1800" dirty="0"/>
              <a:t>&lt;creates&gt;</a:t>
            </a:r>
            <a:endParaRPr lang="en-GB" altLang="tr-TR" sz="1800" dirty="0"/>
          </a:p>
        </p:txBody>
      </p:sp>
    </p:spTree>
    <p:extLst>
      <p:ext uri="{BB962C8B-B14F-4D97-AF65-F5344CB8AC3E}">
        <p14:creationId xmlns:p14="http://schemas.microsoft.com/office/powerpoint/2010/main" val="28938900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21BF18-B51C-8070-7299-D922117DA2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A9E9E7-5CB8-D4D1-6789-6AC444D54BDB}"/>
              </a:ext>
            </a:extLst>
          </p:cNvPr>
          <p:cNvSpPr>
            <a:spLocks noGrp="1"/>
          </p:cNvSpPr>
          <p:nvPr>
            <p:ph type="title"/>
          </p:nvPr>
        </p:nvSpPr>
        <p:spPr/>
        <p:txBody>
          <a:bodyPr/>
          <a:lstStyle/>
          <a:p>
            <a:r>
              <a:rPr lang="en-US" dirty="0"/>
              <a:t>Different traversal</a:t>
            </a:r>
          </a:p>
        </p:txBody>
      </p:sp>
      <p:sp>
        <p:nvSpPr>
          <p:cNvPr id="3" name="Content Placeholder 2">
            <a:extLst>
              <a:ext uri="{FF2B5EF4-FFF2-40B4-BE49-F238E27FC236}">
                <a16:creationId xmlns:a16="http://schemas.microsoft.com/office/drawing/2014/main" id="{112CAABF-B818-5317-8FB1-53FDA3C993AB}"/>
              </a:ext>
            </a:extLst>
          </p:cNvPr>
          <p:cNvSpPr>
            <a:spLocks noGrp="1"/>
          </p:cNvSpPr>
          <p:nvPr>
            <p:ph idx="1"/>
          </p:nvPr>
        </p:nvSpPr>
        <p:spPr>
          <a:xfrm>
            <a:off x="457200" y="1335291"/>
            <a:ext cx="8939336" cy="4532109"/>
          </a:xfrm>
        </p:spPr>
        <p:txBody>
          <a:bodyPr/>
          <a:lstStyle/>
          <a:p>
            <a:r>
              <a:rPr lang="en-US" sz="2800" dirty="0"/>
              <a:t>Complex aggregates may be traversed many ways</a:t>
            </a:r>
          </a:p>
          <a:p>
            <a:r>
              <a:rPr lang="en-US" sz="2800" dirty="0"/>
              <a:t>Example: Tree</a:t>
            </a:r>
          </a:p>
          <a:p>
            <a:pPr lvl="1"/>
            <a:r>
              <a:rPr lang="en-US" sz="2400" dirty="0"/>
              <a:t>in-order, pre-order, post-order</a:t>
            </a:r>
          </a:p>
          <a:p>
            <a:r>
              <a:rPr lang="en-US" sz="2800" dirty="0"/>
              <a:t>Other traversals</a:t>
            </a:r>
          </a:p>
          <a:p>
            <a:pPr lvl="1"/>
            <a:r>
              <a:rPr lang="en-US" sz="2400" dirty="0"/>
              <a:t>Forward, backward</a:t>
            </a:r>
          </a:p>
          <a:p>
            <a:pPr lvl="1"/>
            <a:r>
              <a:rPr lang="en-US" sz="2400" dirty="0"/>
              <a:t>Skip even, skip odd , ….</a:t>
            </a:r>
          </a:p>
          <a:p>
            <a:r>
              <a:rPr lang="en-US" sz="2800" dirty="0"/>
              <a:t>For each algorithm, have one concrete iterator</a:t>
            </a:r>
          </a:p>
          <a:p>
            <a:r>
              <a:rPr lang="en-US" sz="2800" dirty="0" err="1"/>
              <a:t>java.util.TreeSet</a:t>
            </a:r>
            <a:r>
              <a:rPr lang="en-US" sz="2800" dirty="0"/>
              <a:t> has 2 iterators</a:t>
            </a:r>
          </a:p>
          <a:p>
            <a:pPr lvl="1"/>
            <a:r>
              <a:rPr lang="en-US" sz="2400" dirty="0"/>
              <a:t>iterator(): returns an Iterator, for ascending order</a:t>
            </a:r>
          </a:p>
          <a:p>
            <a:pPr lvl="1"/>
            <a:r>
              <a:rPr lang="en-US" sz="2400" dirty="0" err="1"/>
              <a:t>descendingIterator</a:t>
            </a:r>
            <a:r>
              <a:rPr lang="en-US" sz="2400" dirty="0"/>
              <a:t>():returns an Iterator, for descending order </a:t>
            </a:r>
          </a:p>
        </p:txBody>
      </p:sp>
    </p:spTree>
    <p:extLst>
      <p:ext uri="{BB962C8B-B14F-4D97-AF65-F5344CB8AC3E}">
        <p14:creationId xmlns:p14="http://schemas.microsoft.com/office/powerpoint/2010/main" val="37939829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2706" name="Rectangle 2">
            <a:extLst>
              <a:ext uri="{FF2B5EF4-FFF2-40B4-BE49-F238E27FC236}">
                <a16:creationId xmlns:a16="http://schemas.microsoft.com/office/drawing/2014/main" id="{6769A04D-BE62-860C-E10F-342AB1729D04}"/>
              </a:ext>
            </a:extLst>
          </p:cNvPr>
          <p:cNvSpPr>
            <a:spLocks noGrp="1" noChangeArrowheads="1"/>
          </p:cNvSpPr>
          <p:nvPr>
            <p:ph type="title"/>
          </p:nvPr>
        </p:nvSpPr>
        <p:spPr/>
        <p:txBody>
          <a:bodyPr/>
          <a:lstStyle/>
          <a:p>
            <a:pPr eaLnBrk="1" hangingPunct="1"/>
            <a:r>
              <a:rPr lang="en-US" altLang="tr-TR" dirty="0"/>
              <a:t>Applicability</a:t>
            </a:r>
          </a:p>
        </p:txBody>
      </p:sp>
      <p:sp>
        <p:nvSpPr>
          <p:cNvPr id="72707" name="Rectangle 3">
            <a:extLst>
              <a:ext uri="{FF2B5EF4-FFF2-40B4-BE49-F238E27FC236}">
                <a16:creationId xmlns:a16="http://schemas.microsoft.com/office/drawing/2014/main" id="{77BE811A-99E2-E1A5-2EA4-D5DAE3B9200F}"/>
              </a:ext>
            </a:extLst>
          </p:cNvPr>
          <p:cNvSpPr>
            <a:spLocks noGrp="1" noChangeArrowheads="1"/>
          </p:cNvSpPr>
          <p:nvPr>
            <p:ph idx="1"/>
          </p:nvPr>
        </p:nvSpPr>
        <p:spPr>
          <a:xfrm>
            <a:off x="457200" y="1335291"/>
            <a:ext cx="8507288" cy="4532109"/>
          </a:xfrm>
        </p:spPr>
        <p:txBody>
          <a:bodyPr/>
          <a:lstStyle/>
          <a:p>
            <a:r>
              <a:rPr lang="en-US" altLang="tr-TR" sz="2800" dirty="0"/>
              <a:t>Need access an aggregate object's contents </a:t>
            </a:r>
            <a:r>
              <a:rPr lang="en-US" altLang="tr-TR" sz="2800" b="1" dirty="0"/>
              <a:t>without exposing </a:t>
            </a:r>
            <a:r>
              <a:rPr lang="en-US" altLang="tr-TR" sz="2800" dirty="0"/>
              <a:t>its internal representation.</a:t>
            </a:r>
          </a:p>
          <a:p>
            <a:r>
              <a:rPr lang="en-US" altLang="tr-TR" sz="2800" dirty="0"/>
              <a:t>Need to support multiple traversals of aggregate objects.</a:t>
            </a:r>
          </a:p>
          <a:p>
            <a:pPr lvl="1"/>
            <a:r>
              <a:rPr lang="en-US" altLang="tr-TR" sz="2400" dirty="0"/>
              <a:t>allow </a:t>
            </a:r>
            <a:r>
              <a:rPr lang="en-US" altLang="tr-TR" sz="2400" b="1" dirty="0"/>
              <a:t>different</a:t>
            </a:r>
            <a:r>
              <a:rPr lang="en-US" altLang="tr-TR" sz="2400" dirty="0"/>
              <a:t> traversal methods</a:t>
            </a:r>
          </a:p>
          <a:p>
            <a:pPr lvl="2"/>
            <a:r>
              <a:rPr lang="en-US" altLang="tr-TR" sz="2000" dirty="0"/>
              <a:t>Forward, backward, DFS, BFS, traverse odds,…</a:t>
            </a:r>
          </a:p>
          <a:p>
            <a:pPr lvl="1"/>
            <a:r>
              <a:rPr lang="en-US" altLang="tr-TR" sz="2400" dirty="0"/>
              <a:t>support </a:t>
            </a:r>
            <a:r>
              <a:rPr lang="en-US" altLang="tr-TR" sz="2400" b="1" dirty="0"/>
              <a:t>multiple</a:t>
            </a:r>
            <a:r>
              <a:rPr lang="en-US" altLang="tr-TR" sz="2400" dirty="0"/>
              <a:t> traversals to be in progress </a:t>
            </a:r>
          </a:p>
          <a:p>
            <a:pPr lvl="1"/>
            <a:r>
              <a:rPr lang="en-US" altLang="tr-TR" sz="2400" dirty="0"/>
              <a:t>Serving more than one client</a:t>
            </a:r>
          </a:p>
          <a:p>
            <a:r>
              <a:rPr lang="en-US" altLang="tr-TR" sz="2800" dirty="0"/>
              <a:t>Need to provide a uniform interface for traversing different aggregate structures </a:t>
            </a:r>
          </a:p>
          <a:p>
            <a:pPr lvl="1">
              <a:lnSpc>
                <a:spcPct val="110000"/>
              </a:lnSpc>
            </a:pPr>
            <a:r>
              <a:rPr lang="en-US" sz="2200" dirty="0"/>
              <a:t>Helps when types of the structures are </a:t>
            </a:r>
            <a:r>
              <a:rPr lang="en-US" sz="2200" i="1" dirty="0"/>
              <a:t>unknown</a:t>
            </a:r>
            <a:r>
              <a:rPr lang="en-US" sz="2200" dirty="0"/>
              <a:t> beforehand</a:t>
            </a:r>
          </a:p>
          <a:p>
            <a:pPr lvl="1">
              <a:lnSpc>
                <a:spcPct val="110000"/>
              </a:lnSpc>
            </a:pPr>
            <a:r>
              <a:rPr lang="en-US" sz="2200" dirty="0"/>
              <a:t>Implement client code w.r.t iterator interface</a:t>
            </a:r>
          </a:p>
          <a:p>
            <a:pPr marL="0" indent="0">
              <a:buNone/>
            </a:pPr>
            <a:endParaRPr lang="en-US" altLang="tr-TR" dirty="0"/>
          </a:p>
        </p:txBody>
      </p:sp>
    </p:spTree>
    <p:extLst>
      <p:ext uri="{BB962C8B-B14F-4D97-AF65-F5344CB8AC3E}">
        <p14:creationId xmlns:p14="http://schemas.microsoft.com/office/powerpoint/2010/main" val="16323938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695227-7204-5D87-9D7F-3AF2284FE8BA}"/>
              </a:ext>
            </a:extLst>
          </p:cNvPr>
          <p:cNvSpPr>
            <a:spLocks noGrp="1"/>
          </p:cNvSpPr>
          <p:nvPr>
            <p:ph type="title"/>
          </p:nvPr>
        </p:nvSpPr>
        <p:spPr/>
        <p:txBody>
          <a:bodyPr/>
          <a:lstStyle/>
          <a:p>
            <a:r>
              <a:rPr lang="en-US" dirty="0"/>
              <a:t>More applicability…</a:t>
            </a:r>
          </a:p>
        </p:txBody>
      </p:sp>
      <p:sp>
        <p:nvSpPr>
          <p:cNvPr id="3" name="Content Placeholder 2">
            <a:extLst>
              <a:ext uri="{FF2B5EF4-FFF2-40B4-BE49-F238E27FC236}">
                <a16:creationId xmlns:a16="http://schemas.microsoft.com/office/drawing/2014/main" id="{B246C564-FD88-4214-49C9-3F3D3DD1C70E}"/>
              </a:ext>
            </a:extLst>
          </p:cNvPr>
          <p:cNvSpPr>
            <a:spLocks noGrp="1"/>
          </p:cNvSpPr>
          <p:nvPr>
            <p:ph idx="1"/>
          </p:nvPr>
        </p:nvSpPr>
        <p:spPr>
          <a:xfrm>
            <a:off x="457200" y="1335291"/>
            <a:ext cx="8867328" cy="4532109"/>
          </a:xfrm>
        </p:spPr>
        <p:txBody>
          <a:bodyPr/>
          <a:lstStyle/>
          <a:p>
            <a:pPr>
              <a:lnSpc>
                <a:spcPct val="110000"/>
              </a:lnSpc>
            </a:pPr>
            <a:r>
              <a:rPr lang="en-US" sz="2800" dirty="0"/>
              <a:t>when the collection has a </a:t>
            </a:r>
            <a:r>
              <a:rPr lang="en-US" sz="2800" i="1" dirty="0"/>
              <a:t>complex data structure,</a:t>
            </a:r>
            <a:r>
              <a:rPr lang="en-US" sz="2800" dirty="0"/>
              <a:t> and you want to hide its complexity from clients </a:t>
            </a:r>
          </a:p>
          <a:p>
            <a:pPr lvl="1">
              <a:lnSpc>
                <a:spcPct val="110000"/>
              </a:lnSpc>
            </a:pPr>
            <a:r>
              <a:rPr lang="en-US" sz="2400" dirty="0"/>
              <a:t>either for convenience or security reasons.</a:t>
            </a:r>
          </a:p>
          <a:p>
            <a:pPr>
              <a:lnSpc>
                <a:spcPct val="110000"/>
              </a:lnSpc>
            </a:pPr>
            <a:r>
              <a:rPr lang="en-US" sz="2800" dirty="0"/>
              <a:t>when you want your code to be able to traverse different data structures </a:t>
            </a:r>
          </a:p>
          <a:p>
            <a:pPr lvl="1">
              <a:lnSpc>
                <a:spcPct val="110000"/>
              </a:lnSpc>
            </a:pPr>
            <a:r>
              <a:rPr lang="en-US" sz="2400" dirty="0"/>
              <a:t>Instead of special treatment for each data structure</a:t>
            </a:r>
          </a:p>
          <a:p>
            <a:pPr>
              <a:lnSpc>
                <a:spcPct val="110000"/>
              </a:lnSpc>
            </a:pPr>
            <a:r>
              <a:rPr lang="en-US" sz="2800" dirty="0"/>
              <a:t>To reduce duplication of the traversal code across your program. </a:t>
            </a:r>
          </a:p>
          <a:p>
            <a:pPr lvl="1">
              <a:lnSpc>
                <a:spcPct val="110000"/>
              </a:lnSpc>
            </a:pPr>
            <a:r>
              <a:rPr lang="en-US" sz="2400" dirty="0"/>
              <a:t>Each iterator is a traversal code(own iterator)</a:t>
            </a:r>
          </a:p>
        </p:txBody>
      </p:sp>
    </p:spTree>
    <p:extLst>
      <p:ext uri="{BB962C8B-B14F-4D97-AF65-F5344CB8AC3E}">
        <p14:creationId xmlns:p14="http://schemas.microsoft.com/office/powerpoint/2010/main" val="15667236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048AF4-71FA-E8F3-F07D-C47A61784932}"/>
              </a:ext>
            </a:extLst>
          </p:cNvPr>
          <p:cNvSpPr>
            <a:spLocks noGrp="1"/>
          </p:cNvSpPr>
          <p:nvPr>
            <p:ph type="title"/>
          </p:nvPr>
        </p:nvSpPr>
        <p:spPr>
          <a:xfrm>
            <a:off x="423242" y="116632"/>
            <a:ext cx="8229600" cy="1371600"/>
          </a:xfrm>
        </p:spPr>
        <p:txBody>
          <a:bodyPr/>
          <a:lstStyle/>
          <a:p>
            <a:r>
              <a:rPr lang="en-US" dirty="0"/>
              <a:t>Implement to Interface</a:t>
            </a:r>
          </a:p>
        </p:txBody>
      </p:sp>
      <p:sp>
        <p:nvSpPr>
          <p:cNvPr id="3" name="Content Placeholder 2">
            <a:extLst>
              <a:ext uri="{FF2B5EF4-FFF2-40B4-BE49-F238E27FC236}">
                <a16:creationId xmlns:a16="http://schemas.microsoft.com/office/drawing/2014/main" id="{6012B2BB-B2FE-A457-725E-C27F21B5D3A3}"/>
              </a:ext>
            </a:extLst>
          </p:cNvPr>
          <p:cNvSpPr>
            <a:spLocks noGrp="1"/>
          </p:cNvSpPr>
          <p:nvPr>
            <p:ph idx="1"/>
          </p:nvPr>
        </p:nvSpPr>
        <p:spPr/>
        <p:txBody>
          <a:bodyPr/>
          <a:lstStyle/>
          <a:p>
            <a:r>
              <a:rPr lang="en-US" sz="3000" dirty="0">
                <a:solidFill>
                  <a:schemeClr val="bg1">
                    <a:lumMod val="85000"/>
                  </a:schemeClr>
                </a:solidFill>
              </a:rPr>
              <a:t>Client depends on Collections and Iterators</a:t>
            </a:r>
          </a:p>
          <a:p>
            <a:pPr marL="0" indent="0">
              <a:buNone/>
            </a:pPr>
            <a:r>
              <a:rPr lang="en-US" sz="2400" dirty="0">
                <a:latin typeface="Source Sans Pro" panose="020B0503030403020204" pitchFamily="34" charset="0"/>
                <a:ea typeface="Source Sans Pro" panose="020B0503030403020204" pitchFamily="34" charset="0"/>
              </a:rPr>
              <a:t> int main(){ //assume initialization</a:t>
            </a:r>
          </a:p>
          <a:p>
            <a:pPr marL="0" indent="0">
              <a:buNone/>
            </a:pPr>
            <a:r>
              <a:rPr lang="en-US" sz="2400" dirty="0">
                <a:latin typeface="Source Sans Pro" panose="020B0503030403020204" pitchFamily="34" charset="0"/>
                <a:ea typeface="Source Sans Pro" panose="020B0503030403020204" pitchFamily="34" charset="0"/>
              </a:rPr>
              <a:t>   List&lt;Stamp&gt; c1=</a:t>
            </a:r>
            <a:r>
              <a:rPr lang="en-US" sz="2400" dirty="0" err="1">
                <a:latin typeface="Source Sans Pro" panose="020B0503030403020204" pitchFamily="34" charset="0"/>
                <a:ea typeface="Source Sans Pro" panose="020B0503030403020204" pitchFamily="34" charset="0"/>
              </a:rPr>
              <a:t>stamps.getElements</a:t>
            </a:r>
            <a:r>
              <a:rPr lang="en-US" sz="2400" dirty="0">
                <a:latin typeface="Source Sans Pro" panose="020B0503030403020204" pitchFamily="34" charset="0"/>
                <a:ea typeface="Source Sans Pro" panose="020B0503030403020204" pitchFamily="34" charset="0"/>
              </a:rPr>
              <a:t>();</a:t>
            </a:r>
          </a:p>
          <a:p>
            <a:pPr marL="0" indent="0">
              <a:buNone/>
            </a:pPr>
            <a:r>
              <a:rPr lang="en-US" sz="2400" dirty="0">
                <a:latin typeface="Source Sans Pro" panose="020B0503030403020204" pitchFamily="34" charset="0"/>
                <a:ea typeface="Source Sans Pro" panose="020B0503030403020204" pitchFamily="34" charset="0"/>
              </a:rPr>
              <a:t>   </a:t>
            </a:r>
            <a:r>
              <a:rPr lang="en-US" sz="2400" dirty="0" err="1">
                <a:latin typeface="Source Sans Pro" panose="020B0503030403020204" pitchFamily="34" charset="0"/>
                <a:ea typeface="Source Sans Pro" panose="020B0503030403020204" pitchFamily="34" charset="0"/>
              </a:rPr>
              <a:t>TreeSet</a:t>
            </a:r>
            <a:r>
              <a:rPr lang="en-US" sz="2400" dirty="0">
                <a:latin typeface="Source Sans Pro" panose="020B0503030403020204" pitchFamily="34" charset="0"/>
                <a:ea typeface="Source Sans Pro" panose="020B0503030403020204" pitchFamily="34" charset="0"/>
              </a:rPr>
              <a:t>&lt;Stamp&gt; c2=</a:t>
            </a:r>
            <a:r>
              <a:rPr lang="en-US" sz="2400" dirty="0" err="1">
                <a:latin typeface="Source Sans Pro" panose="020B0503030403020204" pitchFamily="34" charset="0"/>
                <a:ea typeface="Source Sans Pro" panose="020B0503030403020204" pitchFamily="34" charset="0"/>
              </a:rPr>
              <a:t>sorted.getContents</a:t>
            </a:r>
            <a:r>
              <a:rPr lang="en-US" sz="2400" dirty="0">
                <a:latin typeface="Source Sans Pro" panose="020B0503030403020204" pitchFamily="34" charset="0"/>
                <a:ea typeface="Source Sans Pro" panose="020B0503030403020204" pitchFamily="34" charset="0"/>
              </a:rPr>
              <a:t>();</a:t>
            </a:r>
          </a:p>
          <a:p>
            <a:pPr marL="0" indent="0">
              <a:buNone/>
            </a:pPr>
            <a:r>
              <a:rPr lang="en-US" sz="2400" dirty="0">
                <a:latin typeface="Source Sans Pro" panose="020B0503030403020204" pitchFamily="34" charset="0"/>
                <a:ea typeface="Source Sans Pro" panose="020B0503030403020204" pitchFamily="34" charset="0"/>
              </a:rPr>
              <a:t>    Stamp[ ] c3= </a:t>
            </a:r>
            <a:r>
              <a:rPr lang="en-US" sz="2400" dirty="0" err="1">
                <a:latin typeface="Source Sans Pro" panose="020B0503030403020204" pitchFamily="34" charset="0"/>
                <a:ea typeface="Source Sans Pro" panose="020B0503030403020204" pitchFamily="34" charset="0"/>
              </a:rPr>
              <a:t>mystamps.getstamps</a:t>
            </a:r>
            <a:r>
              <a:rPr lang="en-US" sz="2400" dirty="0">
                <a:latin typeface="Source Sans Pro" panose="020B0503030403020204" pitchFamily="34" charset="0"/>
                <a:ea typeface="Source Sans Pro" panose="020B0503030403020204" pitchFamily="34" charset="0"/>
              </a:rPr>
              <a:t>();</a:t>
            </a:r>
          </a:p>
          <a:p>
            <a:pPr marL="0" indent="0">
              <a:buNone/>
            </a:pPr>
            <a:r>
              <a:rPr lang="en-US" sz="2800" dirty="0"/>
              <a:t>   //How to print all of the stamps?</a:t>
            </a:r>
          </a:p>
          <a:p>
            <a:pPr marL="0" indent="0">
              <a:buNone/>
            </a:pPr>
            <a:endParaRPr lang="en-US" sz="2800" dirty="0"/>
          </a:p>
          <a:p>
            <a:r>
              <a:rPr lang="en-US" dirty="0"/>
              <a:t>Best practice: Never return internal representation, return iterator instead.</a:t>
            </a:r>
          </a:p>
          <a:p>
            <a:pPr lvl="1"/>
            <a:r>
              <a:rPr lang="en-US" dirty="0"/>
              <a:t>Why? OCP</a:t>
            </a:r>
          </a:p>
        </p:txBody>
      </p:sp>
      <p:sp>
        <p:nvSpPr>
          <p:cNvPr id="4" name="Cross 3">
            <a:extLst>
              <a:ext uri="{FF2B5EF4-FFF2-40B4-BE49-F238E27FC236}">
                <a16:creationId xmlns:a16="http://schemas.microsoft.com/office/drawing/2014/main" id="{C13DF948-81B2-4712-53E0-99CC922A516B}"/>
              </a:ext>
            </a:extLst>
          </p:cNvPr>
          <p:cNvSpPr/>
          <p:nvPr/>
        </p:nvSpPr>
        <p:spPr bwMode="auto">
          <a:xfrm rot="18736371">
            <a:off x="5813388" y="1934083"/>
            <a:ext cx="1828800" cy="1828800"/>
          </a:xfrm>
          <a:prstGeom prst="plus">
            <a:avLst>
              <a:gd name="adj" fmla="val 39584"/>
            </a:avLst>
          </a:prstGeom>
          <a:solidFill>
            <a:schemeClr val="accent1"/>
          </a:solidFill>
          <a:ln w="9525" cap="flat" cmpd="sng" algn="ctr">
            <a:solidFill>
              <a:schemeClr val="tx1"/>
            </a:solid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Tree>
    <p:extLst>
      <p:ext uri="{BB962C8B-B14F-4D97-AF65-F5344CB8AC3E}">
        <p14:creationId xmlns:p14="http://schemas.microsoft.com/office/powerpoint/2010/main" val="2782382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048AF4-71FA-E8F3-F07D-C47A61784932}"/>
              </a:ext>
            </a:extLst>
          </p:cNvPr>
          <p:cNvSpPr>
            <a:spLocks noGrp="1"/>
          </p:cNvSpPr>
          <p:nvPr>
            <p:ph type="title"/>
          </p:nvPr>
        </p:nvSpPr>
        <p:spPr/>
        <p:txBody>
          <a:bodyPr/>
          <a:lstStyle/>
          <a:p>
            <a:r>
              <a:rPr lang="en-US" dirty="0"/>
              <a:t>Implement to Interface</a:t>
            </a:r>
          </a:p>
        </p:txBody>
      </p:sp>
      <p:sp>
        <p:nvSpPr>
          <p:cNvPr id="3" name="Content Placeholder 2">
            <a:extLst>
              <a:ext uri="{FF2B5EF4-FFF2-40B4-BE49-F238E27FC236}">
                <a16:creationId xmlns:a16="http://schemas.microsoft.com/office/drawing/2014/main" id="{6012B2BB-B2FE-A457-725E-C27F21B5D3A3}"/>
              </a:ext>
            </a:extLst>
          </p:cNvPr>
          <p:cNvSpPr>
            <a:spLocks noGrp="1"/>
          </p:cNvSpPr>
          <p:nvPr>
            <p:ph idx="1"/>
          </p:nvPr>
        </p:nvSpPr>
        <p:spPr/>
        <p:txBody>
          <a:bodyPr/>
          <a:lstStyle/>
          <a:p>
            <a:r>
              <a:rPr lang="en-US" sz="3000" dirty="0"/>
              <a:t>Client depends on Collections and Iterators</a:t>
            </a:r>
          </a:p>
          <a:p>
            <a:pPr marL="0" indent="0">
              <a:buNone/>
            </a:pPr>
            <a:r>
              <a:rPr lang="en-US" sz="2400" dirty="0">
                <a:latin typeface="Source Sans Pro" panose="020B0503030403020204" pitchFamily="34" charset="0"/>
                <a:ea typeface="Source Sans Pro" panose="020B0503030403020204" pitchFamily="34" charset="0"/>
              </a:rPr>
              <a:t> int main(){ //assume initialization</a:t>
            </a:r>
          </a:p>
          <a:p>
            <a:pPr marL="0" indent="0">
              <a:buNone/>
            </a:pPr>
            <a:r>
              <a:rPr lang="en-US" sz="2400" dirty="0">
                <a:latin typeface="Source Sans Pro" panose="020B0503030403020204" pitchFamily="34" charset="0"/>
                <a:ea typeface="Source Sans Pro" panose="020B0503030403020204" pitchFamily="34" charset="0"/>
              </a:rPr>
              <a:t>   </a:t>
            </a:r>
            <a:r>
              <a:rPr lang="en-US" sz="2400" dirty="0">
                <a:solidFill>
                  <a:srgbClr val="0070C0"/>
                </a:solidFill>
                <a:latin typeface="Source Sans Pro" panose="020B0503030403020204" pitchFamily="34" charset="0"/>
                <a:ea typeface="Source Sans Pro" panose="020B0503030403020204" pitchFamily="34" charset="0"/>
              </a:rPr>
              <a:t>Collection</a:t>
            </a:r>
            <a:r>
              <a:rPr lang="en-US" sz="2400" dirty="0">
                <a:solidFill>
                  <a:schemeClr val="bg2"/>
                </a:solidFill>
                <a:latin typeface="Source Sans Pro" panose="020B0503030403020204" pitchFamily="34" charset="0"/>
                <a:ea typeface="Source Sans Pro" panose="020B0503030403020204" pitchFamily="34" charset="0"/>
              </a:rPr>
              <a:t>&lt;Stamp&gt; c1</a:t>
            </a:r>
            <a:r>
              <a:rPr lang="en-US" sz="2400" dirty="0">
                <a:latin typeface="Source Sans Pro" panose="020B0503030403020204" pitchFamily="34" charset="0"/>
                <a:ea typeface="Source Sans Pro" panose="020B0503030403020204" pitchFamily="34" charset="0"/>
              </a:rPr>
              <a:t>=</a:t>
            </a:r>
            <a:r>
              <a:rPr lang="en-US" sz="2400" dirty="0" err="1">
                <a:latin typeface="Source Sans Pro" panose="020B0503030403020204" pitchFamily="34" charset="0"/>
                <a:ea typeface="Source Sans Pro" panose="020B0503030403020204" pitchFamily="34" charset="0"/>
              </a:rPr>
              <a:t>stamps.getElements</a:t>
            </a:r>
            <a:r>
              <a:rPr lang="en-US" sz="2400" dirty="0">
                <a:latin typeface="Source Sans Pro" panose="020B0503030403020204" pitchFamily="34" charset="0"/>
                <a:ea typeface="Source Sans Pro" panose="020B0503030403020204" pitchFamily="34" charset="0"/>
              </a:rPr>
              <a:t>();</a:t>
            </a:r>
          </a:p>
          <a:p>
            <a:pPr marL="0" indent="0">
              <a:buNone/>
            </a:pPr>
            <a:r>
              <a:rPr lang="en-US" sz="2400" dirty="0">
                <a:latin typeface="Source Sans Pro" panose="020B0503030403020204" pitchFamily="34" charset="0"/>
                <a:ea typeface="Source Sans Pro" panose="020B0503030403020204" pitchFamily="34" charset="0"/>
              </a:rPr>
              <a:t>   </a:t>
            </a:r>
            <a:r>
              <a:rPr lang="en-US" sz="2400" dirty="0">
                <a:solidFill>
                  <a:srgbClr val="0070C0"/>
                </a:solidFill>
                <a:latin typeface="Source Sans Pro" panose="020B0503030403020204" pitchFamily="34" charset="0"/>
                <a:ea typeface="Source Sans Pro" panose="020B0503030403020204" pitchFamily="34" charset="0"/>
              </a:rPr>
              <a:t>Collection</a:t>
            </a:r>
            <a:r>
              <a:rPr lang="en-US" sz="2400" dirty="0">
                <a:solidFill>
                  <a:schemeClr val="bg2"/>
                </a:solidFill>
                <a:latin typeface="Source Sans Pro" panose="020B0503030403020204" pitchFamily="34" charset="0"/>
                <a:ea typeface="Source Sans Pro" panose="020B0503030403020204" pitchFamily="34" charset="0"/>
              </a:rPr>
              <a:t>&lt;Stamp&gt; c2</a:t>
            </a:r>
            <a:r>
              <a:rPr lang="en-US" sz="2400" dirty="0">
                <a:latin typeface="Source Sans Pro" panose="020B0503030403020204" pitchFamily="34" charset="0"/>
                <a:ea typeface="Source Sans Pro" panose="020B0503030403020204" pitchFamily="34" charset="0"/>
              </a:rPr>
              <a:t>=</a:t>
            </a:r>
            <a:r>
              <a:rPr lang="en-US" sz="2400" dirty="0" err="1">
                <a:latin typeface="Source Sans Pro" panose="020B0503030403020204" pitchFamily="34" charset="0"/>
                <a:ea typeface="Source Sans Pro" panose="020B0503030403020204" pitchFamily="34" charset="0"/>
              </a:rPr>
              <a:t>sorted.getContents</a:t>
            </a:r>
            <a:r>
              <a:rPr lang="en-US" sz="2400" dirty="0">
                <a:latin typeface="Source Sans Pro" panose="020B0503030403020204" pitchFamily="34" charset="0"/>
                <a:ea typeface="Source Sans Pro" panose="020B0503030403020204" pitchFamily="34" charset="0"/>
              </a:rPr>
              <a:t>();</a:t>
            </a:r>
          </a:p>
          <a:p>
            <a:pPr marL="0" indent="0">
              <a:buNone/>
            </a:pPr>
            <a:r>
              <a:rPr lang="en-US" sz="2400" dirty="0">
                <a:latin typeface="Source Sans Pro" panose="020B0503030403020204" pitchFamily="34" charset="0"/>
                <a:ea typeface="Source Sans Pro" panose="020B0503030403020204" pitchFamily="34" charset="0"/>
              </a:rPr>
              <a:t>    </a:t>
            </a:r>
            <a:r>
              <a:rPr lang="en-US" sz="2400" dirty="0">
                <a:solidFill>
                  <a:srgbClr val="0070C0"/>
                </a:solidFill>
                <a:latin typeface="Source Sans Pro" panose="020B0503030403020204" pitchFamily="34" charset="0"/>
                <a:ea typeface="Source Sans Pro" panose="020B0503030403020204" pitchFamily="34" charset="0"/>
              </a:rPr>
              <a:t>Collection</a:t>
            </a:r>
            <a:r>
              <a:rPr lang="en-US" sz="2400" dirty="0">
                <a:solidFill>
                  <a:schemeClr val="bg2"/>
                </a:solidFill>
                <a:latin typeface="Source Sans Pro" panose="020B0503030403020204" pitchFamily="34" charset="0"/>
                <a:ea typeface="Source Sans Pro" panose="020B0503030403020204" pitchFamily="34" charset="0"/>
              </a:rPr>
              <a:t>&lt;Stamp&gt; c3</a:t>
            </a:r>
            <a:r>
              <a:rPr lang="en-US" sz="2400" dirty="0">
                <a:latin typeface="Source Sans Pro" panose="020B0503030403020204" pitchFamily="34" charset="0"/>
                <a:ea typeface="Source Sans Pro" panose="020B0503030403020204" pitchFamily="34" charset="0"/>
              </a:rPr>
              <a:t>=</a:t>
            </a:r>
            <a:r>
              <a:rPr lang="en-US" sz="2400" dirty="0" err="1">
                <a:latin typeface="Source Sans Pro" panose="020B0503030403020204" pitchFamily="34" charset="0"/>
                <a:ea typeface="Source Sans Pro" panose="020B0503030403020204" pitchFamily="34" charset="0"/>
              </a:rPr>
              <a:t>Arrays.asList</a:t>
            </a:r>
            <a:r>
              <a:rPr lang="en-US" sz="2400" dirty="0">
                <a:latin typeface="Source Sans Pro" panose="020B0503030403020204" pitchFamily="34" charset="0"/>
                <a:ea typeface="Source Sans Pro" panose="020B0503030403020204" pitchFamily="34" charset="0"/>
              </a:rPr>
              <a:t>(</a:t>
            </a:r>
            <a:r>
              <a:rPr lang="en-US" sz="2400" dirty="0" err="1">
                <a:latin typeface="Source Sans Pro" panose="020B0503030403020204" pitchFamily="34" charset="0"/>
                <a:ea typeface="Source Sans Pro" panose="020B0503030403020204" pitchFamily="34" charset="0"/>
              </a:rPr>
              <a:t>mystamps.getstamps</a:t>
            </a:r>
            <a:r>
              <a:rPr lang="en-US" sz="2400" dirty="0">
                <a:latin typeface="Source Sans Pro" panose="020B0503030403020204" pitchFamily="34" charset="0"/>
                <a:ea typeface="Source Sans Pro" panose="020B0503030403020204" pitchFamily="34" charset="0"/>
              </a:rPr>
              <a:t>());</a:t>
            </a:r>
          </a:p>
          <a:p>
            <a:pPr marL="0" indent="0">
              <a:buNone/>
            </a:pPr>
            <a:r>
              <a:rPr lang="en-US" sz="2800" dirty="0"/>
              <a:t>   //when there is an array iterator</a:t>
            </a:r>
          </a:p>
          <a:p>
            <a:pPr marL="0" indent="0">
              <a:buNone/>
            </a:pPr>
            <a:r>
              <a:rPr lang="en-US" sz="2400" dirty="0">
                <a:latin typeface="Source Sans Pro" panose="020B0503030403020204" pitchFamily="34" charset="0"/>
                <a:ea typeface="Source Sans Pro" panose="020B0503030403020204" pitchFamily="34" charset="0"/>
              </a:rPr>
              <a:t>     print(c1.iterator());       print(c2.iterator());</a:t>
            </a:r>
          </a:p>
          <a:p>
            <a:pPr marL="0" indent="0">
              <a:buNone/>
            </a:pPr>
            <a:r>
              <a:rPr lang="en-US" sz="2400" dirty="0">
                <a:solidFill>
                  <a:schemeClr val="bg2"/>
                </a:solidFill>
                <a:latin typeface="Source Sans Pro" panose="020B0503030403020204" pitchFamily="34" charset="0"/>
                <a:ea typeface="Source Sans Pro" panose="020B0503030403020204" pitchFamily="34" charset="0"/>
              </a:rPr>
              <a:t>     print(c3.iterator());</a:t>
            </a:r>
            <a:endParaRPr lang="en-US" sz="2400" dirty="0">
              <a:latin typeface="Source Sans Pro" panose="020B0503030403020204" pitchFamily="34" charset="0"/>
              <a:ea typeface="Source Sans Pro" panose="020B0503030403020204" pitchFamily="34" charset="0"/>
            </a:endParaRPr>
          </a:p>
          <a:p>
            <a:pPr marL="0" indent="0">
              <a:buNone/>
            </a:pPr>
            <a:r>
              <a:rPr lang="en-US" sz="2400" dirty="0">
                <a:latin typeface="Source Sans Pro" panose="020B0503030403020204" pitchFamily="34" charset="0"/>
                <a:ea typeface="Source Sans Pro" panose="020B0503030403020204" pitchFamily="34" charset="0"/>
              </a:rPr>
              <a:t> }</a:t>
            </a:r>
          </a:p>
          <a:p>
            <a:pPr marL="0" indent="0">
              <a:buNone/>
            </a:pPr>
            <a:r>
              <a:rPr lang="en-US" sz="2400" dirty="0">
                <a:latin typeface="Source Sans Pro" panose="020B0503030403020204" pitchFamily="34" charset="0"/>
                <a:ea typeface="Source Sans Pro" panose="020B0503030403020204" pitchFamily="34" charset="0"/>
              </a:rPr>
              <a:t> void  print(</a:t>
            </a:r>
            <a:r>
              <a:rPr lang="en-US" sz="2400" dirty="0">
                <a:solidFill>
                  <a:srgbClr val="0070C0"/>
                </a:solidFill>
                <a:latin typeface="Source Sans Pro" panose="020B0503030403020204" pitchFamily="34" charset="0"/>
                <a:ea typeface="Source Sans Pro" panose="020B0503030403020204" pitchFamily="34" charset="0"/>
              </a:rPr>
              <a:t>Iterator </a:t>
            </a:r>
            <a:r>
              <a:rPr lang="en-US" sz="2400" dirty="0">
                <a:latin typeface="Source Sans Pro" panose="020B0503030403020204" pitchFamily="34" charset="0"/>
                <a:ea typeface="Source Sans Pro" panose="020B0503030403020204" pitchFamily="34" charset="0"/>
              </a:rPr>
              <a:t>it){ </a:t>
            </a:r>
          </a:p>
          <a:p>
            <a:pPr marL="0" indent="0">
              <a:buNone/>
            </a:pPr>
            <a:r>
              <a:rPr lang="en-US" sz="2400" dirty="0">
                <a:latin typeface="Source Sans Pro" panose="020B0503030403020204" pitchFamily="34" charset="0"/>
                <a:ea typeface="Source Sans Pro" panose="020B0503030403020204" pitchFamily="34" charset="0"/>
              </a:rPr>
              <a:t>            while(</a:t>
            </a:r>
            <a:r>
              <a:rPr lang="en-US" sz="2400" dirty="0" err="1">
                <a:latin typeface="Source Sans Pro" panose="020B0503030403020204" pitchFamily="34" charset="0"/>
                <a:ea typeface="Source Sans Pro" panose="020B0503030403020204" pitchFamily="34" charset="0"/>
              </a:rPr>
              <a:t>it.hasNext</a:t>
            </a:r>
            <a:r>
              <a:rPr lang="en-US" sz="2400" dirty="0">
                <a:latin typeface="Source Sans Pro" panose="020B0503030403020204" pitchFamily="34" charset="0"/>
                <a:ea typeface="Source Sans Pro" panose="020B0503030403020204" pitchFamily="34" charset="0"/>
              </a:rPr>
              <a:t>()) { Stamp s=</a:t>
            </a:r>
            <a:r>
              <a:rPr lang="en-US" sz="2400" dirty="0" err="1">
                <a:latin typeface="Source Sans Pro" panose="020B0503030403020204" pitchFamily="34" charset="0"/>
                <a:ea typeface="Source Sans Pro" panose="020B0503030403020204" pitchFamily="34" charset="0"/>
              </a:rPr>
              <a:t>it.next</a:t>
            </a:r>
            <a:r>
              <a:rPr lang="en-US" sz="2400" dirty="0">
                <a:latin typeface="Source Sans Pro" panose="020B0503030403020204" pitchFamily="34" charset="0"/>
                <a:ea typeface="Source Sans Pro" panose="020B0503030403020204" pitchFamily="34" charset="0"/>
              </a:rPr>
              <a:t>(); </a:t>
            </a:r>
            <a:r>
              <a:rPr lang="en-US" sz="2400" dirty="0" err="1">
                <a:latin typeface="Source Sans Pro" panose="020B0503030403020204" pitchFamily="34" charset="0"/>
                <a:ea typeface="Source Sans Pro" panose="020B0503030403020204" pitchFamily="34" charset="0"/>
              </a:rPr>
              <a:t>s.print</a:t>
            </a:r>
            <a:r>
              <a:rPr lang="en-US" sz="2400" dirty="0">
                <a:latin typeface="Source Sans Pro" panose="020B0503030403020204" pitchFamily="34" charset="0"/>
                <a:ea typeface="Source Sans Pro" panose="020B0503030403020204" pitchFamily="34" charset="0"/>
              </a:rPr>
              <a:t>();}</a:t>
            </a:r>
          </a:p>
          <a:p>
            <a:pPr marL="0" indent="0">
              <a:buNone/>
            </a:pPr>
            <a:r>
              <a:rPr lang="en-US" sz="2400" dirty="0">
                <a:latin typeface="Source Sans Pro" panose="020B0503030403020204" pitchFamily="34" charset="0"/>
                <a:ea typeface="Source Sans Pro" panose="020B0503030403020204" pitchFamily="34" charset="0"/>
              </a:rPr>
              <a:t> }</a:t>
            </a:r>
          </a:p>
          <a:p>
            <a:pPr marL="0" indent="0">
              <a:buNone/>
            </a:pPr>
            <a:r>
              <a:rPr lang="en-US" sz="2800" dirty="0">
                <a:latin typeface="Source Sans Pro" panose="020B0503030403020204" pitchFamily="34" charset="0"/>
                <a:ea typeface="Source Sans Pro" panose="020B0503030403020204" pitchFamily="34" charset="0"/>
              </a:rPr>
              <a:t>    </a:t>
            </a:r>
            <a:endParaRPr lang="en-US" sz="2800" dirty="0"/>
          </a:p>
        </p:txBody>
      </p:sp>
      <p:sp>
        <p:nvSpPr>
          <p:cNvPr id="5" name="TextBox 4">
            <a:extLst>
              <a:ext uri="{FF2B5EF4-FFF2-40B4-BE49-F238E27FC236}">
                <a16:creationId xmlns:a16="http://schemas.microsoft.com/office/drawing/2014/main" id="{6845FA0C-0663-4A0D-2022-D7088A571B7D}"/>
              </a:ext>
            </a:extLst>
          </p:cNvPr>
          <p:cNvSpPr txBox="1"/>
          <p:nvPr/>
        </p:nvSpPr>
        <p:spPr>
          <a:xfrm>
            <a:off x="7164288" y="4077072"/>
            <a:ext cx="1522512" cy="1477328"/>
          </a:xfrm>
          <a:prstGeom prst="rect">
            <a:avLst/>
          </a:prstGeom>
          <a:noFill/>
        </p:spPr>
        <p:txBody>
          <a:bodyPr wrap="square" rtlCol="0">
            <a:spAutoFit/>
          </a:bodyPr>
          <a:lstStyle/>
          <a:p>
            <a:r>
              <a:rPr lang="en-US" kern="1200" dirty="0">
                <a:solidFill>
                  <a:srgbClr val="FF0000"/>
                </a:solidFill>
                <a:latin typeface="Arial" panose="020B0604020202020204" pitchFamily="34" charset="0"/>
                <a:ea typeface="+mn-ea"/>
                <a:cs typeface="+mn-cs"/>
              </a:rPr>
              <a:t>This one </a:t>
            </a:r>
            <a:r>
              <a:rPr lang="en-US" dirty="0">
                <a:solidFill>
                  <a:srgbClr val="FF0000"/>
                </a:solidFill>
              </a:rPr>
              <a:t>implements to interface.</a:t>
            </a:r>
          </a:p>
          <a:p>
            <a:r>
              <a:rPr lang="en-US" kern="1200" dirty="0">
                <a:solidFill>
                  <a:srgbClr val="FF0000"/>
                </a:solidFill>
                <a:latin typeface="Arial" panose="020B0604020202020204" pitchFamily="34" charset="0"/>
                <a:ea typeface="+mn-ea"/>
                <a:cs typeface="+mn-cs"/>
              </a:rPr>
              <a:t>Can we do better?</a:t>
            </a:r>
          </a:p>
        </p:txBody>
      </p:sp>
    </p:spTree>
    <p:extLst>
      <p:ext uri="{BB962C8B-B14F-4D97-AF65-F5344CB8AC3E}">
        <p14:creationId xmlns:p14="http://schemas.microsoft.com/office/powerpoint/2010/main" val="30692442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7584583-E0E5-E6A6-E7B8-AB1CB0A01B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E2F2A9-2F0B-28FD-6DA4-A741A9E09E5F}"/>
              </a:ext>
            </a:extLst>
          </p:cNvPr>
          <p:cNvSpPr>
            <a:spLocks noGrp="1"/>
          </p:cNvSpPr>
          <p:nvPr>
            <p:ph type="title"/>
          </p:nvPr>
        </p:nvSpPr>
        <p:spPr/>
        <p:txBody>
          <a:bodyPr/>
          <a:lstStyle/>
          <a:p>
            <a:r>
              <a:rPr lang="en-US" dirty="0"/>
              <a:t>Implement to Interface</a:t>
            </a:r>
          </a:p>
        </p:txBody>
      </p:sp>
      <p:sp>
        <p:nvSpPr>
          <p:cNvPr id="3" name="Content Placeholder 2">
            <a:extLst>
              <a:ext uri="{FF2B5EF4-FFF2-40B4-BE49-F238E27FC236}">
                <a16:creationId xmlns:a16="http://schemas.microsoft.com/office/drawing/2014/main" id="{89CC6D1C-C381-A602-D5D7-0213DF6183B1}"/>
              </a:ext>
            </a:extLst>
          </p:cNvPr>
          <p:cNvSpPr>
            <a:spLocks noGrp="1"/>
          </p:cNvSpPr>
          <p:nvPr>
            <p:ph idx="1"/>
          </p:nvPr>
        </p:nvSpPr>
        <p:spPr/>
        <p:txBody>
          <a:bodyPr/>
          <a:lstStyle/>
          <a:p>
            <a:r>
              <a:rPr lang="en-US" sz="3000" dirty="0"/>
              <a:t>Client depends on Collections and Iterators</a:t>
            </a:r>
          </a:p>
          <a:p>
            <a:pPr marL="0" indent="0">
              <a:buNone/>
            </a:pPr>
            <a:r>
              <a:rPr lang="en-US" sz="2400" dirty="0">
                <a:latin typeface="Source Sans Pro" panose="020B0503030403020204" pitchFamily="34" charset="0"/>
                <a:ea typeface="Source Sans Pro" panose="020B0503030403020204" pitchFamily="34" charset="0"/>
              </a:rPr>
              <a:t> int main(){ //assume initialization</a:t>
            </a:r>
          </a:p>
          <a:p>
            <a:pPr marL="0" indent="0">
              <a:buNone/>
            </a:pPr>
            <a:r>
              <a:rPr lang="en-US" sz="2400" dirty="0">
                <a:latin typeface="Source Sans Pro" panose="020B0503030403020204" pitchFamily="34" charset="0"/>
                <a:ea typeface="Source Sans Pro" panose="020B0503030403020204" pitchFamily="34" charset="0"/>
              </a:rPr>
              <a:t>   </a:t>
            </a:r>
            <a:r>
              <a:rPr lang="en-US" sz="2400" dirty="0">
                <a:solidFill>
                  <a:srgbClr val="0070C0"/>
                </a:solidFill>
                <a:latin typeface="Source Sans Pro" panose="020B0503030403020204" pitchFamily="34" charset="0"/>
                <a:ea typeface="Source Sans Pro" panose="020B0503030403020204" pitchFamily="34" charset="0"/>
              </a:rPr>
              <a:t>Iterator </a:t>
            </a:r>
            <a:r>
              <a:rPr lang="en-US" sz="2400" dirty="0">
                <a:solidFill>
                  <a:schemeClr val="bg2"/>
                </a:solidFill>
                <a:latin typeface="Source Sans Pro" panose="020B0503030403020204" pitchFamily="34" charset="0"/>
                <a:ea typeface="Source Sans Pro" panose="020B0503030403020204" pitchFamily="34" charset="0"/>
              </a:rPr>
              <a:t>&lt;Stamp&gt; it1</a:t>
            </a:r>
            <a:r>
              <a:rPr lang="en-US" sz="2400" dirty="0">
                <a:latin typeface="Source Sans Pro" panose="020B0503030403020204" pitchFamily="34" charset="0"/>
                <a:ea typeface="Source Sans Pro" panose="020B0503030403020204" pitchFamily="34" charset="0"/>
              </a:rPr>
              <a:t>=</a:t>
            </a:r>
            <a:r>
              <a:rPr lang="en-US" sz="2400" dirty="0" err="1">
                <a:latin typeface="Source Sans Pro" panose="020B0503030403020204" pitchFamily="34" charset="0"/>
                <a:ea typeface="Source Sans Pro" panose="020B0503030403020204" pitchFamily="34" charset="0"/>
              </a:rPr>
              <a:t>stamps.getElements</a:t>
            </a:r>
            <a:r>
              <a:rPr lang="en-US" sz="2400" dirty="0">
                <a:latin typeface="Source Sans Pro" panose="020B0503030403020204" pitchFamily="34" charset="0"/>
                <a:ea typeface="Source Sans Pro" panose="020B0503030403020204" pitchFamily="34" charset="0"/>
              </a:rPr>
              <a:t>();</a:t>
            </a:r>
          </a:p>
          <a:p>
            <a:pPr marL="0" indent="0">
              <a:buNone/>
            </a:pPr>
            <a:r>
              <a:rPr lang="en-US" sz="2400" dirty="0">
                <a:latin typeface="Source Sans Pro" panose="020B0503030403020204" pitchFamily="34" charset="0"/>
                <a:ea typeface="Source Sans Pro" panose="020B0503030403020204" pitchFamily="34" charset="0"/>
              </a:rPr>
              <a:t>   </a:t>
            </a:r>
            <a:r>
              <a:rPr lang="en-US" sz="2400" dirty="0">
                <a:solidFill>
                  <a:srgbClr val="0070C0"/>
                </a:solidFill>
                <a:latin typeface="Source Sans Pro" panose="020B0503030403020204" pitchFamily="34" charset="0"/>
                <a:ea typeface="Source Sans Pro" panose="020B0503030403020204" pitchFamily="34" charset="0"/>
              </a:rPr>
              <a:t>Iterator</a:t>
            </a:r>
            <a:r>
              <a:rPr lang="en-US" sz="2400" dirty="0">
                <a:solidFill>
                  <a:schemeClr val="bg2"/>
                </a:solidFill>
                <a:latin typeface="Source Sans Pro" panose="020B0503030403020204" pitchFamily="34" charset="0"/>
                <a:ea typeface="Source Sans Pro" panose="020B0503030403020204" pitchFamily="34" charset="0"/>
              </a:rPr>
              <a:t>&lt;Stamp&gt; it2</a:t>
            </a:r>
            <a:r>
              <a:rPr lang="en-US" sz="2400" dirty="0">
                <a:latin typeface="Source Sans Pro" panose="020B0503030403020204" pitchFamily="34" charset="0"/>
                <a:ea typeface="Source Sans Pro" panose="020B0503030403020204" pitchFamily="34" charset="0"/>
              </a:rPr>
              <a:t>=</a:t>
            </a:r>
            <a:r>
              <a:rPr lang="en-US" sz="2400" dirty="0" err="1">
                <a:latin typeface="Source Sans Pro" panose="020B0503030403020204" pitchFamily="34" charset="0"/>
                <a:ea typeface="Source Sans Pro" panose="020B0503030403020204" pitchFamily="34" charset="0"/>
              </a:rPr>
              <a:t>sorted.getContents</a:t>
            </a:r>
            <a:r>
              <a:rPr lang="en-US" sz="2400" dirty="0">
                <a:latin typeface="Source Sans Pro" panose="020B0503030403020204" pitchFamily="34" charset="0"/>
                <a:ea typeface="Source Sans Pro" panose="020B0503030403020204" pitchFamily="34" charset="0"/>
              </a:rPr>
              <a:t>();</a:t>
            </a:r>
          </a:p>
          <a:p>
            <a:pPr marL="0" indent="0">
              <a:buNone/>
            </a:pPr>
            <a:r>
              <a:rPr lang="en-US" sz="2400" dirty="0">
                <a:latin typeface="Source Sans Pro" panose="020B0503030403020204" pitchFamily="34" charset="0"/>
                <a:ea typeface="Source Sans Pro" panose="020B0503030403020204" pitchFamily="34" charset="0"/>
              </a:rPr>
              <a:t>    </a:t>
            </a:r>
            <a:r>
              <a:rPr lang="en-US" sz="2400" dirty="0">
                <a:solidFill>
                  <a:srgbClr val="0070C0"/>
                </a:solidFill>
                <a:latin typeface="Source Sans Pro" panose="020B0503030403020204" pitchFamily="34" charset="0"/>
                <a:ea typeface="Source Sans Pro" panose="020B0503030403020204" pitchFamily="34" charset="0"/>
              </a:rPr>
              <a:t>Iterator</a:t>
            </a:r>
            <a:r>
              <a:rPr lang="en-US" sz="2400" dirty="0">
                <a:solidFill>
                  <a:schemeClr val="bg2"/>
                </a:solidFill>
                <a:latin typeface="Source Sans Pro" panose="020B0503030403020204" pitchFamily="34" charset="0"/>
                <a:ea typeface="Source Sans Pro" panose="020B0503030403020204" pitchFamily="34" charset="0"/>
              </a:rPr>
              <a:t>&lt;Stamp&gt; it3</a:t>
            </a:r>
            <a:r>
              <a:rPr lang="en-US" sz="2400" dirty="0">
                <a:latin typeface="Source Sans Pro" panose="020B0503030403020204" pitchFamily="34" charset="0"/>
                <a:ea typeface="Source Sans Pro" panose="020B0503030403020204" pitchFamily="34" charset="0"/>
              </a:rPr>
              <a:t>=</a:t>
            </a:r>
            <a:r>
              <a:rPr lang="en-US" sz="2400" dirty="0" err="1">
                <a:latin typeface="Source Sans Pro" panose="020B0503030403020204" pitchFamily="34" charset="0"/>
                <a:ea typeface="Source Sans Pro" panose="020B0503030403020204" pitchFamily="34" charset="0"/>
              </a:rPr>
              <a:t>Arrays.asList</a:t>
            </a:r>
            <a:r>
              <a:rPr lang="en-US" sz="2400" dirty="0">
                <a:latin typeface="Source Sans Pro" panose="020B0503030403020204" pitchFamily="34" charset="0"/>
                <a:ea typeface="Source Sans Pro" panose="020B0503030403020204" pitchFamily="34" charset="0"/>
              </a:rPr>
              <a:t>(</a:t>
            </a:r>
            <a:r>
              <a:rPr lang="en-US" sz="2400" dirty="0" err="1">
                <a:latin typeface="Source Sans Pro" panose="020B0503030403020204" pitchFamily="34" charset="0"/>
                <a:ea typeface="Source Sans Pro" panose="020B0503030403020204" pitchFamily="34" charset="0"/>
              </a:rPr>
              <a:t>mystamps.getstamps</a:t>
            </a:r>
            <a:r>
              <a:rPr lang="en-US" sz="2400" dirty="0">
                <a:latin typeface="Source Sans Pro" panose="020B0503030403020204" pitchFamily="34" charset="0"/>
                <a:ea typeface="Source Sans Pro" panose="020B0503030403020204" pitchFamily="34" charset="0"/>
              </a:rPr>
              <a:t>());</a:t>
            </a:r>
          </a:p>
          <a:p>
            <a:pPr marL="0" indent="0">
              <a:buNone/>
            </a:pPr>
            <a:r>
              <a:rPr lang="en-US" sz="2800" dirty="0"/>
              <a:t>   //when there is an array iterator</a:t>
            </a:r>
          </a:p>
          <a:p>
            <a:pPr marL="0" indent="0">
              <a:buNone/>
            </a:pPr>
            <a:r>
              <a:rPr lang="en-US" sz="2400" dirty="0">
                <a:latin typeface="Source Sans Pro" panose="020B0503030403020204" pitchFamily="34" charset="0"/>
                <a:ea typeface="Source Sans Pro" panose="020B0503030403020204" pitchFamily="34" charset="0"/>
              </a:rPr>
              <a:t>     print(it1);        print(it2);</a:t>
            </a:r>
          </a:p>
          <a:p>
            <a:pPr marL="0" indent="0">
              <a:buNone/>
            </a:pPr>
            <a:r>
              <a:rPr lang="en-US" sz="2400" dirty="0">
                <a:solidFill>
                  <a:schemeClr val="bg2"/>
                </a:solidFill>
                <a:latin typeface="Source Sans Pro" panose="020B0503030403020204" pitchFamily="34" charset="0"/>
                <a:ea typeface="Source Sans Pro" panose="020B0503030403020204" pitchFamily="34" charset="0"/>
              </a:rPr>
              <a:t>     print(it3);</a:t>
            </a:r>
            <a:endParaRPr lang="en-US" sz="2400" dirty="0">
              <a:latin typeface="Source Sans Pro" panose="020B0503030403020204" pitchFamily="34" charset="0"/>
              <a:ea typeface="Source Sans Pro" panose="020B0503030403020204" pitchFamily="34" charset="0"/>
            </a:endParaRPr>
          </a:p>
          <a:p>
            <a:pPr marL="0" indent="0">
              <a:buNone/>
            </a:pPr>
            <a:r>
              <a:rPr lang="en-US" sz="2400" dirty="0">
                <a:latin typeface="Source Sans Pro" panose="020B0503030403020204" pitchFamily="34" charset="0"/>
                <a:ea typeface="Source Sans Pro" panose="020B0503030403020204" pitchFamily="34" charset="0"/>
              </a:rPr>
              <a:t> }</a:t>
            </a:r>
          </a:p>
          <a:p>
            <a:pPr marL="0" indent="0">
              <a:buNone/>
            </a:pPr>
            <a:r>
              <a:rPr lang="en-US" sz="2400" dirty="0">
                <a:latin typeface="Source Sans Pro" panose="020B0503030403020204" pitchFamily="34" charset="0"/>
                <a:ea typeface="Source Sans Pro" panose="020B0503030403020204" pitchFamily="34" charset="0"/>
              </a:rPr>
              <a:t> void  print(</a:t>
            </a:r>
            <a:r>
              <a:rPr lang="en-US" sz="2400" dirty="0">
                <a:solidFill>
                  <a:srgbClr val="0070C0"/>
                </a:solidFill>
                <a:latin typeface="Source Sans Pro" panose="020B0503030403020204" pitchFamily="34" charset="0"/>
                <a:ea typeface="Source Sans Pro" panose="020B0503030403020204" pitchFamily="34" charset="0"/>
              </a:rPr>
              <a:t>Iterator </a:t>
            </a:r>
            <a:r>
              <a:rPr lang="en-US" sz="2400" dirty="0">
                <a:latin typeface="Source Sans Pro" panose="020B0503030403020204" pitchFamily="34" charset="0"/>
                <a:ea typeface="Source Sans Pro" panose="020B0503030403020204" pitchFamily="34" charset="0"/>
              </a:rPr>
              <a:t>it){ </a:t>
            </a:r>
          </a:p>
          <a:p>
            <a:pPr marL="0" indent="0">
              <a:buNone/>
            </a:pPr>
            <a:r>
              <a:rPr lang="en-US" sz="2400" dirty="0">
                <a:latin typeface="Source Sans Pro" panose="020B0503030403020204" pitchFamily="34" charset="0"/>
                <a:ea typeface="Source Sans Pro" panose="020B0503030403020204" pitchFamily="34" charset="0"/>
              </a:rPr>
              <a:t>            while(</a:t>
            </a:r>
            <a:r>
              <a:rPr lang="en-US" sz="2400" dirty="0" err="1">
                <a:latin typeface="Source Sans Pro" panose="020B0503030403020204" pitchFamily="34" charset="0"/>
                <a:ea typeface="Source Sans Pro" panose="020B0503030403020204" pitchFamily="34" charset="0"/>
              </a:rPr>
              <a:t>it.hasNext</a:t>
            </a:r>
            <a:r>
              <a:rPr lang="en-US" sz="2400" dirty="0">
                <a:latin typeface="Source Sans Pro" panose="020B0503030403020204" pitchFamily="34" charset="0"/>
                <a:ea typeface="Source Sans Pro" panose="020B0503030403020204" pitchFamily="34" charset="0"/>
              </a:rPr>
              <a:t>()) { Stamp s=</a:t>
            </a:r>
            <a:r>
              <a:rPr lang="en-US" sz="2400" dirty="0" err="1">
                <a:latin typeface="Source Sans Pro" panose="020B0503030403020204" pitchFamily="34" charset="0"/>
                <a:ea typeface="Source Sans Pro" panose="020B0503030403020204" pitchFamily="34" charset="0"/>
              </a:rPr>
              <a:t>it.next</a:t>
            </a:r>
            <a:r>
              <a:rPr lang="en-US" sz="2400" dirty="0">
                <a:latin typeface="Source Sans Pro" panose="020B0503030403020204" pitchFamily="34" charset="0"/>
                <a:ea typeface="Source Sans Pro" panose="020B0503030403020204" pitchFamily="34" charset="0"/>
              </a:rPr>
              <a:t>(); </a:t>
            </a:r>
            <a:r>
              <a:rPr lang="en-US" sz="2400" dirty="0" err="1">
                <a:latin typeface="Source Sans Pro" panose="020B0503030403020204" pitchFamily="34" charset="0"/>
                <a:ea typeface="Source Sans Pro" panose="020B0503030403020204" pitchFamily="34" charset="0"/>
              </a:rPr>
              <a:t>s.print</a:t>
            </a:r>
            <a:r>
              <a:rPr lang="en-US" sz="2400" dirty="0">
                <a:latin typeface="Source Sans Pro" panose="020B0503030403020204" pitchFamily="34" charset="0"/>
                <a:ea typeface="Source Sans Pro" panose="020B0503030403020204" pitchFamily="34" charset="0"/>
              </a:rPr>
              <a:t>();}</a:t>
            </a:r>
          </a:p>
          <a:p>
            <a:pPr marL="0" indent="0">
              <a:buNone/>
            </a:pPr>
            <a:r>
              <a:rPr lang="en-US" sz="2400" dirty="0">
                <a:latin typeface="Source Sans Pro" panose="020B0503030403020204" pitchFamily="34" charset="0"/>
                <a:ea typeface="Source Sans Pro" panose="020B0503030403020204" pitchFamily="34" charset="0"/>
              </a:rPr>
              <a:t> }</a:t>
            </a:r>
          </a:p>
          <a:p>
            <a:pPr marL="0" indent="0">
              <a:buNone/>
            </a:pPr>
            <a:r>
              <a:rPr lang="en-US" sz="2800" dirty="0">
                <a:latin typeface="Source Sans Pro" panose="020B0503030403020204" pitchFamily="34" charset="0"/>
                <a:ea typeface="Source Sans Pro" panose="020B0503030403020204" pitchFamily="34" charset="0"/>
              </a:rPr>
              <a:t>    </a:t>
            </a:r>
            <a:endParaRPr lang="en-US" sz="2800" dirty="0"/>
          </a:p>
        </p:txBody>
      </p:sp>
      <p:sp>
        <p:nvSpPr>
          <p:cNvPr id="5" name="TextBox 4">
            <a:extLst>
              <a:ext uri="{FF2B5EF4-FFF2-40B4-BE49-F238E27FC236}">
                <a16:creationId xmlns:a16="http://schemas.microsoft.com/office/drawing/2014/main" id="{F16F2A8C-F992-1702-DF23-AC15D1364817}"/>
              </a:ext>
            </a:extLst>
          </p:cNvPr>
          <p:cNvSpPr txBox="1"/>
          <p:nvPr/>
        </p:nvSpPr>
        <p:spPr>
          <a:xfrm>
            <a:off x="7164288" y="4077072"/>
            <a:ext cx="1522512" cy="369332"/>
          </a:xfrm>
          <a:prstGeom prst="rect">
            <a:avLst/>
          </a:prstGeom>
          <a:noFill/>
        </p:spPr>
        <p:txBody>
          <a:bodyPr wrap="square" rtlCol="0">
            <a:spAutoFit/>
          </a:bodyPr>
          <a:lstStyle/>
          <a:p>
            <a:r>
              <a:rPr lang="en-US" dirty="0">
                <a:solidFill>
                  <a:srgbClr val="FF0000"/>
                </a:solidFill>
              </a:rPr>
              <a:t>B</a:t>
            </a:r>
            <a:r>
              <a:rPr lang="en-US" kern="1200" dirty="0">
                <a:solidFill>
                  <a:srgbClr val="FF0000"/>
                </a:solidFill>
                <a:latin typeface="Arial" panose="020B0604020202020204" pitchFamily="34" charset="0"/>
                <a:ea typeface="+mn-ea"/>
                <a:cs typeface="+mn-cs"/>
              </a:rPr>
              <a:t>etter!</a:t>
            </a:r>
          </a:p>
        </p:txBody>
      </p:sp>
    </p:spTree>
    <p:extLst>
      <p:ext uri="{BB962C8B-B14F-4D97-AF65-F5344CB8AC3E}">
        <p14:creationId xmlns:p14="http://schemas.microsoft.com/office/powerpoint/2010/main" val="2912041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Structure of the Iterator pattern example">
            <a:extLst>
              <a:ext uri="{FF2B5EF4-FFF2-40B4-BE49-F238E27FC236}">
                <a16:creationId xmlns:a16="http://schemas.microsoft.com/office/drawing/2014/main" id="{057762A4-2B80-CA3F-6AD7-076C6A709E8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5576" y="347810"/>
            <a:ext cx="6219056" cy="6530009"/>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000ADCC2-5617-2B88-0E4A-0D0A5B7771B4}"/>
              </a:ext>
            </a:extLst>
          </p:cNvPr>
          <p:cNvSpPr txBox="1"/>
          <p:nvPr/>
        </p:nvSpPr>
        <p:spPr>
          <a:xfrm>
            <a:off x="5496848" y="6466145"/>
            <a:ext cx="2300630" cy="261610"/>
          </a:xfrm>
          <a:prstGeom prst="rect">
            <a:avLst/>
          </a:prstGeom>
          <a:noFill/>
        </p:spPr>
        <p:txBody>
          <a:bodyPr wrap="none" rtlCol="0">
            <a:spAutoFit/>
          </a:bodyPr>
          <a:lstStyle/>
          <a:p>
            <a:r>
              <a:rPr lang="en-US" sz="1100" dirty="0"/>
              <a:t>Source: Dive into Design Patterns</a:t>
            </a:r>
          </a:p>
        </p:txBody>
      </p:sp>
      <p:sp>
        <p:nvSpPr>
          <p:cNvPr id="6" name="TextBox 5">
            <a:extLst>
              <a:ext uri="{FF2B5EF4-FFF2-40B4-BE49-F238E27FC236}">
                <a16:creationId xmlns:a16="http://schemas.microsoft.com/office/drawing/2014/main" id="{2A4177A4-5A07-396E-34D4-F4C6DE83A00B}"/>
              </a:ext>
            </a:extLst>
          </p:cNvPr>
          <p:cNvSpPr txBox="1"/>
          <p:nvPr/>
        </p:nvSpPr>
        <p:spPr>
          <a:xfrm>
            <a:off x="7092280" y="404664"/>
            <a:ext cx="1728192" cy="1692771"/>
          </a:xfrm>
          <a:prstGeom prst="rect">
            <a:avLst/>
          </a:prstGeom>
          <a:noFill/>
        </p:spPr>
        <p:txBody>
          <a:bodyPr wrap="square" rtlCol="0">
            <a:spAutoFit/>
          </a:bodyPr>
          <a:lstStyle/>
          <a:p>
            <a:r>
              <a:rPr lang="en-US" sz="2600" b="1" dirty="0" err="1"/>
              <a:t>Example:Writing</a:t>
            </a:r>
            <a:r>
              <a:rPr lang="en-US" sz="2600" b="1" dirty="0"/>
              <a:t> your own iterator</a:t>
            </a:r>
          </a:p>
        </p:txBody>
      </p:sp>
      <p:sp>
        <p:nvSpPr>
          <p:cNvPr id="3" name="TextBox 2">
            <a:extLst>
              <a:ext uri="{FF2B5EF4-FFF2-40B4-BE49-F238E27FC236}">
                <a16:creationId xmlns:a16="http://schemas.microsoft.com/office/drawing/2014/main" id="{1E8AD984-D57A-3DA0-0F6B-CE192461FFD9}"/>
              </a:ext>
            </a:extLst>
          </p:cNvPr>
          <p:cNvSpPr txBox="1"/>
          <p:nvPr/>
        </p:nvSpPr>
        <p:spPr>
          <a:xfrm>
            <a:off x="7160580" y="3194100"/>
            <a:ext cx="1951632" cy="2677656"/>
          </a:xfrm>
          <a:prstGeom prst="rect">
            <a:avLst/>
          </a:prstGeom>
          <a:noFill/>
        </p:spPr>
        <p:txBody>
          <a:bodyPr wrap="square" rtlCol="0">
            <a:spAutoFit/>
          </a:bodyPr>
          <a:lstStyle/>
          <a:p>
            <a:r>
              <a:rPr lang="en-US" sz="2400" dirty="0"/>
              <a:t>If the language provides iterator that fits, </a:t>
            </a:r>
            <a:r>
              <a:rPr lang="en-US" sz="2400" b="1" dirty="0"/>
              <a:t>no</a:t>
            </a:r>
            <a:r>
              <a:rPr lang="en-US" sz="2400" dirty="0"/>
              <a:t> need to reinvent the wheel.</a:t>
            </a:r>
          </a:p>
        </p:txBody>
      </p:sp>
    </p:spTree>
    <p:extLst>
      <p:ext uri="{BB962C8B-B14F-4D97-AF65-F5344CB8AC3E}">
        <p14:creationId xmlns:p14="http://schemas.microsoft.com/office/powerpoint/2010/main" val="27057401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9634" name="Picture 3">
            <a:extLst>
              <a:ext uri="{FF2B5EF4-FFF2-40B4-BE49-F238E27FC236}">
                <a16:creationId xmlns:a16="http://schemas.microsoft.com/office/drawing/2014/main" id="{8950F304-2802-2A03-8CDC-4B3C75E2DF1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7650" y="1477963"/>
            <a:ext cx="8458200" cy="3189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9635" name="Text Box 4">
            <a:extLst>
              <a:ext uri="{FF2B5EF4-FFF2-40B4-BE49-F238E27FC236}">
                <a16:creationId xmlns:a16="http://schemas.microsoft.com/office/drawing/2014/main" id="{98DC10CB-9281-D336-BB88-628B082E3BE8}"/>
              </a:ext>
            </a:extLst>
          </p:cNvPr>
          <p:cNvSpPr txBox="1">
            <a:spLocks noChangeArrowheads="1"/>
          </p:cNvSpPr>
          <p:nvPr/>
        </p:nvSpPr>
        <p:spPr bwMode="auto">
          <a:xfrm>
            <a:off x="592138" y="336550"/>
            <a:ext cx="1841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tr-TR" sz="2800"/>
          </a:p>
        </p:txBody>
      </p:sp>
      <p:sp>
        <p:nvSpPr>
          <p:cNvPr id="69636" name="Text Box 6">
            <a:extLst>
              <a:ext uri="{FF2B5EF4-FFF2-40B4-BE49-F238E27FC236}">
                <a16:creationId xmlns:a16="http://schemas.microsoft.com/office/drawing/2014/main" id="{64B68F30-D45E-A65C-650B-ACF0B4851D8F}"/>
              </a:ext>
            </a:extLst>
          </p:cNvPr>
          <p:cNvSpPr txBox="1">
            <a:spLocks noChangeArrowheads="1"/>
          </p:cNvSpPr>
          <p:nvPr/>
        </p:nvSpPr>
        <p:spPr bwMode="auto">
          <a:xfrm>
            <a:off x="457200" y="5505787"/>
            <a:ext cx="8201025" cy="144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marL="0" indent="0">
              <a:buNone/>
            </a:pPr>
            <a:r>
              <a:rPr lang="en-US" sz="2000" dirty="0"/>
              <a:t>The iterator implementation </a:t>
            </a:r>
            <a:r>
              <a:rPr lang="en-US" sz="2000" dirty="0" err="1"/>
              <a:t>w.r.t.</a:t>
            </a:r>
            <a:r>
              <a:rPr lang="en-US" sz="2000" dirty="0"/>
              <a:t> underlying data structure.</a:t>
            </a:r>
          </a:p>
          <a:p>
            <a:pPr marL="342900" indent="-342900"/>
            <a:r>
              <a:rPr lang="en-US" sz="2000" dirty="0"/>
              <a:t>e.g. cursor : index of an array</a:t>
            </a:r>
          </a:p>
          <a:p>
            <a:pPr marL="342900" indent="-342900"/>
            <a:r>
              <a:rPr lang="en-US" sz="2000" dirty="0"/>
              <a:t>e.g. cursor: pointer to a node </a:t>
            </a:r>
          </a:p>
          <a:p>
            <a:pPr eaLnBrk="1" hangingPunct="1">
              <a:spcBef>
                <a:spcPct val="0"/>
              </a:spcBef>
              <a:buFontTx/>
              <a:buNone/>
            </a:pPr>
            <a:endParaRPr lang="en-GB" altLang="tr-TR" sz="2000" dirty="0"/>
          </a:p>
        </p:txBody>
      </p:sp>
      <p:sp>
        <p:nvSpPr>
          <p:cNvPr id="69637" name="Rectangle 7">
            <a:extLst>
              <a:ext uri="{FF2B5EF4-FFF2-40B4-BE49-F238E27FC236}">
                <a16:creationId xmlns:a16="http://schemas.microsoft.com/office/drawing/2014/main" id="{8D18BD1C-7892-B939-4780-D82076C7755C}"/>
              </a:ext>
            </a:extLst>
          </p:cNvPr>
          <p:cNvSpPr>
            <a:spLocks noGrp="1" noChangeArrowheads="1"/>
          </p:cNvSpPr>
          <p:nvPr>
            <p:ph type="title"/>
          </p:nvPr>
        </p:nvSpPr>
        <p:spPr/>
        <p:txBody>
          <a:bodyPr/>
          <a:lstStyle/>
          <a:p>
            <a:pPr eaLnBrk="1" hangingPunct="1"/>
            <a:r>
              <a:rPr lang="en-US" altLang="tr-TR">
                <a:solidFill>
                  <a:schemeClr val="tx1"/>
                </a:solidFill>
              </a:rPr>
              <a:t>Structure (polymorphic iterator)</a:t>
            </a:r>
            <a:endParaRPr lang="en-GB" altLang="tr-TR">
              <a:solidFill>
                <a:schemeClr val="tx1"/>
              </a:solidFill>
            </a:endParaRPr>
          </a:p>
        </p:txBody>
      </p:sp>
      <p:sp>
        <p:nvSpPr>
          <p:cNvPr id="69638" name="Text Box 7">
            <a:extLst>
              <a:ext uri="{FF2B5EF4-FFF2-40B4-BE49-F238E27FC236}">
                <a16:creationId xmlns:a16="http://schemas.microsoft.com/office/drawing/2014/main" id="{A7D0EE44-1A9C-1222-17C5-090DAECC58AB}"/>
              </a:ext>
            </a:extLst>
          </p:cNvPr>
          <p:cNvSpPr txBox="1">
            <a:spLocks noChangeArrowheads="1"/>
          </p:cNvSpPr>
          <p:nvPr/>
        </p:nvSpPr>
        <p:spPr bwMode="auto">
          <a:xfrm>
            <a:off x="461963" y="4845049"/>
            <a:ext cx="845820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FontTx/>
              <a:buNone/>
            </a:pPr>
            <a:r>
              <a:rPr lang="en-US" altLang="tr-TR" sz="2000" dirty="0"/>
              <a:t>Each concrete aggregate is responsible to create the appropriate concrete iterator</a:t>
            </a:r>
            <a:endParaRPr lang="en-GB" altLang="tr-TR" sz="2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32CBB3-C954-A584-CEB4-3315E0EE07A1}"/>
            </a:ext>
          </a:extLst>
        </p:cNvPr>
        <p:cNvGrpSpPr/>
        <p:nvPr/>
      </p:nvGrpSpPr>
      <p:grpSpPr>
        <a:xfrm>
          <a:off x="0" y="0"/>
          <a:ext cx="0" cy="0"/>
          <a:chOff x="0" y="0"/>
          <a:chExt cx="0" cy="0"/>
        </a:xfrm>
      </p:grpSpPr>
      <p:pic>
        <p:nvPicPr>
          <p:cNvPr id="69634" name="Picture 3">
            <a:extLst>
              <a:ext uri="{FF2B5EF4-FFF2-40B4-BE49-F238E27FC236}">
                <a16:creationId xmlns:a16="http://schemas.microsoft.com/office/drawing/2014/main" id="{D4F5715E-4D97-8DC6-F17F-D8A58ABDBC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7650" y="1477963"/>
            <a:ext cx="8458200" cy="3189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9635" name="Text Box 4">
            <a:extLst>
              <a:ext uri="{FF2B5EF4-FFF2-40B4-BE49-F238E27FC236}">
                <a16:creationId xmlns:a16="http://schemas.microsoft.com/office/drawing/2014/main" id="{49E5522A-D3DA-396A-3A46-60569449610E}"/>
              </a:ext>
            </a:extLst>
          </p:cNvPr>
          <p:cNvSpPr txBox="1">
            <a:spLocks noChangeArrowheads="1"/>
          </p:cNvSpPr>
          <p:nvPr/>
        </p:nvSpPr>
        <p:spPr bwMode="auto">
          <a:xfrm>
            <a:off x="592138" y="336550"/>
            <a:ext cx="1841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tr-TR" sz="2800"/>
          </a:p>
        </p:txBody>
      </p:sp>
      <p:sp>
        <p:nvSpPr>
          <p:cNvPr id="69636" name="Text Box 6">
            <a:extLst>
              <a:ext uri="{FF2B5EF4-FFF2-40B4-BE49-F238E27FC236}">
                <a16:creationId xmlns:a16="http://schemas.microsoft.com/office/drawing/2014/main" id="{806DCDDE-5E61-2719-905B-6F195EE2DDD0}"/>
              </a:ext>
            </a:extLst>
          </p:cNvPr>
          <p:cNvSpPr txBox="1">
            <a:spLocks noChangeArrowheads="1"/>
          </p:cNvSpPr>
          <p:nvPr/>
        </p:nvSpPr>
        <p:spPr bwMode="auto">
          <a:xfrm>
            <a:off x="457200" y="5505787"/>
            <a:ext cx="8201025"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tr-TR" sz="2000" dirty="0" err="1"/>
              <a:t>CreateIterator</a:t>
            </a:r>
            <a:r>
              <a:rPr lang="en-US" altLang="tr-TR" sz="2000" dirty="0"/>
              <a:t>() method lets the subclasses to decide which concrete iterator to create. </a:t>
            </a:r>
            <a:r>
              <a:rPr lang="en-US" altLang="tr-TR" sz="2000" b="1" dirty="0"/>
              <a:t>Is this familiar</a:t>
            </a:r>
            <a:r>
              <a:rPr lang="en-US" altLang="tr-TR" sz="2000" dirty="0"/>
              <a:t>?</a:t>
            </a:r>
            <a:endParaRPr lang="en-GB" altLang="tr-TR" sz="2000" dirty="0"/>
          </a:p>
        </p:txBody>
      </p:sp>
      <p:sp>
        <p:nvSpPr>
          <p:cNvPr id="69637" name="Rectangle 7">
            <a:extLst>
              <a:ext uri="{FF2B5EF4-FFF2-40B4-BE49-F238E27FC236}">
                <a16:creationId xmlns:a16="http://schemas.microsoft.com/office/drawing/2014/main" id="{7B028753-ACEC-2CCA-CB91-32AA5B939026}"/>
              </a:ext>
            </a:extLst>
          </p:cNvPr>
          <p:cNvSpPr>
            <a:spLocks noGrp="1" noChangeArrowheads="1"/>
          </p:cNvSpPr>
          <p:nvPr>
            <p:ph type="title"/>
          </p:nvPr>
        </p:nvSpPr>
        <p:spPr/>
        <p:txBody>
          <a:bodyPr/>
          <a:lstStyle/>
          <a:p>
            <a:pPr eaLnBrk="1" hangingPunct="1"/>
            <a:r>
              <a:rPr lang="en-US" altLang="tr-TR">
                <a:solidFill>
                  <a:schemeClr val="tx1"/>
                </a:solidFill>
              </a:rPr>
              <a:t>Structure (polymorphic iterator)</a:t>
            </a:r>
            <a:endParaRPr lang="en-GB" altLang="tr-TR">
              <a:solidFill>
                <a:schemeClr val="tx1"/>
              </a:solidFill>
            </a:endParaRPr>
          </a:p>
        </p:txBody>
      </p:sp>
      <p:sp>
        <p:nvSpPr>
          <p:cNvPr id="69638" name="Text Box 7">
            <a:extLst>
              <a:ext uri="{FF2B5EF4-FFF2-40B4-BE49-F238E27FC236}">
                <a16:creationId xmlns:a16="http://schemas.microsoft.com/office/drawing/2014/main" id="{A46D5831-E7D4-988C-143D-A3D7A7A3DF8B}"/>
              </a:ext>
            </a:extLst>
          </p:cNvPr>
          <p:cNvSpPr txBox="1">
            <a:spLocks noChangeArrowheads="1"/>
          </p:cNvSpPr>
          <p:nvPr/>
        </p:nvSpPr>
        <p:spPr bwMode="auto">
          <a:xfrm>
            <a:off x="461963" y="4845049"/>
            <a:ext cx="845820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FontTx/>
              <a:buNone/>
            </a:pPr>
            <a:r>
              <a:rPr lang="en-US" altLang="tr-TR" sz="2000" dirty="0"/>
              <a:t>Each concrete aggregate is responsible to create the appropriate concrete iterator</a:t>
            </a:r>
            <a:endParaRPr lang="en-GB" altLang="tr-TR" sz="2000" dirty="0"/>
          </a:p>
        </p:txBody>
      </p:sp>
    </p:spTree>
    <p:extLst>
      <p:ext uri="{BB962C8B-B14F-4D97-AF65-F5344CB8AC3E}">
        <p14:creationId xmlns:p14="http://schemas.microsoft.com/office/powerpoint/2010/main" val="35624192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a:extLst>
              <a:ext uri="{FF2B5EF4-FFF2-40B4-BE49-F238E27FC236}">
                <a16:creationId xmlns:a16="http://schemas.microsoft.com/office/drawing/2014/main" id="{6946C9F8-B75A-002D-24FE-113864638530}"/>
              </a:ext>
            </a:extLst>
          </p:cNvPr>
          <p:cNvSpPr>
            <a:spLocks noGrp="1" noChangeArrowheads="1"/>
          </p:cNvSpPr>
          <p:nvPr>
            <p:ph type="title"/>
          </p:nvPr>
        </p:nvSpPr>
        <p:spPr/>
        <p:txBody>
          <a:bodyPr/>
          <a:lstStyle/>
          <a:p>
            <a:pPr eaLnBrk="1" hangingPunct="1"/>
            <a:r>
              <a:rPr lang="en-US" altLang="tr-TR"/>
              <a:t>Iterator -Consequences</a:t>
            </a:r>
          </a:p>
        </p:txBody>
      </p:sp>
      <p:sp>
        <p:nvSpPr>
          <p:cNvPr id="73731" name="Rectangle 3">
            <a:extLst>
              <a:ext uri="{FF2B5EF4-FFF2-40B4-BE49-F238E27FC236}">
                <a16:creationId xmlns:a16="http://schemas.microsoft.com/office/drawing/2014/main" id="{2295D715-876B-A274-A7FD-729337D576F8}"/>
              </a:ext>
            </a:extLst>
          </p:cNvPr>
          <p:cNvSpPr>
            <a:spLocks noGrp="1" noChangeArrowheads="1"/>
          </p:cNvSpPr>
          <p:nvPr>
            <p:ph idx="1"/>
          </p:nvPr>
        </p:nvSpPr>
        <p:spPr/>
        <p:txBody>
          <a:bodyPr/>
          <a:lstStyle/>
          <a:p>
            <a:pPr eaLnBrk="1" hangingPunct="1"/>
            <a:r>
              <a:rPr lang="en-US" altLang="tr-TR"/>
              <a:t>Simplifies the interface of the Aggregate by not polluting it with traversal methods</a:t>
            </a:r>
          </a:p>
          <a:p>
            <a:pPr eaLnBrk="1" hangingPunct="1"/>
            <a:endParaRPr lang="en-US" altLang="tr-TR"/>
          </a:p>
          <a:p>
            <a:pPr eaLnBrk="1" hangingPunct="1"/>
            <a:r>
              <a:rPr lang="en-US" altLang="tr-TR"/>
              <a:t>Supports multiple, concurrent traversals</a:t>
            </a:r>
          </a:p>
          <a:p>
            <a:pPr eaLnBrk="1" hangingPunct="1"/>
            <a:endParaRPr lang="en-US" altLang="tr-TR"/>
          </a:p>
          <a:p>
            <a:pPr eaLnBrk="1" hangingPunct="1"/>
            <a:r>
              <a:rPr lang="en-US" altLang="tr-TR"/>
              <a:t>Supports variant traversal techniques</a:t>
            </a:r>
          </a:p>
          <a:p>
            <a:pPr eaLnBrk="1" hangingPunct="1"/>
            <a:endParaRPr lang="en-US" altLang="tr-TR"/>
          </a:p>
          <a:p>
            <a:pPr eaLnBrk="1" hangingPunct="1">
              <a:buFontTx/>
              <a:buNone/>
            </a:pPr>
            <a:endParaRPr lang="en-US" altLang="tr-T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EA0648-2A19-D3D7-F17F-00F412CD46E1}"/>
              </a:ext>
            </a:extLst>
          </p:cNvPr>
          <p:cNvSpPr>
            <a:spLocks noGrp="1"/>
          </p:cNvSpPr>
          <p:nvPr>
            <p:ph type="title"/>
          </p:nvPr>
        </p:nvSpPr>
        <p:spPr/>
        <p:txBody>
          <a:bodyPr/>
          <a:lstStyle/>
          <a:p>
            <a:r>
              <a:rPr lang="en-US" dirty="0"/>
              <a:t>Language support</a:t>
            </a:r>
          </a:p>
        </p:txBody>
      </p:sp>
      <p:sp>
        <p:nvSpPr>
          <p:cNvPr id="4" name="Content Placeholder 3">
            <a:extLst>
              <a:ext uri="{FF2B5EF4-FFF2-40B4-BE49-F238E27FC236}">
                <a16:creationId xmlns:a16="http://schemas.microsoft.com/office/drawing/2014/main" id="{07C61705-A4D0-DEBF-B511-AACE5B8DC882}"/>
              </a:ext>
            </a:extLst>
          </p:cNvPr>
          <p:cNvSpPr>
            <a:spLocks noGrp="1"/>
          </p:cNvSpPr>
          <p:nvPr>
            <p:ph idx="1"/>
          </p:nvPr>
        </p:nvSpPr>
        <p:spPr/>
        <p:txBody>
          <a:bodyPr/>
          <a:lstStyle/>
          <a:p>
            <a:pPr eaLnBrk="1" hangingPunct="1">
              <a:lnSpc>
                <a:spcPct val="90000"/>
              </a:lnSpc>
            </a:pPr>
            <a:r>
              <a:rPr lang="en-US" altLang="tr-TR" sz="2800" dirty="0"/>
              <a:t>C++  STL  library has 6 iterators</a:t>
            </a:r>
          </a:p>
          <a:p>
            <a:pPr lvl="1">
              <a:lnSpc>
                <a:spcPct val="90000"/>
              </a:lnSpc>
            </a:pPr>
            <a:r>
              <a:rPr lang="en-US" altLang="tr-TR" sz="2400" dirty="0" err="1"/>
              <a:t>input_iterator</a:t>
            </a:r>
            <a:r>
              <a:rPr lang="en-US" altLang="tr-TR" sz="2400" dirty="0"/>
              <a:t>, </a:t>
            </a:r>
            <a:r>
              <a:rPr lang="en-US" altLang="tr-TR" sz="2400" dirty="0" err="1"/>
              <a:t>output_iterator</a:t>
            </a:r>
            <a:r>
              <a:rPr lang="en-US" altLang="tr-TR" sz="2400" dirty="0"/>
              <a:t>, </a:t>
            </a:r>
            <a:r>
              <a:rPr lang="en-US" altLang="tr-TR" sz="2400" dirty="0" err="1"/>
              <a:t>forward_iterator</a:t>
            </a:r>
            <a:r>
              <a:rPr lang="en-US" altLang="tr-TR" sz="2400" dirty="0"/>
              <a:t>, </a:t>
            </a:r>
            <a:r>
              <a:rPr lang="en-US" altLang="tr-TR" sz="2400" dirty="0" err="1"/>
              <a:t>bidirectional_iterator</a:t>
            </a:r>
            <a:r>
              <a:rPr lang="en-US" altLang="tr-TR" sz="2400" dirty="0"/>
              <a:t>, </a:t>
            </a:r>
            <a:r>
              <a:rPr lang="en-US" altLang="tr-TR" sz="2400" dirty="0" err="1"/>
              <a:t>random_access_iterator</a:t>
            </a:r>
            <a:r>
              <a:rPr lang="en-US" altLang="tr-TR" sz="2400" dirty="0"/>
              <a:t>, </a:t>
            </a:r>
            <a:r>
              <a:rPr lang="en-US" altLang="tr-TR" sz="2400" dirty="0" err="1"/>
              <a:t>contiguous_iterator</a:t>
            </a:r>
            <a:r>
              <a:rPr lang="en-US" altLang="tr-TR" sz="2400" dirty="0"/>
              <a:t> </a:t>
            </a:r>
          </a:p>
          <a:p>
            <a:pPr eaLnBrk="1" hangingPunct="1">
              <a:lnSpc>
                <a:spcPct val="90000"/>
              </a:lnSpc>
            </a:pPr>
            <a:r>
              <a:rPr lang="en-US" altLang="tr-TR" sz="2800" dirty="0"/>
              <a:t>Java has basic 3 iterators </a:t>
            </a:r>
          </a:p>
          <a:p>
            <a:pPr lvl="1">
              <a:lnSpc>
                <a:spcPct val="90000"/>
              </a:lnSpc>
            </a:pPr>
            <a:r>
              <a:rPr lang="en-US" altLang="tr-TR" sz="2400" dirty="0"/>
              <a:t>Collection&lt;t&gt; extends </a:t>
            </a:r>
            <a:r>
              <a:rPr lang="en-US" altLang="tr-TR" sz="2400" dirty="0" err="1"/>
              <a:t>Iterable</a:t>
            </a:r>
            <a:r>
              <a:rPr lang="en-US" altLang="tr-TR" sz="2400" dirty="0"/>
              <a:t>&lt;T&gt; interface, all collections return an iterator</a:t>
            </a:r>
          </a:p>
          <a:p>
            <a:pPr lvl="1" eaLnBrk="1" hangingPunct="1">
              <a:lnSpc>
                <a:spcPct val="90000"/>
              </a:lnSpc>
            </a:pPr>
            <a:r>
              <a:rPr lang="en-US" altLang="tr-TR" sz="2400" dirty="0"/>
              <a:t>There is indirect support to create iterators for arrays</a:t>
            </a:r>
          </a:p>
          <a:p>
            <a:pPr lvl="1" eaLnBrk="1" hangingPunct="1">
              <a:lnSpc>
                <a:spcPct val="90000"/>
              </a:lnSpc>
            </a:pPr>
            <a:endParaRPr lang="en-US" altLang="tr-TR" sz="2400" dirty="0"/>
          </a:p>
          <a:p>
            <a:pPr>
              <a:lnSpc>
                <a:spcPct val="90000"/>
              </a:lnSpc>
            </a:pPr>
            <a:r>
              <a:rPr lang="en-US" altLang="tr-TR" sz="2800" dirty="0"/>
              <a:t>STL weakens the iterator intent “sequential” access, also support </a:t>
            </a:r>
            <a:r>
              <a:rPr lang="en-US" altLang="tr-TR" sz="2800" dirty="0" err="1"/>
              <a:t>bidirection</a:t>
            </a:r>
            <a:endParaRPr lang="en-US" altLang="tr-TR" sz="2800" dirty="0"/>
          </a:p>
          <a:p>
            <a:pPr>
              <a:lnSpc>
                <a:spcPct val="90000"/>
              </a:lnSpc>
            </a:pPr>
            <a:r>
              <a:rPr lang="en-US" altLang="tr-TR" sz="2800" dirty="0"/>
              <a:t>Java </a:t>
            </a:r>
            <a:r>
              <a:rPr lang="en-US" altLang="tr-TR" sz="2800" dirty="0" err="1"/>
              <a:t>ListIterator</a:t>
            </a:r>
            <a:r>
              <a:rPr lang="en-US" altLang="tr-TR" sz="2800" dirty="0"/>
              <a:t> is bidirectional</a:t>
            </a:r>
          </a:p>
          <a:p>
            <a:endParaRPr lang="en-US" dirty="0"/>
          </a:p>
        </p:txBody>
      </p:sp>
    </p:spTree>
    <p:extLst>
      <p:ext uri="{BB962C8B-B14F-4D97-AF65-F5344CB8AC3E}">
        <p14:creationId xmlns:p14="http://schemas.microsoft.com/office/powerpoint/2010/main" val="2081943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Title 1">
            <a:extLst>
              <a:ext uri="{FF2B5EF4-FFF2-40B4-BE49-F238E27FC236}">
                <a16:creationId xmlns:a16="http://schemas.microsoft.com/office/drawing/2014/main" id="{C9A7B3A3-BA69-F40A-00CA-35348734BC8B}"/>
              </a:ext>
            </a:extLst>
          </p:cNvPr>
          <p:cNvSpPr>
            <a:spLocks noGrp="1" noChangeArrowheads="1"/>
          </p:cNvSpPr>
          <p:nvPr>
            <p:ph type="title"/>
          </p:nvPr>
        </p:nvSpPr>
        <p:spPr/>
        <p:txBody>
          <a:bodyPr/>
          <a:lstStyle/>
          <a:p>
            <a:r>
              <a:rPr lang="en-US" altLang="tr-TR"/>
              <a:t>Related patterns</a:t>
            </a:r>
            <a:endParaRPr lang="tr-TR" altLang="tr-TR"/>
          </a:p>
        </p:txBody>
      </p:sp>
      <p:sp>
        <p:nvSpPr>
          <p:cNvPr id="76803" name="Content Placeholder 2">
            <a:extLst>
              <a:ext uri="{FF2B5EF4-FFF2-40B4-BE49-F238E27FC236}">
                <a16:creationId xmlns:a16="http://schemas.microsoft.com/office/drawing/2014/main" id="{D3D09BB8-9801-2E95-1E7B-C64FCCB1920C}"/>
              </a:ext>
            </a:extLst>
          </p:cNvPr>
          <p:cNvSpPr>
            <a:spLocks noGrp="1" noChangeArrowheads="1"/>
          </p:cNvSpPr>
          <p:nvPr>
            <p:ph idx="1"/>
          </p:nvPr>
        </p:nvSpPr>
        <p:spPr>
          <a:xfrm>
            <a:off x="457200" y="1335291"/>
            <a:ext cx="8686800" cy="4532109"/>
          </a:xfrm>
        </p:spPr>
        <p:txBody>
          <a:bodyPr/>
          <a:lstStyle/>
          <a:p>
            <a:r>
              <a:rPr lang="en-US" altLang="tr-TR" sz="3000" dirty="0"/>
              <a:t>Iterator can traverse a </a:t>
            </a:r>
            <a:r>
              <a:rPr lang="en-US" altLang="tr-TR" sz="3000" b="1" dirty="0"/>
              <a:t>Composite</a:t>
            </a:r>
            <a:r>
              <a:rPr lang="en-US" altLang="tr-TR" sz="3000" dirty="0"/>
              <a:t>.</a:t>
            </a:r>
          </a:p>
          <a:p>
            <a:r>
              <a:rPr lang="en-US" altLang="tr-TR" sz="3000" dirty="0"/>
              <a:t>Polymorphic Iterators rely on </a:t>
            </a:r>
            <a:r>
              <a:rPr lang="en-US" altLang="tr-TR" sz="3000" b="1" dirty="0"/>
              <a:t>Factory</a:t>
            </a:r>
            <a:r>
              <a:rPr lang="en-US" altLang="tr-TR" sz="3000" dirty="0"/>
              <a:t> </a:t>
            </a:r>
            <a:r>
              <a:rPr lang="en-US" altLang="tr-TR" sz="3000" b="1" dirty="0"/>
              <a:t>Methods</a:t>
            </a:r>
            <a:r>
              <a:rPr lang="en-US" altLang="tr-TR" sz="3000" dirty="0"/>
              <a:t> to instantiate the appropriate Iterator subclass.</a:t>
            </a:r>
          </a:p>
          <a:p>
            <a:r>
              <a:rPr lang="en-US" altLang="tr-TR" sz="3000" b="1" dirty="0"/>
              <a:t>Memento</a:t>
            </a:r>
            <a:r>
              <a:rPr lang="en-US" altLang="tr-TR" sz="3000" dirty="0"/>
              <a:t> is often used in conjunction with Iterator. </a:t>
            </a:r>
          </a:p>
          <a:p>
            <a:pPr lvl="1"/>
            <a:r>
              <a:rPr lang="en-US" altLang="tr-TR" dirty="0"/>
              <a:t>An Iterator can use a Memento to capture the state of an iteration. The Iterator stores the Memento internally.</a:t>
            </a:r>
          </a:p>
          <a:p>
            <a:r>
              <a:rPr lang="en-US" altLang="tr-TR" sz="3000" b="1" dirty="0"/>
              <a:t>Visitor</a:t>
            </a:r>
            <a:r>
              <a:rPr lang="en-US" altLang="tr-TR" sz="3000" dirty="0"/>
              <a:t> (next) and Iterator both traverse a structure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Title 1">
            <a:extLst>
              <a:ext uri="{FF2B5EF4-FFF2-40B4-BE49-F238E27FC236}">
                <a16:creationId xmlns:a16="http://schemas.microsoft.com/office/drawing/2014/main" id="{94F038D7-7FE2-3B5C-EDA2-614E04C8A791}"/>
              </a:ext>
            </a:extLst>
          </p:cNvPr>
          <p:cNvSpPr>
            <a:spLocks noGrp="1" noChangeArrowheads="1"/>
          </p:cNvSpPr>
          <p:nvPr>
            <p:ph type="title"/>
          </p:nvPr>
        </p:nvSpPr>
        <p:spPr/>
        <p:txBody>
          <a:bodyPr/>
          <a:lstStyle/>
          <a:p>
            <a:r>
              <a:rPr lang="en-US" altLang="tr-TR"/>
              <a:t>implementation issues</a:t>
            </a:r>
            <a:endParaRPr lang="tr-TR" altLang="tr-TR"/>
          </a:p>
        </p:txBody>
      </p:sp>
      <p:sp>
        <p:nvSpPr>
          <p:cNvPr id="79875" name="Content Placeholder 2">
            <a:extLst>
              <a:ext uri="{FF2B5EF4-FFF2-40B4-BE49-F238E27FC236}">
                <a16:creationId xmlns:a16="http://schemas.microsoft.com/office/drawing/2014/main" id="{6C232451-C938-C276-AF71-3DDC8DB91131}"/>
              </a:ext>
            </a:extLst>
          </p:cNvPr>
          <p:cNvSpPr>
            <a:spLocks noGrp="1" noChangeArrowheads="1"/>
          </p:cNvSpPr>
          <p:nvPr>
            <p:ph idx="1"/>
          </p:nvPr>
        </p:nvSpPr>
        <p:spPr>
          <a:xfrm>
            <a:off x="457200" y="1335291"/>
            <a:ext cx="8229600" cy="5383557"/>
          </a:xfrm>
        </p:spPr>
        <p:txBody>
          <a:bodyPr/>
          <a:lstStyle/>
          <a:p>
            <a:r>
              <a:rPr lang="en-US" altLang="tr-TR" sz="2800" dirty="0"/>
              <a:t>Can the aggregate be modified while a traversal is ongoing? </a:t>
            </a:r>
          </a:p>
          <a:p>
            <a:pPr lvl="1"/>
            <a:r>
              <a:rPr lang="en-US" altLang="tr-TR" sz="2400" dirty="0"/>
              <a:t>An iterator that allows insertion and deletions without affecting the traversal and without making a copy of the aggregate is called a </a:t>
            </a:r>
            <a:r>
              <a:rPr lang="en-US" altLang="tr-TR" sz="2400" b="1" dirty="0"/>
              <a:t>robust</a:t>
            </a:r>
            <a:r>
              <a:rPr lang="en-US" altLang="tr-TR" sz="2400" dirty="0"/>
              <a:t> iterator.</a:t>
            </a:r>
          </a:p>
          <a:p>
            <a:pPr lvl="1"/>
            <a:r>
              <a:rPr lang="en-US" altLang="tr-TR" sz="2400" dirty="0"/>
              <a:t>C++ STL provides such iterators</a:t>
            </a:r>
          </a:p>
          <a:p>
            <a:pPr lvl="1">
              <a:spcAft>
                <a:spcPts val="1200"/>
              </a:spcAft>
            </a:pPr>
            <a:r>
              <a:rPr lang="en-US" altLang="tr-TR" sz="2400" dirty="0"/>
              <a:t>Java throws </a:t>
            </a:r>
            <a:r>
              <a:rPr lang="en-US" altLang="tr-TR" sz="2400" dirty="0" err="1"/>
              <a:t>ConcurrentModificationException</a:t>
            </a:r>
            <a:r>
              <a:rPr lang="en-US" altLang="tr-TR" sz="2400" dirty="0"/>
              <a:t> </a:t>
            </a:r>
          </a:p>
          <a:p>
            <a:r>
              <a:rPr lang="en-US" altLang="tr-TR" sz="2800" dirty="0"/>
              <a:t>Use library iterators to avoid pitfalls</a:t>
            </a:r>
          </a:p>
          <a:p>
            <a:pPr lvl="1"/>
            <a:r>
              <a:rPr lang="en-US" altLang="tr-TR" sz="2400" dirty="0"/>
              <a:t>Might want to implement iterator for your own complex data structure</a:t>
            </a:r>
          </a:p>
          <a:p>
            <a:pPr lvl="2"/>
            <a:r>
              <a:rPr lang="en-US" altLang="tr-TR" sz="2000" dirty="0"/>
              <a:t>When there are traversal code in  many places</a:t>
            </a:r>
          </a:p>
          <a:p>
            <a:pPr lvl="1"/>
            <a:r>
              <a:rPr lang="en-US" altLang="tr-TR" sz="2400" dirty="0"/>
              <a:t>Might use library iterators inside your own iterator</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Title 1">
            <a:extLst>
              <a:ext uri="{FF2B5EF4-FFF2-40B4-BE49-F238E27FC236}">
                <a16:creationId xmlns:a16="http://schemas.microsoft.com/office/drawing/2014/main" id="{DABB8409-0573-8982-389B-DCE2F71A433E}"/>
              </a:ext>
            </a:extLst>
          </p:cNvPr>
          <p:cNvSpPr>
            <a:spLocks noGrp="1" noChangeArrowheads="1"/>
          </p:cNvSpPr>
          <p:nvPr>
            <p:ph type="title"/>
          </p:nvPr>
        </p:nvSpPr>
        <p:spPr/>
        <p:txBody>
          <a:bodyPr/>
          <a:lstStyle/>
          <a:p>
            <a:r>
              <a:rPr lang="en-US" altLang="tr-TR"/>
              <a:t>implementation issues</a:t>
            </a:r>
            <a:endParaRPr lang="tr-TR" altLang="tr-TR"/>
          </a:p>
        </p:txBody>
      </p:sp>
      <p:sp>
        <p:nvSpPr>
          <p:cNvPr id="3" name="Content Placeholder 2">
            <a:extLst>
              <a:ext uri="{FF2B5EF4-FFF2-40B4-BE49-F238E27FC236}">
                <a16:creationId xmlns:a16="http://schemas.microsoft.com/office/drawing/2014/main" id="{2F550371-70CC-4298-9338-9B4113F8599A}"/>
              </a:ext>
            </a:extLst>
          </p:cNvPr>
          <p:cNvSpPr>
            <a:spLocks noGrp="1"/>
          </p:cNvSpPr>
          <p:nvPr>
            <p:ph idx="1"/>
          </p:nvPr>
        </p:nvSpPr>
        <p:spPr/>
        <p:txBody>
          <a:bodyPr/>
          <a:lstStyle/>
          <a:p>
            <a:pPr>
              <a:defRPr/>
            </a:pPr>
            <a:r>
              <a:rPr lang="en-US" dirty="0"/>
              <a:t>Who defines the traversal algorithm?</a:t>
            </a:r>
          </a:p>
          <a:p>
            <a:pPr lvl="1">
              <a:defRPr/>
            </a:pPr>
            <a:r>
              <a:rPr lang="en-US" dirty="0"/>
              <a:t>The iterator =&gt; more common; easier to have variant traversal techniques</a:t>
            </a:r>
          </a:p>
          <a:p>
            <a:pPr lvl="2">
              <a:defRPr/>
            </a:pPr>
            <a:r>
              <a:rPr lang="en-US" dirty="0" err="1"/>
              <a:t>E.g</a:t>
            </a:r>
            <a:r>
              <a:rPr lang="en-US" dirty="0"/>
              <a:t>   </a:t>
            </a:r>
            <a:r>
              <a:rPr lang="en-US" dirty="0" err="1"/>
              <a:t>ListIterator</a:t>
            </a:r>
            <a:r>
              <a:rPr lang="en-US" dirty="0"/>
              <a:t>::next() {return </a:t>
            </a:r>
            <a:r>
              <a:rPr lang="en-US" dirty="0" err="1"/>
              <a:t>list.get</a:t>
            </a:r>
            <a:r>
              <a:rPr lang="en-US" dirty="0"/>
              <a:t>(current);}</a:t>
            </a:r>
          </a:p>
          <a:p>
            <a:pPr marL="914400" lvl="2" indent="0">
              <a:buFontTx/>
              <a:buNone/>
              <a:defRPr/>
            </a:pPr>
            <a:endParaRPr lang="en-US" dirty="0"/>
          </a:p>
          <a:p>
            <a:pPr lvl="1">
              <a:defRPr/>
            </a:pPr>
            <a:r>
              <a:rPr lang="en-US" dirty="0"/>
              <a:t>The aggregate =&gt; iterator only keeps state of the iteration.</a:t>
            </a:r>
          </a:p>
          <a:p>
            <a:pPr lvl="2">
              <a:defRPr/>
            </a:pPr>
            <a:r>
              <a:rPr lang="en-US" dirty="0"/>
              <a:t>A client will invoke the Next operation on the aggregate with the cursor as an argument, and the Next operation will change the state of the cursor.</a:t>
            </a:r>
            <a:endParaRPr lang="en-US" sz="2000" dirty="0"/>
          </a:p>
          <a:p>
            <a:pPr>
              <a:defRPr/>
            </a:pPr>
            <a:r>
              <a:rPr lang="en-US" sz="2800" dirty="0"/>
              <a:t>Iterator may need Collection to expose its internals  --friend</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Title 1">
            <a:extLst>
              <a:ext uri="{FF2B5EF4-FFF2-40B4-BE49-F238E27FC236}">
                <a16:creationId xmlns:a16="http://schemas.microsoft.com/office/drawing/2014/main" id="{0DE28AEC-D4DA-789C-83CE-BA350260F0ED}"/>
              </a:ext>
            </a:extLst>
          </p:cNvPr>
          <p:cNvSpPr>
            <a:spLocks noGrp="1" noChangeArrowheads="1"/>
          </p:cNvSpPr>
          <p:nvPr>
            <p:ph type="title"/>
          </p:nvPr>
        </p:nvSpPr>
        <p:spPr/>
        <p:txBody>
          <a:bodyPr/>
          <a:lstStyle/>
          <a:p>
            <a:r>
              <a:rPr lang="en-US" altLang="tr-TR"/>
              <a:t>Iterator and multithreading</a:t>
            </a:r>
            <a:endParaRPr lang="tr-TR" altLang="tr-TR"/>
          </a:p>
        </p:txBody>
      </p:sp>
      <p:sp>
        <p:nvSpPr>
          <p:cNvPr id="81923" name="Content Placeholder 2">
            <a:extLst>
              <a:ext uri="{FF2B5EF4-FFF2-40B4-BE49-F238E27FC236}">
                <a16:creationId xmlns:a16="http://schemas.microsoft.com/office/drawing/2014/main" id="{900F29AF-1F78-5545-3C87-CCF4D70D6BDA}"/>
              </a:ext>
            </a:extLst>
          </p:cNvPr>
          <p:cNvSpPr>
            <a:spLocks noGrp="1" noChangeArrowheads="1"/>
          </p:cNvSpPr>
          <p:nvPr>
            <p:ph idx="1"/>
          </p:nvPr>
        </p:nvSpPr>
        <p:spPr>
          <a:xfrm>
            <a:off x="457200" y="1462088"/>
            <a:ext cx="8229600" cy="4525962"/>
          </a:xfrm>
        </p:spPr>
        <p:txBody>
          <a:bodyPr/>
          <a:lstStyle/>
          <a:p>
            <a:pPr>
              <a:spcBef>
                <a:spcPts val="600"/>
              </a:spcBef>
            </a:pPr>
            <a:r>
              <a:rPr lang="en-US" altLang="tr-TR" sz="2000" dirty="0"/>
              <a:t>Iterator does not raise special problems when the collection used from different threads as long the collection is not changed. </a:t>
            </a:r>
          </a:p>
          <a:p>
            <a:pPr>
              <a:spcBef>
                <a:spcPts val="600"/>
              </a:spcBef>
            </a:pPr>
            <a:r>
              <a:rPr lang="en-US" altLang="tr-TR" sz="2000" dirty="0"/>
              <a:t>Collection changes and iterator:</a:t>
            </a:r>
          </a:p>
          <a:p>
            <a:pPr>
              <a:spcBef>
                <a:spcPts val="600"/>
              </a:spcBef>
              <a:buFontTx/>
              <a:buAutoNum type="arabicPeriod"/>
            </a:pPr>
            <a:r>
              <a:rPr lang="en-US" altLang="tr-TR" sz="2000" dirty="0"/>
              <a:t>A new element is added/removed to the collection (at the end). The iterator should be aware of the new size of the collection and to iterate till the end.</a:t>
            </a:r>
          </a:p>
          <a:p>
            <a:pPr>
              <a:spcBef>
                <a:spcPts val="600"/>
              </a:spcBef>
              <a:buFontTx/>
              <a:buAutoNum type="arabicPeriod"/>
            </a:pPr>
            <a:r>
              <a:rPr lang="en-US" altLang="tr-TR" sz="2000" dirty="0"/>
              <a:t>A new element is added/removed to the collection before the current element. In this case all the iterators of the collection should be aware of this.</a:t>
            </a:r>
          </a:p>
          <a:p>
            <a:pPr>
              <a:spcBef>
                <a:spcPts val="600"/>
              </a:spcBef>
            </a:pPr>
            <a:r>
              <a:rPr lang="en-US" altLang="tr-TR" sz="2000" dirty="0"/>
              <a:t>Multithreading iterator should be a robust iterator and have locking mechanism (synchronization) </a:t>
            </a:r>
          </a:p>
          <a:p>
            <a:pPr>
              <a:spcBef>
                <a:spcPts val="600"/>
              </a:spcBef>
            </a:pPr>
            <a:r>
              <a:rPr lang="en-US" altLang="tr-TR" sz="2000" dirty="0"/>
              <a:t>Languages support iterators for multi-threaded. Use them.</a:t>
            </a:r>
            <a:endParaRPr lang="tr-TR" altLang="tr-TR" sz="2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252D68B-869D-94E9-E91B-C0E6D6AD6E2A}"/>
              </a:ext>
            </a:extLst>
          </p:cNvPr>
          <p:cNvSpPr>
            <a:spLocks noGrp="1"/>
          </p:cNvSpPr>
          <p:nvPr>
            <p:ph type="title"/>
          </p:nvPr>
        </p:nvSpPr>
        <p:spPr/>
        <p:txBody>
          <a:bodyPr/>
          <a:lstStyle/>
          <a:p>
            <a:r>
              <a:rPr lang="en-US" dirty="0"/>
              <a:t>visitor</a:t>
            </a:r>
          </a:p>
        </p:txBody>
      </p:sp>
      <p:sp>
        <p:nvSpPr>
          <p:cNvPr id="5" name="Text Placeholder 4">
            <a:extLst>
              <a:ext uri="{FF2B5EF4-FFF2-40B4-BE49-F238E27FC236}">
                <a16:creationId xmlns:a16="http://schemas.microsoft.com/office/drawing/2014/main" id="{34F59300-3AD6-5AF4-1C9D-C3B3D2770D9A}"/>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80830455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5306B8F-FE7A-56AD-796D-652645515D0A}"/>
              </a:ext>
            </a:extLst>
          </p:cNvPr>
          <p:cNvSpPr>
            <a:spLocks noGrp="1"/>
          </p:cNvSpPr>
          <p:nvPr>
            <p:ph type="title"/>
          </p:nvPr>
        </p:nvSpPr>
        <p:spPr/>
        <p:txBody>
          <a:bodyPr/>
          <a:lstStyle/>
          <a:p>
            <a:r>
              <a:rPr lang="en-US" dirty="0"/>
              <a:t>General Problem</a:t>
            </a:r>
          </a:p>
        </p:txBody>
      </p:sp>
      <p:sp>
        <p:nvSpPr>
          <p:cNvPr id="5" name="Content Placeholder 4">
            <a:extLst>
              <a:ext uri="{FF2B5EF4-FFF2-40B4-BE49-F238E27FC236}">
                <a16:creationId xmlns:a16="http://schemas.microsoft.com/office/drawing/2014/main" id="{27A383A0-1E29-DD04-2C2A-F1228C2FDEF8}"/>
              </a:ext>
            </a:extLst>
          </p:cNvPr>
          <p:cNvSpPr>
            <a:spLocks noGrp="1"/>
          </p:cNvSpPr>
          <p:nvPr>
            <p:ph idx="1"/>
          </p:nvPr>
        </p:nvSpPr>
        <p:spPr/>
        <p:txBody>
          <a:bodyPr/>
          <a:lstStyle/>
          <a:p>
            <a:r>
              <a:rPr lang="en-US" dirty="0"/>
              <a:t>There are many objects of different types</a:t>
            </a:r>
          </a:p>
          <a:p>
            <a:pPr lvl="1"/>
            <a:r>
              <a:rPr lang="en-US" dirty="0"/>
              <a:t>Some share the same interface, some not.</a:t>
            </a:r>
          </a:p>
          <a:p>
            <a:pPr>
              <a:spcBef>
                <a:spcPts val="1800"/>
              </a:spcBef>
            </a:pPr>
            <a:r>
              <a:rPr lang="en-US" dirty="0"/>
              <a:t> We want to apply operation to several or all of them</a:t>
            </a:r>
          </a:p>
          <a:p>
            <a:pPr lvl="1"/>
            <a:r>
              <a:rPr lang="en-US" dirty="0"/>
              <a:t>Cannot foresee all the operations we will need</a:t>
            </a:r>
          </a:p>
          <a:p>
            <a:pPr>
              <a:spcBef>
                <a:spcPts val="1800"/>
              </a:spcBef>
            </a:pPr>
            <a:r>
              <a:rPr lang="en-US" sz="2800" dirty="0"/>
              <a:t>Additionally</a:t>
            </a:r>
          </a:p>
          <a:p>
            <a:pPr lvl="1"/>
            <a:r>
              <a:rPr lang="en-US" sz="2400" dirty="0"/>
              <a:t>These operations are </a:t>
            </a:r>
            <a:r>
              <a:rPr lang="en-US" sz="2400" b="1" dirty="0"/>
              <a:t>not primary</a:t>
            </a:r>
            <a:r>
              <a:rPr lang="en-US" sz="2400" dirty="0"/>
              <a:t> responsibilities of the objects</a:t>
            </a:r>
          </a:p>
          <a:p>
            <a:pPr lvl="1"/>
            <a:r>
              <a:rPr lang="en-US" sz="2400" dirty="0"/>
              <a:t>We want to add new operations without modifying the object classes </a:t>
            </a:r>
          </a:p>
        </p:txBody>
      </p:sp>
    </p:spTree>
    <p:extLst>
      <p:ext uri="{BB962C8B-B14F-4D97-AF65-F5344CB8AC3E}">
        <p14:creationId xmlns:p14="http://schemas.microsoft.com/office/powerpoint/2010/main" val="9115143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7EBB0D-6D24-4DD4-AC75-8078DAE02EFF}"/>
              </a:ext>
            </a:extLst>
          </p:cNvPr>
          <p:cNvSpPr>
            <a:spLocks noGrp="1"/>
          </p:cNvSpPr>
          <p:nvPr>
            <p:ph type="title"/>
          </p:nvPr>
        </p:nvSpPr>
        <p:spPr/>
        <p:txBody>
          <a:bodyPr/>
          <a:lstStyle/>
          <a:p>
            <a:r>
              <a:rPr lang="en-US" dirty="0"/>
              <a:t>Example Scenarios</a:t>
            </a:r>
          </a:p>
        </p:txBody>
      </p:sp>
      <p:sp>
        <p:nvSpPr>
          <p:cNvPr id="3" name="Content Placeholder 2">
            <a:extLst>
              <a:ext uri="{FF2B5EF4-FFF2-40B4-BE49-F238E27FC236}">
                <a16:creationId xmlns:a16="http://schemas.microsoft.com/office/drawing/2014/main" id="{A3A88A60-478F-31FB-792F-F2C8158AAAA8}"/>
              </a:ext>
            </a:extLst>
          </p:cNvPr>
          <p:cNvSpPr>
            <a:spLocks noGrp="1"/>
          </p:cNvSpPr>
          <p:nvPr>
            <p:ph idx="1"/>
          </p:nvPr>
        </p:nvSpPr>
        <p:spPr/>
        <p:txBody>
          <a:bodyPr/>
          <a:lstStyle/>
          <a:p>
            <a:pPr marL="0" indent="0">
              <a:buNone/>
            </a:pPr>
            <a:r>
              <a:rPr lang="en-US" dirty="0">
                <a:latin typeface="Aptos" panose="020B0004020202020204" pitchFamily="34" charset="0"/>
              </a:rPr>
              <a:t>Scenario 1:</a:t>
            </a:r>
          </a:p>
          <a:p>
            <a:r>
              <a:rPr lang="en-US" dirty="0">
                <a:latin typeface="Aptos" panose="020B0004020202020204" pitchFamily="34" charset="0"/>
              </a:rPr>
              <a:t>There are a collection of chapter, section, paragraph classes</a:t>
            </a:r>
          </a:p>
          <a:p>
            <a:r>
              <a:rPr lang="en-US" dirty="0">
                <a:latin typeface="Aptos" panose="020B0004020202020204" pitchFamily="34" charset="0"/>
              </a:rPr>
              <a:t>Adding secondary operations: Table of Contents, word count operation </a:t>
            </a:r>
          </a:p>
          <a:p>
            <a:pPr marL="0" indent="0">
              <a:buNone/>
            </a:pPr>
            <a:r>
              <a:rPr lang="en-US" b="0" i="0" dirty="0">
                <a:solidFill>
                  <a:srgbClr val="111111"/>
                </a:solidFill>
                <a:effectLst/>
                <a:latin typeface="Aptos" panose="020B0004020202020204" pitchFamily="34" charset="0"/>
              </a:rPr>
              <a:t>Scenario 2:</a:t>
            </a:r>
          </a:p>
          <a:p>
            <a:r>
              <a:rPr lang="en-US" dirty="0">
                <a:solidFill>
                  <a:srgbClr val="111111"/>
                </a:solidFill>
                <a:latin typeface="Aptos" panose="020B0004020202020204" pitchFamily="34" charset="0"/>
              </a:rPr>
              <a:t>There are </a:t>
            </a:r>
            <a:r>
              <a:rPr lang="en-US" b="0" i="0" dirty="0">
                <a:solidFill>
                  <a:srgbClr val="111111"/>
                </a:solidFill>
                <a:effectLst/>
                <a:latin typeface="Aptos" panose="020B0004020202020204" pitchFamily="34" charset="0"/>
              </a:rPr>
              <a:t>a different types of products </a:t>
            </a:r>
            <a:r>
              <a:rPr lang="en-US" dirty="0">
                <a:solidFill>
                  <a:srgbClr val="111111"/>
                </a:solidFill>
                <a:latin typeface="Aptos" panose="020B0004020202020204" pitchFamily="34" charset="0"/>
              </a:rPr>
              <a:t>in an e-commerce site</a:t>
            </a:r>
            <a:endParaRPr lang="en-US" b="0" i="0" dirty="0">
              <a:solidFill>
                <a:srgbClr val="111111"/>
              </a:solidFill>
              <a:effectLst/>
              <a:latin typeface="Aptos" panose="020B0004020202020204" pitchFamily="34" charset="0"/>
            </a:endParaRPr>
          </a:p>
          <a:p>
            <a:r>
              <a:rPr lang="en-US" dirty="0">
                <a:solidFill>
                  <a:srgbClr val="111111"/>
                </a:solidFill>
                <a:latin typeface="Aptos" panose="020B0004020202020204" pitchFamily="34" charset="0"/>
              </a:rPr>
              <a:t>Adding discount,</a:t>
            </a:r>
            <a:r>
              <a:rPr lang="en-US" b="0" i="0" dirty="0">
                <a:solidFill>
                  <a:srgbClr val="111111"/>
                </a:solidFill>
                <a:effectLst/>
                <a:latin typeface="Aptos" panose="020B0004020202020204" pitchFamily="34" charset="0"/>
              </a:rPr>
              <a:t> exporting </a:t>
            </a:r>
            <a:r>
              <a:rPr lang="en-US" dirty="0">
                <a:solidFill>
                  <a:srgbClr val="111111"/>
                </a:solidFill>
                <a:latin typeface="Aptos" panose="020B0004020202020204" pitchFamily="34" charset="0"/>
              </a:rPr>
              <a:t>info </a:t>
            </a:r>
            <a:r>
              <a:rPr lang="en-US" b="0" i="0" dirty="0">
                <a:solidFill>
                  <a:srgbClr val="111111"/>
                </a:solidFill>
                <a:effectLst/>
                <a:latin typeface="Aptos" panose="020B0004020202020204" pitchFamily="34" charset="0"/>
              </a:rPr>
              <a:t>to different formats.</a:t>
            </a:r>
          </a:p>
        </p:txBody>
      </p:sp>
    </p:spTree>
    <p:extLst>
      <p:ext uri="{BB962C8B-B14F-4D97-AF65-F5344CB8AC3E}">
        <p14:creationId xmlns:p14="http://schemas.microsoft.com/office/powerpoint/2010/main" val="150201092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50E69310-C3DC-10B5-57CA-180990DA4387}"/>
              </a:ext>
            </a:extLst>
          </p:cNvPr>
          <p:cNvSpPr>
            <a:spLocks noGrp="1" noChangeArrowheads="1"/>
          </p:cNvSpPr>
          <p:nvPr>
            <p:ph type="title"/>
          </p:nvPr>
        </p:nvSpPr>
        <p:spPr/>
        <p:txBody>
          <a:bodyPr/>
          <a:lstStyle/>
          <a:p>
            <a:pPr eaLnBrk="1" hangingPunct="1"/>
            <a:r>
              <a:rPr lang="en-US" altLang="tr-TR" dirty="0"/>
              <a:t>Creating Table of Contents</a:t>
            </a:r>
          </a:p>
        </p:txBody>
      </p:sp>
      <p:sp>
        <p:nvSpPr>
          <p:cNvPr id="4099" name="Rectangle 3">
            <a:extLst>
              <a:ext uri="{FF2B5EF4-FFF2-40B4-BE49-F238E27FC236}">
                <a16:creationId xmlns:a16="http://schemas.microsoft.com/office/drawing/2014/main" id="{6E647E34-70E9-DD88-D920-B277C640D3AA}"/>
              </a:ext>
            </a:extLst>
          </p:cNvPr>
          <p:cNvSpPr>
            <a:spLocks noGrp="1" noChangeArrowheads="1"/>
          </p:cNvSpPr>
          <p:nvPr>
            <p:ph idx="1"/>
          </p:nvPr>
        </p:nvSpPr>
        <p:spPr>
          <a:xfrm>
            <a:off x="571500" y="4672013"/>
            <a:ext cx="8229600" cy="2185987"/>
          </a:xfrm>
        </p:spPr>
        <p:txBody>
          <a:bodyPr/>
          <a:lstStyle/>
          <a:p>
            <a:pPr lvl="1" eaLnBrk="1" hangingPunct="1">
              <a:lnSpc>
                <a:spcPct val="80000"/>
              </a:lnSpc>
            </a:pPr>
            <a:r>
              <a:rPr lang="en-US" altLang="tr-TR"/>
              <a:t>Classes contain methods related to edit, format and display texts</a:t>
            </a:r>
          </a:p>
          <a:p>
            <a:pPr lvl="1" eaLnBrk="1" hangingPunct="1">
              <a:lnSpc>
                <a:spcPct val="80000"/>
              </a:lnSpc>
            </a:pPr>
            <a:r>
              <a:rPr lang="en-US" altLang="tr-TR"/>
              <a:t>I want to add the functionality “create table of Contents”</a:t>
            </a:r>
          </a:p>
          <a:p>
            <a:pPr lvl="1" eaLnBrk="1" hangingPunct="1">
              <a:lnSpc>
                <a:spcPct val="80000"/>
              </a:lnSpc>
              <a:buFontTx/>
              <a:buNone/>
            </a:pPr>
            <a:endParaRPr lang="en-US" altLang="tr-TR"/>
          </a:p>
        </p:txBody>
      </p:sp>
      <p:sp>
        <p:nvSpPr>
          <p:cNvPr id="5" name="Rectangle 4">
            <a:extLst>
              <a:ext uri="{FF2B5EF4-FFF2-40B4-BE49-F238E27FC236}">
                <a16:creationId xmlns:a16="http://schemas.microsoft.com/office/drawing/2014/main" id="{DBAA5E7B-13C6-49C4-82BF-04CD26A191A0}"/>
              </a:ext>
            </a:extLst>
          </p:cNvPr>
          <p:cNvSpPr/>
          <p:nvPr/>
        </p:nvSpPr>
        <p:spPr>
          <a:xfrm>
            <a:off x="2214563" y="1500188"/>
            <a:ext cx="1643062" cy="64293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sz="1600" dirty="0">
                <a:solidFill>
                  <a:schemeClr val="tx1"/>
                </a:solidFill>
              </a:rPr>
              <a:t>Document</a:t>
            </a:r>
          </a:p>
          <a:p>
            <a:pPr algn="ctr" eaLnBrk="1" hangingPunct="1">
              <a:defRPr/>
            </a:pPr>
            <a:endParaRPr lang="en-US" sz="1600" dirty="0">
              <a:solidFill>
                <a:schemeClr val="tx1"/>
              </a:solidFill>
            </a:endParaRPr>
          </a:p>
        </p:txBody>
      </p:sp>
      <p:sp>
        <p:nvSpPr>
          <p:cNvPr id="9" name="Rectangle 8">
            <a:extLst>
              <a:ext uri="{FF2B5EF4-FFF2-40B4-BE49-F238E27FC236}">
                <a16:creationId xmlns:a16="http://schemas.microsoft.com/office/drawing/2014/main" id="{C37EB00C-3F9A-4C77-B6AF-F138EBF83436}"/>
              </a:ext>
            </a:extLst>
          </p:cNvPr>
          <p:cNvSpPr/>
          <p:nvPr/>
        </p:nvSpPr>
        <p:spPr>
          <a:xfrm>
            <a:off x="5643563" y="1500188"/>
            <a:ext cx="1571625" cy="78581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dirty="0">
                <a:solidFill>
                  <a:schemeClr val="tx1"/>
                </a:solidFill>
              </a:rPr>
              <a:t>Chapter</a:t>
            </a:r>
          </a:p>
        </p:txBody>
      </p:sp>
      <p:sp>
        <p:nvSpPr>
          <p:cNvPr id="10" name="Rectangle 9">
            <a:extLst>
              <a:ext uri="{FF2B5EF4-FFF2-40B4-BE49-F238E27FC236}">
                <a16:creationId xmlns:a16="http://schemas.microsoft.com/office/drawing/2014/main" id="{D0439471-5AC3-4584-81BF-6A705DF8499B}"/>
              </a:ext>
            </a:extLst>
          </p:cNvPr>
          <p:cNvSpPr/>
          <p:nvPr/>
        </p:nvSpPr>
        <p:spPr>
          <a:xfrm>
            <a:off x="5643563" y="3286125"/>
            <a:ext cx="1571625" cy="78581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dirty="0">
                <a:solidFill>
                  <a:schemeClr val="tx1"/>
                </a:solidFill>
              </a:rPr>
              <a:t>Section</a:t>
            </a:r>
          </a:p>
        </p:txBody>
      </p:sp>
      <p:sp>
        <p:nvSpPr>
          <p:cNvPr id="11" name="Rectangle 10">
            <a:extLst>
              <a:ext uri="{FF2B5EF4-FFF2-40B4-BE49-F238E27FC236}">
                <a16:creationId xmlns:a16="http://schemas.microsoft.com/office/drawing/2014/main" id="{29A021EC-4887-4EEA-B8A7-0D36B2524155}"/>
              </a:ext>
            </a:extLst>
          </p:cNvPr>
          <p:cNvSpPr/>
          <p:nvPr/>
        </p:nvSpPr>
        <p:spPr>
          <a:xfrm>
            <a:off x="2214563" y="3357563"/>
            <a:ext cx="1571625" cy="78581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dirty="0">
                <a:solidFill>
                  <a:schemeClr val="tx1"/>
                </a:solidFill>
              </a:rPr>
              <a:t>Paragraph</a:t>
            </a:r>
          </a:p>
        </p:txBody>
      </p:sp>
      <p:cxnSp>
        <p:nvCxnSpPr>
          <p:cNvPr id="13" name="Straight Connector 12">
            <a:extLst>
              <a:ext uri="{FF2B5EF4-FFF2-40B4-BE49-F238E27FC236}">
                <a16:creationId xmlns:a16="http://schemas.microsoft.com/office/drawing/2014/main" id="{1E94BAF1-F318-4F8B-A5CA-82E48DBCE0E6}"/>
              </a:ext>
            </a:extLst>
          </p:cNvPr>
          <p:cNvCxnSpPr>
            <a:stCxn id="18" idx="3"/>
            <a:endCxn id="9" idx="1"/>
          </p:cNvCxnSpPr>
          <p:nvPr/>
        </p:nvCxnSpPr>
        <p:spPr>
          <a:xfrm flipV="1">
            <a:off x="4071938" y="1892300"/>
            <a:ext cx="1571625" cy="36513"/>
          </a:xfrm>
          <a:prstGeom prst="line">
            <a:avLst/>
          </a:prstGeom>
        </p:spPr>
        <p:style>
          <a:lnRef idx="1">
            <a:schemeClr val="dk1"/>
          </a:lnRef>
          <a:fillRef idx="0">
            <a:schemeClr val="dk1"/>
          </a:fillRef>
          <a:effectRef idx="0">
            <a:schemeClr val="dk1"/>
          </a:effectRef>
          <a:fontRef idx="minor">
            <a:schemeClr val="tx1"/>
          </a:fontRef>
        </p:style>
      </p:cxnSp>
      <p:sp>
        <p:nvSpPr>
          <p:cNvPr id="18" name="Diamond 17">
            <a:extLst>
              <a:ext uri="{FF2B5EF4-FFF2-40B4-BE49-F238E27FC236}">
                <a16:creationId xmlns:a16="http://schemas.microsoft.com/office/drawing/2014/main" id="{5BA288A2-AC2D-460A-A14E-ABC6169391C1}"/>
              </a:ext>
            </a:extLst>
          </p:cNvPr>
          <p:cNvSpPr/>
          <p:nvPr/>
        </p:nvSpPr>
        <p:spPr>
          <a:xfrm>
            <a:off x="3857625" y="1785938"/>
            <a:ext cx="214313" cy="285750"/>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20" name="Diamond 19">
            <a:extLst>
              <a:ext uri="{FF2B5EF4-FFF2-40B4-BE49-F238E27FC236}">
                <a16:creationId xmlns:a16="http://schemas.microsoft.com/office/drawing/2014/main" id="{A2B11216-20E0-4E7F-AF52-FCACD6D965AB}"/>
              </a:ext>
            </a:extLst>
          </p:cNvPr>
          <p:cNvSpPr/>
          <p:nvPr/>
        </p:nvSpPr>
        <p:spPr>
          <a:xfrm>
            <a:off x="5429250" y="3571875"/>
            <a:ext cx="214313" cy="285750"/>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21" name="Diamond 20">
            <a:extLst>
              <a:ext uri="{FF2B5EF4-FFF2-40B4-BE49-F238E27FC236}">
                <a16:creationId xmlns:a16="http://schemas.microsoft.com/office/drawing/2014/main" id="{631C7FBF-49D7-4022-A72D-3ACCD5CA8CA9}"/>
              </a:ext>
            </a:extLst>
          </p:cNvPr>
          <p:cNvSpPr/>
          <p:nvPr/>
        </p:nvSpPr>
        <p:spPr>
          <a:xfrm>
            <a:off x="6286500" y="2286000"/>
            <a:ext cx="214313" cy="285750"/>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cxnSp>
        <p:nvCxnSpPr>
          <p:cNvPr id="23" name="Straight Connector 22">
            <a:extLst>
              <a:ext uri="{FF2B5EF4-FFF2-40B4-BE49-F238E27FC236}">
                <a16:creationId xmlns:a16="http://schemas.microsoft.com/office/drawing/2014/main" id="{F8081923-D9B8-4E70-882C-589FCFA2723F}"/>
              </a:ext>
            </a:extLst>
          </p:cNvPr>
          <p:cNvCxnSpPr>
            <a:stCxn id="21" idx="2"/>
            <a:endCxn id="10" idx="0"/>
          </p:cNvCxnSpPr>
          <p:nvPr/>
        </p:nvCxnSpPr>
        <p:spPr>
          <a:xfrm rot="16200000" flipH="1">
            <a:off x="6054725" y="2911475"/>
            <a:ext cx="714375" cy="34925"/>
          </a:xfrm>
          <a:prstGeom prst="line">
            <a:avLst/>
          </a:prstGeom>
        </p:spPr>
        <p:style>
          <a:lnRef idx="1">
            <a:schemeClr val="dk1"/>
          </a:lnRef>
          <a:fillRef idx="0">
            <a:schemeClr val="dk1"/>
          </a:fillRef>
          <a:effectRef idx="0">
            <a:schemeClr val="dk1"/>
          </a:effectRef>
          <a:fontRef idx="minor">
            <a:schemeClr val="tx1"/>
          </a:fontRef>
        </p:style>
      </p:cxnSp>
      <p:cxnSp>
        <p:nvCxnSpPr>
          <p:cNvPr id="24" name="Straight Connector 23">
            <a:extLst>
              <a:ext uri="{FF2B5EF4-FFF2-40B4-BE49-F238E27FC236}">
                <a16:creationId xmlns:a16="http://schemas.microsoft.com/office/drawing/2014/main" id="{607718D2-BDEC-4F77-B52E-12B18789F26E}"/>
              </a:ext>
            </a:extLst>
          </p:cNvPr>
          <p:cNvCxnSpPr>
            <a:stCxn id="11" idx="3"/>
            <a:endCxn id="20" idx="1"/>
          </p:cNvCxnSpPr>
          <p:nvPr/>
        </p:nvCxnSpPr>
        <p:spPr>
          <a:xfrm flipV="1">
            <a:off x="3786188" y="3714750"/>
            <a:ext cx="1643062" cy="36513"/>
          </a:xfrm>
          <a:prstGeom prst="line">
            <a:avLst/>
          </a:prstGeom>
        </p:spPr>
        <p:style>
          <a:lnRef idx="1">
            <a:schemeClr val="dk1"/>
          </a:lnRef>
          <a:fillRef idx="0">
            <a:schemeClr val="dk1"/>
          </a:fillRef>
          <a:effectRef idx="0">
            <a:schemeClr val="dk1"/>
          </a:effectRef>
          <a:fontRef idx="minor">
            <a:schemeClr val="tx1"/>
          </a:fontRef>
        </p:style>
      </p:cxn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310040-64AF-7A0F-258C-1DB3887CBCC7}"/>
            </a:ext>
          </a:extLst>
        </p:cNvPr>
        <p:cNvGrpSpPr/>
        <p:nvPr/>
      </p:nvGrpSpPr>
      <p:grpSpPr>
        <a:xfrm>
          <a:off x="0" y="0"/>
          <a:ext cx="0" cy="0"/>
          <a:chOff x="0" y="0"/>
          <a:chExt cx="0" cy="0"/>
        </a:xfrm>
      </p:grpSpPr>
      <p:sp>
        <p:nvSpPr>
          <p:cNvPr id="5122" name="Rectangle 2">
            <a:extLst>
              <a:ext uri="{FF2B5EF4-FFF2-40B4-BE49-F238E27FC236}">
                <a16:creationId xmlns:a16="http://schemas.microsoft.com/office/drawing/2014/main" id="{02825D81-5114-03B0-31AF-739DDCE2717C}"/>
              </a:ext>
            </a:extLst>
          </p:cNvPr>
          <p:cNvSpPr>
            <a:spLocks noGrp="1" noChangeArrowheads="1"/>
          </p:cNvSpPr>
          <p:nvPr>
            <p:ph type="title"/>
          </p:nvPr>
        </p:nvSpPr>
        <p:spPr/>
        <p:txBody>
          <a:bodyPr/>
          <a:lstStyle/>
          <a:p>
            <a:pPr eaLnBrk="1" hangingPunct="1"/>
            <a:r>
              <a:rPr lang="en-US" altLang="tr-TR" dirty="0"/>
              <a:t>Attempt 1:</a:t>
            </a:r>
          </a:p>
        </p:txBody>
      </p:sp>
      <p:sp>
        <p:nvSpPr>
          <p:cNvPr id="5" name="Rectangle 4">
            <a:extLst>
              <a:ext uri="{FF2B5EF4-FFF2-40B4-BE49-F238E27FC236}">
                <a16:creationId xmlns:a16="http://schemas.microsoft.com/office/drawing/2014/main" id="{A6C96E58-6361-B1CB-0269-001F6C8EE898}"/>
              </a:ext>
            </a:extLst>
          </p:cNvPr>
          <p:cNvSpPr/>
          <p:nvPr/>
        </p:nvSpPr>
        <p:spPr>
          <a:xfrm>
            <a:off x="1750220" y="1495426"/>
            <a:ext cx="1643062" cy="64293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dirty="0">
                <a:solidFill>
                  <a:schemeClr val="tx1"/>
                </a:solidFill>
              </a:rPr>
              <a:t>Document</a:t>
            </a:r>
          </a:p>
        </p:txBody>
      </p:sp>
      <p:sp>
        <p:nvSpPr>
          <p:cNvPr id="9" name="Rectangle 8">
            <a:extLst>
              <a:ext uri="{FF2B5EF4-FFF2-40B4-BE49-F238E27FC236}">
                <a16:creationId xmlns:a16="http://schemas.microsoft.com/office/drawing/2014/main" id="{8A679CF8-4A24-7359-C5B6-A3E161529E07}"/>
              </a:ext>
            </a:extLst>
          </p:cNvPr>
          <p:cNvSpPr/>
          <p:nvPr/>
        </p:nvSpPr>
        <p:spPr>
          <a:xfrm>
            <a:off x="4429126" y="1528756"/>
            <a:ext cx="1643062" cy="78581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dirty="0">
                <a:solidFill>
                  <a:schemeClr val="tx1"/>
                </a:solidFill>
              </a:rPr>
              <a:t>Chapter</a:t>
            </a:r>
          </a:p>
        </p:txBody>
      </p:sp>
      <p:sp>
        <p:nvSpPr>
          <p:cNvPr id="10" name="Rectangle 9">
            <a:extLst>
              <a:ext uri="{FF2B5EF4-FFF2-40B4-BE49-F238E27FC236}">
                <a16:creationId xmlns:a16="http://schemas.microsoft.com/office/drawing/2014/main" id="{38E5CB54-9A9D-5629-F8E8-51E0572C0E0D}"/>
              </a:ext>
            </a:extLst>
          </p:cNvPr>
          <p:cNvSpPr/>
          <p:nvPr/>
        </p:nvSpPr>
        <p:spPr>
          <a:xfrm>
            <a:off x="4429126" y="3388511"/>
            <a:ext cx="1643062" cy="78581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dirty="0">
                <a:solidFill>
                  <a:schemeClr val="tx1"/>
                </a:solidFill>
              </a:rPr>
              <a:t>Section</a:t>
            </a:r>
          </a:p>
        </p:txBody>
      </p:sp>
      <p:sp>
        <p:nvSpPr>
          <p:cNvPr id="11" name="Rectangle 10">
            <a:extLst>
              <a:ext uri="{FF2B5EF4-FFF2-40B4-BE49-F238E27FC236}">
                <a16:creationId xmlns:a16="http://schemas.microsoft.com/office/drawing/2014/main" id="{D8212421-FA1C-FD7B-A4F7-0988A69DA697}"/>
              </a:ext>
            </a:extLst>
          </p:cNvPr>
          <p:cNvSpPr/>
          <p:nvPr/>
        </p:nvSpPr>
        <p:spPr>
          <a:xfrm>
            <a:off x="1777679" y="3406146"/>
            <a:ext cx="1643063" cy="78581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dirty="0">
                <a:solidFill>
                  <a:schemeClr val="tx1"/>
                </a:solidFill>
              </a:rPr>
              <a:t>Paragraph</a:t>
            </a:r>
          </a:p>
        </p:txBody>
      </p:sp>
      <p:cxnSp>
        <p:nvCxnSpPr>
          <p:cNvPr id="13" name="Straight Connector 12">
            <a:extLst>
              <a:ext uri="{FF2B5EF4-FFF2-40B4-BE49-F238E27FC236}">
                <a16:creationId xmlns:a16="http://schemas.microsoft.com/office/drawing/2014/main" id="{AEC2092D-C392-67EE-D19A-3336B0B258E8}"/>
              </a:ext>
            </a:extLst>
          </p:cNvPr>
          <p:cNvCxnSpPr>
            <a:stCxn id="18" idx="3"/>
            <a:endCxn id="9" idx="1"/>
          </p:cNvCxnSpPr>
          <p:nvPr/>
        </p:nvCxnSpPr>
        <p:spPr>
          <a:xfrm flipV="1">
            <a:off x="3607595" y="1921662"/>
            <a:ext cx="821531" cy="2389"/>
          </a:xfrm>
          <a:prstGeom prst="line">
            <a:avLst/>
          </a:prstGeom>
        </p:spPr>
        <p:style>
          <a:lnRef idx="1">
            <a:schemeClr val="dk1"/>
          </a:lnRef>
          <a:fillRef idx="0">
            <a:schemeClr val="dk1"/>
          </a:fillRef>
          <a:effectRef idx="0">
            <a:schemeClr val="dk1"/>
          </a:effectRef>
          <a:fontRef idx="minor">
            <a:schemeClr val="tx1"/>
          </a:fontRef>
        </p:style>
      </p:cxnSp>
      <p:sp>
        <p:nvSpPr>
          <p:cNvPr id="18" name="Diamond 17">
            <a:extLst>
              <a:ext uri="{FF2B5EF4-FFF2-40B4-BE49-F238E27FC236}">
                <a16:creationId xmlns:a16="http://schemas.microsoft.com/office/drawing/2014/main" id="{F8357060-878E-31F4-7D38-BC2336E13309}"/>
              </a:ext>
            </a:extLst>
          </p:cNvPr>
          <p:cNvSpPr/>
          <p:nvPr/>
        </p:nvSpPr>
        <p:spPr>
          <a:xfrm>
            <a:off x="3393282" y="1781176"/>
            <a:ext cx="214313" cy="285750"/>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20" name="Diamond 19">
            <a:extLst>
              <a:ext uri="{FF2B5EF4-FFF2-40B4-BE49-F238E27FC236}">
                <a16:creationId xmlns:a16="http://schemas.microsoft.com/office/drawing/2014/main" id="{AEC925D3-4BA2-CC0F-3BDD-C8ED0447612C}"/>
              </a:ext>
            </a:extLst>
          </p:cNvPr>
          <p:cNvSpPr/>
          <p:nvPr/>
        </p:nvSpPr>
        <p:spPr>
          <a:xfrm>
            <a:off x="4214813" y="3674261"/>
            <a:ext cx="214313" cy="285750"/>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21" name="Diamond 20">
            <a:extLst>
              <a:ext uri="{FF2B5EF4-FFF2-40B4-BE49-F238E27FC236}">
                <a16:creationId xmlns:a16="http://schemas.microsoft.com/office/drawing/2014/main" id="{F441348C-D226-4AA9-6700-05797BA1EAE7}"/>
              </a:ext>
            </a:extLst>
          </p:cNvPr>
          <p:cNvSpPr/>
          <p:nvPr/>
        </p:nvSpPr>
        <p:spPr>
          <a:xfrm>
            <a:off x="5143500" y="2440790"/>
            <a:ext cx="214313" cy="285750"/>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cxnSp>
        <p:nvCxnSpPr>
          <p:cNvPr id="23" name="Straight Connector 22">
            <a:extLst>
              <a:ext uri="{FF2B5EF4-FFF2-40B4-BE49-F238E27FC236}">
                <a16:creationId xmlns:a16="http://schemas.microsoft.com/office/drawing/2014/main" id="{2F0E5704-C13D-6845-341D-3DD2595A7817}"/>
              </a:ext>
            </a:extLst>
          </p:cNvPr>
          <p:cNvCxnSpPr>
            <a:stCxn id="21" idx="2"/>
            <a:endCxn id="10" idx="0"/>
          </p:cNvCxnSpPr>
          <p:nvPr/>
        </p:nvCxnSpPr>
        <p:spPr>
          <a:xfrm>
            <a:off x="5250657" y="2726540"/>
            <a:ext cx="0" cy="661971"/>
          </a:xfrm>
          <a:prstGeom prst="line">
            <a:avLst/>
          </a:prstGeom>
        </p:spPr>
        <p:style>
          <a:lnRef idx="1">
            <a:schemeClr val="dk1"/>
          </a:lnRef>
          <a:fillRef idx="0">
            <a:schemeClr val="dk1"/>
          </a:fillRef>
          <a:effectRef idx="0">
            <a:schemeClr val="dk1"/>
          </a:effectRef>
          <a:fontRef idx="minor">
            <a:schemeClr val="tx1"/>
          </a:fontRef>
        </p:style>
      </p:cxnSp>
      <p:cxnSp>
        <p:nvCxnSpPr>
          <p:cNvPr id="24" name="Straight Connector 23">
            <a:extLst>
              <a:ext uri="{FF2B5EF4-FFF2-40B4-BE49-F238E27FC236}">
                <a16:creationId xmlns:a16="http://schemas.microsoft.com/office/drawing/2014/main" id="{22889EF0-BCA6-3A52-5184-98D679671F92}"/>
              </a:ext>
            </a:extLst>
          </p:cNvPr>
          <p:cNvCxnSpPr>
            <a:stCxn id="11" idx="3"/>
            <a:endCxn id="20" idx="1"/>
          </p:cNvCxnSpPr>
          <p:nvPr/>
        </p:nvCxnSpPr>
        <p:spPr>
          <a:xfrm>
            <a:off x="3420742" y="3799052"/>
            <a:ext cx="794071" cy="18084"/>
          </a:xfrm>
          <a:prstGeom prst="line">
            <a:avLst/>
          </a:prstGeom>
        </p:spPr>
        <p:style>
          <a:lnRef idx="1">
            <a:schemeClr val="dk1"/>
          </a:lnRef>
          <a:fillRef idx="0">
            <a:schemeClr val="dk1"/>
          </a:fillRef>
          <a:effectRef idx="0">
            <a:schemeClr val="dk1"/>
          </a:effectRef>
          <a:fontRef idx="minor">
            <a:schemeClr val="tx1"/>
          </a:fontRef>
        </p:style>
      </p:cxnSp>
      <p:sp>
        <p:nvSpPr>
          <p:cNvPr id="30" name="Rectangle 29">
            <a:extLst>
              <a:ext uri="{FF2B5EF4-FFF2-40B4-BE49-F238E27FC236}">
                <a16:creationId xmlns:a16="http://schemas.microsoft.com/office/drawing/2014/main" id="{6AF8CA3D-4578-209F-1CDE-7EAB8C659EA6}"/>
              </a:ext>
            </a:extLst>
          </p:cNvPr>
          <p:cNvSpPr/>
          <p:nvPr/>
        </p:nvSpPr>
        <p:spPr>
          <a:xfrm>
            <a:off x="1750220" y="2138363"/>
            <a:ext cx="1643062" cy="357188"/>
          </a:xfrm>
          <a:prstGeom prst="rect">
            <a:avLst/>
          </a:prstGeom>
        </p:spPr>
        <p:style>
          <a:lnRef idx="2">
            <a:schemeClr val="accent6"/>
          </a:lnRef>
          <a:fillRef idx="1">
            <a:schemeClr val="lt1"/>
          </a:fillRef>
          <a:effectRef idx="0">
            <a:schemeClr val="accent6"/>
          </a:effectRef>
          <a:fontRef idx="minor">
            <a:schemeClr val="dk1"/>
          </a:fontRef>
        </p:style>
        <p:txBody>
          <a:bodyPr anchor="ctr"/>
          <a:lstStyle/>
          <a:p>
            <a:pPr algn="ctr" eaLnBrk="1" hangingPunct="1">
              <a:defRPr/>
            </a:pPr>
            <a:r>
              <a:rPr lang="en-US" dirty="0"/>
              <a:t>+</a:t>
            </a:r>
            <a:r>
              <a:rPr lang="en-US" dirty="0" err="1"/>
              <a:t>createTOC</a:t>
            </a:r>
            <a:r>
              <a:rPr lang="en-US" dirty="0"/>
              <a:t>()</a:t>
            </a:r>
          </a:p>
        </p:txBody>
      </p:sp>
      <p:sp>
        <p:nvSpPr>
          <p:cNvPr id="31" name="Rectangle 30">
            <a:extLst>
              <a:ext uri="{FF2B5EF4-FFF2-40B4-BE49-F238E27FC236}">
                <a16:creationId xmlns:a16="http://schemas.microsoft.com/office/drawing/2014/main" id="{934BB4FB-026C-8EA7-28F7-A109C307235C}"/>
              </a:ext>
            </a:extLst>
          </p:cNvPr>
          <p:cNvSpPr/>
          <p:nvPr/>
        </p:nvSpPr>
        <p:spPr>
          <a:xfrm>
            <a:off x="4429126" y="4031449"/>
            <a:ext cx="1643062" cy="357187"/>
          </a:xfrm>
          <a:prstGeom prst="rect">
            <a:avLst/>
          </a:prstGeom>
        </p:spPr>
        <p:style>
          <a:lnRef idx="2">
            <a:schemeClr val="accent6"/>
          </a:lnRef>
          <a:fillRef idx="1">
            <a:schemeClr val="lt1"/>
          </a:fillRef>
          <a:effectRef idx="0">
            <a:schemeClr val="accent6"/>
          </a:effectRef>
          <a:fontRef idx="minor">
            <a:schemeClr val="dk1"/>
          </a:fontRef>
        </p:style>
        <p:txBody>
          <a:bodyPr anchor="ctr"/>
          <a:lstStyle/>
          <a:p>
            <a:pPr algn="ctr" eaLnBrk="1" hangingPunct="1">
              <a:defRPr/>
            </a:pPr>
            <a:r>
              <a:rPr lang="en-US" dirty="0"/>
              <a:t>+</a:t>
            </a:r>
            <a:r>
              <a:rPr lang="en-US" dirty="0" err="1"/>
              <a:t>createTOC</a:t>
            </a:r>
            <a:r>
              <a:rPr lang="en-US" dirty="0"/>
              <a:t>()</a:t>
            </a:r>
          </a:p>
        </p:txBody>
      </p:sp>
      <p:sp>
        <p:nvSpPr>
          <p:cNvPr id="32" name="Rectangle 31">
            <a:extLst>
              <a:ext uri="{FF2B5EF4-FFF2-40B4-BE49-F238E27FC236}">
                <a16:creationId xmlns:a16="http://schemas.microsoft.com/office/drawing/2014/main" id="{F6336186-4B49-ED3D-9A7A-AD6AEED1184B}"/>
              </a:ext>
            </a:extLst>
          </p:cNvPr>
          <p:cNvSpPr/>
          <p:nvPr/>
        </p:nvSpPr>
        <p:spPr>
          <a:xfrm>
            <a:off x="1777679" y="4049083"/>
            <a:ext cx="1643063" cy="357188"/>
          </a:xfrm>
          <a:prstGeom prst="rect">
            <a:avLst/>
          </a:prstGeom>
        </p:spPr>
        <p:style>
          <a:lnRef idx="2">
            <a:schemeClr val="accent6"/>
          </a:lnRef>
          <a:fillRef idx="1">
            <a:schemeClr val="lt1"/>
          </a:fillRef>
          <a:effectRef idx="0">
            <a:schemeClr val="accent6"/>
          </a:effectRef>
          <a:fontRef idx="minor">
            <a:schemeClr val="dk1"/>
          </a:fontRef>
        </p:style>
        <p:txBody>
          <a:bodyPr anchor="ctr"/>
          <a:lstStyle/>
          <a:p>
            <a:pPr algn="ctr" eaLnBrk="1" hangingPunct="1">
              <a:defRPr/>
            </a:pPr>
            <a:r>
              <a:rPr lang="en-US" dirty="0"/>
              <a:t>+</a:t>
            </a:r>
            <a:r>
              <a:rPr lang="en-US" dirty="0" err="1"/>
              <a:t>createTOC</a:t>
            </a:r>
            <a:r>
              <a:rPr lang="en-US" dirty="0"/>
              <a:t>()</a:t>
            </a:r>
          </a:p>
        </p:txBody>
      </p:sp>
      <p:sp>
        <p:nvSpPr>
          <p:cNvPr id="33" name="Rectangle 32">
            <a:extLst>
              <a:ext uri="{FF2B5EF4-FFF2-40B4-BE49-F238E27FC236}">
                <a16:creationId xmlns:a16="http://schemas.microsoft.com/office/drawing/2014/main" id="{7ED8C684-1C09-A3D7-8A7F-6D8E3069C102}"/>
              </a:ext>
            </a:extLst>
          </p:cNvPr>
          <p:cNvSpPr/>
          <p:nvPr/>
        </p:nvSpPr>
        <p:spPr>
          <a:xfrm>
            <a:off x="4429126" y="2100256"/>
            <a:ext cx="1643062" cy="357187"/>
          </a:xfrm>
          <a:prstGeom prst="rect">
            <a:avLst/>
          </a:prstGeom>
        </p:spPr>
        <p:style>
          <a:lnRef idx="2">
            <a:schemeClr val="accent6"/>
          </a:lnRef>
          <a:fillRef idx="1">
            <a:schemeClr val="lt1"/>
          </a:fillRef>
          <a:effectRef idx="0">
            <a:schemeClr val="accent6"/>
          </a:effectRef>
          <a:fontRef idx="minor">
            <a:schemeClr val="dk1"/>
          </a:fontRef>
        </p:style>
        <p:txBody>
          <a:bodyPr anchor="ctr"/>
          <a:lstStyle/>
          <a:p>
            <a:pPr algn="ctr" eaLnBrk="1" hangingPunct="1">
              <a:defRPr/>
            </a:pPr>
            <a:r>
              <a:rPr lang="en-US" dirty="0"/>
              <a:t>+</a:t>
            </a:r>
            <a:r>
              <a:rPr lang="en-US" dirty="0" err="1"/>
              <a:t>createTOC</a:t>
            </a:r>
            <a:r>
              <a:rPr lang="en-US" dirty="0"/>
              <a:t>()</a:t>
            </a:r>
          </a:p>
        </p:txBody>
      </p:sp>
      <p:sp>
        <p:nvSpPr>
          <p:cNvPr id="5138" name="TextBox 25">
            <a:extLst>
              <a:ext uri="{FF2B5EF4-FFF2-40B4-BE49-F238E27FC236}">
                <a16:creationId xmlns:a16="http://schemas.microsoft.com/office/drawing/2014/main" id="{E41FC95E-67E4-3ADE-DE23-9D7B7E3B9FE9}"/>
              </a:ext>
            </a:extLst>
          </p:cNvPr>
          <p:cNvSpPr txBox="1">
            <a:spLocks noChangeArrowheads="1"/>
          </p:cNvSpPr>
          <p:nvPr/>
        </p:nvSpPr>
        <p:spPr bwMode="auto">
          <a:xfrm>
            <a:off x="285750" y="3857625"/>
            <a:ext cx="116410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tr-TR" sz="1800" dirty="0"/>
              <a:t>{return “”}</a:t>
            </a:r>
          </a:p>
        </p:txBody>
      </p:sp>
      <p:cxnSp>
        <p:nvCxnSpPr>
          <p:cNvPr id="28" name="Straight Connector 27">
            <a:extLst>
              <a:ext uri="{FF2B5EF4-FFF2-40B4-BE49-F238E27FC236}">
                <a16:creationId xmlns:a16="http://schemas.microsoft.com/office/drawing/2014/main" id="{9F174CF8-B6FB-46EA-32CF-8B34A5E226CF}"/>
              </a:ext>
            </a:extLst>
          </p:cNvPr>
          <p:cNvCxnSpPr>
            <a:stCxn id="32" idx="1"/>
            <a:endCxn id="5138" idx="3"/>
          </p:cNvCxnSpPr>
          <p:nvPr/>
        </p:nvCxnSpPr>
        <p:spPr>
          <a:xfrm flipH="1" flipV="1">
            <a:off x="1449851" y="4042291"/>
            <a:ext cx="327828" cy="185386"/>
          </a:xfrm>
          <a:prstGeom prst="line">
            <a:avLst/>
          </a:prstGeom>
          <a:ln cmpd="sng">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5140" name="TextBox 28">
            <a:extLst>
              <a:ext uri="{FF2B5EF4-FFF2-40B4-BE49-F238E27FC236}">
                <a16:creationId xmlns:a16="http://schemas.microsoft.com/office/drawing/2014/main" id="{0F95FB5B-C890-55D2-B481-DB25C2ADC3BD}"/>
              </a:ext>
            </a:extLst>
          </p:cNvPr>
          <p:cNvSpPr txBox="1">
            <a:spLocks noChangeArrowheads="1"/>
          </p:cNvSpPr>
          <p:nvPr/>
        </p:nvSpPr>
        <p:spPr bwMode="auto">
          <a:xfrm>
            <a:off x="6424613" y="1579718"/>
            <a:ext cx="2719387"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tr-TR" sz="1800" dirty="0" err="1"/>
              <a:t>t.add</a:t>
            </a:r>
            <a:r>
              <a:rPr lang="en-US" altLang="tr-TR" sz="1800" dirty="0"/>
              <a:t>(title);</a:t>
            </a:r>
          </a:p>
          <a:p>
            <a:pPr eaLnBrk="1" hangingPunct="1">
              <a:spcBef>
                <a:spcPct val="0"/>
              </a:spcBef>
              <a:buFontTx/>
              <a:buNone/>
            </a:pPr>
            <a:r>
              <a:rPr lang="en-US" altLang="tr-TR" sz="1800" dirty="0"/>
              <a:t>for each section s</a:t>
            </a:r>
          </a:p>
          <a:p>
            <a:pPr eaLnBrk="1" hangingPunct="1">
              <a:spcBef>
                <a:spcPct val="0"/>
              </a:spcBef>
              <a:buFontTx/>
              <a:buNone/>
            </a:pPr>
            <a:r>
              <a:rPr lang="en-US" altLang="tr-TR" sz="1800" dirty="0"/>
              <a:t>   </a:t>
            </a:r>
            <a:r>
              <a:rPr lang="en-US" altLang="tr-TR" sz="1800" dirty="0" err="1"/>
              <a:t>t.addS</a:t>
            </a:r>
            <a:r>
              <a:rPr lang="en-US" altLang="tr-TR" sz="1800" dirty="0"/>
              <a:t>(</a:t>
            </a:r>
            <a:r>
              <a:rPr lang="en-US" altLang="tr-TR" sz="1800" dirty="0" err="1"/>
              <a:t>s.createTOC</a:t>
            </a:r>
            <a:r>
              <a:rPr lang="en-US" altLang="tr-TR" sz="1800" dirty="0"/>
              <a:t>());</a:t>
            </a:r>
          </a:p>
          <a:p>
            <a:pPr eaLnBrk="1" hangingPunct="1">
              <a:spcBef>
                <a:spcPct val="0"/>
              </a:spcBef>
              <a:buFontTx/>
              <a:buNone/>
            </a:pPr>
            <a:r>
              <a:rPr lang="en-US" altLang="tr-TR" sz="1800" dirty="0"/>
              <a:t>return t;</a:t>
            </a:r>
          </a:p>
        </p:txBody>
      </p:sp>
      <p:cxnSp>
        <p:nvCxnSpPr>
          <p:cNvPr id="34" name="Straight Connector 33">
            <a:extLst>
              <a:ext uri="{FF2B5EF4-FFF2-40B4-BE49-F238E27FC236}">
                <a16:creationId xmlns:a16="http://schemas.microsoft.com/office/drawing/2014/main" id="{FAC3CECC-C24C-ABE8-90B4-33C089CDBC32}"/>
              </a:ext>
            </a:extLst>
          </p:cNvPr>
          <p:cNvCxnSpPr>
            <a:cxnSpLocks/>
            <a:stCxn id="5140" idx="1"/>
            <a:endCxn id="33" idx="3"/>
          </p:cNvCxnSpPr>
          <p:nvPr/>
        </p:nvCxnSpPr>
        <p:spPr>
          <a:xfrm flipH="1">
            <a:off x="6072188" y="2179793"/>
            <a:ext cx="352425" cy="99057"/>
          </a:xfrm>
          <a:prstGeom prst="line">
            <a:avLst/>
          </a:prstGeom>
          <a:ln cmpd="sng">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 name="TextBox 25">
            <a:extLst>
              <a:ext uri="{FF2B5EF4-FFF2-40B4-BE49-F238E27FC236}">
                <a16:creationId xmlns:a16="http://schemas.microsoft.com/office/drawing/2014/main" id="{F233B11A-305A-2D5C-A351-22819B922175}"/>
              </a:ext>
            </a:extLst>
          </p:cNvPr>
          <p:cNvSpPr txBox="1">
            <a:spLocks noChangeArrowheads="1"/>
          </p:cNvSpPr>
          <p:nvPr/>
        </p:nvSpPr>
        <p:spPr bwMode="auto">
          <a:xfrm>
            <a:off x="6072188" y="3808094"/>
            <a:ext cx="136447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tr-TR" sz="1800" dirty="0"/>
              <a:t>{return title}</a:t>
            </a:r>
          </a:p>
        </p:txBody>
      </p:sp>
    </p:spTree>
    <p:extLst>
      <p:ext uri="{BB962C8B-B14F-4D97-AF65-F5344CB8AC3E}">
        <p14:creationId xmlns:p14="http://schemas.microsoft.com/office/powerpoint/2010/main" val="70793775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6DCBA4-A17B-1A54-2877-79579DFC47FC}"/>
            </a:ext>
          </a:extLst>
        </p:cNvPr>
        <p:cNvGrpSpPr/>
        <p:nvPr/>
      </p:nvGrpSpPr>
      <p:grpSpPr>
        <a:xfrm>
          <a:off x="0" y="0"/>
          <a:ext cx="0" cy="0"/>
          <a:chOff x="0" y="0"/>
          <a:chExt cx="0" cy="0"/>
        </a:xfrm>
      </p:grpSpPr>
      <p:sp>
        <p:nvSpPr>
          <p:cNvPr id="5122" name="Rectangle 2">
            <a:extLst>
              <a:ext uri="{FF2B5EF4-FFF2-40B4-BE49-F238E27FC236}">
                <a16:creationId xmlns:a16="http://schemas.microsoft.com/office/drawing/2014/main" id="{5279E261-1A20-73A2-91B1-81639D308411}"/>
              </a:ext>
            </a:extLst>
          </p:cNvPr>
          <p:cNvSpPr>
            <a:spLocks noGrp="1" noChangeArrowheads="1"/>
          </p:cNvSpPr>
          <p:nvPr>
            <p:ph type="title"/>
          </p:nvPr>
        </p:nvSpPr>
        <p:spPr/>
        <p:txBody>
          <a:bodyPr/>
          <a:lstStyle/>
          <a:p>
            <a:pPr eaLnBrk="1" hangingPunct="1"/>
            <a:r>
              <a:rPr lang="en-US" altLang="tr-TR" dirty="0"/>
              <a:t>Attempt 1:</a:t>
            </a:r>
          </a:p>
        </p:txBody>
      </p:sp>
      <p:sp>
        <p:nvSpPr>
          <p:cNvPr id="5123" name="Rectangle 3">
            <a:extLst>
              <a:ext uri="{FF2B5EF4-FFF2-40B4-BE49-F238E27FC236}">
                <a16:creationId xmlns:a16="http://schemas.microsoft.com/office/drawing/2014/main" id="{0F00D994-A3FE-8097-04FC-0FD038694E4C}"/>
              </a:ext>
            </a:extLst>
          </p:cNvPr>
          <p:cNvSpPr>
            <a:spLocks noGrp="1" noChangeArrowheads="1"/>
          </p:cNvSpPr>
          <p:nvPr>
            <p:ph idx="1"/>
          </p:nvPr>
        </p:nvSpPr>
        <p:spPr>
          <a:xfrm>
            <a:off x="780728" y="4620583"/>
            <a:ext cx="7582544" cy="2185987"/>
          </a:xfrm>
        </p:spPr>
        <p:txBody>
          <a:bodyPr/>
          <a:lstStyle/>
          <a:p>
            <a:pPr>
              <a:lnSpc>
                <a:spcPct val="110000"/>
              </a:lnSpc>
            </a:pPr>
            <a:r>
              <a:rPr lang="en-US" altLang="tr-TR" sz="2400" dirty="0"/>
              <a:t>Need to change the code of all classes.</a:t>
            </a:r>
          </a:p>
          <a:p>
            <a:pPr lvl="1">
              <a:lnSpc>
                <a:spcPct val="110000"/>
              </a:lnSpc>
            </a:pPr>
            <a:r>
              <a:rPr lang="en-US" altLang="tr-TR" sz="2000" dirty="0"/>
              <a:t>What if I am not permitted to change these code?</a:t>
            </a:r>
          </a:p>
          <a:p>
            <a:pPr>
              <a:lnSpc>
                <a:spcPct val="110000"/>
              </a:lnSpc>
            </a:pPr>
            <a:r>
              <a:rPr lang="en-US" altLang="tr-TR" sz="2400" dirty="0" err="1"/>
              <a:t>createToC</a:t>
            </a:r>
            <a:r>
              <a:rPr lang="en-US" altLang="tr-TR" sz="2400" dirty="0"/>
              <a:t> logic is spread all over </a:t>
            </a:r>
          </a:p>
          <a:p>
            <a:pPr>
              <a:lnSpc>
                <a:spcPct val="110000"/>
              </a:lnSpc>
            </a:pPr>
            <a:r>
              <a:rPr lang="en-US" altLang="tr-TR" sz="2400" dirty="0"/>
              <a:t>This is not the primary job of theses classes (SRP?)</a:t>
            </a:r>
          </a:p>
          <a:p>
            <a:pPr>
              <a:lnSpc>
                <a:spcPct val="110000"/>
              </a:lnSpc>
            </a:pPr>
            <a:r>
              <a:rPr lang="en-US" altLang="tr-TR" sz="2400" dirty="0"/>
              <a:t>There will be word count operation later. (modify all) </a:t>
            </a:r>
          </a:p>
        </p:txBody>
      </p:sp>
      <p:sp>
        <p:nvSpPr>
          <p:cNvPr id="5" name="Rectangle 4">
            <a:extLst>
              <a:ext uri="{FF2B5EF4-FFF2-40B4-BE49-F238E27FC236}">
                <a16:creationId xmlns:a16="http://schemas.microsoft.com/office/drawing/2014/main" id="{ECC42639-0953-FAB1-8103-69C93D3EFBF0}"/>
              </a:ext>
            </a:extLst>
          </p:cNvPr>
          <p:cNvSpPr/>
          <p:nvPr/>
        </p:nvSpPr>
        <p:spPr>
          <a:xfrm>
            <a:off x="1750220" y="1495426"/>
            <a:ext cx="1643062" cy="64293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dirty="0">
                <a:solidFill>
                  <a:schemeClr val="tx1"/>
                </a:solidFill>
              </a:rPr>
              <a:t>Document</a:t>
            </a:r>
          </a:p>
        </p:txBody>
      </p:sp>
      <p:sp>
        <p:nvSpPr>
          <p:cNvPr id="9" name="Rectangle 8">
            <a:extLst>
              <a:ext uri="{FF2B5EF4-FFF2-40B4-BE49-F238E27FC236}">
                <a16:creationId xmlns:a16="http://schemas.microsoft.com/office/drawing/2014/main" id="{189FEBDF-C81A-A88C-3725-4E77CC93115B}"/>
              </a:ext>
            </a:extLst>
          </p:cNvPr>
          <p:cNvSpPr/>
          <p:nvPr/>
        </p:nvSpPr>
        <p:spPr>
          <a:xfrm>
            <a:off x="4429126" y="1528756"/>
            <a:ext cx="1643062" cy="78581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dirty="0">
                <a:solidFill>
                  <a:schemeClr val="tx1"/>
                </a:solidFill>
              </a:rPr>
              <a:t>Chapter</a:t>
            </a:r>
          </a:p>
        </p:txBody>
      </p:sp>
      <p:sp>
        <p:nvSpPr>
          <p:cNvPr id="10" name="Rectangle 9">
            <a:extLst>
              <a:ext uri="{FF2B5EF4-FFF2-40B4-BE49-F238E27FC236}">
                <a16:creationId xmlns:a16="http://schemas.microsoft.com/office/drawing/2014/main" id="{8DBAAB1D-50EC-24A7-6686-A98D1F90A4A3}"/>
              </a:ext>
            </a:extLst>
          </p:cNvPr>
          <p:cNvSpPr/>
          <p:nvPr/>
        </p:nvSpPr>
        <p:spPr>
          <a:xfrm>
            <a:off x="4429126" y="3388511"/>
            <a:ext cx="1643062" cy="78581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dirty="0">
                <a:solidFill>
                  <a:schemeClr val="tx1"/>
                </a:solidFill>
              </a:rPr>
              <a:t>Section</a:t>
            </a:r>
          </a:p>
        </p:txBody>
      </p:sp>
      <p:sp>
        <p:nvSpPr>
          <p:cNvPr id="11" name="Rectangle 10">
            <a:extLst>
              <a:ext uri="{FF2B5EF4-FFF2-40B4-BE49-F238E27FC236}">
                <a16:creationId xmlns:a16="http://schemas.microsoft.com/office/drawing/2014/main" id="{B61437BD-4C76-682D-FBD9-E23D58F3D8D7}"/>
              </a:ext>
            </a:extLst>
          </p:cNvPr>
          <p:cNvSpPr/>
          <p:nvPr/>
        </p:nvSpPr>
        <p:spPr>
          <a:xfrm>
            <a:off x="1777679" y="3406146"/>
            <a:ext cx="1643063" cy="78581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dirty="0">
                <a:solidFill>
                  <a:schemeClr val="tx1"/>
                </a:solidFill>
              </a:rPr>
              <a:t>Paragraph</a:t>
            </a:r>
          </a:p>
        </p:txBody>
      </p:sp>
      <p:cxnSp>
        <p:nvCxnSpPr>
          <p:cNvPr id="13" name="Straight Connector 12">
            <a:extLst>
              <a:ext uri="{FF2B5EF4-FFF2-40B4-BE49-F238E27FC236}">
                <a16:creationId xmlns:a16="http://schemas.microsoft.com/office/drawing/2014/main" id="{1271C8C8-8151-B59E-A763-95DC9575F51F}"/>
              </a:ext>
            </a:extLst>
          </p:cNvPr>
          <p:cNvCxnSpPr>
            <a:stCxn id="18" idx="3"/>
            <a:endCxn id="9" idx="1"/>
          </p:cNvCxnSpPr>
          <p:nvPr/>
        </p:nvCxnSpPr>
        <p:spPr>
          <a:xfrm flipV="1">
            <a:off x="3607595" y="1921662"/>
            <a:ext cx="821531" cy="2389"/>
          </a:xfrm>
          <a:prstGeom prst="line">
            <a:avLst/>
          </a:prstGeom>
        </p:spPr>
        <p:style>
          <a:lnRef idx="1">
            <a:schemeClr val="dk1"/>
          </a:lnRef>
          <a:fillRef idx="0">
            <a:schemeClr val="dk1"/>
          </a:fillRef>
          <a:effectRef idx="0">
            <a:schemeClr val="dk1"/>
          </a:effectRef>
          <a:fontRef idx="minor">
            <a:schemeClr val="tx1"/>
          </a:fontRef>
        </p:style>
      </p:cxnSp>
      <p:sp>
        <p:nvSpPr>
          <p:cNvPr id="18" name="Diamond 17">
            <a:extLst>
              <a:ext uri="{FF2B5EF4-FFF2-40B4-BE49-F238E27FC236}">
                <a16:creationId xmlns:a16="http://schemas.microsoft.com/office/drawing/2014/main" id="{E29B75CD-B805-68D4-E245-544AC03E991C}"/>
              </a:ext>
            </a:extLst>
          </p:cNvPr>
          <p:cNvSpPr/>
          <p:nvPr/>
        </p:nvSpPr>
        <p:spPr>
          <a:xfrm>
            <a:off x="3393282" y="1781176"/>
            <a:ext cx="214313" cy="285750"/>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20" name="Diamond 19">
            <a:extLst>
              <a:ext uri="{FF2B5EF4-FFF2-40B4-BE49-F238E27FC236}">
                <a16:creationId xmlns:a16="http://schemas.microsoft.com/office/drawing/2014/main" id="{937AB9BB-282D-1D32-38C2-95221C13C77E}"/>
              </a:ext>
            </a:extLst>
          </p:cNvPr>
          <p:cNvSpPr/>
          <p:nvPr/>
        </p:nvSpPr>
        <p:spPr>
          <a:xfrm>
            <a:off x="4214813" y="3674261"/>
            <a:ext cx="214313" cy="285750"/>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21" name="Diamond 20">
            <a:extLst>
              <a:ext uri="{FF2B5EF4-FFF2-40B4-BE49-F238E27FC236}">
                <a16:creationId xmlns:a16="http://schemas.microsoft.com/office/drawing/2014/main" id="{E55470D9-2873-95ED-37D9-CECCF2DE8E31}"/>
              </a:ext>
            </a:extLst>
          </p:cNvPr>
          <p:cNvSpPr/>
          <p:nvPr/>
        </p:nvSpPr>
        <p:spPr>
          <a:xfrm>
            <a:off x="5143500" y="2440790"/>
            <a:ext cx="214313" cy="285750"/>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cxnSp>
        <p:nvCxnSpPr>
          <p:cNvPr id="23" name="Straight Connector 22">
            <a:extLst>
              <a:ext uri="{FF2B5EF4-FFF2-40B4-BE49-F238E27FC236}">
                <a16:creationId xmlns:a16="http://schemas.microsoft.com/office/drawing/2014/main" id="{B8CED22D-A9B2-63E2-66B9-743698EF4703}"/>
              </a:ext>
            </a:extLst>
          </p:cNvPr>
          <p:cNvCxnSpPr>
            <a:stCxn id="21" idx="2"/>
            <a:endCxn id="10" idx="0"/>
          </p:cNvCxnSpPr>
          <p:nvPr/>
        </p:nvCxnSpPr>
        <p:spPr>
          <a:xfrm>
            <a:off x="5250657" y="2726540"/>
            <a:ext cx="0" cy="661971"/>
          </a:xfrm>
          <a:prstGeom prst="line">
            <a:avLst/>
          </a:prstGeom>
        </p:spPr>
        <p:style>
          <a:lnRef idx="1">
            <a:schemeClr val="dk1"/>
          </a:lnRef>
          <a:fillRef idx="0">
            <a:schemeClr val="dk1"/>
          </a:fillRef>
          <a:effectRef idx="0">
            <a:schemeClr val="dk1"/>
          </a:effectRef>
          <a:fontRef idx="minor">
            <a:schemeClr val="tx1"/>
          </a:fontRef>
        </p:style>
      </p:cxnSp>
      <p:cxnSp>
        <p:nvCxnSpPr>
          <p:cNvPr id="24" name="Straight Connector 23">
            <a:extLst>
              <a:ext uri="{FF2B5EF4-FFF2-40B4-BE49-F238E27FC236}">
                <a16:creationId xmlns:a16="http://schemas.microsoft.com/office/drawing/2014/main" id="{899932E4-2C66-5535-4A8D-868D5ED41E81}"/>
              </a:ext>
            </a:extLst>
          </p:cNvPr>
          <p:cNvCxnSpPr>
            <a:stCxn id="11" idx="3"/>
            <a:endCxn id="20" idx="1"/>
          </p:cNvCxnSpPr>
          <p:nvPr/>
        </p:nvCxnSpPr>
        <p:spPr>
          <a:xfrm>
            <a:off x="3420742" y="3799052"/>
            <a:ext cx="794071" cy="18084"/>
          </a:xfrm>
          <a:prstGeom prst="line">
            <a:avLst/>
          </a:prstGeom>
        </p:spPr>
        <p:style>
          <a:lnRef idx="1">
            <a:schemeClr val="dk1"/>
          </a:lnRef>
          <a:fillRef idx="0">
            <a:schemeClr val="dk1"/>
          </a:fillRef>
          <a:effectRef idx="0">
            <a:schemeClr val="dk1"/>
          </a:effectRef>
          <a:fontRef idx="minor">
            <a:schemeClr val="tx1"/>
          </a:fontRef>
        </p:style>
      </p:cxnSp>
      <p:sp>
        <p:nvSpPr>
          <p:cNvPr id="30" name="Rectangle 29">
            <a:extLst>
              <a:ext uri="{FF2B5EF4-FFF2-40B4-BE49-F238E27FC236}">
                <a16:creationId xmlns:a16="http://schemas.microsoft.com/office/drawing/2014/main" id="{08591B69-A187-211C-EE30-7165B873787D}"/>
              </a:ext>
            </a:extLst>
          </p:cNvPr>
          <p:cNvSpPr/>
          <p:nvPr/>
        </p:nvSpPr>
        <p:spPr>
          <a:xfrm>
            <a:off x="1750220" y="2138363"/>
            <a:ext cx="1643062" cy="357188"/>
          </a:xfrm>
          <a:prstGeom prst="rect">
            <a:avLst/>
          </a:prstGeom>
        </p:spPr>
        <p:style>
          <a:lnRef idx="2">
            <a:schemeClr val="accent6"/>
          </a:lnRef>
          <a:fillRef idx="1">
            <a:schemeClr val="lt1"/>
          </a:fillRef>
          <a:effectRef idx="0">
            <a:schemeClr val="accent6"/>
          </a:effectRef>
          <a:fontRef idx="minor">
            <a:schemeClr val="dk1"/>
          </a:fontRef>
        </p:style>
        <p:txBody>
          <a:bodyPr anchor="ctr"/>
          <a:lstStyle/>
          <a:p>
            <a:pPr algn="ctr" eaLnBrk="1" hangingPunct="1">
              <a:defRPr/>
            </a:pPr>
            <a:r>
              <a:rPr lang="en-US" dirty="0"/>
              <a:t>+</a:t>
            </a:r>
            <a:r>
              <a:rPr lang="en-US" dirty="0" err="1"/>
              <a:t>createTOC</a:t>
            </a:r>
            <a:r>
              <a:rPr lang="en-US" dirty="0"/>
              <a:t>()</a:t>
            </a:r>
          </a:p>
        </p:txBody>
      </p:sp>
      <p:sp>
        <p:nvSpPr>
          <p:cNvPr id="31" name="Rectangle 30">
            <a:extLst>
              <a:ext uri="{FF2B5EF4-FFF2-40B4-BE49-F238E27FC236}">
                <a16:creationId xmlns:a16="http://schemas.microsoft.com/office/drawing/2014/main" id="{01B10B9E-15C8-9E93-B0A1-D524E79B2987}"/>
              </a:ext>
            </a:extLst>
          </p:cNvPr>
          <p:cNvSpPr/>
          <p:nvPr/>
        </p:nvSpPr>
        <p:spPr>
          <a:xfrm>
            <a:off x="4429126" y="4031449"/>
            <a:ext cx="1643062" cy="357187"/>
          </a:xfrm>
          <a:prstGeom prst="rect">
            <a:avLst/>
          </a:prstGeom>
        </p:spPr>
        <p:style>
          <a:lnRef idx="2">
            <a:schemeClr val="accent6"/>
          </a:lnRef>
          <a:fillRef idx="1">
            <a:schemeClr val="lt1"/>
          </a:fillRef>
          <a:effectRef idx="0">
            <a:schemeClr val="accent6"/>
          </a:effectRef>
          <a:fontRef idx="minor">
            <a:schemeClr val="dk1"/>
          </a:fontRef>
        </p:style>
        <p:txBody>
          <a:bodyPr anchor="ctr"/>
          <a:lstStyle/>
          <a:p>
            <a:pPr algn="ctr" eaLnBrk="1" hangingPunct="1">
              <a:defRPr/>
            </a:pPr>
            <a:r>
              <a:rPr lang="en-US" dirty="0"/>
              <a:t>+</a:t>
            </a:r>
            <a:r>
              <a:rPr lang="en-US" dirty="0" err="1"/>
              <a:t>createTOC</a:t>
            </a:r>
            <a:r>
              <a:rPr lang="en-US" dirty="0"/>
              <a:t>()</a:t>
            </a:r>
          </a:p>
        </p:txBody>
      </p:sp>
      <p:sp>
        <p:nvSpPr>
          <p:cNvPr id="32" name="Rectangle 31">
            <a:extLst>
              <a:ext uri="{FF2B5EF4-FFF2-40B4-BE49-F238E27FC236}">
                <a16:creationId xmlns:a16="http://schemas.microsoft.com/office/drawing/2014/main" id="{AA828ED1-4D78-289C-B5E8-D1DB22B472B2}"/>
              </a:ext>
            </a:extLst>
          </p:cNvPr>
          <p:cNvSpPr/>
          <p:nvPr/>
        </p:nvSpPr>
        <p:spPr>
          <a:xfrm>
            <a:off x="1777679" y="4049083"/>
            <a:ext cx="1643063" cy="357188"/>
          </a:xfrm>
          <a:prstGeom prst="rect">
            <a:avLst/>
          </a:prstGeom>
        </p:spPr>
        <p:style>
          <a:lnRef idx="2">
            <a:schemeClr val="accent6"/>
          </a:lnRef>
          <a:fillRef idx="1">
            <a:schemeClr val="lt1"/>
          </a:fillRef>
          <a:effectRef idx="0">
            <a:schemeClr val="accent6"/>
          </a:effectRef>
          <a:fontRef idx="minor">
            <a:schemeClr val="dk1"/>
          </a:fontRef>
        </p:style>
        <p:txBody>
          <a:bodyPr anchor="ctr"/>
          <a:lstStyle/>
          <a:p>
            <a:pPr algn="ctr" eaLnBrk="1" hangingPunct="1">
              <a:defRPr/>
            </a:pPr>
            <a:r>
              <a:rPr lang="en-US" dirty="0"/>
              <a:t>+</a:t>
            </a:r>
            <a:r>
              <a:rPr lang="en-US" dirty="0" err="1"/>
              <a:t>createTOC</a:t>
            </a:r>
            <a:r>
              <a:rPr lang="en-US" dirty="0"/>
              <a:t>()</a:t>
            </a:r>
          </a:p>
        </p:txBody>
      </p:sp>
      <p:sp>
        <p:nvSpPr>
          <p:cNvPr id="33" name="Rectangle 32">
            <a:extLst>
              <a:ext uri="{FF2B5EF4-FFF2-40B4-BE49-F238E27FC236}">
                <a16:creationId xmlns:a16="http://schemas.microsoft.com/office/drawing/2014/main" id="{3121A13E-8419-CD10-849E-B3910FF0D59D}"/>
              </a:ext>
            </a:extLst>
          </p:cNvPr>
          <p:cNvSpPr/>
          <p:nvPr/>
        </p:nvSpPr>
        <p:spPr>
          <a:xfrm>
            <a:off x="4429126" y="2100256"/>
            <a:ext cx="1643062" cy="357187"/>
          </a:xfrm>
          <a:prstGeom prst="rect">
            <a:avLst/>
          </a:prstGeom>
        </p:spPr>
        <p:style>
          <a:lnRef idx="2">
            <a:schemeClr val="accent6"/>
          </a:lnRef>
          <a:fillRef idx="1">
            <a:schemeClr val="lt1"/>
          </a:fillRef>
          <a:effectRef idx="0">
            <a:schemeClr val="accent6"/>
          </a:effectRef>
          <a:fontRef idx="minor">
            <a:schemeClr val="dk1"/>
          </a:fontRef>
        </p:style>
        <p:txBody>
          <a:bodyPr anchor="ctr"/>
          <a:lstStyle/>
          <a:p>
            <a:pPr algn="ctr" eaLnBrk="1" hangingPunct="1">
              <a:defRPr/>
            </a:pPr>
            <a:r>
              <a:rPr lang="en-US" dirty="0"/>
              <a:t>+</a:t>
            </a:r>
            <a:r>
              <a:rPr lang="en-US" dirty="0" err="1"/>
              <a:t>createTOC</a:t>
            </a:r>
            <a:r>
              <a:rPr lang="en-US" dirty="0"/>
              <a:t>()</a:t>
            </a:r>
          </a:p>
        </p:txBody>
      </p:sp>
      <p:sp>
        <p:nvSpPr>
          <p:cNvPr id="5138" name="TextBox 25">
            <a:extLst>
              <a:ext uri="{FF2B5EF4-FFF2-40B4-BE49-F238E27FC236}">
                <a16:creationId xmlns:a16="http://schemas.microsoft.com/office/drawing/2014/main" id="{1488DEFC-4878-2220-721E-C44E68CFADA6}"/>
              </a:ext>
            </a:extLst>
          </p:cNvPr>
          <p:cNvSpPr txBox="1">
            <a:spLocks noChangeArrowheads="1"/>
          </p:cNvSpPr>
          <p:nvPr/>
        </p:nvSpPr>
        <p:spPr bwMode="auto">
          <a:xfrm>
            <a:off x="285750" y="3857625"/>
            <a:ext cx="116410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tr-TR" sz="1800" dirty="0"/>
              <a:t>{return “”}</a:t>
            </a:r>
          </a:p>
        </p:txBody>
      </p:sp>
      <p:cxnSp>
        <p:nvCxnSpPr>
          <p:cNvPr id="28" name="Straight Connector 27">
            <a:extLst>
              <a:ext uri="{FF2B5EF4-FFF2-40B4-BE49-F238E27FC236}">
                <a16:creationId xmlns:a16="http://schemas.microsoft.com/office/drawing/2014/main" id="{FD2EDBD7-70C0-8077-C3E0-17DED07E4F0D}"/>
              </a:ext>
            </a:extLst>
          </p:cNvPr>
          <p:cNvCxnSpPr>
            <a:stCxn id="32" idx="1"/>
            <a:endCxn id="5138" idx="3"/>
          </p:cNvCxnSpPr>
          <p:nvPr/>
        </p:nvCxnSpPr>
        <p:spPr>
          <a:xfrm flipH="1" flipV="1">
            <a:off x="1449851" y="4042291"/>
            <a:ext cx="327828" cy="185386"/>
          </a:xfrm>
          <a:prstGeom prst="line">
            <a:avLst/>
          </a:prstGeom>
          <a:ln cmpd="sng">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5140" name="TextBox 28">
            <a:extLst>
              <a:ext uri="{FF2B5EF4-FFF2-40B4-BE49-F238E27FC236}">
                <a16:creationId xmlns:a16="http://schemas.microsoft.com/office/drawing/2014/main" id="{C6F22463-1559-94A1-4CB1-42B46E593613}"/>
              </a:ext>
            </a:extLst>
          </p:cNvPr>
          <p:cNvSpPr txBox="1">
            <a:spLocks noChangeArrowheads="1"/>
          </p:cNvSpPr>
          <p:nvPr/>
        </p:nvSpPr>
        <p:spPr bwMode="auto">
          <a:xfrm>
            <a:off x="6424613" y="1579718"/>
            <a:ext cx="2719387"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tr-TR" sz="1800" dirty="0" err="1"/>
              <a:t>t.add</a:t>
            </a:r>
            <a:r>
              <a:rPr lang="en-US" altLang="tr-TR" sz="1800" dirty="0"/>
              <a:t>(title);</a:t>
            </a:r>
          </a:p>
          <a:p>
            <a:pPr eaLnBrk="1" hangingPunct="1">
              <a:spcBef>
                <a:spcPct val="0"/>
              </a:spcBef>
              <a:buFontTx/>
              <a:buNone/>
            </a:pPr>
            <a:r>
              <a:rPr lang="en-US" altLang="tr-TR" sz="1800" dirty="0"/>
              <a:t>for each section s</a:t>
            </a:r>
          </a:p>
          <a:p>
            <a:pPr eaLnBrk="1" hangingPunct="1">
              <a:spcBef>
                <a:spcPct val="0"/>
              </a:spcBef>
              <a:buFontTx/>
              <a:buNone/>
            </a:pPr>
            <a:r>
              <a:rPr lang="en-US" altLang="tr-TR" sz="1800" dirty="0"/>
              <a:t>   </a:t>
            </a:r>
            <a:r>
              <a:rPr lang="en-US" altLang="tr-TR" sz="1800" dirty="0" err="1"/>
              <a:t>t.addS</a:t>
            </a:r>
            <a:r>
              <a:rPr lang="en-US" altLang="tr-TR" sz="1800" dirty="0"/>
              <a:t>(</a:t>
            </a:r>
            <a:r>
              <a:rPr lang="en-US" altLang="tr-TR" sz="1800" dirty="0" err="1"/>
              <a:t>s.createTOC</a:t>
            </a:r>
            <a:r>
              <a:rPr lang="en-US" altLang="tr-TR" sz="1800" dirty="0"/>
              <a:t>());</a:t>
            </a:r>
          </a:p>
          <a:p>
            <a:pPr eaLnBrk="1" hangingPunct="1">
              <a:spcBef>
                <a:spcPct val="0"/>
              </a:spcBef>
              <a:buFontTx/>
              <a:buNone/>
            </a:pPr>
            <a:r>
              <a:rPr lang="en-US" altLang="tr-TR" sz="1800" dirty="0"/>
              <a:t>return t;</a:t>
            </a:r>
          </a:p>
        </p:txBody>
      </p:sp>
      <p:cxnSp>
        <p:nvCxnSpPr>
          <p:cNvPr id="34" name="Straight Connector 33">
            <a:extLst>
              <a:ext uri="{FF2B5EF4-FFF2-40B4-BE49-F238E27FC236}">
                <a16:creationId xmlns:a16="http://schemas.microsoft.com/office/drawing/2014/main" id="{8A909B27-0E60-A395-E57B-250E4FDA7FBF}"/>
              </a:ext>
            </a:extLst>
          </p:cNvPr>
          <p:cNvCxnSpPr>
            <a:cxnSpLocks/>
            <a:stCxn id="5140" idx="1"/>
            <a:endCxn id="33" idx="3"/>
          </p:cNvCxnSpPr>
          <p:nvPr/>
        </p:nvCxnSpPr>
        <p:spPr>
          <a:xfrm flipH="1">
            <a:off x="6072188" y="2179793"/>
            <a:ext cx="352425" cy="99057"/>
          </a:xfrm>
          <a:prstGeom prst="line">
            <a:avLst/>
          </a:prstGeom>
          <a:ln cmpd="sng">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 name="TextBox 25">
            <a:extLst>
              <a:ext uri="{FF2B5EF4-FFF2-40B4-BE49-F238E27FC236}">
                <a16:creationId xmlns:a16="http://schemas.microsoft.com/office/drawing/2014/main" id="{4DAD4673-0CED-D1BF-7EEA-7D83855B0D78}"/>
              </a:ext>
            </a:extLst>
          </p:cNvPr>
          <p:cNvSpPr txBox="1">
            <a:spLocks noChangeArrowheads="1"/>
          </p:cNvSpPr>
          <p:nvPr/>
        </p:nvSpPr>
        <p:spPr bwMode="auto">
          <a:xfrm>
            <a:off x="6072188" y="3808094"/>
            <a:ext cx="136447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tr-TR" sz="1800" dirty="0"/>
              <a:t>{return title}</a:t>
            </a:r>
          </a:p>
        </p:txBody>
      </p:sp>
    </p:spTree>
    <p:extLst>
      <p:ext uri="{BB962C8B-B14F-4D97-AF65-F5344CB8AC3E}">
        <p14:creationId xmlns:p14="http://schemas.microsoft.com/office/powerpoint/2010/main" val="40812194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0075F2-D457-FDC0-C22C-F309940401FB}"/>
              </a:ext>
            </a:extLst>
          </p:cNvPr>
          <p:cNvSpPr>
            <a:spLocks noGrp="1"/>
          </p:cNvSpPr>
          <p:nvPr>
            <p:ph type="title"/>
          </p:nvPr>
        </p:nvSpPr>
        <p:spPr/>
        <p:txBody>
          <a:bodyPr/>
          <a:lstStyle/>
          <a:p>
            <a:r>
              <a:rPr lang="en-US" dirty="0"/>
              <a:t>Constraints</a:t>
            </a:r>
          </a:p>
        </p:txBody>
      </p:sp>
      <p:sp>
        <p:nvSpPr>
          <p:cNvPr id="3" name="Content Placeholder 2">
            <a:extLst>
              <a:ext uri="{FF2B5EF4-FFF2-40B4-BE49-F238E27FC236}">
                <a16:creationId xmlns:a16="http://schemas.microsoft.com/office/drawing/2014/main" id="{DD04AA14-F9C9-180D-C754-61761313348B}"/>
              </a:ext>
            </a:extLst>
          </p:cNvPr>
          <p:cNvSpPr>
            <a:spLocks noGrp="1"/>
          </p:cNvSpPr>
          <p:nvPr>
            <p:ph idx="1"/>
          </p:nvPr>
        </p:nvSpPr>
        <p:spPr>
          <a:xfrm>
            <a:off x="457200" y="1335291"/>
            <a:ext cx="8507288" cy="4532109"/>
          </a:xfrm>
        </p:spPr>
        <p:txBody>
          <a:bodyPr/>
          <a:lstStyle/>
          <a:p>
            <a:r>
              <a:rPr lang="en-US" dirty="0"/>
              <a:t>Keep the classes cohesive	</a:t>
            </a:r>
          </a:p>
          <a:p>
            <a:pPr lvl="1"/>
            <a:r>
              <a:rPr lang="en-US" dirty="0"/>
              <a:t>Focus on primary job and provide a point to add secondary responsibilities</a:t>
            </a:r>
          </a:p>
          <a:p>
            <a:pPr lvl="2"/>
            <a:r>
              <a:rPr lang="en-US" dirty="0"/>
              <a:t>I will add count words later</a:t>
            </a:r>
          </a:p>
          <a:p>
            <a:r>
              <a:rPr lang="en-US" dirty="0"/>
              <a:t>Put the gathering </a:t>
            </a:r>
            <a:r>
              <a:rPr lang="en-US" dirty="0" err="1"/>
              <a:t>ToC</a:t>
            </a:r>
            <a:r>
              <a:rPr lang="en-US" dirty="0"/>
              <a:t> info job in its dedicated class</a:t>
            </a:r>
          </a:p>
          <a:p>
            <a:pPr lvl="1"/>
            <a:r>
              <a:rPr lang="en-US" dirty="0"/>
              <a:t>Bring the distributed logic in one place</a:t>
            </a:r>
          </a:p>
          <a:p>
            <a:r>
              <a:rPr lang="en-US" dirty="0"/>
              <a:t>Preemptive</a:t>
            </a:r>
          </a:p>
          <a:p>
            <a:pPr lvl="1"/>
            <a:r>
              <a:rPr lang="en-US" dirty="0"/>
              <a:t>mechanism for adding new operations later</a:t>
            </a:r>
          </a:p>
          <a:p>
            <a:pPr lvl="1"/>
            <a:r>
              <a:rPr lang="en-US" dirty="0"/>
              <a:t>Might not have permission to change the classes</a:t>
            </a:r>
          </a:p>
        </p:txBody>
      </p:sp>
    </p:spTree>
    <p:extLst>
      <p:ext uri="{BB962C8B-B14F-4D97-AF65-F5344CB8AC3E}">
        <p14:creationId xmlns:p14="http://schemas.microsoft.com/office/powerpoint/2010/main" val="372697731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07403F-2933-4BB6-9C31-DE42DD0FDAE9}"/>
            </a:ext>
          </a:extLst>
        </p:cNvPr>
        <p:cNvGrpSpPr/>
        <p:nvPr/>
      </p:nvGrpSpPr>
      <p:grpSpPr>
        <a:xfrm>
          <a:off x="0" y="0"/>
          <a:ext cx="0" cy="0"/>
          <a:chOff x="0" y="0"/>
          <a:chExt cx="0" cy="0"/>
        </a:xfrm>
      </p:grpSpPr>
      <p:sp>
        <p:nvSpPr>
          <p:cNvPr id="5122" name="Rectangle 2">
            <a:extLst>
              <a:ext uri="{FF2B5EF4-FFF2-40B4-BE49-F238E27FC236}">
                <a16:creationId xmlns:a16="http://schemas.microsoft.com/office/drawing/2014/main" id="{6C6990E3-22AF-8F23-4EA7-E8EC43973DA9}"/>
              </a:ext>
            </a:extLst>
          </p:cNvPr>
          <p:cNvSpPr>
            <a:spLocks noGrp="1" noChangeArrowheads="1"/>
          </p:cNvSpPr>
          <p:nvPr>
            <p:ph type="title"/>
          </p:nvPr>
        </p:nvSpPr>
        <p:spPr/>
        <p:txBody>
          <a:bodyPr/>
          <a:lstStyle/>
          <a:p>
            <a:pPr eaLnBrk="1" hangingPunct="1"/>
            <a:r>
              <a:rPr lang="en-US" altLang="tr-TR" dirty="0"/>
              <a:t>Attempt 1:</a:t>
            </a:r>
          </a:p>
        </p:txBody>
      </p:sp>
      <p:sp>
        <p:nvSpPr>
          <p:cNvPr id="5" name="Rectangle 4">
            <a:extLst>
              <a:ext uri="{FF2B5EF4-FFF2-40B4-BE49-F238E27FC236}">
                <a16:creationId xmlns:a16="http://schemas.microsoft.com/office/drawing/2014/main" id="{80E36797-0A56-5EFE-1EB6-C26C7B2331CA}"/>
              </a:ext>
            </a:extLst>
          </p:cNvPr>
          <p:cNvSpPr/>
          <p:nvPr/>
        </p:nvSpPr>
        <p:spPr>
          <a:xfrm>
            <a:off x="1750220" y="1495426"/>
            <a:ext cx="1643062" cy="64293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dirty="0">
                <a:solidFill>
                  <a:schemeClr val="tx1"/>
                </a:solidFill>
              </a:rPr>
              <a:t>Document</a:t>
            </a:r>
          </a:p>
        </p:txBody>
      </p:sp>
      <p:sp>
        <p:nvSpPr>
          <p:cNvPr id="9" name="Rectangle 8">
            <a:extLst>
              <a:ext uri="{FF2B5EF4-FFF2-40B4-BE49-F238E27FC236}">
                <a16:creationId xmlns:a16="http://schemas.microsoft.com/office/drawing/2014/main" id="{FFCF910B-223A-CF5D-8F7B-78C19AE0BE47}"/>
              </a:ext>
            </a:extLst>
          </p:cNvPr>
          <p:cNvSpPr/>
          <p:nvPr/>
        </p:nvSpPr>
        <p:spPr>
          <a:xfrm>
            <a:off x="4429126" y="1528756"/>
            <a:ext cx="1643062" cy="78581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dirty="0">
                <a:solidFill>
                  <a:schemeClr val="tx1"/>
                </a:solidFill>
              </a:rPr>
              <a:t>Chapter</a:t>
            </a:r>
          </a:p>
        </p:txBody>
      </p:sp>
      <p:sp>
        <p:nvSpPr>
          <p:cNvPr id="10" name="Rectangle 9">
            <a:extLst>
              <a:ext uri="{FF2B5EF4-FFF2-40B4-BE49-F238E27FC236}">
                <a16:creationId xmlns:a16="http://schemas.microsoft.com/office/drawing/2014/main" id="{7EC588E3-D6DC-1AB5-A7F3-E18F06A871F0}"/>
              </a:ext>
            </a:extLst>
          </p:cNvPr>
          <p:cNvSpPr/>
          <p:nvPr/>
        </p:nvSpPr>
        <p:spPr>
          <a:xfrm>
            <a:off x="4429126" y="3388511"/>
            <a:ext cx="1643062" cy="78581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dirty="0">
                <a:solidFill>
                  <a:schemeClr val="tx1"/>
                </a:solidFill>
              </a:rPr>
              <a:t>Section</a:t>
            </a:r>
          </a:p>
        </p:txBody>
      </p:sp>
      <p:sp>
        <p:nvSpPr>
          <p:cNvPr id="11" name="Rectangle 10">
            <a:extLst>
              <a:ext uri="{FF2B5EF4-FFF2-40B4-BE49-F238E27FC236}">
                <a16:creationId xmlns:a16="http://schemas.microsoft.com/office/drawing/2014/main" id="{4B3D8451-7B24-58B8-C982-D18BE2EC917A}"/>
              </a:ext>
            </a:extLst>
          </p:cNvPr>
          <p:cNvSpPr/>
          <p:nvPr/>
        </p:nvSpPr>
        <p:spPr>
          <a:xfrm>
            <a:off x="1777679" y="3406146"/>
            <a:ext cx="1643063" cy="78581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dirty="0">
                <a:solidFill>
                  <a:schemeClr val="tx1"/>
                </a:solidFill>
              </a:rPr>
              <a:t>Paragraph</a:t>
            </a:r>
          </a:p>
        </p:txBody>
      </p:sp>
      <p:cxnSp>
        <p:nvCxnSpPr>
          <p:cNvPr id="13" name="Straight Connector 12">
            <a:extLst>
              <a:ext uri="{FF2B5EF4-FFF2-40B4-BE49-F238E27FC236}">
                <a16:creationId xmlns:a16="http://schemas.microsoft.com/office/drawing/2014/main" id="{046B435D-0F2E-40FA-EC38-455054D868E0}"/>
              </a:ext>
            </a:extLst>
          </p:cNvPr>
          <p:cNvCxnSpPr>
            <a:stCxn id="18" idx="3"/>
            <a:endCxn id="9" idx="1"/>
          </p:cNvCxnSpPr>
          <p:nvPr/>
        </p:nvCxnSpPr>
        <p:spPr>
          <a:xfrm flipV="1">
            <a:off x="3607595" y="1921662"/>
            <a:ext cx="821531" cy="2389"/>
          </a:xfrm>
          <a:prstGeom prst="line">
            <a:avLst/>
          </a:prstGeom>
        </p:spPr>
        <p:style>
          <a:lnRef idx="1">
            <a:schemeClr val="dk1"/>
          </a:lnRef>
          <a:fillRef idx="0">
            <a:schemeClr val="dk1"/>
          </a:fillRef>
          <a:effectRef idx="0">
            <a:schemeClr val="dk1"/>
          </a:effectRef>
          <a:fontRef idx="minor">
            <a:schemeClr val="tx1"/>
          </a:fontRef>
        </p:style>
      </p:cxnSp>
      <p:sp>
        <p:nvSpPr>
          <p:cNvPr id="18" name="Diamond 17">
            <a:extLst>
              <a:ext uri="{FF2B5EF4-FFF2-40B4-BE49-F238E27FC236}">
                <a16:creationId xmlns:a16="http://schemas.microsoft.com/office/drawing/2014/main" id="{815AFF03-1F70-1511-B24F-ADB51F77C970}"/>
              </a:ext>
            </a:extLst>
          </p:cNvPr>
          <p:cNvSpPr/>
          <p:nvPr/>
        </p:nvSpPr>
        <p:spPr>
          <a:xfrm>
            <a:off x="3393282" y="1781176"/>
            <a:ext cx="214313" cy="285750"/>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20" name="Diamond 19">
            <a:extLst>
              <a:ext uri="{FF2B5EF4-FFF2-40B4-BE49-F238E27FC236}">
                <a16:creationId xmlns:a16="http://schemas.microsoft.com/office/drawing/2014/main" id="{DD3654F9-822C-ACB1-5589-45F0A79074F9}"/>
              </a:ext>
            </a:extLst>
          </p:cNvPr>
          <p:cNvSpPr/>
          <p:nvPr/>
        </p:nvSpPr>
        <p:spPr>
          <a:xfrm>
            <a:off x="4214813" y="3674261"/>
            <a:ext cx="214313" cy="285750"/>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21" name="Diamond 20">
            <a:extLst>
              <a:ext uri="{FF2B5EF4-FFF2-40B4-BE49-F238E27FC236}">
                <a16:creationId xmlns:a16="http://schemas.microsoft.com/office/drawing/2014/main" id="{D730AF08-CEBE-CFD1-1069-FB0423EFFE3F}"/>
              </a:ext>
            </a:extLst>
          </p:cNvPr>
          <p:cNvSpPr/>
          <p:nvPr/>
        </p:nvSpPr>
        <p:spPr>
          <a:xfrm>
            <a:off x="5143500" y="2440790"/>
            <a:ext cx="214313" cy="285750"/>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cxnSp>
        <p:nvCxnSpPr>
          <p:cNvPr id="23" name="Straight Connector 22">
            <a:extLst>
              <a:ext uri="{FF2B5EF4-FFF2-40B4-BE49-F238E27FC236}">
                <a16:creationId xmlns:a16="http://schemas.microsoft.com/office/drawing/2014/main" id="{BF514631-35AC-67F8-61E2-3D7A45BCA486}"/>
              </a:ext>
            </a:extLst>
          </p:cNvPr>
          <p:cNvCxnSpPr>
            <a:stCxn id="21" idx="2"/>
            <a:endCxn id="10" idx="0"/>
          </p:cNvCxnSpPr>
          <p:nvPr/>
        </p:nvCxnSpPr>
        <p:spPr>
          <a:xfrm>
            <a:off x="5250657" y="2726540"/>
            <a:ext cx="0" cy="661971"/>
          </a:xfrm>
          <a:prstGeom prst="line">
            <a:avLst/>
          </a:prstGeom>
        </p:spPr>
        <p:style>
          <a:lnRef idx="1">
            <a:schemeClr val="dk1"/>
          </a:lnRef>
          <a:fillRef idx="0">
            <a:schemeClr val="dk1"/>
          </a:fillRef>
          <a:effectRef idx="0">
            <a:schemeClr val="dk1"/>
          </a:effectRef>
          <a:fontRef idx="minor">
            <a:schemeClr val="tx1"/>
          </a:fontRef>
        </p:style>
      </p:cxnSp>
      <p:cxnSp>
        <p:nvCxnSpPr>
          <p:cNvPr id="24" name="Straight Connector 23">
            <a:extLst>
              <a:ext uri="{FF2B5EF4-FFF2-40B4-BE49-F238E27FC236}">
                <a16:creationId xmlns:a16="http://schemas.microsoft.com/office/drawing/2014/main" id="{86E5CCED-E195-4B83-3EAC-BB67BD9AC75A}"/>
              </a:ext>
            </a:extLst>
          </p:cNvPr>
          <p:cNvCxnSpPr>
            <a:stCxn id="11" idx="3"/>
            <a:endCxn id="20" idx="1"/>
          </p:cNvCxnSpPr>
          <p:nvPr/>
        </p:nvCxnSpPr>
        <p:spPr>
          <a:xfrm>
            <a:off x="3420742" y="3799052"/>
            <a:ext cx="794071" cy="18084"/>
          </a:xfrm>
          <a:prstGeom prst="line">
            <a:avLst/>
          </a:prstGeom>
        </p:spPr>
        <p:style>
          <a:lnRef idx="1">
            <a:schemeClr val="dk1"/>
          </a:lnRef>
          <a:fillRef idx="0">
            <a:schemeClr val="dk1"/>
          </a:fillRef>
          <a:effectRef idx="0">
            <a:schemeClr val="dk1"/>
          </a:effectRef>
          <a:fontRef idx="minor">
            <a:schemeClr val="tx1"/>
          </a:fontRef>
        </p:style>
      </p:cxnSp>
      <p:sp>
        <p:nvSpPr>
          <p:cNvPr id="30" name="Rectangle 29">
            <a:extLst>
              <a:ext uri="{FF2B5EF4-FFF2-40B4-BE49-F238E27FC236}">
                <a16:creationId xmlns:a16="http://schemas.microsoft.com/office/drawing/2014/main" id="{2276B6CE-5D54-3D23-E36E-4289EEDE90C0}"/>
              </a:ext>
            </a:extLst>
          </p:cNvPr>
          <p:cNvSpPr/>
          <p:nvPr/>
        </p:nvSpPr>
        <p:spPr>
          <a:xfrm>
            <a:off x="1750220" y="2138363"/>
            <a:ext cx="1643062" cy="357188"/>
          </a:xfrm>
          <a:prstGeom prst="rect">
            <a:avLst/>
          </a:prstGeom>
        </p:spPr>
        <p:style>
          <a:lnRef idx="2">
            <a:schemeClr val="accent6"/>
          </a:lnRef>
          <a:fillRef idx="1">
            <a:schemeClr val="lt1"/>
          </a:fillRef>
          <a:effectRef idx="0">
            <a:schemeClr val="accent6"/>
          </a:effectRef>
          <a:fontRef idx="minor">
            <a:schemeClr val="dk1"/>
          </a:fontRef>
        </p:style>
        <p:txBody>
          <a:bodyPr anchor="ctr"/>
          <a:lstStyle/>
          <a:p>
            <a:pPr algn="ctr" eaLnBrk="1" hangingPunct="1">
              <a:defRPr/>
            </a:pPr>
            <a:r>
              <a:rPr lang="en-US" dirty="0"/>
              <a:t>+</a:t>
            </a:r>
            <a:r>
              <a:rPr lang="en-US" dirty="0" err="1"/>
              <a:t>createTOC</a:t>
            </a:r>
            <a:r>
              <a:rPr lang="en-US" dirty="0"/>
              <a:t>()</a:t>
            </a:r>
          </a:p>
        </p:txBody>
      </p:sp>
      <p:sp>
        <p:nvSpPr>
          <p:cNvPr id="31" name="Rectangle 30">
            <a:extLst>
              <a:ext uri="{FF2B5EF4-FFF2-40B4-BE49-F238E27FC236}">
                <a16:creationId xmlns:a16="http://schemas.microsoft.com/office/drawing/2014/main" id="{6E8A63E2-6C43-C76B-309A-72FC3C06A77D}"/>
              </a:ext>
            </a:extLst>
          </p:cNvPr>
          <p:cNvSpPr/>
          <p:nvPr/>
        </p:nvSpPr>
        <p:spPr>
          <a:xfrm>
            <a:off x="4429126" y="4031449"/>
            <a:ext cx="1643062" cy="357187"/>
          </a:xfrm>
          <a:prstGeom prst="rect">
            <a:avLst/>
          </a:prstGeom>
        </p:spPr>
        <p:style>
          <a:lnRef idx="2">
            <a:schemeClr val="accent6"/>
          </a:lnRef>
          <a:fillRef idx="1">
            <a:schemeClr val="lt1"/>
          </a:fillRef>
          <a:effectRef idx="0">
            <a:schemeClr val="accent6"/>
          </a:effectRef>
          <a:fontRef idx="minor">
            <a:schemeClr val="dk1"/>
          </a:fontRef>
        </p:style>
        <p:txBody>
          <a:bodyPr anchor="ctr"/>
          <a:lstStyle/>
          <a:p>
            <a:pPr algn="ctr" eaLnBrk="1" hangingPunct="1">
              <a:defRPr/>
            </a:pPr>
            <a:r>
              <a:rPr lang="en-US" dirty="0"/>
              <a:t>+</a:t>
            </a:r>
            <a:r>
              <a:rPr lang="en-US" dirty="0" err="1"/>
              <a:t>createTOC</a:t>
            </a:r>
            <a:r>
              <a:rPr lang="en-US" dirty="0"/>
              <a:t>()</a:t>
            </a:r>
          </a:p>
        </p:txBody>
      </p:sp>
      <p:sp>
        <p:nvSpPr>
          <p:cNvPr id="32" name="Rectangle 31">
            <a:extLst>
              <a:ext uri="{FF2B5EF4-FFF2-40B4-BE49-F238E27FC236}">
                <a16:creationId xmlns:a16="http://schemas.microsoft.com/office/drawing/2014/main" id="{2CD5586D-4C3D-05C8-AFC2-2A769ED992E3}"/>
              </a:ext>
            </a:extLst>
          </p:cNvPr>
          <p:cNvSpPr/>
          <p:nvPr/>
        </p:nvSpPr>
        <p:spPr>
          <a:xfrm>
            <a:off x="1777679" y="4049083"/>
            <a:ext cx="1643063" cy="357188"/>
          </a:xfrm>
          <a:prstGeom prst="rect">
            <a:avLst/>
          </a:prstGeom>
        </p:spPr>
        <p:style>
          <a:lnRef idx="2">
            <a:schemeClr val="accent6"/>
          </a:lnRef>
          <a:fillRef idx="1">
            <a:schemeClr val="lt1"/>
          </a:fillRef>
          <a:effectRef idx="0">
            <a:schemeClr val="accent6"/>
          </a:effectRef>
          <a:fontRef idx="minor">
            <a:schemeClr val="dk1"/>
          </a:fontRef>
        </p:style>
        <p:txBody>
          <a:bodyPr anchor="ctr"/>
          <a:lstStyle/>
          <a:p>
            <a:pPr algn="ctr" eaLnBrk="1" hangingPunct="1">
              <a:defRPr/>
            </a:pPr>
            <a:r>
              <a:rPr lang="en-US" dirty="0"/>
              <a:t>+</a:t>
            </a:r>
            <a:r>
              <a:rPr lang="en-US" dirty="0" err="1"/>
              <a:t>createTOC</a:t>
            </a:r>
            <a:r>
              <a:rPr lang="en-US" dirty="0"/>
              <a:t>()</a:t>
            </a:r>
          </a:p>
        </p:txBody>
      </p:sp>
      <p:sp>
        <p:nvSpPr>
          <p:cNvPr id="33" name="Rectangle 32">
            <a:extLst>
              <a:ext uri="{FF2B5EF4-FFF2-40B4-BE49-F238E27FC236}">
                <a16:creationId xmlns:a16="http://schemas.microsoft.com/office/drawing/2014/main" id="{D375FAAD-EF29-FE6A-3F84-7E11270D59DD}"/>
              </a:ext>
            </a:extLst>
          </p:cNvPr>
          <p:cNvSpPr/>
          <p:nvPr/>
        </p:nvSpPr>
        <p:spPr>
          <a:xfrm>
            <a:off x="4429126" y="2100256"/>
            <a:ext cx="1643062" cy="357187"/>
          </a:xfrm>
          <a:prstGeom prst="rect">
            <a:avLst/>
          </a:prstGeom>
        </p:spPr>
        <p:style>
          <a:lnRef idx="2">
            <a:schemeClr val="accent6"/>
          </a:lnRef>
          <a:fillRef idx="1">
            <a:schemeClr val="lt1"/>
          </a:fillRef>
          <a:effectRef idx="0">
            <a:schemeClr val="accent6"/>
          </a:effectRef>
          <a:fontRef idx="minor">
            <a:schemeClr val="dk1"/>
          </a:fontRef>
        </p:style>
        <p:txBody>
          <a:bodyPr anchor="ctr"/>
          <a:lstStyle/>
          <a:p>
            <a:pPr algn="ctr" eaLnBrk="1" hangingPunct="1">
              <a:defRPr/>
            </a:pPr>
            <a:r>
              <a:rPr lang="en-US" dirty="0"/>
              <a:t>+</a:t>
            </a:r>
            <a:r>
              <a:rPr lang="en-US" dirty="0" err="1"/>
              <a:t>createTOC</a:t>
            </a:r>
            <a:r>
              <a:rPr lang="en-US" dirty="0"/>
              <a:t>()</a:t>
            </a:r>
          </a:p>
        </p:txBody>
      </p:sp>
      <p:sp>
        <p:nvSpPr>
          <p:cNvPr id="5138" name="TextBox 25">
            <a:extLst>
              <a:ext uri="{FF2B5EF4-FFF2-40B4-BE49-F238E27FC236}">
                <a16:creationId xmlns:a16="http://schemas.microsoft.com/office/drawing/2014/main" id="{34FAF851-D009-91FF-0477-048F7DF9636E}"/>
              </a:ext>
            </a:extLst>
          </p:cNvPr>
          <p:cNvSpPr txBox="1">
            <a:spLocks noChangeArrowheads="1"/>
          </p:cNvSpPr>
          <p:nvPr/>
        </p:nvSpPr>
        <p:spPr bwMode="auto">
          <a:xfrm>
            <a:off x="285750" y="3857625"/>
            <a:ext cx="116410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tr-TR" sz="1800" dirty="0"/>
              <a:t>{return “”}</a:t>
            </a:r>
          </a:p>
        </p:txBody>
      </p:sp>
      <p:cxnSp>
        <p:nvCxnSpPr>
          <p:cNvPr id="28" name="Straight Connector 27">
            <a:extLst>
              <a:ext uri="{FF2B5EF4-FFF2-40B4-BE49-F238E27FC236}">
                <a16:creationId xmlns:a16="http://schemas.microsoft.com/office/drawing/2014/main" id="{63C69B71-40E2-33B0-42EF-03AC0F8E638F}"/>
              </a:ext>
            </a:extLst>
          </p:cNvPr>
          <p:cNvCxnSpPr>
            <a:stCxn id="32" idx="1"/>
            <a:endCxn id="5138" idx="3"/>
          </p:cNvCxnSpPr>
          <p:nvPr/>
        </p:nvCxnSpPr>
        <p:spPr>
          <a:xfrm flipH="1" flipV="1">
            <a:off x="1449851" y="4042291"/>
            <a:ext cx="327828" cy="185386"/>
          </a:xfrm>
          <a:prstGeom prst="line">
            <a:avLst/>
          </a:prstGeom>
          <a:ln cmpd="sng">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5140" name="TextBox 28">
            <a:extLst>
              <a:ext uri="{FF2B5EF4-FFF2-40B4-BE49-F238E27FC236}">
                <a16:creationId xmlns:a16="http://schemas.microsoft.com/office/drawing/2014/main" id="{6532335B-DDF6-7243-4A42-C8E66ADC21C5}"/>
              </a:ext>
            </a:extLst>
          </p:cNvPr>
          <p:cNvSpPr txBox="1">
            <a:spLocks noChangeArrowheads="1"/>
          </p:cNvSpPr>
          <p:nvPr/>
        </p:nvSpPr>
        <p:spPr bwMode="auto">
          <a:xfrm>
            <a:off x="6424613" y="1579718"/>
            <a:ext cx="2719387"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tr-TR" sz="1800" dirty="0" err="1"/>
              <a:t>t.add</a:t>
            </a:r>
            <a:r>
              <a:rPr lang="en-US" altLang="tr-TR" sz="1800" dirty="0"/>
              <a:t>(title);</a:t>
            </a:r>
          </a:p>
          <a:p>
            <a:pPr eaLnBrk="1" hangingPunct="1">
              <a:spcBef>
                <a:spcPct val="0"/>
              </a:spcBef>
              <a:buFontTx/>
              <a:buNone/>
            </a:pPr>
            <a:r>
              <a:rPr lang="en-US" altLang="tr-TR" sz="1800" dirty="0"/>
              <a:t>for each section s</a:t>
            </a:r>
          </a:p>
          <a:p>
            <a:pPr eaLnBrk="1" hangingPunct="1">
              <a:spcBef>
                <a:spcPct val="0"/>
              </a:spcBef>
              <a:buFontTx/>
              <a:buNone/>
            </a:pPr>
            <a:r>
              <a:rPr lang="en-US" altLang="tr-TR" sz="1800" dirty="0"/>
              <a:t>   </a:t>
            </a:r>
            <a:r>
              <a:rPr lang="en-US" altLang="tr-TR" sz="1800" dirty="0" err="1"/>
              <a:t>t.addS</a:t>
            </a:r>
            <a:r>
              <a:rPr lang="en-US" altLang="tr-TR" sz="1800" dirty="0"/>
              <a:t>(</a:t>
            </a:r>
            <a:r>
              <a:rPr lang="en-US" altLang="tr-TR" sz="1800" dirty="0" err="1"/>
              <a:t>s.createTOC</a:t>
            </a:r>
            <a:r>
              <a:rPr lang="en-US" altLang="tr-TR" sz="1800" dirty="0"/>
              <a:t>());</a:t>
            </a:r>
          </a:p>
          <a:p>
            <a:pPr eaLnBrk="1" hangingPunct="1">
              <a:spcBef>
                <a:spcPct val="0"/>
              </a:spcBef>
              <a:buFontTx/>
              <a:buNone/>
            </a:pPr>
            <a:r>
              <a:rPr lang="en-US" altLang="tr-TR" sz="1800" dirty="0"/>
              <a:t>return t;</a:t>
            </a:r>
          </a:p>
        </p:txBody>
      </p:sp>
      <p:cxnSp>
        <p:nvCxnSpPr>
          <p:cNvPr id="34" name="Straight Connector 33">
            <a:extLst>
              <a:ext uri="{FF2B5EF4-FFF2-40B4-BE49-F238E27FC236}">
                <a16:creationId xmlns:a16="http://schemas.microsoft.com/office/drawing/2014/main" id="{99D4C92C-F5EA-B33D-9952-9DADDA34FECA}"/>
              </a:ext>
            </a:extLst>
          </p:cNvPr>
          <p:cNvCxnSpPr>
            <a:cxnSpLocks/>
            <a:stCxn id="5140" idx="1"/>
            <a:endCxn id="33" idx="3"/>
          </p:cNvCxnSpPr>
          <p:nvPr/>
        </p:nvCxnSpPr>
        <p:spPr>
          <a:xfrm flipH="1">
            <a:off x="6072188" y="2179793"/>
            <a:ext cx="352425" cy="99057"/>
          </a:xfrm>
          <a:prstGeom prst="line">
            <a:avLst/>
          </a:prstGeom>
          <a:ln cmpd="sng">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 name="TextBox 25">
            <a:extLst>
              <a:ext uri="{FF2B5EF4-FFF2-40B4-BE49-F238E27FC236}">
                <a16:creationId xmlns:a16="http://schemas.microsoft.com/office/drawing/2014/main" id="{73468D16-419D-8FEE-D7B6-5364E82C5E00}"/>
              </a:ext>
            </a:extLst>
          </p:cNvPr>
          <p:cNvSpPr txBox="1">
            <a:spLocks noChangeArrowheads="1"/>
          </p:cNvSpPr>
          <p:nvPr/>
        </p:nvSpPr>
        <p:spPr bwMode="auto">
          <a:xfrm>
            <a:off x="6072188" y="3808094"/>
            <a:ext cx="136447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tr-TR" sz="1800" dirty="0"/>
              <a:t>{return title}</a:t>
            </a:r>
          </a:p>
        </p:txBody>
      </p:sp>
    </p:spTree>
    <p:extLst>
      <p:ext uri="{BB962C8B-B14F-4D97-AF65-F5344CB8AC3E}">
        <p14:creationId xmlns:p14="http://schemas.microsoft.com/office/powerpoint/2010/main" val="135186244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A6ABAED9-7877-5E50-8A7E-AEFEF192DAB9}"/>
              </a:ext>
            </a:extLst>
          </p:cNvPr>
          <p:cNvSpPr>
            <a:spLocks noGrp="1" noChangeArrowheads="1"/>
          </p:cNvSpPr>
          <p:nvPr>
            <p:ph type="title"/>
          </p:nvPr>
        </p:nvSpPr>
        <p:spPr/>
        <p:txBody>
          <a:bodyPr/>
          <a:lstStyle/>
          <a:p>
            <a:pPr eaLnBrk="1" hangingPunct="1"/>
            <a:r>
              <a:rPr lang="en-US" altLang="tr-TR" dirty="0"/>
              <a:t>Towards Solution 1:</a:t>
            </a:r>
          </a:p>
        </p:txBody>
      </p:sp>
      <p:sp>
        <p:nvSpPr>
          <p:cNvPr id="5" name="Rectangle 4">
            <a:extLst>
              <a:ext uri="{FF2B5EF4-FFF2-40B4-BE49-F238E27FC236}">
                <a16:creationId xmlns:a16="http://schemas.microsoft.com/office/drawing/2014/main" id="{AE8C62AF-3105-4DD0-8E13-591A232A07AE}"/>
              </a:ext>
            </a:extLst>
          </p:cNvPr>
          <p:cNvSpPr/>
          <p:nvPr/>
        </p:nvSpPr>
        <p:spPr>
          <a:xfrm>
            <a:off x="1750220" y="1495426"/>
            <a:ext cx="1643062" cy="64293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dirty="0">
                <a:solidFill>
                  <a:schemeClr val="tx1"/>
                </a:solidFill>
              </a:rPr>
              <a:t>Document</a:t>
            </a:r>
          </a:p>
        </p:txBody>
      </p:sp>
      <p:sp>
        <p:nvSpPr>
          <p:cNvPr id="9" name="Rectangle 8">
            <a:extLst>
              <a:ext uri="{FF2B5EF4-FFF2-40B4-BE49-F238E27FC236}">
                <a16:creationId xmlns:a16="http://schemas.microsoft.com/office/drawing/2014/main" id="{2F9DD1C8-C74F-4007-A2EE-7BADF819C3F0}"/>
              </a:ext>
            </a:extLst>
          </p:cNvPr>
          <p:cNvSpPr/>
          <p:nvPr/>
        </p:nvSpPr>
        <p:spPr>
          <a:xfrm>
            <a:off x="4429126" y="1528756"/>
            <a:ext cx="1643062" cy="78581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dirty="0">
                <a:solidFill>
                  <a:schemeClr val="tx1"/>
                </a:solidFill>
              </a:rPr>
              <a:t>Chapter</a:t>
            </a:r>
          </a:p>
        </p:txBody>
      </p:sp>
      <p:sp>
        <p:nvSpPr>
          <p:cNvPr id="10" name="Rectangle 9">
            <a:extLst>
              <a:ext uri="{FF2B5EF4-FFF2-40B4-BE49-F238E27FC236}">
                <a16:creationId xmlns:a16="http://schemas.microsoft.com/office/drawing/2014/main" id="{8A3E5015-CF64-4C36-B8CD-0384D79D65DB}"/>
              </a:ext>
            </a:extLst>
          </p:cNvPr>
          <p:cNvSpPr/>
          <p:nvPr/>
        </p:nvSpPr>
        <p:spPr>
          <a:xfrm>
            <a:off x="4429126" y="3388511"/>
            <a:ext cx="1643062" cy="78581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dirty="0">
                <a:solidFill>
                  <a:schemeClr val="tx1"/>
                </a:solidFill>
              </a:rPr>
              <a:t>Section</a:t>
            </a:r>
          </a:p>
        </p:txBody>
      </p:sp>
      <p:sp>
        <p:nvSpPr>
          <p:cNvPr id="11" name="Rectangle 10">
            <a:extLst>
              <a:ext uri="{FF2B5EF4-FFF2-40B4-BE49-F238E27FC236}">
                <a16:creationId xmlns:a16="http://schemas.microsoft.com/office/drawing/2014/main" id="{5B25B90F-AADB-47E8-9BE3-DDC6EB82DF32}"/>
              </a:ext>
            </a:extLst>
          </p:cNvPr>
          <p:cNvSpPr/>
          <p:nvPr/>
        </p:nvSpPr>
        <p:spPr>
          <a:xfrm>
            <a:off x="1777679" y="3406146"/>
            <a:ext cx="1643063" cy="78581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dirty="0">
                <a:solidFill>
                  <a:schemeClr val="tx1"/>
                </a:solidFill>
              </a:rPr>
              <a:t>Paragraph</a:t>
            </a:r>
          </a:p>
        </p:txBody>
      </p:sp>
      <p:cxnSp>
        <p:nvCxnSpPr>
          <p:cNvPr id="13" name="Straight Connector 12">
            <a:extLst>
              <a:ext uri="{FF2B5EF4-FFF2-40B4-BE49-F238E27FC236}">
                <a16:creationId xmlns:a16="http://schemas.microsoft.com/office/drawing/2014/main" id="{90250C07-B130-4CC7-B7E4-80E2A232BB2C}"/>
              </a:ext>
            </a:extLst>
          </p:cNvPr>
          <p:cNvCxnSpPr>
            <a:stCxn id="18" idx="3"/>
            <a:endCxn id="9" idx="1"/>
          </p:cNvCxnSpPr>
          <p:nvPr/>
        </p:nvCxnSpPr>
        <p:spPr>
          <a:xfrm flipV="1">
            <a:off x="3607595" y="1921662"/>
            <a:ext cx="821531" cy="2389"/>
          </a:xfrm>
          <a:prstGeom prst="line">
            <a:avLst/>
          </a:prstGeom>
        </p:spPr>
        <p:style>
          <a:lnRef idx="1">
            <a:schemeClr val="dk1"/>
          </a:lnRef>
          <a:fillRef idx="0">
            <a:schemeClr val="dk1"/>
          </a:fillRef>
          <a:effectRef idx="0">
            <a:schemeClr val="dk1"/>
          </a:effectRef>
          <a:fontRef idx="minor">
            <a:schemeClr val="tx1"/>
          </a:fontRef>
        </p:style>
      </p:cxnSp>
      <p:sp>
        <p:nvSpPr>
          <p:cNvPr id="18" name="Diamond 17">
            <a:extLst>
              <a:ext uri="{FF2B5EF4-FFF2-40B4-BE49-F238E27FC236}">
                <a16:creationId xmlns:a16="http://schemas.microsoft.com/office/drawing/2014/main" id="{5CF5A1ED-4546-445F-BC28-30250608825F}"/>
              </a:ext>
            </a:extLst>
          </p:cNvPr>
          <p:cNvSpPr/>
          <p:nvPr/>
        </p:nvSpPr>
        <p:spPr>
          <a:xfrm>
            <a:off x="3393282" y="1781176"/>
            <a:ext cx="214313" cy="285750"/>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20" name="Diamond 19">
            <a:extLst>
              <a:ext uri="{FF2B5EF4-FFF2-40B4-BE49-F238E27FC236}">
                <a16:creationId xmlns:a16="http://schemas.microsoft.com/office/drawing/2014/main" id="{24839488-8289-45AF-BC24-E44FD99534D4}"/>
              </a:ext>
            </a:extLst>
          </p:cNvPr>
          <p:cNvSpPr/>
          <p:nvPr/>
        </p:nvSpPr>
        <p:spPr>
          <a:xfrm>
            <a:off x="4214813" y="3674261"/>
            <a:ext cx="214313" cy="285750"/>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21" name="Diamond 20">
            <a:extLst>
              <a:ext uri="{FF2B5EF4-FFF2-40B4-BE49-F238E27FC236}">
                <a16:creationId xmlns:a16="http://schemas.microsoft.com/office/drawing/2014/main" id="{AEB12EE3-22B4-45A7-9E41-1442C29DB290}"/>
              </a:ext>
            </a:extLst>
          </p:cNvPr>
          <p:cNvSpPr/>
          <p:nvPr/>
        </p:nvSpPr>
        <p:spPr>
          <a:xfrm>
            <a:off x="5143500" y="2440790"/>
            <a:ext cx="214313" cy="285750"/>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cxnSp>
        <p:nvCxnSpPr>
          <p:cNvPr id="23" name="Straight Connector 22">
            <a:extLst>
              <a:ext uri="{FF2B5EF4-FFF2-40B4-BE49-F238E27FC236}">
                <a16:creationId xmlns:a16="http://schemas.microsoft.com/office/drawing/2014/main" id="{0999139D-87E9-40CD-A1D7-4C9FF5A6A51A}"/>
              </a:ext>
            </a:extLst>
          </p:cNvPr>
          <p:cNvCxnSpPr>
            <a:stCxn id="21" idx="2"/>
            <a:endCxn id="10" idx="0"/>
          </p:cNvCxnSpPr>
          <p:nvPr/>
        </p:nvCxnSpPr>
        <p:spPr>
          <a:xfrm>
            <a:off x="5250657" y="2726540"/>
            <a:ext cx="0" cy="661971"/>
          </a:xfrm>
          <a:prstGeom prst="line">
            <a:avLst/>
          </a:prstGeom>
        </p:spPr>
        <p:style>
          <a:lnRef idx="1">
            <a:schemeClr val="dk1"/>
          </a:lnRef>
          <a:fillRef idx="0">
            <a:schemeClr val="dk1"/>
          </a:fillRef>
          <a:effectRef idx="0">
            <a:schemeClr val="dk1"/>
          </a:effectRef>
          <a:fontRef idx="minor">
            <a:schemeClr val="tx1"/>
          </a:fontRef>
        </p:style>
      </p:cxnSp>
      <p:cxnSp>
        <p:nvCxnSpPr>
          <p:cNvPr id="24" name="Straight Connector 23">
            <a:extLst>
              <a:ext uri="{FF2B5EF4-FFF2-40B4-BE49-F238E27FC236}">
                <a16:creationId xmlns:a16="http://schemas.microsoft.com/office/drawing/2014/main" id="{DCCDC47E-34E6-4E58-8E6F-8C708BC1401D}"/>
              </a:ext>
            </a:extLst>
          </p:cNvPr>
          <p:cNvCxnSpPr>
            <a:stCxn id="11" idx="3"/>
            <a:endCxn id="20" idx="1"/>
          </p:cNvCxnSpPr>
          <p:nvPr/>
        </p:nvCxnSpPr>
        <p:spPr>
          <a:xfrm>
            <a:off x="3420742" y="3799052"/>
            <a:ext cx="794071" cy="18084"/>
          </a:xfrm>
          <a:prstGeom prst="line">
            <a:avLst/>
          </a:prstGeom>
        </p:spPr>
        <p:style>
          <a:lnRef idx="1">
            <a:schemeClr val="dk1"/>
          </a:lnRef>
          <a:fillRef idx="0">
            <a:schemeClr val="dk1"/>
          </a:fillRef>
          <a:effectRef idx="0">
            <a:schemeClr val="dk1"/>
          </a:effectRef>
          <a:fontRef idx="minor">
            <a:schemeClr val="tx1"/>
          </a:fontRef>
        </p:style>
      </p:cxnSp>
      <p:sp>
        <p:nvSpPr>
          <p:cNvPr id="31" name="Rectangle 30">
            <a:extLst>
              <a:ext uri="{FF2B5EF4-FFF2-40B4-BE49-F238E27FC236}">
                <a16:creationId xmlns:a16="http://schemas.microsoft.com/office/drawing/2014/main" id="{FAC04085-0AFC-48B4-8DBE-1331EB70BFCE}"/>
              </a:ext>
            </a:extLst>
          </p:cNvPr>
          <p:cNvSpPr/>
          <p:nvPr/>
        </p:nvSpPr>
        <p:spPr>
          <a:xfrm>
            <a:off x="4429126" y="4031449"/>
            <a:ext cx="1643062" cy="357187"/>
          </a:xfrm>
          <a:prstGeom prst="rect">
            <a:avLst/>
          </a:prstGeom>
        </p:spPr>
        <p:style>
          <a:lnRef idx="2">
            <a:schemeClr val="accent6"/>
          </a:lnRef>
          <a:fillRef idx="1">
            <a:schemeClr val="lt1"/>
          </a:fillRef>
          <a:effectRef idx="0">
            <a:schemeClr val="accent6"/>
          </a:effectRef>
          <a:fontRef idx="minor">
            <a:schemeClr val="dk1"/>
          </a:fontRef>
        </p:style>
        <p:txBody>
          <a:bodyPr anchor="ctr"/>
          <a:lstStyle/>
          <a:p>
            <a:pPr algn="ctr" eaLnBrk="1" hangingPunct="1">
              <a:defRPr/>
            </a:pPr>
            <a:endParaRPr lang="en-US" dirty="0"/>
          </a:p>
        </p:txBody>
      </p:sp>
      <p:sp>
        <p:nvSpPr>
          <p:cNvPr id="32" name="Rectangle 31">
            <a:extLst>
              <a:ext uri="{FF2B5EF4-FFF2-40B4-BE49-F238E27FC236}">
                <a16:creationId xmlns:a16="http://schemas.microsoft.com/office/drawing/2014/main" id="{C3F0A39A-4989-4C0E-943B-BB1F646FBD32}"/>
              </a:ext>
            </a:extLst>
          </p:cNvPr>
          <p:cNvSpPr/>
          <p:nvPr/>
        </p:nvSpPr>
        <p:spPr>
          <a:xfrm>
            <a:off x="1777679" y="4049083"/>
            <a:ext cx="1643063" cy="357188"/>
          </a:xfrm>
          <a:prstGeom prst="rect">
            <a:avLst/>
          </a:prstGeom>
        </p:spPr>
        <p:style>
          <a:lnRef idx="2">
            <a:schemeClr val="accent6"/>
          </a:lnRef>
          <a:fillRef idx="1">
            <a:schemeClr val="lt1"/>
          </a:fillRef>
          <a:effectRef idx="0">
            <a:schemeClr val="accent6"/>
          </a:effectRef>
          <a:fontRef idx="minor">
            <a:schemeClr val="dk1"/>
          </a:fontRef>
        </p:style>
        <p:txBody>
          <a:bodyPr anchor="ctr"/>
          <a:lstStyle/>
          <a:p>
            <a:pPr algn="ctr" eaLnBrk="1" hangingPunct="1">
              <a:defRPr/>
            </a:pPr>
            <a:endParaRPr lang="en-US" dirty="0"/>
          </a:p>
        </p:txBody>
      </p:sp>
      <p:sp>
        <p:nvSpPr>
          <p:cNvPr id="33" name="Rectangle 32">
            <a:extLst>
              <a:ext uri="{FF2B5EF4-FFF2-40B4-BE49-F238E27FC236}">
                <a16:creationId xmlns:a16="http://schemas.microsoft.com/office/drawing/2014/main" id="{F3CC40D7-A018-4264-BD42-B554D89733CB}"/>
              </a:ext>
            </a:extLst>
          </p:cNvPr>
          <p:cNvSpPr/>
          <p:nvPr/>
        </p:nvSpPr>
        <p:spPr>
          <a:xfrm>
            <a:off x="4429126" y="2100256"/>
            <a:ext cx="1643062" cy="357187"/>
          </a:xfrm>
          <a:prstGeom prst="rect">
            <a:avLst/>
          </a:prstGeom>
        </p:spPr>
        <p:style>
          <a:lnRef idx="2">
            <a:schemeClr val="accent6"/>
          </a:lnRef>
          <a:fillRef idx="1">
            <a:schemeClr val="lt1"/>
          </a:fillRef>
          <a:effectRef idx="0">
            <a:schemeClr val="accent6"/>
          </a:effectRef>
          <a:fontRef idx="minor">
            <a:schemeClr val="dk1"/>
          </a:fontRef>
        </p:style>
        <p:txBody>
          <a:bodyPr anchor="ctr"/>
          <a:lstStyle/>
          <a:p>
            <a:pPr algn="ctr" eaLnBrk="1" hangingPunct="1">
              <a:defRPr/>
            </a:pPr>
            <a:endParaRPr lang="en-US" dirty="0"/>
          </a:p>
        </p:txBody>
      </p:sp>
      <p:sp>
        <p:nvSpPr>
          <p:cNvPr id="5138" name="TextBox 25">
            <a:extLst>
              <a:ext uri="{FF2B5EF4-FFF2-40B4-BE49-F238E27FC236}">
                <a16:creationId xmlns:a16="http://schemas.microsoft.com/office/drawing/2014/main" id="{3A7EF399-4D8D-B78F-A227-BC978C652C85}"/>
              </a:ext>
            </a:extLst>
          </p:cNvPr>
          <p:cNvSpPr txBox="1">
            <a:spLocks noChangeArrowheads="1"/>
          </p:cNvSpPr>
          <p:nvPr/>
        </p:nvSpPr>
        <p:spPr bwMode="auto">
          <a:xfrm>
            <a:off x="586119" y="5362574"/>
            <a:ext cx="116410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tr-TR" sz="1800" dirty="0"/>
              <a:t>{return “”}</a:t>
            </a:r>
          </a:p>
        </p:txBody>
      </p:sp>
      <p:cxnSp>
        <p:nvCxnSpPr>
          <p:cNvPr id="28" name="Straight Connector 27">
            <a:extLst>
              <a:ext uri="{FF2B5EF4-FFF2-40B4-BE49-F238E27FC236}">
                <a16:creationId xmlns:a16="http://schemas.microsoft.com/office/drawing/2014/main" id="{1F922A65-78E6-4B06-8ACD-ED6233F5134D}"/>
              </a:ext>
            </a:extLst>
          </p:cNvPr>
          <p:cNvCxnSpPr>
            <a:cxnSpLocks/>
            <a:endCxn id="5138" idx="3"/>
          </p:cNvCxnSpPr>
          <p:nvPr/>
        </p:nvCxnSpPr>
        <p:spPr>
          <a:xfrm flipH="1">
            <a:off x="1750220" y="5547240"/>
            <a:ext cx="1525636" cy="0"/>
          </a:xfrm>
          <a:prstGeom prst="line">
            <a:avLst/>
          </a:prstGeom>
          <a:ln cmpd="sng">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5140" name="TextBox 28">
            <a:extLst>
              <a:ext uri="{FF2B5EF4-FFF2-40B4-BE49-F238E27FC236}">
                <a16:creationId xmlns:a16="http://schemas.microsoft.com/office/drawing/2014/main" id="{31C68B9B-4264-7CAB-D9CD-F660DF723C0B}"/>
              </a:ext>
            </a:extLst>
          </p:cNvPr>
          <p:cNvSpPr txBox="1">
            <a:spLocks noChangeArrowheads="1"/>
          </p:cNvSpPr>
          <p:nvPr/>
        </p:nvSpPr>
        <p:spPr bwMode="auto">
          <a:xfrm>
            <a:off x="6228184" y="5070877"/>
            <a:ext cx="2719387"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tr-TR" sz="1800" dirty="0" err="1"/>
              <a:t>t.add</a:t>
            </a:r>
            <a:r>
              <a:rPr lang="en-US" altLang="tr-TR" sz="1800" dirty="0"/>
              <a:t>(title);</a:t>
            </a:r>
          </a:p>
          <a:p>
            <a:pPr eaLnBrk="1" hangingPunct="1">
              <a:spcBef>
                <a:spcPct val="0"/>
              </a:spcBef>
              <a:buFontTx/>
              <a:buNone/>
            </a:pPr>
            <a:r>
              <a:rPr lang="en-US" altLang="tr-TR" sz="1800" dirty="0"/>
              <a:t>for each section s</a:t>
            </a:r>
          </a:p>
          <a:p>
            <a:pPr eaLnBrk="1" hangingPunct="1">
              <a:spcBef>
                <a:spcPct val="0"/>
              </a:spcBef>
              <a:buFontTx/>
              <a:buNone/>
            </a:pPr>
            <a:r>
              <a:rPr lang="en-US" altLang="tr-TR" sz="1800" dirty="0"/>
              <a:t>   </a:t>
            </a:r>
            <a:r>
              <a:rPr lang="en-US" altLang="tr-TR" sz="1800" dirty="0" err="1"/>
              <a:t>t.addS</a:t>
            </a:r>
            <a:r>
              <a:rPr lang="en-US" altLang="tr-TR" sz="1800" dirty="0"/>
              <a:t>(</a:t>
            </a:r>
            <a:r>
              <a:rPr lang="en-US" altLang="tr-TR" sz="1800" dirty="0" err="1"/>
              <a:t>s.createTOC</a:t>
            </a:r>
            <a:r>
              <a:rPr lang="en-US" altLang="tr-TR" sz="1800" dirty="0"/>
              <a:t>());</a:t>
            </a:r>
          </a:p>
          <a:p>
            <a:pPr eaLnBrk="1" hangingPunct="1">
              <a:spcBef>
                <a:spcPct val="0"/>
              </a:spcBef>
              <a:buFontTx/>
              <a:buNone/>
            </a:pPr>
            <a:r>
              <a:rPr lang="en-US" altLang="tr-TR" sz="1800" dirty="0"/>
              <a:t>return t;</a:t>
            </a:r>
          </a:p>
        </p:txBody>
      </p:sp>
      <p:cxnSp>
        <p:nvCxnSpPr>
          <p:cNvPr id="34" name="Straight Connector 33">
            <a:extLst>
              <a:ext uri="{FF2B5EF4-FFF2-40B4-BE49-F238E27FC236}">
                <a16:creationId xmlns:a16="http://schemas.microsoft.com/office/drawing/2014/main" id="{9582BFB8-80DA-4DA0-92BD-93AB34F43D25}"/>
              </a:ext>
            </a:extLst>
          </p:cNvPr>
          <p:cNvCxnSpPr>
            <a:cxnSpLocks/>
            <a:stCxn id="5140" idx="1"/>
          </p:cNvCxnSpPr>
          <p:nvPr/>
        </p:nvCxnSpPr>
        <p:spPr>
          <a:xfrm flipH="1">
            <a:off x="4958346" y="5670952"/>
            <a:ext cx="1269838" cy="426137"/>
          </a:xfrm>
          <a:prstGeom prst="line">
            <a:avLst/>
          </a:prstGeom>
          <a:ln cmpd="sng">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 name="TextBox 25">
            <a:extLst>
              <a:ext uri="{FF2B5EF4-FFF2-40B4-BE49-F238E27FC236}">
                <a16:creationId xmlns:a16="http://schemas.microsoft.com/office/drawing/2014/main" id="{7668C7B4-4AB7-3AA9-7DB4-EE8B37945157}"/>
              </a:ext>
            </a:extLst>
          </p:cNvPr>
          <p:cNvSpPr txBox="1">
            <a:spLocks noChangeArrowheads="1"/>
          </p:cNvSpPr>
          <p:nvPr/>
        </p:nvSpPr>
        <p:spPr bwMode="auto">
          <a:xfrm>
            <a:off x="586119" y="5912423"/>
            <a:ext cx="136447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tr-TR" sz="1800" dirty="0"/>
              <a:t>{return title}</a:t>
            </a:r>
          </a:p>
        </p:txBody>
      </p:sp>
      <p:sp>
        <p:nvSpPr>
          <p:cNvPr id="4" name="Rectangle 3">
            <a:extLst>
              <a:ext uri="{FF2B5EF4-FFF2-40B4-BE49-F238E27FC236}">
                <a16:creationId xmlns:a16="http://schemas.microsoft.com/office/drawing/2014/main" id="{73ECCFED-BA8D-BD7C-030F-57C98249C4E3}"/>
              </a:ext>
            </a:extLst>
          </p:cNvPr>
          <p:cNvSpPr/>
          <p:nvPr/>
        </p:nvSpPr>
        <p:spPr>
          <a:xfrm>
            <a:off x="2932909" y="5022823"/>
            <a:ext cx="2339179" cy="133862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dirty="0" err="1">
                <a:solidFill>
                  <a:schemeClr val="tx1"/>
                </a:solidFill>
              </a:rPr>
              <a:t>ToCVisitor</a:t>
            </a:r>
            <a:endParaRPr lang="en-US" dirty="0">
              <a:solidFill>
                <a:schemeClr val="tx1"/>
              </a:solidFill>
            </a:endParaRPr>
          </a:p>
          <a:p>
            <a:pPr algn="ctr" eaLnBrk="1" hangingPunct="1">
              <a:defRPr/>
            </a:pPr>
            <a:r>
              <a:rPr lang="en-US" dirty="0" err="1">
                <a:solidFill>
                  <a:schemeClr val="tx1"/>
                </a:solidFill>
              </a:rPr>
              <a:t>visitPragraph</a:t>
            </a:r>
            <a:r>
              <a:rPr lang="en-US" dirty="0">
                <a:solidFill>
                  <a:schemeClr val="tx1"/>
                </a:solidFill>
              </a:rPr>
              <a:t>()</a:t>
            </a:r>
          </a:p>
          <a:p>
            <a:pPr algn="ctr" eaLnBrk="1" hangingPunct="1">
              <a:defRPr/>
            </a:pPr>
            <a:r>
              <a:rPr lang="en-US" dirty="0" err="1">
                <a:solidFill>
                  <a:schemeClr val="tx1"/>
                </a:solidFill>
              </a:rPr>
              <a:t>visitSection</a:t>
            </a:r>
            <a:r>
              <a:rPr lang="en-US" dirty="0">
                <a:solidFill>
                  <a:schemeClr val="tx1"/>
                </a:solidFill>
              </a:rPr>
              <a:t>()</a:t>
            </a:r>
          </a:p>
          <a:p>
            <a:pPr algn="ctr" eaLnBrk="1" hangingPunct="1">
              <a:defRPr/>
            </a:pPr>
            <a:r>
              <a:rPr lang="en-US" dirty="0" err="1">
                <a:solidFill>
                  <a:schemeClr val="tx1"/>
                </a:solidFill>
              </a:rPr>
              <a:t>visitChapter</a:t>
            </a:r>
            <a:r>
              <a:rPr lang="en-US" dirty="0">
                <a:solidFill>
                  <a:schemeClr val="tx1"/>
                </a:solidFill>
              </a:rPr>
              <a:t>()</a:t>
            </a:r>
          </a:p>
        </p:txBody>
      </p:sp>
      <p:cxnSp>
        <p:nvCxnSpPr>
          <p:cNvPr id="15" name="Straight Connector 14">
            <a:extLst>
              <a:ext uri="{FF2B5EF4-FFF2-40B4-BE49-F238E27FC236}">
                <a16:creationId xmlns:a16="http://schemas.microsoft.com/office/drawing/2014/main" id="{0457B60A-E7AF-D8AC-D2B9-1ACDAB060CFE}"/>
              </a:ext>
            </a:extLst>
          </p:cNvPr>
          <p:cNvCxnSpPr>
            <a:cxnSpLocks/>
          </p:cNvCxnSpPr>
          <p:nvPr/>
        </p:nvCxnSpPr>
        <p:spPr>
          <a:xfrm flipH="1">
            <a:off x="1921671" y="5884020"/>
            <a:ext cx="1354185" cy="213069"/>
          </a:xfrm>
          <a:prstGeom prst="line">
            <a:avLst/>
          </a:prstGeom>
          <a:ln cmpd="sng">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A6370D75-2EF3-939E-7DE4-99DDD5F07DFC}"/>
              </a:ext>
            </a:extLst>
          </p:cNvPr>
          <p:cNvCxnSpPr>
            <a:cxnSpLocks/>
          </p:cNvCxnSpPr>
          <p:nvPr/>
        </p:nvCxnSpPr>
        <p:spPr>
          <a:xfrm flipH="1">
            <a:off x="2890046" y="5445224"/>
            <a:ext cx="2424904" cy="0"/>
          </a:xfrm>
          <a:prstGeom prst="line">
            <a:avLst/>
          </a:prstGeom>
          <a:ln cmpd="sng">
            <a:solidFill>
              <a:schemeClr val="tx1"/>
            </a:solidFill>
            <a:prstDash val="soli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4125110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A6ABAED9-7877-5E50-8A7E-AEFEF192DAB9}"/>
              </a:ext>
            </a:extLst>
          </p:cNvPr>
          <p:cNvSpPr>
            <a:spLocks noGrp="1" noChangeArrowheads="1"/>
          </p:cNvSpPr>
          <p:nvPr>
            <p:ph type="title"/>
          </p:nvPr>
        </p:nvSpPr>
        <p:spPr/>
        <p:txBody>
          <a:bodyPr/>
          <a:lstStyle/>
          <a:p>
            <a:pPr eaLnBrk="1" hangingPunct="1"/>
            <a:r>
              <a:rPr lang="en-US" altLang="tr-TR" dirty="0"/>
              <a:t>Towards Solution 2:</a:t>
            </a:r>
          </a:p>
        </p:txBody>
      </p:sp>
      <p:sp>
        <p:nvSpPr>
          <p:cNvPr id="5" name="Rectangle 4">
            <a:extLst>
              <a:ext uri="{FF2B5EF4-FFF2-40B4-BE49-F238E27FC236}">
                <a16:creationId xmlns:a16="http://schemas.microsoft.com/office/drawing/2014/main" id="{AE8C62AF-3105-4DD0-8E13-591A232A07AE}"/>
              </a:ext>
            </a:extLst>
          </p:cNvPr>
          <p:cNvSpPr/>
          <p:nvPr/>
        </p:nvSpPr>
        <p:spPr>
          <a:xfrm>
            <a:off x="1619672" y="1495426"/>
            <a:ext cx="1773610" cy="64293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dirty="0">
                <a:solidFill>
                  <a:schemeClr val="tx1"/>
                </a:solidFill>
              </a:rPr>
              <a:t>Document</a:t>
            </a:r>
          </a:p>
        </p:txBody>
      </p:sp>
      <p:sp>
        <p:nvSpPr>
          <p:cNvPr id="9" name="Rectangle 8">
            <a:extLst>
              <a:ext uri="{FF2B5EF4-FFF2-40B4-BE49-F238E27FC236}">
                <a16:creationId xmlns:a16="http://schemas.microsoft.com/office/drawing/2014/main" id="{2F9DD1C8-C74F-4007-A2EE-7BADF819C3F0}"/>
              </a:ext>
            </a:extLst>
          </p:cNvPr>
          <p:cNvSpPr/>
          <p:nvPr/>
        </p:nvSpPr>
        <p:spPr>
          <a:xfrm>
            <a:off x="4429126" y="1528756"/>
            <a:ext cx="2087090" cy="78581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dirty="0">
                <a:solidFill>
                  <a:schemeClr val="tx1"/>
                </a:solidFill>
              </a:rPr>
              <a:t>Chapter</a:t>
            </a:r>
          </a:p>
        </p:txBody>
      </p:sp>
      <p:sp>
        <p:nvSpPr>
          <p:cNvPr id="10" name="Rectangle 9">
            <a:extLst>
              <a:ext uri="{FF2B5EF4-FFF2-40B4-BE49-F238E27FC236}">
                <a16:creationId xmlns:a16="http://schemas.microsoft.com/office/drawing/2014/main" id="{8A3E5015-CF64-4C36-B8CD-0384D79D65DB}"/>
              </a:ext>
            </a:extLst>
          </p:cNvPr>
          <p:cNvSpPr/>
          <p:nvPr/>
        </p:nvSpPr>
        <p:spPr>
          <a:xfrm>
            <a:off x="4429126" y="3388511"/>
            <a:ext cx="1799058" cy="78581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dirty="0">
                <a:solidFill>
                  <a:schemeClr val="tx1"/>
                </a:solidFill>
              </a:rPr>
              <a:t>Section</a:t>
            </a:r>
          </a:p>
        </p:txBody>
      </p:sp>
      <p:sp>
        <p:nvSpPr>
          <p:cNvPr id="11" name="Rectangle 10">
            <a:extLst>
              <a:ext uri="{FF2B5EF4-FFF2-40B4-BE49-F238E27FC236}">
                <a16:creationId xmlns:a16="http://schemas.microsoft.com/office/drawing/2014/main" id="{5B25B90F-AADB-47E8-9BE3-DDC6EB82DF32}"/>
              </a:ext>
            </a:extLst>
          </p:cNvPr>
          <p:cNvSpPr/>
          <p:nvPr/>
        </p:nvSpPr>
        <p:spPr>
          <a:xfrm>
            <a:off x="1619673" y="3406146"/>
            <a:ext cx="1801070" cy="78581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dirty="0">
                <a:solidFill>
                  <a:schemeClr val="tx1"/>
                </a:solidFill>
              </a:rPr>
              <a:t>Paragraph</a:t>
            </a:r>
          </a:p>
        </p:txBody>
      </p:sp>
      <p:cxnSp>
        <p:nvCxnSpPr>
          <p:cNvPr id="13" name="Straight Connector 12">
            <a:extLst>
              <a:ext uri="{FF2B5EF4-FFF2-40B4-BE49-F238E27FC236}">
                <a16:creationId xmlns:a16="http://schemas.microsoft.com/office/drawing/2014/main" id="{90250C07-B130-4CC7-B7E4-80E2A232BB2C}"/>
              </a:ext>
            </a:extLst>
          </p:cNvPr>
          <p:cNvCxnSpPr>
            <a:cxnSpLocks/>
            <a:stCxn id="18" idx="3"/>
            <a:endCxn id="9" idx="1"/>
          </p:cNvCxnSpPr>
          <p:nvPr/>
        </p:nvCxnSpPr>
        <p:spPr>
          <a:xfrm flipV="1">
            <a:off x="3607595" y="1921662"/>
            <a:ext cx="821531" cy="2389"/>
          </a:xfrm>
          <a:prstGeom prst="line">
            <a:avLst/>
          </a:prstGeom>
        </p:spPr>
        <p:style>
          <a:lnRef idx="1">
            <a:schemeClr val="dk1"/>
          </a:lnRef>
          <a:fillRef idx="0">
            <a:schemeClr val="dk1"/>
          </a:fillRef>
          <a:effectRef idx="0">
            <a:schemeClr val="dk1"/>
          </a:effectRef>
          <a:fontRef idx="minor">
            <a:schemeClr val="tx1"/>
          </a:fontRef>
        </p:style>
      </p:cxnSp>
      <p:sp>
        <p:nvSpPr>
          <p:cNvPr id="18" name="Diamond 17">
            <a:extLst>
              <a:ext uri="{FF2B5EF4-FFF2-40B4-BE49-F238E27FC236}">
                <a16:creationId xmlns:a16="http://schemas.microsoft.com/office/drawing/2014/main" id="{5CF5A1ED-4546-445F-BC28-30250608825F}"/>
              </a:ext>
            </a:extLst>
          </p:cNvPr>
          <p:cNvSpPr/>
          <p:nvPr/>
        </p:nvSpPr>
        <p:spPr>
          <a:xfrm>
            <a:off x="3393282" y="1781176"/>
            <a:ext cx="214313" cy="285750"/>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20" name="Diamond 19">
            <a:extLst>
              <a:ext uri="{FF2B5EF4-FFF2-40B4-BE49-F238E27FC236}">
                <a16:creationId xmlns:a16="http://schemas.microsoft.com/office/drawing/2014/main" id="{24839488-8289-45AF-BC24-E44FD99534D4}"/>
              </a:ext>
            </a:extLst>
          </p:cNvPr>
          <p:cNvSpPr/>
          <p:nvPr/>
        </p:nvSpPr>
        <p:spPr>
          <a:xfrm>
            <a:off x="4214813" y="3674261"/>
            <a:ext cx="214313" cy="285750"/>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21" name="Diamond 20">
            <a:extLst>
              <a:ext uri="{FF2B5EF4-FFF2-40B4-BE49-F238E27FC236}">
                <a16:creationId xmlns:a16="http://schemas.microsoft.com/office/drawing/2014/main" id="{AEB12EE3-22B4-45A7-9E41-1442C29DB290}"/>
              </a:ext>
            </a:extLst>
          </p:cNvPr>
          <p:cNvSpPr/>
          <p:nvPr/>
        </p:nvSpPr>
        <p:spPr>
          <a:xfrm>
            <a:off x="5143500" y="2440790"/>
            <a:ext cx="214313" cy="285750"/>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cxnSp>
        <p:nvCxnSpPr>
          <p:cNvPr id="23" name="Straight Connector 22">
            <a:extLst>
              <a:ext uri="{FF2B5EF4-FFF2-40B4-BE49-F238E27FC236}">
                <a16:creationId xmlns:a16="http://schemas.microsoft.com/office/drawing/2014/main" id="{0999139D-87E9-40CD-A1D7-4C9FF5A6A51A}"/>
              </a:ext>
            </a:extLst>
          </p:cNvPr>
          <p:cNvCxnSpPr>
            <a:cxnSpLocks/>
            <a:stCxn id="21" idx="2"/>
            <a:endCxn id="10" idx="0"/>
          </p:cNvCxnSpPr>
          <p:nvPr/>
        </p:nvCxnSpPr>
        <p:spPr>
          <a:xfrm>
            <a:off x="5250657" y="2726540"/>
            <a:ext cx="77998" cy="661971"/>
          </a:xfrm>
          <a:prstGeom prst="line">
            <a:avLst/>
          </a:prstGeom>
        </p:spPr>
        <p:style>
          <a:lnRef idx="1">
            <a:schemeClr val="dk1"/>
          </a:lnRef>
          <a:fillRef idx="0">
            <a:schemeClr val="dk1"/>
          </a:fillRef>
          <a:effectRef idx="0">
            <a:schemeClr val="dk1"/>
          </a:effectRef>
          <a:fontRef idx="minor">
            <a:schemeClr val="tx1"/>
          </a:fontRef>
        </p:style>
      </p:cxnSp>
      <p:cxnSp>
        <p:nvCxnSpPr>
          <p:cNvPr id="24" name="Straight Connector 23">
            <a:extLst>
              <a:ext uri="{FF2B5EF4-FFF2-40B4-BE49-F238E27FC236}">
                <a16:creationId xmlns:a16="http://schemas.microsoft.com/office/drawing/2014/main" id="{DCCDC47E-34E6-4E58-8E6F-8C708BC1401D}"/>
              </a:ext>
            </a:extLst>
          </p:cNvPr>
          <p:cNvCxnSpPr>
            <a:cxnSpLocks/>
            <a:stCxn id="11" idx="3"/>
            <a:endCxn id="20" idx="1"/>
          </p:cNvCxnSpPr>
          <p:nvPr/>
        </p:nvCxnSpPr>
        <p:spPr>
          <a:xfrm>
            <a:off x="3420743" y="3799052"/>
            <a:ext cx="794070" cy="18084"/>
          </a:xfrm>
          <a:prstGeom prst="line">
            <a:avLst/>
          </a:prstGeom>
        </p:spPr>
        <p:style>
          <a:lnRef idx="1">
            <a:schemeClr val="dk1"/>
          </a:lnRef>
          <a:fillRef idx="0">
            <a:schemeClr val="dk1"/>
          </a:fillRef>
          <a:effectRef idx="0">
            <a:schemeClr val="dk1"/>
          </a:effectRef>
          <a:fontRef idx="minor">
            <a:schemeClr val="tx1"/>
          </a:fontRef>
        </p:style>
      </p:cxnSp>
      <p:sp>
        <p:nvSpPr>
          <p:cNvPr id="31" name="Rectangle 30">
            <a:extLst>
              <a:ext uri="{FF2B5EF4-FFF2-40B4-BE49-F238E27FC236}">
                <a16:creationId xmlns:a16="http://schemas.microsoft.com/office/drawing/2014/main" id="{FAC04085-0AFC-48B4-8DBE-1331EB70BFCE}"/>
              </a:ext>
            </a:extLst>
          </p:cNvPr>
          <p:cNvSpPr/>
          <p:nvPr/>
        </p:nvSpPr>
        <p:spPr>
          <a:xfrm>
            <a:off x="4429125" y="4031449"/>
            <a:ext cx="1773607" cy="357187"/>
          </a:xfrm>
          <a:prstGeom prst="rect">
            <a:avLst/>
          </a:prstGeom>
        </p:spPr>
        <p:style>
          <a:lnRef idx="2">
            <a:schemeClr val="accent6"/>
          </a:lnRef>
          <a:fillRef idx="1">
            <a:schemeClr val="lt1"/>
          </a:fillRef>
          <a:effectRef idx="0">
            <a:schemeClr val="accent6"/>
          </a:effectRef>
          <a:fontRef idx="minor">
            <a:schemeClr val="dk1"/>
          </a:fontRef>
        </p:style>
        <p:txBody>
          <a:bodyPr anchor="ctr"/>
          <a:lstStyle/>
          <a:p>
            <a:pPr algn="ctr" eaLnBrk="1" hangingPunct="1">
              <a:defRPr/>
            </a:pPr>
            <a:r>
              <a:rPr lang="en-US" dirty="0"/>
              <a:t>+accept(Visitor)</a:t>
            </a:r>
          </a:p>
        </p:txBody>
      </p:sp>
      <p:sp>
        <p:nvSpPr>
          <p:cNvPr id="32" name="Rectangle 31">
            <a:extLst>
              <a:ext uri="{FF2B5EF4-FFF2-40B4-BE49-F238E27FC236}">
                <a16:creationId xmlns:a16="http://schemas.microsoft.com/office/drawing/2014/main" id="{C3F0A39A-4989-4C0E-943B-BB1F646FBD32}"/>
              </a:ext>
            </a:extLst>
          </p:cNvPr>
          <p:cNvSpPr/>
          <p:nvPr/>
        </p:nvSpPr>
        <p:spPr>
          <a:xfrm>
            <a:off x="1619673" y="4049083"/>
            <a:ext cx="1801070" cy="357188"/>
          </a:xfrm>
          <a:prstGeom prst="rect">
            <a:avLst/>
          </a:prstGeom>
        </p:spPr>
        <p:style>
          <a:lnRef idx="2">
            <a:schemeClr val="accent6"/>
          </a:lnRef>
          <a:fillRef idx="1">
            <a:schemeClr val="lt1"/>
          </a:fillRef>
          <a:effectRef idx="0">
            <a:schemeClr val="accent6"/>
          </a:effectRef>
          <a:fontRef idx="minor">
            <a:schemeClr val="dk1"/>
          </a:fontRef>
        </p:style>
        <p:txBody>
          <a:bodyPr anchor="ctr"/>
          <a:lstStyle/>
          <a:p>
            <a:pPr algn="ctr" eaLnBrk="1" hangingPunct="1">
              <a:defRPr/>
            </a:pPr>
            <a:r>
              <a:rPr lang="en-US" dirty="0"/>
              <a:t>+accept(Visitor)</a:t>
            </a:r>
          </a:p>
        </p:txBody>
      </p:sp>
      <p:sp>
        <p:nvSpPr>
          <p:cNvPr id="33" name="Rectangle 32">
            <a:extLst>
              <a:ext uri="{FF2B5EF4-FFF2-40B4-BE49-F238E27FC236}">
                <a16:creationId xmlns:a16="http://schemas.microsoft.com/office/drawing/2014/main" id="{F3CC40D7-A018-4264-BD42-B554D89733CB}"/>
              </a:ext>
            </a:extLst>
          </p:cNvPr>
          <p:cNvSpPr/>
          <p:nvPr/>
        </p:nvSpPr>
        <p:spPr>
          <a:xfrm>
            <a:off x="4429126" y="2100256"/>
            <a:ext cx="2087090" cy="357187"/>
          </a:xfrm>
          <a:prstGeom prst="rect">
            <a:avLst/>
          </a:prstGeom>
        </p:spPr>
        <p:style>
          <a:lnRef idx="2">
            <a:schemeClr val="accent6"/>
          </a:lnRef>
          <a:fillRef idx="1">
            <a:schemeClr val="lt1"/>
          </a:fillRef>
          <a:effectRef idx="0">
            <a:schemeClr val="accent6"/>
          </a:effectRef>
          <a:fontRef idx="minor">
            <a:schemeClr val="dk1"/>
          </a:fontRef>
        </p:style>
        <p:txBody>
          <a:bodyPr anchor="ctr"/>
          <a:lstStyle/>
          <a:p>
            <a:pPr algn="ctr" eaLnBrk="1" hangingPunct="1">
              <a:defRPr/>
            </a:pPr>
            <a:r>
              <a:rPr lang="en-US" dirty="0"/>
              <a:t>+accept(Visitor v)</a:t>
            </a:r>
          </a:p>
        </p:txBody>
      </p:sp>
      <p:sp>
        <p:nvSpPr>
          <p:cNvPr id="5138" name="TextBox 25">
            <a:extLst>
              <a:ext uri="{FF2B5EF4-FFF2-40B4-BE49-F238E27FC236}">
                <a16:creationId xmlns:a16="http://schemas.microsoft.com/office/drawing/2014/main" id="{3A7EF399-4D8D-B78F-A227-BC978C652C85}"/>
              </a:ext>
            </a:extLst>
          </p:cNvPr>
          <p:cNvSpPr txBox="1">
            <a:spLocks noChangeArrowheads="1"/>
          </p:cNvSpPr>
          <p:nvPr/>
        </p:nvSpPr>
        <p:spPr bwMode="auto">
          <a:xfrm>
            <a:off x="586119" y="5362574"/>
            <a:ext cx="116410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tr-TR" sz="1800" dirty="0"/>
              <a:t>{return “”}</a:t>
            </a:r>
          </a:p>
        </p:txBody>
      </p:sp>
      <p:cxnSp>
        <p:nvCxnSpPr>
          <p:cNvPr id="28" name="Straight Connector 27">
            <a:extLst>
              <a:ext uri="{FF2B5EF4-FFF2-40B4-BE49-F238E27FC236}">
                <a16:creationId xmlns:a16="http://schemas.microsoft.com/office/drawing/2014/main" id="{1F922A65-78E6-4B06-8ACD-ED6233F5134D}"/>
              </a:ext>
            </a:extLst>
          </p:cNvPr>
          <p:cNvCxnSpPr>
            <a:cxnSpLocks/>
            <a:endCxn id="5138" idx="3"/>
          </p:cNvCxnSpPr>
          <p:nvPr/>
        </p:nvCxnSpPr>
        <p:spPr>
          <a:xfrm flipH="1">
            <a:off x="1750220" y="5547240"/>
            <a:ext cx="1525636" cy="0"/>
          </a:xfrm>
          <a:prstGeom prst="line">
            <a:avLst/>
          </a:prstGeom>
          <a:ln cmpd="sng">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5140" name="TextBox 28">
            <a:extLst>
              <a:ext uri="{FF2B5EF4-FFF2-40B4-BE49-F238E27FC236}">
                <a16:creationId xmlns:a16="http://schemas.microsoft.com/office/drawing/2014/main" id="{31C68B9B-4264-7CAB-D9CD-F660DF723C0B}"/>
              </a:ext>
            </a:extLst>
          </p:cNvPr>
          <p:cNvSpPr txBox="1">
            <a:spLocks noChangeArrowheads="1"/>
          </p:cNvSpPr>
          <p:nvPr/>
        </p:nvSpPr>
        <p:spPr bwMode="auto">
          <a:xfrm>
            <a:off x="6228184" y="5070877"/>
            <a:ext cx="2719387"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tr-TR" sz="1800" dirty="0" err="1"/>
              <a:t>t.add</a:t>
            </a:r>
            <a:r>
              <a:rPr lang="en-US" altLang="tr-TR" sz="1800" dirty="0"/>
              <a:t>(title);</a:t>
            </a:r>
          </a:p>
          <a:p>
            <a:pPr eaLnBrk="1" hangingPunct="1">
              <a:spcBef>
                <a:spcPct val="0"/>
              </a:spcBef>
              <a:buFontTx/>
              <a:buNone/>
            </a:pPr>
            <a:r>
              <a:rPr lang="en-US" altLang="tr-TR" sz="1800" dirty="0"/>
              <a:t>for each section s</a:t>
            </a:r>
          </a:p>
          <a:p>
            <a:pPr eaLnBrk="1" hangingPunct="1">
              <a:spcBef>
                <a:spcPct val="0"/>
              </a:spcBef>
              <a:buFontTx/>
              <a:buNone/>
            </a:pPr>
            <a:r>
              <a:rPr lang="en-US" altLang="tr-TR" sz="1800" dirty="0"/>
              <a:t>   </a:t>
            </a:r>
            <a:r>
              <a:rPr lang="en-US" altLang="tr-TR" sz="1800" dirty="0" err="1"/>
              <a:t>t.addS</a:t>
            </a:r>
            <a:r>
              <a:rPr lang="en-US" altLang="tr-TR" sz="1800" dirty="0"/>
              <a:t>(</a:t>
            </a:r>
            <a:r>
              <a:rPr lang="en-US" altLang="tr-TR" sz="1800" dirty="0" err="1"/>
              <a:t>s.createTOC</a:t>
            </a:r>
            <a:r>
              <a:rPr lang="en-US" altLang="tr-TR" sz="1800" dirty="0"/>
              <a:t>());</a:t>
            </a:r>
          </a:p>
          <a:p>
            <a:pPr eaLnBrk="1" hangingPunct="1">
              <a:spcBef>
                <a:spcPct val="0"/>
              </a:spcBef>
              <a:buFontTx/>
              <a:buNone/>
            </a:pPr>
            <a:r>
              <a:rPr lang="en-US" altLang="tr-TR" sz="1800" dirty="0"/>
              <a:t>return t;</a:t>
            </a:r>
          </a:p>
        </p:txBody>
      </p:sp>
      <p:cxnSp>
        <p:nvCxnSpPr>
          <p:cNvPr id="34" name="Straight Connector 33">
            <a:extLst>
              <a:ext uri="{FF2B5EF4-FFF2-40B4-BE49-F238E27FC236}">
                <a16:creationId xmlns:a16="http://schemas.microsoft.com/office/drawing/2014/main" id="{9582BFB8-80DA-4DA0-92BD-93AB34F43D25}"/>
              </a:ext>
            </a:extLst>
          </p:cNvPr>
          <p:cNvCxnSpPr>
            <a:cxnSpLocks/>
            <a:stCxn id="5140" idx="1"/>
          </p:cNvCxnSpPr>
          <p:nvPr/>
        </p:nvCxnSpPr>
        <p:spPr>
          <a:xfrm flipH="1">
            <a:off x="4958346" y="5670952"/>
            <a:ext cx="1269838" cy="426137"/>
          </a:xfrm>
          <a:prstGeom prst="line">
            <a:avLst/>
          </a:prstGeom>
          <a:ln cmpd="sng">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 name="TextBox 25">
            <a:extLst>
              <a:ext uri="{FF2B5EF4-FFF2-40B4-BE49-F238E27FC236}">
                <a16:creationId xmlns:a16="http://schemas.microsoft.com/office/drawing/2014/main" id="{7668C7B4-4AB7-3AA9-7DB4-EE8B37945157}"/>
              </a:ext>
            </a:extLst>
          </p:cNvPr>
          <p:cNvSpPr txBox="1">
            <a:spLocks noChangeArrowheads="1"/>
          </p:cNvSpPr>
          <p:nvPr/>
        </p:nvSpPr>
        <p:spPr bwMode="auto">
          <a:xfrm>
            <a:off x="586119" y="5912423"/>
            <a:ext cx="136447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tr-TR" sz="1800" dirty="0"/>
              <a:t>{return title}</a:t>
            </a:r>
          </a:p>
        </p:txBody>
      </p:sp>
      <p:sp>
        <p:nvSpPr>
          <p:cNvPr id="4" name="Rectangle 3">
            <a:extLst>
              <a:ext uri="{FF2B5EF4-FFF2-40B4-BE49-F238E27FC236}">
                <a16:creationId xmlns:a16="http://schemas.microsoft.com/office/drawing/2014/main" id="{73ECCFED-BA8D-BD7C-030F-57C98249C4E3}"/>
              </a:ext>
            </a:extLst>
          </p:cNvPr>
          <p:cNvSpPr/>
          <p:nvPr/>
        </p:nvSpPr>
        <p:spPr>
          <a:xfrm>
            <a:off x="2932909" y="5022823"/>
            <a:ext cx="2339179" cy="133862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dirty="0" err="1">
                <a:solidFill>
                  <a:schemeClr val="tx1"/>
                </a:solidFill>
              </a:rPr>
              <a:t>ToCVisitor</a:t>
            </a:r>
            <a:endParaRPr lang="en-US" dirty="0">
              <a:solidFill>
                <a:schemeClr val="tx1"/>
              </a:solidFill>
            </a:endParaRPr>
          </a:p>
          <a:p>
            <a:pPr algn="ctr" eaLnBrk="1" hangingPunct="1">
              <a:defRPr/>
            </a:pPr>
            <a:r>
              <a:rPr lang="en-US" dirty="0" err="1">
                <a:solidFill>
                  <a:schemeClr val="tx1"/>
                </a:solidFill>
              </a:rPr>
              <a:t>visitPragraph</a:t>
            </a:r>
            <a:r>
              <a:rPr lang="en-US" dirty="0">
                <a:solidFill>
                  <a:schemeClr val="tx1"/>
                </a:solidFill>
              </a:rPr>
              <a:t>(P)</a:t>
            </a:r>
          </a:p>
          <a:p>
            <a:pPr algn="ctr" eaLnBrk="1" hangingPunct="1">
              <a:defRPr/>
            </a:pPr>
            <a:r>
              <a:rPr lang="en-US" dirty="0" err="1">
                <a:solidFill>
                  <a:schemeClr val="tx1"/>
                </a:solidFill>
              </a:rPr>
              <a:t>visitSection</a:t>
            </a:r>
            <a:r>
              <a:rPr lang="en-US" dirty="0">
                <a:solidFill>
                  <a:schemeClr val="tx1"/>
                </a:solidFill>
              </a:rPr>
              <a:t>(S)</a:t>
            </a:r>
          </a:p>
          <a:p>
            <a:pPr algn="ctr" eaLnBrk="1" hangingPunct="1">
              <a:defRPr/>
            </a:pPr>
            <a:r>
              <a:rPr lang="en-US" dirty="0" err="1">
                <a:solidFill>
                  <a:schemeClr val="tx1"/>
                </a:solidFill>
              </a:rPr>
              <a:t>visitChapter</a:t>
            </a:r>
            <a:r>
              <a:rPr lang="en-US" dirty="0">
                <a:solidFill>
                  <a:schemeClr val="tx1"/>
                </a:solidFill>
              </a:rPr>
              <a:t>(C)</a:t>
            </a:r>
          </a:p>
        </p:txBody>
      </p:sp>
      <p:cxnSp>
        <p:nvCxnSpPr>
          <p:cNvPr id="15" name="Straight Connector 14">
            <a:extLst>
              <a:ext uri="{FF2B5EF4-FFF2-40B4-BE49-F238E27FC236}">
                <a16:creationId xmlns:a16="http://schemas.microsoft.com/office/drawing/2014/main" id="{0457B60A-E7AF-D8AC-D2B9-1ACDAB060CFE}"/>
              </a:ext>
            </a:extLst>
          </p:cNvPr>
          <p:cNvCxnSpPr>
            <a:cxnSpLocks/>
          </p:cNvCxnSpPr>
          <p:nvPr/>
        </p:nvCxnSpPr>
        <p:spPr>
          <a:xfrm flipH="1">
            <a:off x="1921671" y="5884020"/>
            <a:ext cx="1354185" cy="213069"/>
          </a:xfrm>
          <a:prstGeom prst="line">
            <a:avLst/>
          </a:prstGeom>
          <a:ln cmpd="sng">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A6370D75-2EF3-939E-7DE4-99DDD5F07DFC}"/>
              </a:ext>
            </a:extLst>
          </p:cNvPr>
          <p:cNvCxnSpPr>
            <a:cxnSpLocks/>
          </p:cNvCxnSpPr>
          <p:nvPr/>
        </p:nvCxnSpPr>
        <p:spPr>
          <a:xfrm flipH="1">
            <a:off x="2890046" y="5445224"/>
            <a:ext cx="2424904" cy="0"/>
          </a:xfrm>
          <a:prstGeom prst="line">
            <a:avLst/>
          </a:prstGeom>
          <a:ln cmpd="sng">
            <a:solidFill>
              <a:schemeClr val="tx1"/>
            </a:solidFill>
            <a:prstDash val="solid"/>
          </a:ln>
        </p:spPr>
        <p:style>
          <a:lnRef idx="1">
            <a:schemeClr val="accent1"/>
          </a:lnRef>
          <a:fillRef idx="0">
            <a:schemeClr val="accent1"/>
          </a:fillRef>
          <a:effectRef idx="0">
            <a:schemeClr val="accent1"/>
          </a:effectRef>
          <a:fontRef idx="minor">
            <a:schemeClr val="tx1"/>
          </a:fontRef>
        </p:style>
      </p:cxnSp>
      <p:sp>
        <p:nvSpPr>
          <p:cNvPr id="25" name="TextBox 25">
            <a:extLst>
              <a:ext uri="{FF2B5EF4-FFF2-40B4-BE49-F238E27FC236}">
                <a16:creationId xmlns:a16="http://schemas.microsoft.com/office/drawing/2014/main" id="{5A0D068C-C4A1-5032-B25A-BB5352224B6C}"/>
              </a:ext>
            </a:extLst>
          </p:cNvPr>
          <p:cNvSpPr txBox="1">
            <a:spLocks noChangeArrowheads="1"/>
          </p:cNvSpPr>
          <p:nvPr/>
        </p:nvSpPr>
        <p:spPr bwMode="auto">
          <a:xfrm>
            <a:off x="6869245" y="1743760"/>
            <a:ext cx="2078326"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tr-TR" sz="1800" dirty="0"/>
              <a:t>//call</a:t>
            </a:r>
          </a:p>
          <a:p>
            <a:pPr eaLnBrk="1" hangingPunct="1">
              <a:spcBef>
                <a:spcPct val="0"/>
              </a:spcBef>
              <a:buFontTx/>
              <a:buNone/>
            </a:pPr>
            <a:r>
              <a:rPr lang="en-US" altLang="tr-TR" sz="1800" dirty="0" err="1"/>
              <a:t>v.visitChapter</a:t>
            </a:r>
            <a:r>
              <a:rPr lang="en-US" altLang="tr-TR" sz="1800" dirty="0"/>
              <a:t>(this)</a:t>
            </a:r>
          </a:p>
        </p:txBody>
      </p:sp>
      <p:sp>
        <p:nvSpPr>
          <p:cNvPr id="12" name="Arrow: Curved Left 11">
            <a:extLst>
              <a:ext uri="{FF2B5EF4-FFF2-40B4-BE49-F238E27FC236}">
                <a16:creationId xmlns:a16="http://schemas.microsoft.com/office/drawing/2014/main" id="{DFD58D5E-209D-3B7A-9329-148578F8B979}"/>
              </a:ext>
            </a:extLst>
          </p:cNvPr>
          <p:cNvSpPr/>
          <p:nvPr/>
        </p:nvSpPr>
        <p:spPr bwMode="auto">
          <a:xfrm>
            <a:off x="8066653" y="2456077"/>
            <a:ext cx="735175" cy="2582033"/>
          </a:xfrm>
          <a:prstGeom prst="curvedLeftArrow">
            <a:avLst/>
          </a:prstGeom>
          <a:solidFill>
            <a:schemeClr val="accent1"/>
          </a:solidFill>
          <a:ln w="9525" cap="flat" cmpd="sng" algn="ctr">
            <a:solidFill>
              <a:schemeClr val="tx1"/>
            </a:solid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14" name="Arrow: Curved Right 13">
            <a:extLst>
              <a:ext uri="{FF2B5EF4-FFF2-40B4-BE49-F238E27FC236}">
                <a16:creationId xmlns:a16="http://schemas.microsoft.com/office/drawing/2014/main" id="{FF930AB8-12E8-0098-21BE-1E5488BF9E42}"/>
              </a:ext>
            </a:extLst>
          </p:cNvPr>
          <p:cNvSpPr/>
          <p:nvPr/>
        </p:nvSpPr>
        <p:spPr bwMode="auto">
          <a:xfrm>
            <a:off x="995478" y="4289081"/>
            <a:ext cx="408170" cy="1073493"/>
          </a:xfrm>
          <a:prstGeom prst="curvedRightArrow">
            <a:avLst/>
          </a:prstGeom>
          <a:solidFill>
            <a:schemeClr val="accent1"/>
          </a:solidFill>
          <a:ln w="9525" cap="flat" cmpd="sng" algn="ctr">
            <a:solidFill>
              <a:schemeClr val="tx1"/>
            </a:solid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3" name="TextBox 2">
            <a:extLst>
              <a:ext uri="{FF2B5EF4-FFF2-40B4-BE49-F238E27FC236}">
                <a16:creationId xmlns:a16="http://schemas.microsoft.com/office/drawing/2014/main" id="{98CA6425-EB4A-2AEC-CF34-E0E5FDE4DFC4}"/>
              </a:ext>
            </a:extLst>
          </p:cNvPr>
          <p:cNvSpPr txBox="1"/>
          <p:nvPr/>
        </p:nvSpPr>
        <p:spPr>
          <a:xfrm>
            <a:off x="457200" y="4382385"/>
            <a:ext cx="1828800" cy="369332"/>
          </a:xfrm>
          <a:prstGeom prst="rect">
            <a:avLst/>
          </a:prstGeom>
          <a:noFill/>
        </p:spPr>
        <p:txBody>
          <a:bodyPr wrap="square" rtlCol="0">
            <a:spAutoFit/>
          </a:bodyPr>
          <a:lstStyle/>
          <a:p>
            <a:r>
              <a:rPr lang="en-US" kern="1200" dirty="0">
                <a:solidFill>
                  <a:schemeClr val="tx1"/>
                </a:solidFill>
                <a:latin typeface="Arial" panose="020B0604020202020204" pitchFamily="34" charset="0"/>
                <a:ea typeface="+mn-ea"/>
                <a:cs typeface="+mn-cs"/>
              </a:rPr>
              <a:t>call</a:t>
            </a:r>
          </a:p>
        </p:txBody>
      </p:sp>
    </p:spTree>
    <p:extLst>
      <p:ext uri="{BB962C8B-B14F-4D97-AF65-F5344CB8AC3E}">
        <p14:creationId xmlns:p14="http://schemas.microsoft.com/office/powerpoint/2010/main" val="28507343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A6ABAED9-7877-5E50-8A7E-AEFEF192DAB9}"/>
              </a:ext>
            </a:extLst>
          </p:cNvPr>
          <p:cNvSpPr>
            <a:spLocks noGrp="1" noChangeArrowheads="1"/>
          </p:cNvSpPr>
          <p:nvPr>
            <p:ph type="title"/>
          </p:nvPr>
        </p:nvSpPr>
        <p:spPr/>
        <p:txBody>
          <a:bodyPr/>
          <a:lstStyle/>
          <a:p>
            <a:pPr eaLnBrk="1" hangingPunct="1"/>
            <a:r>
              <a:rPr lang="en-US" altLang="tr-TR" dirty="0"/>
              <a:t>Extensible Solution:</a:t>
            </a:r>
          </a:p>
        </p:txBody>
      </p:sp>
      <p:sp>
        <p:nvSpPr>
          <p:cNvPr id="5" name="Rectangle 4">
            <a:extLst>
              <a:ext uri="{FF2B5EF4-FFF2-40B4-BE49-F238E27FC236}">
                <a16:creationId xmlns:a16="http://schemas.microsoft.com/office/drawing/2014/main" id="{AE8C62AF-3105-4DD0-8E13-591A232A07AE}"/>
              </a:ext>
            </a:extLst>
          </p:cNvPr>
          <p:cNvSpPr/>
          <p:nvPr/>
        </p:nvSpPr>
        <p:spPr>
          <a:xfrm>
            <a:off x="1619672" y="1495426"/>
            <a:ext cx="1773610" cy="64293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dirty="0">
                <a:solidFill>
                  <a:schemeClr val="tx1"/>
                </a:solidFill>
              </a:rPr>
              <a:t>Document</a:t>
            </a:r>
          </a:p>
        </p:txBody>
      </p:sp>
      <p:sp>
        <p:nvSpPr>
          <p:cNvPr id="9" name="Rectangle 8">
            <a:extLst>
              <a:ext uri="{FF2B5EF4-FFF2-40B4-BE49-F238E27FC236}">
                <a16:creationId xmlns:a16="http://schemas.microsoft.com/office/drawing/2014/main" id="{2F9DD1C8-C74F-4007-A2EE-7BADF819C3F0}"/>
              </a:ext>
            </a:extLst>
          </p:cNvPr>
          <p:cNvSpPr/>
          <p:nvPr/>
        </p:nvSpPr>
        <p:spPr>
          <a:xfrm>
            <a:off x="4429126" y="1528756"/>
            <a:ext cx="2087090" cy="78581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dirty="0">
                <a:solidFill>
                  <a:schemeClr val="tx1"/>
                </a:solidFill>
              </a:rPr>
              <a:t>Chapter</a:t>
            </a:r>
          </a:p>
        </p:txBody>
      </p:sp>
      <p:sp>
        <p:nvSpPr>
          <p:cNvPr id="10" name="Rectangle 9">
            <a:extLst>
              <a:ext uri="{FF2B5EF4-FFF2-40B4-BE49-F238E27FC236}">
                <a16:creationId xmlns:a16="http://schemas.microsoft.com/office/drawing/2014/main" id="{8A3E5015-CF64-4C36-B8CD-0384D79D65DB}"/>
              </a:ext>
            </a:extLst>
          </p:cNvPr>
          <p:cNvSpPr/>
          <p:nvPr/>
        </p:nvSpPr>
        <p:spPr>
          <a:xfrm>
            <a:off x="4429126" y="3388511"/>
            <a:ext cx="1799058" cy="78581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dirty="0">
                <a:solidFill>
                  <a:schemeClr val="tx1"/>
                </a:solidFill>
              </a:rPr>
              <a:t>Section</a:t>
            </a:r>
          </a:p>
        </p:txBody>
      </p:sp>
      <p:sp>
        <p:nvSpPr>
          <p:cNvPr id="11" name="Rectangle 10">
            <a:extLst>
              <a:ext uri="{FF2B5EF4-FFF2-40B4-BE49-F238E27FC236}">
                <a16:creationId xmlns:a16="http://schemas.microsoft.com/office/drawing/2014/main" id="{5B25B90F-AADB-47E8-9BE3-DDC6EB82DF32}"/>
              </a:ext>
            </a:extLst>
          </p:cNvPr>
          <p:cNvSpPr/>
          <p:nvPr/>
        </p:nvSpPr>
        <p:spPr>
          <a:xfrm>
            <a:off x="1619673" y="3406146"/>
            <a:ext cx="1801070" cy="78581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dirty="0">
                <a:solidFill>
                  <a:schemeClr val="tx1"/>
                </a:solidFill>
              </a:rPr>
              <a:t>Paragraph</a:t>
            </a:r>
          </a:p>
        </p:txBody>
      </p:sp>
      <p:cxnSp>
        <p:nvCxnSpPr>
          <p:cNvPr id="13" name="Straight Connector 12">
            <a:extLst>
              <a:ext uri="{FF2B5EF4-FFF2-40B4-BE49-F238E27FC236}">
                <a16:creationId xmlns:a16="http://schemas.microsoft.com/office/drawing/2014/main" id="{90250C07-B130-4CC7-B7E4-80E2A232BB2C}"/>
              </a:ext>
            </a:extLst>
          </p:cNvPr>
          <p:cNvCxnSpPr>
            <a:cxnSpLocks/>
            <a:stCxn id="18" idx="3"/>
            <a:endCxn id="9" idx="1"/>
          </p:cNvCxnSpPr>
          <p:nvPr/>
        </p:nvCxnSpPr>
        <p:spPr>
          <a:xfrm flipV="1">
            <a:off x="3607595" y="1921662"/>
            <a:ext cx="821531" cy="2389"/>
          </a:xfrm>
          <a:prstGeom prst="line">
            <a:avLst/>
          </a:prstGeom>
        </p:spPr>
        <p:style>
          <a:lnRef idx="1">
            <a:schemeClr val="dk1"/>
          </a:lnRef>
          <a:fillRef idx="0">
            <a:schemeClr val="dk1"/>
          </a:fillRef>
          <a:effectRef idx="0">
            <a:schemeClr val="dk1"/>
          </a:effectRef>
          <a:fontRef idx="minor">
            <a:schemeClr val="tx1"/>
          </a:fontRef>
        </p:style>
      </p:cxnSp>
      <p:sp>
        <p:nvSpPr>
          <p:cNvPr id="18" name="Diamond 17">
            <a:extLst>
              <a:ext uri="{FF2B5EF4-FFF2-40B4-BE49-F238E27FC236}">
                <a16:creationId xmlns:a16="http://schemas.microsoft.com/office/drawing/2014/main" id="{5CF5A1ED-4546-445F-BC28-30250608825F}"/>
              </a:ext>
            </a:extLst>
          </p:cNvPr>
          <p:cNvSpPr/>
          <p:nvPr/>
        </p:nvSpPr>
        <p:spPr>
          <a:xfrm>
            <a:off x="3393282" y="1781176"/>
            <a:ext cx="214313" cy="285750"/>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20" name="Diamond 19">
            <a:extLst>
              <a:ext uri="{FF2B5EF4-FFF2-40B4-BE49-F238E27FC236}">
                <a16:creationId xmlns:a16="http://schemas.microsoft.com/office/drawing/2014/main" id="{24839488-8289-45AF-BC24-E44FD99534D4}"/>
              </a:ext>
            </a:extLst>
          </p:cNvPr>
          <p:cNvSpPr/>
          <p:nvPr/>
        </p:nvSpPr>
        <p:spPr>
          <a:xfrm>
            <a:off x="4214813" y="3674261"/>
            <a:ext cx="214313" cy="285750"/>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21" name="Diamond 20">
            <a:extLst>
              <a:ext uri="{FF2B5EF4-FFF2-40B4-BE49-F238E27FC236}">
                <a16:creationId xmlns:a16="http://schemas.microsoft.com/office/drawing/2014/main" id="{AEB12EE3-22B4-45A7-9E41-1442C29DB290}"/>
              </a:ext>
            </a:extLst>
          </p:cNvPr>
          <p:cNvSpPr/>
          <p:nvPr/>
        </p:nvSpPr>
        <p:spPr>
          <a:xfrm>
            <a:off x="5143500" y="2440790"/>
            <a:ext cx="214313" cy="285750"/>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cxnSp>
        <p:nvCxnSpPr>
          <p:cNvPr id="23" name="Straight Connector 22">
            <a:extLst>
              <a:ext uri="{FF2B5EF4-FFF2-40B4-BE49-F238E27FC236}">
                <a16:creationId xmlns:a16="http://schemas.microsoft.com/office/drawing/2014/main" id="{0999139D-87E9-40CD-A1D7-4C9FF5A6A51A}"/>
              </a:ext>
            </a:extLst>
          </p:cNvPr>
          <p:cNvCxnSpPr>
            <a:cxnSpLocks/>
            <a:stCxn id="21" idx="2"/>
            <a:endCxn id="10" idx="0"/>
          </p:cNvCxnSpPr>
          <p:nvPr/>
        </p:nvCxnSpPr>
        <p:spPr>
          <a:xfrm>
            <a:off x="5250657" y="2726540"/>
            <a:ext cx="77998" cy="661971"/>
          </a:xfrm>
          <a:prstGeom prst="line">
            <a:avLst/>
          </a:prstGeom>
        </p:spPr>
        <p:style>
          <a:lnRef idx="1">
            <a:schemeClr val="dk1"/>
          </a:lnRef>
          <a:fillRef idx="0">
            <a:schemeClr val="dk1"/>
          </a:fillRef>
          <a:effectRef idx="0">
            <a:schemeClr val="dk1"/>
          </a:effectRef>
          <a:fontRef idx="minor">
            <a:schemeClr val="tx1"/>
          </a:fontRef>
        </p:style>
      </p:cxnSp>
      <p:cxnSp>
        <p:nvCxnSpPr>
          <p:cNvPr id="24" name="Straight Connector 23">
            <a:extLst>
              <a:ext uri="{FF2B5EF4-FFF2-40B4-BE49-F238E27FC236}">
                <a16:creationId xmlns:a16="http://schemas.microsoft.com/office/drawing/2014/main" id="{DCCDC47E-34E6-4E58-8E6F-8C708BC1401D}"/>
              </a:ext>
            </a:extLst>
          </p:cNvPr>
          <p:cNvCxnSpPr>
            <a:cxnSpLocks/>
            <a:stCxn id="11" idx="3"/>
            <a:endCxn id="20" idx="1"/>
          </p:cNvCxnSpPr>
          <p:nvPr/>
        </p:nvCxnSpPr>
        <p:spPr>
          <a:xfrm>
            <a:off x="3420743" y="3799052"/>
            <a:ext cx="794070" cy="18084"/>
          </a:xfrm>
          <a:prstGeom prst="line">
            <a:avLst/>
          </a:prstGeom>
        </p:spPr>
        <p:style>
          <a:lnRef idx="1">
            <a:schemeClr val="dk1"/>
          </a:lnRef>
          <a:fillRef idx="0">
            <a:schemeClr val="dk1"/>
          </a:fillRef>
          <a:effectRef idx="0">
            <a:schemeClr val="dk1"/>
          </a:effectRef>
          <a:fontRef idx="minor">
            <a:schemeClr val="tx1"/>
          </a:fontRef>
        </p:style>
      </p:cxnSp>
      <p:sp>
        <p:nvSpPr>
          <p:cNvPr id="31" name="Rectangle 30">
            <a:extLst>
              <a:ext uri="{FF2B5EF4-FFF2-40B4-BE49-F238E27FC236}">
                <a16:creationId xmlns:a16="http://schemas.microsoft.com/office/drawing/2014/main" id="{FAC04085-0AFC-48B4-8DBE-1331EB70BFCE}"/>
              </a:ext>
            </a:extLst>
          </p:cNvPr>
          <p:cNvSpPr/>
          <p:nvPr/>
        </p:nvSpPr>
        <p:spPr>
          <a:xfrm>
            <a:off x="4429125" y="4031449"/>
            <a:ext cx="1773607" cy="357187"/>
          </a:xfrm>
          <a:prstGeom prst="rect">
            <a:avLst/>
          </a:prstGeom>
        </p:spPr>
        <p:style>
          <a:lnRef idx="2">
            <a:schemeClr val="accent6"/>
          </a:lnRef>
          <a:fillRef idx="1">
            <a:schemeClr val="lt1"/>
          </a:fillRef>
          <a:effectRef idx="0">
            <a:schemeClr val="accent6"/>
          </a:effectRef>
          <a:fontRef idx="minor">
            <a:schemeClr val="dk1"/>
          </a:fontRef>
        </p:style>
        <p:txBody>
          <a:bodyPr anchor="ctr"/>
          <a:lstStyle/>
          <a:p>
            <a:pPr algn="ctr" eaLnBrk="1" hangingPunct="1">
              <a:defRPr/>
            </a:pPr>
            <a:r>
              <a:rPr lang="en-US" dirty="0"/>
              <a:t>+accept(Visitor)</a:t>
            </a:r>
          </a:p>
        </p:txBody>
      </p:sp>
      <p:sp>
        <p:nvSpPr>
          <p:cNvPr id="32" name="Rectangle 31">
            <a:extLst>
              <a:ext uri="{FF2B5EF4-FFF2-40B4-BE49-F238E27FC236}">
                <a16:creationId xmlns:a16="http://schemas.microsoft.com/office/drawing/2014/main" id="{C3F0A39A-4989-4C0E-943B-BB1F646FBD32}"/>
              </a:ext>
            </a:extLst>
          </p:cNvPr>
          <p:cNvSpPr/>
          <p:nvPr/>
        </p:nvSpPr>
        <p:spPr>
          <a:xfrm>
            <a:off x="1619673" y="4049083"/>
            <a:ext cx="1801070" cy="357188"/>
          </a:xfrm>
          <a:prstGeom prst="rect">
            <a:avLst/>
          </a:prstGeom>
        </p:spPr>
        <p:style>
          <a:lnRef idx="2">
            <a:schemeClr val="accent6"/>
          </a:lnRef>
          <a:fillRef idx="1">
            <a:schemeClr val="lt1"/>
          </a:fillRef>
          <a:effectRef idx="0">
            <a:schemeClr val="accent6"/>
          </a:effectRef>
          <a:fontRef idx="minor">
            <a:schemeClr val="dk1"/>
          </a:fontRef>
        </p:style>
        <p:txBody>
          <a:bodyPr anchor="ctr"/>
          <a:lstStyle/>
          <a:p>
            <a:pPr algn="ctr" eaLnBrk="1" hangingPunct="1">
              <a:defRPr/>
            </a:pPr>
            <a:r>
              <a:rPr lang="en-US" dirty="0"/>
              <a:t>+accept(Visitor)</a:t>
            </a:r>
          </a:p>
        </p:txBody>
      </p:sp>
      <p:sp>
        <p:nvSpPr>
          <p:cNvPr id="33" name="Rectangle 32">
            <a:extLst>
              <a:ext uri="{FF2B5EF4-FFF2-40B4-BE49-F238E27FC236}">
                <a16:creationId xmlns:a16="http://schemas.microsoft.com/office/drawing/2014/main" id="{F3CC40D7-A018-4264-BD42-B554D89733CB}"/>
              </a:ext>
            </a:extLst>
          </p:cNvPr>
          <p:cNvSpPr/>
          <p:nvPr/>
        </p:nvSpPr>
        <p:spPr>
          <a:xfrm>
            <a:off x="4429126" y="2100256"/>
            <a:ext cx="2087090" cy="357187"/>
          </a:xfrm>
          <a:prstGeom prst="rect">
            <a:avLst/>
          </a:prstGeom>
        </p:spPr>
        <p:style>
          <a:lnRef idx="2">
            <a:schemeClr val="accent6"/>
          </a:lnRef>
          <a:fillRef idx="1">
            <a:schemeClr val="lt1"/>
          </a:fillRef>
          <a:effectRef idx="0">
            <a:schemeClr val="accent6"/>
          </a:effectRef>
          <a:fontRef idx="minor">
            <a:schemeClr val="dk1"/>
          </a:fontRef>
        </p:style>
        <p:txBody>
          <a:bodyPr anchor="ctr"/>
          <a:lstStyle/>
          <a:p>
            <a:pPr algn="ctr" eaLnBrk="1" hangingPunct="1">
              <a:defRPr/>
            </a:pPr>
            <a:r>
              <a:rPr lang="en-US" dirty="0"/>
              <a:t>+accept(Visitor v)</a:t>
            </a:r>
          </a:p>
        </p:txBody>
      </p:sp>
      <p:sp>
        <p:nvSpPr>
          <p:cNvPr id="4" name="Rectangle 3">
            <a:extLst>
              <a:ext uri="{FF2B5EF4-FFF2-40B4-BE49-F238E27FC236}">
                <a16:creationId xmlns:a16="http://schemas.microsoft.com/office/drawing/2014/main" id="{73ECCFED-BA8D-BD7C-030F-57C98249C4E3}"/>
              </a:ext>
            </a:extLst>
          </p:cNvPr>
          <p:cNvSpPr/>
          <p:nvPr/>
        </p:nvSpPr>
        <p:spPr>
          <a:xfrm>
            <a:off x="2950477" y="4772793"/>
            <a:ext cx="2339179" cy="133862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dirty="0">
                <a:solidFill>
                  <a:schemeClr val="tx1"/>
                </a:solidFill>
              </a:rPr>
              <a:t>Visitor</a:t>
            </a:r>
          </a:p>
          <a:p>
            <a:pPr algn="ctr" eaLnBrk="1" hangingPunct="1">
              <a:defRPr/>
            </a:pPr>
            <a:r>
              <a:rPr lang="en-US" dirty="0" err="1">
                <a:solidFill>
                  <a:schemeClr val="tx1"/>
                </a:solidFill>
              </a:rPr>
              <a:t>visitPragraph</a:t>
            </a:r>
            <a:r>
              <a:rPr lang="en-US" dirty="0">
                <a:solidFill>
                  <a:schemeClr val="tx1"/>
                </a:solidFill>
              </a:rPr>
              <a:t>()</a:t>
            </a:r>
          </a:p>
          <a:p>
            <a:pPr algn="ctr" eaLnBrk="1" hangingPunct="1">
              <a:defRPr/>
            </a:pPr>
            <a:r>
              <a:rPr lang="en-US" dirty="0" err="1">
                <a:solidFill>
                  <a:schemeClr val="tx1"/>
                </a:solidFill>
              </a:rPr>
              <a:t>visitSection</a:t>
            </a:r>
            <a:r>
              <a:rPr lang="en-US" dirty="0">
                <a:solidFill>
                  <a:schemeClr val="tx1"/>
                </a:solidFill>
              </a:rPr>
              <a:t>()</a:t>
            </a:r>
          </a:p>
          <a:p>
            <a:pPr algn="ctr" eaLnBrk="1" hangingPunct="1">
              <a:defRPr/>
            </a:pPr>
            <a:r>
              <a:rPr lang="en-US" dirty="0" err="1">
                <a:solidFill>
                  <a:schemeClr val="tx1"/>
                </a:solidFill>
              </a:rPr>
              <a:t>visitChapter</a:t>
            </a:r>
            <a:r>
              <a:rPr lang="en-US" dirty="0">
                <a:solidFill>
                  <a:schemeClr val="tx1"/>
                </a:solidFill>
              </a:rPr>
              <a:t>()</a:t>
            </a:r>
          </a:p>
        </p:txBody>
      </p:sp>
      <p:cxnSp>
        <p:nvCxnSpPr>
          <p:cNvPr id="19" name="Straight Connector 18">
            <a:extLst>
              <a:ext uri="{FF2B5EF4-FFF2-40B4-BE49-F238E27FC236}">
                <a16:creationId xmlns:a16="http://schemas.microsoft.com/office/drawing/2014/main" id="{A6370D75-2EF3-939E-7DE4-99DDD5F07DFC}"/>
              </a:ext>
            </a:extLst>
          </p:cNvPr>
          <p:cNvCxnSpPr>
            <a:cxnSpLocks/>
          </p:cNvCxnSpPr>
          <p:nvPr/>
        </p:nvCxnSpPr>
        <p:spPr>
          <a:xfrm flipH="1">
            <a:off x="2897190" y="5157192"/>
            <a:ext cx="2424904" cy="0"/>
          </a:xfrm>
          <a:prstGeom prst="line">
            <a:avLst/>
          </a:prstGeom>
          <a:ln cmpd="sng">
            <a:solidFill>
              <a:schemeClr val="tx1"/>
            </a:solidFill>
            <a:prstDash val="solid"/>
          </a:ln>
        </p:spPr>
        <p:style>
          <a:lnRef idx="1">
            <a:schemeClr val="accent1"/>
          </a:lnRef>
          <a:fillRef idx="0">
            <a:schemeClr val="accent1"/>
          </a:fillRef>
          <a:effectRef idx="0">
            <a:schemeClr val="accent1"/>
          </a:effectRef>
          <a:fontRef idx="minor">
            <a:schemeClr val="tx1"/>
          </a:fontRef>
        </p:style>
      </p:cxnSp>
      <p:sp>
        <p:nvSpPr>
          <p:cNvPr id="25" name="TextBox 25">
            <a:extLst>
              <a:ext uri="{FF2B5EF4-FFF2-40B4-BE49-F238E27FC236}">
                <a16:creationId xmlns:a16="http://schemas.microsoft.com/office/drawing/2014/main" id="{5A0D068C-C4A1-5032-B25A-BB5352224B6C}"/>
              </a:ext>
            </a:extLst>
          </p:cNvPr>
          <p:cNvSpPr txBox="1">
            <a:spLocks noChangeArrowheads="1"/>
          </p:cNvSpPr>
          <p:nvPr/>
        </p:nvSpPr>
        <p:spPr bwMode="auto">
          <a:xfrm>
            <a:off x="6619859" y="2100256"/>
            <a:ext cx="207832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tr-TR" sz="1800" dirty="0" err="1"/>
              <a:t>v.visitChapter</a:t>
            </a:r>
            <a:r>
              <a:rPr lang="en-US" altLang="tr-TR" sz="1800" dirty="0"/>
              <a:t>(this)</a:t>
            </a:r>
          </a:p>
        </p:txBody>
      </p:sp>
      <p:sp>
        <p:nvSpPr>
          <p:cNvPr id="7" name="Rectangle 6">
            <a:extLst>
              <a:ext uri="{FF2B5EF4-FFF2-40B4-BE49-F238E27FC236}">
                <a16:creationId xmlns:a16="http://schemas.microsoft.com/office/drawing/2014/main" id="{662BCAAA-9D22-EDAE-E8D8-A0696F203C13}"/>
              </a:ext>
            </a:extLst>
          </p:cNvPr>
          <p:cNvSpPr/>
          <p:nvPr/>
        </p:nvSpPr>
        <p:spPr>
          <a:xfrm>
            <a:off x="874320" y="5943145"/>
            <a:ext cx="1603932" cy="53588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dirty="0" err="1">
                <a:solidFill>
                  <a:schemeClr val="tx1"/>
                </a:solidFill>
              </a:rPr>
              <a:t>ToCVisitor</a:t>
            </a:r>
            <a:endParaRPr lang="en-US" dirty="0">
              <a:solidFill>
                <a:schemeClr val="tx1"/>
              </a:solidFill>
            </a:endParaRPr>
          </a:p>
        </p:txBody>
      </p:sp>
      <p:sp>
        <p:nvSpPr>
          <p:cNvPr id="8" name="Rectangle 7">
            <a:extLst>
              <a:ext uri="{FF2B5EF4-FFF2-40B4-BE49-F238E27FC236}">
                <a16:creationId xmlns:a16="http://schemas.microsoft.com/office/drawing/2014/main" id="{FF4948AA-FE8A-181A-18A1-15C607DE530C}"/>
              </a:ext>
            </a:extLst>
          </p:cNvPr>
          <p:cNvSpPr/>
          <p:nvPr/>
        </p:nvSpPr>
        <p:spPr>
          <a:xfrm>
            <a:off x="5930502" y="5943145"/>
            <a:ext cx="2339178" cy="53588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dirty="0" err="1">
                <a:solidFill>
                  <a:schemeClr val="tx1"/>
                </a:solidFill>
              </a:rPr>
              <a:t>WordCountVisitor</a:t>
            </a:r>
            <a:endParaRPr lang="en-US" dirty="0">
              <a:solidFill>
                <a:schemeClr val="tx1"/>
              </a:solidFill>
            </a:endParaRPr>
          </a:p>
        </p:txBody>
      </p:sp>
      <p:sp>
        <p:nvSpPr>
          <p:cNvPr id="16" name="Isosceles Triangle 15">
            <a:extLst>
              <a:ext uri="{FF2B5EF4-FFF2-40B4-BE49-F238E27FC236}">
                <a16:creationId xmlns:a16="http://schemas.microsoft.com/office/drawing/2014/main" id="{830B7FB8-AA6D-8856-5F62-B1F75C3A22E2}"/>
              </a:ext>
            </a:extLst>
          </p:cNvPr>
          <p:cNvSpPr/>
          <p:nvPr/>
        </p:nvSpPr>
        <p:spPr bwMode="auto">
          <a:xfrm>
            <a:off x="3923928" y="6111420"/>
            <a:ext cx="216024" cy="197899"/>
          </a:xfrm>
          <a:prstGeom prst="triangle">
            <a:avLst/>
          </a:prstGeom>
          <a:solidFill>
            <a:schemeClr val="accent1"/>
          </a:solidFill>
          <a:ln w="9525" cap="flat" cmpd="sng" algn="ctr">
            <a:solidFill>
              <a:schemeClr val="tx1"/>
            </a:solid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cxnSp>
        <p:nvCxnSpPr>
          <p:cNvPr id="35" name="Connector: Elbow 34">
            <a:extLst>
              <a:ext uri="{FF2B5EF4-FFF2-40B4-BE49-F238E27FC236}">
                <a16:creationId xmlns:a16="http://schemas.microsoft.com/office/drawing/2014/main" id="{FF777CDC-3C1E-4791-52B9-DA545C57F1E7}"/>
              </a:ext>
            </a:extLst>
          </p:cNvPr>
          <p:cNvCxnSpPr>
            <a:cxnSpLocks/>
            <a:stCxn id="16" idx="3"/>
            <a:endCxn id="7" idx="0"/>
          </p:cNvCxnSpPr>
          <p:nvPr/>
        </p:nvCxnSpPr>
        <p:spPr bwMode="auto">
          <a:xfrm rot="5400000" flipH="1">
            <a:off x="2671026" y="4948405"/>
            <a:ext cx="366174" cy="2355654"/>
          </a:xfrm>
          <a:prstGeom prst="bentConnector5">
            <a:avLst>
              <a:gd name="adj1" fmla="val -62429"/>
              <a:gd name="adj2" fmla="val 59935"/>
              <a:gd name="adj3" fmla="val 162429"/>
            </a:avLst>
          </a:prstGeom>
          <a:solidFill>
            <a:schemeClr val="accent1"/>
          </a:solidFill>
          <a:ln w="9525" cap="flat" cmpd="sng" algn="ctr">
            <a:solidFill>
              <a:schemeClr val="tx1"/>
            </a:solidFill>
            <a:prstDash val="solid"/>
            <a:round/>
            <a:headEnd type="none" w="med" len="med"/>
            <a:tailEnd type="none" w="med" len="med"/>
          </a:ln>
          <a:effectLst/>
        </p:spPr>
      </p:cxnSp>
      <p:cxnSp>
        <p:nvCxnSpPr>
          <p:cNvPr id="36" name="Connector: Elbow 35">
            <a:extLst>
              <a:ext uri="{FF2B5EF4-FFF2-40B4-BE49-F238E27FC236}">
                <a16:creationId xmlns:a16="http://schemas.microsoft.com/office/drawing/2014/main" id="{606DC60E-BACC-E1B2-A07B-69EE4C0D3945}"/>
              </a:ext>
            </a:extLst>
          </p:cNvPr>
          <p:cNvCxnSpPr>
            <a:cxnSpLocks/>
            <a:stCxn id="16" idx="3"/>
            <a:endCxn id="8" idx="0"/>
          </p:cNvCxnSpPr>
          <p:nvPr/>
        </p:nvCxnSpPr>
        <p:spPr bwMode="auto">
          <a:xfrm rot="5400000" flipH="1" flipV="1">
            <a:off x="5382928" y="4592156"/>
            <a:ext cx="366174" cy="3068151"/>
          </a:xfrm>
          <a:prstGeom prst="bentConnector5">
            <a:avLst>
              <a:gd name="adj1" fmla="val -62429"/>
              <a:gd name="adj2" fmla="val 52879"/>
              <a:gd name="adj3" fmla="val 162429"/>
            </a:avLst>
          </a:prstGeom>
          <a:solidFill>
            <a:schemeClr val="accent1"/>
          </a:solidFill>
          <a:ln w="9525" cap="flat" cmpd="sng" algn="ctr">
            <a:solidFill>
              <a:schemeClr val="tx1"/>
            </a:solidFill>
            <a:prstDash val="solid"/>
            <a:round/>
            <a:headEnd type="none" w="med" len="med"/>
            <a:tailEnd type="none" w="med" len="med"/>
          </a:ln>
          <a:effectLst/>
        </p:spPr>
      </p:cxnSp>
    </p:spTree>
    <p:extLst>
      <p:ext uri="{BB962C8B-B14F-4D97-AF65-F5344CB8AC3E}">
        <p14:creationId xmlns:p14="http://schemas.microsoft.com/office/powerpoint/2010/main" val="343564051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8C7A74E8-0319-1229-3F92-65C460A7C231}"/>
              </a:ext>
            </a:extLst>
          </p:cNvPr>
          <p:cNvSpPr>
            <a:spLocks noGrp="1" noChangeArrowheads="1"/>
          </p:cNvSpPr>
          <p:nvPr>
            <p:ph type="title"/>
          </p:nvPr>
        </p:nvSpPr>
        <p:spPr/>
        <p:txBody>
          <a:bodyPr/>
          <a:lstStyle/>
          <a:p>
            <a:pPr eaLnBrk="1" hangingPunct="1"/>
            <a:r>
              <a:rPr lang="en-US" altLang="tr-TR" dirty="0"/>
              <a:t>Visitor Solution </a:t>
            </a:r>
          </a:p>
        </p:txBody>
      </p:sp>
      <p:sp>
        <p:nvSpPr>
          <p:cNvPr id="6147" name="Rectangle 3">
            <a:extLst>
              <a:ext uri="{FF2B5EF4-FFF2-40B4-BE49-F238E27FC236}">
                <a16:creationId xmlns:a16="http://schemas.microsoft.com/office/drawing/2014/main" id="{A14D190B-56E3-D81A-9E8B-E504C707E616}"/>
              </a:ext>
            </a:extLst>
          </p:cNvPr>
          <p:cNvSpPr>
            <a:spLocks noGrp="1" noChangeArrowheads="1"/>
          </p:cNvSpPr>
          <p:nvPr>
            <p:ph idx="1"/>
          </p:nvPr>
        </p:nvSpPr>
        <p:spPr/>
        <p:txBody>
          <a:bodyPr/>
          <a:lstStyle/>
          <a:p>
            <a:pPr lvl="1" eaLnBrk="1" hangingPunct="1">
              <a:lnSpc>
                <a:spcPct val="110000"/>
              </a:lnSpc>
              <a:spcBef>
                <a:spcPts val="600"/>
              </a:spcBef>
            </a:pPr>
            <a:r>
              <a:rPr lang="en-US" altLang="tr-TR" sz="2400" dirty="0"/>
              <a:t>Gather related operations from each class in a separate object </a:t>
            </a:r>
          </a:p>
          <a:p>
            <a:pPr lvl="2" eaLnBrk="1" hangingPunct="1">
              <a:lnSpc>
                <a:spcPct val="110000"/>
              </a:lnSpc>
              <a:spcBef>
                <a:spcPts val="600"/>
              </a:spcBef>
            </a:pPr>
            <a:r>
              <a:rPr lang="en-US" altLang="tr-TR" sz="2000" dirty="0"/>
              <a:t>Gather all the </a:t>
            </a:r>
            <a:r>
              <a:rPr lang="en-US" altLang="tr-TR" sz="2000" dirty="0" err="1"/>
              <a:t>createTOC</a:t>
            </a:r>
            <a:r>
              <a:rPr lang="en-US" altLang="tr-TR" sz="2000" dirty="0"/>
              <a:t> methods in an object</a:t>
            </a:r>
          </a:p>
          <a:p>
            <a:pPr lvl="2" eaLnBrk="1" hangingPunct="1">
              <a:lnSpc>
                <a:spcPct val="110000"/>
              </a:lnSpc>
              <a:spcBef>
                <a:spcPts val="600"/>
              </a:spcBef>
            </a:pPr>
            <a:r>
              <a:rPr lang="en-US" altLang="tr-TR" sz="2000" dirty="0"/>
              <a:t>In other words, put all the TOC collecting logic into a separate class (</a:t>
            </a:r>
            <a:r>
              <a:rPr lang="en-US" altLang="tr-TR" sz="2000" dirty="0" err="1"/>
              <a:t>TOCvisitor</a:t>
            </a:r>
            <a:r>
              <a:rPr lang="en-US" altLang="tr-TR" sz="2000" dirty="0"/>
              <a:t>)</a:t>
            </a:r>
            <a:endParaRPr lang="en-US" altLang="tr-TR" sz="2400" dirty="0"/>
          </a:p>
          <a:p>
            <a:pPr lvl="1" eaLnBrk="1" hangingPunct="1">
              <a:lnSpc>
                <a:spcPct val="110000"/>
              </a:lnSpc>
              <a:spcBef>
                <a:spcPts val="600"/>
              </a:spcBef>
            </a:pPr>
            <a:r>
              <a:rPr lang="en-US" altLang="tr-TR" sz="2400" dirty="0"/>
              <a:t>The elements provide a method accepting visitor v that redirect v to the correct visit method </a:t>
            </a:r>
          </a:p>
          <a:p>
            <a:pPr lvl="1">
              <a:lnSpc>
                <a:spcPct val="110000"/>
              </a:lnSpc>
              <a:spcBef>
                <a:spcPts val="600"/>
              </a:spcBef>
            </a:pPr>
            <a:r>
              <a:rPr lang="en-US" altLang="tr-TR" sz="2400" dirty="0"/>
              <a:t>Traverse the elements bringing </a:t>
            </a:r>
            <a:r>
              <a:rPr lang="en-US" altLang="tr-TR" sz="2400" dirty="0" err="1"/>
              <a:t>TOCVisitor</a:t>
            </a:r>
            <a:r>
              <a:rPr lang="en-US" altLang="tr-TR" sz="2400" dirty="0"/>
              <a:t> along with you </a:t>
            </a:r>
          </a:p>
          <a:p>
            <a:pPr eaLnBrk="1" hangingPunct="1">
              <a:lnSpc>
                <a:spcPct val="110000"/>
              </a:lnSpc>
              <a:spcBef>
                <a:spcPts val="600"/>
              </a:spcBef>
            </a:pPr>
            <a:r>
              <a:rPr lang="en-US" altLang="tr-TR" sz="2800" dirty="0"/>
              <a:t>When a new operation is needed, only write a new visitor for that operation.</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a:extLst>
              <a:ext uri="{FF2B5EF4-FFF2-40B4-BE49-F238E27FC236}">
                <a16:creationId xmlns:a16="http://schemas.microsoft.com/office/drawing/2014/main" id="{621AE841-378E-A568-0BEF-B1C2E2F5F8C4}"/>
              </a:ext>
            </a:extLst>
          </p:cNvPr>
          <p:cNvSpPr>
            <a:spLocks noGrp="1" noChangeArrowheads="1"/>
          </p:cNvSpPr>
          <p:nvPr>
            <p:ph type="title"/>
          </p:nvPr>
        </p:nvSpPr>
        <p:spPr/>
        <p:txBody>
          <a:bodyPr/>
          <a:lstStyle/>
          <a:p>
            <a:pPr eaLnBrk="1" hangingPunct="1"/>
            <a:r>
              <a:rPr lang="en-US" altLang="tr-TR"/>
              <a:t>Visitor</a:t>
            </a:r>
          </a:p>
        </p:txBody>
      </p:sp>
      <p:sp>
        <p:nvSpPr>
          <p:cNvPr id="8195" name="Content Placeholder 2">
            <a:extLst>
              <a:ext uri="{FF2B5EF4-FFF2-40B4-BE49-F238E27FC236}">
                <a16:creationId xmlns:a16="http://schemas.microsoft.com/office/drawing/2014/main" id="{6FFC3942-7BD5-734B-766B-A65C6CD7053B}"/>
              </a:ext>
            </a:extLst>
          </p:cNvPr>
          <p:cNvSpPr>
            <a:spLocks noGrp="1" noChangeArrowheads="1"/>
          </p:cNvSpPr>
          <p:nvPr>
            <p:ph idx="1"/>
          </p:nvPr>
        </p:nvSpPr>
        <p:spPr/>
        <p:txBody>
          <a:bodyPr/>
          <a:lstStyle/>
          <a:p>
            <a:pPr eaLnBrk="1" hangingPunct="1">
              <a:lnSpc>
                <a:spcPct val="110000"/>
              </a:lnSpc>
              <a:spcBef>
                <a:spcPts val="600"/>
              </a:spcBef>
            </a:pPr>
            <a:r>
              <a:rPr lang="en-US" altLang="tr-TR" b="1" dirty="0"/>
              <a:t>Intent</a:t>
            </a:r>
            <a:r>
              <a:rPr lang="en-US" altLang="tr-TR" dirty="0"/>
              <a:t>:</a:t>
            </a:r>
          </a:p>
          <a:p>
            <a:pPr lvl="1" eaLnBrk="1" hangingPunct="1">
              <a:lnSpc>
                <a:spcPct val="110000"/>
              </a:lnSpc>
              <a:spcBef>
                <a:spcPts val="600"/>
              </a:spcBef>
            </a:pPr>
            <a:r>
              <a:rPr lang="en-US" altLang="tr-TR" dirty="0"/>
              <a:t> Represent an operation to be performed on the elements of an object structure. </a:t>
            </a:r>
          </a:p>
          <a:p>
            <a:pPr lvl="1" eaLnBrk="1" hangingPunct="1">
              <a:lnSpc>
                <a:spcPct val="110000"/>
              </a:lnSpc>
              <a:spcBef>
                <a:spcPts val="600"/>
              </a:spcBef>
            </a:pPr>
            <a:r>
              <a:rPr lang="en-US" altLang="tr-TR" dirty="0"/>
              <a:t>Visitor lets you define new operation without changing the classes the elements.</a:t>
            </a:r>
          </a:p>
          <a:p>
            <a:pPr lvl="1" eaLnBrk="1" hangingPunct="1">
              <a:lnSpc>
                <a:spcPct val="110000"/>
              </a:lnSpc>
              <a:spcBef>
                <a:spcPts val="600"/>
              </a:spcBef>
            </a:pPr>
            <a:endParaRPr lang="en-US" altLang="tr-TR" dirty="0"/>
          </a:p>
          <a:p>
            <a:pPr>
              <a:lnSpc>
                <a:spcPct val="110000"/>
              </a:lnSpc>
              <a:spcBef>
                <a:spcPts val="600"/>
              </a:spcBef>
            </a:pPr>
            <a:r>
              <a:rPr lang="en-US" sz="2800" b="0" i="0" dirty="0">
                <a:solidFill>
                  <a:srgbClr val="111111"/>
                </a:solidFill>
                <a:effectLst/>
                <a:latin typeface="-apple-system"/>
              </a:rPr>
              <a:t>Allows adding further operations to objects without modifying them.</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a:extLst>
              <a:ext uri="{FF2B5EF4-FFF2-40B4-BE49-F238E27FC236}">
                <a16:creationId xmlns:a16="http://schemas.microsoft.com/office/drawing/2014/main" id="{621AE841-378E-A568-0BEF-B1C2E2F5F8C4}"/>
              </a:ext>
            </a:extLst>
          </p:cNvPr>
          <p:cNvSpPr>
            <a:spLocks noGrp="1" noChangeArrowheads="1"/>
          </p:cNvSpPr>
          <p:nvPr>
            <p:ph type="title"/>
          </p:nvPr>
        </p:nvSpPr>
        <p:spPr/>
        <p:txBody>
          <a:bodyPr/>
          <a:lstStyle/>
          <a:p>
            <a:pPr eaLnBrk="1" hangingPunct="1"/>
            <a:r>
              <a:rPr lang="en-US" altLang="tr-TR"/>
              <a:t>Visitor</a:t>
            </a:r>
          </a:p>
        </p:txBody>
      </p:sp>
      <p:sp>
        <p:nvSpPr>
          <p:cNvPr id="8195" name="Content Placeholder 2">
            <a:extLst>
              <a:ext uri="{FF2B5EF4-FFF2-40B4-BE49-F238E27FC236}">
                <a16:creationId xmlns:a16="http://schemas.microsoft.com/office/drawing/2014/main" id="{6FFC3942-7BD5-734B-766B-A65C6CD7053B}"/>
              </a:ext>
            </a:extLst>
          </p:cNvPr>
          <p:cNvSpPr>
            <a:spLocks noGrp="1" noChangeArrowheads="1"/>
          </p:cNvSpPr>
          <p:nvPr>
            <p:ph idx="1"/>
          </p:nvPr>
        </p:nvSpPr>
        <p:spPr>
          <a:xfrm>
            <a:off x="323528" y="1268760"/>
            <a:ext cx="8712968" cy="4532109"/>
          </a:xfrm>
        </p:spPr>
        <p:txBody>
          <a:bodyPr/>
          <a:lstStyle/>
          <a:p>
            <a:pPr eaLnBrk="1" hangingPunct="1">
              <a:spcBef>
                <a:spcPts val="600"/>
              </a:spcBef>
            </a:pPr>
            <a:r>
              <a:rPr lang="en-US" altLang="tr-TR" sz="2800" b="1" dirty="0"/>
              <a:t>Intent</a:t>
            </a:r>
            <a:r>
              <a:rPr lang="en-US" altLang="tr-TR" sz="2800" dirty="0"/>
              <a:t>:</a:t>
            </a:r>
          </a:p>
          <a:p>
            <a:pPr lvl="1" eaLnBrk="1" hangingPunct="1">
              <a:spcBef>
                <a:spcPts val="600"/>
              </a:spcBef>
            </a:pPr>
            <a:r>
              <a:rPr lang="en-US" altLang="tr-TR" sz="2000" dirty="0"/>
              <a:t> Represent an operation to be performed on the elements of an object structure. Visitor lets you define new operation without changing the classes the elements.</a:t>
            </a:r>
          </a:p>
          <a:p>
            <a:pPr eaLnBrk="1" hangingPunct="1">
              <a:lnSpc>
                <a:spcPct val="110000"/>
              </a:lnSpc>
              <a:spcBef>
                <a:spcPts val="600"/>
              </a:spcBef>
            </a:pPr>
            <a:r>
              <a:rPr lang="en-US" altLang="tr-TR" b="1" dirty="0"/>
              <a:t>Applicability</a:t>
            </a:r>
            <a:r>
              <a:rPr lang="en-US" altLang="tr-TR" dirty="0"/>
              <a:t>: When..</a:t>
            </a:r>
          </a:p>
          <a:p>
            <a:pPr lvl="1" eaLnBrk="1" hangingPunct="1">
              <a:lnSpc>
                <a:spcPct val="110000"/>
              </a:lnSpc>
              <a:spcBef>
                <a:spcPts val="600"/>
              </a:spcBef>
            </a:pPr>
            <a:r>
              <a:rPr lang="en-US" altLang="tr-TR" dirty="0"/>
              <a:t>Object structure has many classes with different interfaces</a:t>
            </a:r>
          </a:p>
          <a:p>
            <a:pPr lvl="1" eaLnBrk="1" hangingPunct="1">
              <a:lnSpc>
                <a:spcPct val="110000"/>
              </a:lnSpc>
              <a:spcBef>
                <a:spcPts val="600"/>
              </a:spcBef>
            </a:pPr>
            <a:r>
              <a:rPr lang="en-US" altLang="tr-TR" dirty="0"/>
              <a:t>Don’t want to pollute with many unrelated operations – ISP and SRP</a:t>
            </a:r>
          </a:p>
          <a:p>
            <a:pPr lvl="1" eaLnBrk="1" hangingPunct="1">
              <a:lnSpc>
                <a:spcPct val="110000"/>
              </a:lnSpc>
              <a:spcBef>
                <a:spcPts val="600"/>
              </a:spcBef>
            </a:pPr>
            <a:r>
              <a:rPr lang="en-US" altLang="tr-TR" dirty="0"/>
              <a:t>Classes defining the object structure rarely change but you want to add new operations.</a:t>
            </a:r>
          </a:p>
          <a:p>
            <a:pPr lvl="2">
              <a:lnSpc>
                <a:spcPct val="110000"/>
              </a:lnSpc>
              <a:spcBef>
                <a:spcPts val="600"/>
              </a:spcBef>
            </a:pPr>
            <a:r>
              <a:rPr lang="en-US" altLang="tr-TR" dirty="0"/>
              <a:t>You may not be allowed to change </a:t>
            </a:r>
          </a:p>
        </p:txBody>
      </p:sp>
    </p:spTree>
    <p:extLst>
      <p:ext uri="{BB962C8B-B14F-4D97-AF65-F5344CB8AC3E}">
        <p14:creationId xmlns:p14="http://schemas.microsoft.com/office/powerpoint/2010/main" val="161983760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a:extLst>
              <a:ext uri="{FF2B5EF4-FFF2-40B4-BE49-F238E27FC236}">
                <a16:creationId xmlns:a16="http://schemas.microsoft.com/office/drawing/2014/main" id="{ECF48EC3-D3A0-0BB3-D752-17CAEC72F7A6}"/>
              </a:ext>
            </a:extLst>
          </p:cNvPr>
          <p:cNvSpPr>
            <a:spLocks noGrp="1" noChangeArrowheads="1"/>
          </p:cNvSpPr>
          <p:nvPr>
            <p:ph type="title"/>
          </p:nvPr>
        </p:nvSpPr>
        <p:spPr/>
        <p:txBody>
          <a:bodyPr/>
          <a:lstStyle/>
          <a:p>
            <a:r>
              <a:rPr lang="en-US" altLang="en-US"/>
              <a:t>Visitor – not using overloading</a:t>
            </a:r>
            <a:endParaRPr lang="tr-TR" altLang="en-US"/>
          </a:p>
        </p:txBody>
      </p:sp>
      <p:pic>
        <p:nvPicPr>
          <p:cNvPr id="11267" name="Picture 2" descr="Visitor Structure">
            <a:extLst>
              <a:ext uri="{FF2B5EF4-FFF2-40B4-BE49-F238E27FC236}">
                <a16:creationId xmlns:a16="http://schemas.microsoft.com/office/drawing/2014/main" id="{2448437D-3478-2CE8-4429-321E96EA9A1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51917" y="1124744"/>
            <a:ext cx="6840165" cy="5376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a:extLst>
              <a:ext uri="{FF2B5EF4-FFF2-40B4-BE49-F238E27FC236}">
                <a16:creationId xmlns:a16="http://schemas.microsoft.com/office/drawing/2014/main" id="{394BBC1F-DF4D-78A7-CE0F-8BFBD40571EF}"/>
              </a:ext>
            </a:extLst>
          </p:cNvPr>
          <p:cNvSpPr>
            <a:spLocks noGrp="1" noChangeArrowheads="1"/>
          </p:cNvSpPr>
          <p:nvPr>
            <p:ph type="title"/>
          </p:nvPr>
        </p:nvSpPr>
        <p:spPr/>
        <p:txBody>
          <a:bodyPr/>
          <a:lstStyle/>
          <a:p>
            <a:r>
              <a:rPr lang="en-US" altLang="en-US" dirty="0"/>
              <a:t>Visitor structure (</a:t>
            </a:r>
            <a:r>
              <a:rPr lang="en-US" altLang="en-US" sz="3600" dirty="0"/>
              <a:t>overload visit)</a:t>
            </a:r>
            <a:endParaRPr lang="tr-TR" altLang="en-US" dirty="0"/>
          </a:p>
        </p:txBody>
      </p:sp>
      <p:pic>
        <p:nvPicPr>
          <p:cNvPr id="10243" name="Picture 2" descr="http://www.eli.sdsu.edu/courses/spring98/cs635/notes/visitor/overloading.gif">
            <a:extLst>
              <a:ext uri="{FF2B5EF4-FFF2-40B4-BE49-F238E27FC236}">
                <a16:creationId xmlns:a16="http://schemas.microsoft.com/office/drawing/2014/main" id="{0CA3D61D-6AC4-81B0-8090-ACED356A8D2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552" y="1268760"/>
            <a:ext cx="7771705" cy="49128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4" name="TextBox 2">
            <a:extLst>
              <a:ext uri="{FF2B5EF4-FFF2-40B4-BE49-F238E27FC236}">
                <a16:creationId xmlns:a16="http://schemas.microsoft.com/office/drawing/2014/main" id="{4615713A-976A-591F-BA98-2A81857242F6}"/>
              </a:ext>
            </a:extLst>
          </p:cNvPr>
          <p:cNvSpPr txBox="1">
            <a:spLocks noChangeArrowheads="1"/>
          </p:cNvSpPr>
          <p:nvPr/>
        </p:nvSpPr>
        <p:spPr bwMode="auto">
          <a:xfrm>
            <a:off x="395288" y="6381750"/>
            <a:ext cx="20320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1800"/>
              <a:t>Using overloading</a:t>
            </a:r>
            <a:endParaRPr lang="tr-TR" altLang="en-US" sz="180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73EC5C-7B66-A3E5-AF48-ADBCE04371CA}"/>
              </a:ext>
            </a:extLst>
          </p:cNvPr>
          <p:cNvSpPr>
            <a:spLocks noGrp="1"/>
          </p:cNvSpPr>
          <p:nvPr>
            <p:ph type="title"/>
          </p:nvPr>
        </p:nvSpPr>
        <p:spPr/>
        <p:txBody>
          <a:bodyPr/>
          <a:lstStyle/>
          <a:p>
            <a:r>
              <a:rPr lang="en-US" dirty="0"/>
              <a:t>Visitor  - Collaborations</a:t>
            </a:r>
          </a:p>
        </p:txBody>
      </p:sp>
      <p:sp>
        <p:nvSpPr>
          <p:cNvPr id="3" name="Content Placeholder 2">
            <a:extLst>
              <a:ext uri="{FF2B5EF4-FFF2-40B4-BE49-F238E27FC236}">
                <a16:creationId xmlns:a16="http://schemas.microsoft.com/office/drawing/2014/main" id="{BB1BE663-7CA6-C7D9-0878-AFFF1C016927}"/>
              </a:ext>
            </a:extLst>
          </p:cNvPr>
          <p:cNvSpPr>
            <a:spLocks noGrp="1"/>
          </p:cNvSpPr>
          <p:nvPr>
            <p:ph idx="1"/>
          </p:nvPr>
        </p:nvSpPr>
        <p:spPr>
          <a:xfrm>
            <a:off x="457200" y="1335291"/>
            <a:ext cx="8363272" cy="4532109"/>
          </a:xfrm>
        </p:spPr>
        <p:txBody>
          <a:bodyPr/>
          <a:lstStyle/>
          <a:p>
            <a:r>
              <a:rPr lang="en-US" sz="2800" dirty="0"/>
              <a:t>We have visitor that collects </a:t>
            </a:r>
            <a:r>
              <a:rPr lang="en-US" sz="2800" dirty="0" err="1"/>
              <a:t>ToC</a:t>
            </a:r>
            <a:r>
              <a:rPr lang="en-US" sz="2800" dirty="0"/>
              <a:t> information from chapter, section, paragraph</a:t>
            </a:r>
          </a:p>
          <a:p>
            <a:pPr lvl="1"/>
            <a:r>
              <a:rPr lang="en-US" sz="2400" dirty="0">
                <a:latin typeface="Consolas" panose="020B0609020204030204" pitchFamily="49" charset="0"/>
              </a:rPr>
              <a:t>visit</a:t>
            </a:r>
            <a:r>
              <a:rPr lang="en-US" sz="2400" dirty="0"/>
              <a:t>(Chapter c), </a:t>
            </a:r>
            <a:r>
              <a:rPr lang="en-US" sz="2400" dirty="0">
                <a:latin typeface="Consolas" panose="020B0609020204030204" pitchFamily="49" charset="0"/>
              </a:rPr>
              <a:t>visit</a:t>
            </a:r>
            <a:r>
              <a:rPr lang="en-US" sz="2400" dirty="0"/>
              <a:t>(Section), </a:t>
            </a:r>
            <a:r>
              <a:rPr lang="en-US" sz="2400" dirty="0">
                <a:latin typeface="Consolas" panose="020B0609020204030204" pitchFamily="49" charset="0"/>
              </a:rPr>
              <a:t>visit</a:t>
            </a:r>
            <a:r>
              <a:rPr lang="en-US" sz="2400" dirty="0"/>
              <a:t>(Paragraph)</a:t>
            </a:r>
          </a:p>
          <a:p>
            <a:pPr lvl="1"/>
            <a:r>
              <a:rPr lang="en-US" sz="2400" dirty="0"/>
              <a:t>They access object’s data </a:t>
            </a:r>
            <a:r>
              <a:rPr lang="en-US" sz="2400" dirty="0">
                <a:latin typeface="Consolas" panose="020B0609020204030204" pitchFamily="49" charset="0"/>
              </a:rPr>
              <a:t>c-&gt;</a:t>
            </a:r>
            <a:r>
              <a:rPr lang="en-US" sz="2400" dirty="0" err="1">
                <a:latin typeface="Consolas" panose="020B0609020204030204" pitchFamily="49" charset="0"/>
              </a:rPr>
              <a:t>getTitle</a:t>
            </a:r>
            <a:r>
              <a:rPr lang="en-US" sz="2400" dirty="0"/>
              <a:t>();</a:t>
            </a:r>
          </a:p>
          <a:p>
            <a:r>
              <a:rPr lang="en-US" sz="2800" dirty="0"/>
              <a:t>We have object structure that chooses the right visit method when receiving a visitor</a:t>
            </a:r>
          </a:p>
          <a:p>
            <a:pPr lvl="1">
              <a:spcAft>
                <a:spcPts val="1200"/>
              </a:spcAft>
            </a:pPr>
            <a:r>
              <a:rPr lang="en-US" sz="2400" dirty="0">
                <a:solidFill>
                  <a:srgbClr val="0070C0"/>
                </a:solidFill>
                <a:latin typeface="Consolas" panose="020B0609020204030204" pitchFamily="49" charset="0"/>
              </a:rPr>
              <a:t>accept(Visitor&amp; v){ </a:t>
            </a:r>
            <a:r>
              <a:rPr lang="en-US" sz="2400" dirty="0" err="1">
                <a:solidFill>
                  <a:srgbClr val="0070C0"/>
                </a:solidFill>
                <a:latin typeface="Consolas" panose="020B0609020204030204" pitchFamily="49" charset="0"/>
              </a:rPr>
              <a:t>v.visit</a:t>
            </a:r>
            <a:r>
              <a:rPr lang="en-US" sz="2400" dirty="0">
                <a:solidFill>
                  <a:srgbClr val="0070C0"/>
                </a:solidFill>
                <a:latin typeface="Consolas" panose="020B0609020204030204" pitchFamily="49" charset="0"/>
              </a:rPr>
              <a:t>(this);}</a:t>
            </a:r>
          </a:p>
          <a:p>
            <a:r>
              <a:rPr lang="en-US" sz="2800" dirty="0"/>
              <a:t>Need a mechanism for visitor objects to </a:t>
            </a:r>
            <a:r>
              <a:rPr lang="en-US" sz="2800" b="1" dirty="0"/>
              <a:t>traverse</a:t>
            </a:r>
            <a:r>
              <a:rPr lang="en-US" sz="2800" dirty="0"/>
              <a:t> the objects – </a:t>
            </a:r>
            <a:r>
              <a:rPr lang="en-US" sz="2800" u="sng" dirty="0"/>
              <a:t>not yet defined</a:t>
            </a:r>
          </a:p>
          <a:p>
            <a:pPr lvl="1"/>
            <a:r>
              <a:rPr lang="en-US" sz="2400" dirty="0"/>
              <a:t>3 options</a:t>
            </a:r>
          </a:p>
        </p:txBody>
      </p:sp>
    </p:spTree>
    <p:extLst>
      <p:ext uri="{BB962C8B-B14F-4D97-AF65-F5344CB8AC3E}">
        <p14:creationId xmlns:p14="http://schemas.microsoft.com/office/powerpoint/2010/main" val="15893703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2F8246-EED0-87A6-F2B1-01F8A5C2492C}"/>
              </a:ext>
            </a:extLst>
          </p:cNvPr>
          <p:cNvSpPr>
            <a:spLocks noGrp="1"/>
          </p:cNvSpPr>
          <p:nvPr>
            <p:ph type="title"/>
          </p:nvPr>
        </p:nvSpPr>
        <p:spPr/>
        <p:txBody>
          <a:bodyPr/>
          <a:lstStyle/>
          <a:p>
            <a:r>
              <a:rPr lang="en-US" dirty="0"/>
              <a:t>Visitor -Traversals</a:t>
            </a:r>
          </a:p>
        </p:txBody>
      </p:sp>
      <p:sp>
        <p:nvSpPr>
          <p:cNvPr id="3" name="Content Placeholder 2">
            <a:extLst>
              <a:ext uri="{FF2B5EF4-FFF2-40B4-BE49-F238E27FC236}">
                <a16:creationId xmlns:a16="http://schemas.microsoft.com/office/drawing/2014/main" id="{8DB41EF0-E67E-F0D0-666D-5A8D73B34087}"/>
              </a:ext>
            </a:extLst>
          </p:cNvPr>
          <p:cNvSpPr>
            <a:spLocks noGrp="1"/>
          </p:cNvSpPr>
          <p:nvPr>
            <p:ph idx="1"/>
          </p:nvPr>
        </p:nvSpPr>
        <p:spPr/>
        <p:txBody>
          <a:bodyPr/>
          <a:lstStyle/>
          <a:p>
            <a:pPr marL="514350" indent="-514350">
              <a:buFont typeface="+mj-lt"/>
              <a:buAutoNum type="arabicPeriod"/>
            </a:pPr>
            <a:r>
              <a:rPr lang="en-US" dirty="0"/>
              <a:t>Traversing different types of objects </a:t>
            </a:r>
          </a:p>
          <a:p>
            <a:pPr marL="914400" lvl="1" indent="-514350"/>
            <a:r>
              <a:rPr lang="en-US" dirty="0"/>
              <a:t>Some are data structure or collection</a:t>
            </a:r>
          </a:p>
          <a:p>
            <a:pPr marL="400050" lvl="1" indent="0">
              <a:buNone/>
            </a:pPr>
            <a:r>
              <a:rPr lang="en-US" dirty="0">
                <a:latin typeface="Consolas" panose="020B0609020204030204" pitchFamily="49" charset="0"/>
                <a:ea typeface="Source Sans Pro" panose="020B0503030403020204" pitchFamily="34" charset="0"/>
              </a:rPr>
              <a:t>for (Node </a:t>
            </a:r>
            <a:r>
              <a:rPr lang="en-US" dirty="0" err="1">
                <a:latin typeface="Consolas" panose="020B0609020204030204" pitchFamily="49" charset="0"/>
                <a:ea typeface="Source Sans Pro" panose="020B0503030403020204" pitchFamily="34" charset="0"/>
              </a:rPr>
              <a:t>node</a:t>
            </a:r>
            <a:r>
              <a:rPr lang="en-US" dirty="0">
                <a:latin typeface="Consolas" panose="020B0609020204030204" pitchFamily="49" charset="0"/>
                <a:ea typeface="Source Sans Pro" panose="020B0503030403020204" pitchFamily="34" charset="0"/>
              </a:rPr>
              <a:t> : collection) {</a:t>
            </a:r>
          </a:p>
          <a:p>
            <a:pPr marL="400050" lvl="1" indent="0">
              <a:buNone/>
            </a:pPr>
            <a:r>
              <a:rPr lang="en-US" dirty="0">
                <a:latin typeface="Consolas" panose="020B0609020204030204" pitchFamily="49" charset="0"/>
                <a:ea typeface="Source Sans Pro" panose="020B0503030403020204" pitchFamily="34" charset="0"/>
              </a:rPr>
              <a:t>    </a:t>
            </a:r>
            <a:r>
              <a:rPr lang="en-US" dirty="0" err="1">
                <a:solidFill>
                  <a:srgbClr val="0070C0"/>
                </a:solidFill>
                <a:latin typeface="Consolas" panose="020B0609020204030204" pitchFamily="49" charset="0"/>
                <a:ea typeface="Source Sans Pro" panose="020B0503030403020204" pitchFamily="34" charset="0"/>
              </a:rPr>
              <a:t>node.accept</a:t>
            </a:r>
            <a:r>
              <a:rPr lang="en-US" dirty="0">
                <a:solidFill>
                  <a:srgbClr val="0070C0"/>
                </a:solidFill>
                <a:latin typeface="Consolas" panose="020B0609020204030204" pitchFamily="49" charset="0"/>
                <a:ea typeface="Source Sans Pro" panose="020B0503030403020204" pitchFamily="34" charset="0"/>
              </a:rPr>
              <a:t>(visitor</a:t>
            </a:r>
            <a:r>
              <a:rPr lang="en-US" dirty="0">
                <a:latin typeface="Consolas" panose="020B0609020204030204" pitchFamily="49" charset="0"/>
                <a:ea typeface="Source Sans Pro" panose="020B0503030403020204" pitchFamily="34" charset="0"/>
              </a:rPr>
              <a:t>);</a:t>
            </a:r>
          </a:p>
          <a:p>
            <a:pPr marL="400050" lvl="1" indent="0">
              <a:buNone/>
            </a:pPr>
            <a:r>
              <a:rPr lang="en-US" dirty="0">
                <a:latin typeface="Consolas" panose="020B0609020204030204" pitchFamily="49" charset="0"/>
                <a:ea typeface="Source Sans Pro" panose="020B0503030403020204" pitchFamily="34" charset="0"/>
              </a:rPr>
              <a:t>}</a:t>
            </a:r>
          </a:p>
          <a:p>
            <a:pPr marL="1257300" lvl="2" indent="-457200"/>
            <a:r>
              <a:rPr lang="en-US" dirty="0">
                <a:solidFill>
                  <a:srgbClr val="0070C0"/>
                </a:solidFill>
                <a:latin typeface="Consolas" panose="020B0609020204030204" pitchFamily="49" charset="0"/>
                <a:ea typeface="Source Sans Pro" panose="020B0503030403020204" pitchFamily="34" charset="0"/>
              </a:rPr>
              <a:t>Iterator</a:t>
            </a:r>
            <a:r>
              <a:rPr lang="en-US" dirty="0">
                <a:latin typeface="+mj-lt"/>
                <a:ea typeface="Source Sans Pro" panose="020B0503030403020204" pitchFamily="34" charset="0"/>
              </a:rPr>
              <a:t> is very helpful</a:t>
            </a:r>
            <a:endParaRPr lang="en-US" dirty="0">
              <a:latin typeface="Consolas" panose="020B0609020204030204" pitchFamily="49" charset="0"/>
              <a:ea typeface="Source Sans Pro" panose="020B0503030403020204" pitchFamily="34" charset="0"/>
            </a:endParaRPr>
          </a:p>
          <a:p>
            <a:pPr marL="914400" lvl="1" indent="-514350"/>
            <a:r>
              <a:rPr lang="en-US" dirty="0"/>
              <a:t>Some not</a:t>
            </a:r>
          </a:p>
          <a:p>
            <a:pPr marL="400050" lvl="1" indent="0">
              <a:buNone/>
            </a:pPr>
            <a:r>
              <a:rPr lang="en-US" dirty="0">
                <a:latin typeface="Consolas" panose="020B0609020204030204" pitchFamily="49" charset="0"/>
                <a:ea typeface="Source Sans Pro" panose="020B0503030403020204" pitchFamily="34" charset="0"/>
              </a:rPr>
              <a:t>obj1.accept(visitor);</a:t>
            </a:r>
          </a:p>
          <a:p>
            <a:pPr marL="400050" lvl="1" indent="0">
              <a:buNone/>
            </a:pPr>
            <a:r>
              <a:rPr lang="en-US" dirty="0">
                <a:latin typeface="Consolas" panose="020B0609020204030204" pitchFamily="49" charset="0"/>
                <a:ea typeface="Source Sans Pro" panose="020B0503030403020204" pitchFamily="34" charset="0"/>
              </a:rPr>
              <a:t>obj2.accept(visitor);</a:t>
            </a:r>
          </a:p>
          <a:p>
            <a:pPr marL="914400" lvl="1" indent="-514350"/>
            <a:r>
              <a:rPr lang="en-US" u="sng" dirty="0">
                <a:latin typeface="+mj-lt"/>
                <a:ea typeface="Source Sans Pro" panose="020B0503030403020204" pitchFamily="34" charset="0"/>
              </a:rPr>
              <a:t>Neither</a:t>
            </a:r>
            <a:r>
              <a:rPr lang="en-US" dirty="0">
                <a:latin typeface="+mj-lt"/>
                <a:ea typeface="Source Sans Pro" panose="020B0503030403020204" pitchFamily="34" charset="0"/>
              </a:rPr>
              <a:t> visit nor accept method makes the traversal</a:t>
            </a:r>
          </a:p>
          <a:p>
            <a:pPr marL="400050" lvl="1" indent="0">
              <a:buNone/>
            </a:pPr>
            <a:endParaRPr lang="en-US" dirty="0">
              <a:latin typeface="Consolas" panose="020B0609020204030204" pitchFamily="49" charset="0"/>
              <a:ea typeface="Source Sans Pro" panose="020B0503030403020204" pitchFamily="34" charset="0"/>
            </a:endParaRPr>
          </a:p>
          <a:p>
            <a:pPr marL="0" indent="0">
              <a:buNone/>
            </a:pPr>
            <a:endParaRPr lang="en-US" dirty="0"/>
          </a:p>
        </p:txBody>
      </p:sp>
    </p:spTree>
    <p:extLst>
      <p:ext uri="{BB962C8B-B14F-4D97-AF65-F5344CB8AC3E}">
        <p14:creationId xmlns:p14="http://schemas.microsoft.com/office/powerpoint/2010/main" val="26789179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7F5430-1A9F-7D7E-1127-2B7E637921BB}"/>
              </a:ext>
            </a:extLst>
          </p:cNvPr>
          <p:cNvSpPr>
            <a:spLocks noGrp="1"/>
          </p:cNvSpPr>
          <p:nvPr>
            <p:ph type="title"/>
          </p:nvPr>
        </p:nvSpPr>
        <p:spPr/>
        <p:txBody>
          <a:bodyPr/>
          <a:lstStyle/>
          <a:p>
            <a:r>
              <a:rPr lang="en-US" dirty="0"/>
              <a:t>Exercise 1: </a:t>
            </a:r>
          </a:p>
        </p:txBody>
      </p:sp>
      <p:sp>
        <p:nvSpPr>
          <p:cNvPr id="3" name="Content Placeholder 2">
            <a:extLst>
              <a:ext uri="{FF2B5EF4-FFF2-40B4-BE49-F238E27FC236}">
                <a16:creationId xmlns:a16="http://schemas.microsoft.com/office/drawing/2014/main" id="{75097639-4431-5724-A16D-B3E095AAF442}"/>
              </a:ext>
            </a:extLst>
          </p:cNvPr>
          <p:cNvSpPr>
            <a:spLocks noGrp="1"/>
          </p:cNvSpPr>
          <p:nvPr>
            <p:ph idx="1"/>
          </p:nvPr>
        </p:nvSpPr>
        <p:spPr/>
        <p:txBody>
          <a:bodyPr/>
          <a:lstStyle/>
          <a:p>
            <a:r>
              <a:rPr lang="en-US" dirty="0"/>
              <a:t>Asteroid, Spaceship, Alien classes</a:t>
            </a:r>
          </a:p>
          <a:p>
            <a:r>
              <a:rPr lang="en-US" dirty="0"/>
              <a:t>Print names of all</a:t>
            </a:r>
          </a:p>
          <a:p>
            <a:pPr marL="0" indent="0">
              <a:buNone/>
            </a:pPr>
            <a:r>
              <a:rPr lang="en-US" sz="2400" dirty="0">
                <a:latin typeface="Source Sans Pro" panose="020B0503030403020204" pitchFamily="34" charset="0"/>
                <a:ea typeface="Source Sans Pro" panose="020B0503030403020204" pitchFamily="34" charset="0"/>
              </a:rPr>
              <a:t>int main(){      </a:t>
            </a:r>
          </a:p>
          <a:p>
            <a:pPr marL="0" indent="0">
              <a:buNone/>
            </a:pPr>
            <a:r>
              <a:rPr lang="en-US" sz="2400" dirty="0">
                <a:latin typeface="Source Sans Pro" panose="020B0503030403020204" pitchFamily="34" charset="0"/>
                <a:ea typeface="Source Sans Pro" panose="020B0503030403020204" pitchFamily="34" charset="0"/>
              </a:rPr>
              <a:t>     list&lt;Asteroid*&gt;as=</a:t>
            </a:r>
            <a:r>
              <a:rPr lang="en-US" sz="2400" dirty="0" err="1">
                <a:latin typeface="Source Sans Pro" panose="020B0503030403020204" pitchFamily="34" charset="0"/>
                <a:ea typeface="Source Sans Pro" panose="020B0503030403020204" pitchFamily="34" charset="0"/>
              </a:rPr>
              <a:t>Factory.getInstance</a:t>
            </a:r>
            <a:r>
              <a:rPr lang="en-US" sz="2400" dirty="0">
                <a:latin typeface="Source Sans Pro" panose="020B0503030403020204" pitchFamily="34" charset="0"/>
                <a:ea typeface="Source Sans Pro" panose="020B0503030403020204" pitchFamily="34" charset="0"/>
              </a:rPr>
              <a:t>().</a:t>
            </a:r>
            <a:r>
              <a:rPr lang="en-US" sz="2400" dirty="0" err="1">
                <a:latin typeface="Source Sans Pro" panose="020B0503030403020204" pitchFamily="34" charset="0"/>
                <a:ea typeface="Source Sans Pro" panose="020B0503030403020204" pitchFamily="34" charset="0"/>
              </a:rPr>
              <a:t>makeAsteroid</a:t>
            </a:r>
            <a:r>
              <a:rPr lang="en-US" sz="2400" dirty="0">
                <a:latin typeface="Source Sans Pro" panose="020B0503030403020204" pitchFamily="34" charset="0"/>
                <a:ea typeface="Source Sans Pro" panose="020B0503030403020204" pitchFamily="34" charset="0"/>
              </a:rPr>
              <a:t>(10);</a:t>
            </a:r>
          </a:p>
          <a:p>
            <a:pPr marL="0" indent="0">
              <a:buNone/>
            </a:pPr>
            <a:r>
              <a:rPr lang="en-US" sz="2400" dirty="0">
                <a:latin typeface="Source Sans Pro" panose="020B0503030403020204" pitchFamily="34" charset="0"/>
                <a:ea typeface="Source Sans Pro" panose="020B0503030403020204" pitchFamily="34" charset="0"/>
              </a:rPr>
              <a:t>     Spaceship ship; </a:t>
            </a:r>
          </a:p>
          <a:p>
            <a:pPr marL="0" indent="0">
              <a:buNone/>
            </a:pPr>
            <a:r>
              <a:rPr lang="en-US" sz="2400" dirty="0">
                <a:latin typeface="Source Sans Pro" panose="020B0503030403020204" pitchFamily="34" charset="0"/>
                <a:ea typeface="Source Sans Pro" panose="020B0503030403020204" pitchFamily="34" charset="0"/>
              </a:rPr>
              <a:t>     list&lt;Alien*&gt;aliens=</a:t>
            </a:r>
            <a:r>
              <a:rPr lang="en-US" sz="2400" dirty="0" err="1">
                <a:latin typeface="Source Sans Pro" panose="020B0503030403020204" pitchFamily="34" charset="0"/>
                <a:ea typeface="Source Sans Pro" panose="020B0503030403020204" pitchFamily="34" charset="0"/>
              </a:rPr>
              <a:t>Factory.getInstance</a:t>
            </a:r>
            <a:r>
              <a:rPr lang="en-US" sz="2400" dirty="0">
                <a:latin typeface="Source Sans Pro" panose="020B0503030403020204" pitchFamily="34" charset="0"/>
                <a:ea typeface="Source Sans Pro" panose="020B0503030403020204" pitchFamily="34" charset="0"/>
              </a:rPr>
              <a:t>().</a:t>
            </a:r>
            <a:r>
              <a:rPr lang="en-US" sz="2400" dirty="0" err="1">
                <a:latin typeface="Source Sans Pro" panose="020B0503030403020204" pitchFamily="34" charset="0"/>
                <a:ea typeface="Source Sans Pro" panose="020B0503030403020204" pitchFamily="34" charset="0"/>
              </a:rPr>
              <a:t>makeAlien</a:t>
            </a:r>
            <a:r>
              <a:rPr lang="en-US" sz="2400" dirty="0">
                <a:latin typeface="Source Sans Pro" panose="020B0503030403020204" pitchFamily="34" charset="0"/>
                <a:ea typeface="Source Sans Pro" panose="020B0503030403020204" pitchFamily="34" charset="0"/>
              </a:rPr>
              <a:t>(5);</a:t>
            </a:r>
          </a:p>
          <a:p>
            <a:pPr marL="0" indent="0">
              <a:buNone/>
            </a:pPr>
            <a:r>
              <a:rPr lang="en-US" sz="2400" dirty="0">
                <a:latin typeface="Source Sans Pro" panose="020B0503030403020204" pitchFamily="34" charset="0"/>
                <a:ea typeface="Source Sans Pro" panose="020B0503030403020204" pitchFamily="34" charset="0"/>
              </a:rPr>
              <a:t>     Visitor* visitor=new </a:t>
            </a:r>
            <a:r>
              <a:rPr lang="en-US" sz="2400" dirty="0" err="1">
                <a:latin typeface="Source Sans Pro" panose="020B0503030403020204" pitchFamily="34" charset="0"/>
                <a:ea typeface="Source Sans Pro" panose="020B0503030403020204" pitchFamily="34" charset="0"/>
              </a:rPr>
              <a:t>PrintVisitor</a:t>
            </a:r>
            <a:r>
              <a:rPr lang="en-US" sz="2400" dirty="0">
                <a:latin typeface="Source Sans Pro" panose="020B0503030403020204" pitchFamily="34" charset="0"/>
                <a:ea typeface="Source Sans Pro" panose="020B0503030403020204" pitchFamily="34" charset="0"/>
              </a:rPr>
              <a:t>();</a:t>
            </a:r>
          </a:p>
          <a:p>
            <a:pPr marL="0" indent="0">
              <a:buNone/>
            </a:pPr>
            <a:r>
              <a:rPr lang="en-US" sz="2400" dirty="0">
                <a:latin typeface="Source Sans Pro" panose="020B0503030403020204" pitchFamily="34" charset="0"/>
                <a:ea typeface="Source Sans Pro" panose="020B0503030403020204" pitchFamily="34" charset="0"/>
              </a:rPr>
              <a:t>     </a:t>
            </a:r>
            <a:r>
              <a:rPr lang="en-US" sz="2400" dirty="0">
                <a:solidFill>
                  <a:schemeClr val="bg2"/>
                </a:solidFill>
                <a:latin typeface="Source Sans Pro" panose="020B0503030403020204" pitchFamily="34" charset="0"/>
                <a:ea typeface="Source Sans Pro" panose="020B0503030403020204" pitchFamily="34" charset="0"/>
              </a:rPr>
              <a:t>for(auto asteroid: as) asteroid-&gt;</a:t>
            </a:r>
            <a:r>
              <a:rPr lang="en-US" sz="2400" dirty="0">
                <a:solidFill>
                  <a:srgbClr val="0070C0"/>
                </a:solidFill>
                <a:latin typeface="Source Sans Pro" panose="020B0503030403020204" pitchFamily="34" charset="0"/>
                <a:ea typeface="Source Sans Pro" panose="020B0503030403020204" pitchFamily="34" charset="0"/>
              </a:rPr>
              <a:t>accept</a:t>
            </a:r>
            <a:r>
              <a:rPr lang="en-US" sz="2400" dirty="0">
                <a:solidFill>
                  <a:schemeClr val="bg2"/>
                </a:solidFill>
                <a:latin typeface="Source Sans Pro" panose="020B0503030403020204" pitchFamily="34" charset="0"/>
                <a:ea typeface="Source Sans Pro" panose="020B0503030403020204" pitchFamily="34" charset="0"/>
              </a:rPr>
              <a:t>(*visitor);</a:t>
            </a:r>
          </a:p>
          <a:p>
            <a:pPr marL="0" indent="0">
              <a:buNone/>
            </a:pPr>
            <a:r>
              <a:rPr lang="en-US" sz="2400" dirty="0">
                <a:latin typeface="Source Sans Pro" panose="020B0503030403020204" pitchFamily="34" charset="0"/>
                <a:ea typeface="Source Sans Pro" panose="020B0503030403020204" pitchFamily="34" charset="0"/>
              </a:rPr>
              <a:t>     </a:t>
            </a:r>
            <a:r>
              <a:rPr lang="en-US" sz="2400" dirty="0" err="1">
                <a:solidFill>
                  <a:schemeClr val="bg2"/>
                </a:solidFill>
                <a:latin typeface="Source Sans Pro" panose="020B0503030403020204" pitchFamily="34" charset="0"/>
                <a:ea typeface="Source Sans Pro" panose="020B0503030403020204" pitchFamily="34" charset="0"/>
              </a:rPr>
              <a:t>ship.</a:t>
            </a:r>
            <a:r>
              <a:rPr lang="en-US" sz="2400" dirty="0" err="1">
                <a:solidFill>
                  <a:srgbClr val="0070C0"/>
                </a:solidFill>
                <a:latin typeface="Source Sans Pro" panose="020B0503030403020204" pitchFamily="34" charset="0"/>
                <a:ea typeface="Source Sans Pro" panose="020B0503030403020204" pitchFamily="34" charset="0"/>
              </a:rPr>
              <a:t>accept</a:t>
            </a:r>
            <a:r>
              <a:rPr lang="en-US" sz="2400" dirty="0">
                <a:solidFill>
                  <a:schemeClr val="bg2"/>
                </a:solidFill>
                <a:latin typeface="Source Sans Pro" panose="020B0503030403020204" pitchFamily="34" charset="0"/>
                <a:ea typeface="Source Sans Pro" panose="020B0503030403020204" pitchFamily="34" charset="0"/>
              </a:rPr>
              <a:t>(*visitor);</a:t>
            </a:r>
          </a:p>
          <a:p>
            <a:pPr marL="0" indent="0">
              <a:buNone/>
            </a:pPr>
            <a:r>
              <a:rPr lang="en-US" sz="2400" dirty="0">
                <a:solidFill>
                  <a:schemeClr val="bg2"/>
                </a:solidFill>
                <a:latin typeface="Source Sans Pro" panose="020B0503030403020204" pitchFamily="34" charset="0"/>
                <a:ea typeface="Source Sans Pro" panose="020B0503030403020204" pitchFamily="34" charset="0"/>
              </a:rPr>
              <a:t>     for(auto alien: aliens) alien-&gt;</a:t>
            </a:r>
            <a:r>
              <a:rPr lang="en-US" sz="2400" dirty="0">
                <a:solidFill>
                  <a:srgbClr val="0070C0"/>
                </a:solidFill>
                <a:latin typeface="Source Sans Pro" panose="020B0503030403020204" pitchFamily="34" charset="0"/>
                <a:ea typeface="Source Sans Pro" panose="020B0503030403020204" pitchFamily="34" charset="0"/>
              </a:rPr>
              <a:t>accept</a:t>
            </a:r>
            <a:r>
              <a:rPr lang="en-US" sz="2400" dirty="0">
                <a:solidFill>
                  <a:schemeClr val="bg2"/>
                </a:solidFill>
                <a:latin typeface="Source Sans Pro" panose="020B0503030403020204" pitchFamily="34" charset="0"/>
                <a:ea typeface="Source Sans Pro" panose="020B0503030403020204" pitchFamily="34" charset="0"/>
              </a:rPr>
              <a:t>(*visitor);</a:t>
            </a:r>
          </a:p>
          <a:p>
            <a:pPr marL="0" indent="0">
              <a:buNone/>
            </a:pPr>
            <a:r>
              <a:rPr lang="en-US" sz="2400" dirty="0">
                <a:latin typeface="Source Sans Pro" panose="020B0503030403020204" pitchFamily="34" charset="0"/>
                <a:ea typeface="Source Sans Pro" panose="020B0503030403020204" pitchFamily="34" charset="0"/>
              </a:rPr>
              <a:t> }</a:t>
            </a:r>
          </a:p>
        </p:txBody>
      </p:sp>
      <p:sp>
        <p:nvSpPr>
          <p:cNvPr id="4" name="TextBox 3">
            <a:extLst>
              <a:ext uri="{FF2B5EF4-FFF2-40B4-BE49-F238E27FC236}">
                <a16:creationId xmlns:a16="http://schemas.microsoft.com/office/drawing/2014/main" id="{B09CA982-7AF2-85B1-278D-0F5AC54E3529}"/>
              </a:ext>
            </a:extLst>
          </p:cNvPr>
          <p:cNvSpPr txBox="1"/>
          <p:nvPr/>
        </p:nvSpPr>
        <p:spPr>
          <a:xfrm>
            <a:off x="2307371" y="6349516"/>
            <a:ext cx="6353086" cy="369332"/>
          </a:xfrm>
          <a:prstGeom prst="rect">
            <a:avLst/>
          </a:prstGeom>
          <a:noFill/>
        </p:spPr>
        <p:txBody>
          <a:bodyPr wrap="none" rtlCol="0">
            <a:spAutoFit/>
          </a:bodyPr>
          <a:lstStyle/>
          <a:p>
            <a:r>
              <a:rPr lang="en-US" dirty="0"/>
              <a:t>Implement the visitor interface, visit alien,  and Alien::accept</a:t>
            </a:r>
          </a:p>
        </p:txBody>
      </p:sp>
    </p:spTree>
    <p:extLst>
      <p:ext uri="{BB962C8B-B14F-4D97-AF65-F5344CB8AC3E}">
        <p14:creationId xmlns:p14="http://schemas.microsoft.com/office/powerpoint/2010/main" val="402749831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2F8246-EED0-87A6-F2B1-01F8A5C2492C}"/>
              </a:ext>
            </a:extLst>
          </p:cNvPr>
          <p:cNvSpPr>
            <a:spLocks noGrp="1"/>
          </p:cNvSpPr>
          <p:nvPr>
            <p:ph type="title"/>
          </p:nvPr>
        </p:nvSpPr>
        <p:spPr/>
        <p:txBody>
          <a:bodyPr/>
          <a:lstStyle/>
          <a:p>
            <a:r>
              <a:rPr lang="en-US" dirty="0"/>
              <a:t>Visitor -Traversals</a:t>
            </a:r>
          </a:p>
        </p:txBody>
      </p:sp>
      <p:sp>
        <p:nvSpPr>
          <p:cNvPr id="3" name="Content Placeholder 2">
            <a:extLst>
              <a:ext uri="{FF2B5EF4-FFF2-40B4-BE49-F238E27FC236}">
                <a16:creationId xmlns:a16="http://schemas.microsoft.com/office/drawing/2014/main" id="{8DB41EF0-E67E-F0D0-666D-5A8D73B34087}"/>
              </a:ext>
            </a:extLst>
          </p:cNvPr>
          <p:cNvSpPr>
            <a:spLocks noGrp="1"/>
          </p:cNvSpPr>
          <p:nvPr>
            <p:ph idx="1"/>
          </p:nvPr>
        </p:nvSpPr>
        <p:spPr>
          <a:xfrm>
            <a:off x="241176" y="1340768"/>
            <a:ext cx="8795320" cy="4532109"/>
          </a:xfrm>
        </p:spPr>
        <p:txBody>
          <a:bodyPr/>
          <a:lstStyle/>
          <a:p>
            <a:pPr marL="514350" indent="-514350">
              <a:buFont typeface="+mj-lt"/>
              <a:buAutoNum type="arabicPeriod"/>
            </a:pPr>
            <a:r>
              <a:rPr lang="en-US" sz="2400" dirty="0"/>
              <a:t>Traversing different types of objects and collections</a:t>
            </a:r>
          </a:p>
          <a:p>
            <a:pPr marL="0" indent="0">
              <a:buNone/>
            </a:pPr>
            <a:r>
              <a:rPr lang="en-US" sz="2000" dirty="0">
                <a:latin typeface="Consolas" panose="020B0609020204030204" pitchFamily="49" charset="0"/>
                <a:ea typeface="Source Sans Pro" panose="020B0503030403020204" pitchFamily="34" charset="0"/>
              </a:rPr>
              <a:t>   obj1.accept(visitor);</a:t>
            </a:r>
            <a:endParaRPr lang="en-US" sz="2400" dirty="0"/>
          </a:p>
          <a:p>
            <a:pPr marL="400050" lvl="1" indent="0">
              <a:buNone/>
            </a:pPr>
            <a:r>
              <a:rPr lang="en-US" sz="2000" dirty="0">
                <a:latin typeface="Consolas" panose="020B0609020204030204" pitchFamily="49" charset="0"/>
                <a:ea typeface="Source Sans Pro" panose="020B0503030403020204" pitchFamily="34" charset="0"/>
              </a:rPr>
              <a:t>for (Node </a:t>
            </a:r>
            <a:r>
              <a:rPr lang="en-US" sz="2000" dirty="0" err="1">
                <a:latin typeface="Consolas" panose="020B0609020204030204" pitchFamily="49" charset="0"/>
                <a:ea typeface="Source Sans Pro" panose="020B0503030403020204" pitchFamily="34" charset="0"/>
              </a:rPr>
              <a:t>node</a:t>
            </a:r>
            <a:r>
              <a:rPr lang="en-US" sz="2000" dirty="0">
                <a:latin typeface="Consolas" panose="020B0609020204030204" pitchFamily="49" charset="0"/>
                <a:ea typeface="Source Sans Pro" panose="020B0503030403020204" pitchFamily="34" charset="0"/>
              </a:rPr>
              <a:t> : collection) {</a:t>
            </a:r>
          </a:p>
          <a:p>
            <a:pPr marL="400050" lvl="1" indent="0">
              <a:buNone/>
            </a:pPr>
            <a:r>
              <a:rPr lang="en-US" sz="2000" dirty="0">
                <a:latin typeface="Consolas" panose="020B0609020204030204" pitchFamily="49" charset="0"/>
                <a:ea typeface="Source Sans Pro" panose="020B0503030403020204" pitchFamily="34" charset="0"/>
              </a:rPr>
              <a:t>    </a:t>
            </a:r>
            <a:r>
              <a:rPr lang="en-US" sz="2000" dirty="0" err="1">
                <a:solidFill>
                  <a:srgbClr val="0070C0"/>
                </a:solidFill>
                <a:latin typeface="Consolas" panose="020B0609020204030204" pitchFamily="49" charset="0"/>
                <a:ea typeface="Source Sans Pro" panose="020B0503030403020204" pitchFamily="34" charset="0"/>
              </a:rPr>
              <a:t>node.accept</a:t>
            </a:r>
            <a:r>
              <a:rPr lang="en-US" sz="2000" dirty="0">
                <a:solidFill>
                  <a:srgbClr val="0070C0"/>
                </a:solidFill>
                <a:latin typeface="Consolas" panose="020B0609020204030204" pitchFamily="49" charset="0"/>
                <a:ea typeface="Source Sans Pro" panose="020B0503030403020204" pitchFamily="34" charset="0"/>
              </a:rPr>
              <a:t>(visitor</a:t>
            </a:r>
            <a:r>
              <a:rPr lang="en-US" sz="2000" dirty="0">
                <a:latin typeface="Consolas" panose="020B0609020204030204" pitchFamily="49" charset="0"/>
                <a:ea typeface="Source Sans Pro" panose="020B0503030403020204" pitchFamily="34" charset="0"/>
              </a:rPr>
              <a:t>);}</a:t>
            </a:r>
          </a:p>
          <a:p>
            <a:pPr marL="857250" lvl="1" indent="-457200"/>
            <a:r>
              <a:rPr lang="en-US" sz="2000" dirty="0">
                <a:latin typeface="Consolas" panose="020B0609020204030204" pitchFamily="49" charset="0"/>
                <a:ea typeface="Source Sans Pro" panose="020B0503030403020204" pitchFamily="34" charset="0"/>
              </a:rPr>
              <a:t>Iterator</a:t>
            </a:r>
            <a:r>
              <a:rPr lang="en-US" sz="2000" dirty="0">
                <a:latin typeface="+mj-lt"/>
                <a:ea typeface="Source Sans Pro" panose="020B0503030403020204" pitchFamily="34" charset="0"/>
              </a:rPr>
              <a:t> is very helpful</a:t>
            </a:r>
          </a:p>
          <a:p>
            <a:pPr marL="857250" lvl="1" indent="-457200"/>
            <a:r>
              <a:rPr lang="en-US" sz="2000" dirty="0">
                <a:latin typeface="+mj-lt"/>
                <a:ea typeface="Source Sans Pro" panose="020B0503030403020204" pitchFamily="34" charset="0"/>
              </a:rPr>
              <a:t>Neither visit() nor accept() does traversal</a:t>
            </a:r>
          </a:p>
          <a:p>
            <a:pPr marL="514350" indent="-514350">
              <a:buFont typeface="+mj-lt"/>
              <a:buAutoNum type="arabicPeriod" startAt="2"/>
            </a:pPr>
            <a:r>
              <a:rPr lang="en-US" dirty="0"/>
              <a:t>Traversing a recursive structure or a composite pattern</a:t>
            </a:r>
          </a:p>
          <a:p>
            <a:pPr lvl="1"/>
            <a:r>
              <a:rPr lang="en-US" dirty="0"/>
              <a:t>Structure propagates accept() using existing links</a:t>
            </a:r>
          </a:p>
          <a:p>
            <a:pPr lvl="1"/>
            <a:r>
              <a:rPr lang="en-US" dirty="0"/>
              <a:t>Leveraging the composite</a:t>
            </a:r>
          </a:p>
          <a:p>
            <a:pPr lvl="2"/>
            <a:r>
              <a:rPr lang="en-US" sz="2800" dirty="0" err="1">
                <a:solidFill>
                  <a:srgbClr val="0070C0"/>
                </a:solidFill>
                <a:latin typeface="Consolas" panose="020B0609020204030204" pitchFamily="49" charset="0"/>
              </a:rPr>
              <a:t>root.accept</a:t>
            </a:r>
            <a:r>
              <a:rPr lang="en-US" sz="2800" dirty="0">
                <a:solidFill>
                  <a:srgbClr val="0070C0"/>
                </a:solidFill>
                <a:latin typeface="Consolas" panose="020B0609020204030204" pitchFamily="49" charset="0"/>
              </a:rPr>
              <a:t>(visitor)</a:t>
            </a:r>
          </a:p>
          <a:p>
            <a:pPr marL="0" indent="0">
              <a:buNone/>
            </a:pPr>
            <a:endParaRPr lang="en-US" dirty="0"/>
          </a:p>
        </p:txBody>
      </p:sp>
    </p:spTree>
    <p:extLst>
      <p:ext uri="{BB962C8B-B14F-4D97-AF65-F5344CB8AC3E}">
        <p14:creationId xmlns:p14="http://schemas.microsoft.com/office/powerpoint/2010/main" val="79426106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26463F-BDE6-C6A1-4357-7054CA74D763}"/>
              </a:ext>
            </a:extLst>
          </p:cNvPr>
          <p:cNvSpPr>
            <a:spLocks noGrp="1"/>
          </p:cNvSpPr>
          <p:nvPr>
            <p:ph type="title"/>
          </p:nvPr>
        </p:nvSpPr>
        <p:spPr/>
        <p:txBody>
          <a:bodyPr/>
          <a:lstStyle/>
          <a:p>
            <a:r>
              <a:rPr lang="en-US" dirty="0"/>
              <a:t>Visitable Composite</a:t>
            </a:r>
          </a:p>
        </p:txBody>
      </p:sp>
      <p:sp>
        <p:nvSpPr>
          <p:cNvPr id="3" name="Content Placeholder 2">
            <a:extLst>
              <a:ext uri="{FF2B5EF4-FFF2-40B4-BE49-F238E27FC236}">
                <a16:creationId xmlns:a16="http://schemas.microsoft.com/office/drawing/2014/main" id="{1659DA24-DDD7-2156-BA2B-C7BEAD2B122F}"/>
              </a:ext>
            </a:extLst>
          </p:cNvPr>
          <p:cNvSpPr>
            <a:spLocks noGrp="1"/>
          </p:cNvSpPr>
          <p:nvPr>
            <p:ph idx="1"/>
          </p:nvPr>
        </p:nvSpPr>
        <p:spPr>
          <a:xfrm>
            <a:off x="457200" y="1335291"/>
            <a:ext cx="9083352" cy="4532109"/>
          </a:xfrm>
        </p:spPr>
        <p:txBody>
          <a:bodyPr/>
          <a:lstStyle/>
          <a:p>
            <a:pPr marL="0" indent="0">
              <a:buNone/>
            </a:pPr>
            <a:r>
              <a:rPr lang="en-US" sz="2400" dirty="0">
                <a:latin typeface="Consolas" panose="020B0609020204030204" pitchFamily="49" charset="0"/>
              </a:rPr>
              <a:t>public class Composite{/…</a:t>
            </a:r>
          </a:p>
          <a:p>
            <a:pPr marL="0" indent="0">
              <a:buNone/>
            </a:pPr>
            <a:r>
              <a:rPr lang="en-US" sz="2400" dirty="0">
                <a:latin typeface="Consolas" panose="020B0609020204030204" pitchFamily="49" charset="0"/>
              </a:rPr>
              <a:t> public void </a:t>
            </a:r>
            <a:r>
              <a:rPr lang="en-US" sz="2400" b="1" dirty="0">
                <a:latin typeface="Consolas" panose="020B0609020204030204" pitchFamily="49" charset="0"/>
              </a:rPr>
              <a:t>accept</a:t>
            </a:r>
            <a:r>
              <a:rPr lang="en-US" sz="2400" dirty="0">
                <a:latin typeface="Consolas" panose="020B0609020204030204" pitchFamily="49" charset="0"/>
              </a:rPr>
              <a:t>(Visitor v){</a:t>
            </a:r>
          </a:p>
          <a:p>
            <a:pPr marL="0" indent="0">
              <a:buNone/>
            </a:pPr>
            <a:r>
              <a:rPr lang="en-US" sz="2400" dirty="0">
                <a:latin typeface="Consolas" panose="020B0609020204030204" pitchFamily="49" charset="0"/>
              </a:rPr>
              <a:t>   </a:t>
            </a:r>
            <a:r>
              <a:rPr lang="en-US" sz="2400" dirty="0" err="1">
                <a:latin typeface="Consolas" panose="020B0609020204030204" pitchFamily="49" charset="0"/>
              </a:rPr>
              <a:t>v.visit</a:t>
            </a:r>
            <a:r>
              <a:rPr lang="en-US" sz="2400" dirty="0">
                <a:latin typeface="Consolas" panose="020B0609020204030204" pitchFamily="49" charset="0"/>
              </a:rPr>
              <a:t>(this);//get the info or do what you need</a:t>
            </a:r>
            <a:endParaRPr lang="en-US" sz="2400" dirty="0">
              <a:latin typeface="+mj-lt"/>
            </a:endParaRPr>
          </a:p>
          <a:p>
            <a:pPr marL="0" indent="0">
              <a:buNone/>
            </a:pPr>
            <a:r>
              <a:rPr lang="en-US" sz="2400" dirty="0">
                <a:latin typeface="Consolas" panose="020B0609020204030204" pitchFamily="49" charset="0"/>
              </a:rPr>
              <a:t>   for(Component child : children)</a:t>
            </a:r>
          </a:p>
          <a:p>
            <a:pPr marL="0" indent="0">
              <a:buNone/>
            </a:pPr>
            <a:r>
              <a:rPr lang="en-US" sz="2400" dirty="0">
                <a:latin typeface="Consolas" panose="020B0609020204030204" pitchFamily="49" charset="0"/>
              </a:rPr>
              <a:t>       </a:t>
            </a:r>
            <a:r>
              <a:rPr lang="en-US" sz="2400" dirty="0" err="1">
                <a:latin typeface="Consolas" panose="020B0609020204030204" pitchFamily="49" charset="0"/>
              </a:rPr>
              <a:t>child.</a:t>
            </a:r>
            <a:r>
              <a:rPr lang="en-US" sz="2400" b="1" dirty="0" err="1">
                <a:latin typeface="Consolas" panose="020B0609020204030204" pitchFamily="49" charset="0"/>
              </a:rPr>
              <a:t>accept</a:t>
            </a:r>
            <a:r>
              <a:rPr lang="en-US" sz="2400" dirty="0">
                <a:latin typeface="Consolas" panose="020B0609020204030204" pitchFamily="49" charset="0"/>
              </a:rPr>
              <a:t>(v);</a:t>
            </a:r>
          </a:p>
          <a:p>
            <a:pPr marL="0" indent="0">
              <a:buNone/>
            </a:pPr>
            <a:r>
              <a:rPr lang="en-US" sz="2400" dirty="0">
                <a:latin typeface="Consolas" panose="020B0609020204030204" pitchFamily="49" charset="0"/>
              </a:rPr>
              <a:t> }</a:t>
            </a:r>
          </a:p>
          <a:p>
            <a:pPr marL="0" indent="0">
              <a:buNone/>
            </a:pPr>
            <a:r>
              <a:rPr lang="en-US" sz="2400" dirty="0">
                <a:latin typeface="Consolas" panose="020B0609020204030204" pitchFamily="49" charset="0"/>
              </a:rPr>
              <a:t>}     </a:t>
            </a:r>
          </a:p>
          <a:p>
            <a:pPr marL="0" indent="0">
              <a:buNone/>
            </a:pPr>
            <a:r>
              <a:rPr lang="en-US" sz="2400" dirty="0">
                <a:latin typeface="Consolas" panose="020B0609020204030204" pitchFamily="49" charset="0"/>
              </a:rPr>
              <a:t>void Composite::</a:t>
            </a:r>
            <a:r>
              <a:rPr lang="en-US" sz="2400" b="1" dirty="0">
                <a:latin typeface="Consolas" panose="020B0609020204030204" pitchFamily="49" charset="0"/>
              </a:rPr>
              <a:t>accept</a:t>
            </a:r>
            <a:r>
              <a:rPr lang="en-US" sz="2400" dirty="0">
                <a:latin typeface="Consolas" panose="020B0609020204030204" pitchFamily="49" charset="0"/>
              </a:rPr>
              <a:t>(Visitor&amp; v){</a:t>
            </a:r>
          </a:p>
          <a:p>
            <a:pPr marL="0" indent="0">
              <a:buNone/>
            </a:pPr>
            <a:r>
              <a:rPr lang="en-US" sz="2400" dirty="0">
                <a:latin typeface="Consolas" panose="020B0609020204030204" pitchFamily="49" charset="0"/>
              </a:rPr>
              <a:t>   for(Component* child : children)</a:t>
            </a:r>
          </a:p>
          <a:p>
            <a:pPr marL="0" indent="0">
              <a:buNone/>
            </a:pPr>
            <a:r>
              <a:rPr lang="en-US" sz="2400" dirty="0">
                <a:latin typeface="Consolas" panose="020B0609020204030204" pitchFamily="49" charset="0"/>
              </a:rPr>
              <a:t>       child-&gt;</a:t>
            </a:r>
            <a:r>
              <a:rPr lang="en-US" sz="2400" b="1" dirty="0">
                <a:latin typeface="Consolas" panose="020B0609020204030204" pitchFamily="49" charset="0"/>
              </a:rPr>
              <a:t>accept</a:t>
            </a:r>
            <a:r>
              <a:rPr lang="en-US" sz="2400" dirty="0">
                <a:latin typeface="Consolas" panose="020B0609020204030204" pitchFamily="49" charset="0"/>
              </a:rPr>
              <a:t>(v);</a:t>
            </a:r>
          </a:p>
          <a:p>
            <a:pPr marL="0" indent="0">
              <a:buNone/>
            </a:pPr>
            <a:r>
              <a:rPr lang="en-US" sz="2400" dirty="0">
                <a:latin typeface="Consolas" panose="020B0609020204030204" pitchFamily="49" charset="0"/>
              </a:rPr>
              <a:t>   </a:t>
            </a:r>
            <a:r>
              <a:rPr lang="en-US" sz="2400" dirty="0" err="1">
                <a:latin typeface="Consolas" panose="020B0609020204030204" pitchFamily="49" charset="0"/>
              </a:rPr>
              <a:t>v.visit</a:t>
            </a:r>
            <a:r>
              <a:rPr lang="en-US" sz="2400" dirty="0">
                <a:latin typeface="Consolas" panose="020B0609020204030204" pitchFamily="49" charset="0"/>
              </a:rPr>
              <a:t>(this);</a:t>
            </a:r>
          </a:p>
          <a:p>
            <a:pPr marL="0" indent="0">
              <a:buNone/>
            </a:pPr>
            <a:r>
              <a:rPr lang="en-US" sz="2400" dirty="0">
                <a:latin typeface="Consolas" panose="020B0609020204030204" pitchFamily="49" charset="0"/>
              </a:rPr>
              <a:t> }</a:t>
            </a:r>
          </a:p>
          <a:p>
            <a:pPr marL="0" indent="0">
              <a:buNone/>
            </a:pPr>
            <a:endParaRPr lang="en-US" sz="2400" dirty="0">
              <a:latin typeface="Consolas" panose="020B0609020204030204" pitchFamily="49" charset="0"/>
            </a:endParaRPr>
          </a:p>
        </p:txBody>
      </p:sp>
      <p:sp>
        <p:nvSpPr>
          <p:cNvPr id="4" name="Rectangle 3">
            <a:extLst>
              <a:ext uri="{FF2B5EF4-FFF2-40B4-BE49-F238E27FC236}">
                <a16:creationId xmlns:a16="http://schemas.microsoft.com/office/drawing/2014/main" id="{2AB88C4A-5AF8-CF2D-A38A-8C6A85D81FFC}"/>
              </a:ext>
            </a:extLst>
          </p:cNvPr>
          <p:cNvSpPr/>
          <p:nvPr/>
        </p:nvSpPr>
        <p:spPr bwMode="auto">
          <a:xfrm>
            <a:off x="512837" y="4365104"/>
            <a:ext cx="8445624" cy="72008"/>
          </a:xfrm>
          <a:prstGeom prst="rect">
            <a:avLst/>
          </a:prstGeom>
          <a:solidFill>
            <a:schemeClr val="accent1"/>
          </a:solidFill>
          <a:ln w="9525" cap="flat" cmpd="sng" algn="ctr">
            <a:solidFill>
              <a:schemeClr val="tx1"/>
            </a:solid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Tree>
    <p:extLst>
      <p:ext uri="{BB962C8B-B14F-4D97-AF65-F5344CB8AC3E}">
        <p14:creationId xmlns:p14="http://schemas.microsoft.com/office/powerpoint/2010/main" val="404881608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Line 15">
            <a:extLst>
              <a:ext uri="{FF2B5EF4-FFF2-40B4-BE49-F238E27FC236}">
                <a16:creationId xmlns:a16="http://schemas.microsoft.com/office/drawing/2014/main" id="{3F250970-FA36-5509-F4AE-AD450E1C1DAA}"/>
              </a:ext>
            </a:extLst>
          </p:cNvPr>
          <p:cNvSpPr>
            <a:spLocks noChangeShapeType="1"/>
          </p:cNvSpPr>
          <p:nvPr/>
        </p:nvSpPr>
        <p:spPr bwMode="auto">
          <a:xfrm>
            <a:off x="3046413" y="2005013"/>
            <a:ext cx="0" cy="4648200"/>
          </a:xfrm>
          <a:prstGeom prst="line">
            <a:avLst/>
          </a:prstGeom>
          <a:noFill/>
          <a:ln w="19050">
            <a:solidFill>
              <a:schemeClr val="tx1"/>
            </a:solidFill>
            <a:prstDash val="dash"/>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22531" name="Line 15">
            <a:extLst>
              <a:ext uri="{FF2B5EF4-FFF2-40B4-BE49-F238E27FC236}">
                <a16:creationId xmlns:a16="http://schemas.microsoft.com/office/drawing/2014/main" id="{1199E8DA-02E5-EF99-2B34-CFEA69FD0184}"/>
              </a:ext>
            </a:extLst>
          </p:cNvPr>
          <p:cNvSpPr>
            <a:spLocks noChangeShapeType="1"/>
          </p:cNvSpPr>
          <p:nvPr/>
        </p:nvSpPr>
        <p:spPr bwMode="auto">
          <a:xfrm>
            <a:off x="5268913" y="1973263"/>
            <a:ext cx="0" cy="4648200"/>
          </a:xfrm>
          <a:prstGeom prst="line">
            <a:avLst/>
          </a:prstGeom>
          <a:noFill/>
          <a:ln w="19050">
            <a:solidFill>
              <a:schemeClr val="tx1"/>
            </a:solidFill>
            <a:prstDash val="dash"/>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22532" name="Line 15">
            <a:extLst>
              <a:ext uri="{FF2B5EF4-FFF2-40B4-BE49-F238E27FC236}">
                <a16:creationId xmlns:a16="http://schemas.microsoft.com/office/drawing/2014/main" id="{EDF10FBE-9BE9-9CC7-F3DB-88A4DDEFDF44}"/>
              </a:ext>
            </a:extLst>
          </p:cNvPr>
          <p:cNvSpPr>
            <a:spLocks noChangeShapeType="1"/>
          </p:cNvSpPr>
          <p:nvPr/>
        </p:nvSpPr>
        <p:spPr bwMode="auto">
          <a:xfrm>
            <a:off x="7494588" y="1973263"/>
            <a:ext cx="0" cy="4648200"/>
          </a:xfrm>
          <a:prstGeom prst="line">
            <a:avLst/>
          </a:prstGeom>
          <a:noFill/>
          <a:ln w="19050">
            <a:solidFill>
              <a:schemeClr val="tx1"/>
            </a:solidFill>
            <a:prstDash val="dash"/>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22533" name="Rectangle 2">
            <a:extLst>
              <a:ext uri="{FF2B5EF4-FFF2-40B4-BE49-F238E27FC236}">
                <a16:creationId xmlns:a16="http://schemas.microsoft.com/office/drawing/2014/main" id="{EFF928A6-0D0F-EDD4-A4F4-D518FDFF1445}"/>
              </a:ext>
            </a:extLst>
          </p:cNvPr>
          <p:cNvSpPr>
            <a:spLocks noGrp="1" noChangeArrowheads="1"/>
          </p:cNvSpPr>
          <p:nvPr>
            <p:ph type="title"/>
          </p:nvPr>
        </p:nvSpPr>
        <p:spPr>
          <a:xfrm>
            <a:off x="457200" y="59631"/>
            <a:ext cx="8686800" cy="1371600"/>
          </a:xfrm>
        </p:spPr>
        <p:txBody>
          <a:bodyPr/>
          <a:lstStyle/>
          <a:p>
            <a:pPr eaLnBrk="1" hangingPunct="1"/>
            <a:r>
              <a:rPr lang="en-US" altLang="tr-TR" sz="4000" dirty="0"/>
              <a:t>Visitor- structure leads the traversal</a:t>
            </a:r>
          </a:p>
        </p:txBody>
      </p:sp>
      <p:sp>
        <p:nvSpPr>
          <p:cNvPr id="22534" name="Text Box 3">
            <a:extLst>
              <a:ext uri="{FF2B5EF4-FFF2-40B4-BE49-F238E27FC236}">
                <a16:creationId xmlns:a16="http://schemas.microsoft.com/office/drawing/2014/main" id="{E5B25E67-DF94-56AF-5C2C-5B8903727482}"/>
              </a:ext>
            </a:extLst>
          </p:cNvPr>
          <p:cNvSpPr txBox="1">
            <a:spLocks noChangeArrowheads="1"/>
          </p:cNvSpPr>
          <p:nvPr/>
        </p:nvSpPr>
        <p:spPr bwMode="auto">
          <a:xfrm>
            <a:off x="4573588" y="1628775"/>
            <a:ext cx="1704975" cy="376238"/>
          </a:xfrm>
          <a:prstGeom prst="rect">
            <a:avLst/>
          </a:prstGeom>
          <a:solidFill>
            <a:schemeClr val="accent1"/>
          </a:solidFill>
          <a:ln w="9525">
            <a:solidFill>
              <a:schemeClr val="tx1"/>
            </a:solidFill>
            <a:miter lim="800000"/>
            <a:headEnd/>
            <a:tailEnd/>
          </a:ln>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sv-SE" altLang="tr-TR" sz="1800" u="sng"/>
              <a:t>c2:ConcElemB</a:t>
            </a:r>
            <a:endParaRPr lang="en-US" altLang="tr-TR" sz="1800" u="sng"/>
          </a:p>
        </p:txBody>
      </p:sp>
      <p:sp>
        <p:nvSpPr>
          <p:cNvPr id="22535" name="Rectangle 6">
            <a:extLst>
              <a:ext uri="{FF2B5EF4-FFF2-40B4-BE49-F238E27FC236}">
                <a16:creationId xmlns:a16="http://schemas.microsoft.com/office/drawing/2014/main" id="{3EA6EAB7-B4C1-924E-C8CC-90B94EE03E73}"/>
              </a:ext>
            </a:extLst>
          </p:cNvPr>
          <p:cNvSpPr>
            <a:spLocks noChangeArrowheads="1"/>
          </p:cNvSpPr>
          <p:nvPr/>
        </p:nvSpPr>
        <p:spPr bwMode="auto">
          <a:xfrm>
            <a:off x="3060700" y="3284538"/>
            <a:ext cx="287338" cy="355600"/>
          </a:xfrm>
          <a:prstGeom prst="rect">
            <a:avLst/>
          </a:prstGeom>
          <a:solidFill>
            <a:schemeClr val="bg1"/>
          </a:solidFill>
          <a:ln w="19050">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tr-TR" sz="1800"/>
          </a:p>
        </p:txBody>
      </p:sp>
      <p:sp>
        <p:nvSpPr>
          <p:cNvPr id="22536" name="Rectangle 7">
            <a:extLst>
              <a:ext uri="{FF2B5EF4-FFF2-40B4-BE49-F238E27FC236}">
                <a16:creationId xmlns:a16="http://schemas.microsoft.com/office/drawing/2014/main" id="{8E507353-C8F1-75A9-DA92-49DD60AE1DBF}"/>
              </a:ext>
            </a:extLst>
          </p:cNvPr>
          <p:cNvSpPr>
            <a:spLocks noChangeArrowheads="1"/>
          </p:cNvSpPr>
          <p:nvPr/>
        </p:nvSpPr>
        <p:spPr bwMode="auto">
          <a:xfrm>
            <a:off x="5084763" y="3910013"/>
            <a:ext cx="341312" cy="1157287"/>
          </a:xfrm>
          <a:prstGeom prst="rect">
            <a:avLst/>
          </a:prstGeom>
          <a:solidFill>
            <a:schemeClr val="bg1"/>
          </a:solidFill>
          <a:ln w="19050">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tr-TR" sz="1800"/>
          </a:p>
        </p:txBody>
      </p:sp>
      <p:sp>
        <p:nvSpPr>
          <p:cNvPr id="22537" name="Line 8">
            <a:extLst>
              <a:ext uri="{FF2B5EF4-FFF2-40B4-BE49-F238E27FC236}">
                <a16:creationId xmlns:a16="http://schemas.microsoft.com/office/drawing/2014/main" id="{5B0217CD-EAEF-DF82-C5BE-102EFC297523}"/>
              </a:ext>
            </a:extLst>
          </p:cNvPr>
          <p:cNvSpPr>
            <a:spLocks noChangeShapeType="1"/>
          </p:cNvSpPr>
          <p:nvPr/>
        </p:nvSpPr>
        <p:spPr bwMode="auto">
          <a:xfrm flipH="1">
            <a:off x="3338513" y="3352800"/>
            <a:ext cx="3986212" cy="33338"/>
          </a:xfrm>
          <a:prstGeom prst="line">
            <a:avLst/>
          </a:prstGeom>
          <a:noFill/>
          <a:ln w="19050">
            <a:solidFill>
              <a:schemeClr val="tx1"/>
            </a:solidFill>
            <a:miter lim="800000"/>
            <a:headEnd/>
            <a:tailEnd type="arrow" w="med" len="med"/>
          </a:ln>
          <a:extLst>
            <a:ext uri="{909E8E84-426E-40DD-AFC4-6F175D3DCCD1}">
              <a14:hiddenFill xmlns:a14="http://schemas.microsoft.com/office/drawing/2010/main">
                <a:noFill/>
              </a14:hiddenFill>
            </a:ext>
          </a:extLst>
        </p:spPr>
        <p:txBody>
          <a:bodyPr wrap="none"/>
          <a:lstStyle/>
          <a:p>
            <a:endParaRPr lang="en-US"/>
          </a:p>
        </p:txBody>
      </p:sp>
      <p:sp>
        <p:nvSpPr>
          <p:cNvPr id="22538" name="Text Box 9">
            <a:extLst>
              <a:ext uri="{FF2B5EF4-FFF2-40B4-BE49-F238E27FC236}">
                <a16:creationId xmlns:a16="http://schemas.microsoft.com/office/drawing/2014/main" id="{DAEABD1F-C567-6C81-AD79-260750F0BE3C}"/>
              </a:ext>
            </a:extLst>
          </p:cNvPr>
          <p:cNvSpPr txBox="1">
            <a:spLocks noChangeArrowheads="1"/>
          </p:cNvSpPr>
          <p:nvPr/>
        </p:nvSpPr>
        <p:spPr bwMode="auto">
          <a:xfrm>
            <a:off x="5437188" y="2420938"/>
            <a:ext cx="10572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sv-SE" altLang="tr-TR" sz="1800" b="1"/>
              <a:t>visit(c1</a:t>
            </a:r>
            <a:r>
              <a:rPr lang="sv-SE" altLang="tr-TR" sz="1800"/>
              <a:t>)</a:t>
            </a:r>
            <a:endParaRPr lang="en-US" altLang="tr-TR" sz="1800"/>
          </a:p>
        </p:txBody>
      </p:sp>
      <p:sp>
        <p:nvSpPr>
          <p:cNvPr id="22539" name="Text Box 10">
            <a:extLst>
              <a:ext uri="{FF2B5EF4-FFF2-40B4-BE49-F238E27FC236}">
                <a16:creationId xmlns:a16="http://schemas.microsoft.com/office/drawing/2014/main" id="{BA8A599B-7C5C-0B5F-8050-779FB4E29D58}"/>
              </a:ext>
            </a:extLst>
          </p:cNvPr>
          <p:cNvSpPr txBox="1">
            <a:spLocks noChangeArrowheads="1"/>
          </p:cNvSpPr>
          <p:nvPr/>
        </p:nvSpPr>
        <p:spPr bwMode="auto">
          <a:xfrm>
            <a:off x="3803650" y="3279775"/>
            <a:ext cx="158273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sv-SE" altLang="tr-TR" sz="1800"/>
              <a:t>operationA()</a:t>
            </a:r>
            <a:endParaRPr lang="en-US" altLang="tr-TR" sz="1800"/>
          </a:p>
        </p:txBody>
      </p:sp>
      <p:sp>
        <p:nvSpPr>
          <p:cNvPr id="22540" name="Line 11">
            <a:extLst>
              <a:ext uri="{FF2B5EF4-FFF2-40B4-BE49-F238E27FC236}">
                <a16:creationId xmlns:a16="http://schemas.microsoft.com/office/drawing/2014/main" id="{2E1A141B-9519-E0DB-C834-0087A5801E88}"/>
              </a:ext>
            </a:extLst>
          </p:cNvPr>
          <p:cNvSpPr>
            <a:spLocks noChangeShapeType="1"/>
          </p:cNvSpPr>
          <p:nvPr/>
        </p:nvSpPr>
        <p:spPr bwMode="auto">
          <a:xfrm flipH="1">
            <a:off x="3186113" y="2852738"/>
            <a:ext cx="4195762" cy="4762"/>
          </a:xfrm>
          <a:prstGeom prst="line">
            <a:avLst/>
          </a:prstGeom>
          <a:noFill/>
          <a:ln w="19050">
            <a:solidFill>
              <a:schemeClr val="tx1"/>
            </a:solidFill>
            <a:miter lim="800000"/>
            <a:headEnd type="arrow" w="med" len="med"/>
            <a:tailEnd/>
          </a:ln>
          <a:extLst>
            <a:ext uri="{909E8E84-426E-40DD-AFC4-6F175D3DCCD1}">
              <a14:hiddenFill xmlns:a14="http://schemas.microsoft.com/office/drawing/2010/main">
                <a:noFill/>
              </a14:hiddenFill>
            </a:ext>
          </a:extLst>
        </p:spPr>
        <p:txBody>
          <a:bodyPr wrap="none"/>
          <a:lstStyle/>
          <a:p>
            <a:endParaRPr lang="en-US"/>
          </a:p>
        </p:txBody>
      </p:sp>
      <p:sp>
        <p:nvSpPr>
          <p:cNvPr id="22541" name="Rectangle 12">
            <a:extLst>
              <a:ext uri="{FF2B5EF4-FFF2-40B4-BE49-F238E27FC236}">
                <a16:creationId xmlns:a16="http://schemas.microsoft.com/office/drawing/2014/main" id="{4736AB0E-0D7F-5395-6EF9-EBB22AA4204B}"/>
              </a:ext>
            </a:extLst>
          </p:cNvPr>
          <p:cNvSpPr>
            <a:spLocks noChangeArrowheads="1"/>
          </p:cNvSpPr>
          <p:nvPr/>
        </p:nvSpPr>
        <p:spPr bwMode="auto">
          <a:xfrm>
            <a:off x="2946400" y="2417763"/>
            <a:ext cx="239713" cy="3027362"/>
          </a:xfrm>
          <a:prstGeom prst="rect">
            <a:avLst/>
          </a:prstGeom>
          <a:solidFill>
            <a:schemeClr val="bg1"/>
          </a:solidFill>
          <a:ln w="19050">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tr-TR" sz="1800"/>
          </a:p>
        </p:txBody>
      </p:sp>
      <p:sp>
        <p:nvSpPr>
          <p:cNvPr id="22542" name="Text Box 13">
            <a:extLst>
              <a:ext uri="{FF2B5EF4-FFF2-40B4-BE49-F238E27FC236}">
                <a16:creationId xmlns:a16="http://schemas.microsoft.com/office/drawing/2014/main" id="{635AA772-8904-57E2-113D-68C4DFB7F401}"/>
              </a:ext>
            </a:extLst>
          </p:cNvPr>
          <p:cNvSpPr txBox="1">
            <a:spLocks noChangeArrowheads="1"/>
          </p:cNvSpPr>
          <p:nvPr/>
        </p:nvSpPr>
        <p:spPr bwMode="auto">
          <a:xfrm>
            <a:off x="6637338" y="1628775"/>
            <a:ext cx="1006475" cy="376238"/>
          </a:xfrm>
          <a:prstGeom prst="rect">
            <a:avLst/>
          </a:prstGeom>
          <a:solidFill>
            <a:schemeClr val="accent1"/>
          </a:solidFill>
          <a:ln w="9525">
            <a:solidFill>
              <a:schemeClr val="tx1"/>
            </a:solidFill>
            <a:miter lim="800000"/>
            <a:headEnd/>
            <a:tailEnd/>
          </a:ln>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sv-SE" altLang="tr-TR" sz="1800" u="sng"/>
              <a:t>v:Visitor</a:t>
            </a:r>
            <a:endParaRPr lang="en-US" altLang="tr-TR" sz="1800" u="sng"/>
          </a:p>
        </p:txBody>
      </p:sp>
      <p:sp>
        <p:nvSpPr>
          <p:cNvPr id="22543" name="Line 14">
            <a:extLst>
              <a:ext uri="{FF2B5EF4-FFF2-40B4-BE49-F238E27FC236}">
                <a16:creationId xmlns:a16="http://schemas.microsoft.com/office/drawing/2014/main" id="{02FEEB97-ADEA-4677-C216-B0B6A0C0F910}"/>
              </a:ext>
            </a:extLst>
          </p:cNvPr>
          <p:cNvSpPr>
            <a:spLocks noChangeShapeType="1"/>
          </p:cNvSpPr>
          <p:nvPr/>
        </p:nvSpPr>
        <p:spPr bwMode="auto">
          <a:xfrm flipH="1">
            <a:off x="5386388" y="4094163"/>
            <a:ext cx="1978025" cy="12700"/>
          </a:xfrm>
          <a:prstGeom prst="line">
            <a:avLst/>
          </a:prstGeom>
          <a:noFill/>
          <a:ln w="19050">
            <a:solidFill>
              <a:schemeClr val="tx1"/>
            </a:solidFill>
            <a:miter lim="800000"/>
            <a:headEnd type="arrow" w="med" len="med"/>
            <a:tailEnd/>
          </a:ln>
          <a:extLst>
            <a:ext uri="{909E8E84-426E-40DD-AFC4-6F175D3DCCD1}">
              <a14:hiddenFill xmlns:a14="http://schemas.microsoft.com/office/drawing/2010/main">
                <a:noFill/>
              </a14:hiddenFill>
            </a:ext>
          </a:extLst>
        </p:spPr>
        <p:txBody>
          <a:bodyPr wrap="none"/>
          <a:lstStyle/>
          <a:p>
            <a:endParaRPr lang="en-US"/>
          </a:p>
        </p:txBody>
      </p:sp>
      <p:sp>
        <p:nvSpPr>
          <p:cNvPr id="22544" name="Line 15">
            <a:extLst>
              <a:ext uri="{FF2B5EF4-FFF2-40B4-BE49-F238E27FC236}">
                <a16:creationId xmlns:a16="http://schemas.microsoft.com/office/drawing/2014/main" id="{C71C81BC-2559-AF43-E324-9C9753B49340}"/>
              </a:ext>
            </a:extLst>
          </p:cNvPr>
          <p:cNvSpPr>
            <a:spLocks noChangeShapeType="1"/>
          </p:cNvSpPr>
          <p:nvPr/>
        </p:nvSpPr>
        <p:spPr bwMode="auto">
          <a:xfrm>
            <a:off x="1044575" y="1989138"/>
            <a:ext cx="0" cy="4648200"/>
          </a:xfrm>
          <a:prstGeom prst="line">
            <a:avLst/>
          </a:prstGeom>
          <a:noFill/>
          <a:ln w="19050">
            <a:solidFill>
              <a:schemeClr val="tx1"/>
            </a:solidFill>
            <a:prstDash val="dash"/>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22545" name="Text Box 16">
            <a:extLst>
              <a:ext uri="{FF2B5EF4-FFF2-40B4-BE49-F238E27FC236}">
                <a16:creationId xmlns:a16="http://schemas.microsoft.com/office/drawing/2014/main" id="{D275BCE0-E528-8436-C8AF-3EE32B9DFD72}"/>
              </a:ext>
            </a:extLst>
          </p:cNvPr>
          <p:cNvSpPr txBox="1">
            <a:spLocks noChangeArrowheads="1"/>
          </p:cNvSpPr>
          <p:nvPr/>
        </p:nvSpPr>
        <p:spPr bwMode="auto">
          <a:xfrm>
            <a:off x="1279525" y="2136775"/>
            <a:ext cx="11969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sv-SE" altLang="tr-TR" sz="1800" b="1"/>
              <a:t>accept(v</a:t>
            </a:r>
            <a:r>
              <a:rPr lang="sv-SE" altLang="tr-TR" sz="1800"/>
              <a:t>)</a:t>
            </a:r>
            <a:endParaRPr lang="en-US" altLang="tr-TR" sz="1800"/>
          </a:p>
        </p:txBody>
      </p:sp>
      <p:sp>
        <p:nvSpPr>
          <p:cNvPr id="22546" name="Text Box 17">
            <a:extLst>
              <a:ext uri="{FF2B5EF4-FFF2-40B4-BE49-F238E27FC236}">
                <a16:creationId xmlns:a16="http://schemas.microsoft.com/office/drawing/2014/main" id="{EDC54295-30DA-793A-0AF7-A58DB4012087}"/>
              </a:ext>
            </a:extLst>
          </p:cNvPr>
          <p:cNvSpPr txBox="1">
            <a:spLocks noChangeArrowheads="1"/>
          </p:cNvSpPr>
          <p:nvPr/>
        </p:nvSpPr>
        <p:spPr bwMode="auto">
          <a:xfrm>
            <a:off x="669925" y="1603375"/>
            <a:ext cx="787400" cy="369888"/>
          </a:xfrm>
          <a:prstGeom prst="rect">
            <a:avLst/>
          </a:prstGeom>
          <a:solidFill>
            <a:schemeClr val="accent1"/>
          </a:solidFill>
          <a:ln w="9525">
            <a:solidFill>
              <a:schemeClr val="tx1"/>
            </a:solidFill>
            <a:miter lim="800000"/>
            <a:headEnd/>
            <a:tailEnd/>
          </a:ln>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sv-SE" altLang="tr-TR" sz="1800" u="sng"/>
              <a:t>:client</a:t>
            </a:r>
            <a:endParaRPr lang="en-US" altLang="tr-TR" sz="1800" u="sng"/>
          </a:p>
        </p:txBody>
      </p:sp>
      <p:sp>
        <p:nvSpPr>
          <p:cNvPr id="22547" name="Text Box 18">
            <a:extLst>
              <a:ext uri="{FF2B5EF4-FFF2-40B4-BE49-F238E27FC236}">
                <a16:creationId xmlns:a16="http://schemas.microsoft.com/office/drawing/2014/main" id="{7793922B-EB76-81D1-08C6-6DFAE47902E0}"/>
              </a:ext>
            </a:extLst>
          </p:cNvPr>
          <p:cNvSpPr txBox="1">
            <a:spLocks noChangeArrowheads="1"/>
          </p:cNvSpPr>
          <p:nvPr/>
        </p:nvSpPr>
        <p:spPr bwMode="auto">
          <a:xfrm>
            <a:off x="2293938" y="1603375"/>
            <a:ext cx="1704975" cy="376238"/>
          </a:xfrm>
          <a:prstGeom prst="rect">
            <a:avLst/>
          </a:prstGeom>
          <a:solidFill>
            <a:schemeClr val="accent1"/>
          </a:solidFill>
          <a:ln w="9525">
            <a:solidFill>
              <a:schemeClr val="tx1"/>
            </a:solidFill>
            <a:miter lim="800000"/>
            <a:headEnd/>
            <a:tailEnd/>
          </a:ln>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sv-SE" altLang="tr-TR" sz="1800" u="sng"/>
              <a:t>c1:ConcElemA</a:t>
            </a:r>
            <a:endParaRPr lang="en-US" altLang="tr-TR" sz="1800" u="sng"/>
          </a:p>
        </p:txBody>
      </p:sp>
      <p:sp>
        <p:nvSpPr>
          <p:cNvPr id="22548" name="Line 20">
            <a:extLst>
              <a:ext uri="{FF2B5EF4-FFF2-40B4-BE49-F238E27FC236}">
                <a16:creationId xmlns:a16="http://schemas.microsoft.com/office/drawing/2014/main" id="{0F038F30-17D6-77F0-1E28-5E0EF4D5E5BC}"/>
              </a:ext>
            </a:extLst>
          </p:cNvPr>
          <p:cNvSpPr>
            <a:spLocks noChangeShapeType="1"/>
          </p:cNvSpPr>
          <p:nvPr/>
        </p:nvSpPr>
        <p:spPr bwMode="auto">
          <a:xfrm flipH="1" flipV="1">
            <a:off x="1112838" y="2506663"/>
            <a:ext cx="1871662" cy="0"/>
          </a:xfrm>
          <a:prstGeom prst="line">
            <a:avLst/>
          </a:prstGeom>
          <a:noFill/>
          <a:ln w="19050">
            <a:solidFill>
              <a:schemeClr val="tx1"/>
            </a:solidFill>
            <a:miter lim="800000"/>
            <a:headEnd type="arrow" w="med" len="med"/>
            <a:tailEnd/>
          </a:ln>
          <a:extLst>
            <a:ext uri="{909E8E84-426E-40DD-AFC4-6F175D3DCCD1}">
              <a14:hiddenFill xmlns:a14="http://schemas.microsoft.com/office/drawing/2010/main">
                <a:noFill/>
              </a14:hiddenFill>
            </a:ext>
          </a:extLst>
        </p:spPr>
        <p:txBody>
          <a:bodyPr wrap="none"/>
          <a:lstStyle/>
          <a:p>
            <a:endParaRPr lang="en-US"/>
          </a:p>
        </p:txBody>
      </p:sp>
      <p:sp>
        <p:nvSpPr>
          <p:cNvPr id="22549" name="Text Box 21">
            <a:extLst>
              <a:ext uri="{FF2B5EF4-FFF2-40B4-BE49-F238E27FC236}">
                <a16:creationId xmlns:a16="http://schemas.microsoft.com/office/drawing/2014/main" id="{949C2605-9A76-59F6-CB20-04DE859A885A}"/>
              </a:ext>
            </a:extLst>
          </p:cNvPr>
          <p:cNvSpPr txBox="1">
            <a:spLocks noChangeArrowheads="1"/>
          </p:cNvSpPr>
          <p:nvPr/>
        </p:nvSpPr>
        <p:spPr bwMode="auto">
          <a:xfrm>
            <a:off x="5791200" y="4051300"/>
            <a:ext cx="10572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sv-SE" altLang="tr-TR" sz="1800" b="1"/>
              <a:t>visit(c2</a:t>
            </a:r>
            <a:r>
              <a:rPr lang="sv-SE" altLang="tr-TR" sz="1800"/>
              <a:t>)</a:t>
            </a:r>
            <a:endParaRPr lang="en-US" altLang="tr-TR" sz="1800"/>
          </a:p>
        </p:txBody>
      </p:sp>
      <p:sp>
        <p:nvSpPr>
          <p:cNvPr id="22550" name="Rectangle 23">
            <a:extLst>
              <a:ext uri="{FF2B5EF4-FFF2-40B4-BE49-F238E27FC236}">
                <a16:creationId xmlns:a16="http://schemas.microsoft.com/office/drawing/2014/main" id="{2AE8C93B-BD07-4865-4B9B-6270EB38C464}"/>
              </a:ext>
            </a:extLst>
          </p:cNvPr>
          <p:cNvSpPr>
            <a:spLocks noChangeArrowheads="1"/>
          </p:cNvSpPr>
          <p:nvPr/>
        </p:nvSpPr>
        <p:spPr bwMode="auto">
          <a:xfrm>
            <a:off x="7354888" y="2701925"/>
            <a:ext cx="309562" cy="1006475"/>
          </a:xfrm>
          <a:prstGeom prst="rect">
            <a:avLst/>
          </a:prstGeom>
          <a:solidFill>
            <a:schemeClr val="bg1"/>
          </a:solidFill>
          <a:ln w="19050">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tr-TR" sz="1800"/>
          </a:p>
        </p:txBody>
      </p:sp>
      <p:sp>
        <p:nvSpPr>
          <p:cNvPr id="22551" name="Line 24">
            <a:extLst>
              <a:ext uri="{FF2B5EF4-FFF2-40B4-BE49-F238E27FC236}">
                <a16:creationId xmlns:a16="http://schemas.microsoft.com/office/drawing/2014/main" id="{ADD52662-93AC-361D-FF60-6ED5501EA18E}"/>
              </a:ext>
            </a:extLst>
          </p:cNvPr>
          <p:cNvSpPr>
            <a:spLocks noChangeShapeType="1"/>
          </p:cNvSpPr>
          <p:nvPr/>
        </p:nvSpPr>
        <p:spPr bwMode="auto">
          <a:xfrm flipH="1">
            <a:off x="3170238" y="3965575"/>
            <a:ext cx="1939925" cy="0"/>
          </a:xfrm>
          <a:prstGeom prst="line">
            <a:avLst/>
          </a:prstGeom>
          <a:noFill/>
          <a:ln w="19050">
            <a:solidFill>
              <a:schemeClr val="tx1"/>
            </a:solidFill>
            <a:miter lim="800000"/>
            <a:headEnd type="arrow" w="med" len="med"/>
            <a:tailEnd/>
          </a:ln>
          <a:extLst>
            <a:ext uri="{909E8E84-426E-40DD-AFC4-6F175D3DCCD1}">
              <a14:hiddenFill xmlns:a14="http://schemas.microsoft.com/office/drawing/2010/main">
                <a:noFill/>
              </a14:hiddenFill>
            </a:ext>
          </a:extLst>
        </p:spPr>
        <p:txBody>
          <a:bodyPr wrap="none"/>
          <a:lstStyle/>
          <a:p>
            <a:endParaRPr lang="en-US"/>
          </a:p>
        </p:txBody>
      </p:sp>
      <p:sp>
        <p:nvSpPr>
          <p:cNvPr id="22552" name="Text Box 25">
            <a:extLst>
              <a:ext uri="{FF2B5EF4-FFF2-40B4-BE49-F238E27FC236}">
                <a16:creationId xmlns:a16="http://schemas.microsoft.com/office/drawing/2014/main" id="{1F95EB3A-233F-3C04-8781-841E8A8ADE69}"/>
              </a:ext>
            </a:extLst>
          </p:cNvPr>
          <p:cNvSpPr txBox="1">
            <a:spLocks noChangeArrowheads="1"/>
          </p:cNvSpPr>
          <p:nvPr/>
        </p:nvSpPr>
        <p:spPr bwMode="auto">
          <a:xfrm>
            <a:off x="3544888" y="3922713"/>
            <a:ext cx="119856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sv-SE" altLang="tr-TR" sz="1800" b="1"/>
              <a:t>accept(v</a:t>
            </a:r>
            <a:r>
              <a:rPr lang="sv-SE" altLang="tr-TR" sz="1800"/>
              <a:t>)</a:t>
            </a:r>
            <a:endParaRPr lang="en-US" altLang="tr-TR" sz="1800"/>
          </a:p>
        </p:txBody>
      </p:sp>
      <p:sp>
        <p:nvSpPr>
          <p:cNvPr id="22553" name="Rectangle 27">
            <a:extLst>
              <a:ext uri="{FF2B5EF4-FFF2-40B4-BE49-F238E27FC236}">
                <a16:creationId xmlns:a16="http://schemas.microsoft.com/office/drawing/2014/main" id="{29629156-E876-1375-CACF-7BECFC8C4212}"/>
              </a:ext>
            </a:extLst>
          </p:cNvPr>
          <p:cNvSpPr>
            <a:spLocks noChangeArrowheads="1"/>
          </p:cNvSpPr>
          <p:nvPr/>
        </p:nvSpPr>
        <p:spPr bwMode="auto">
          <a:xfrm>
            <a:off x="5391150" y="4665663"/>
            <a:ext cx="315913" cy="247650"/>
          </a:xfrm>
          <a:prstGeom prst="rect">
            <a:avLst/>
          </a:prstGeom>
          <a:solidFill>
            <a:schemeClr val="bg1"/>
          </a:solidFill>
          <a:ln w="19050">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tr-TR" sz="1800"/>
          </a:p>
        </p:txBody>
      </p:sp>
      <p:sp>
        <p:nvSpPr>
          <p:cNvPr id="22554" name="Rectangle 28">
            <a:extLst>
              <a:ext uri="{FF2B5EF4-FFF2-40B4-BE49-F238E27FC236}">
                <a16:creationId xmlns:a16="http://schemas.microsoft.com/office/drawing/2014/main" id="{9DF09726-C98F-98D4-8E1C-C8F8845F3914}"/>
              </a:ext>
            </a:extLst>
          </p:cNvPr>
          <p:cNvSpPr>
            <a:spLocks noChangeArrowheads="1"/>
          </p:cNvSpPr>
          <p:nvPr/>
        </p:nvSpPr>
        <p:spPr bwMode="auto">
          <a:xfrm>
            <a:off x="7370763" y="3965575"/>
            <a:ext cx="260350" cy="1273175"/>
          </a:xfrm>
          <a:prstGeom prst="rect">
            <a:avLst/>
          </a:prstGeom>
          <a:solidFill>
            <a:schemeClr val="bg1"/>
          </a:solidFill>
          <a:ln w="19050">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tr-TR" sz="1800"/>
          </a:p>
        </p:txBody>
      </p:sp>
      <p:sp>
        <p:nvSpPr>
          <p:cNvPr id="22555" name="Line 29">
            <a:extLst>
              <a:ext uri="{FF2B5EF4-FFF2-40B4-BE49-F238E27FC236}">
                <a16:creationId xmlns:a16="http://schemas.microsoft.com/office/drawing/2014/main" id="{F5AEFEEC-6294-2FBE-2182-8CE31EEF2AC1}"/>
              </a:ext>
            </a:extLst>
          </p:cNvPr>
          <p:cNvSpPr>
            <a:spLocks noChangeShapeType="1"/>
          </p:cNvSpPr>
          <p:nvPr/>
        </p:nvSpPr>
        <p:spPr bwMode="auto">
          <a:xfrm flipH="1" flipV="1">
            <a:off x="5753100" y="4730750"/>
            <a:ext cx="1592263" cy="1588"/>
          </a:xfrm>
          <a:prstGeom prst="line">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txBody>
          <a:bodyPr/>
          <a:lstStyle/>
          <a:p>
            <a:endParaRPr lang="en-US"/>
          </a:p>
        </p:txBody>
      </p:sp>
      <p:sp>
        <p:nvSpPr>
          <p:cNvPr id="22556" name="Text Box 31">
            <a:extLst>
              <a:ext uri="{FF2B5EF4-FFF2-40B4-BE49-F238E27FC236}">
                <a16:creationId xmlns:a16="http://schemas.microsoft.com/office/drawing/2014/main" id="{9CA710A0-A2A9-9391-2B4D-7D2DA87F8820}"/>
              </a:ext>
            </a:extLst>
          </p:cNvPr>
          <p:cNvSpPr txBox="1">
            <a:spLocks noChangeArrowheads="1"/>
          </p:cNvSpPr>
          <p:nvPr/>
        </p:nvSpPr>
        <p:spPr bwMode="auto">
          <a:xfrm>
            <a:off x="5697538" y="4665663"/>
            <a:ext cx="158273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sv-SE" altLang="tr-TR" sz="1800"/>
              <a:t>operationB()</a:t>
            </a:r>
            <a:endParaRPr lang="en-US" altLang="tr-TR" sz="1800"/>
          </a:p>
        </p:txBody>
      </p:sp>
    </p:spTree>
    <p:extLst>
      <p:ext uri="{BB962C8B-B14F-4D97-AF65-F5344CB8AC3E}">
        <p14:creationId xmlns:p14="http://schemas.microsoft.com/office/powerpoint/2010/main" val="210524761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A4E5A2-6357-14EA-E617-4094038224FA}"/>
              </a:ext>
            </a:extLst>
          </p:cNvPr>
          <p:cNvSpPr>
            <a:spLocks noGrp="1"/>
          </p:cNvSpPr>
          <p:nvPr>
            <p:ph type="title"/>
          </p:nvPr>
        </p:nvSpPr>
        <p:spPr/>
        <p:txBody>
          <a:bodyPr/>
          <a:lstStyle/>
          <a:p>
            <a:r>
              <a:rPr lang="en-US" dirty="0"/>
              <a:t>Exercise 2: make </a:t>
            </a:r>
            <a:r>
              <a:rPr lang="en-US" dirty="0" err="1"/>
              <a:t>ToC</a:t>
            </a:r>
            <a:endParaRPr lang="en-US" dirty="0"/>
          </a:p>
        </p:txBody>
      </p:sp>
      <p:sp>
        <p:nvSpPr>
          <p:cNvPr id="3" name="Content Placeholder 2">
            <a:extLst>
              <a:ext uri="{FF2B5EF4-FFF2-40B4-BE49-F238E27FC236}">
                <a16:creationId xmlns:a16="http://schemas.microsoft.com/office/drawing/2014/main" id="{9685664B-03F0-90B2-7EA7-BE9FB533AD23}"/>
              </a:ext>
            </a:extLst>
          </p:cNvPr>
          <p:cNvSpPr>
            <a:spLocks noGrp="1"/>
          </p:cNvSpPr>
          <p:nvPr>
            <p:ph idx="1"/>
          </p:nvPr>
        </p:nvSpPr>
        <p:spPr/>
        <p:txBody>
          <a:bodyPr/>
          <a:lstStyle/>
          <a:p>
            <a:pPr marL="0" indent="0">
              <a:buNone/>
            </a:pPr>
            <a:r>
              <a:rPr lang="en-US" sz="2200" dirty="0">
                <a:latin typeface="Consolas" panose="020B0609020204030204" pitchFamily="49" charset="0"/>
                <a:ea typeface="Source Sans Pro" panose="020B0503030403020204" pitchFamily="34" charset="0"/>
              </a:rPr>
              <a:t>public class Document{ //…</a:t>
            </a:r>
          </a:p>
          <a:p>
            <a:pPr marL="0" indent="0">
              <a:buNone/>
            </a:pPr>
            <a:r>
              <a:rPr lang="en-US" sz="2200" dirty="0">
                <a:latin typeface="Consolas" panose="020B0609020204030204" pitchFamily="49" charset="0"/>
                <a:ea typeface="Source Sans Pro" panose="020B0503030403020204" pitchFamily="34" charset="0"/>
              </a:rPr>
              <a:t>   private List&lt;Chapter&gt; chapters;</a:t>
            </a:r>
          </a:p>
          <a:p>
            <a:pPr marL="0" indent="0">
              <a:buNone/>
            </a:pPr>
            <a:r>
              <a:rPr lang="en-US" sz="2200" dirty="0">
                <a:latin typeface="Consolas" panose="020B0609020204030204" pitchFamily="49" charset="0"/>
                <a:ea typeface="Source Sans Pro" panose="020B0503030403020204" pitchFamily="34" charset="0"/>
              </a:rPr>
              <a:t>   private List&lt;Page&gt; frontmatter;</a:t>
            </a:r>
          </a:p>
          <a:p>
            <a:pPr marL="0" indent="0">
              <a:buNone/>
            </a:pPr>
            <a:r>
              <a:rPr lang="en-US" sz="2200" dirty="0">
                <a:latin typeface="Consolas" panose="020B0609020204030204" pitchFamily="49" charset="0"/>
                <a:ea typeface="Source Sans Pro" panose="020B0503030403020204" pitchFamily="34" charset="0"/>
              </a:rPr>
              <a:t>   public void </a:t>
            </a:r>
            <a:r>
              <a:rPr lang="en-US" sz="2200" b="1" dirty="0" err="1">
                <a:latin typeface="Consolas" panose="020B0609020204030204" pitchFamily="49" charset="0"/>
                <a:ea typeface="Source Sans Pro" panose="020B0503030403020204" pitchFamily="34" charset="0"/>
              </a:rPr>
              <a:t>createToC</a:t>
            </a:r>
            <a:r>
              <a:rPr lang="en-US" sz="2200" dirty="0">
                <a:latin typeface="Consolas" panose="020B0609020204030204" pitchFamily="49" charset="0"/>
                <a:ea typeface="Source Sans Pro" panose="020B0503030403020204" pitchFamily="34" charset="0"/>
              </a:rPr>
              <a:t>(){</a:t>
            </a:r>
          </a:p>
          <a:p>
            <a:pPr marL="0" indent="0">
              <a:buNone/>
            </a:pPr>
            <a:r>
              <a:rPr lang="en-US" sz="2200" dirty="0">
                <a:latin typeface="Consolas" panose="020B0609020204030204" pitchFamily="49" charset="0"/>
                <a:ea typeface="Source Sans Pro" panose="020B0503030403020204" pitchFamily="34" charset="0"/>
              </a:rPr>
              <a:t>      </a:t>
            </a:r>
            <a:r>
              <a:rPr lang="en-US" sz="2200" dirty="0">
                <a:solidFill>
                  <a:schemeClr val="bg2"/>
                </a:solidFill>
                <a:latin typeface="Consolas" panose="020B0609020204030204" pitchFamily="49" charset="0"/>
                <a:ea typeface="Source Sans Pro" panose="020B0503030403020204" pitchFamily="34" charset="0"/>
              </a:rPr>
              <a:t>Visitor v=new </a:t>
            </a:r>
            <a:r>
              <a:rPr lang="en-US" sz="2200" dirty="0" err="1">
                <a:solidFill>
                  <a:schemeClr val="bg2"/>
                </a:solidFill>
                <a:latin typeface="Consolas" panose="020B0609020204030204" pitchFamily="49" charset="0"/>
                <a:ea typeface="Source Sans Pro" panose="020B0503030403020204" pitchFamily="34" charset="0"/>
              </a:rPr>
              <a:t>ToCVisitor</a:t>
            </a:r>
            <a:r>
              <a:rPr lang="en-US" sz="2200" dirty="0">
                <a:solidFill>
                  <a:schemeClr val="bg2"/>
                </a:solidFill>
                <a:latin typeface="Consolas" panose="020B0609020204030204" pitchFamily="49" charset="0"/>
                <a:ea typeface="Source Sans Pro" panose="020B0503030403020204" pitchFamily="34" charset="0"/>
              </a:rPr>
              <a:t>();</a:t>
            </a:r>
          </a:p>
          <a:p>
            <a:pPr marL="0" indent="0">
              <a:buNone/>
            </a:pPr>
            <a:r>
              <a:rPr lang="en-US" sz="2200" dirty="0">
                <a:latin typeface="Consolas" panose="020B0609020204030204" pitchFamily="49" charset="0"/>
                <a:ea typeface="Source Sans Pro" panose="020B0503030403020204" pitchFamily="34" charset="0"/>
              </a:rPr>
              <a:t>      for(Chapter c:chapters) </a:t>
            </a:r>
            <a:r>
              <a:rPr lang="en-US" sz="2200" dirty="0" err="1">
                <a:latin typeface="Consolas" panose="020B0609020204030204" pitchFamily="49" charset="0"/>
                <a:ea typeface="Source Sans Pro" panose="020B0503030403020204" pitchFamily="34" charset="0"/>
              </a:rPr>
              <a:t>c.</a:t>
            </a:r>
            <a:r>
              <a:rPr lang="en-US" sz="2200" dirty="0" err="1">
                <a:solidFill>
                  <a:srgbClr val="0070C0"/>
                </a:solidFill>
                <a:latin typeface="Consolas" panose="020B0609020204030204" pitchFamily="49" charset="0"/>
                <a:ea typeface="Source Sans Pro" panose="020B0503030403020204" pitchFamily="34" charset="0"/>
              </a:rPr>
              <a:t>accept</a:t>
            </a:r>
            <a:r>
              <a:rPr lang="en-US" sz="2200" dirty="0">
                <a:latin typeface="Consolas" panose="020B0609020204030204" pitchFamily="49" charset="0"/>
                <a:ea typeface="Source Sans Pro" panose="020B0503030403020204" pitchFamily="34" charset="0"/>
              </a:rPr>
              <a:t>(v);</a:t>
            </a:r>
          </a:p>
          <a:p>
            <a:pPr marL="0" indent="0">
              <a:buNone/>
            </a:pPr>
            <a:r>
              <a:rPr lang="en-US" sz="2200" dirty="0">
                <a:latin typeface="Consolas" panose="020B0609020204030204" pitchFamily="49" charset="0"/>
                <a:ea typeface="Source Sans Pro" panose="020B0503030403020204" pitchFamily="34" charset="0"/>
              </a:rPr>
              <a:t>      </a:t>
            </a:r>
            <a:r>
              <a:rPr lang="en-US" sz="2200" dirty="0" err="1">
                <a:solidFill>
                  <a:schemeClr val="bg2"/>
                </a:solidFill>
                <a:latin typeface="Consolas" panose="020B0609020204030204" pitchFamily="49" charset="0"/>
                <a:ea typeface="Source Sans Pro" panose="020B0503030403020204" pitchFamily="34" charset="0"/>
              </a:rPr>
              <a:t>frontmatter.add</a:t>
            </a:r>
            <a:r>
              <a:rPr lang="en-US" sz="2200" dirty="0">
                <a:solidFill>
                  <a:schemeClr val="bg2"/>
                </a:solidFill>
                <a:latin typeface="Consolas" panose="020B0609020204030204" pitchFamily="49" charset="0"/>
                <a:ea typeface="Source Sans Pro" panose="020B0503030403020204" pitchFamily="34" charset="0"/>
              </a:rPr>
              <a:t>(</a:t>
            </a:r>
            <a:r>
              <a:rPr lang="en-US" sz="2200" dirty="0" err="1">
                <a:solidFill>
                  <a:schemeClr val="bg2"/>
                </a:solidFill>
                <a:latin typeface="Consolas" panose="020B0609020204030204" pitchFamily="49" charset="0"/>
                <a:ea typeface="Source Sans Pro" panose="020B0503030403020204" pitchFamily="34" charset="0"/>
              </a:rPr>
              <a:t>v.getToC</a:t>
            </a:r>
            <a:r>
              <a:rPr lang="en-US" sz="2200" dirty="0">
                <a:solidFill>
                  <a:schemeClr val="bg2"/>
                </a:solidFill>
                <a:latin typeface="Consolas" panose="020B0609020204030204" pitchFamily="49" charset="0"/>
                <a:ea typeface="Source Sans Pro" panose="020B0503030403020204" pitchFamily="34" charset="0"/>
              </a:rPr>
              <a:t>());</a:t>
            </a:r>
          </a:p>
          <a:p>
            <a:pPr marL="0" indent="0">
              <a:buNone/>
            </a:pPr>
            <a:r>
              <a:rPr lang="en-US" sz="2200" dirty="0">
                <a:latin typeface="Consolas" panose="020B0609020204030204" pitchFamily="49" charset="0"/>
                <a:ea typeface="Source Sans Pro" panose="020B0503030403020204" pitchFamily="34" charset="0"/>
              </a:rPr>
              <a:t>   }</a:t>
            </a:r>
          </a:p>
          <a:p>
            <a:pPr marL="0" indent="0">
              <a:buNone/>
            </a:pPr>
            <a:r>
              <a:rPr lang="en-US" sz="2200" dirty="0">
                <a:latin typeface="Consolas" panose="020B0609020204030204" pitchFamily="49" charset="0"/>
                <a:ea typeface="Source Sans Pro" panose="020B0503030403020204" pitchFamily="34" charset="0"/>
              </a:rPr>
              <a:t>   public void </a:t>
            </a:r>
            <a:r>
              <a:rPr lang="en-US" sz="2200" b="1" dirty="0" err="1">
                <a:latin typeface="Consolas" panose="020B0609020204030204" pitchFamily="49" charset="0"/>
                <a:ea typeface="Source Sans Pro" panose="020B0503030403020204" pitchFamily="34" charset="0"/>
              </a:rPr>
              <a:t>makeListofFigures</a:t>
            </a:r>
            <a:r>
              <a:rPr lang="en-US" sz="2200" dirty="0">
                <a:latin typeface="Consolas" panose="020B0609020204030204" pitchFamily="49" charset="0"/>
                <a:ea typeface="Source Sans Pro" panose="020B0503030403020204" pitchFamily="34" charset="0"/>
              </a:rPr>
              <a:t>(){</a:t>
            </a:r>
          </a:p>
          <a:p>
            <a:pPr marL="0" indent="0">
              <a:buNone/>
            </a:pPr>
            <a:r>
              <a:rPr lang="en-US" sz="2200" dirty="0">
                <a:latin typeface="Consolas" panose="020B0609020204030204" pitchFamily="49" charset="0"/>
                <a:ea typeface="Source Sans Pro" panose="020B0503030403020204" pitchFamily="34" charset="0"/>
              </a:rPr>
              <a:t>      Visitor v=new </a:t>
            </a:r>
            <a:r>
              <a:rPr lang="en-US" sz="2200" dirty="0" err="1">
                <a:latin typeface="Consolas" panose="020B0609020204030204" pitchFamily="49" charset="0"/>
                <a:ea typeface="Source Sans Pro" panose="020B0503030403020204" pitchFamily="34" charset="0"/>
              </a:rPr>
              <a:t>ListFigureVisitor</a:t>
            </a:r>
            <a:r>
              <a:rPr lang="en-US" sz="2200" dirty="0">
                <a:latin typeface="Consolas" panose="020B0609020204030204" pitchFamily="49" charset="0"/>
                <a:ea typeface="Source Sans Pro" panose="020B0503030403020204" pitchFamily="34" charset="0"/>
              </a:rPr>
              <a:t>();</a:t>
            </a:r>
          </a:p>
          <a:p>
            <a:pPr marL="0" indent="0">
              <a:buNone/>
            </a:pPr>
            <a:r>
              <a:rPr lang="en-US" sz="2200" dirty="0">
                <a:latin typeface="Consolas" panose="020B0609020204030204" pitchFamily="49" charset="0"/>
                <a:ea typeface="Source Sans Pro" panose="020B0503030403020204" pitchFamily="34" charset="0"/>
              </a:rPr>
              <a:t>      for(Chapter c:chapters) </a:t>
            </a:r>
            <a:r>
              <a:rPr lang="en-US" sz="2200" dirty="0" err="1">
                <a:latin typeface="Consolas" panose="020B0609020204030204" pitchFamily="49" charset="0"/>
                <a:ea typeface="Source Sans Pro" panose="020B0503030403020204" pitchFamily="34" charset="0"/>
              </a:rPr>
              <a:t>c.</a:t>
            </a:r>
            <a:r>
              <a:rPr lang="en-US" sz="2200" dirty="0" err="1">
                <a:solidFill>
                  <a:srgbClr val="0070C0"/>
                </a:solidFill>
                <a:latin typeface="Consolas" panose="020B0609020204030204" pitchFamily="49" charset="0"/>
                <a:ea typeface="Source Sans Pro" panose="020B0503030403020204" pitchFamily="34" charset="0"/>
              </a:rPr>
              <a:t>accept</a:t>
            </a:r>
            <a:r>
              <a:rPr lang="en-US" sz="2200" dirty="0">
                <a:latin typeface="Consolas" panose="020B0609020204030204" pitchFamily="49" charset="0"/>
                <a:ea typeface="Source Sans Pro" panose="020B0503030403020204" pitchFamily="34" charset="0"/>
              </a:rPr>
              <a:t>(v);</a:t>
            </a:r>
          </a:p>
          <a:p>
            <a:pPr marL="0" indent="0">
              <a:buNone/>
            </a:pPr>
            <a:r>
              <a:rPr lang="en-US" sz="2200" dirty="0">
                <a:latin typeface="Consolas" panose="020B0609020204030204" pitchFamily="49" charset="0"/>
                <a:ea typeface="Source Sans Pro" panose="020B0503030403020204" pitchFamily="34" charset="0"/>
              </a:rPr>
              <a:t>      </a:t>
            </a:r>
            <a:r>
              <a:rPr lang="en-US" sz="2200" dirty="0" err="1">
                <a:latin typeface="Consolas" panose="020B0609020204030204" pitchFamily="49" charset="0"/>
                <a:ea typeface="Source Sans Pro" panose="020B0503030403020204" pitchFamily="34" charset="0"/>
              </a:rPr>
              <a:t>frontmatter.add</a:t>
            </a:r>
            <a:r>
              <a:rPr lang="en-US" sz="2200" dirty="0">
                <a:latin typeface="Consolas" panose="020B0609020204030204" pitchFamily="49" charset="0"/>
                <a:ea typeface="Source Sans Pro" panose="020B0503030403020204" pitchFamily="34" charset="0"/>
              </a:rPr>
              <a:t>(</a:t>
            </a:r>
            <a:r>
              <a:rPr lang="en-US" sz="2200" dirty="0" err="1">
                <a:latin typeface="Consolas" panose="020B0609020204030204" pitchFamily="49" charset="0"/>
                <a:ea typeface="Source Sans Pro" panose="020B0503030403020204" pitchFamily="34" charset="0"/>
              </a:rPr>
              <a:t>v.getFigureList</a:t>
            </a:r>
            <a:r>
              <a:rPr lang="en-US" sz="2200" dirty="0">
                <a:latin typeface="Consolas" panose="020B0609020204030204" pitchFamily="49" charset="0"/>
                <a:ea typeface="Source Sans Pro" panose="020B0503030403020204" pitchFamily="34" charset="0"/>
              </a:rPr>
              <a:t>());</a:t>
            </a:r>
          </a:p>
          <a:p>
            <a:pPr marL="0" indent="0">
              <a:spcBef>
                <a:spcPts val="0"/>
              </a:spcBef>
              <a:buNone/>
            </a:pPr>
            <a:r>
              <a:rPr lang="en-US" sz="2200" dirty="0">
                <a:latin typeface="Consolas" panose="020B0609020204030204" pitchFamily="49" charset="0"/>
                <a:ea typeface="Source Sans Pro" panose="020B0503030403020204" pitchFamily="34" charset="0"/>
              </a:rPr>
              <a:t>   }</a:t>
            </a:r>
          </a:p>
          <a:p>
            <a:pPr marL="0" indent="0">
              <a:spcBef>
                <a:spcPts val="0"/>
              </a:spcBef>
              <a:buNone/>
            </a:pPr>
            <a:r>
              <a:rPr lang="en-US" sz="2200" dirty="0">
                <a:latin typeface="Consolas" panose="020B0609020204030204" pitchFamily="49" charset="0"/>
                <a:ea typeface="Source Sans Pro" panose="020B0503030403020204" pitchFamily="34" charset="0"/>
              </a:rPr>
              <a:t> }</a:t>
            </a:r>
            <a:endParaRPr lang="en-US" sz="2200" dirty="0">
              <a:latin typeface="Consolas" panose="020B0609020204030204" pitchFamily="49" charset="0"/>
            </a:endParaRPr>
          </a:p>
        </p:txBody>
      </p:sp>
      <p:sp>
        <p:nvSpPr>
          <p:cNvPr id="4" name="TextBox 3">
            <a:extLst>
              <a:ext uri="{FF2B5EF4-FFF2-40B4-BE49-F238E27FC236}">
                <a16:creationId xmlns:a16="http://schemas.microsoft.com/office/drawing/2014/main" id="{35EBBFD3-AEB0-8982-67B0-17F48CB23483}"/>
              </a:ext>
            </a:extLst>
          </p:cNvPr>
          <p:cNvSpPr txBox="1"/>
          <p:nvPr/>
        </p:nvSpPr>
        <p:spPr>
          <a:xfrm>
            <a:off x="4252917" y="6488668"/>
            <a:ext cx="4891083" cy="369332"/>
          </a:xfrm>
          <a:prstGeom prst="rect">
            <a:avLst/>
          </a:prstGeom>
          <a:noFill/>
        </p:spPr>
        <p:txBody>
          <a:bodyPr wrap="none" rtlCol="0">
            <a:spAutoFit/>
          </a:bodyPr>
          <a:lstStyle/>
          <a:p>
            <a:r>
              <a:rPr lang="en-US" dirty="0"/>
              <a:t>After class, refactor and remove this repetition</a:t>
            </a:r>
          </a:p>
        </p:txBody>
      </p:sp>
    </p:spTree>
    <p:extLst>
      <p:ext uri="{BB962C8B-B14F-4D97-AF65-F5344CB8AC3E}">
        <p14:creationId xmlns:p14="http://schemas.microsoft.com/office/powerpoint/2010/main" val="160466692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498441-52C1-36C4-C72C-8BBD5D7EA4C6}"/>
              </a:ext>
            </a:extLst>
          </p:cNvPr>
          <p:cNvSpPr>
            <a:spLocks noGrp="1"/>
          </p:cNvSpPr>
          <p:nvPr>
            <p:ph type="title"/>
          </p:nvPr>
        </p:nvSpPr>
        <p:spPr/>
        <p:txBody>
          <a:bodyPr/>
          <a:lstStyle/>
          <a:p>
            <a:r>
              <a:rPr lang="en-US" dirty="0"/>
              <a:t>Exercise 2.1: make </a:t>
            </a:r>
            <a:r>
              <a:rPr lang="en-US" dirty="0" err="1"/>
              <a:t>ToC</a:t>
            </a:r>
            <a:endParaRPr lang="en-US" dirty="0"/>
          </a:p>
        </p:txBody>
      </p:sp>
      <p:sp>
        <p:nvSpPr>
          <p:cNvPr id="3" name="Content Placeholder 2">
            <a:extLst>
              <a:ext uri="{FF2B5EF4-FFF2-40B4-BE49-F238E27FC236}">
                <a16:creationId xmlns:a16="http://schemas.microsoft.com/office/drawing/2014/main" id="{FAE32166-BB1C-480A-A9FF-40928407FC39}"/>
              </a:ext>
            </a:extLst>
          </p:cNvPr>
          <p:cNvSpPr>
            <a:spLocks noGrp="1"/>
          </p:cNvSpPr>
          <p:nvPr>
            <p:ph idx="1"/>
          </p:nvPr>
        </p:nvSpPr>
        <p:spPr>
          <a:xfrm>
            <a:off x="440432" y="1268760"/>
            <a:ext cx="8596064" cy="4532109"/>
          </a:xfrm>
        </p:spPr>
        <p:txBody>
          <a:bodyPr/>
          <a:lstStyle/>
          <a:p>
            <a:pPr marL="0" indent="0">
              <a:buNone/>
            </a:pPr>
            <a:r>
              <a:rPr lang="en-US" sz="2200" dirty="0">
                <a:latin typeface="Consolas" panose="020B0609020204030204" pitchFamily="49" charset="0"/>
                <a:ea typeface="Source Sans Pro" panose="020B0503030403020204" pitchFamily="34" charset="0"/>
              </a:rPr>
              <a:t>public interface Visitor{</a:t>
            </a:r>
          </a:p>
          <a:p>
            <a:pPr marL="0" indent="0">
              <a:buNone/>
            </a:pPr>
            <a:r>
              <a:rPr lang="en-US" sz="2200" dirty="0">
                <a:latin typeface="Consolas" panose="020B0609020204030204" pitchFamily="49" charset="0"/>
                <a:ea typeface="Source Sans Pro" panose="020B0503030403020204" pitchFamily="34" charset="0"/>
              </a:rPr>
              <a:t>    void visit(Chapter c);          </a:t>
            </a:r>
            <a:r>
              <a:rPr lang="en-US" sz="2200" dirty="0">
                <a:latin typeface="+mj-lt"/>
                <a:ea typeface="Source Sans Pro" panose="020B0503030403020204" pitchFamily="34" charset="0"/>
              </a:rPr>
              <a:t>Visitor can traverse</a:t>
            </a:r>
            <a:endParaRPr lang="en-US" sz="2200" dirty="0">
              <a:latin typeface="Consolas" panose="020B0609020204030204" pitchFamily="49" charset="0"/>
              <a:ea typeface="Source Sans Pro" panose="020B0503030403020204" pitchFamily="34" charset="0"/>
            </a:endParaRPr>
          </a:p>
          <a:p>
            <a:pPr marL="0" indent="0">
              <a:buNone/>
            </a:pPr>
            <a:r>
              <a:rPr lang="en-US" sz="2200" dirty="0">
                <a:latin typeface="Consolas" panose="020B0609020204030204" pitchFamily="49" charset="0"/>
                <a:ea typeface="Source Sans Pro" panose="020B0503030403020204" pitchFamily="34" charset="0"/>
              </a:rPr>
              <a:t>    void visit(Section s); </a:t>
            </a:r>
            <a:r>
              <a:rPr lang="en-US" sz="2200" dirty="0">
                <a:latin typeface="+mj-lt"/>
                <a:ea typeface="Source Sans Pro" panose="020B0503030403020204" pitchFamily="34" charset="0"/>
              </a:rPr>
              <a:t>                  through hierarchies</a:t>
            </a:r>
            <a:endParaRPr lang="en-US" sz="2200" dirty="0">
              <a:latin typeface="Consolas" panose="020B0609020204030204" pitchFamily="49" charset="0"/>
              <a:ea typeface="Source Sans Pro" panose="020B0503030403020204" pitchFamily="34" charset="0"/>
            </a:endParaRPr>
          </a:p>
          <a:p>
            <a:pPr marL="0" indent="0">
              <a:buNone/>
            </a:pPr>
            <a:r>
              <a:rPr lang="en-US" sz="2200" dirty="0">
                <a:latin typeface="Consolas" panose="020B0609020204030204" pitchFamily="49" charset="0"/>
                <a:ea typeface="Source Sans Pro" panose="020B0503030403020204" pitchFamily="34" charset="0"/>
              </a:rPr>
              <a:t>    void visit(Paragraph p);</a:t>
            </a:r>
          </a:p>
          <a:p>
            <a:pPr marL="0" indent="0">
              <a:buNone/>
            </a:pPr>
            <a:r>
              <a:rPr lang="en-US" sz="2200" dirty="0">
                <a:latin typeface="Consolas" panose="020B0609020204030204" pitchFamily="49" charset="0"/>
                <a:ea typeface="Source Sans Pro" panose="020B0503030403020204" pitchFamily="34" charset="0"/>
              </a:rPr>
              <a:t>}</a:t>
            </a:r>
            <a:r>
              <a:rPr lang="en-US" sz="2200" dirty="0">
                <a:latin typeface="+mj-lt"/>
                <a:ea typeface="Source Sans Pro" panose="020B0503030403020204" pitchFamily="34" charset="0"/>
              </a:rPr>
              <a:t>                                                             Chapter and Section do not</a:t>
            </a:r>
            <a:endParaRPr lang="en-US" sz="2200" dirty="0">
              <a:latin typeface="Consolas" panose="020B0609020204030204" pitchFamily="49" charset="0"/>
              <a:ea typeface="Source Sans Pro" panose="020B0503030403020204" pitchFamily="34" charset="0"/>
            </a:endParaRPr>
          </a:p>
          <a:p>
            <a:pPr marL="0" indent="0">
              <a:buNone/>
            </a:pPr>
            <a:r>
              <a:rPr lang="en-US" sz="2200" dirty="0">
                <a:latin typeface="Consolas" panose="020B0609020204030204" pitchFamily="49" charset="0"/>
                <a:ea typeface="Source Sans Pro" panose="020B0503030403020204" pitchFamily="34" charset="0"/>
              </a:rPr>
              <a:t>public class Chapter {   </a:t>
            </a:r>
            <a:r>
              <a:rPr lang="en-US" sz="2200" dirty="0">
                <a:latin typeface="+mj-lt"/>
                <a:ea typeface="Source Sans Pro" panose="020B0503030403020204" pitchFamily="34" charset="0"/>
              </a:rPr>
              <a:t>              have a common interface</a:t>
            </a:r>
            <a:endParaRPr lang="en-US" sz="2200" dirty="0">
              <a:latin typeface="Consolas" panose="020B0609020204030204" pitchFamily="49" charset="0"/>
              <a:ea typeface="Source Sans Pro" panose="020B0503030403020204" pitchFamily="34" charset="0"/>
            </a:endParaRPr>
          </a:p>
          <a:p>
            <a:pPr marL="0" indent="0">
              <a:buNone/>
            </a:pPr>
            <a:r>
              <a:rPr lang="en-US" sz="2200" dirty="0">
                <a:latin typeface="Consolas" panose="020B0609020204030204" pitchFamily="49" charset="0"/>
                <a:ea typeface="Source Sans Pro" panose="020B0503030403020204" pitchFamily="34" charset="0"/>
              </a:rPr>
              <a:t> private String title; //…</a:t>
            </a:r>
          </a:p>
          <a:p>
            <a:pPr marL="0" indent="0">
              <a:buNone/>
            </a:pPr>
            <a:r>
              <a:rPr lang="en-US" sz="2200" dirty="0">
                <a:latin typeface="Source Sans Pro" panose="020B0503030403020204" pitchFamily="34" charset="0"/>
                <a:ea typeface="Source Sans Pro" panose="020B0503030403020204" pitchFamily="34" charset="0"/>
              </a:rPr>
              <a:t>   </a:t>
            </a:r>
            <a:r>
              <a:rPr lang="en-US" sz="2200" dirty="0">
                <a:latin typeface="Consolas" panose="020B0609020204030204" pitchFamily="49" charset="0"/>
                <a:ea typeface="Source Sans Pro" panose="020B0503030403020204" pitchFamily="34" charset="0"/>
              </a:rPr>
              <a:t>private List&lt;Section&gt; parts; </a:t>
            </a:r>
            <a:r>
              <a:rPr lang="en-US" sz="2200" dirty="0">
                <a:latin typeface="+mj-lt"/>
                <a:ea typeface="Source Sans Pro" panose="020B0503030403020204" pitchFamily="34" charset="0"/>
              </a:rPr>
              <a:t>//Chapter has Sections</a:t>
            </a:r>
          </a:p>
          <a:p>
            <a:pPr marL="0" indent="0">
              <a:buNone/>
            </a:pPr>
            <a:r>
              <a:rPr lang="en-US" sz="2200" dirty="0">
                <a:latin typeface="Source Sans Pro" panose="020B0503030403020204" pitchFamily="34" charset="0"/>
                <a:ea typeface="Source Sans Pro" panose="020B0503030403020204" pitchFamily="34" charset="0"/>
              </a:rPr>
              <a:t>   </a:t>
            </a:r>
            <a:r>
              <a:rPr lang="en-US" sz="2200" dirty="0">
                <a:latin typeface="Consolas" panose="020B0609020204030204" pitchFamily="49" charset="0"/>
                <a:ea typeface="Source Sans Pro" panose="020B0503030403020204" pitchFamily="34" charset="0"/>
              </a:rPr>
              <a:t>public void </a:t>
            </a:r>
            <a:r>
              <a:rPr lang="en-US" sz="2200" dirty="0">
                <a:solidFill>
                  <a:srgbClr val="0070C0"/>
                </a:solidFill>
                <a:latin typeface="Consolas" panose="020B0609020204030204" pitchFamily="49" charset="0"/>
                <a:ea typeface="Source Sans Pro" panose="020B0503030403020204" pitchFamily="34" charset="0"/>
              </a:rPr>
              <a:t>accept</a:t>
            </a:r>
            <a:r>
              <a:rPr lang="en-US" sz="2200" dirty="0">
                <a:latin typeface="Consolas" panose="020B0609020204030204" pitchFamily="49" charset="0"/>
                <a:ea typeface="Source Sans Pro" panose="020B0503030403020204" pitchFamily="34" charset="0"/>
              </a:rPr>
              <a:t>(Visitor v){ </a:t>
            </a:r>
            <a:endParaRPr lang="en-US" sz="2200" dirty="0">
              <a:latin typeface="Source Sans Pro" panose="020B0503030403020204" pitchFamily="34" charset="0"/>
              <a:ea typeface="Source Sans Pro" panose="020B0503030403020204" pitchFamily="34" charset="0"/>
            </a:endParaRPr>
          </a:p>
          <a:p>
            <a:pPr marL="0" indent="0">
              <a:buNone/>
            </a:pPr>
            <a:r>
              <a:rPr lang="en-US" sz="2200" dirty="0">
                <a:latin typeface="Consolas" panose="020B0609020204030204" pitchFamily="49" charset="0"/>
                <a:ea typeface="Source Sans Pro" panose="020B0503030403020204" pitchFamily="34" charset="0"/>
              </a:rPr>
              <a:t>         </a:t>
            </a:r>
            <a:r>
              <a:rPr lang="en-US" sz="2200" dirty="0" err="1">
                <a:latin typeface="Consolas" panose="020B0609020204030204" pitchFamily="49" charset="0"/>
                <a:ea typeface="Source Sans Pro" panose="020B0503030403020204" pitchFamily="34" charset="0"/>
              </a:rPr>
              <a:t>v.</a:t>
            </a:r>
            <a:r>
              <a:rPr lang="en-US" sz="2200" dirty="0" err="1">
                <a:solidFill>
                  <a:srgbClr val="0070C0"/>
                </a:solidFill>
                <a:latin typeface="Consolas" panose="020B0609020204030204" pitchFamily="49" charset="0"/>
                <a:ea typeface="Source Sans Pro" panose="020B0503030403020204" pitchFamily="34" charset="0"/>
              </a:rPr>
              <a:t>visit</a:t>
            </a:r>
            <a:r>
              <a:rPr lang="en-US" sz="2200" dirty="0">
                <a:latin typeface="Consolas" panose="020B0609020204030204" pitchFamily="49" charset="0"/>
                <a:ea typeface="Source Sans Pro" panose="020B0503030403020204" pitchFamily="34" charset="0"/>
              </a:rPr>
              <a:t>(this);</a:t>
            </a:r>
          </a:p>
          <a:p>
            <a:pPr marL="0" indent="0">
              <a:buNone/>
            </a:pPr>
            <a:r>
              <a:rPr lang="en-US" sz="2200" dirty="0">
                <a:latin typeface="Consolas" panose="020B0609020204030204" pitchFamily="49" charset="0"/>
                <a:ea typeface="Source Sans Pro" panose="020B0503030403020204" pitchFamily="34" charset="0"/>
              </a:rPr>
              <a:t>         </a:t>
            </a:r>
            <a:r>
              <a:rPr lang="en-US" sz="2200" dirty="0">
                <a:solidFill>
                  <a:schemeClr val="bg2"/>
                </a:solidFill>
                <a:latin typeface="Consolas" panose="020B0609020204030204" pitchFamily="49" charset="0"/>
                <a:ea typeface="Source Sans Pro" panose="020B0503030403020204" pitchFamily="34" charset="0"/>
              </a:rPr>
              <a:t>for(var section: parts) </a:t>
            </a:r>
            <a:r>
              <a:rPr lang="en-US" sz="2200" dirty="0" err="1">
                <a:solidFill>
                  <a:schemeClr val="bg2"/>
                </a:solidFill>
                <a:latin typeface="Consolas" panose="020B0609020204030204" pitchFamily="49" charset="0"/>
                <a:ea typeface="Source Sans Pro" panose="020B0503030403020204" pitchFamily="34" charset="0"/>
              </a:rPr>
              <a:t>section</a:t>
            </a:r>
            <a:r>
              <a:rPr lang="en-US" sz="2200" dirty="0" err="1">
                <a:latin typeface="Consolas" panose="020B0609020204030204" pitchFamily="49" charset="0"/>
                <a:ea typeface="Source Sans Pro" panose="020B0503030403020204" pitchFamily="34" charset="0"/>
              </a:rPr>
              <a:t>.</a:t>
            </a:r>
            <a:r>
              <a:rPr lang="en-US" sz="2200" dirty="0" err="1">
                <a:solidFill>
                  <a:srgbClr val="0070C0"/>
                </a:solidFill>
                <a:latin typeface="Consolas" panose="020B0609020204030204" pitchFamily="49" charset="0"/>
                <a:ea typeface="Source Sans Pro" panose="020B0503030403020204" pitchFamily="34" charset="0"/>
              </a:rPr>
              <a:t>accept</a:t>
            </a:r>
            <a:r>
              <a:rPr lang="en-US" sz="2200" dirty="0">
                <a:latin typeface="Consolas" panose="020B0609020204030204" pitchFamily="49" charset="0"/>
                <a:ea typeface="Source Sans Pro" panose="020B0503030403020204" pitchFamily="34" charset="0"/>
              </a:rPr>
              <a:t>(v);</a:t>
            </a:r>
          </a:p>
          <a:p>
            <a:pPr marL="0" indent="0">
              <a:buNone/>
            </a:pPr>
            <a:r>
              <a:rPr lang="en-US" sz="2200" dirty="0">
                <a:latin typeface="Consolas" panose="020B0609020204030204" pitchFamily="49" charset="0"/>
                <a:ea typeface="Source Sans Pro" panose="020B0503030403020204" pitchFamily="34" charset="0"/>
              </a:rPr>
              <a:t>  }</a:t>
            </a:r>
          </a:p>
          <a:p>
            <a:pPr marL="0" indent="0">
              <a:buNone/>
            </a:pPr>
            <a:r>
              <a:rPr lang="en-US" sz="2200" dirty="0">
                <a:latin typeface="Consolas" panose="020B0609020204030204" pitchFamily="49" charset="0"/>
                <a:ea typeface="Source Sans Pro" panose="020B0503030403020204" pitchFamily="34" charset="0"/>
              </a:rPr>
              <a:t>  public String </a:t>
            </a:r>
            <a:r>
              <a:rPr lang="en-US" sz="2200" dirty="0" err="1">
                <a:latin typeface="Consolas" panose="020B0609020204030204" pitchFamily="49" charset="0"/>
                <a:ea typeface="Source Sans Pro" panose="020B0503030403020204" pitchFamily="34" charset="0"/>
              </a:rPr>
              <a:t>getTitle</a:t>
            </a:r>
            <a:r>
              <a:rPr lang="en-US" sz="2200" dirty="0">
                <a:latin typeface="Consolas" panose="020B0609020204030204" pitchFamily="49" charset="0"/>
                <a:ea typeface="Source Sans Pro" panose="020B0503030403020204" pitchFamily="34" charset="0"/>
              </a:rPr>
              <a:t>(){ return  title;}</a:t>
            </a:r>
          </a:p>
          <a:p>
            <a:pPr marL="0" indent="0">
              <a:buNone/>
            </a:pPr>
            <a:r>
              <a:rPr lang="en-US" sz="2200" dirty="0">
                <a:latin typeface="Consolas" panose="020B0609020204030204" pitchFamily="49" charset="0"/>
                <a:ea typeface="Source Sans Pro" panose="020B0503030403020204" pitchFamily="34" charset="0"/>
              </a:rPr>
              <a:t>}</a:t>
            </a:r>
          </a:p>
        </p:txBody>
      </p:sp>
    </p:spTree>
    <p:extLst>
      <p:ext uri="{BB962C8B-B14F-4D97-AF65-F5344CB8AC3E}">
        <p14:creationId xmlns:p14="http://schemas.microsoft.com/office/powerpoint/2010/main" val="233384723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498441-52C1-36C4-C72C-8BBD5D7EA4C6}"/>
              </a:ext>
            </a:extLst>
          </p:cNvPr>
          <p:cNvSpPr>
            <a:spLocks noGrp="1"/>
          </p:cNvSpPr>
          <p:nvPr>
            <p:ph type="title"/>
          </p:nvPr>
        </p:nvSpPr>
        <p:spPr/>
        <p:txBody>
          <a:bodyPr/>
          <a:lstStyle/>
          <a:p>
            <a:r>
              <a:rPr lang="en-US" dirty="0"/>
              <a:t>Exercise 2.2: make </a:t>
            </a:r>
            <a:r>
              <a:rPr lang="en-US" dirty="0" err="1"/>
              <a:t>ToC</a:t>
            </a:r>
            <a:endParaRPr lang="en-US" dirty="0"/>
          </a:p>
        </p:txBody>
      </p:sp>
      <p:sp>
        <p:nvSpPr>
          <p:cNvPr id="3" name="Content Placeholder 2">
            <a:extLst>
              <a:ext uri="{FF2B5EF4-FFF2-40B4-BE49-F238E27FC236}">
                <a16:creationId xmlns:a16="http://schemas.microsoft.com/office/drawing/2014/main" id="{FAE32166-BB1C-480A-A9FF-40928407FC39}"/>
              </a:ext>
            </a:extLst>
          </p:cNvPr>
          <p:cNvSpPr>
            <a:spLocks noGrp="1"/>
          </p:cNvSpPr>
          <p:nvPr>
            <p:ph idx="1"/>
          </p:nvPr>
        </p:nvSpPr>
        <p:spPr>
          <a:xfrm>
            <a:off x="440432" y="1268760"/>
            <a:ext cx="9028112" cy="4532109"/>
          </a:xfrm>
        </p:spPr>
        <p:txBody>
          <a:bodyPr/>
          <a:lstStyle/>
          <a:p>
            <a:pPr marL="0" indent="0">
              <a:buNone/>
            </a:pPr>
            <a:r>
              <a:rPr lang="en-US" sz="2200" dirty="0">
                <a:latin typeface="Consolas" panose="020B0609020204030204" pitchFamily="49" charset="0"/>
                <a:ea typeface="Source Sans Pro" panose="020B0503030403020204" pitchFamily="34" charset="0"/>
              </a:rPr>
              <a:t>public interface Visitor{</a:t>
            </a:r>
          </a:p>
          <a:p>
            <a:pPr marL="0" indent="0">
              <a:buNone/>
            </a:pPr>
            <a:r>
              <a:rPr lang="en-US" sz="2200" dirty="0">
                <a:latin typeface="Consolas" panose="020B0609020204030204" pitchFamily="49" charset="0"/>
                <a:ea typeface="Source Sans Pro" panose="020B0503030403020204" pitchFamily="34" charset="0"/>
              </a:rPr>
              <a:t>    void visit(Chapter c);            </a:t>
            </a:r>
          </a:p>
          <a:p>
            <a:pPr marL="0" indent="0">
              <a:buNone/>
            </a:pPr>
            <a:r>
              <a:rPr lang="en-US" sz="2200" dirty="0">
                <a:latin typeface="Consolas" panose="020B0609020204030204" pitchFamily="49" charset="0"/>
                <a:ea typeface="Source Sans Pro" panose="020B0503030403020204" pitchFamily="34" charset="0"/>
              </a:rPr>
              <a:t>    void visit(Section s);</a:t>
            </a:r>
          </a:p>
          <a:p>
            <a:pPr marL="0" indent="0">
              <a:buNone/>
            </a:pPr>
            <a:r>
              <a:rPr lang="en-US" sz="2200" dirty="0">
                <a:latin typeface="Consolas" panose="020B0609020204030204" pitchFamily="49" charset="0"/>
                <a:ea typeface="Source Sans Pro" panose="020B0503030403020204" pitchFamily="34" charset="0"/>
              </a:rPr>
              <a:t>    void visit(Paragraph p);         </a:t>
            </a:r>
          </a:p>
          <a:p>
            <a:pPr marL="0" indent="0">
              <a:buNone/>
            </a:pPr>
            <a:r>
              <a:rPr lang="en-US" sz="2200" dirty="0">
                <a:latin typeface="Consolas" panose="020B0609020204030204" pitchFamily="49" charset="0"/>
                <a:ea typeface="Source Sans Pro" panose="020B0503030403020204" pitchFamily="34" charset="0"/>
              </a:rPr>
              <a:t>}    </a:t>
            </a:r>
            <a:r>
              <a:rPr lang="en-US" sz="2400" dirty="0">
                <a:latin typeface="+mj-lt"/>
                <a:ea typeface="Source Sans Pro" panose="020B0503030403020204" pitchFamily="34" charset="0"/>
              </a:rPr>
              <a:t>// Let’s use the </a:t>
            </a:r>
            <a:r>
              <a:rPr lang="en-US" sz="2400" dirty="0">
                <a:solidFill>
                  <a:schemeClr val="accent1"/>
                </a:solidFill>
                <a:latin typeface="+mj-lt"/>
                <a:ea typeface="Source Sans Pro" panose="020B0503030403020204" pitchFamily="34" charset="0"/>
              </a:rPr>
              <a:t>Composite</a:t>
            </a:r>
            <a:r>
              <a:rPr lang="en-US" sz="2400" dirty="0">
                <a:latin typeface="+mj-lt"/>
                <a:ea typeface="Source Sans Pro" panose="020B0503030403020204" pitchFamily="34" charset="0"/>
              </a:rPr>
              <a:t> pattern </a:t>
            </a:r>
            <a:r>
              <a:rPr lang="en-US" sz="2200" dirty="0">
                <a:latin typeface="+mj-lt"/>
                <a:ea typeface="Source Sans Pro" panose="020B0503030403020204" pitchFamily="34" charset="0"/>
              </a:rPr>
              <a:t> </a:t>
            </a:r>
          </a:p>
          <a:p>
            <a:pPr marL="0" indent="0">
              <a:buNone/>
            </a:pPr>
            <a:r>
              <a:rPr lang="en-US" sz="2200" dirty="0">
                <a:latin typeface="Consolas" panose="020B0609020204030204" pitchFamily="49" charset="0"/>
                <a:ea typeface="Source Sans Pro" panose="020B0503030403020204" pitchFamily="34" charset="0"/>
              </a:rPr>
              <a:t>public class Chapter extends </a:t>
            </a:r>
            <a:r>
              <a:rPr lang="en-US" sz="2200" dirty="0" err="1">
                <a:latin typeface="Consolas" panose="020B0609020204030204" pitchFamily="49" charset="0"/>
                <a:ea typeface="Source Sans Pro" panose="020B0503030403020204" pitchFamily="34" charset="0"/>
              </a:rPr>
              <a:t>CompositeNode</a:t>
            </a:r>
            <a:r>
              <a:rPr lang="en-US" sz="2200" dirty="0">
                <a:latin typeface="Consolas" panose="020B0609020204030204" pitchFamily="49" charset="0"/>
                <a:ea typeface="Source Sans Pro" panose="020B0503030403020204" pitchFamily="34" charset="0"/>
              </a:rPr>
              <a:t>{</a:t>
            </a:r>
          </a:p>
          <a:p>
            <a:pPr marL="0" indent="0">
              <a:buNone/>
            </a:pPr>
            <a:r>
              <a:rPr lang="en-US" sz="2200" dirty="0">
                <a:latin typeface="Consolas" panose="020B0609020204030204" pitchFamily="49" charset="0"/>
                <a:ea typeface="Source Sans Pro" panose="020B0503030403020204" pitchFamily="34" charset="0"/>
              </a:rPr>
              <a:t> private String title; //….</a:t>
            </a:r>
          </a:p>
          <a:p>
            <a:pPr marL="0" indent="0">
              <a:buNone/>
            </a:pPr>
            <a:r>
              <a:rPr lang="en-US" sz="2200" dirty="0">
                <a:latin typeface="Source Sans Pro" panose="020B0503030403020204" pitchFamily="34" charset="0"/>
                <a:ea typeface="Source Sans Pro" panose="020B0503030403020204" pitchFamily="34" charset="0"/>
              </a:rPr>
              <a:t>   </a:t>
            </a:r>
            <a:r>
              <a:rPr lang="en-US" sz="2200" dirty="0">
                <a:latin typeface="Consolas" panose="020B0609020204030204" pitchFamily="49" charset="0"/>
                <a:ea typeface="Source Sans Pro" panose="020B0503030403020204" pitchFamily="34" charset="0"/>
              </a:rPr>
              <a:t>private List&lt;Node&gt; parts;</a:t>
            </a:r>
            <a:r>
              <a:rPr lang="en-US" sz="2200" dirty="0">
                <a:latin typeface="Source Sans Pro" panose="020B0503030403020204" pitchFamily="34" charset="0"/>
                <a:ea typeface="Source Sans Pro" panose="020B0503030403020204" pitchFamily="34" charset="0"/>
              </a:rPr>
              <a:t>//</a:t>
            </a:r>
            <a:r>
              <a:rPr lang="en-US" sz="2200" dirty="0">
                <a:solidFill>
                  <a:schemeClr val="accent1"/>
                </a:solidFill>
                <a:latin typeface="Source Sans Pro" panose="020B0503030403020204" pitchFamily="34" charset="0"/>
                <a:ea typeface="Source Sans Pro" panose="020B0503030403020204" pitchFamily="34" charset="0"/>
              </a:rPr>
              <a:t>chapter has paragraphs and sections</a:t>
            </a:r>
          </a:p>
          <a:p>
            <a:pPr marL="0" indent="0">
              <a:buNone/>
            </a:pPr>
            <a:r>
              <a:rPr lang="en-US" sz="2200" dirty="0">
                <a:latin typeface="Source Sans Pro" panose="020B0503030403020204" pitchFamily="34" charset="0"/>
                <a:ea typeface="Source Sans Pro" panose="020B0503030403020204" pitchFamily="34" charset="0"/>
              </a:rPr>
              <a:t>   </a:t>
            </a:r>
            <a:r>
              <a:rPr lang="en-US" sz="2200" dirty="0">
                <a:latin typeface="Consolas" panose="020B0609020204030204" pitchFamily="49" charset="0"/>
                <a:ea typeface="Source Sans Pro" panose="020B0503030403020204" pitchFamily="34" charset="0"/>
              </a:rPr>
              <a:t>public void </a:t>
            </a:r>
            <a:r>
              <a:rPr lang="en-US" sz="2200" dirty="0">
                <a:solidFill>
                  <a:srgbClr val="0070C0"/>
                </a:solidFill>
                <a:latin typeface="Consolas" panose="020B0609020204030204" pitchFamily="49" charset="0"/>
                <a:ea typeface="Source Sans Pro" panose="020B0503030403020204" pitchFamily="34" charset="0"/>
              </a:rPr>
              <a:t>accept</a:t>
            </a:r>
            <a:r>
              <a:rPr lang="en-US" sz="2200" dirty="0">
                <a:latin typeface="Consolas" panose="020B0609020204030204" pitchFamily="49" charset="0"/>
                <a:ea typeface="Source Sans Pro" panose="020B0503030403020204" pitchFamily="34" charset="0"/>
              </a:rPr>
              <a:t>(Visitor v){ </a:t>
            </a:r>
            <a:r>
              <a:rPr lang="en-US" sz="2200" dirty="0">
                <a:solidFill>
                  <a:schemeClr val="accent1"/>
                </a:solidFill>
                <a:latin typeface="Source Sans Pro" panose="020B0503030403020204" pitchFamily="34" charset="0"/>
                <a:ea typeface="Source Sans Pro" panose="020B0503030403020204" pitchFamily="34" charset="0"/>
              </a:rPr>
              <a:t>//an operation for composite</a:t>
            </a:r>
          </a:p>
          <a:p>
            <a:pPr marL="0" indent="0">
              <a:buNone/>
            </a:pPr>
            <a:r>
              <a:rPr lang="en-US" sz="2200" dirty="0">
                <a:latin typeface="Consolas" panose="020B0609020204030204" pitchFamily="49" charset="0"/>
                <a:ea typeface="Source Sans Pro" panose="020B0503030403020204" pitchFamily="34" charset="0"/>
              </a:rPr>
              <a:t>         </a:t>
            </a:r>
            <a:r>
              <a:rPr lang="en-US" sz="2200" dirty="0" err="1">
                <a:latin typeface="Consolas" panose="020B0609020204030204" pitchFamily="49" charset="0"/>
                <a:ea typeface="Source Sans Pro" panose="020B0503030403020204" pitchFamily="34" charset="0"/>
              </a:rPr>
              <a:t>v.</a:t>
            </a:r>
            <a:r>
              <a:rPr lang="en-US" sz="2200" dirty="0" err="1">
                <a:solidFill>
                  <a:srgbClr val="0070C0"/>
                </a:solidFill>
                <a:latin typeface="Consolas" panose="020B0609020204030204" pitchFamily="49" charset="0"/>
                <a:ea typeface="Source Sans Pro" panose="020B0503030403020204" pitchFamily="34" charset="0"/>
              </a:rPr>
              <a:t>visit</a:t>
            </a:r>
            <a:r>
              <a:rPr lang="en-US" sz="2200" dirty="0">
                <a:latin typeface="Consolas" panose="020B0609020204030204" pitchFamily="49" charset="0"/>
                <a:ea typeface="Source Sans Pro" panose="020B0503030403020204" pitchFamily="34" charset="0"/>
              </a:rPr>
              <a:t>(this);</a:t>
            </a:r>
          </a:p>
          <a:p>
            <a:pPr marL="0" indent="0">
              <a:buNone/>
            </a:pPr>
            <a:r>
              <a:rPr lang="en-US" sz="2200" dirty="0">
                <a:latin typeface="Consolas" panose="020B0609020204030204" pitchFamily="49" charset="0"/>
                <a:ea typeface="Source Sans Pro" panose="020B0503030403020204" pitchFamily="34" charset="0"/>
              </a:rPr>
              <a:t>         </a:t>
            </a:r>
            <a:r>
              <a:rPr lang="en-US" sz="2200" dirty="0">
                <a:solidFill>
                  <a:schemeClr val="bg2"/>
                </a:solidFill>
                <a:latin typeface="Consolas" panose="020B0609020204030204" pitchFamily="49" charset="0"/>
                <a:ea typeface="Source Sans Pro" panose="020B0503030403020204" pitchFamily="34" charset="0"/>
              </a:rPr>
              <a:t>for(var node: parts) </a:t>
            </a:r>
            <a:r>
              <a:rPr lang="en-US" sz="2200" dirty="0" err="1">
                <a:solidFill>
                  <a:schemeClr val="bg2"/>
                </a:solidFill>
                <a:latin typeface="Consolas" panose="020B0609020204030204" pitchFamily="49" charset="0"/>
                <a:ea typeface="Source Sans Pro" panose="020B0503030403020204" pitchFamily="34" charset="0"/>
              </a:rPr>
              <a:t>node</a:t>
            </a:r>
            <a:r>
              <a:rPr lang="en-US" sz="2200" dirty="0" err="1">
                <a:latin typeface="Consolas" panose="020B0609020204030204" pitchFamily="49" charset="0"/>
                <a:ea typeface="Source Sans Pro" panose="020B0503030403020204" pitchFamily="34" charset="0"/>
              </a:rPr>
              <a:t>.</a:t>
            </a:r>
            <a:r>
              <a:rPr lang="en-US" sz="2200" dirty="0" err="1">
                <a:solidFill>
                  <a:srgbClr val="0070C0"/>
                </a:solidFill>
                <a:latin typeface="Consolas" panose="020B0609020204030204" pitchFamily="49" charset="0"/>
                <a:ea typeface="Source Sans Pro" panose="020B0503030403020204" pitchFamily="34" charset="0"/>
              </a:rPr>
              <a:t>accept</a:t>
            </a:r>
            <a:r>
              <a:rPr lang="en-US" sz="2200" dirty="0">
                <a:latin typeface="Consolas" panose="020B0609020204030204" pitchFamily="49" charset="0"/>
                <a:ea typeface="Source Sans Pro" panose="020B0503030403020204" pitchFamily="34" charset="0"/>
              </a:rPr>
              <a:t>(v);</a:t>
            </a:r>
          </a:p>
          <a:p>
            <a:pPr marL="0" indent="0">
              <a:buNone/>
            </a:pPr>
            <a:r>
              <a:rPr lang="en-US" sz="2200" dirty="0">
                <a:latin typeface="Consolas" panose="020B0609020204030204" pitchFamily="49" charset="0"/>
                <a:ea typeface="Source Sans Pro" panose="020B0503030403020204" pitchFamily="34" charset="0"/>
              </a:rPr>
              <a:t>  }</a:t>
            </a:r>
          </a:p>
          <a:p>
            <a:pPr marL="0" indent="0">
              <a:buNone/>
            </a:pPr>
            <a:r>
              <a:rPr lang="en-US" sz="2200" dirty="0">
                <a:latin typeface="Consolas" panose="020B0609020204030204" pitchFamily="49" charset="0"/>
                <a:ea typeface="Source Sans Pro" panose="020B0503030403020204" pitchFamily="34" charset="0"/>
              </a:rPr>
              <a:t>  public String </a:t>
            </a:r>
            <a:r>
              <a:rPr lang="en-US" sz="2200" dirty="0" err="1">
                <a:latin typeface="Consolas" panose="020B0609020204030204" pitchFamily="49" charset="0"/>
                <a:ea typeface="Source Sans Pro" panose="020B0503030403020204" pitchFamily="34" charset="0"/>
              </a:rPr>
              <a:t>getTitle</a:t>
            </a:r>
            <a:r>
              <a:rPr lang="en-US" sz="2200" dirty="0">
                <a:latin typeface="Consolas" panose="020B0609020204030204" pitchFamily="49" charset="0"/>
                <a:ea typeface="Source Sans Pro" panose="020B0503030403020204" pitchFamily="34" charset="0"/>
              </a:rPr>
              <a:t>(){ return  title;}</a:t>
            </a:r>
          </a:p>
          <a:p>
            <a:pPr marL="0" indent="0">
              <a:buNone/>
            </a:pPr>
            <a:r>
              <a:rPr lang="en-US" sz="2200" dirty="0">
                <a:latin typeface="Consolas" panose="020B0609020204030204" pitchFamily="49" charset="0"/>
                <a:ea typeface="Source Sans Pro" panose="020B0503030403020204" pitchFamily="34" charset="0"/>
              </a:rPr>
              <a:t>}</a:t>
            </a:r>
          </a:p>
        </p:txBody>
      </p:sp>
    </p:spTree>
    <p:extLst>
      <p:ext uri="{BB962C8B-B14F-4D97-AF65-F5344CB8AC3E}">
        <p14:creationId xmlns:p14="http://schemas.microsoft.com/office/powerpoint/2010/main" val="178986337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498441-52C1-36C4-C72C-8BBD5D7EA4C6}"/>
              </a:ext>
            </a:extLst>
          </p:cNvPr>
          <p:cNvSpPr>
            <a:spLocks noGrp="1"/>
          </p:cNvSpPr>
          <p:nvPr>
            <p:ph type="title"/>
          </p:nvPr>
        </p:nvSpPr>
        <p:spPr/>
        <p:txBody>
          <a:bodyPr/>
          <a:lstStyle/>
          <a:p>
            <a:r>
              <a:rPr lang="en-US" dirty="0"/>
              <a:t>Exercise 2: make </a:t>
            </a:r>
            <a:r>
              <a:rPr lang="en-US" dirty="0" err="1"/>
              <a:t>ToC</a:t>
            </a:r>
            <a:endParaRPr lang="en-US" dirty="0"/>
          </a:p>
        </p:txBody>
      </p:sp>
      <p:sp>
        <p:nvSpPr>
          <p:cNvPr id="3" name="Content Placeholder 2">
            <a:extLst>
              <a:ext uri="{FF2B5EF4-FFF2-40B4-BE49-F238E27FC236}">
                <a16:creationId xmlns:a16="http://schemas.microsoft.com/office/drawing/2014/main" id="{FAE32166-BB1C-480A-A9FF-40928407FC39}"/>
              </a:ext>
            </a:extLst>
          </p:cNvPr>
          <p:cNvSpPr>
            <a:spLocks noGrp="1"/>
          </p:cNvSpPr>
          <p:nvPr>
            <p:ph idx="1"/>
          </p:nvPr>
        </p:nvSpPr>
        <p:spPr/>
        <p:txBody>
          <a:bodyPr/>
          <a:lstStyle/>
          <a:p>
            <a:pPr marL="0" indent="0">
              <a:buNone/>
            </a:pPr>
            <a:r>
              <a:rPr lang="en-US" sz="2200" dirty="0">
                <a:latin typeface="Source Sans Pro" panose="020B0503030403020204" pitchFamily="34" charset="0"/>
                <a:ea typeface="Source Sans Pro" panose="020B0503030403020204" pitchFamily="34" charset="0"/>
              </a:rPr>
              <a:t>public  class </a:t>
            </a:r>
            <a:r>
              <a:rPr lang="en-US" sz="2200" dirty="0" err="1">
                <a:latin typeface="Source Sans Pro" panose="020B0503030403020204" pitchFamily="34" charset="0"/>
                <a:ea typeface="Source Sans Pro" panose="020B0503030403020204" pitchFamily="34" charset="0"/>
              </a:rPr>
              <a:t>ToCVisitor</a:t>
            </a:r>
            <a:r>
              <a:rPr lang="en-US" sz="2200" dirty="0">
                <a:latin typeface="Source Sans Pro" panose="020B0503030403020204" pitchFamily="34" charset="0"/>
                <a:ea typeface="Source Sans Pro" panose="020B0503030403020204" pitchFamily="34" charset="0"/>
              </a:rPr>
              <a:t>{                      </a:t>
            </a:r>
          </a:p>
          <a:p>
            <a:pPr marL="0" indent="0">
              <a:buNone/>
            </a:pPr>
            <a:r>
              <a:rPr lang="en-US" sz="2200" dirty="0">
                <a:latin typeface="Source Sans Pro" panose="020B0503030403020204" pitchFamily="34" charset="0"/>
                <a:ea typeface="Source Sans Pro" panose="020B0503030403020204" pitchFamily="34" charset="0"/>
              </a:rPr>
              <a:t>    private Page page=new Page();    int </a:t>
            </a:r>
            <a:r>
              <a:rPr lang="en-US" sz="2200" dirty="0" err="1">
                <a:latin typeface="Source Sans Pro" panose="020B0503030403020204" pitchFamily="34" charset="0"/>
                <a:ea typeface="Source Sans Pro" panose="020B0503030403020204" pitchFamily="34" charset="0"/>
              </a:rPr>
              <a:t>ccnt</a:t>
            </a:r>
            <a:r>
              <a:rPr lang="en-US" sz="2200" dirty="0">
                <a:latin typeface="Source Sans Pro" panose="020B0503030403020204" pitchFamily="34" charset="0"/>
                <a:ea typeface="Source Sans Pro" panose="020B0503030403020204" pitchFamily="34" charset="0"/>
              </a:rPr>
              <a:t>=0; int </a:t>
            </a:r>
            <a:r>
              <a:rPr lang="en-US" sz="2200" dirty="0" err="1">
                <a:latin typeface="Source Sans Pro" panose="020B0503030403020204" pitchFamily="34" charset="0"/>
                <a:ea typeface="Source Sans Pro" panose="020B0503030403020204" pitchFamily="34" charset="0"/>
              </a:rPr>
              <a:t>scnt</a:t>
            </a:r>
            <a:r>
              <a:rPr lang="en-US" sz="2200" dirty="0">
                <a:latin typeface="Source Sans Pro" panose="020B0503030403020204" pitchFamily="34" charset="0"/>
                <a:ea typeface="Source Sans Pro" panose="020B0503030403020204" pitchFamily="34" charset="0"/>
              </a:rPr>
              <a:t>=0;</a:t>
            </a:r>
          </a:p>
          <a:p>
            <a:pPr marL="0" indent="0">
              <a:buNone/>
            </a:pPr>
            <a:r>
              <a:rPr lang="en-US" sz="2200" dirty="0">
                <a:latin typeface="Source Sans Pro" panose="020B0503030403020204" pitchFamily="34" charset="0"/>
                <a:ea typeface="Source Sans Pro" panose="020B0503030403020204" pitchFamily="34" charset="0"/>
              </a:rPr>
              <a:t>    public void </a:t>
            </a:r>
            <a:r>
              <a:rPr lang="en-US" sz="2200" dirty="0">
                <a:solidFill>
                  <a:srgbClr val="0070C0"/>
                </a:solidFill>
                <a:latin typeface="Source Sans Pro" panose="020B0503030403020204" pitchFamily="34" charset="0"/>
                <a:ea typeface="Source Sans Pro" panose="020B0503030403020204" pitchFamily="34" charset="0"/>
              </a:rPr>
              <a:t>visit</a:t>
            </a:r>
            <a:r>
              <a:rPr lang="en-US" sz="2200" dirty="0">
                <a:latin typeface="Source Sans Pro" panose="020B0503030403020204" pitchFamily="34" charset="0"/>
                <a:ea typeface="Source Sans Pro" panose="020B0503030403020204" pitchFamily="34" charset="0"/>
              </a:rPr>
              <a:t>(</a:t>
            </a:r>
            <a:r>
              <a:rPr lang="en-US" sz="2200" dirty="0">
                <a:solidFill>
                  <a:schemeClr val="bg2"/>
                </a:solidFill>
                <a:latin typeface="Source Sans Pro" panose="020B0503030403020204" pitchFamily="34" charset="0"/>
                <a:ea typeface="Source Sans Pro" panose="020B0503030403020204" pitchFamily="34" charset="0"/>
              </a:rPr>
              <a:t>Chapter c){ </a:t>
            </a:r>
            <a:r>
              <a:rPr lang="en-US" sz="2200" dirty="0" err="1">
                <a:solidFill>
                  <a:schemeClr val="bg2"/>
                </a:solidFill>
                <a:latin typeface="Source Sans Pro" panose="020B0503030403020204" pitchFamily="34" charset="0"/>
                <a:ea typeface="Source Sans Pro" panose="020B0503030403020204" pitchFamily="34" charset="0"/>
              </a:rPr>
              <a:t>page.add</a:t>
            </a:r>
            <a:r>
              <a:rPr lang="en-US" sz="2200" dirty="0">
                <a:solidFill>
                  <a:schemeClr val="bg2"/>
                </a:solidFill>
                <a:latin typeface="Source Sans Pro" panose="020B0503030403020204" pitchFamily="34" charset="0"/>
                <a:ea typeface="Source Sans Pro" panose="020B0503030403020204" pitchFamily="34" charset="0"/>
              </a:rPr>
              <a:t>(++</a:t>
            </a:r>
            <a:r>
              <a:rPr lang="en-US" sz="2200" dirty="0" err="1">
                <a:solidFill>
                  <a:schemeClr val="bg2"/>
                </a:solidFill>
                <a:latin typeface="Source Sans Pro" panose="020B0503030403020204" pitchFamily="34" charset="0"/>
                <a:ea typeface="Source Sans Pro" panose="020B0503030403020204" pitchFamily="34" charset="0"/>
              </a:rPr>
              <a:t>ccnt,c.getTitle</a:t>
            </a:r>
            <a:r>
              <a:rPr lang="en-US" sz="2200" dirty="0">
                <a:solidFill>
                  <a:schemeClr val="bg2"/>
                </a:solidFill>
                <a:latin typeface="Source Sans Pro" panose="020B0503030403020204" pitchFamily="34" charset="0"/>
                <a:ea typeface="Source Sans Pro" panose="020B0503030403020204" pitchFamily="34" charset="0"/>
              </a:rPr>
              <a:t>();}</a:t>
            </a:r>
          </a:p>
          <a:p>
            <a:pPr marL="0" indent="0">
              <a:buNone/>
            </a:pPr>
            <a:r>
              <a:rPr lang="en-US" sz="2200" dirty="0">
                <a:latin typeface="Source Sans Pro" panose="020B0503030403020204" pitchFamily="34" charset="0"/>
                <a:ea typeface="Source Sans Pro" panose="020B0503030403020204" pitchFamily="34" charset="0"/>
              </a:rPr>
              <a:t>    public void </a:t>
            </a:r>
            <a:r>
              <a:rPr lang="en-US" sz="2200" dirty="0">
                <a:solidFill>
                  <a:srgbClr val="0070C0"/>
                </a:solidFill>
                <a:latin typeface="Source Sans Pro" panose="020B0503030403020204" pitchFamily="34" charset="0"/>
                <a:ea typeface="Source Sans Pro" panose="020B0503030403020204" pitchFamily="34" charset="0"/>
              </a:rPr>
              <a:t>visit</a:t>
            </a:r>
            <a:r>
              <a:rPr lang="en-US" sz="2200" dirty="0">
                <a:solidFill>
                  <a:schemeClr val="bg2"/>
                </a:solidFill>
                <a:latin typeface="Source Sans Pro" panose="020B0503030403020204" pitchFamily="34" charset="0"/>
                <a:ea typeface="Source Sans Pro" panose="020B0503030403020204" pitchFamily="34" charset="0"/>
              </a:rPr>
              <a:t>(Section s);{ </a:t>
            </a:r>
            <a:r>
              <a:rPr lang="en-US" sz="2200" dirty="0" err="1">
                <a:solidFill>
                  <a:schemeClr val="bg2"/>
                </a:solidFill>
                <a:latin typeface="Source Sans Pro" panose="020B0503030403020204" pitchFamily="34" charset="0"/>
                <a:ea typeface="Source Sans Pro" panose="020B0503030403020204" pitchFamily="34" charset="0"/>
              </a:rPr>
              <a:t>page.add</a:t>
            </a:r>
            <a:r>
              <a:rPr lang="en-US" sz="2200" dirty="0">
                <a:solidFill>
                  <a:schemeClr val="bg2"/>
                </a:solidFill>
                <a:latin typeface="Source Sans Pro" panose="020B0503030403020204" pitchFamily="34" charset="0"/>
                <a:ea typeface="Source Sans Pro" panose="020B0503030403020204" pitchFamily="34" charset="0"/>
              </a:rPr>
              <a:t>(</a:t>
            </a:r>
            <a:r>
              <a:rPr lang="en-US" sz="2200" dirty="0" err="1">
                <a:solidFill>
                  <a:schemeClr val="bg2"/>
                </a:solidFill>
                <a:latin typeface="Source Sans Pro" panose="020B0503030403020204" pitchFamily="34" charset="0"/>
                <a:ea typeface="Source Sans Pro" panose="020B0503030403020204" pitchFamily="34" charset="0"/>
              </a:rPr>
              <a:t>ccnt</a:t>
            </a:r>
            <a:r>
              <a:rPr lang="en-US" sz="2200" dirty="0">
                <a:solidFill>
                  <a:schemeClr val="bg2"/>
                </a:solidFill>
                <a:latin typeface="Source Sans Pro" panose="020B0503030403020204" pitchFamily="34" charset="0"/>
                <a:ea typeface="Source Sans Pro" panose="020B0503030403020204" pitchFamily="34" charset="0"/>
              </a:rPr>
              <a:t>,++</a:t>
            </a:r>
            <a:r>
              <a:rPr lang="en-US" sz="2200" dirty="0" err="1">
                <a:solidFill>
                  <a:schemeClr val="bg2"/>
                </a:solidFill>
                <a:latin typeface="Source Sans Pro" panose="020B0503030403020204" pitchFamily="34" charset="0"/>
                <a:ea typeface="Source Sans Pro" panose="020B0503030403020204" pitchFamily="34" charset="0"/>
              </a:rPr>
              <a:t>scnt</a:t>
            </a:r>
            <a:r>
              <a:rPr lang="en-US" sz="2200" dirty="0">
                <a:solidFill>
                  <a:schemeClr val="bg2"/>
                </a:solidFill>
                <a:latin typeface="Source Sans Pro" panose="020B0503030403020204" pitchFamily="34" charset="0"/>
                <a:ea typeface="Source Sans Pro" panose="020B0503030403020204" pitchFamily="34" charset="0"/>
              </a:rPr>
              <a:t>, </a:t>
            </a:r>
            <a:r>
              <a:rPr lang="en-US" sz="2200" dirty="0" err="1">
                <a:solidFill>
                  <a:schemeClr val="bg2"/>
                </a:solidFill>
                <a:latin typeface="Source Sans Pro" panose="020B0503030403020204" pitchFamily="34" charset="0"/>
                <a:ea typeface="Source Sans Pro" panose="020B0503030403020204" pitchFamily="34" charset="0"/>
              </a:rPr>
              <a:t>s.getTitle</a:t>
            </a:r>
            <a:r>
              <a:rPr lang="en-US" sz="2200" dirty="0">
                <a:solidFill>
                  <a:schemeClr val="bg2"/>
                </a:solidFill>
                <a:latin typeface="Source Sans Pro" panose="020B0503030403020204" pitchFamily="34" charset="0"/>
                <a:ea typeface="Source Sans Pro" panose="020B0503030403020204" pitchFamily="34" charset="0"/>
              </a:rPr>
              <a:t>();}</a:t>
            </a:r>
          </a:p>
          <a:p>
            <a:pPr marL="0" indent="0">
              <a:buNone/>
            </a:pPr>
            <a:r>
              <a:rPr lang="en-US" sz="2200" dirty="0">
                <a:latin typeface="Source Sans Pro" panose="020B0503030403020204" pitchFamily="34" charset="0"/>
                <a:ea typeface="Source Sans Pro" panose="020B0503030403020204" pitchFamily="34" charset="0"/>
              </a:rPr>
              <a:t>    public void </a:t>
            </a:r>
            <a:r>
              <a:rPr lang="en-US" sz="2200" dirty="0">
                <a:solidFill>
                  <a:srgbClr val="0070C0"/>
                </a:solidFill>
                <a:latin typeface="Source Sans Pro" panose="020B0503030403020204" pitchFamily="34" charset="0"/>
                <a:ea typeface="Source Sans Pro" panose="020B0503030403020204" pitchFamily="34" charset="0"/>
              </a:rPr>
              <a:t>visit</a:t>
            </a:r>
            <a:r>
              <a:rPr lang="en-US" sz="2200" dirty="0">
                <a:solidFill>
                  <a:schemeClr val="bg2"/>
                </a:solidFill>
                <a:latin typeface="Source Sans Pro" panose="020B0503030403020204" pitchFamily="34" charset="0"/>
                <a:ea typeface="Source Sans Pro" panose="020B0503030403020204" pitchFamily="34" charset="0"/>
              </a:rPr>
              <a:t>(Paragraph p){}</a:t>
            </a:r>
          </a:p>
          <a:p>
            <a:pPr marL="0" indent="0">
              <a:buNone/>
            </a:pPr>
            <a:r>
              <a:rPr lang="en-US" sz="2200" dirty="0">
                <a:latin typeface="Source Sans Pro" panose="020B0503030403020204" pitchFamily="34" charset="0"/>
                <a:ea typeface="Source Sans Pro" panose="020B0503030403020204" pitchFamily="34" charset="0"/>
              </a:rPr>
              <a:t>    public Page </a:t>
            </a:r>
            <a:r>
              <a:rPr lang="en-US" sz="2200" dirty="0" err="1">
                <a:latin typeface="Source Sans Pro" panose="020B0503030403020204" pitchFamily="34" charset="0"/>
                <a:ea typeface="Source Sans Pro" panose="020B0503030403020204" pitchFamily="34" charset="0"/>
              </a:rPr>
              <a:t>getToC</a:t>
            </a:r>
            <a:r>
              <a:rPr lang="en-US" sz="2200" dirty="0">
                <a:latin typeface="Source Sans Pro" panose="020B0503030403020204" pitchFamily="34" charset="0"/>
                <a:ea typeface="Source Sans Pro" panose="020B0503030403020204" pitchFamily="34" charset="0"/>
              </a:rPr>
              <a:t>(){ return page;}</a:t>
            </a:r>
          </a:p>
          <a:p>
            <a:pPr marL="0" indent="0">
              <a:buNone/>
            </a:pPr>
            <a:r>
              <a:rPr lang="en-US" sz="2200" dirty="0">
                <a:latin typeface="Source Sans Pro" panose="020B0503030403020204" pitchFamily="34" charset="0"/>
                <a:ea typeface="Source Sans Pro" panose="020B0503030403020204" pitchFamily="34" charset="0"/>
              </a:rPr>
              <a:t>} </a:t>
            </a:r>
            <a:r>
              <a:rPr lang="en-US" sz="2200" dirty="0">
                <a:latin typeface="+mj-lt"/>
                <a:ea typeface="Source Sans Pro" panose="020B0503030403020204" pitchFamily="34" charset="0"/>
              </a:rPr>
              <a:t>//no traversal logic in the visitor</a:t>
            </a:r>
          </a:p>
          <a:p>
            <a:pPr marL="0" indent="0">
              <a:buNone/>
            </a:pPr>
            <a:endParaRPr lang="en-US" sz="2200" dirty="0">
              <a:latin typeface="Source Sans Pro" panose="020B0503030403020204" pitchFamily="34" charset="0"/>
              <a:ea typeface="Source Sans Pro" panose="020B0503030403020204" pitchFamily="34" charset="0"/>
            </a:endParaRPr>
          </a:p>
          <a:p>
            <a:pPr marL="0" indent="0">
              <a:buNone/>
            </a:pPr>
            <a:r>
              <a:rPr lang="en-US" sz="2200" dirty="0">
                <a:latin typeface="Source Sans Pro" panose="020B0503030403020204" pitchFamily="34" charset="0"/>
                <a:ea typeface="Source Sans Pro" panose="020B0503030403020204" pitchFamily="34" charset="0"/>
              </a:rPr>
              <a:t>public class Chapter extends </a:t>
            </a:r>
            <a:r>
              <a:rPr lang="en-US" sz="2200" dirty="0" err="1">
                <a:latin typeface="Source Sans Pro" panose="020B0503030403020204" pitchFamily="34" charset="0"/>
                <a:ea typeface="Source Sans Pro" panose="020B0503030403020204" pitchFamily="34" charset="0"/>
              </a:rPr>
              <a:t>CompositeNode</a:t>
            </a:r>
            <a:r>
              <a:rPr lang="en-US" sz="2200" dirty="0">
                <a:latin typeface="Source Sans Pro" panose="020B0503030403020204" pitchFamily="34" charset="0"/>
                <a:ea typeface="Source Sans Pro" panose="020B0503030403020204" pitchFamily="34" charset="0"/>
              </a:rPr>
              <a:t>{</a:t>
            </a:r>
          </a:p>
          <a:p>
            <a:pPr marL="0" indent="0">
              <a:buNone/>
            </a:pPr>
            <a:r>
              <a:rPr lang="en-US" sz="2200" dirty="0">
                <a:latin typeface="Source Sans Pro" panose="020B0503030403020204" pitchFamily="34" charset="0"/>
                <a:ea typeface="Source Sans Pro" panose="020B0503030403020204" pitchFamily="34" charset="0"/>
              </a:rPr>
              <a:t>   public void </a:t>
            </a:r>
            <a:r>
              <a:rPr lang="en-US" sz="2200" dirty="0">
                <a:solidFill>
                  <a:srgbClr val="0070C0"/>
                </a:solidFill>
                <a:latin typeface="Source Sans Pro" panose="020B0503030403020204" pitchFamily="34" charset="0"/>
                <a:ea typeface="Source Sans Pro" panose="020B0503030403020204" pitchFamily="34" charset="0"/>
              </a:rPr>
              <a:t>accept</a:t>
            </a:r>
            <a:r>
              <a:rPr lang="en-US" sz="2200" dirty="0">
                <a:latin typeface="Source Sans Pro" panose="020B0503030403020204" pitchFamily="34" charset="0"/>
                <a:ea typeface="Source Sans Pro" panose="020B0503030403020204" pitchFamily="34" charset="0"/>
              </a:rPr>
              <a:t>(Visitor v){  //an operation for composite</a:t>
            </a:r>
          </a:p>
          <a:p>
            <a:pPr marL="0" indent="0">
              <a:buNone/>
            </a:pPr>
            <a:r>
              <a:rPr lang="en-US" sz="2200" dirty="0">
                <a:latin typeface="Source Sans Pro" panose="020B0503030403020204" pitchFamily="34" charset="0"/>
                <a:ea typeface="Source Sans Pro" panose="020B0503030403020204" pitchFamily="34" charset="0"/>
              </a:rPr>
              <a:t>         </a:t>
            </a:r>
            <a:r>
              <a:rPr lang="en-US" sz="2200" dirty="0" err="1">
                <a:latin typeface="Source Sans Pro" panose="020B0503030403020204" pitchFamily="34" charset="0"/>
                <a:ea typeface="Source Sans Pro" panose="020B0503030403020204" pitchFamily="34" charset="0"/>
              </a:rPr>
              <a:t>v.</a:t>
            </a:r>
            <a:r>
              <a:rPr lang="en-US" sz="2200" dirty="0" err="1">
                <a:solidFill>
                  <a:srgbClr val="0070C0"/>
                </a:solidFill>
                <a:latin typeface="Source Sans Pro" panose="020B0503030403020204" pitchFamily="34" charset="0"/>
                <a:ea typeface="Source Sans Pro" panose="020B0503030403020204" pitchFamily="34" charset="0"/>
              </a:rPr>
              <a:t>visit</a:t>
            </a:r>
            <a:r>
              <a:rPr lang="en-US" sz="2200" dirty="0">
                <a:latin typeface="Source Sans Pro" panose="020B0503030403020204" pitchFamily="34" charset="0"/>
                <a:ea typeface="Source Sans Pro" panose="020B0503030403020204" pitchFamily="34" charset="0"/>
              </a:rPr>
              <a:t>(this);</a:t>
            </a:r>
          </a:p>
          <a:p>
            <a:pPr marL="0" indent="0">
              <a:buNone/>
            </a:pPr>
            <a:r>
              <a:rPr lang="en-US" sz="2200" dirty="0">
                <a:solidFill>
                  <a:schemeClr val="bg2"/>
                </a:solidFill>
                <a:latin typeface="Source Sans Pro" panose="020B0503030403020204" pitchFamily="34" charset="0"/>
                <a:ea typeface="Source Sans Pro" panose="020B0503030403020204" pitchFamily="34" charset="0"/>
              </a:rPr>
              <a:t>         for(var node: parts) </a:t>
            </a:r>
            <a:r>
              <a:rPr lang="en-US" sz="2200" dirty="0" err="1">
                <a:solidFill>
                  <a:schemeClr val="bg2"/>
                </a:solidFill>
                <a:latin typeface="Source Sans Pro" panose="020B0503030403020204" pitchFamily="34" charset="0"/>
                <a:ea typeface="Source Sans Pro" panose="020B0503030403020204" pitchFamily="34" charset="0"/>
              </a:rPr>
              <a:t>node</a:t>
            </a:r>
            <a:r>
              <a:rPr lang="en-US" sz="2200" dirty="0" err="1">
                <a:latin typeface="Source Sans Pro" panose="020B0503030403020204" pitchFamily="34" charset="0"/>
                <a:ea typeface="Source Sans Pro" panose="020B0503030403020204" pitchFamily="34" charset="0"/>
              </a:rPr>
              <a:t>.</a:t>
            </a:r>
            <a:r>
              <a:rPr lang="en-US" sz="2200" dirty="0" err="1">
                <a:solidFill>
                  <a:srgbClr val="0070C0"/>
                </a:solidFill>
                <a:latin typeface="Source Sans Pro" panose="020B0503030403020204" pitchFamily="34" charset="0"/>
                <a:ea typeface="Source Sans Pro" panose="020B0503030403020204" pitchFamily="34" charset="0"/>
              </a:rPr>
              <a:t>accept</a:t>
            </a:r>
            <a:r>
              <a:rPr lang="en-US" sz="2200" dirty="0">
                <a:latin typeface="Source Sans Pro" panose="020B0503030403020204" pitchFamily="34" charset="0"/>
                <a:ea typeface="Source Sans Pro" panose="020B0503030403020204" pitchFamily="34" charset="0"/>
              </a:rPr>
              <a:t>(v);</a:t>
            </a:r>
          </a:p>
          <a:p>
            <a:pPr marL="0" indent="0">
              <a:buNone/>
            </a:pPr>
            <a:r>
              <a:rPr lang="en-US" sz="2200" dirty="0">
                <a:latin typeface="Source Sans Pro" panose="020B0503030403020204" pitchFamily="34" charset="0"/>
                <a:ea typeface="Source Sans Pro" panose="020B0503030403020204" pitchFamily="34" charset="0"/>
              </a:rPr>
              <a:t>   } //…</a:t>
            </a:r>
          </a:p>
          <a:p>
            <a:pPr marL="0" indent="0">
              <a:buNone/>
            </a:pPr>
            <a:r>
              <a:rPr lang="en-US" sz="2200" dirty="0">
                <a:latin typeface="Source Sans Pro" panose="020B0503030403020204" pitchFamily="34" charset="0"/>
                <a:ea typeface="Source Sans Pro" panose="020B0503030403020204" pitchFamily="34" charset="0"/>
              </a:rPr>
              <a:t>}</a:t>
            </a:r>
          </a:p>
        </p:txBody>
      </p:sp>
    </p:spTree>
    <p:extLst>
      <p:ext uri="{BB962C8B-B14F-4D97-AF65-F5344CB8AC3E}">
        <p14:creationId xmlns:p14="http://schemas.microsoft.com/office/powerpoint/2010/main" val="416003139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2F8246-EED0-87A6-F2B1-01F8A5C2492C}"/>
              </a:ext>
            </a:extLst>
          </p:cNvPr>
          <p:cNvSpPr>
            <a:spLocks noGrp="1"/>
          </p:cNvSpPr>
          <p:nvPr>
            <p:ph type="title"/>
          </p:nvPr>
        </p:nvSpPr>
        <p:spPr/>
        <p:txBody>
          <a:bodyPr/>
          <a:lstStyle/>
          <a:p>
            <a:r>
              <a:rPr lang="en-US" dirty="0"/>
              <a:t>Visitor -Traversals</a:t>
            </a:r>
          </a:p>
        </p:txBody>
      </p:sp>
      <p:sp>
        <p:nvSpPr>
          <p:cNvPr id="3" name="Content Placeholder 2">
            <a:extLst>
              <a:ext uri="{FF2B5EF4-FFF2-40B4-BE49-F238E27FC236}">
                <a16:creationId xmlns:a16="http://schemas.microsoft.com/office/drawing/2014/main" id="{8DB41EF0-E67E-F0D0-666D-5A8D73B34087}"/>
              </a:ext>
            </a:extLst>
          </p:cNvPr>
          <p:cNvSpPr>
            <a:spLocks noGrp="1"/>
          </p:cNvSpPr>
          <p:nvPr>
            <p:ph idx="1"/>
          </p:nvPr>
        </p:nvSpPr>
        <p:spPr>
          <a:xfrm>
            <a:off x="457200" y="1335291"/>
            <a:ext cx="8795320" cy="4532109"/>
          </a:xfrm>
        </p:spPr>
        <p:txBody>
          <a:bodyPr/>
          <a:lstStyle/>
          <a:p>
            <a:pPr marL="514350" indent="-514350">
              <a:buFont typeface="+mj-lt"/>
              <a:buAutoNum type="arabicPeriod"/>
            </a:pPr>
            <a:r>
              <a:rPr lang="en-US" sz="2400" dirty="0"/>
              <a:t>Traversing nodes of a data structure using iterator</a:t>
            </a:r>
          </a:p>
          <a:p>
            <a:pPr lvl="1"/>
            <a:r>
              <a:rPr lang="en-US" sz="2000" dirty="0">
                <a:latin typeface="Consolas" panose="020B0609020204030204" pitchFamily="49" charset="0"/>
                <a:ea typeface="Source Sans Pro" panose="020B0503030403020204" pitchFamily="34" charset="0"/>
              </a:rPr>
              <a:t>Chapter::accept(Visitor&amp; v){</a:t>
            </a:r>
            <a:r>
              <a:rPr lang="en-US" sz="2000" dirty="0" err="1">
                <a:latin typeface="Consolas" panose="020B0609020204030204" pitchFamily="49" charset="0"/>
                <a:ea typeface="Source Sans Pro" panose="020B0503030403020204" pitchFamily="34" charset="0"/>
              </a:rPr>
              <a:t>v.visit</a:t>
            </a:r>
            <a:r>
              <a:rPr lang="en-US" sz="2000" dirty="0">
                <a:latin typeface="Consolas" panose="020B0609020204030204" pitchFamily="49" charset="0"/>
                <a:ea typeface="Source Sans Pro" panose="020B0503030403020204" pitchFamily="34" charset="0"/>
              </a:rPr>
              <a:t>(this);}</a:t>
            </a:r>
          </a:p>
          <a:p>
            <a:pPr lvl="1"/>
            <a:r>
              <a:rPr lang="en-US" sz="2000" dirty="0">
                <a:latin typeface="Consolas" panose="020B0609020204030204" pitchFamily="49" charset="0"/>
                <a:ea typeface="Source Sans Pro" panose="020B0503030403020204" pitchFamily="34" charset="0"/>
              </a:rPr>
              <a:t>Visit</a:t>
            </a:r>
            <a:r>
              <a:rPr lang="en-US" sz="2000" dirty="0">
                <a:latin typeface="+mj-lt"/>
                <a:ea typeface="Source Sans Pro" panose="020B0503030403020204" pitchFamily="34" charset="0"/>
              </a:rPr>
              <a:t> methods collect data or perform operation</a:t>
            </a:r>
            <a:endParaRPr lang="en-US" sz="2000" dirty="0">
              <a:latin typeface="Consolas" panose="020B0609020204030204" pitchFamily="49" charset="0"/>
              <a:ea typeface="Source Sans Pro" panose="020B0503030403020204" pitchFamily="34" charset="0"/>
            </a:endParaRPr>
          </a:p>
          <a:p>
            <a:pPr marL="514350" indent="-514350">
              <a:buFont typeface="+mj-lt"/>
              <a:buAutoNum type="arabicPeriod"/>
            </a:pPr>
            <a:r>
              <a:rPr lang="en-US" sz="2400" dirty="0"/>
              <a:t>Traversing a composite pattern</a:t>
            </a:r>
          </a:p>
          <a:p>
            <a:pPr lvl="1"/>
            <a:r>
              <a:rPr lang="en-US" sz="2000" dirty="0"/>
              <a:t>Composite::accept(v)  </a:t>
            </a:r>
            <a:r>
              <a:rPr lang="en-US" sz="2000" dirty="0">
                <a:sym typeface="Wingdings" panose="05000000000000000000" pitchFamily="2" charset="2"/>
              </a:rPr>
              <a:t> all children accept(v) and </a:t>
            </a:r>
            <a:r>
              <a:rPr lang="en-US" sz="2000" dirty="0" err="1">
                <a:sym typeface="Wingdings" panose="05000000000000000000" pitchFamily="2" charset="2"/>
              </a:rPr>
              <a:t>v.visit</a:t>
            </a:r>
            <a:r>
              <a:rPr lang="en-US" sz="2000" dirty="0">
                <a:sym typeface="Wingdings" panose="05000000000000000000" pitchFamily="2" charset="2"/>
              </a:rPr>
              <a:t>(this)</a:t>
            </a:r>
          </a:p>
          <a:p>
            <a:pPr lvl="1"/>
            <a:r>
              <a:rPr lang="en-US" sz="2000" dirty="0">
                <a:latin typeface="Consolas" panose="020B0609020204030204" pitchFamily="49" charset="0"/>
                <a:ea typeface="Source Sans Pro" panose="020B0503030403020204" pitchFamily="34" charset="0"/>
              </a:rPr>
              <a:t>Visit</a:t>
            </a:r>
            <a:r>
              <a:rPr lang="en-US" sz="2000" dirty="0">
                <a:latin typeface="+mj-lt"/>
                <a:ea typeface="Source Sans Pro" panose="020B0503030403020204" pitchFamily="34" charset="0"/>
              </a:rPr>
              <a:t> methods collect data or perform operation</a:t>
            </a:r>
            <a:endParaRPr lang="en-US" sz="2000" dirty="0">
              <a:sym typeface="Wingdings" panose="05000000000000000000" pitchFamily="2" charset="2"/>
            </a:endParaRPr>
          </a:p>
          <a:p>
            <a:pPr marL="514350" indent="-514350">
              <a:buFont typeface="+mj-lt"/>
              <a:buAutoNum type="arabicPeriod"/>
            </a:pPr>
            <a:r>
              <a:rPr lang="en-US" dirty="0">
                <a:sym typeface="Wingdings" panose="05000000000000000000" pitchFamily="2" charset="2"/>
              </a:rPr>
              <a:t>Visitor decides what to visit next</a:t>
            </a:r>
          </a:p>
          <a:p>
            <a:pPr lvl="1"/>
            <a:r>
              <a:rPr lang="en-US" dirty="0">
                <a:latin typeface="Consolas" panose="020B0609020204030204" pitchFamily="49" charset="0"/>
                <a:ea typeface="Source Sans Pro" panose="020B0503030403020204" pitchFamily="34" charset="0"/>
              </a:rPr>
              <a:t>visit(Chapter* c){</a:t>
            </a:r>
          </a:p>
          <a:p>
            <a:pPr marL="457200" lvl="1" indent="0">
              <a:buNone/>
            </a:pPr>
            <a:r>
              <a:rPr lang="en-US" dirty="0">
                <a:latin typeface="Consolas" panose="020B0609020204030204" pitchFamily="49" charset="0"/>
                <a:ea typeface="Source Sans Pro" panose="020B0503030403020204" pitchFamily="34" charset="0"/>
              </a:rPr>
              <a:t>   accumulator=c-&gt;</a:t>
            </a:r>
            <a:r>
              <a:rPr lang="en-US" dirty="0" err="1">
                <a:latin typeface="Consolas" panose="020B0609020204030204" pitchFamily="49" charset="0"/>
                <a:ea typeface="Source Sans Pro" panose="020B0503030403020204" pitchFamily="34" charset="0"/>
              </a:rPr>
              <a:t>getTitle</a:t>
            </a:r>
            <a:r>
              <a:rPr lang="en-US" dirty="0">
                <a:latin typeface="Consolas" panose="020B0609020204030204" pitchFamily="49" charset="0"/>
                <a:ea typeface="Source Sans Pro" panose="020B0503030403020204" pitchFamily="34" charset="0"/>
              </a:rPr>
              <a:t>();</a:t>
            </a:r>
            <a:r>
              <a:rPr lang="en-US" sz="2400" dirty="0">
                <a:latin typeface="+mj-lt"/>
                <a:ea typeface="Source Sans Pro" panose="020B0503030403020204" pitchFamily="34" charset="0"/>
              </a:rPr>
              <a:t>//actual purpose</a:t>
            </a:r>
            <a:endParaRPr lang="en-US" dirty="0">
              <a:latin typeface="+mj-lt"/>
              <a:ea typeface="Source Sans Pro" panose="020B0503030403020204" pitchFamily="34" charset="0"/>
            </a:endParaRPr>
          </a:p>
          <a:p>
            <a:pPr marL="457200" lvl="1" indent="0">
              <a:buNone/>
            </a:pPr>
            <a:r>
              <a:rPr lang="en-US" dirty="0">
                <a:latin typeface="Consolas" panose="020B0609020204030204" pitchFamily="49" charset="0"/>
                <a:ea typeface="Source Sans Pro" panose="020B0503030403020204" pitchFamily="34" charset="0"/>
              </a:rPr>
              <a:t>   for(auto s:c-&gt;sections) s-&gt;accept(v);</a:t>
            </a:r>
          </a:p>
          <a:p>
            <a:pPr marL="457200" lvl="1" indent="0">
              <a:buNone/>
            </a:pPr>
            <a:r>
              <a:rPr lang="en-US" dirty="0">
                <a:latin typeface="Consolas" panose="020B0609020204030204" pitchFamily="49" charset="0"/>
                <a:ea typeface="Source Sans Pro" panose="020B0503030403020204" pitchFamily="34" charset="0"/>
              </a:rPr>
              <a:t> }</a:t>
            </a:r>
          </a:p>
          <a:p>
            <a:pPr lvl="1"/>
            <a:r>
              <a:rPr lang="en-US" sz="2400" dirty="0">
                <a:latin typeface="Consolas" panose="020B0609020204030204" pitchFamily="49" charset="0"/>
                <a:ea typeface="Source Sans Pro" panose="020B0503030403020204" pitchFamily="34" charset="0"/>
              </a:rPr>
              <a:t>Chapter::accept(Visitor&amp; v){</a:t>
            </a:r>
            <a:r>
              <a:rPr lang="en-US" sz="2400" dirty="0" err="1">
                <a:latin typeface="Consolas" panose="020B0609020204030204" pitchFamily="49" charset="0"/>
                <a:ea typeface="Source Sans Pro" panose="020B0503030403020204" pitchFamily="34" charset="0"/>
              </a:rPr>
              <a:t>v.visit</a:t>
            </a:r>
            <a:r>
              <a:rPr lang="en-US" sz="2400" dirty="0">
                <a:latin typeface="Consolas" panose="020B0609020204030204" pitchFamily="49" charset="0"/>
                <a:ea typeface="Source Sans Pro" panose="020B0503030403020204" pitchFamily="34" charset="0"/>
              </a:rPr>
              <a:t>(this);}</a:t>
            </a:r>
            <a:endParaRPr lang="en-US" sz="2400" dirty="0">
              <a:sym typeface="Wingdings" panose="05000000000000000000" pitchFamily="2" charset="2"/>
            </a:endParaRPr>
          </a:p>
          <a:p>
            <a:pPr lvl="1"/>
            <a:endParaRPr lang="en-US" dirty="0"/>
          </a:p>
          <a:p>
            <a:pPr lvl="2"/>
            <a:endParaRPr lang="en-US" b="1" dirty="0">
              <a:solidFill>
                <a:srgbClr val="0070C0"/>
              </a:solidFill>
              <a:latin typeface="Consolas" panose="020B0609020204030204" pitchFamily="49" charset="0"/>
            </a:endParaRPr>
          </a:p>
          <a:p>
            <a:pPr marL="0" indent="0">
              <a:buNone/>
            </a:pPr>
            <a:endParaRPr lang="en-US" dirty="0"/>
          </a:p>
        </p:txBody>
      </p:sp>
    </p:spTree>
    <p:extLst>
      <p:ext uri="{BB962C8B-B14F-4D97-AF65-F5344CB8AC3E}">
        <p14:creationId xmlns:p14="http://schemas.microsoft.com/office/powerpoint/2010/main" val="247549586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6">
            <a:extLst>
              <a:ext uri="{FF2B5EF4-FFF2-40B4-BE49-F238E27FC236}">
                <a16:creationId xmlns:a16="http://schemas.microsoft.com/office/drawing/2014/main" id="{E4724CE0-8049-6155-869E-E9B4FB5CAF38}"/>
              </a:ext>
            </a:extLst>
          </p:cNvPr>
          <p:cNvSpPr>
            <a:spLocks noChangeArrowheads="1"/>
          </p:cNvSpPr>
          <p:nvPr/>
        </p:nvSpPr>
        <p:spPr bwMode="auto">
          <a:xfrm>
            <a:off x="3098800" y="3678238"/>
            <a:ext cx="287338" cy="273050"/>
          </a:xfrm>
          <a:prstGeom prst="rect">
            <a:avLst/>
          </a:prstGeom>
          <a:solidFill>
            <a:schemeClr val="bg1"/>
          </a:solidFill>
          <a:ln w="19050">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tr-TR" sz="1800"/>
          </a:p>
        </p:txBody>
      </p:sp>
      <p:sp>
        <p:nvSpPr>
          <p:cNvPr id="14339" name="Line 15">
            <a:extLst>
              <a:ext uri="{FF2B5EF4-FFF2-40B4-BE49-F238E27FC236}">
                <a16:creationId xmlns:a16="http://schemas.microsoft.com/office/drawing/2014/main" id="{76DF9AE5-2D5F-71C1-CF4F-FF6F5AA2A969}"/>
              </a:ext>
            </a:extLst>
          </p:cNvPr>
          <p:cNvSpPr>
            <a:spLocks noChangeShapeType="1"/>
          </p:cNvSpPr>
          <p:nvPr/>
        </p:nvSpPr>
        <p:spPr bwMode="auto">
          <a:xfrm>
            <a:off x="3025775" y="1973263"/>
            <a:ext cx="0" cy="4648200"/>
          </a:xfrm>
          <a:prstGeom prst="line">
            <a:avLst/>
          </a:prstGeom>
          <a:noFill/>
          <a:ln w="19050">
            <a:solidFill>
              <a:schemeClr val="tx1"/>
            </a:solidFill>
            <a:prstDash val="dash"/>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14340" name="Line 15">
            <a:extLst>
              <a:ext uri="{FF2B5EF4-FFF2-40B4-BE49-F238E27FC236}">
                <a16:creationId xmlns:a16="http://schemas.microsoft.com/office/drawing/2014/main" id="{A29516F6-A877-A75F-E2EF-E9241A50C856}"/>
              </a:ext>
            </a:extLst>
          </p:cNvPr>
          <p:cNvSpPr>
            <a:spLocks noChangeShapeType="1"/>
          </p:cNvSpPr>
          <p:nvPr/>
        </p:nvSpPr>
        <p:spPr bwMode="auto">
          <a:xfrm>
            <a:off x="5268913" y="1973263"/>
            <a:ext cx="0" cy="4648200"/>
          </a:xfrm>
          <a:prstGeom prst="line">
            <a:avLst/>
          </a:prstGeom>
          <a:noFill/>
          <a:ln w="19050">
            <a:solidFill>
              <a:schemeClr val="tx1"/>
            </a:solidFill>
            <a:prstDash val="dash"/>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14341" name="Line 15">
            <a:extLst>
              <a:ext uri="{FF2B5EF4-FFF2-40B4-BE49-F238E27FC236}">
                <a16:creationId xmlns:a16="http://schemas.microsoft.com/office/drawing/2014/main" id="{65112173-E288-E9FC-6EC2-3AB9F2C55A96}"/>
              </a:ext>
            </a:extLst>
          </p:cNvPr>
          <p:cNvSpPr>
            <a:spLocks noChangeShapeType="1"/>
          </p:cNvSpPr>
          <p:nvPr/>
        </p:nvSpPr>
        <p:spPr bwMode="auto">
          <a:xfrm>
            <a:off x="7494588" y="1973263"/>
            <a:ext cx="0" cy="4648200"/>
          </a:xfrm>
          <a:prstGeom prst="line">
            <a:avLst/>
          </a:prstGeom>
          <a:noFill/>
          <a:ln w="19050">
            <a:solidFill>
              <a:schemeClr val="tx1"/>
            </a:solidFill>
            <a:prstDash val="dash"/>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14342" name="Rectangle 2">
            <a:extLst>
              <a:ext uri="{FF2B5EF4-FFF2-40B4-BE49-F238E27FC236}">
                <a16:creationId xmlns:a16="http://schemas.microsoft.com/office/drawing/2014/main" id="{79F4B654-7130-885F-16C2-D4F0D7DDA55C}"/>
              </a:ext>
            </a:extLst>
          </p:cNvPr>
          <p:cNvSpPr>
            <a:spLocks noGrp="1" noChangeArrowheads="1"/>
          </p:cNvSpPr>
          <p:nvPr>
            <p:ph type="title"/>
          </p:nvPr>
        </p:nvSpPr>
        <p:spPr/>
        <p:txBody>
          <a:bodyPr/>
          <a:lstStyle/>
          <a:p>
            <a:pPr eaLnBrk="1" hangingPunct="1"/>
            <a:r>
              <a:rPr lang="en-US" altLang="tr-TR" sz="4000" dirty="0"/>
              <a:t>Visitor -visitor leads the traversal</a:t>
            </a:r>
          </a:p>
        </p:txBody>
      </p:sp>
      <p:sp>
        <p:nvSpPr>
          <p:cNvPr id="14343" name="Text Box 3">
            <a:extLst>
              <a:ext uri="{FF2B5EF4-FFF2-40B4-BE49-F238E27FC236}">
                <a16:creationId xmlns:a16="http://schemas.microsoft.com/office/drawing/2014/main" id="{DFD04F35-63B0-2EA3-08DE-ABB0FFCE46FD}"/>
              </a:ext>
            </a:extLst>
          </p:cNvPr>
          <p:cNvSpPr txBox="1">
            <a:spLocks noChangeArrowheads="1"/>
          </p:cNvSpPr>
          <p:nvPr/>
        </p:nvSpPr>
        <p:spPr bwMode="auto">
          <a:xfrm>
            <a:off x="4573588" y="1628775"/>
            <a:ext cx="1704975" cy="376238"/>
          </a:xfrm>
          <a:prstGeom prst="rect">
            <a:avLst/>
          </a:prstGeom>
          <a:solidFill>
            <a:schemeClr val="accent1"/>
          </a:solidFill>
          <a:ln w="9525">
            <a:solidFill>
              <a:schemeClr val="tx1"/>
            </a:solidFill>
            <a:miter lim="800000"/>
            <a:headEnd/>
            <a:tailEnd/>
          </a:ln>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sv-SE" altLang="tr-TR" sz="1800" u="sng"/>
              <a:t>c2:ConcElemB</a:t>
            </a:r>
            <a:endParaRPr lang="en-US" altLang="tr-TR" sz="1800" u="sng"/>
          </a:p>
        </p:txBody>
      </p:sp>
      <p:sp>
        <p:nvSpPr>
          <p:cNvPr id="14344" name="Rectangle 6">
            <a:extLst>
              <a:ext uri="{FF2B5EF4-FFF2-40B4-BE49-F238E27FC236}">
                <a16:creationId xmlns:a16="http://schemas.microsoft.com/office/drawing/2014/main" id="{B66D9768-A5DC-41E4-6904-9C8811015189}"/>
              </a:ext>
            </a:extLst>
          </p:cNvPr>
          <p:cNvSpPr>
            <a:spLocks noChangeArrowheads="1"/>
          </p:cNvSpPr>
          <p:nvPr/>
        </p:nvSpPr>
        <p:spPr bwMode="auto">
          <a:xfrm>
            <a:off x="3098800" y="3046413"/>
            <a:ext cx="287338" cy="355600"/>
          </a:xfrm>
          <a:prstGeom prst="rect">
            <a:avLst/>
          </a:prstGeom>
          <a:solidFill>
            <a:schemeClr val="bg1"/>
          </a:solidFill>
          <a:ln w="19050">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tr-TR" sz="1800"/>
          </a:p>
        </p:txBody>
      </p:sp>
      <p:sp>
        <p:nvSpPr>
          <p:cNvPr id="14345" name="Rectangle 7">
            <a:extLst>
              <a:ext uri="{FF2B5EF4-FFF2-40B4-BE49-F238E27FC236}">
                <a16:creationId xmlns:a16="http://schemas.microsoft.com/office/drawing/2014/main" id="{8C975AA0-B2F8-F783-5CA6-83955D3B2AEC}"/>
              </a:ext>
            </a:extLst>
          </p:cNvPr>
          <p:cNvSpPr>
            <a:spLocks noChangeArrowheads="1"/>
          </p:cNvSpPr>
          <p:nvPr/>
        </p:nvSpPr>
        <p:spPr bwMode="auto">
          <a:xfrm>
            <a:off x="5135563" y="4330700"/>
            <a:ext cx="304800" cy="838200"/>
          </a:xfrm>
          <a:prstGeom prst="rect">
            <a:avLst/>
          </a:prstGeom>
          <a:solidFill>
            <a:schemeClr val="bg1"/>
          </a:solidFill>
          <a:ln w="19050">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tr-TR" sz="1800"/>
          </a:p>
        </p:txBody>
      </p:sp>
      <p:sp>
        <p:nvSpPr>
          <p:cNvPr id="14346" name="Line 8">
            <a:extLst>
              <a:ext uri="{FF2B5EF4-FFF2-40B4-BE49-F238E27FC236}">
                <a16:creationId xmlns:a16="http://schemas.microsoft.com/office/drawing/2014/main" id="{FA7684CC-00D2-FB33-E047-FBCE9BB3680D}"/>
              </a:ext>
            </a:extLst>
          </p:cNvPr>
          <p:cNvSpPr>
            <a:spLocks noChangeShapeType="1"/>
          </p:cNvSpPr>
          <p:nvPr/>
        </p:nvSpPr>
        <p:spPr bwMode="auto">
          <a:xfrm flipH="1">
            <a:off x="3348038" y="3036888"/>
            <a:ext cx="3967162" cy="11112"/>
          </a:xfrm>
          <a:prstGeom prst="line">
            <a:avLst/>
          </a:prstGeom>
          <a:noFill/>
          <a:ln w="19050">
            <a:solidFill>
              <a:schemeClr val="tx1"/>
            </a:solidFill>
            <a:miter lim="800000"/>
            <a:headEnd/>
            <a:tailEnd type="arrow" w="med" len="med"/>
          </a:ln>
          <a:extLst>
            <a:ext uri="{909E8E84-426E-40DD-AFC4-6F175D3DCCD1}">
              <a14:hiddenFill xmlns:a14="http://schemas.microsoft.com/office/drawing/2010/main">
                <a:noFill/>
              </a14:hiddenFill>
            </a:ext>
          </a:extLst>
        </p:spPr>
        <p:txBody>
          <a:bodyPr wrap="none"/>
          <a:lstStyle/>
          <a:p>
            <a:endParaRPr lang="en-US"/>
          </a:p>
        </p:txBody>
      </p:sp>
      <p:sp>
        <p:nvSpPr>
          <p:cNvPr id="14347" name="Text Box 9">
            <a:extLst>
              <a:ext uri="{FF2B5EF4-FFF2-40B4-BE49-F238E27FC236}">
                <a16:creationId xmlns:a16="http://schemas.microsoft.com/office/drawing/2014/main" id="{74FD25C7-CD8E-829B-A8E7-232129F4EA77}"/>
              </a:ext>
            </a:extLst>
          </p:cNvPr>
          <p:cNvSpPr txBox="1">
            <a:spLocks noChangeArrowheads="1"/>
          </p:cNvSpPr>
          <p:nvPr/>
        </p:nvSpPr>
        <p:spPr bwMode="auto">
          <a:xfrm>
            <a:off x="5437188" y="2420938"/>
            <a:ext cx="10572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sv-SE" altLang="tr-TR" sz="1800" b="1"/>
              <a:t>visit(c1</a:t>
            </a:r>
            <a:r>
              <a:rPr lang="sv-SE" altLang="tr-TR" sz="1800"/>
              <a:t>)</a:t>
            </a:r>
            <a:endParaRPr lang="en-US" altLang="tr-TR" sz="1800"/>
          </a:p>
        </p:txBody>
      </p:sp>
      <p:sp>
        <p:nvSpPr>
          <p:cNvPr id="14348" name="Text Box 10">
            <a:extLst>
              <a:ext uri="{FF2B5EF4-FFF2-40B4-BE49-F238E27FC236}">
                <a16:creationId xmlns:a16="http://schemas.microsoft.com/office/drawing/2014/main" id="{D5C78572-5649-D80F-B869-361D0BF832F6}"/>
              </a:ext>
            </a:extLst>
          </p:cNvPr>
          <p:cNvSpPr txBox="1">
            <a:spLocks noChangeArrowheads="1"/>
          </p:cNvSpPr>
          <p:nvPr/>
        </p:nvSpPr>
        <p:spPr bwMode="auto">
          <a:xfrm>
            <a:off x="3854450" y="2968625"/>
            <a:ext cx="158273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sv-SE" altLang="tr-TR" sz="1800"/>
              <a:t>operationA()</a:t>
            </a:r>
            <a:endParaRPr lang="en-US" altLang="tr-TR" sz="1800"/>
          </a:p>
        </p:txBody>
      </p:sp>
      <p:sp>
        <p:nvSpPr>
          <p:cNvPr id="14349" name="Line 11">
            <a:extLst>
              <a:ext uri="{FF2B5EF4-FFF2-40B4-BE49-F238E27FC236}">
                <a16:creationId xmlns:a16="http://schemas.microsoft.com/office/drawing/2014/main" id="{6FC418F3-5EE8-EC13-8404-34974678509D}"/>
              </a:ext>
            </a:extLst>
          </p:cNvPr>
          <p:cNvSpPr>
            <a:spLocks noChangeShapeType="1"/>
          </p:cNvSpPr>
          <p:nvPr/>
        </p:nvSpPr>
        <p:spPr bwMode="auto">
          <a:xfrm flipH="1">
            <a:off x="3167063" y="2852738"/>
            <a:ext cx="4214812" cy="15875"/>
          </a:xfrm>
          <a:prstGeom prst="line">
            <a:avLst/>
          </a:prstGeom>
          <a:noFill/>
          <a:ln w="19050">
            <a:solidFill>
              <a:schemeClr val="tx1"/>
            </a:solidFill>
            <a:miter lim="800000"/>
            <a:headEnd type="arrow" w="med" len="med"/>
            <a:tailEnd/>
          </a:ln>
          <a:extLst>
            <a:ext uri="{909E8E84-426E-40DD-AFC4-6F175D3DCCD1}">
              <a14:hiddenFill xmlns:a14="http://schemas.microsoft.com/office/drawing/2010/main">
                <a:noFill/>
              </a14:hiddenFill>
            </a:ext>
          </a:extLst>
        </p:spPr>
        <p:txBody>
          <a:bodyPr wrap="none"/>
          <a:lstStyle/>
          <a:p>
            <a:endParaRPr lang="en-US"/>
          </a:p>
        </p:txBody>
      </p:sp>
      <p:sp>
        <p:nvSpPr>
          <p:cNvPr id="14350" name="Rectangle 12">
            <a:extLst>
              <a:ext uri="{FF2B5EF4-FFF2-40B4-BE49-F238E27FC236}">
                <a16:creationId xmlns:a16="http://schemas.microsoft.com/office/drawing/2014/main" id="{B117336D-3AF4-47B9-67DB-C9171F1B3DBF}"/>
              </a:ext>
            </a:extLst>
          </p:cNvPr>
          <p:cNvSpPr>
            <a:spLocks noChangeArrowheads="1"/>
          </p:cNvSpPr>
          <p:nvPr/>
        </p:nvSpPr>
        <p:spPr bwMode="auto">
          <a:xfrm>
            <a:off x="2908300" y="2420938"/>
            <a:ext cx="190500" cy="3933825"/>
          </a:xfrm>
          <a:prstGeom prst="rect">
            <a:avLst/>
          </a:prstGeom>
          <a:solidFill>
            <a:schemeClr val="bg1"/>
          </a:solidFill>
          <a:ln w="19050">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tr-TR" sz="1800"/>
          </a:p>
        </p:txBody>
      </p:sp>
      <p:sp>
        <p:nvSpPr>
          <p:cNvPr id="14351" name="Text Box 13">
            <a:extLst>
              <a:ext uri="{FF2B5EF4-FFF2-40B4-BE49-F238E27FC236}">
                <a16:creationId xmlns:a16="http://schemas.microsoft.com/office/drawing/2014/main" id="{04E90600-FFE1-7385-3D84-36AEC3E8142B}"/>
              </a:ext>
            </a:extLst>
          </p:cNvPr>
          <p:cNvSpPr txBox="1">
            <a:spLocks noChangeArrowheads="1"/>
          </p:cNvSpPr>
          <p:nvPr/>
        </p:nvSpPr>
        <p:spPr bwMode="auto">
          <a:xfrm>
            <a:off x="6637338" y="1628775"/>
            <a:ext cx="1006475" cy="376238"/>
          </a:xfrm>
          <a:prstGeom prst="rect">
            <a:avLst/>
          </a:prstGeom>
          <a:solidFill>
            <a:schemeClr val="accent1"/>
          </a:solidFill>
          <a:ln w="9525">
            <a:solidFill>
              <a:schemeClr val="tx1"/>
            </a:solidFill>
            <a:miter lim="800000"/>
            <a:headEnd/>
            <a:tailEnd/>
          </a:ln>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sv-SE" altLang="tr-TR" sz="1800" u="sng"/>
              <a:t>v:Visitor</a:t>
            </a:r>
            <a:endParaRPr lang="en-US" altLang="tr-TR" sz="1800" u="sng"/>
          </a:p>
        </p:txBody>
      </p:sp>
      <p:sp>
        <p:nvSpPr>
          <p:cNvPr id="14352" name="Line 14">
            <a:extLst>
              <a:ext uri="{FF2B5EF4-FFF2-40B4-BE49-F238E27FC236}">
                <a16:creationId xmlns:a16="http://schemas.microsoft.com/office/drawing/2014/main" id="{E021D612-8866-939D-8E06-477D2A604582}"/>
              </a:ext>
            </a:extLst>
          </p:cNvPr>
          <p:cNvSpPr>
            <a:spLocks noChangeShapeType="1"/>
          </p:cNvSpPr>
          <p:nvPr/>
        </p:nvSpPr>
        <p:spPr bwMode="auto">
          <a:xfrm flipH="1" flipV="1">
            <a:off x="5426075" y="4776788"/>
            <a:ext cx="1700213" cy="6350"/>
          </a:xfrm>
          <a:prstGeom prst="line">
            <a:avLst/>
          </a:prstGeom>
          <a:noFill/>
          <a:ln w="19050">
            <a:solidFill>
              <a:schemeClr val="tx1"/>
            </a:solidFill>
            <a:miter lim="800000"/>
            <a:headEnd type="arrow" w="med" len="med"/>
            <a:tailEnd/>
          </a:ln>
          <a:extLst>
            <a:ext uri="{909E8E84-426E-40DD-AFC4-6F175D3DCCD1}">
              <a14:hiddenFill xmlns:a14="http://schemas.microsoft.com/office/drawing/2010/main">
                <a:noFill/>
              </a14:hiddenFill>
            </a:ext>
          </a:extLst>
        </p:spPr>
        <p:txBody>
          <a:bodyPr wrap="none"/>
          <a:lstStyle/>
          <a:p>
            <a:endParaRPr lang="en-US"/>
          </a:p>
        </p:txBody>
      </p:sp>
      <p:sp>
        <p:nvSpPr>
          <p:cNvPr id="14353" name="Line 15">
            <a:extLst>
              <a:ext uri="{FF2B5EF4-FFF2-40B4-BE49-F238E27FC236}">
                <a16:creationId xmlns:a16="http://schemas.microsoft.com/office/drawing/2014/main" id="{75186F00-329A-F41D-44F3-4773E75C5A9C}"/>
              </a:ext>
            </a:extLst>
          </p:cNvPr>
          <p:cNvSpPr>
            <a:spLocks noChangeShapeType="1"/>
          </p:cNvSpPr>
          <p:nvPr/>
        </p:nvSpPr>
        <p:spPr bwMode="auto">
          <a:xfrm>
            <a:off x="1044575" y="1989138"/>
            <a:ext cx="0" cy="4648200"/>
          </a:xfrm>
          <a:prstGeom prst="line">
            <a:avLst/>
          </a:prstGeom>
          <a:noFill/>
          <a:ln w="19050">
            <a:solidFill>
              <a:schemeClr val="tx1"/>
            </a:solidFill>
            <a:prstDash val="dash"/>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14354" name="Text Box 16">
            <a:extLst>
              <a:ext uri="{FF2B5EF4-FFF2-40B4-BE49-F238E27FC236}">
                <a16:creationId xmlns:a16="http://schemas.microsoft.com/office/drawing/2014/main" id="{E05F86AD-9E50-DDAC-E358-6C3119CEF796}"/>
              </a:ext>
            </a:extLst>
          </p:cNvPr>
          <p:cNvSpPr txBox="1">
            <a:spLocks noChangeArrowheads="1"/>
          </p:cNvSpPr>
          <p:nvPr/>
        </p:nvSpPr>
        <p:spPr bwMode="auto">
          <a:xfrm>
            <a:off x="1279525" y="2136775"/>
            <a:ext cx="11969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sv-SE" altLang="tr-TR" sz="1800" b="1"/>
              <a:t>accept(v</a:t>
            </a:r>
            <a:r>
              <a:rPr lang="sv-SE" altLang="tr-TR" sz="1800"/>
              <a:t>)</a:t>
            </a:r>
            <a:endParaRPr lang="en-US" altLang="tr-TR" sz="1800"/>
          </a:p>
        </p:txBody>
      </p:sp>
      <p:sp>
        <p:nvSpPr>
          <p:cNvPr id="14355" name="Text Box 17">
            <a:extLst>
              <a:ext uri="{FF2B5EF4-FFF2-40B4-BE49-F238E27FC236}">
                <a16:creationId xmlns:a16="http://schemas.microsoft.com/office/drawing/2014/main" id="{B6836792-3010-6231-69D3-B3F9BEB0A056}"/>
              </a:ext>
            </a:extLst>
          </p:cNvPr>
          <p:cNvSpPr txBox="1">
            <a:spLocks noChangeArrowheads="1"/>
          </p:cNvSpPr>
          <p:nvPr/>
        </p:nvSpPr>
        <p:spPr bwMode="auto">
          <a:xfrm>
            <a:off x="669925" y="1603375"/>
            <a:ext cx="787400" cy="369888"/>
          </a:xfrm>
          <a:prstGeom prst="rect">
            <a:avLst/>
          </a:prstGeom>
          <a:solidFill>
            <a:schemeClr val="accent1"/>
          </a:solidFill>
          <a:ln w="9525">
            <a:solidFill>
              <a:schemeClr val="tx1"/>
            </a:solidFill>
            <a:miter lim="800000"/>
            <a:headEnd/>
            <a:tailEnd/>
          </a:ln>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sv-SE" altLang="tr-TR" sz="1800" u="sng"/>
              <a:t>:client</a:t>
            </a:r>
            <a:endParaRPr lang="en-US" altLang="tr-TR" sz="1800" u="sng"/>
          </a:p>
        </p:txBody>
      </p:sp>
      <p:sp>
        <p:nvSpPr>
          <p:cNvPr id="14356" name="Text Box 18">
            <a:extLst>
              <a:ext uri="{FF2B5EF4-FFF2-40B4-BE49-F238E27FC236}">
                <a16:creationId xmlns:a16="http://schemas.microsoft.com/office/drawing/2014/main" id="{8479E4FA-5126-A12A-EDCB-BFFDCB27D29E}"/>
              </a:ext>
            </a:extLst>
          </p:cNvPr>
          <p:cNvSpPr txBox="1">
            <a:spLocks noChangeArrowheads="1"/>
          </p:cNvSpPr>
          <p:nvPr/>
        </p:nvSpPr>
        <p:spPr bwMode="auto">
          <a:xfrm>
            <a:off x="2293938" y="1603375"/>
            <a:ext cx="1704975" cy="376238"/>
          </a:xfrm>
          <a:prstGeom prst="rect">
            <a:avLst/>
          </a:prstGeom>
          <a:solidFill>
            <a:schemeClr val="accent1"/>
          </a:solidFill>
          <a:ln w="9525">
            <a:solidFill>
              <a:schemeClr val="tx1"/>
            </a:solidFill>
            <a:miter lim="800000"/>
            <a:headEnd/>
            <a:tailEnd/>
          </a:ln>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sv-SE" altLang="tr-TR" sz="1800" u="sng"/>
              <a:t>c1:ConcElemA</a:t>
            </a:r>
            <a:endParaRPr lang="en-US" altLang="tr-TR" sz="1800" u="sng"/>
          </a:p>
        </p:txBody>
      </p:sp>
      <p:sp>
        <p:nvSpPr>
          <p:cNvPr id="14357" name="Line 20">
            <a:extLst>
              <a:ext uri="{FF2B5EF4-FFF2-40B4-BE49-F238E27FC236}">
                <a16:creationId xmlns:a16="http://schemas.microsoft.com/office/drawing/2014/main" id="{1922AC6A-DB75-96C6-0C85-376A5E14913A}"/>
              </a:ext>
            </a:extLst>
          </p:cNvPr>
          <p:cNvSpPr>
            <a:spLocks noChangeShapeType="1"/>
          </p:cNvSpPr>
          <p:nvPr/>
        </p:nvSpPr>
        <p:spPr bwMode="auto">
          <a:xfrm flipH="1" flipV="1">
            <a:off x="1063625" y="2506663"/>
            <a:ext cx="1871663" cy="0"/>
          </a:xfrm>
          <a:prstGeom prst="line">
            <a:avLst/>
          </a:prstGeom>
          <a:noFill/>
          <a:ln w="19050">
            <a:solidFill>
              <a:schemeClr val="tx1"/>
            </a:solidFill>
            <a:miter lim="800000"/>
            <a:headEnd type="arrow" w="med" len="med"/>
            <a:tailEnd/>
          </a:ln>
          <a:extLst>
            <a:ext uri="{909E8E84-426E-40DD-AFC4-6F175D3DCCD1}">
              <a14:hiddenFill xmlns:a14="http://schemas.microsoft.com/office/drawing/2010/main">
                <a:noFill/>
              </a14:hiddenFill>
            </a:ext>
          </a:extLst>
        </p:spPr>
        <p:txBody>
          <a:bodyPr wrap="none"/>
          <a:lstStyle/>
          <a:p>
            <a:endParaRPr lang="en-US"/>
          </a:p>
        </p:txBody>
      </p:sp>
      <p:sp>
        <p:nvSpPr>
          <p:cNvPr id="14358" name="Text Box 21">
            <a:extLst>
              <a:ext uri="{FF2B5EF4-FFF2-40B4-BE49-F238E27FC236}">
                <a16:creationId xmlns:a16="http://schemas.microsoft.com/office/drawing/2014/main" id="{75EF2987-AC1E-339E-7E39-2ED59C125A2D}"/>
              </a:ext>
            </a:extLst>
          </p:cNvPr>
          <p:cNvSpPr txBox="1">
            <a:spLocks noChangeArrowheads="1"/>
          </p:cNvSpPr>
          <p:nvPr/>
        </p:nvSpPr>
        <p:spPr bwMode="auto">
          <a:xfrm>
            <a:off x="5540375" y="4756150"/>
            <a:ext cx="10572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sv-SE" altLang="tr-TR" sz="1800" b="1"/>
              <a:t>visit(c2</a:t>
            </a:r>
            <a:r>
              <a:rPr lang="sv-SE" altLang="tr-TR" sz="1800"/>
              <a:t>)</a:t>
            </a:r>
            <a:endParaRPr lang="en-US" altLang="tr-TR" sz="1800"/>
          </a:p>
        </p:txBody>
      </p:sp>
      <p:sp>
        <p:nvSpPr>
          <p:cNvPr id="14359" name="Rectangle 23">
            <a:extLst>
              <a:ext uri="{FF2B5EF4-FFF2-40B4-BE49-F238E27FC236}">
                <a16:creationId xmlns:a16="http://schemas.microsoft.com/office/drawing/2014/main" id="{838E0178-37D2-548B-8E60-3752A7A273B6}"/>
              </a:ext>
            </a:extLst>
          </p:cNvPr>
          <p:cNvSpPr>
            <a:spLocks noChangeArrowheads="1"/>
          </p:cNvSpPr>
          <p:nvPr/>
        </p:nvSpPr>
        <p:spPr bwMode="auto">
          <a:xfrm>
            <a:off x="7354888" y="2701925"/>
            <a:ext cx="254000" cy="3503613"/>
          </a:xfrm>
          <a:prstGeom prst="rect">
            <a:avLst/>
          </a:prstGeom>
          <a:solidFill>
            <a:schemeClr val="bg1"/>
          </a:solidFill>
          <a:ln w="19050">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tr-TR" sz="1800"/>
          </a:p>
        </p:txBody>
      </p:sp>
      <p:sp>
        <p:nvSpPr>
          <p:cNvPr id="14360" name="Line 24">
            <a:extLst>
              <a:ext uri="{FF2B5EF4-FFF2-40B4-BE49-F238E27FC236}">
                <a16:creationId xmlns:a16="http://schemas.microsoft.com/office/drawing/2014/main" id="{CE75F2A7-FD09-FB8D-3D0B-8E7110545E33}"/>
              </a:ext>
            </a:extLst>
          </p:cNvPr>
          <p:cNvSpPr>
            <a:spLocks noChangeShapeType="1"/>
          </p:cNvSpPr>
          <p:nvPr/>
        </p:nvSpPr>
        <p:spPr bwMode="auto">
          <a:xfrm flipV="1">
            <a:off x="5461000" y="4398963"/>
            <a:ext cx="1814513" cy="6350"/>
          </a:xfrm>
          <a:prstGeom prst="line">
            <a:avLst/>
          </a:prstGeom>
          <a:noFill/>
          <a:ln w="19050">
            <a:solidFill>
              <a:schemeClr val="tx1"/>
            </a:solidFill>
            <a:miter lim="800000"/>
            <a:headEnd type="arrow" w="med" len="med"/>
            <a:tailEnd/>
          </a:ln>
          <a:extLst>
            <a:ext uri="{909E8E84-426E-40DD-AFC4-6F175D3DCCD1}">
              <a14:hiddenFill xmlns:a14="http://schemas.microsoft.com/office/drawing/2010/main">
                <a:noFill/>
              </a14:hiddenFill>
            </a:ext>
          </a:extLst>
        </p:spPr>
        <p:txBody>
          <a:bodyPr wrap="none"/>
          <a:lstStyle/>
          <a:p>
            <a:endParaRPr lang="en-US"/>
          </a:p>
        </p:txBody>
      </p:sp>
      <p:sp>
        <p:nvSpPr>
          <p:cNvPr id="14361" name="Text Box 25">
            <a:extLst>
              <a:ext uri="{FF2B5EF4-FFF2-40B4-BE49-F238E27FC236}">
                <a16:creationId xmlns:a16="http://schemas.microsoft.com/office/drawing/2014/main" id="{AA66939A-DEDA-1E56-8AFB-6A1FC9B5EE84}"/>
              </a:ext>
            </a:extLst>
          </p:cNvPr>
          <p:cNvSpPr txBox="1">
            <a:spLocks noChangeArrowheads="1"/>
          </p:cNvSpPr>
          <p:nvPr/>
        </p:nvSpPr>
        <p:spPr bwMode="auto">
          <a:xfrm>
            <a:off x="5654675" y="3981450"/>
            <a:ext cx="11969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sv-SE" altLang="tr-TR" sz="1800" b="1"/>
              <a:t>accept(v</a:t>
            </a:r>
            <a:r>
              <a:rPr lang="sv-SE" altLang="tr-TR" sz="1800"/>
              <a:t>)</a:t>
            </a:r>
            <a:endParaRPr lang="en-US" altLang="tr-TR" sz="1800"/>
          </a:p>
        </p:txBody>
      </p:sp>
      <p:sp>
        <p:nvSpPr>
          <p:cNvPr id="14362" name="Rectangle 27">
            <a:extLst>
              <a:ext uri="{FF2B5EF4-FFF2-40B4-BE49-F238E27FC236}">
                <a16:creationId xmlns:a16="http://schemas.microsoft.com/office/drawing/2014/main" id="{3154C1A7-FA0A-2C26-4B9C-20528BDB08D2}"/>
              </a:ext>
            </a:extLst>
          </p:cNvPr>
          <p:cNvSpPr>
            <a:spLocks noChangeArrowheads="1"/>
          </p:cNvSpPr>
          <p:nvPr/>
        </p:nvSpPr>
        <p:spPr bwMode="auto">
          <a:xfrm>
            <a:off x="5121275" y="5486400"/>
            <a:ext cx="319088" cy="404813"/>
          </a:xfrm>
          <a:prstGeom prst="rect">
            <a:avLst/>
          </a:prstGeom>
          <a:solidFill>
            <a:schemeClr val="bg1"/>
          </a:solidFill>
          <a:ln w="19050">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tr-TR" sz="1800"/>
          </a:p>
        </p:txBody>
      </p:sp>
      <p:sp>
        <p:nvSpPr>
          <p:cNvPr id="14363" name="Rectangle 28">
            <a:extLst>
              <a:ext uri="{FF2B5EF4-FFF2-40B4-BE49-F238E27FC236}">
                <a16:creationId xmlns:a16="http://schemas.microsoft.com/office/drawing/2014/main" id="{FAE816EC-8B85-61C5-7F2A-FA4531B2002D}"/>
              </a:ext>
            </a:extLst>
          </p:cNvPr>
          <p:cNvSpPr>
            <a:spLocks noChangeArrowheads="1"/>
          </p:cNvSpPr>
          <p:nvPr/>
        </p:nvSpPr>
        <p:spPr bwMode="auto">
          <a:xfrm>
            <a:off x="7126288" y="4729163"/>
            <a:ext cx="206375" cy="1273175"/>
          </a:xfrm>
          <a:prstGeom prst="rect">
            <a:avLst/>
          </a:prstGeom>
          <a:solidFill>
            <a:schemeClr val="bg1"/>
          </a:solidFill>
          <a:ln w="19050">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tr-TR" sz="1800"/>
          </a:p>
        </p:txBody>
      </p:sp>
      <p:sp>
        <p:nvSpPr>
          <p:cNvPr id="14364" name="Line 29">
            <a:extLst>
              <a:ext uri="{FF2B5EF4-FFF2-40B4-BE49-F238E27FC236}">
                <a16:creationId xmlns:a16="http://schemas.microsoft.com/office/drawing/2014/main" id="{5F23C586-4AAA-DD39-D1B7-97527C2E04CC}"/>
              </a:ext>
            </a:extLst>
          </p:cNvPr>
          <p:cNvSpPr>
            <a:spLocks noChangeShapeType="1"/>
          </p:cNvSpPr>
          <p:nvPr/>
        </p:nvSpPr>
        <p:spPr bwMode="auto">
          <a:xfrm flipH="1">
            <a:off x="5437188" y="5494338"/>
            <a:ext cx="1554162" cy="0"/>
          </a:xfrm>
          <a:prstGeom prst="line">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txBody>
          <a:bodyPr/>
          <a:lstStyle/>
          <a:p>
            <a:endParaRPr lang="en-US"/>
          </a:p>
        </p:txBody>
      </p:sp>
      <p:sp>
        <p:nvSpPr>
          <p:cNvPr id="14365" name="Text Box 31">
            <a:extLst>
              <a:ext uri="{FF2B5EF4-FFF2-40B4-BE49-F238E27FC236}">
                <a16:creationId xmlns:a16="http://schemas.microsoft.com/office/drawing/2014/main" id="{74220A94-6E3F-D747-8EB0-65C18683593C}"/>
              </a:ext>
            </a:extLst>
          </p:cNvPr>
          <p:cNvSpPr txBox="1">
            <a:spLocks noChangeArrowheads="1"/>
          </p:cNvSpPr>
          <p:nvPr/>
        </p:nvSpPr>
        <p:spPr bwMode="auto">
          <a:xfrm>
            <a:off x="5411788" y="5476875"/>
            <a:ext cx="1582737"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sv-SE" altLang="tr-TR" sz="1800"/>
              <a:t>operationB()</a:t>
            </a:r>
            <a:endParaRPr lang="en-US" altLang="tr-TR" sz="1800"/>
          </a:p>
        </p:txBody>
      </p:sp>
      <p:sp>
        <p:nvSpPr>
          <p:cNvPr id="14366" name="Line 8">
            <a:extLst>
              <a:ext uri="{FF2B5EF4-FFF2-40B4-BE49-F238E27FC236}">
                <a16:creationId xmlns:a16="http://schemas.microsoft.com/office/drawing/2014/main" id="{86D57E55-59AD-700B-3C1D-3063866DC984}"/>
              </a:ext>
            </a:extLst>
          </p:cNvPr>
          <p:cNvSpPr>
            <a:spLocks noChangeShapeType="1"/>
          </p:cNvSpPr>
          <p:nvPr/>
        </p:nvSpPr>
        <p:spPr bwMode="auto">
          <a:xfrm flipH="1" flipV="1">
            <a:off x="3352800" y="3698875"/>
            <a:ext cx="4032250" cy="9525"/>
          </a:xfrm>
          <a:prstGeom prst="line">
            <a:avLst/>
          </a:prstGeom>
          <a:noFill/>
          <a:ln w="19050">
            <a:solidFill>
              <a:schemeClr val="tx1"/>
            </a:solidFill>
            <a:miter lim="800000"/>
            <a:headEnd/>
            <a:tailEnd type="arrow" w="med" len="med"/>
          </a:ln>
          <a:extLst>
            <a:ext uri="{909E8E84-426E-40DD-AFC4-6F175D3DCCD1}">
              <a14:hiddenFill xmlns:a14="http://schemas.microsoft.com/office/drawing/2010/main">
                <a:noFill/>
              </a14:hiddenFill>
            </a:ext>
          </a:extLst>
        </p:spPr>
        <p:txBody>
          <a:bodyPr wrap="none"/>
          <a:lstStyle/>
          <a:p>
            <a:endParaRPr lang="en-US"/>
          </a:p>
        </p:txBody>
      </p:sp>
      <p:sp>
        <p:nvSpPr>
          <p:cNvPr id="14367" name="Text Box 10">
            <a:extLst>
              <a:ext uri="{FF2B5EF4-FFF2-40B4-BE49-F238E27FC236}">
                <a16:creationId xmlns:a16="http://schemas.microsoft.com/office/drawing/2014/main" id="{A16F95D1-3964-C1DE-FE60-416039E515FB}"/>
              </a:ext>
            </a:extLst>
          </p:cNvPr>
          <p:cNvSpPr txBox="1">
            <a:spLocks noChangeArrowheads="1"/>
          </p:cNvSpPr>
          <p:nvPr/>
        </p:nvSpPr>
        <p:spPr bwMode="auto">
          <a:xfrm>
            <a:off x="3681413" y="3378200"/>
            <a:ext cx="1582737"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sv-SE" altLang="tr-TR" sz="1800"/>
              <a:t>getNext()</a:t>
            </a:r>
            <a:endParaRPr lang="en-US" altLang="tr-TR" sz="1800"/>
          </a:p>
        </p:txBody>
      </p:sp>
      <p:sp>
        <p:nvSpPr>
          <p:cNvPr id="14368" name="Line 8">
            <a:extLst>
              <a:ext uri="{FF2B5EF4-FFF2-40B4-BE49-F238E27FC236}">
                <a16:creationId xmlns:a16="http://schemas.microsoft.com/office/drawing/2014/main" id="{68D1A282-9F5D-A322-2165-086C0ABEC1B5}"/>
              </a:ext>
            </a:extLst>
          </p:cNvPr>
          <p:cNvSpPr>
            <a:spLocks noChangeShapeType="1"/>
          </p:cNvSpPr>
          <p:nvPr/>
        </p:nvSpPr>
        <p:spPr bwMode="auto">
          <a:xfrm flipH="1" flipV="1">
            <a:off x="3382963" y="3946525"/>
            <a:ext cx="4032250" cy="9525"/>
          </a:xfrm>
          <a:prstGeom prst="line">
            <a:avLst/>
          </a:prstGeom>
          <a:noFill/>
          <a:ln w="19050">
            <a:solidFill>
              <a:schemeClr val="tx1"/>
            </a:solidFill>
            <a:prstDash val="dash"/>
            <a:miter lim="800000"/>
            <a:headEnd type="arrow" w="med" len="med"/>
            <a:tailEnd/>
          </a:ln>
          <a:extLst>
            <a:ext uri="{909E8E84-426E-40DD-AFC4-6F175D3DCCD1}">
              <a14:hiddenFill xmlns:a14="http://schemas.microsoft.com/office/drawing/2010/main">
                <a:noFill/>
              </a14:hiddenFill>
            </a:ext>
          </a:extLst>
        </p:spPr>
        <p:txBody>
          <a:bodyPr wrap="none"/>
          <a:lstStyle/>
          <a:p>
            <a:endParaRPr lang="en-US"/>
          </a:p>
        </p:txBody>
      </p:sp>
      <p:sp>
        <p:nvSpPr>
          <p:cNvPr id="14369" name="TextBox 1">
            <a:extLst>
              <a:ext uri="{FF2B5EF4-FFF2-40B4-BE49-F238E27FC236}">
                <a16:creationId xmlns:a16="http://schemas.microsoft.com/office/drawing/2014/main" id="{67816248-4F1F-C662-C328-89D15FC9201E}"/>
              </a:ext>
            </a:extLst>
          </p:cNvPr>
          <p:cNvSpPr txBox="1">
            <a:spLocks noChangeArrowheads="1"/>
          </p:cNvSpPr>
          <p:nvPr/>
        </p:nvSpPr>
        <p:spPr bwMode="auto">
          <a:xfrm>
            <a:off x="3978275" y="3865563"/>
            <a:ext cx="4286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t>c2</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43A3DA-96E0-975C-2949-59F433FC1FD1}"/>
              </a:ext>
            </a:extLst>
          </p:cNvPr>
          <p:cNvSpPr>
            <a:spLocks noGrp="1"/>
          </p:cNvSpPr>
          <p:nvPr>
            <p:ph type="title"/>
          </p:nvPr>
        </p:nvSpPr>
        <p:spPr/>
        <p:txBody>
          <a:bodyPr/>
          <a:lstStyle/>
          <a:p>
            <a:r>
              <a:rPr lang="en-US" dirty="0"/>
              <a:t>Example 3: visitors for AST</a:t>
            </a:r>
          </a:p>
        </p:txBody>
      </p:sp>
      <p:sp>
        <p:nvSpPr>
          <p:cNvPr id="3" name="Content Placeholder 2">
            <a:extLst>
              <a:ext uri="{FF2B5EF4-FFF2-40B4-BE49-F238E27FC236}">
                <a16:creationId xmlns:a16="http://schemas.microsoft.com/office/drawing/2014/main" id="{85FA76F8-6D6A-7A66-2881-B2990AB714DD}"/>
              </a:ext>
            </a:extLst>
          </p:cNvPr>
          <p:cNvSpPr>
            <a:spLocks noGrp="1"/>
          </p:cNvSpPr>
          <p:nvPr>
            <p:ph idx="1"/>
          </p:nvPr>
        </p:nvSpPr>
        <p:spPr>
          <a:xfrm>
            <a:off x="423664" y="1268760"/>
            <a:ext cx="8229600" cy="4532109"/>
          </a:xfrm>
        </p:spPr>
        <p:txBody>
          <a:bodyPr/>
          <a:lstStyle/>
          <a:p>
            <a:r>
              <a:rPr lang="en-US" sz="2800" dirty="0"/>
              <a:t>Abstract Syntax Tree</a:t>
            </a:r>
          </a:p>
          <a:p>
            <a:pPr lvl="1"/>
            <a:r>
              <a:rPr lang="en-US" sz="2400" dirty="0"/>
              <a:t>Print visitor</a:t>
            </a:r>
          </a:p>
          <a:p>
            <a:pPr lvl="1"/>
            <a:r>
              <a:rPr lang="en-US" sz="2400" dirty="0"/>
              <a:t>Type checker visitor</a:t>
            </a:r>
          </a:p>
          <a:p>
            <a:pPr lvl="1"/>
            <a:r>
              <a:rPr lang="en-US" sz="2400" dirty="0"/>
              <a:t>Visitors for several static analyses</a:t>
            </a:r>
          </a:p>
          <a:p>
            <a:pPr lvl="1"/>
            <a:r>
              <a:rPr lang="en-US" sz="2400" dirty="0"/>
              <a:t>Code generating visitors</a:t>
            </a:r>
          </a:p>
          <a:p>
            <a:r>
              <a:rPr lang="en-US" sz="2800" dirty="0"/>
              <a:t>Visitor interface</a:t>
            </a:r>
          </a:p>
          <a:p>
            <a:pPr lvl="1"/>
            <a:r>
              <a:rPr lang="en-US" sz="2400" dirty="0"/>
              <a:t>    </a:t>
            </a:r>
            <a:r>
              <a:rPr lang="en-US" sz="2200" dirty="0"/>
              <a:t>void visit(</a:t>
            </a:r>
            <a:r>
              <a:rPr lang="en-US" sz="2200" dirty="0" err="1"/>
              <a:t>ClassDeclarationNode</a:t>
            </a:r>
            <a:r>
              <a:rPr lang="en-US" sz="2200" dirty="0"/>
              <a:t> node);</a:t>
            </a:r>
          </a:p>
          <a:p>
            <a:pPr lvl="1"/>
            <a:r>
              <a:rPr lang="en-US" sz="2200" dirty="0"/>
              <a:t>    void visit(</a:t>
            </a:r>
            <a:r>
              <a:rPr lang="en-US" sz="2200" dirty="0" err="1"/>
              <a:t>MethodDeclarationNode</a:t>
            </a:r>
            <a:r>
              <a:rPr lang="en-US" sz="2200" dirty="0"/>
              <a:t> node);</a:t>
            </a:r>
          </a:p>
          <a:p>
            <a:pPr lvl="1"/>
            <a:r>
              <a:rPr lang="en-US" sz="2200" dirty="0"/>
              <a:t>    void visit(</a:t>
            </a:r>
            <a:r>
              <a:rPr lang="en-US" sz="2200" dirty="0" err="1"/>
              <a:t>VariableDeclarationNode</a:t>
            </a:r>
            <a:r>
              <a:rPr lang="en-US" sz="2200" dirty="0"/>
              <a:t> node);</a:t>
            </a:r>
          </a:p>
          <a:p>
            <a:pPr lvl="1"/>
            <a:r>
              <a:rPr lang="en-US" sz="2200" dirty="0"/>
              <a:t>    void visit(</a:t>
            </a:r>
            <a:r>
              <a:rPr lang="en-US" sz="2200" dirty="0" err="1"/>
              <a:t>AssignmentNode</a:t>
            </a:r>
            <a:r>
              <a:rPr lang="en-US" sz="2200" dirty="0"/>
              <a:t> node);</a:t>
            </a:r>
          </a:p>
          <a:p>
            <a:pPr lvl="1"/>
            <a:r>
              <a:rPr lang="en-US" sz="2200" dirty="0"/>
              <a:t>    void visit(</a:t>
            </a:r>
            <a:r>
              <a:rPr lang="en-US" sz="2200" dirty="0" err="1"/>
              <a:t>IfElseNode</a:t>
            </a:r>
            <a:r>
              <a:rPr lang="en-US" sz="2200" dirty="0"/>
              <a:t> node);</a:t>
            </a:r>
          </a:p>
          <a:p>
            <a:pPr lvl="1"/>
            <a:r>
              <a:rPr lang="en-US" sz="2200" dirty="0"/>
              <a:t>    void visit(</a:t>
            </a:r>
            <a:r>
              <a:rPr lang="en-US" sz="2200" dirty="0" err="1"/>
              <a:t>WhileNode</a:t>
            </a:r>
            <a:r>
              <a:rPr lang="en-US" sz="2200" dirty="0"/>
              <a:t> node);</a:t>
            </a:r>
          </a:p>
          <a:p>
            <a:pPr lvl="1"/>
            <a:r>
              <a:rPr lang="en-US" sz="2000" dirty="0"/>
              <a:t>    // …visit methods for other types of nodes.</a:t>
            </a:r>
          </a:p>
        </p:txBody>
      </p:sp>
    </p:spTree>
    <p:extLst>
      <p:ext uri="{BB962C8B-B14F-4D97-AF65-F5344CB8AC3E}">
        <p14:creationId xmlns:p14="http://schemas.microsoft.com/office/powerpoint/2010/main" val="108095161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2C2401-DDEC-4853-1C47-BB70A9056590}"/>
              </a:ext>
            </a:extLst>
          </p:cNvPr>
          <p:cNvSpPr>
            <a:spLocks noGrp="1"/>
          </p:cNvSpPr>
          <p:nvPr>
            <p:ph type="title"/>
          </p:nvPr>
        </p:nvSpPr>
        <p:spPr/>
        <p:txBody>
          <a:bodyPr/>
          <a:lstStyle/>
          <a:p>
            <a:r>
              <a:rPr lang="en-US" dirty="0"/>
              <a:t>Exercise 3: visitor of AST</a:t>
            </a:r>
          </a:p>
        </p:txBody>
      </p:sp>
      <p:sp>
        <p:nvSpPr>
          <p:cNvPr id="3" name="Content Placeholder 2">
            <a:extLst>
              <a:ext uri="{FF2B5EF4-FFF2-40B4-BE49-F238E27FC236}">
                <a16:creationId xmlns:a16="http://schemas.microsoft.com/office/drawing/2014/main" id="{8E6825A7-1DEA-6374-F74E-5BC984B4576A}"/>
              </a:ext>
            </a:extLst>
          </p:cNvPr>
          <p:cNvSpPr>
            <a:spLocks noGrp="1"/>
          </p:cNvSpPr>
          <p:nvPr>
            <p:ph idx="1"/>
          </p:nvPr>
        </p:nvSpPr>
        <p:spPr/>
        <p:txBody>
          <a:bodyPr/>
          <a:lstStyle/>
          <a:p>
            <a:r>
              <a:rPr lang="en-US" dirty="0"/>
              <a:t>Example: </a:t>
            </a:r>
            <a:r>
              <a:rPr lang="en-US" dirty="0" err="1"/>
              <a:t>PrintVisitor</a:t>
            </a:r>
            <a:endParaRPr lang="en-US" dirty="0"/>
          </a:p>
          <a:p>
            <a:pPr marL="0" indent="0">
              <a:buNone/>
            </a:pPr>
            <a:r>
              <a:rPr lang="en-US" sz="2200" dirty="0">
                <a:latin typeface="Consolas" panose="020B0609020204030204" pitchFamily="49" charset="0"/>
                <a:ea typeface="Source Code Pro" panose="020B0509030403020204" pitchFamily="49" charset="0"/>
              </a:rPr>
              <a:t>void </a:t>
            </a:r>
            <a:r>
              <a:rPr lang="en-US" sz="2200" dirty="0" err="1">
                <a:latin typeface="Consolas" panose="020B0609020204030204" pitchFamily="49" charset="0"/>
                <a:ea typeface="Source Code Pro" panose="020B0509030403020204" pitchFamily="49" charset="0"/>
              </a:rPr>
              <a:t>PrintVisitor</a:t>
            </a:r>
            <a:r>
              <a:rPr lang="en-US" sz="2200" dirty="0">
                <a:latin typeface="Consolas" panose="020B0609020204030204" pitchFamily="49" charset="0"/>
                <a:ea typeface="Source Code Pro" panose="020B0509030403020204" pitchFamily="49" charset="0"/>
              </a:rPr>
              <a:t>::</a:t>
            </a:r>
            <a:r>
              <a:rPr lang="en-US" sz="2200" dirty="0">
                <a:solidFill>
                  <a:srgbClr val="0070C0"/>
                </a:solidFill>
                <a:latin typeface="Consolas" panose="020B0609020204030204" pitchFamily="49" charset="0"/>
                <a:ea typeface="Source Code Pro" panose="020B0509030403020204" pitchFamily="49" charset="0"/>
              </a:rPr>
              <a:t>visit</a:t>
            </a:r>
            <a:r>
              <a:rPr lang="en-US" sz="2200" dirty="0">
                <a:latin typeface="Consolas" panose="020B0609020204030204" pitchFamily="49" charset="0"/>
                <a:ea typeface="Source Code Pro" panose="020B0509030403020204" pitchFamily="49" charset="0"/>
              </a:rPr>
              <a:t>(</a:t>
            </a:r>
            <a:r>
              <a:rPr lang="en-US" sz="2200" dirty="0" err="1">
                <a:latin typeface="Consolas" panose="020B0609020204030204" pitchFamily="49" charset="0"/>
                <a:ea typeface="Source Code Pro" panose="020B0509030403020204" pitchFamily="49" charset="0"/>
              </a:rPr>
              <a:t>IfElseNode</a:t>
            </a:r>
            <a:r>
              <a:rPr lang="en-US" sz="2200" dirty="0">
                <a:latin typeface="Consolas" panose="020B0609020204030204" pitchFamily="49" charset="0"/>
                <a:ea typeface="Source Code Pro" panose="020B0509030403020204" pitchFamily="49" charset="0"/>
              </a:rPr>
              <a:t>* node) {</a:t>
            </a:r>
          </a:p>
          <a:p>
            <a:pPr marL="0" indent="0">
              <a:buNone/>
            </a:pPr>
            <a:r>
              <a:rPr lang="en-US" sz="2200" dirty="0">
                <a:latin typeface="Consolas" panose="020B0609020204030204" pitchFamily="49" charset="0"/>
                <a:ea typeface="Source Code Pro" panose="020B0509030403020204" pitchFamily="49" charset="0"/>
              </a:rPr>
              <a:t>    </a:t>
            </a:r>
            <a:r>
              <a:rPr lang="en-US" sz="2200" dirty="0" err="1">
                <a:latin typeface="Consolas" panose="020B0609020204030204" pitchFamily="49" charset="0"/>
                <a:ea typeface="Source Code Pro" panose="020B0509030403020204" pitchFamily="49" charset="0"/>
              </a:rPr>
              <a:t>cout</a:t>
            </a:r>
            <a:r>
              <a:rPr lang="en-US" sz="2200" dirty="0">
                <a:latin typeface="Consolas" panose="020B0609020204030204" pitchFamily="49" charset="0"/>
                <a:ea typeface="Source Code Pro" panose="020B0509030403020204" pitchFamily="49" charset="0"/>
              </a:rPr>
              <a:t>&lt;&lt;"If: " + node-&gt;</a:t>
            </a:r>
            <a:r>
              <a:rPr lang="en-US" sz="2200" dirty="0" err="1">
                <a:latin typeface="Consolas" panose="020B0609020204030204" pitchFamily="49" charset="0"/>
                <a:ea typeface="Source Code Pro" panose="020B0509030403020204" pitchFamily="49" charset="0"/>
              </a:rPr>
              <a:t>getCondition</a:t>
            </a:r>
            <a:r>
              <a:rPr lang="en-US" sz="2200" dirty="0">
                <a:latin typeface="Consolas" panose="020B0609020204030204" pitchFamily="49" charset="0"/>
                <a:ea typeface="Source Code Pro" panose="020B0509030403020204" pitchFamily="49" charset="0"/>
              </a:rPr>
              <a:t>()&lt;&lt;</a:t>
            </a:r>
            <a:r>
              <a:rPr lang="en-US" sz="2200" dirty="0" err="1">
                <a:latin typeface="Consolas" panose="020B0609020204030204" pitchFamily="49" charset="0"/>
                <a:ea typeface="Source Code Pro" panose="020B0509030403020204" pitchFamily="49" charset="0"/>
              </a:rPr>
              <a:t>endl</a:t>
            </a:r>
            <a:r>
              <a:rPr lang="en-US" sz="2200" dirty="0">
                <a:latin typeface="Consolas" panose="020B0609020204030204" pitchFamily="49" charset="0"/>
                <a:ea typeface="Source Code Pro" panose="020B0509030403020204" pitchFamily="49" charset="0"/>
              </a:rPr>
              <a:t>;</a:t>
            </a:r>
          </a:p>
          <a:p>
            <a:pPr marL="0" indent="0">
              <a:buNone/>
            </a:pPr>
            <a:r>
              <a:rPr lang="en-US" sz="2200" dirty="0">
                <a:latin typeface="Consolas" panose="020B0609020204030204" pitchFamily="49" charset="0"/>
                <a:ea typeface="Source Code Pro" panose="020B0509030403020204" pitchFamily="49" charset="0"/>
              </a:rPr>
              <a:t>    node-&gt;</a:t>
            </a:r>
            <a:r>
              <a:rPr lang="en-US" sz="2200" dirty="0" err="1">
                <a:latin typeface="Consolas" panose="020B0609020204030204" pitchFamily="49" charset="0"/>
                <a:ea typeface="Source Code Pro" panose="020B0509030403020204" pitchFamily="49" charset="0"/>
              </a:rPr>
              <a:t>getThen</a:t>
            </a:r>
            <a:r>
              <a:rPr lang="en-US" sz="2200" dirty="0">
                <a:latin typeface="Consolas" panose="020B0609020204030204" pitchFamily="49" charset="0"/>
                <a:ea typeface="Source Code Pro" panose="020B0509030403020204" pitchFamily="49" charset="0"/>
              </a:rPr>
              <a:t>()-&gt;</a:t>
            </a:r>
            <a:r>
              <a:rPr lang="en-US" sz="2200" dirty="0">
                <a:solidFill>
                  <a:srgbClr val="0070C0"/>
                </a:solidFill>
                <a:latin typeface="Consolas" panose="020B0609020204030204" pitchFamily="49" charset="0"/>
                <a:ea typeface="Source Code Pro" panose="020B0509030403020204" pitchFamily="49" charset="0"/>
              </a:rPr>
              <a:t>accept</a:t>
            </a:r>
            <a:r>
              <a:rPr lang="en-US" sz="2200" dirty="0">
                <a:latin typeface="Consolas" panose="020B0609020204030204" pitchFamily="49" charset="0"/>
                <a:ea typeface="Source Code Pro" panose="020B0509030403020204" pitchFamily="49" charset="0"/>
              </a:rPr>
              <a:t>(this);</a:t>
            </a:r>
          </a:p>
          <a:p>
            <a:pPr marL="0" indent="0">
              <a:buNone/>
            </a:pPr>
            <a:r>
              <a:rPr lang="en-US" sz="2200" dirty="0">
                <a:latin typeface="Consolas" panose="020B0609020204030204" pitchFamily="49" charset="0"/>
                <a:ea typeface="Source Code Pro" panose="020B0509030403020204" pitchFamily="49" charset="0"/>
              </a:rPr>
              <a:t>    </a:t>
            </a:r>
            <a:r>
              <a:rPr lang="en-US" sz="2200" dirty="0" err="1">
                <a:latin typeface="Consolas" panose="020B0609020204030204" pitchFamily="49" charset="0"/>
                <a:ea typeface="Source Code Pro" panose="020B0509030403020204" pitchFamily="49" charset="0"/>
              </a:rPr>
              <a:t>cout</a:t>
            </a:r>
            <a:r>
              <a:rPr lang="en-US" sz="2200" dirty="0">
                <a:latin typeface="Consolas" panose="020B0609020204030204" pitchFamily="49" charset="0"/>
                <a:ea typeface="Source Code Pro" panose="020B0509030403020204" pitchFamily="49" charset="0"/>
              </a:rPr>
              <a:t>&lt;&lt;"Else:“&lt;&lt;</a:t>
            </a:r>
            <a:r>
              <a:rPr lang="en-US" sz="2200" dirty="0" err="1">
                <a:latin typeface="Consolas" panose="020B0609020204030204" pitchFamily="49" charset="0"/>
                <a:ea typeface="Source Code Pro" panose="020B0509030403020204" pitchFamily="49" charset="0"/>
              </a:rPr>
              <a:t>endl</a:t>
            </a:r>
            <a:r>
              <a:rPr lang="en-US" sz="2200" dirty="0">
                <a:latin typeface="Consolas" panose="020B0609020204030204" pitchFamily="49" charset="0"/>
                <a:ea typeface="Source Code Pro" panose="020B0509030403020204" pitchFamily="49" charset="0"/>
              </a:rPr>
              <a:t>;</a:t>
            </a:r>
          </a:p>
          <a:p>
            <a:pPr marL="0" indent="0">
              <a:buNone/>
            </a:pPr>
            <a:r>
              <a:rPr lang="en-US" sz="2200" dirty="0">
                <a:latin typeface="Consolas" panose="020B0609020204030204" pitchFamily="49" charset="0"/>
                <a:ea typeface="Source Code Pro" panose="020B0509030403020204" pitchFamily="49" charset="0"/>
              </a:rPr>
              <a:t>    </a:t>
            </a:r>
            <a:r>
              <a:rPr lang="en-US" sz="2200" dirty="0" err="1">
                <a:latin typeface="Consolas" panose="020B0609020204030204" pitchFamily="49" charset="0"/>
                <a:ea typeface="Source Code Pro" panose="020B0509030403020204" pitchFamily="49" charset="0"/>
              </a:rPr>
              <a:t>node.getElse</a:t>
            </a:r>
            <a:r>
              <a:rPr lang="en-US" sz="2200" dirty="0">
                <a:latin typeface="Consolas" panose="020B0609020204030204" pitchFamily="49" charset="0"/>
                <a:ea typeface="Source Code Pro" panose="020B0509030403020204" pitchFamily="49" charset="0"/>
              </a:rPr>
              <a:t>().</a:t>
            </a:r>
            <a:r>
              <a:rPr lang="en-US" sz="2200" dirty="0">
                <a:solidFill>
                  <a:srgbClr val="0070C0"/>
                </a:solidFill>
                <a:latin typeface="Consolas" panose="020B0609020204030204" pitchFamily="49" charset="0"/>
                <a:ea typeface="Source Code Pro" panose="020B0509030403020204" pitchFamily="49" charset="0"/>
              </a:rPr>
              <a:t>accept</a:t>
            </a:r>
            <a:r>
              <a:rPr lang="en-US" sz="2200" dirty="0">
                <a:latin typeface="Consolas" panose="020B0609020204030204" pitchFamily="49" charset="0"/>
                <a:ea typeface="Source Code Pro" panose="020B0509030403020204" pitchFamily="49" charset="0"/>
              </a:rPr>
              <a:t>(this);</a:t>
            </a:r>
          </a:p>
          <a:p>
            <a:pPr marL="0" indent="0">
              <a:buNone/>
            </a:pPr>
            <a:r>
              <a:rPr lang="en-US" sz="2200" dirty="0">
                <a:latin typeface="Consolas" panose="020B0609020204030204" pitchFamily="49" charset="0"/>
                <a:ea typeface="Source Code Pro" panose="020B0509030403020204" pitchFamily="49" charset="0"/>
              </a:rPr>
              <a:t>}</a:t>
            </a:r>
          </a:p>
          <a:p>
            <a:pPr marL="0" indent="0">
              <a:buNone/>
            </a:pPr>
            <a:r>
              <a:rPr lang="en-US" sz="2200" dirty="0">
                <a:latin typeface="Consolas" panose="020B0609020204030204" pitchFamily="49" charset="0"/>
                <a:ea typeface="Source Code Pro" panose="020B0509030403020204" pitchFamily="49" charset="0"/>
              </a:rPr>
              <a:t>class </a:t>
            </a:r>
            <a:r>
              <a:rPr lang="en-US" sz="2200" dirty="0" err="1">
                <a:latin typeface="Consolas" panose="020B0609020204030204" pitchFamily="49" charset="0"/>
                <a:ea typeface="Source Code Pro" panose="020B0509030403020204" pitchFamily="49" charset="0"/>
              </a:rPr>
              <a:t>IfElseNode:public</a:t>
            </a:r>
            <a:r>
              <a:rPr lang="en-US" sz="2200" dirty="0">
                <a:latin typeface="Consolas" panose="020B0609020204030204" pitchFamily="49" charset="0"/>
                <a:ea typeface="Source Code Pro" panose="020B0509030403020204" pitchFamily="49" charset="0"/>
              </a:rPr>
              <a:t> Node{</a:t>
            </a:r>
          </a:p>
          <a:p>
            <a:pPr marL="0" indent="0">
              <a:buNone/>
            </a:pPr>
            <a:r>
              <a:rPr lang="en-US" sz="2200" dirty="0">
                <a:latin typeface="Consolas" panose="020B0609020204030204" pitchFamily="49" charset="0"/>
                <a:ea typeface="Source Code Pro" panose="020B0509030403020204" pitchFamily="49" charset="0"/>
              </a:rPr>
              <a:t> private: </a:t>
            </a:r>
          </a:p>
          <a:p>
            <a:pPr marL="0" indent="0">
              <a:buNone/>
            </a:pPr>
            <a:r>
              <a:rPr lang="en-US" sz="2200" dirty="0">
                <a:latin typeface="Consolas" panose="020B0609020204030204" pitchFamily="49" charset="0"/>
                <a:ea typeface="Source Code Pro" panose="020B0509030403020204" pitchFamily="49" charset="0"/>
              </a:rPr>
              <a:t>   Node* condition; Node* </a:t>
            </a:r>
            <a:r>
              <a:rPr lang="en-US" sz="2200" dirty="0" err="1">
                <a:latin typeface="Consolas" panose="020B0609020204030204" pitchFamily="49" charset="0"/>
                <a:ea typeface="Source Code Pro" panose="020B0509030403020204" pitchFamily="49" charset="0"/>
              </a:rPr>
              <a:t>thenStmt</a:t>
            </a:r>
            <a:r>
              <a:rPr lang="en-US" sz="2200" dirty="0">
                <a:latin typeface="Consolas" panose="020B0609020204030204" pitchFamily="49" charset="0"/>
                <a:ea typeface="Source Code Pro" panose="020B0509030403020204" pitchFamily="49" charset="0"/>
              </a:rPr>
              <a:t>; Node* </a:t>
            </a:r>
            <a:r>
              <a:rPr lang="en-US" sz="2200" dirty="0" err="1">
                <a:latin typeface="Consolas" panose="020B0609020204030204" pitchFamily="49" charset="0"/>
                <a:ea typeface="Source Code Pro" panose="020B0509030403020204" pitchFamily="49" charset="0"/>
              </a:rPr>
              <a:t>elseStmt</a:t>
            </a:r>
            <a:r>
              <a:rPr lang="en-US" sz="2200" dirty="0">
                <a:latin typeface="Consolas" panose="020B0609020204030204" pitchFamily="49" charset="0"/>
                <a:ea typeface="Source Code Pro" panose="020B0509030403020204" pitchFamily="49" charset="0"/>
              </a:rPr>
              <a:t>;</a:t>
            </a:r>
          </a:p>
          <a:p>
            <a:pPr marL="0" indent="0">
              <a:buNone/>
            </a:pPr>
            <a:r>
              <a:rPr lang="en-US" sz="2200" dirty="0">
                <a:latin typeface="Consolas" panose="020B0609020204030204" pitchFamily="49" charset="0"/>
                <a:ea typeface="Source Code Pro" panose="020B0509030403020204" pitchFamily="49" charset="0"/>
              </a:rPr>
              <a:t> public: //constructors, getters, </a:t>
            </a:r>
            <a:r>
              <a:rPr lang="en-US" sz="2200" dirty="0" err="1">
                <a:latin typeface="Consolas" panose="020B0609020204030204" pitchFamily="49" charset="0"/>
                <a:ea typeface="Source Code Pro" panose="020B0509030403020204" pitchFamily="49" charset="0"/>
              </a:rPr>
              <a:t>etc</a:t>
            </a:r>
            <a:endParaRPr lang="en-US" sz="2200" dirty="0">
              <a:latin typeface="Consolas" panose="020B0609020204030204" pitchFamily="49" charset="0"/>
              <a:ea typeface="Source Code Pro" panose="020B0509030403020204" pitchFamily="49" charset="0"/>
            </a:endParaRPr>
          </a:p>
          <a:p>
            <a:pPr marL="0" indent="0">
              <a:buNone/>
            </a:pPr>
            <a:r>
              <a:rPr lang="en-US" sz="2200" dirty="0">
                <a:latin typeface="Consolas" panose="020B0609020204030204" pitchFamily="49" charset="0"/>
                <a:ea typeface="Source Code Pro" panose="020B0509030403020204" pitchFamily="49" charset="0"/>
              </a:rPr>
              <a:t>   </a:t>
            </a:r>
            <a:r>
              <a:rPr lang="en-US" sz="2200" dirty="0">
                <a:solidFill>
                  <a:schemeClr val="bg2"/>
                </a:solidFill>
                <a:latin typeface="Consolas" panose="020B0609020204030204" pitchFamily="49" charset="0"/>
                <a:ea typeface="Source Code Pro" panose="020B0509030403020204" pitchFamily="49" charset="0"/>
              </a:rPr>
              <a:t>void accept(Visitor&amp; v){</a:t>
            </a:r>
            <a:r>
              <a:rPr lang="en-US" sz="2200" dirty="0" err="1">
                <a:solidFill>
                  <a:schemeClr val="bg2"/>
                </a:solidFill>
                <a:latin typeface="Consolas" panose="020B0609020204030204" pitchFamily="49" charset="0"/>
                <a:ea typeface="Source Code Pro" panose="020B0509030403020204" pitchFamily="49" charset="0"/>
              </a:rPr>
              <a:t>v.visit</a:t>
            </a:r>
            <a:r>
              <a:rPr lang="en-US" sz="2200" dirty="0">
                <a:solidFill>
                  <a:schemeClr val="bg2"/>
                </a:solidFill>
                <a:latin typeface="Consolas" panose="020B0609020204030204" pitchFamily="49" charset="0"/>
                <a:ea typeface="Source Code Pro" panose="020B0509030403020204" pitchFamily="49" charset="0"/>
              </a:rPr>
              <a:t>(this);}</a:t>
            </a:r>
          </a:p>
          <a:p>
            <a:pPr marL="0" indent="0">
              <a:buNone/>
            </a:pPr>
            <a:r>
              <a:rPr lang="en-US" sz="2200" dirty="0">
                <a:latin typeface="Consolas" panose="020B0609020204030204" pitchFamily="49" charset="0"/>
                <a:ea typeface="Source Code Pro" panose="020B0509030403020204" pitchFamily="49" charset="0"/>
              </a:rPr>
              <a:t>}; </a:t>
            </a:r>
            <a:r>
              <a:rPr lang="en-US" sz="2200" dirty="0">
                <a:latin typeface="+mj-lt"/>
                <a:ea typeface="Source Code Pro" panose="020B0509030403020204" pitchFamily="49" charset="0"/>
              </a:rPr>
              <a:t>//no traversal logic in the Visitable</a:t>
            </a:r>
          </a:p>
        </p:txBody>
      </p:sp>
    </p:spTree>
    <p:extLst>
      <p:ext uri="{BB962C8B-B14F-4D97-AF65-F5344CB8AC3E}">
        <p14:creationId xmlns:p14="http://schemas.microsoft.com/office/powerpoint/2010/main" val="137549928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a:extLst>
              <a:ext uri="{FF2B5EF4-FFF2-40B4-BE49-F238E27FC236}">
                <a16:creationId xmlns:a16="http://schemas.microsoft.com/office/drawing/2014/main" id="{BDC63CFF-07EC-A149-8BFD-E63CD6050C40}"/>
              </a:ext>
            </a:extLst>
          </p:cNvPr>
          <p:cNvSpPr>
            <a:spLocks noGrp="1" noChangeArrowheads="1"/>
          </p:cNvSpPr>
          <p:nvPr>
            <p:ph type="title"/>
          </p:nvPr>
        </p:nvSpPr>
        <p:spPr/>
        <p:txBody>
          <a:bodyPr/>
          <a:lstStyle/>
          <a:p>
            <a:r>
              <a:rPr lang="tr-TR" altLang="en-US" dirty="0" err="1"/>
              <a:t>When</a:t>
            </a:r>
            <a:r>
              <a:rPr lang="tr-TR" altLang="en-US" dirty="0"/>
              <a:t> </a:t>
            </a:r>
            <a:r>
              <a:rPr lang="tr-TR" altLang="en-US" dirty="0" err="1"/>
              <a:t>to</a:t>
            </a:r>
            <a:r>
              <a:rPr lang="tr-TR" altLang="en-US" dirty="0"/>
              <a:t> </a:t>
            </a:r>
            <a:r>
              <a:rPr lang="tr-TR" altLang="en-US" dirty="0" err="1"/>
              <a:t>Use</a:t>
            </a:r>
            <a:r>
              <a:rPr lang="tr-TR" altLang="en-US" dirty="0"/>
              <a:t> </a:t>
            </a:r>
            <a:r>
              <a:rPr lang="tr-TR" altLang="en-US" dirty="0" err="1"/>
              <a:t>Visitor</a:t>
            </a:r>
            <a:endParaRPr lang="tr-TR" altLang="en-US" dirty="0"/>
          </a:p>
        </p:txBody>
      </p:sp>
      <p:sp>
        <p:nvSpPr>
          <p:cNvPr id="28675" name="Content Placeholder 2">
            <a:extLst>
              <a:ext uri="{FF2B5EF4-FFF2-40B4-BE49-F238E27FC236}">
                <a16:creationId xmlns:a16="http://schemas.microsoft.com/office/drawing/2014/main" id="{8D947F67-7DBE-CC2D-3630-97B5984F31A9}"/>
              </a:ext>
            </a:extLst>
          </p:cNvPr>
          <p:cNvSpPr>
            <a:spLocks noGrp="1" noChangeArrowheads="1"/>
          </p:cNvSpPr>
          <p:nvPr>
            <p:ph idx="1"/>
          </p:nvPr>
        </p:nvSpPr>
        <p:spPr/>
        <p:txBody>
          <a:bodyPr/>
          <a:lstStyle/>
          <a:p>
            <a:r>
              <a:rPr lang="en-US" altLang="en-US" sz="2400" dirty="0"/>
              <a:t>When an object </a:t>
            </a:r>
            <a:r>
              <a:rPr lang="en-US" altLang="en-US" sz="2400" b="1" dirty="0"/>
              <a:t>structure</a:t>
            </a:r>
            <a:r>
              <a:rPr lang="en-US" altLang="en-US" sz="2400" dirty="0"/>
              <a:t> contains many classes of objects with </a:t>
            </a:r>
            <a:r>
              <a:rPr lang="en-US" altLang="en-US" sz="2400" b="1" dirty="0"/>
              <a:t>differing</a:t>
            </a:r>
            <a:r>
              <a:rPr lang="en-US" altLang="en-US" sz="2400" dirty="0"/>
              <a:t> </a:t>
            </a:r>
            <a:r>
              <a:rPr lang="en-US" altLang="en-US" sz="2400" b="1" dirty="0"/>
              <a:t>interfaces</a:t>
            </a:r>
            <a:r>
              <a:rPr lang="en-US" altLang="en-US" sz="2400" dirty="0"/>
              <a:t>, and you want to </a:t>
            </a:r>
            <a:r>
              <a:rPr lang="en-US" altLang="en-US" sz="2400" b="1" dirty="0"/>
              <a:t>perform operations </a:t>
            </a:r>
            <a:r>
              <a:rPr lang="en-US" altLang="en-US" sz="2400" dirty="0"/>
              <a:t>on these objects that depend on their concrete classes</a:t>
            </a:r>
          </a:p>
          <a:p>
            <a:r>
              <a:rPr lang="en-US" altLang="en-US" sz="2400" dirty="0"/>
              <a:t>When many distinct and </a:t>
            </a:r>
            <a:r>
              <a:rPr lang="en-US" altLang="en-US" sz="2400" b="1" dirty="0"/>
              <a:t>unrelated</a:t>
            </a:r>
            <a:r>
              <a:rPr lang="en-US" altLang="en-US" sz="2400" dirty="0"/>
              <a:t> </a:t>
            </a:r>
            <a:r>
              <a:rPr lang="en-US" altLang="en-US" sz="2400" b="1" dirty="0"/>
              <a:t>operations</a:t>
            </a:r>
            <a:r>
              <a:rPr lang="en-US" altLang="en-US" sz="2400" dirty="0"/>
              <a:t> need to be performed on objects in an object </a:t>
            </a:r>
            <a:r>
              <a:rPr lang="en-US" altLang="en-US" sz="2400" b="1" dirty="0"/>
              <a:t>structure</a:t>
            </a:r>
            <a:r>
              <a:rPr lang="en-US" altLang="en-US" sz="2400" dirty="0"/>
              <a:t> and you want to avoid cluttering the classes with these operations</a:t>
            </a:r>
          </a:p>
          <a:p>
            <a:r>
              <a:rPr lang="en-US" altLang="en-US" sz="2400" dirty="0"/>
              <a:t>When the classes defining the structure rarely change, but you often want to define </a:t>
            </a:r>
            <a:r>
              <a:rPr lang="en-US" altLang="en-US" sz="2400" b="1" dirty="0"/>
              <a:t>new</a:t>
            </a:r>
            <a:r>
              <a:rPr lang="en-US" altLang="en-US" sz="2400" dirty="0"/>
              <a:t> operations over the structure</a:t>
            </a:r>
          </a:p>
          <a:p>
            <a:pPr lvl="1"/>
            <a:r>
              <a:rPr lang="en-US" altLang="en-US" sz="2000" dirty="0"/>
              <a:t>If the object structure classes change often, then it's probably better to define the operations in those classes</a:t>
            </a:r>
          </a:p>
          <a:p>
            <a:endParaRPr lang="tr-TR" altLang="en-US" sz="24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CFFB8A-2817-E6DE-5025-7B1BE2D06F1E}"/>
              </a:ext>
            </a:extLst>
          </p:cNvPr>
          <p:cNvSpPr>
            <a:spLocks noGrp="1"/>
          </p:cNvSpPr>
          <p:nvPr>
            <p:ph type="title"/>
          </p:nvPr>
        </p:nvSpPr>
        <p:spPr/>
        <p:txBody>
          <a:bodyPr/>
          <a:lstStyle/>
          <a:p>
            <a:r>
              <a:rPr lang="en-US" dirty="0"/>
              <a:t>Exercise: </a:t>
            </a:r>
          </a:p>
        </p:txBody>
      </p:sp>
      <p:sp>
        <p:nvSpPr>
          <p:cNvPr id="3" name="Content Placeholder 2">
            <a:extLst>
              <a:ext uri="{FF2B5EF4-FFF2-40B4-BE49-F238E27FC236}">
                <a16:creationId xmlns:a16="http://schemas.microsoft.com/office/drawing/2014/main" id="{5B22AACB-C9C0-E75C-3E9F-63D91F7879C1}"/>
              </a:ext>
            </a:extLst>
          </p:cNvPr>
          <p:cNvSpPr>
            <a:spLocks noGrp="1"/>
          </p:cNvSpPr>
          <p:nvPr>
            <p:ph idx="1"/>
          </p:nvPr>
        </p:nvSpPr>
        <p:spPr/>
        <p:txBody>
          <a:bodyPr/>
          <a:lstStyle/>
          <a:p>
            <a:r>
              <a:rPr lang="en-US" sz="2400" dirty="0"/>
              <a:t>Our app is used for human resources</a:t>
            </a:r>
          </a:p>
          <a:p>
            <a:r>
              <a:rPr lang="en-US" sz="2400" dirty="0"/>
              <a:t>It reflects the organization hierarchy of the customer company.</a:t>
            </a:r>
          </a:p>
          <a:p>
            <a:r>
              <a:rPr lang="en-US" sz="2400" dirty="0"/>
              <a:t>You are not permitted to change the code frequently. We are shipping first version soon.</a:t>
            </a:r>
          </a:p>
          <a:p>
            <a:r>
              <a:rPr lang="en-US" sz="2400" dirty="0"/>
              <a:t>Customer want additional modules</a:t>
            </a:r>
          </a:p>
          <a:p>
            <a:pPr lvl="1"/>
            <a:r>
              <a:rPr lang="en-US" sz="2000" dirty="0"/>
              <a:t>Report vacation days left for the for selected departments or all departments</a:t>
            </a:r>
          </a:p>
          <a:p>
            <a:pPr lvl="1"/>
            <a:r>
              <a:rPr lang="en-US" sz="2000" dirty="0"/>
              <a:t>Report total budget left at each department including their subdivisions</a:t>
            </a:r>
          </a:p>
          <a:p>
            <a:r>
              <a:rPr lang="en-US" sz="2400" dirty="0"/>
              <a:t> Note: if you were allowed to change, these reports may be an operation of the object structure</a:t>
            </a:r>
          </a:p>
        </p:txBody>
      </p:sp>
    </p:spTree>
    <p:extLst>
      <p:ext uri="{BB962C8B-B14F-4D97-AF65-F5344CB8AC3E}">
        <p14:creationId xmlns:p14="http://schemas.microsoft.com/office/powerpoint/2010/main" val="19047301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2">
            <a:extLst>
              <a:ext uri="{FF2B5EF4-FFF2-40B4-BE49-F238E27FC236}">
                <a16:creationId xmlns:a16="http://schemas.microsoft.com/office/drawing/2014/main" id="{1205A957-30A1-CF15-D20F-ABCD3E8CBEB6}"/>
              </a:ext>
            </a:extLst>
          </p:cNvPr>
          <p:cNvSpPr>
            <a:spLocks noGrp="1" noChangeArrowheads="1"/>
          </p:cNvSpPr>
          <p:nvPr>
            <p:ph type="title"/>
          </p:nvPr>
        </p:nvSpPr>
        <p:spPr/>
        <p:txBody>
          <a:bodyPr/>
          <a:lstStyle/>
          <a:p>
            <a:pPr algn="l"/>
            <a:r>
              <a:rPr lang="en-US" altLang="en-US" dirty="0"/>
              <a:t>Exercise 2: </a:t>
            </a:r>
            <a:endParaRPr lang="tr-TR" altLang="en-US" dirty="0"/>
          </a:p>
        </p:txBody>
      </p:sp>
      <p:sp>
        <p:nvSpPr>
          <p:cNvPr id="29699" name="Content Placeholder 3">
            <a:extLst>
              <a:ext uri="{FF2B5EF4-FFF2-40B4-BE49-F238E27FC236}">
                <a16:creationId xmlns:a16="http://schemas.microsoft.com/office/drawing/2014/main" id="{735DDB97-6666-34B5-F041-84A5AF018FA7}"/>
              </a:ext>
            </a:extLst>
          </p:cNvPr>
          <p:cNvSpPr>
            <a:spLocks noGrp="1" noChangeArrowheads="1"/>
          </p:cNvSpPr>
          <p:nvPr>
            <p:ph idx="1"/>
          </p:nvPr>
        </p:nvSpPr>
        <p:spPr/>
        <p:txBody>
          <a:bodyPr/>
          <a:lstStyle/>
          <a:p>
            <a:r>
              <a:rPr lang="en-US" altLang="en-US" sz="2800" dirty="0"/>
              <a:t>In the application there are a collection of Customers.</a:t>
            </a:r>
          </a:p>
          <a:p>
            <a:r>
              <a:rPr lang="en-US" altLang="en-US" sz="2800" dirty="0"/>
              <a:t>Customers make orders and each order consists of items.</a:t>
            </a:r>
          </a:p>
          <a:p>
            <a:r>
              <a:rPr lang="en-US" altLang="en-US" sz="2800" dirty="0"/>
              <a:t>We want to create a reporting module in our application to make statistics about a group of customers. </a:t>
            </a:r>
          </a:p>
          <a:p>
            <a:r>
              <a:rPr lang="en-US" altLang="en-US" sz="2800" dirty="0"/>
              <a:t>The first statistics is which customer (no personal info) has made which purchases</a:t>
            </a:r>
          </a:p>
          <a:p>
            <a:pPr lvl="1"/>
            <a:r>
              <a:rPr lang="en-US" altLang="en-US" sz="2400" dirty="0"/>
              <a:t>Print orders and items into</a:t>
            </a:r>
          </a:p>
          <a:p>
            <a:pPr lvl="1"/>
            <a:r>
              <a:rPr lang="en-US" altLang="en-US" sz="2400" dirty="0"/>
              <a:t>Print how much the customer spent </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1746" name="Title 3">
            <a:extLst>
              <a:ext uri="{FF2B5EF4-FFF2-40B4-BE49-F238E27FC236}">
                <a16:creationId xmlns:a16="http://schemas.microsoft.com/office/drawing/2014/main" id="{D5EB70E4-EFA1-BA05-3C62-F4FA577A961B}"/>
              </a:ext>
            </a:extLst>
          </p:cNvPr>
          <p:cNvSpPr>
            <a:spLocks noGrp="1" noChangeArrowheads="1"/>
          </p:cNvSpPr>
          <p:nvPr>
            <p:ph type="title"/>
          </p:nvPr>
        </p:nvSpPr>
        <p:spPr/>
        <p:txBody>
          <a:bodyPr/>
          <a:lstStyle/>
          <a:p>
            <a:r>
              <a:rPr lang="en-US" altLang="en-US"/>
              <a:t>Variation : extrinsic visitor</a:t>
            </a:r>
            <a:endParaRPr lang="tr-TR" altLang="en-US"/>
          </a:p>
        </p:txBody>
      </p:sp>
      <p:pic>
        <p:nvPicPr>
          <p:cNvPr id="31747" name="Picture 2" descr="http://www.eli.sdsu.edu/courses/spring98/cs635/notes/visitor/extrinsic.gif">
            <a:extLst>
              <a:ext uri="{FF2B5EF4-FFF2-40B4-BE49-F238E27FC236}">
                <a16:creationId xmlns:a16="http://schemas.microsoft.com/office/drawing/2014/main" id="{59D96D5C-A2CE-6DA1-7093-62CA4472BBF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58888" y="1628775"/>
            <a:ext cx="7483475" cy="4752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5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2770" name="Title 2">
            <a:extLst>
              <a:ext uri="{FF2B5EF4-FFF2-40B4-BE49-F238E27FC236}">
                <a16:creationId xmlns:a16="http://schemas.microsoft.com/office/drawing/2014/main" id="{8864A209-0D01-D77B-19C1-04935605A901}"/>
              </a:ext>
            </a:extLst>
          </p:cNvPr>
          <p:cNvSpPr>
            <a:spLocks noGrp="1" noChangeArrowheads="1"/>
          </p:cNvSpPr>
          <p:nvPr>
            <p:ph type="title"/>
          </p:nvPr>
        </p:nvSpPr>
        <p:spPr/>
        <p:txBody>
          <a:bodyPr/>
          <a:lstStyle/>
          <a:p>
            <a:r>
              <a:rPr lang="en-US" altLang="en-US" dirty="0"/>
              <a:t>Extrinsic visitor</a:t>
            </a:r>
            <a:endParaRPr lang="tr-TR" altLang="en-US" dirty="0"/>
          </a:p>
        </p:txBody>
      </p:sp>
      <p:sp>
        <p:nvSpPr>
          <p:cNvPr id="32771" name="Content Placeholder 3">
            <a:extLst>
              <a:ext uri="{FF2B5EF4-FFF2-40B4-BE49-F238E27FC236}">
                <a16:creationId xmlns:a16="http://schemas.microsoft.com/office/drawing/2014/main" id="{889CAFC3-4653-5231-CAD9-C108C35A8273}"/>
              </a:ext>
            </a:extLst>
          </p:cNvPr>
          <p:cNvSpPr>
            <a:spLocks noGrp="1" noChangeArrowheads="1"/>
          </p:cNvSpPr>
          <p:nvPr>
            <p:ph idx="1"/>
          </p:nvPr>
        </p:nvSpPr>
        <p:spPr/>
        <p:txBody>
          <a:bodyPr/>
          <a:lstStyle/>
          <a:p>
            <a:r>
              <a:rPr lang="en-US" altLang="en-US" sz="2400"/>
              <a:t>The Visitor takes the responsibility of making sure a visitor can visit a particular concrete element</a:t>
            </a:r>
          </a:p>
          <a:p>
            <a:pPr lvl="1"/>
            <a:r>
              <a:rPr lang="en-US" altLang="en-US" sz="2000"/>
              <a:t>Each Visitor knows which types of concrete classes it can visit</a:t>
            </a:r>
          </a:p>
          <a:p>
            <a:pPr lvl="1"/>
            <a:r>
              <a:rPr lang="en-US" altLang="en-US" sz="2000"/>
              <a:t>The canVisit method of each visitor returns true is that visitor can visit that concrete type</a:t>
            </a:r>
          </a:p>
          <a:p>
            <a:r>
              <a:rPr lang="en-US" altLang="en-US" sz="2400"/>
              <a:t>New visitors can be created without changing the Element classes</a:t>
            </a:r>
          </a:p>
          <a:p>
            <a:r>
              <a:rPr lang="en-US" altLang="en-US" sz="2400"/>
              <a:t>New Element classes can be added without having to change old visitors</a:t>
            </a:r>
            <a:endParaRPr lang="tr-TR" altLang="en-US" sz="2400"/>
          </a:p>
        </p:txBody>
      </p:sp>
    </p:spTree>
  </p:cSld>
  <p:clrMapOvr>
    <a:masterClrMapping/>
  </p:clrMapOvr>
  <p:transition spd="slow"/>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a:extLst>
              <a:ext uri="{FF2B5EF4-FFF2-40B4-BE49-F238E27FC236}">
                <a16:creationId xmlns:a16="http://schemas.microsoft.com/office/drawing/2014/main" id="{6873A67A-6D79-8D59-314E-771BCE3D0C0D}"/>
              </a:ext>
            </a:extLst>
          </p:cNvPr>
          <p:cNvSpPr>
            <a:spLocks noGrp="1" noChangeArrowheads="1"/>
          </p:cNvSpPr>
          <p:nvPr>
            <p:ph type="title"/>
          </p:nvPr>
        </p:nvSpPr>
        <p:spPr/>
        <p:txBody>
          <a:bodyPr/>
          <a:lstStyle/>
          <a:p>
            <a:r>
              <a:rPr lang="en-US" altLang="en-US" dirty="0"/>
              <a:t>Visitor-Consequences -1</a:t>
            </a:r>
          </a:p>
        </p:txBody>
      </p:sp>
      <p:sp>
        <p:nvSpPr>
          <p:cNvPr id="34819" name="Content Placeholder 2">
            <a:extLst>
              <a:ext uri="{FF2B5EF4-FFF2-40B4-BE49-F238E27FC236}">
                <a16:creationId xmlns:a16="http://schemas.microsoft.com/office/drawing/2014/main" id="{6F2ECED4-9824-710B-7B36-DB863E1FA94F}"/>
              </a:ext>
            </a:extLst>
          </p:cNvPr>
          <p:cNvSpPr>
            <a:spLocks noGrp="1" noChangeArrowheads="1"/>
          </p:cNvSpPr>
          <p:nvPr>
            <p:ph idx="1"/>
          </p:nvPr>
        </p:nvSpPr>
        <p:spPr/>
        <p:txBody>
          <a:bodyPr/>
          <a:lstStyle/>
          <a:p>
            <a:r>
              <a:rPr lang="en-US" altLang="en-US" sz="2800" dirty="0"/>
              <a:t>Visitors makes adding new operations easier</a:t>
            </a:r>
          </a:p>
          <a:p>
            <a:pPr lvl="1"/>
            <a:r>
              <a:rPr lang="en-US" altLang="en-US" sz="2400" dirty="0"/>
              <a:t>If the structure involves many different classes, then adding a new operation to the structure requires changing all those classes</a:t>
            </a:r>
          </a:p>
          <a:p>
            <a:pPr lvl="1"/>
            <a:r>
              <a:rPr lang="en-US" altLang="en-US" sz="2400" dirty="0"/>
              <a:t>Coding a new Visitor does not affect the structure</a:t>
            </a:r>
          </a:p>
          <a:p>
            <a:r>
              <a:rPr lang="en-US" altLang="en-US" sz="2800" dirty="0"/>
              <a:t>Visitors gathers related operations, separates unrelated ones</a:t>
            </a:r>
          </a:p>
          <a:p>
            <a:pPr lvl="1"/>
            <a:r>
              <a:rPr lang="en-US" altLang="en-US" sz="2400" dirty="0"/>
              <a:t>Related behavior is not spread over the classes defining the object structure; it's localized in a visitor. </a:t>
            </a:r>
          </a:p>
          <a:p>
            <a:pPr lvl="1"/>
            <a:r>
              <a:rPr lang="en-US" altLang="en-US" sz="2400" dirty="0"/>
              <a:t>Unrelated sets of behavior are partitioned in their own visitor subclasses.</a:t>
            </a:r>
          </a:p>
          <a:p>
            <a:pPr lvl="1"/>
            <a:r>
              <a:rPr lang="en-US" altLang="en-US" sz="2400" dirty="0"/>
              <a:t>A print visitor could have all the different ways to print </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a:extLst>
              <a:ext uri="{FF2B5EF4-FFF2-40B4-BE49-F238E27FC236}">
                <a16:creationId xmlns:a16="http://schemas.microsoft.com/office/drawing/2014/main" id="{AA9FF090-749F-3C5B-24E5-1015A4A0A33B}"/>
              </a:ext>
            </a:extLst>
          </p:cNvPr>
          <p:cNvSpPr>
            <a:spLocks noGrp="1" noChangeArrowheads="1"/>
          </p:cNvSpPr>
          <p:nvPr>
            <p:ph type="title"/>
          </p:nvPr>
        </p:nvSpPr>
        <p:spPr/>
        <p:txBody>
          <a:bodyPr/>
          <a:lstStyle/>
          <a:p>
            <a:r>
              <a:rPr lang="en-US" altLang="en-US" dirty="0"/>
              <a:t>Visitor-Consequences -2</a:t>
            </a:r>
            <a:endParaRPr lang="tr-TR" altLang="en-US" dirty="0"/>
          </a:p>
        </p:txBody>
      </p:sp>
      <p:sp>
        <p:nvSpPr>
          <p:cNvPr id="35843" name="Content Placeholder 2">
            <a:extLst>
              <a:ext uri="{FF2B5EF4-FFF2-40B4-BE49-F238E27FC236}">
                <a16:creationId xmlns:a16="http://schemas.microsoft.com/office/drawing/2014/main" id="{32815BD1-A9F1-B5FE-41F4-1369324427FC}"/>
              </a:ext>
            </a:extLst>
          </p:cNvPr>
          <p:cNvSpPr>
            <a:spLocks noGrp="1" noChangeArrowheads="1"/>
          </p:cNvSpPr>
          <p:nvPr>
            <p:ph idx="1"/>
          </p:nvPr>
        </p:nvSpPr>
        <p:spPr/>
        <p:txBody>
          <a:bodyPr/>
          <a:lstStyle/>
          <a:p>
            <a:r>
              <a:rPr lang="en-US" altLang="en-US" dirty="0"/>
              <a:t>Accumulating state</a:t>
            </a:r>
          </a:p>
          <a:p>
            <a:pPr lvl="1"/>
            <a:r>
              <a:rPr lang="en-US" altLang="en-US" sz="2400" dirty="0"/>
              <a:t>A visitor can accumulate information as it traverses the object structure.</a:t>
            </a:r>
          </a:p>
          <a:p>
            <a:pPr lvl="1"/>
            <a:r>
              <a:rPr lang="en-US" altLang="en-US" sz="2400" dirty="0"/>
              <a:t>Without a visitor, this state would have to be passed as extra arguments to the operations that perform the traversal.</a:t>
            </a:r>
          </a:p>
          <a:p>
            <a:r>
              <a:rPr lang="en-US" altLang="en-US" sz="2800" dirty="0"/>
              <a:t>Visiting across class hierarchies</a:t>
            </a:r>
          </a:p>
          <a:p>
            <a:pPr lvl="1"/>
            <a:r>
              <a:rPr lang="en-US" altLang="en-US" sz="2400" dirty="0"/>
              <a:t>It can visit objects that do not have a common parent class</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a:extLst>
              <a:ext uri="{FF2B5EF4-FFF2-40B4-BE49-F238E27FC236}">
                <a16:creationId xmlns:a16="http://schemas.microsoft.com/office/drawing/2014/main" id="{A9CAFA93-62E3-BAC2-7986-153735797995}"/>
              </a:ext>
            </a:extLst>
          </p:cNvPr>
          <p:cNvSpPr>
            <a:spLocks noGrp="1" noChangeArrowheads="1"/>
          </p:cNvSpPr>
          <p:nvPr>
            <p:ph type="title"/>
          </p:nvPr>
        </p:nvSpPr>
        <p:spPr/>
        <p:txBody>
          <a:bodyPr/>
          <a:lstStyle/>
          <a:p>
            <a:r>
              <a:rPr lang="en-US" altLang="en-US"/>
              <a:t>Consequence</a:t>
            </a:r>
            <a:endParaRPr lang="tr-TR" altLang="en-US"/>
          </a:p>
        </p:txBody>
      </p:sp>
      <p:sp>
        <p:nvSpPr>
          <p:cNvPr id="36867" name="Content Placeholder 2">
            <a:extLst>
              <a:ext uri="{FF2B5EF4-FFF2-40B4-BE49-F238E27FC236}">
                <a16:creationId xmlns:a16="http://schemas.microsoft.com/office/drawing/2014/main" id="{F88E4F7C-E8FA-51C8-1A00-E63B11C94459}"/>
              </a:ext>
            </a:extLst>
          </p:cNvPr>
          <p:cNvSpPr>
            <a:spLocks noGrp="1" noChangeArrowheads="1"/>
          </p:cNvSpPr>
          <p:nvPr>
            <p:ph idx="1"/>
          </p:nvPr>
        </p:nvSpPr>
        <p:spPr/>
        <p:txBody>
          <a:bodyPr/>
          <a:lstStyle/>
          <a:p>
            <a:r>
              <a:rPr lang="en-US" altLang="en-US" sz="2800" dirty="0"/>
              <a:t>Adding new </a:t>
            </a:r>
            <a:r>
              <a:rPr lang="en-US" altLang="en-US" sz="2800" dirty="0" err="1"/>
              <a:t>ConcreteElement</a:t>
            </a:r>
            <a:r>
              <a:rPr lang="en-US" altLang="en-US" sz="2800" dirty="0"/>
              <a:t> classes is hard</a:t>
            </a:r>
          </a:p>
          <a:p>
            <a:pPr lvl="1"/>
            <a:r>
              <a:rPr lang="en-US" altLang="en-US" sz="2400" dirty="0"/>
              <a:t>To add a new </a:t>
            </a:r>
            <a:r>
              <a:rPr lang="en-US" altLang="en-US" sz="2400" dirty="0" err="1"/>
              <a:t>ConcreteElement</a:t>
            </a:r>
            <a:r>
              <a:rPr lang="en-US" altLang="en-US" sz="2400" dirty="0"/>
              <a:t> we need to change all existing visitors </a:t>
            </a:r>
          </a:p>
          <a:p>
            <a:pPr lvl="1"/>
            <a:r>
              <a:rPr lang="en-US" altLang="en-US" sz="2400" dirty="0"/>
              <a:t>i.e. Add a new abstract operation on Visitor and a corresponding implementation in every Concrete Visitor class.</a:t>
            </a:r>
          </a:p>
          <a:p>
            <a:r>
              <a:rPr lang="en-US" altLang="en-US" dirty="0"/>
              <a:t>Breaking encapsulation</a:t>
            </a:r>
          </a:p>
          <a:p>
            <a:pPr lvl="1"/>
            <a:r>
              <a:rPr lang="en-US" altLang="en-US" sz="2400" dirty="0"/>
              <a:t>The </a:t>
            </a:r>
            <a:r>
              <a:rPr lang="en-US" altLang="en-US" sz="2400" dirty="0" err="1"/>
              <a:t>ConcreteElement</a:t>
            </a:r>
            <a:r>
              <a:rPr lang="en-US" altLang="en-US" sz="2400" dirty="0"/>
              <a:t> interface must be powerful enough to let visitors do their job. </a:t>
            </a:r>
          </a:p>
          <a:p>
            <a:pPr lvl="1"/>
            <a:r>
              <a:rPr lang="en-US" altLang="en-US" sz="2400" dirty="0"/>
              <a:t>We may be forced to provide public operations that access an element's internal state, which may compromise its  encapsulation.</a:t>
            </a:r>
          </a:p>
          <a:p>
            <a:pPr lvl="1"/>
            <a:r>
              <a:rPr lang="en-US" altLang="en-US" sz="2400" dirty="0"/>
              <a:t>C++ friends are useful here</a:t>
            </a:r>
            <a:br>
              <a:rPr lang="en-US" altLang="en-US" sz="2400" dirty="0"/>
            </a:br>
            <a:endParaRPr lang="tr-TR" altLang="en-US" sz="24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80F0A8-2211-C715-1C22-C0B6F69608B7}"/>
              </a:ext>
            </a:extLst>
          </p:cNvPr>
          <p:cNvSpPr>
            <a:spLocks noGrp="1"/>
          </p:cNvSpPr>
          <p:nvPr>
            <p:ph type="title"/>
          </p:nvPr>
        </p:nvSpPr>
        <p:spPr/>
        <p:txBody>
          <a:bodyPr/>
          <a:lstStyle/>
          <a:p>
            <a:r>
              <a:rPr lang="en-US" dirty="0"/>
              <a:t>Known uses</a:t>
            </a:r>
          </a:p>
        </p:txBody>
      </p:sp>
      <p:sp>
        <p:nvSpPr>
          <p:cNvPr id="3" name="Content Placeholder 2">
            <a:extLst>
              <a:ext uri="{FF2B5EF4-FFF2-40B4-BE49-F238E27FC236}">
                <a16:creationId xmlns:a16="http://schemas.microsoft.com/office/drawing/2014/main" id="{9680FF6D-F021-2C03-F21C-2C8E5A005505}"/>
              </a:ext>
            </a:extLst>
          </p:cNvPr>
          <p:cNvSpPr>
            <a:spLocks noGrp="1"/>
          </p:cNvSpPr>
          <p:nvPr>
            <p:ph idx="1"/>
          </p:nvPr>
        </p:nvSpPr>
        <p:spPr/>
        <p:txBody>
          <a:bodyPr/>
          <a:lstStyle/>
          <a:p>
            <a:r>
              <a:rPr lang="en-US" sz="2800" dirty="0" err="1">
                <a:latin typeface="Source Sans Pro" panose="020B0503030403020204" pitchFamily="34" charset="0"/>
                <a:ea typeface="Source Sans Pro" panose="020B0503030403020204" pitchFamily="34" charset="0"/>
              </a:rPr>
              <a:t>java.nio.file.FileVisitor</a:t>
            </a:r>
            <a:r>
              <a:rPr lang="en-US" sz="2800" dirty="0">
                <a:latin typeface="Source Sans Pro" panose="020B0503030403020204" pitchFamily="34" charset="0"/>
                <a:ea typeface="Source Sans Pro" panose="020B0503030403020204" pitchFamily="34" charset="0"/>
              </a:rPr>
              <a:t> and </a:t>
            </a:r>
            <a:r>
              <a:rPr lang="en-US" sz="2800" dirty="0" err="1">
                <a:latin typeface="Source Sans Pro" panose="020B0503030403020204" pitchFamily="34" charset="0"/>
                <a:ea typeface="Source Sans Pro" panose="020B0503030403020204" pitchFamily="34" charset="0"/>
              </a:rPr>
              <a:t>SimpleFileVisitor</a:t>
            </a:r>
            <a:endParaRPr lang="en-US" sz="2800" dirty="0">
              <a:latin typeface="Source Sans Pro" panose="020B0503030403020204" pitchFamily="34" charset="0"/>
              <a:ea typeface="Source Sans Pro" panose="020B0503030403020204" pitchFamily="34" charset="0"/>
            </a:endParaRPr>
          </a:p>
          <a:p>
            <a:r>
              <a:rPr lang="en-US" sz="2800" dirty="0" err="1">
                <a:latin typeface="Source Sans Pro" panose="020B0503030403020204" pitchFamily="34" charset="0"/>
                <a:ea typeface="Source Sans Pro" panose="020B0503030403020204" pitchFamily="34" charset="0"/>
              </a:rPr>
              <a:t>javax.faces.component.visit.VisitContext</a:t>
            </a:r>
            <a:r>
              <a:rPr lang="en-US" sz="2800" dirty="0">
                <a:latin typeface="Source Sans Pro" panose="020B0503030403020204" pitchFamily="34" charset="0"/>
                <a:ea typeface="Source Sans Pro" panose="020B0503030403020204" pitchFamily="34" charset="0"/>
              </a:rPr>
              <a:t> </a:t>
            </a:r>
            <a:r>
              <a:rPr lang="en-US" sz="2800" dirty="0">
                <a:latin typeface="+mj-lt"/>
                <a:ea typeface="Source Sans Pro" panose="020B0503030403020204" pitchFamily="34" charset="0"/>
              </a:rPr>
              <a:t>and</a:t>
            </a:r>
            <a:r>
              <a:rPr lang="en-US" sz="2800" dirty="0">
                <a:latin typeface="Source Sans Pro" panose="020B0503030403020204" pitchFamily="34" charset="0"/>
                <a:ea typeface="Source Sans Pro" panose="020B0503030403020204" pitchFamily="34" charset="0"/>
              </a:rPr>
              <a:t> </a:t>
            </a:r>
            <a:r>
              <a:rPr lang="en-US" sz="2800" dirty="0" err="1">
                <a:latin typeface="Source Sans Pro" panose="020B0503030403020204" pitchFamily="34" charset="0"/>
                <a:ea typeface="Source Sans Pro" panose="020B0503030403020204" pitchFamily="34" charset="0"/>
              </a:rPr>
              <a:t>VisitCallback</a:t>
            </a:r>
            <a:endParaRPr lang="en-US" sz="2800" dirty="0">
              <a:latin typeface="Source Sans Pro" panose="020B0503030403020204" pitchFamily="34" charset="0"/>
              <a:ea typeface="Source Sans Pro" panose="020B0503030403020204" pitchFamily="34" charset="0"/>
            </a:endParaRPr>
          </a:p>
          <a:p>
            <a:r>
              <a:rPr lang="en-US" sz="2800" dirty="0" err="1">
                <a:latin typeface="Source Sans Pro" panose="020B0503030403020204" pitchFamily="34" charset="0"/>
                <a:ea typeface="Source Sans Pro" panose="020B0503030403020204" pitchFamily="34" charset="0"/>
              </a:rPr>
              <a:t>javax.lang.model.element.AnnotationValue</a:t>
            </a:r>
            <a:r>
              <a:rPr lang="en-US" sz="2800" dirty="0">
                <a:latin typeface="Source Sans Pro" panose="020B0503030403020204" pitchFamily="34" charset="0"/>
                <a:ea typeface="Source Sans Pro" panose="020B0503030403020204" pitchFamily="34" charset="0"/>
              </a:rPr>
              <a:t> </a:t>
            </a:r>
            <a:r>
              <a:rPr lang="en-US" sz="2800" dirty="0">
                <a:latin typeface="+mj-lt"/>
                <a:ea typeface="Source Sans Pro" panose="020B0503030403020204" pitchFamily="34" charset="0"/>
              </a:rPr>
              <a:t>and</a:t>
            </a:r>
            <a:r>
              <a:rPr lang="en-US" sz="2800" dirty="0">
                <a:latin typeface="Source Sans Pro" panose="020B0503030403020204" pitchFamily="34" charset="0"/>
                <a:ea typeface="Source Sans Pro" panose="020B0503030403020204" pitchFamily="34" charset="0"/>
              </a:rPr>
              <a:t> </a:t>
            </a:r>
            <a:r>
              <a:rPr lang="en-US" sz="2800" dirty="0" err="1">
                <a:latin typeface="Source Sans Pro" panose="020B0503030403020204" pitchFamily="34" charset="0"/>
                <a:ea typeface="Source Sans Pro" panose="020B0503030403020204" pitchFamily="34" charset="0"/>
              </a:rPr>
              <a:t>AnnotationValueVisitor</a:t>
            </a:r>
            <a:endParaRPr lang="en-US" sz="2800" dirty="0">
              <a:latin typeface="Source Sans Pro" panose="020B0503030403020204" pitchFamily="34" charset="0"/>
              <a:ea typeface="Source Sans Pro" panose="020B0503030403020204" pitchFamily="34" charset="0"/>
            </a:endParaRPr>
          </a:p>
          <a:p>
            <a:r>
              <a:rPr lang="en-US" sz="2800" dirty="0" err="1">
                <a:latin typeface="Source Sans Pro" panose="020B0503030403020204" pitchFamily="34" charset="0"/>
                <a:ea typeface="Source Sans Pro" panose="020B0503030403020204" pitchFamily="34" charset="0"/>
              </a:rPr>
              <a:t>javax.lang.model.element.Element</a:t>
            </a:r>
            <a:r>
              <a:rPr lang="en-US" sz="2800" dirty="0">
                <a:latin typeface="Source Sans Pro" panose="020B0503030403020204" pitchFamily="34" charset="0"/>
                <a:ea typeface="Source Sans Pro" panose="020B0503030403020204" pitchFamily="34" charset="0"/>
              </a:rPr>
              <a:t> </a:t>
            </a:r>
            <a:r>
              <a:rPr lang="en-US" sz="2800" dirty="0">
                <a:latin typeface="+mj-lt"/>
                <a:ea typeface="Source Sans Pro" panose="020B0503030403020204" pitchFamily="34" charset="0"/>
              </a:rPr>
              <a:t>and</a:t>
            </a:r>
            <a:r>
              <a:rPr lang="en-US" sz="2800" dirty="0">
                <a:latin typeface="Source Sans Pro" panose="020B0503030403020204" pitchFamily="34" charset="0"/>
                <a:ea typeface="Source Sans Pro" panose="020B0503030403020204" pitchFamily="34" charset="0"/>
              </a:rPr>
              <a:t> </a:t>
            </a:r>
            <a:r>
              <a:rPr lang="en-US" sz="2800" dirty="0" err="1">
                <a:latin typeface="Source Sans Pro" panose="020B0503030403020204" pitchFamily="34" charset="0"/>
                <a:ea typeface="Source Sans Pro" panose="020B0503030403020204" pitchFamily="34" charset="0"/>
              </a:rPr>
              <a:t>ElementVisitor</a:t>
            </a:r>
            <a:endParaRPr lang="en-US" sz="2800" dirty="0">
              <a:latin typeface="Source Sans Pro" panose="020B0503030403020204" pitchFamily="34" charset="0"/>
              <a:ea typeface="Source Sans Pro" panose="020B0503030403020204" pitchFamily="34" charset="0"/>
            </a:endParaRPr>
          </a:p>
          <a:p>
            <a:r>
              <a:rPr lang="en-US" sz="2800" dirty="0" err="1">
                <a:latin typeface="Source Sans Pro" panose="020B0503030403020204" pitchFamily="34" charset="0"/>
                <a:ea typeface="Source Sans Pro" panose="020B0503030403020204" pitchFamily="34" charset="0"/>
              </a:rPr>
              <a:t>javax.lang.model.type.TypeMirror</a:t>
            </a:r>
            <a:r>
              <a:rPr lang="en-US" sz="2800" dirty="0">
                <a:latin typeface="Source Sans Pro" panose="020B0503030403020204" pitchFamily="34" charset="0"/>
                <a:ea typeface="Source Sans Pro" panose="020B0503030403020204" pitchFamily="34" charset="0"/>
              </a:rPr>
              <a:t> </a:t>
            </a:r>
            <a:r>
              <a:rPr lang="en-US" sz="2800" dirty="0">
                <a:latin typeface="+mj-lt"/>
                <a:ea typeface="Source Sans Pro" panose="020B0503030403020204" pitchFamily="34" charset="0"/>
              </a:rPr>
              <a:t>and</a:t>
            </a:r>
            <a:r>
              <a:rPr lang="en-US" sz="2800" dirty="0">
                <a:latin typeface="Source Sans Pro" panose="020B0503030403020204" pitchFamily="34" charset="0"/>
                <a:ea typeface="Source Sans Pro" panose="020B0503030403020204" pitchFamily="34" charset="0"/>
              </a:rPr>
              <a:t> </a:t>
            </a:r>
            <a:r>
              <a:rPr lang="en-US" sz="2800" dirty="0" err="1">
                <a:latin typeface="Source Sans Pro" panose="020B0503030403020204" pitchFamily="34" charset="0"/>
                <a:ea typeface="Source Sans Pro" panose="020B0503030403020204" pitchFamily="34" charset="0"/>
              </a:rPr>
              <a:t>TypeVisitor</a:t>
            </a:r>
            <a:endParaRPr lang="en-US" sz="2800" dirty="0">
              <a:latin typeface="Source Sans Pro" panose="020B0503030403020204" pitchFamily="34" charset="0"/>
              <a:ea typeface="Source Sans Pro" panose="020B0503030403020204" pitchFamily="34" charset="0"/>
            </a:endParaRPr>
          </a:p>
          <a:p>
            <a:endParaRPr lang="en-US" sz="2800" dirty="0">
              <a:latin typeface="Source Sans Pro" panose="020B0503030403020204" pitchFamily="34" charset="0"/>
              <a:ea typeface="Source Sans Pro" panose="020B0503030403020204" pitchFamily="34" charset="0"/>
            </a:endParaRPr>
          </a:p>
        </p:txBody>
      </p:sp>
    </p:spTree>
    <p:extLst>
      <p:ext uri="{BB962C8B-B14F-4D97-AF65-F5344CB8AC3E}">
        <p14:creationId xmlns:p14="http://schemas.microsoft.com/office/powerpoint/2010/main" val="218798651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a:extLst>
              <a:ext uri="{FF2B5EF4-FFF2-40B4-BE49-F238E27FC236}">
                <a16:creationId xmlns:a16="http://schemas.microsoft.com/office/drawing/2014/main" id="{B24DF717-EB56-6AD9-2EBD-ABD6B6794448}"/>
              </a:ext>
            </a:extLst>
          </p:cNvPr>
          <p:cNvSpPr>
            <a:spLocks noGrp="1" noChangeArrowheads="1"/>
          </p:cNvSpPr>
          <p:nvPr>
            <p:ph type="title"/>
          </p:nvPr>
        </p:nvSpPr>
        <p:spPr/>
        <p:txBody>
          <a:bodyPr/>
          <a:lstStyle/>
          <a:p>
            <a:r>
              <a:rPr lang="en-US" altLang="en-US"/>
              <a:t>Related Patterns</a:t>
            </a:r>
            <a:endParaRPr lang="tr-TR" altLang="en-US"/>
          </a:p>
        </p:txBody>
      </p:sp>
      <p:sp>
        <p:nvSpPr>
          <p:cNvPr id="37891" name="Content Placeholder 2">
            <a:extLst>
              <a:ext uri="{FF2B5EF4-FFF2-40B4-BE49-F238E27FC236}">
                <a16:creationId xmlns:a16="http://schemas.microsoft.com/office/drawing/2014/main" id="{D1C02907-CA3F-9473-781D-13FF755A7D67}"/>
              </a:ext>
            </a:extLst>
          </p:cNvPr>
          <p:cNvSpPr>
            <a:spLocks noGrp="1" noChangeArrowheads="1"/>
          </p:cNvSpPr>
          <p:nvPr>
            <p:ph idx="1"/>
          </p:nvPr>
        </p:nvSpPr>
        <p:spPr/>
        <p:txBody>
          <a:bodyPr/>
          <a:lstStyle/>
          <a:p>
            <a:r>
              <a:rPr lang="en-US" altLang="en-US" dirty="0"/>
              <a:t>Visitors and </a:t>
            </a:r>
            <a:r>
              <a:rPr lang="en-US" altLang="en-US" b="1" dirty="0"/>
              <a:t>Composites</a:t>
            </a:r>
          </a:p>
          <a:p>
            <a:pPr lvl="1"/>
            <a:r>
              <a:rPr lang="en-US" altLang="en-US" dirty="0"/>
              <a:t>The visitor pattern can be used together with the composite pattern. </a:t>
            </a:r>
          </a:p>
          <a:p>
            <a:pPr lvl="1"/>
            <a:r>
              <a:rPr lang="en-US" altLang="en-US" dirty="0"/>
              <a:t>The object structure would be a composite structure. </a:t>
            </a:r>
          </a:p>
          <a:p>
            <a:pPr lvl="1"/>
            <a:r>
              <a:rPr lang="en-US" altLang="en-US" dirty="0"/>
              <a:t>Leveraging that an operation of the composite tells all the children do the operation</a:t>
            </a:r>
          </a:p>
          <a:p>
            <a:pPr lvl="2"/>
            <a:r>
              <a:rPr lang="en-US" altLang="en-US" dirty="0"/>
              <a:t>implementation of the accept method of the composite object invokes the accept methods of the component object</a:t>
            </a:r>
            <a:br>
              <a:rPr lang="en-US" altLang="en-US" dirty="0"/>
            </a:br>
            <a:endParaRPr lang="tr-TR" altLang="en-US"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1">
            <a:extLst>
              <a:ext uri="{FF2B5EF4-FFF2-40B4-BE49-F238E27FC236}">
                <a16:creationId xmlns:a16="http://schemas.microsoft.com/office/drawing/2014/main" id="{75235377-2F4B-D31C-E085-00B07C7AF96F}"/>
              </a:ext>
            </a:extLst>
          </p:cNvPr>
          <p:cNvSpPr>
            <a:spLocks noGrp="1" noChangeArrowheads="1"/>
          </p:cNvSpPr>
          <p:nvPr>
            <p:ph type="title"/>
          </p:nvPr>
        </p:nvSpPr>
        <p:spPr/>
        <p:txBody>
          <a:bodyPr/>
          <a:lstStyle/>
          <a:p>
            <a:pPr marL="0" indent="0">
              <a:buNone/>
              <a:defRPr/>
            </a:pPr>
            <a:r>
              <a:rPr lang="en-US" dirty="0"/>
              <a:t>Visitors and Iterators</a:t>
            </a:r>
          </a:p>
        </p:txBody>
      </p:sp>
      <p:sp>
        <p:nvSpPr>
          <p:cNvPr id="3" name="Content Placeholder 2">
            <a:extLst>
              <a:ext uri="{FF2B5EF4-FFF2-40B4-BE49-F238E27FC236}">
                <a16:creationId xmlns:a16="http://schemas.microsoft.com/office/drawing/2014/main" id="{8B9AA4B2-9550-44E7-842B-5A3002246692}"/>
              </a:ext>
            </a:extLst>
          </p:cNvPr>
          <p:cNvSpPr>
            <a:spLocks noGrp="1"/>
          </p:cNvSpPr>
          <p:nvPr>
            <p:ph idx="1"/>
          </p:nvPr>
        </p:nvSpPr>
        <p:spPr>
          <a:xfrm>
            <a:off x="139452" y="1412776"/>
            <a:ext cx="9011344" cy="4532109"/>
          </a:xfrm>
        </p:spPr>
        <p:txBody>
          <a:bodyPr/>
          <a:lstStyle/>
          <a:p>
            <a:pPr>
              <a:defRPr/>
            </a:pPr>
            <a:r>
              <a:rPr lang="en-US" sz="2400" dirty="0"/>
              <a:t>Both are used to traverse object structures. </a:t>
            </a:r>
          </a:p>
          <a:p>
            <a:pPr>
              <a:defRPr/>
            </a:pPr>
            <a:r>
              <a:rPr lang="en-US" sz="2400" dirty="0"/>
              <a:t>Iterator can help visitor, but visitor can manage its own traversal, like on a tree.</a:t>
            </a:r>
          </a:p>
          <a:p>
            <a:pPr>
              <a:defRPr/>
            </a:pPr>
            <a:r>
              <a:rPr lang="en-US" sz="2400" dirty="0"/>
              <a:t>Intents are different: encapsulating operation vs traversal</a:t>
            </a:r>
          </a:p>
          <a:p>
            <a:pPr>
              <a:defRPr/>
            </a:pPr>
            <a:r>
              <a:rPr lang="en-US" sz="2400" dirty="0"/>
              <a:t>Iterator only traverses; performs no operation itself.</a:t>
            </a:r>
          </a:p>
          <a:p>
            <a:pPr lvl="1">
              <a:defRPr/>
            </a:pPr>
            <a:r>
              <a:rPr lang="en-US" sz="2000" dirty="0"/>
              <a:t>type-blind:  just gives you the next element (could be a base type, like Shape).</a:t>
            </a:r>
          </a:p>
          <a:p>
            <a:pPr lvl="1">
              <a:defRPr/>
            </a:pPr>
            <a:r>
              <a:rPr lang="en-US" sz="2000" dirty="0"/>
              <a:t>client "pulls" an element, then decides what to do.</a:t>
            </a:r>
          </a:p>
          <a:p>
            <a:pPr>
              <a:defRPr/>
            </a:pPr>
            <a:r>
              <a:rPr lang="en-US" sz="2400" dirty="0"/>
              <a:t>Visitor: Performs an operation across a structure of different concrete types.</a:t>
            </a:r>
          </a:p>
          <a:p>
            <a:pPr lvl="1">
              <a:defRPr/>
            </a:pPr>
            <a:r>
              <a:rPr lang="en-US" sz="2000" dirty="0"/>
              <a:t>type-aware: uses double-dispatch (e.g., visit(Circle), visit(Square)) to run the correct logic.</a:t>
            </a:r>
          </a:p>
          <a:p>
            <a:pPr lvl="1">
              <a:defRPr/>
            </a:pPr>
            <a:r>
              <a:rPr lang="en-US" sz="2000" dirty="0"/>
              <a:t>the operation is "pushed" to the element </a:t>
            </a:r>
            <a:r>
              <a:rPr lang="en-US" sz="1800" dirty="0" err="1">
                <a:latin typeface="Source Code Pro" panose="020B0509030403020204" pitchFamily="49" charset="0"/>
                <a:ea typeface="Source Code Pro" panose="020B0509030403020204" pitchFamily="49" charset="0"/>
              </a:rPr>
              <a:t>element.accept</a:t>
            </a:r>
            <a:r>
              <a:rPr lang="en-US" sz="1800" dirty="0">
                <a:latin typeface="Source Code Pro" panose="020B0509030403020204" pitchFamily="49" charset="0"/>
                <a:ea typeface="Source Code Pro" panose="020B0509030403020204" pitchFamily="49" charset="0"/>
              </a:rPr>
              <a:t>(visitor)</a:t>
            </a:r>
            <a:endParaRPr lang="tr-TR" sz="2000" dirty="0">
              <a:latin typeface="Source Code Pro" panose="020B0509030403020204" pitchFamily="49" charset="0"/>
              <a:ea typeface="Source Code Pro" panose="020B0509030403020204" pitchFamily="49" charset="0"/>
            </a:endParaRPr>
          </a:p>
        </p:txBody>
      </p:sp>
    </p:spTree>
    <p:extLst>
      <p:ext uri="{BB962C8B-B14F-4D97-AF65-F5344CB8AC3E}">
        <p14:creationId xmlns:p14="http://schemas.microsoft.com/office/powerpoint/2010/main" val="95451837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FA06F3-3D0B-7C81-9002-75E90925BD86}"/>
              </a:ext>
            </a:extLst>
          </p:cNvPr>
          <p:cNvSpPr>
            <a:spLocks noGrp="1"/>
          </p:cNvSpPr>
          <p:nvPr>
            <p:ph type="title"/>
          </p:nvPr>
        </p:nvSpPr>
        <p:spPr/>
        <p:txBody>
          <a:bodyPr/>
          <a:lstStyle/>
          <a:p>
            <a:r>
              <a:rPr lang="en-US" dirty="0"/>
              <a:t>Extra slides</a:t>
            </a:r>
          </a:p>
        </p:txBody>
      </p:sp>
      <p:sp>
        <p:nvSpPr>
          <p:cNvPr id="39939" name="Content Placeholder 2">
            <a:extLst>
              <a:ext uri="{FF2B5EF4-FFF2-40B4-BE49-F238E27FC236}">
                <a16:creationId xmlns:a16="http://schemas.microsoft.com/office/drawing/2014/main" id="{EFCDDB20-B56D-77E0-C972-D6DCE56F6350}"/>
              </a:ext>
            </a:extLst>
          </p:cNvPr>
          <p:cNvSpPr>
            <a:spLocks noGrp="1" noChangeArrowheads="1"/>
          </p:cNvSpPr>
          <p:nvPr>
            <p:ph type="body" idx="1"/>
          </p:nvPr>
        </p:nvSpPr>
        <p:spPr/>
        <p:txBody>
          <a:bodyPr/>
          <a:lstStyle/>
          <a:p>
            <a:endParaRPr lang="tr-TR" altLang="en-US"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0962" name="Title 1">
            <a:extLst>
              <a:ext uri="{FF2B5EF4-FFF2-40B4-BE49-F238E27FC236}">
                <a16:creationId xmlns:a16="http://schemas.microsoft.com/office/drawing/2014/main" id="{2EE46938-21B3-D97B-0EC9-DFD4085B36C4}"/>
              </a:ext>
            </a:extLst>
          </p:cNvPr>
          <p:cNvSpPr>
            <a:spLocks noGrp="1" noChangeArrowheads="1"/>
          </p:cNvSpPr>
          <p:nvPr>
            <p:ph type="title"/>
          </p:nvPr>
        </p:nvSpPr>
        <p:spPr/>
        <p:txBody>
          <a:bodyPr/>
          <a:lstStyle/>
          <a:p>
            <a:r>
              <a:rPr lang="en-US" altLang="en-US"/>
              <a:t>Another code example</a:t>
            </a:r>
            <a:endParaRPr lang="tr-TR" altLang="en-US"/>
          </a:p>
        </p:txBody>
      </p:sp>
      <p:sp>
        <p:nvSpPr>
          <p:cNvPr id="40963" name="Content Placeholder 2">
            <a:extLst>
              <a:ext uri="{FF2B5EF4-FFF2-40B4-BE49-F238E27FC236}">
                <a16:creationId xmlns:a16="http://schemas.microsoft.com/office/drawing/2014/main" id="{323A710F-26EF-A2C6-5E8E-42F7BF95EFF8}"/>
              </a:ext>
            </a:extLst>
          </p:cNvPr>
          <p:cNvSpPr>
            <a:spLocks noGrp="1" noChangeArrowheads="1"/>
          </p:cNvSpPr>
          <p:nvPr>
            <p:ph idx="1"/>
          </p:nvPr>
        </p:nvSpPr>
        <p:spPr/>
        <p:txBody>
          <a:bodyPr/>
          <a:lstStyle/>
          <a:p>
            <a:pPr marL="0" indent="0">
              <a:buFontTx/>
              <a:buNone/>
            </a:pPr>
            <a:r>
              <a:rPr lang="tr-TR" altLang="en-US" sz="2000"/>
              <a:t> public abstract class Component {</a:t>
            </a:r>
          </a:p>
          <a:p>
            <a:pPr marL="0" indent="0">
              <a:buFontTx/>
              <a:buNone/>
            </a:pPr>
            <a:r>
              <a:rPr lang="tr-TR" altLang="en-US" sz="2000"/>
              <a:t> </a:t>
            </a:r>
            <a:r>
              <a:rPr lang="en-US" altLang="en-US" sz="2000"/>
              <a:t>  </a:t>
            </a:r>
            <a:r>
              <a:rPr lang="tr-TR" altLang="en-US" sz="2000"/>
              <a:t>protected String name;</a:t>
            </a:r>
          </a:p>
          <a:p>
            <a:pPr marL="0" indent="0">
              <a:buFontTx/>
              <a:buNone/>
            </a:pPr>
            <a:r>
              <a:rPr lang="en-US" altLang="en-US" sz="2000"/>
              <a:t>  </a:t>
            </a:r>
            <a:r>
              <a:rPr lang="tr-TR" altLang="en-US" sz="2000"/>
              <a:t> public Component(String name) {this.name = name;}</a:t>
            </a:r>
          </a:p>
          <a:p>
            <a:pPr marL="0" indent="0">
              <a:buFontTx/>
              <a:buNone/>
            </a:pPr>
            <a:r>
              <a:rPr lang="en-US" altLang="en-US" sz="2000"/>
              <a:t>  </a:t>
            </a:r>
            <a:r>
              <a:rPr lang="tr-TR" altLang="en-US" sz="2000"/>
              <a:t> public String getName() { return name; }</a:t>
            </a:r>
          </a:p>
          <a:p>
            <a:pPr marL="0" indent="0">
              <a:buFontTx/>
              <a:buNone/>
            </a:pPr>
            <a:r>
              <a:rPr lang="en-US" altLang="en-US" sz="2000"/>
              <a:t>  </a:t>
            </a:r>
            <a:r>
              <a:rPr lang="tr-TR" altLang="en-US" sz="2000"/>
              <a:t> public void setName(String name) { this.name = name; }</a:t>
            </a:r>
          </a:p>
          <a:p>
            <a:pPr marL="0" indent="0">
              <a:buFontTx/>
              <a:buNone/>
            </a:pPr>
            <a:r>
              <a:rPr lang="en-US" altLang="en-US" sz="2000"/>
              <a:t>  </a:t>
            </a:r>
            <a:r>
              <a:rPr lang="tr-TR" altLang="en-US" sz="2000"/>
              <a:t> public abstract double getPrice();</a:t>
            </a:r>
          </a:p>
          <a:p>
            <a:pPr marL="0" indent="0">
              <a:buFontTx/>
              <a:buNone/>
            </a:pPr>
            <a:r>
              <a:rPr lang="en-US" altLang="en-US" sz="2000"/>
              <a:t>  </a:t>
            </a:r>
            <a:r>
              <a:rPr lang="tr-TR" altLang="en-US" sz="2000"/>
              <a:t> public abstract void accept(ComponentVisitor v);</a:t>
            </a:r>
          </a:p>
          <a:p>
            <a:pPr marL="0" indent="0">
              <a:buFontTx/>
              <a:buNone/>
            </a:pPr>
            <a:r>
              <a:rPr lang="tr-TR" altLang="en-US" sz="2000"/>
              <a:t> }</a:t>
            </a:r>
            <a:endParaRPr lang="en-US" altLang="en-US" sz="2000"/>
          </a:p>
          <a:p>
            <a:pPr marL="0" indent="0">
              <a:buFontTx/>
              <a:buNone/>
            </a:pPr>
            <a:endParaRPr lang="en-US" altLang="en-US" sz="2000"/>
          </a:p>
          <a:p>
            <a:pPr marL="0" indent="0">
              <a:buFontTx/>
              <a:buNone/>
            </a:pPr>
            <a:endParaRPr lang="en-US" altLang="en-US" sz="2000"/>
          </a:p>
          <a:p>
            <a:pPr marL="0" indent="0">
              <a:buFontTx/>
              <a:buNone/>
            </a:pPr>
            <a:endParaRPr lang="en-US" altLang="en-US" sz="2000"/>
          </a:p>
          <a:p>
            <a:pPr marL="0" indent="0">
              <a:buFontTx/>
              <a:buNone/>
            </a:pPr>
            <a:r>
              <a:rPr lang="en-US" altLang="en-US" sz="2000"/>
              <a:t>Using the lecture notes of Bob Tarr</a:t>
            </a:r>
            <a:endParaRPr lang="tr-TR" altLang="en-US" sz="2000"/>
          </a:p>
          <a:p>
            <a:pPr marL="0" indent="0">
              <a:buFontTx/>
              <a:buNone/>
            </a:pPr>
            <a:endParaRPr lang="tr-TR" altLang="en-US" sz="200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1986" name="Title 1">
            <a:extLst>
              <a:ext uri="{FF2B5EF4-FFF2-40B4-BE49-F238E27FC236}">
                <a16:creationId xmlns:a16="http://schemas.microsoft.com/office/drawing/2014/main" id="{7E882941-341C-7507-5139-E9FF670FB993}"/>
              </a:ext>
            </a:extLst>
          </p:cNvPr>
          <p:cNvSpPr>
            <a:spLocks noGrp="1" noChangeArrowheads="1"/>
          </p:cNvSpPr>
          <p:nvPr>
            <p:ph type="title"/>
          </p:nvPr>
        </p:nvSpPr>
        <p:spPr/>
        <p:txBody>
          <a:bodyPr/>
          <a:lstStyle/>
          <a:p>
            <a:r>
              <a:rPr lang="en-US" altLang="en-US" dirty="0"/>
              <a:t>Leaf of composite</a:t>
            </a:r>
            <a:endParaRPr lang="tr-TR" altLang="en-US" dirty="0"/>
          </a:p>
        </p:txBody>
      </p:sp>
      <p:sp>
        <p:nvSpPr>
          <p:cNvPr id="41987" name="Content Placeholder 2">
            <a:extLst>
              <a:ext uri="{FF2B5EF4-FFF2-40B4-BE49-F238E27FC236}">
                <a16:creationId xmlns:a16="http://schemas.microsoft.com/office/drawing/2014/main" id="{911760F1-F43C-A448-153A-310C2A2E10D0}"/>
              </a:ext>
            </a:extLst>
          </p:cNvPr>
          <p:cNvSpPr>
            <a:spLocks noGrp="1" noChangeArrowheads="1"/>
          </p:cNvSpPr>
          <p:nvPr>
            <p:ph idx="1"/>
          </p:nvPr>
        </p:nvSpPr>
        <p:spPr/>
        <p:txBody>
          <a:bodyPr/>
          <a:lstStyle/>
          <a:p>
            <a:pPr marL="0" indent="0">
              <a:buFontTx/>
              <a:buNone/>
            </a:pPr>
            <a:r>
              <a:rPr lang="tr-TR" altLang="en-US" sz="2400"/>
              <a:t>public class Widget extends Component {</a:t>
            </a:r>
          </a:p>
          <a:p>
            <a:pPr marL="0" indent="0">
              <a:buFontTx/>
              <a:buNone/>
            </a:pPr>
            <a:r>
              <a:rPr lang="en-US" altLang="en-US" sz="2400"/>
              <a:t>  </a:t>
            </a:r>
            <a:r>
              <a:rPr lang="tr-TR" altLang="en-US" sz="2400"/>
              <a:t> protected double price;</a:t>
            </a:r>
          </a:p>
          <a:p>
            <a:pPr marL="0" indent="0">
              <a:buFontTx/>
              <a:buNone/>
            </a:pPr>
            <a:r>
              <a:rPr lang="en-US" altLang="en-US" sz="2400"/>
              <a:t>  </a:t>
            </a:r>
            <a:r>
              <a:rPr lang="tr-TR" altLang="en-US" sz="2400"/>
              <a:t> public Widget(String name, double price) {</a:t>
            </a:r>
          </a:p>
          <a:p>
            <a:pPr marL="0" indent="0">
              <a:buFontTx/>
              <a:buNone/>
            </a:pPr>
            <a:r>
              <a:rPr lang="en-US" altLang="en-US" sz="2400"/>
              <a:t>       </a:t>
            </a:r>
            <a:r>
              <a:rPr lang="tr-TR" altLang="en-US" sz="2400"/>
              <a:t> super(name); this.price = price; }</a:t>
            </a:r>
          </a:p>
          <a:p>
            <a:pPr marL="0" indent="0">
              <a:buFontTx/>
              <a:buNone/>
            </a:pPr>
            <a:r>
              <a:rPr lang="tr-TR" altLang="en-US" sz="2400"/>
              <a:t> </a:t>
            </a:r>
            <a:r>
              <a:rPr lang="en-US" altLang="en-US" sz="2400"/>
              <a:t>  </a:t>
            </a:r>
            <a:r>
              <a:rPr lang="tr-TR" altLang="en-US" sz="2400"/>
              <a:t>public void setPrice(double price) { this.price = price; }</a:t>
            </a:r>
          </a:p>
          <a:p>
            <a:pPr marL="0" indent="0">
              <a:buFontTx/>
              <a:buNone/>
            </a:pPr>
            <a:r>
              <a:rPr lang="en-US" altLang="en-US" sz="2400"/>
              <a:t>  </a:t>
            </a:r>
            <a:r>
              <a:rPr lang="tr-TR" altLang="en-US" sz="2400"/>
              <a:t> public double getPrice() { return price; }</a:t>
            </a:r>
          </a:p>
          <a:p>
            <a:pPr marL="0" indent="0">
              <a:buFontTx/>
              <a:buNone/>
            </a:pPr>
            <a:r>
              <a:rPr lang="en-US" altLang="en-US" sz="2400"/>
              <a:t>  </a:t>
            </a:r>
            <a:r>
              <a:rPr lang="tr-TR" altLang="en-US" sz="2400"/>
              <a:t> public void accept (ComponentVisitor v) { v.visit(this); }</a:t>
            </a:r>
          </a:p>
          <a:p>
            <a:pPr marL="0" indent="0">
              <a:buFontTx/>
              <a:buNone/>
            </a:pPr>
            <a:r>
              <a:rPr lang="tr-TR" altLang="en-US" sz="2400"/>
              <a:t> }</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3011" name="Content Placeholder 2">
            <a:extLst>
              <a:ext uri="{FF2B5EF4-FFF2-40B4-BE49-F238E27FC236}">
                <a16:creationId xmlns:a16="http://schemas.microsoft.com/office/drawing/2014/main" id="{BA6C4A08-905B-3036-171F-8872A9C661A8}"/>
              </a:ext>
            </a:extLst>
          </p:cNvPr>
          <p:cNvSpPr>
            <a:spLocks noGrp="1" noChangeArrowheads="1"/>
          </p:cNvSpPr>
          <p:nvPr>
            <p:ph idx="4294967295"/>
          </p:nvPr>
        </p:nvSpPr>
        <p:spPr>
          <a:xfrm>
            <a:off x="457200" y="836712"/>
            <a:ext cx="8229600" cy="4525962"/>
          </a:xfrm>
        </p:spPr>
        <p:txBody>
          <a:bodyPr/>
          <a:lstStyle/>
          <a:p>
            <a:pPr marL="0" indent="0">
              <a:buFontTx/>
              <a:buNone/>
            </a:pPr>
            <a:r>
              <a:rPr lang="tr-TR" altLang="en-US" sz="2000" dirty="0" err="1"/>
              <a:t>public</a:t>
            </a:r>
            <a:r>
              <a:rPr lang="tr-TR" altLang="en-US" sz="2000" dirty="0"/>
              <a:t> </a:t>
            </a:r>
            <a:r>
              <a:rPr lang="tr-TR" altLang="en-US" sz="2000" dirty="0" err="1"/>
              <a:t>class</a:t>
            </a:r>
            <a:r>
              <a:rPr lang="tr-TR" altLang="en-US" sz="2000" dirty="0"/>
              <a:t> </a:t>
            </a:r>
            <a:r>
              <a:rPr lang="tr-TR" altLang="en-US" sz="2000" dirty="0" err="1"/>
              <a:t>Widget</a:t>
            </a:r>
            <a:r>
              <a:rPr lang="en-US" altLang="en-US" sz="2000" dirty="0"/>
              <a:t>Assembly</a:t>
            </a:r>
            <a:r>
              <a:rPr lang="tr-TR" altLang="en-US" sz="2000" dirty="0"/>
              <a:t> </a:t>
            </a:r>
            <a:r>
              <a:rPr lang="tr-TR" altLang="en-US" sz="2000" dirty="0" err="1"/>
              <a:t>extends</a:t>
            </a:r>
            <a:r>
              <a:rPr lang="tr-TR" altLang="en-US" sz="2000" dirty="0"/>
              <a:t> Component {</a:t>
            </a:r>
          </a:p>
          <a:p>
            <a:pPr marL="0" indent="0">
              <a:buFontTx/>
              <a:buNone/>
            </a:pPr>
            <a:r>
              <a:rPr lang="en-US" altLang="en-US" sz="2000" dirty="0"/>
              <a:t>  </a:t>
            </a:r>
            <a:r>
              <a:rPr lang="tr-TR" altLang="en-US" sz="2000" dirty="0"/>
              <a:t> </a:t>
            </a:r>
            <a:r>
              <a:rPr lang="tr-TR" altLang="en-US" sz="2000" dirty="0" err="1"/>
              <a:t>protected</a:t>
            </a:r>
            <a:r>
              <a:rPr lang="tr-TR" altLang="en-US" sz="2000" dirty="0"/>
              <a:t> </a:t>
            </a:r>
            <a:r>
              <a:rPr lang="tr-TR" altLang="en-US" sz="2000" dirty="0" err="1"/>
              <a:t>Vector</a:t>
            </a:r>
            <a:r>
              <a:rPr lang="en-US" altLang="en-US" sz="2000" dirty="0"/>
              <a:t>&lt;Component&gt;</a:t>
            </a:r>
            <a:r>
              <a:rPr lang="tr-TR" altLang="en-US" sz="2000" dirty="0"/>
              <a:t> </a:t>
            </a:r>
            <a:r>
              <a:rPr lang="tr-TR" altLang="en-US" sz="2000" dirty="0" err="1"/>
              <a:t>components</a:t>
            </a:r>
            <a:r>
              <a:rPr lang="tr-TR" altLang="en-US" sz="2000" dirty="0"/>
              <a:t>;</a:t>
            </a:r>
          </a:p>
          <a:p>
            <a:pPr marL="0" indent="0">
              <a:buFontTx/>
              <a:buNone/>
            </a:pPr>
            <a:r>
              <a:rPr lang="en-US" altLang="en-US" sz="2000" dirty="0"/>
              <a:t>  </a:t>
            </a:r>
            <a:r>
              <a:rPr lang="tr-TR" altLang="en-US" sz="2000" dirty="0"/>
              <a:t> </a:t>
            </a:r>
            <a:r>
              <a:rPr lang="tr-TR" altLang="en-US" sz="2000" dirty="0" err="1"/>
              <a:t>public</a:t>
            </a:r>
            <a:r>
              <a:rPr lang="tr-TR" altLang="en-US" sz="2000" dirty="0"/>
              <a:t> </a:t>
            </a:r>
            <a:r>
              <a:rPr lang="tr-TR" altLang="en-US" sz="2000" dirty="0" err="1"/>
              <a:t>WidgetAssembly</a:t>
            </a:r>
            <a:r>
              <a:rPr lang="tr-TR" altLang="en-US" sz="2000" dirty="0"/>
              <a:t> (</a:t>
            </a:r>
            <a:r>
              <a:rPr lang="tr-TR" altLang="en-US" sz="2000" dirty="0" err="1"/>
              <a:t>String</a:t>
            </a:r>
            <a:r>
              <a:rPr lang="tr-TR" altLang="en-US" sz="2000" dirty="0"/>
              <a:t> name) {</a:t>
            </a:r>
          </a:p>
          <a:p>
            <a:pPr marL="0" indent="0">
              <a:buFontTx/>
              <a:buNone/>
            </a:pPr>
            <a:r>
              <a:rPr lang="en-US" altLang="en-US" sz="2000" dirty="0"/>
              <a:t>      </a:t>
            </a:r>
            <a:r>
              <a:rPr lang="tr-TR" altLang="en-US" sz="2000" dirty="0"/>
              <a:t> </a:t>
            </a:r>
            <a:r>
              <a:rPr lang="tr-TR" altLang="en-US" sz="2000" dirty="0" err="1"/>
              <a:t>super</a:t>
            </a:r>
            <a:r>
              <a:rPr lang="tr-TR" altLang="en-US" sz="2000" dirty="0"/>
              <a:t>(name); </a:t>
            </a:r>
            <a:r>
              <a:rPr lang="tr-TR" altLang="en-US" sz="2000" dirty="0" err="1"/>
              <a:t>components</a:t>
            </a:r>
            <a:r>
              <a:rPr lang="tr-TR" altLang="en-US" sz="2000" dirty="0"/>
              <a:t> = </a:t>
            </a:r>
            <a:r>
              <a:rPr lang="tr-TR" altLang="en-US" sz="2000" dirty="0" err="1"/>
              <a:t>new</a:t>
            </a:r>
            <a:r>
              <a:rPr lang="tr-TR" altLang="en-US" sz="2000" dirty="0"/>
              <a:t> </a:t>
            </a:r>
            <a:r>
              <a:rPr lang="tr-TR" altLang="en-US" sz="2000" dirty="0" err="1"/>
              <a:t>Vector</a:t>
            </a:r>
            <a:r>
              <a:rPr lang="tr-TR" altLang="en-US" sz="2000" dirty="0"/>
              <a:t>()</a:t>
            </a:r>
            <a:r>
              <a:rPr lang="en-US" altLang="en-US" sz="2000" dirty="0"/>
              <a:t>&lt;Component&gt;</a:t>
            </a:r>
            <a:r>
              <a:rPr lang="tr-TR" altLang="en-US" sz="2000" dirty="0"/>
              <a:t>; }</a:t>
            </a:r>
          </a:p>
          <a:p>
            <a:pPr marL="0" indent="0">
              <a:buFontTx/>
              <a:buNone/>
            </a:pPr>
            <a:r>
              <a:rPr lang="en-US" altLang="en-US" sz="2000" dirty="0"/>
              <a:t>  </a:t>
            </a:r>
            <a:r>
              <a:rPr lang="tr-TR" altLang="en-US" sz="2000" dirty="0"/>
              <a:t> </a:t>
            </a:r>
            <a:r>
              <a:rPr lang="tr-TR" altLang="en-US" sz="2000" dirty="0" err="1"/>
              <a:t>public</a:t>
            </a:r>
            <a:r>
              <a:rPr lang="tr-TR" altLang="en-US" sz="2000" dirty="0"/>
              <a:t> </a:t>
            </a:r>
            <a:r>
              <a:rPr lang="tr-TR" altLang="en-US" sz="2000" dirty="0" err="1"/>
              <a:t>void</a:t>
            </a:r>
            <a:r>
              <a:rPr lang="tr-TR" altLang="en-US" sz="2000" dirty="0"/>
              <a:t> </a:t>
            </a:r>
            <a:r>
              <a:rPr lang="tr-TR" altLang="en-US" sz="2000" dirty="0" err="1"/>
              <a:t>addComponent</a:t>
            </a:r>
            <a:r>
              <a:rPr lang="tr-TR" altLang="en-US" sz="2000" dirty="0"/>
              <a:t> (Component c) {</a:t>
            </a:r>
            <a:r>
              <a:rPr lang="en-US" altLang="en-US" sz="2000" dirty="0"/>
              <a:t>..}</a:t>
            </a:r>
            <a:endParaRPr lang="tr-TR" altLang="en-US" sz="2000" dirty="0"/>
          </a:p>
          <a:p>
            <a:pPr marL="0" indent="0">
              <a:buFontTx/>
              <a:buNone/>
            </a:pPr>
            <a:r>
              <a:rPr lang="en-US" altLang="en-US" sz="2000" dirty="0"/>
              <a:t>   </a:t>
            </a:r>
            <a:r>
              <a:rPr lang="tr-TR" altLang="en-US" sz="2000" dirty="0" err="1"/>
              <a:t>public</a:t>
            </a:r>
            <a:r>
              <a:rPr lang="tr-TR" altLang="en-US" sz="2000" dirty="0"/>
              <a:t> </a:t>
            </a:r>
            <a:r>
              <a:rPr lang="tr-TR" altLang="en-US" sz="2000" dirty="0" err="1"/>
              <a:t>void</a:t>
            </a:r>
            <a:r>
              <a:rPr lang="tr-TR" altLang="en-US" sz="2000" dirty="0"/>
              <a:t> </a:t>
            </a:r>
            <a:r>
              <a:rPr lang="tr-TR" altLang="en-US" sz="2000" dirty="0" err="1"/>
              <a:t>removeComponent</a:t>
            </a:r>
            <a:r>
              <a:rPr lang="tr-TR" altLang="en-US" sz="2000" dirty="0"/>
              <a:t> (Component c) {</a:t>
            </a:r>
            <a:r>
              <a:rPr lang="en-US" altLang="en-US" sz="2000" dirty="0"/>
              <a:t> ..}</a:t>
            </a:r>
            <a:endParaRPr lang="tr-TR" altLang="en-US" sz="2000" dirty="0"/>
          </a:p>
          <a:p>
            <a:pPr marL="0" indent="0">
              <a:buFontTx/>
              <a:buNone/>
            </a:pPr>
            <a:r>
              <a:rPr lang="en-US" altLang="en-US" sz="2000" dirty="0"/>
              <a:t>   </a:t>
            </a:r>
            <a:r>
              <a:rPr lang="tr-TR" altLang="en-US" sz="2000" dirty="0" err="1"/>
              <a:t>public</a:t>
            </a:r>
            <a:r>
              <a:rPr lang="tr-TR" altLang="en-US" sz="2000" dirty="0"/>
              <a:t> </a:t>
            </a:r>
            <a:r>
              <a:rPr lang="tr-TR" altLang="en-US" sz="2000" dirty="0" err="1"/>
              <a:t>double</a:t>
            </a:r>
            <a:r>
              <a:rPr lang="tr-TR" altLang="en-US" sz="2000" dirty="0"/>
              <a:t> </a:t>
            </a:r>
            <a:r>
              <a:rPr lang="tr-TR" altLang="en-US" sz="2000" dirty="0" err="1"/>
              <a:t>getPrice</a:t>
            </a:r>
            <a:r>
              <a:rPr lang="tr-TR" altLang="en-US" sz="2000" dirty="0"/>
              <a:t>() {</a:t>
            </a:r>
            <a:endParaRPr lang="en-US" altLang="en-US" sz="2000" dirty="0"/>
          </a:p>
          <a:p>
            <a:pPr marL="0" indent="0">
              <a:buFontTx/>
              <a:buNone/>
            </a:pPr>
            <a:r>
              <a:rPr lang="en-US" altLang="en-US" sz="2000" dirty="0"/>
              <a:t>        </a:t>
            </a:r>
            <a:r>
              <a:rPr lang="tr-TR" altLang="en-US" sz="2000" dirty="0"/>
              <a:t> </a:t>
            </a:r>
            <a:r>
              <a:rPr lang="tr-TR" altLang="en-US" sz="2000" dirty="0" err="1"/>
              <a:t>double</a:t>
            </a:r>
            <a:r>
              <a:rPr lang="tr-TR" altLang="en-US" sz="2000" dirty="0"/>
              <a:t> </a:t>
            </a:r>
            <a:r>
              <a:rPr lang="tr-TR" altLang="en-US" sz="2000" dirty="0" err="1"/>
              <a:t>totalPrice</a:t>
            </a:r>
            <a:r>
              <a:rPr lang="tr-TR" altLang="en-US" sz="2000" dirty="0"/>
              <a:t> = 0.0;</a:t>
            </a:r>
          </a:p>
          <a:p>
            <a:pPr marL="0" indent="0">
              <a:buFontTx/>
              <a:buNone/>
            </a:pPr>
            <a:r>
              <a:rPr lang="en-US" altLang="en-US" sz="2000" dirty="0"/>
              <a:t>        </a:t>
            </a:r>
            <a:r>
              <a:rPr lang="tr-TR" altLang="en-US" sz="2000" dirty="0"/>
              <a:t> </a:t>
            </a:r>
            <a:r>
              <a:rPr lang="en-US" altLang="en-US" sz="2000" dirty="0"/>
              <a:t>for(Component c:</a:t>
            </a:r>
            <a:r>
              <a:rPr lang="tr-TR" altLang="en-US" sz="2000" dirty="0"/>
              <a:t> </a:t>
            </a:r>
            <a:r>
              <a:rPr lang="tr-TR" altLang="en-US" sz="2000" dirty="0" err="1"/>
              <a:t>components</a:t>
            </a:r>
            <a:r>
              <a:rPr lang="en-US" altLang="en-US" sz="2000" dirty="0"/>
              <a:t>)</a:t>
            </a:r>
          </a:p>
          <a:p>
            <a:pPr marL="0" indent="0">
              <a:buFontTx/>
              <a:buNone/>
            </a:pPr>
            <a:r>
              <a:rPr lang="en-US" altLang="en-US" sz="2000" dirty="0"/>
              <a:t>             </a:t>
            </a:r>
            <a:r>
              <a:rPr lang="tr-TR" altLang="en-US" sz="2000" dirty="0"/>
              <a:t> </a:t>
            </a:r>
            <a:r>
              <a:rPr lang="en-US" altLang="en-US" sz="2000" dirty="0"/>
              <a:t>    </a:t>
            </a:r>
            <a:r>
              <a:rPr lang="tr-TR" altLang="en-US" sz="2000" dirty="0" err="1"/>
              <a:t>totalPrice</a:t>
            </a:r>
            <a:r>
              <a:rPr lang="tr-TR" altLang="en-US" sz="2000" dirty="0"/>
              <a:t> += </a:t>
            </a:r>
            <a:r>
              <a:rPr lang="en-US" altLang="en-US" sz="2000" dirty="0"/>
              <a:t>c</a:t>
            </a:r>
            <a:r>
              <a:rPr lang="tr-TR" altLang="en-US" sz="2000" dirty="0"/>
              <a:t>.</a:t>
            </a:r>
            <a:r>
              <a:rPr lang="tr-TR" altLang="en-US" sz="2000" dirty="0" err="1"/>
              <a:t>getPrice</a:t>
            </a:r>
            <a:r>
              <a:rPr lang="tr-TR" altLang="en-US" sz="2000" dirty="0"/>
              <a:t>();</a:t>
            </a:r>
          </a:p>
          <a:p>
            <a:pPr marL="0" indent="0">
              <a:buFontTx/>
              <a:buNone/>
            </a:pPr>
            <a:r>
              <a:rPr lang="en-US" altLang="en-US" sz="2000" dirty="0"/>
              <a:t>       </a:t>
            </a:r>
            <a:r>
              <a:rPr lang="tr-TR" altLang="en-US" sz="2000" dirty="0"/>
              <a:t> </a:t>
            </a:r>
            <a:r>
              <a:rPr lang="tr-TR" altLang="en-US" sz="2000" dirty="0" err="1"/>
              <a:t>return</a:t>
            </a:r>
            <a:r>
              <a:rPr lang="tr-TR" altLang="en-US" sz="2000" dirty="0"/>
              <a:t> </a:t>
            </a:r>
            <a:r>
              <a:rPr lang="tr-TR" altLang="en-US" sz="2000" dirty="0" err="1"/>
              <a:t>totalPrice</a:t>
            </a:r>
            <a:r>
              <a:rPr lang="tr-TR" altLang="en-US" sz="2000" dirty="0"/>
              <a:t>;</a:t>
            </a:r>
          </a:p>
          <a:p>
            <a:pPr marL="0" indent="0">
              <a:buFontTx/>
              <a:buNone/>
            </a:pPr>
            <a:r>
              <a:rPr lang="tr-TR" altLang="en-US" sz="2000" dirty="0"/>
              <a:t> }</a:t>
            </a:r>
          </a:p>
          <a:p>
            <a:pPr marL="0" indent="0">
              <a:buFontTx/>
              <a:buNone/>
            </a:pPr>
            <a:r>
              <a:rPr lang="tr-TR" altLang="en-US" sz="2000" dirty="0"/>
              <a:t> </a:t>
            </a:r>
            <a:r>
              <a:rPr lang="tr-TR" altLang="en-US" sz="2000" dirty="0" err="1"/>
              <a:t>public</a:t>
            </a:r>
            <a:r>
              <a:rPr lang="tr-TR" altLang="en-US" sz="2000" dirty="0"/>
              <a:t> </a:t>
            </a:r>
            <a:r>
              <a:rPr lang="tr-TR" altLang="en-US" sz="2000" dirty="0" err="1"/>
              <a:t>void</a:t>
            </a:r>
            <a:r>
              <a:rPr lang="tr-TR" altLang="en-US" sz="2000" dirty="0"/>
              <a:t> </a:t>
            </a:r>
            <a:r>
              <a:rPr lang="tr-TR" altLang="en-US" sz="2000" dirty="0" err="1"/>
              <a:t>accept</a:t>
            </a:r>
            <a:r>
              <a:rPr lang="tr-TR" altLang="en-US" sz="2000" dirty="0"/>
              <a:t> (</a:t>
            </a:r>
            <a:r>
              <a:rPr lang="tr-TR" altLang="en-US" sz="2000" dirty="0" err="1"/>
              <a:t>ComponentVisitor</a:t>
            </a:r>
            <a:r>
              <a:rPr lang="tr-TR" altLang="en-US" sz="2000" dirty="0"/>
              <a:t> v) { </a:t>
            </a:r>
            <a:endParaRPr lang="en-US" altLang="en-US" sz="2000" dirty="0"/>
          </a:p>
          <a:p>
            <a:pPr marL="0" indent="0">
              <a:buNone/>
            </a:pPr>
            <a:r>
              <a:rPr lang="en-US" altLang="en-US" sz="2000" dirty="0"/>
              <a:t>         </a:t>
            </a:r>
            <a:r>
              <a:rPr lang="tr-TR" altLang="en-US" sz="2000" dirty="0" err="1"/>
              <a:t>v.visit</a:t>
            </a:r>
            <a:r>
              <a:rPr lang="tr-TR" altLang="en-US" sz="2000" dirty="0"/>
              <a:t>(</a:t>
            </a:r>
            <a:r>
              <a:rPr lang="tr-TR" altLang="en-US" sz="2000" dirty="0" err="1"/>
              <a:t>this</a:t>
            </a:r>
            <a:r>
              <a:rPr lang="tr-TR" altLang="en-US" sz="2000" dirty="0"/>
              <a:t>); </a:t>
            </a:r>
            <a:r>
              <a:rPr lang="en-US" altLang="en-US" sz="2000" dirty="0"/>
              <a:t>for(Component c:</a:t>
            </a:r>
            <a:r>
              <a:rPr lang="tr-TR" altLang="en-US" sz="2000" dirty="0"/>
              <a:t> </a:t>
            </a:r>
            <a:r>
              <a:rPr lang="tr-TR" altLang="en-US" sz="2000" dirty="0" err="1"/>
              <a:t>components</a:t>
            </a:r>
            <a:r>
              <a:rPr lang="en-US" altLang="en-US" sz="2000" dirty="0"/>
              <a:t>)  </a:t>
            </a:r>
            <a:r>
              <a:rPr lang="en-US" altLang="en-US" sz="2000" dirty="0" err="1"/>
              <a:t>c.accept</a:t>
            </a:r>
            <a:r>
              <a:rPr lang="en-US" altLang="en-US" sz="2000" dirty="0"/>
              <a:t> (v);</a:t>
            </a:r>
            <a:r>
              <a:rPr lang="tr-TR" altLang="en-US" sz="2000" dirty="0"/>
              <a:t>}</a:t>
            </a:r>
          </a:p>
          <a:p>
            <a:pPr marL="0" indent="0">
              <a:buFontTx/>
              <a:buNone/>
            </a:pPr>
            <a:r>
              <a:rPr lang="tr-TR" altLang="en-US" sz="2000" dirty="0"/>
              <a:t> }</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4034" name="Title 1">
            <a:extLst>
              <a:ext uri="{FF2B5EF4-FFF2-40B4-BE49-F238E27FC236}">
                <a16:creationId xmlns:a16="http://schemas.microsoft.com/office/drawing/2014/main" id="{1007F516-EEDD-A2FD-EB40-FB6826F247DB}"/>
              </a:ext>
            </a:extLst>
          </p:cNvPr>
          <p:cNvSpPr>
            <a:spLocks noGrp="1" noChangeArrowheads="1"/>
          </p:cNvSpPr>
          <p:nvPr>
            <p:ph type="title"/>
          </p:nvPr>
        </p:nvSpPr>
        <p:spPr/>
        <p:txBody>
          <a:bodyPr/>
          <a:lstStyle/>
          <a:p>
            <a:r>
              <a:rPr lang="en-US" altLang="en-US" dirty="0"/>
              <a:t>Visitors</a:t>
            </a:r>
            <a:endParaRPr lang="tr-TR" altLang="en-US" dirty="0"/>
          </a:p>
        </p:txBody>
      </p:sp>
      <p:sp>
        <p:nvSpPr>
          <p:cNvPr id="44035" name="Content Placeholder 2">
            <a:extLst>
              <a:ext uri="{FF2B5EF4-FFF2-40B4-BE49-F238E27FC236}">
                <a16:creationId xmlns:a16="http://schemas.microsoft.com/office/drawing/2014/main" id="{B9645C60-2BD3-5A1A-7BA9-92D299F3442C}"/>
              </a:ext>
            </a:extLst>
          </p:cNvPr>
          <p:cNvSpPr>
            <a:spLocks noGrp="1" noChangeArrowheads="1"/>
          </p:cNvSpPr>
          <p:nvPr>
            <p:ph idx="1"/>
          </p:nvPr>
        </p:nvSpPr>
        <p:spPr/>
        <p:txBody>
          <a:bodyPr/>
          <a:lstStyle/>
          <a:p>
            <a:pPr marL="0" indent="0">
              <a:buFontTx/>
              <a:buNone/>
            </a:pPr>
            <a:r>
              <a:rPr lang="en-US" altLang="en-US" sz="2400" dirty="0"/>
              <a:t>Structure is ready.</a:t>
            </a:r>
          </a:p>
          <a:p>
            <a:pPr marL="0" indent="0">
              <a:buFontTx/>
              <a:buNone/>
            </a:pPr>
            <a:r>
              <a:rPr lang="en-US" altLang="en-US" sz="2400" dirty="0"/>
              <a:t>Now the visitors.</a:t>
            </a:r>
          </a:p>
          <a:p>
            <a:pPr marL="0" indent="0">
              <a:buFontTx/>
              <a:buNone/>
            </a:pPr>
            <a:endParaRPr lang="en-US" altLang="en-US" sz="2400" dirty="0"/>
          </a:p>
          <a:p>
            <a:pPr marL="0" indent="0">
              <a:buFontTx/>
              <a:buNone/>
            </a:pPr>
            <a:r>
              <a:rPr lang="tr-TR" altLang="en-US" sz="2400" dirty="0" err="1"/>
              <a:t>public</a:t>
            </a:r>
            <a:r>
              <a:rPr lang="tr-TR" altLang="en-US" sz="2400" dirty="0"/>
              <a:t> </a:t>
            </a:r>
            <a:r>
              <a:rPr lang="tr-TR" altLang="en-US" sz="2400" dirty="0" err="1"/>
              <a:t>abstract</a:t>
            </a:r>
            <a:r>
              <a:rPr lang="tr-TR" altLang="en-US" sz="2400" dirty="0"/>
              <a:t> </a:t>
            </a:r>
            <a:r>
              <a:rPr lang="tr-TR" altLang="en-US" sz="2400" dirty="0" err="1"/>
              <a:t>class</a:t>
            </a:r>
            <a:r>
              <a:rPr lang="tr-TR" altLang="en-US" sz="2400" dirty="0"/>
              <a:t> </a:t>
            </a:r>
            <a:r>
              <a:rPr lang="tr-TR" altLang="en-US" sz="2400" dirty="0" err="1"/>
              <a:t>ComponentVisitor</a:t>
            </a:r>
            <a:r>
              <a:rPr lang="tr-TR" altLang="en-US" sz="2400" dirty="0"/>
              <a:t> {</a:t>
            </a:r>
          </a:p>
          <a:p>
            <a:pPr marL="0" indent="0">
              <a:buFontTx/>
              <a:buNone/>
            </a:pPr>
            <a:r>
              <a:rPr lang="tr-TR" altLang="en-US" sz="2400" dirty="0"/>
              <a:t> </a:t>
            </a:r>
            <a:r>
              <a:rPr lang="tr-TR" altLang="en-US" sz="2400" dirty="0" err="1"/>
              <a:t>public</a:t>
            </a:r>
            <a:r>
              <a:rPr lang="tr-TR" altLang="en-US" sz="2400" dirty="0"/>
              <a:t> </a:t>
            </a:r>
            <a:r>
              <a:rPr lang="tr-TR" altLang="en-US" sz="2400" dirty="0" err="1"/>
              <a:t>abstract</a:t>
            </a:r>
            <a:r>
              <a:rPr lang="tr-TR" altLang="en-US" sz="2400" dirty="0"/>
              <a:t> </a:t>
            </a:r>
            <a:r>
              <a:rPr lang="tr-TR" altLang="en-US" sz="2400" dirty="0" err="1"/>
              <a:t>void</a:t>
            </a:r>
            <a:r>
              <a:rPr lang="tr-TR" altLang="en-US" sz="2400" dirty="0"/>
              <a:t> </a:t>
            </a:r>
            <a:r>
              <a:rPr lang="tr-TR" altLang="en-US" sz="2400" dirty="0" err="1"/>
              <a:t>visit</a:t>
            </a:r>
            <a:r>
              <a:rPr lang="tr-TR" altLang="en-US" sz="2400" dirty="0"/>
              <a:t>(</a:t>
            </a:r>
            <a:r>
              <a:rPr lang="tr-TR" altLang="en-US" sz="2400" dirty="0" err="1"/>
              <a:t>Widget</a:t>
            </a:r>
            <a:r>
              <a:rPr lang="tr-TR" altLang="en-US" sz="2400" dirty="0"/>
              <a:t> w);</a:t>
            </a:r>
          </a:p>
          <a:p>
            <a:pPr marL="0" indent="0">
              <a:buFontTx/>
              <a:buNone/>
            </a:pPr>
            <a:r>
              <a:rPr lang="tr-TR" altLang="en-US" sz="2400" dirty="0"/>
              <a:t> </a:t>
            </a:r>
            <a:r>
              <a:rPr lang="tr-TR" altLang="en-US" sz="2400" dirty="0" err="1"/>
              <a:t>public</a:t>
            </a:r>
            <a:r>
              <a:rPr lang="tr-TR" altLang="en-US" sz="2400" dirty="0"/>
              <a:t> </a:t>
            </a:r>
            <a:r>
              <a:rPr lang="tr-TR" altLang="en-US" sz="2400" dirty="0" err="1"/>
              <a:t>abstract</a:t>
            </a:r>
            <a:r>
              <a:rPr lang="tr-TR" altLang="en-US" sz="2400" dirty="0"/>
              <a:t> </a:t>
            </a:r>
            <a:r>
              <a:rPr lang="tr-TR" altLang="en-US" sz="2400" dirty="0" err="1"/>
              <a:t>void</a:t>
            </a:r>
            <a:r>
              <a:rPr lang="tr-TR" altLang="en-US" sz="2400" dirty="0"/>
              <a:t> </a:t>
            </a:r>
            <a:r>
              <a:rPr lang="tr-TR" altLang="en-US" sz="2400" dirty="0" err="1"/>
              <a:t>visit</a:t>
            </a:r>
            <a:r>
              <a:rPr lang="tr-TR" altLang="en-US" sz="2400" dirty="0"/>
              <a:t>(</a:t>
            </a:r>
            <a:r>
              <a:rPr lang="tr-TR" altLang="en-US" sz="2400" dirty="0" err="1"/>
              <a:t>WidgetAssembly</a:t>
            </a:r>
            <a:r>
              <a:rPr lang="tr-TR" altLang="en-US" sz="2400" dirty="0"/>
              <a:t> </a:t>
            </a:r>
            <a:r>
              <a:rPr lang="tr-TR" altLang="en-US" sz="2400" dirty="0" err="1"/>
              <a:t>wa</a:t>
            </a:r>
            <a:r>
              <a:rPr lang="tr-TR" altLang="en-US" sz="2400" dirty="0"/>
              <a:t>);</a:t>
            </a:r>
            <a:endParaRPr lang="en-US" altLang="en-US" sz="2400" dirty="0"/>
          </a:p>
          <a:p>
            <a:pPr marL="0" indent="0">
              <a:buFontTx/>
              <a:buNone/>
            </a:pPr>
            <a:r>
              <a:rPr lang="tr-TR" altLang="en-US" sz="2400" dirty="0"/>
              <a:t> }</a:t>
            </a:r>
          </a:p>
          <a:p>
            <a:pPr marL="0" indent="0">
              <a:buFontTx/>
              <a:buNone/>
            </a:pPr>
            <a:endParaRPr lang="tr-TR" altLang="en-US" sz="24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5058" name="Title 1">
            <a:extLst>
              <a:ext uri="{FF2B5EF4-FFF2-40B4-BE49-F238E27FC236}">
                <a16:creationId xmlns:a16="http://schemas.microsoft.com/office/drawing/2014/main" id="{272C29E9-65B3-4EB3-F8FE-DBEF7B98B247}"/>
              </a:ext>
            </a:extLst>
          </p:cNvPr>
          <p:cNvSpPr>
            <a:spLocks noGrp="1" noChangeArrowheads="1"/>
          </p:cNvSpPr>
          <p:nvPr>
            <p:ph type="title"/>
          </p:nvPr>
        </p:nvSpPr>
        <p:spPr/>
        <p:txBody>
          <a:bodyPr/>
          <a:lstStyle/>
          <a:p>
            <a:r>
              <a:rPr lang="en-US" altLang="en-US" dirty="0"/>
              <a:t>Visitors</a:t>
            </a:r>
            <a:endParaRPr lang="tr-TR" altLang="en-US" dirty="0"/>
          </a:p>
        </p:txBody>
      </p:sp>
      <p:sp>
        <p:nvSpPr>
          <p:cNvPr id="45059" name="Content Placeholder 2">
            <a:extLst>
              <a:ext uri="{FF2B5EF4-FFF2-40B4-BE49-F238E27FC236}">
                <a16:creationId xmlns:a16="http://schemas.microsoft.com/office/drawing/2014/main" id="{8D9358EC-13BA-E4BF-DFC8-BE2F896D52F2}"/>
              </a:ext>
            </a:extLst>
          </p:cNvPr>
          <p:cNvSpPr>
            <a:spLocks noGrp="1" noChangeArrowheads="1"/>
          </p:cNvSpPr>
          <p:nvPr>
            <p:ph idx="1"/>
          </p:nvPr>
        </p:nvSpPr>
        <p:spPr/>
        <p:txBody>
          <a:bodyPr/>
          <a:lstStyle/>
          <a:p>
            <a:pPr marL="0" indent="0">
              <a:buFontTx/>
              <a:buNone/>
            </a:pPr>
            <a:r>
              <a:rPr lang="tr-TR" altLang="en-US" sz="2400"/>
              <a:t> public class SimpleVisitor extends ComponentVisitor {</a:t>
            </a:r>
          </a:p>
          <a:p>
            <a:pPr marL="0" indent="0">
              <a:buFontTx/>
              <a:buNone/>
            </a:pPr>
            <a:r>
              <a:rPr lang="en-US" altLang="en-US" sz="2400"/>
              <a:t>  </a:t>
            </a:r>
            <a:r>
              <a:rPr lang="tr-TR" altLang="en-US" sz="2400"/>
              <a:t> public SimpleVisitor() {}</a:t>
            </a:r>
          </a:p>
          <a:p>
            <a:pPr marL="0" indent="0">
              <a:buFontTx/>
              <a:buNone/>
            </a:pPr>
            <a:r>
              <a:rPr lang="en-US" altLang="en-US" sz="2400"/>
              <a:t>  </a:t>
            </a:r>
            <a:r>
              <a:rPr lang="tr-TR" altLang="en-US" sz="2400"/>
              <a:t> public void visit (Widget w) {</a:t>
            </a:r>
          </a:p>
          <a:p>
            <a:pPr marL="0" indent="0">
              <a:buFontTx/>
              <a:buNone/>
            </a:pPr>
            <a:r>
              <a:rPr lang="en-US" altLang="en-US" sz="2400"/>
              <a:t>           </a:t>
            </a:r>
            <a:r>
              <a:rPr lang="tr-TR" altLang="en-US" sz="2400"/>
              <a:t> System.out.println("Visiting a Widget");</a:t>
            </a:r>
          </a:p>
          <a:p>
            <a:pPr marL="0" indent="0">
              <a:buFontTx/>
              <a:buNone/>
            </a:pPr>
            <a:r>
              <a:rPr lang="en-US" altLang="en-US" sz="2400"/>
              <a:t>   </a:t>
            </a:r>
            <a:r>
              <a:rPr lang="tr-TR" altLang="en-US" sz="2400"/>
              <a:t> }</a:t>
            </a:r>
          </a:p>
          <a:p>
            <a:pPr marL="0" indent="0">
              <a:buFontTx/>
              <a:buNone/>
            </a:pPr>
            <a:r>
              <a:rPr lang="en-US" altLang="en-US" sz="2400"/>
              <a:t>  </a:t>
            </a:r>
            <a:r>
              <a:rPr lang="tr-TR" altLang="en-US" sz="2400"/>
              <a:t> public void visit (WidgetAssembly wa) {</a:t>
            </a:r>
          </a:p>
          <a:p>
            <a:pPr marL="0" indent="0">
              <a:buFontTx/>
              <a:buNone/>
            </a:pPr>
            <a:r>
              <a:rPr lang="en-US" altLang="en-US" sz="2400"/>
              <a:t>        </a:t>
            </a:r>
            <a:r>
              <a:rPr lang="tr-TR" altLang="en-US" sz="2400"/>
              <a:t> System.out.println("Visiting a WidgetAssembly");</a:t>
            </a:r>
          </a:p>
          <a:p>
            <a:pPr marL="0" indent="0">
              <a:buFontTx/>
              <a:buNone/>
            </a:pPr>
            <a:r>
              <a:rPr lang="en-US" altLang="en-US" sz="2400"/>
              <a:t>   </a:t>
            </a:r>
            <a:r>
              <a:rPr lang="tr-TR" altLang="en-US" sz="2400"/>
              <a:t> }</a:t>
            </a:r>
          </a:p>
          <a:p>
            <a:pPr marL="0" indent="0">
              <a:buFontTx/>
              <a:buNone/>
            </a:pPr>
            <a:r>
              <a:rPr lang="tr-TR" altLang="en-US" sz="2400"/>
              <a:t> }</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6082" name="Title 1">
            <a:extLst>
              <a:ext uri="{FF2B5EF4-FFF2-40B4-BE49-F238E27FC236}">
                <a16:creationId xmlns:a16="http://schemas.microsoft.com/office/drawing/2014/main" id="{B489D435-68DC-197B-A624-D7A493BC684A}"/>
              </a:ext>
            </a:extLst>
          </p:cNvPr>
          <p:cNvSpPr>
            <a:spLocks noGrp="1" noChangeArrowheads="1"/>
          </p:cNvSpPr>
          <p:nvPr>
            <p:ph type="title"/>
          </p:nvPr>
        </p:nvSpPr>
        <p:spPr/>
        <p:txBody>
          <a:bodyPr/>
          <a:lstStyle/>
          <a:p>
            <a:r>
              <a:rPr lang="en-US" altLang="en-US"/>
              <a:t>Have another visitor</a:t>
            </a:r>
            <a:endParaRPr lang="tr-TR" altLang="en-US"/>
          </a:p>
        </p:txBody>
      </p:sp>
      <p:sp>
        <p:nvSpPr>
          <p:cNvPr id="46083" name="Content Placeholder 2">
            <a:extLst>
              <a:ext uri="{FF2B5EF4-FFF2-40B4-BE49-F238E27FC236}">
                <a16:creationId xmlns:a16="http://schemas.microsoft.com/office/drawing/2014/main" id="{AAB1F445-C266-BB03-A4C1-C0C35802433A}"/>
              </a:ext>
            </a:extLst>
          </p:cNvPr>
          <p:cNvSpPr>
            <a:spLocks noGrp="1" noChangeArrowheads="1"/>
          </p:cNvSpPr>
          <p:nvPr>
            <p:ph idx="1"/>
          </p:nvPr>
        </p:nvSpPr>
        <p:spPr/>
        <p:txBody>
          <a:bodyPr/>
          <a:lstStyle/>
          <a:p>
            <a:pPr marL="0" indent="0">
              <a:buFontTx/>
              <a:buNone/>
            </a:pPr>
            <a:r>
              <a:rPr lang="tr-TR" altLang="en-US" sz="2000"/>
              <a:t>public class PriceVisitor extends ComponentVisitor {</a:t>
            </a:r>
          </a:p>
          <a:p>
            <a:pPr marL="0" indent="0">
              <a:buFontTx/>
              <a:buNone/>
            </a:pPr>
            <a:r>
              <a:rPr lang="en-US" altLang="en-US" sz="2000"/>
              <a:t>  </a:t>
            </a:r>
            <a:r>
              <a:rPr lang="tr-TR" altLang="en-US" sz="2000"/>
              <a:t> private double maxPrice;</a:t>
            </a:r>
          </a:p>
          <a:p>
            <a:pPr marL="0" indent="0">
              <a:buFontTx/>
              <a:buNone/>
            </a:pPr>
            <a:r>
              <a:rPr lang="en-US" altLang="en-US" sz="2000"/>
              <a:t>  </a:t>
            </a:r>
            <a:r>
              <a:rPr lang="tr-TR" altLang="en-US" sz="2000"/>
              <a:t> public PriceVisitor(double maxPrice) {</a:t>
            </a:r>
          </a:p>
          <a:p>
            <a:pPr marL="0" indent="0">
              <a:buFontTx/>
              <a:buNone/>
            </a:pPr>
            <a:r>
              <a:rPr lang="en-US" altLang="en-US" sz="2000"/>
              <a:t>             </a:t>
            </a:r>
            <a:r>
              <a:rPr lang="tr-TR" altLang="en-US" sz="2000"/>
              <a:t> this.maxPrice = maxPrice; }</a:t>
            </a:r>
          </a:p>
          <a:p>
            <a:pPr marL="0" indent="0">
              <a:buFontTx/>
              <a:buNone/>
            </a:pPr>
            <a:r>
              <a:rPr lang="en-US" altLang="en-US" sz="2000"/>
              <a:t>  </a:t>
            </a:r>
            <a:r>
              <a:rPr lang="tr-TR" altLang="en-US" sz="2000"/>
              <a:t> public void visit (Widget w) {</a:t>
            </a:r>
          </a:p>
          <a:p>
            <a:pPr marL="0" indent="0">
              <a:buFontTx/>
              <a:buNone/>
            </a:pPr>
            <a:r>
              <a:rPr lang="en-US" altLang="en-US" sz="2000"/>
              <a:t>            </a:t>
            </a:r>
            <a:r>
              <a:rPr lang="tr-TR" altLang="en-US" sz="2000"/>
              <a:t>double price = w.getPrice();</a:t>
            </a:r>
          </a:p>
          <a:p>
            <a:pPr marL="0" indent="0">
              <a:buFontTx/>
              <a:buNone/>
            </a:pPr>
            <a:r>
              <a:rPr lang="en-US" altLang="en-US" sz="2000"/>
              <a:t>            </a:t>
            </a:r>
            <a:r>
              <a:rPr lang="tr-TR" altLang="en-US" sz="2000"/>
              <a:t>if (price &gt; maxPrice)</a:t>
            </a:r>
          </a:p>
          <a:p>
            <a:pPr marL="0" indent="0">
              <a:buFontTx/>
              <a:buNone/>
            </a:pPr>
            <a:r>
              <a:rPr lang="en-US" altLang="en-US" sz="2000"/>
              <a:t>                </a:t>
            </a:r>
            <a:r>
              <a:rPr lang="tr-TR" altLang="en-US" sz="2000"/>
              <a:t> System.out.println("Don't Buy! Widget price of " +</a:t>
            </a:r>
          </a:p>
          <a:p>
            <a:pPr marL="0" indent="0">
              <a:buFontTx/>
              <a:buNone/>
            </a:pPr>
            <a:r>
              <a:rPr lang="en-US" altLang="en-US" sz="2000"/>
              <a:t>                   </a:t>
            </a:r>
            <a:r>
              <a:rPr lang="tr-TR" altLang="en-US" sz="2000"/>
              <a:t> price + " exceeds maximum price (" + maxPrice + ").");</a:t>
            </a:r>
          </a:p>
          <a:p>
            <a:pPr marL="0" indent="0">
              <a:buFontTx/>
              <a:buNone/>
            </a:pPr>
            <a:r>
              <a:rPr lang="en-US" altLang="en-US" sz="2000"/>
              <a:t>          </a:t>
            </a:r>
            <a:r>
              <a:rPr lang="tr-TR" altLang="en-US" sz="2000"/>
              <a:t> else</a:t>
            </a:r>
          </a:p>
          <a:p>
            <a:pPr marL="0" indent="0">
              <a:buFontTx/>
              <a:buNone/>
            </a:pPr>
            <a:r>
              <a:rPr lang="en-US" altLang="en-US" sz="2000"/>
              <a:t>                </a:t>
            </a:r>
            <a:r>
              <a:rPr lang="tr-TR" altLang="en-US" sz="2000"/>
              <a:t> System.out.println("Buy! Widget price of " + price +</a:t>
            </a:r>
          </a:p>
          <a:p>
            <a:pPr marL="0" indent="0">
              <a:buFontTx/>
              <a:buNone/>
            </a:pPr>
            <a:r>
              <a:rPr lang="en-US" altLang="en-US" sz="2000"/>
              <a:t>                     </a:t>
            </a:r>
            <a:r>
              <a:rPr lang="tr-TR" altLang="en-US" sz="2000"/>
              <a:t> " is less than maximum price (" + maxPrice + ").");</a:t>
            </a:r>
          </a:p>
          <a:p>
            <a:pPr marL="0" indent="0">
              <a:buFontTx/>
              <a:buNone/>
            </a:pPr>
            <a:r>
              <a:rPr lang="tr-TR" altLang="en-US" sz="2000"/>
              <a:t> }</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4DD97-79E8-13C6-C6DE-2D0E3E245566}"/>
              </a:ext>
            </a:extLst>
          </p:cNvPr>
          <p:cNvSpPr>
            <a:spLocks noGrp="1"/>
          </p:cNvSpPr>
          <p:nvPr>
            <p:ph type="title"/>
          </p:nvPr>
        </p:nvSpPr>
        <p:spPr/>
        <p:txBody>
          <a:bodyPr/>
          <a:lstStyle/>
          <a:p>
            <a:endParaRPr lang="en-US"/>
          </a:p>
        </p:txBody>
      </p:sp>
      <p:sp>
        <p:nvSpPr>
          <p:cNvPr id="47107" name="Content Placeholder 2">
            <a:extLst>
              <a:ext uri="{FF2B5EF4-FFF2-40B4-BE49-F238E27FC236}">
                <a16:creationId xmlns:a16="http://schemas.microsoft.com/office/drawing/2014/main" id="{E0FF6E86-BB64-CC15-ABD6-5B92960FF8E3}"/>
              </a:ext>
            </a:extLst>
          </p:cNvPr>
          <p:cNvSpPr>
            <a:spLocks noGrp="1" noChangeArrowheads="1"/>
          </p:cNvSpPr>
          <p:nvPr>
            <p:ph idx="1"/>
          </p:nvPr>
        </p:nvSpPr>
        <p:spPr>
          <a:xfrm>
            <a:off x="457200" y="1510752"/>
            <a:ext cx="8229600" cy="4532109"/>
          </a:xfrm>
        </p:spPr>
        <p:txBody>
          <a:bodyPr/>
          <a:lstStyle/>
          <a:p>
            <a:pPr marL="0" indent="0">
              <a:buFontTx/>
              <a:buNone/>
            </a:pPr>
            <a:r>
              <a:rPr lang="tr-TR" altLang="en-US" sz="2000" dirty="0" err="1"/>
              <a:t>public</a:t>
            </a:r>
            <a:r>
              <a:rPr lang="tr-TR" altLang="en-US" sz="2000" dirty="0"/>
              <a:t> </a:t>
            </a:r>
            <a:r>
              <a:rPr lang="tr-TR" altLang="en-US" sz="2000" dirty="0" err="1"/>
              <a:t>void</a:t>
            </a:r>
            <a:r>
              <a:rPr lang="tr-TR" altLang="en-US" sz="2000" dirty="0"/>
              <a:t> </a:t>
            </a:r>
            <a:r>
              <a:rPr lang="tr-TR" altLang="en-US" sz="2000" dirty="0" err="1"/>
              <a:t>visit</a:t>
            </a:r>
            <a:r>
              <a:rPr lang="tr-TR" altLang="en-US" sz="2000" dirty="0"/>
              <a:t> (</a:t>
            </a:r>
            <a:r>
              <a:rPr lang="tr-TR" altLang="en-US" sz="2000" dirty="0" err="1"/>
              <a:t>WidgetAssembly</a:t>
            </a:r>
            <a:r>
              <a:rPr lang="tr-TR" altLang="en-US" sz="2000" dirty="0"/>
              <a:t> </a:t>
            </a:r>
            <a:r>
              <a:rPr lang="tr-TR" altLang="en-US" sz="2000" dirty="0" err="1"/>
              <a:t>wa</a:t>
            </a:r>
            <a:r>
              <a:rPr lang="tr-TR" altLang="en-US" sz="2000" dirty="0"/>
              <a:t>) {</a:t>
            </a:r>
          </a:p>
          <a:p>
            <a:pPr marL="0" indent="0">
              <a:buFontTx/>
              <a:buNone/>
            </a:pPr>
            <a:r>
              <a:rPr lang="en-US" altLang="en-US" sz="2000" dirty="0"/>
              <a:t>    </a:t>
            </a:r>
            <a:r>
              <a:rPr lang="tr-TR" altLang="en-US" sz="2000" dirty="0"/>
              <a:t> </a:t>
            </a:r>
            <a:r>
              <a:rPr lang="tr-TR" altLang="en-US" sz="2000" dirty="0" err="1"/>
              <a:t>double</a:t>
            </a:r>
            <a:r>
              <a:rPr lang="tr-TR" altLang="en-US" sz="2000" dirty="0"/>
              <a:t> </a:t>
            </a:r>
            <a:r>
              <a:rPr lang="tr-TR" altLang="en-US" sz="2000" dirty="0" err="1"/>
              <a:t>price</a:t>
            </a:r>
            <a:r>
              <a:rPr lang="tr-TR" altLang="en-US" sz="2000" dirty="0"/>
              <a:t> = </a:t>
            </a:r>
            <a:r>
              <a:rPr lang="tr-TR" altLang="en-US" sz="2000" dirty="0" err="1"/>
              <a:t>wa.getPrice</a:t>
            </a:r>
            <a:r>
              <a:rPr lang="tr-TR" altLang="en-US" sz="2000" dirty="0"/>
              <a:t>();</a:t>
            </a:r>
          </a:p>
          <a:p>
            <a:pPr marL="0" indent="0">
              <a:buFontTx/>
              <a:buNone/>
            </a:pPr>
            <a:r>
              <a:rPr lang="en-US" altLang="en-US" sz="2000" dirty="0"/>
              <a:t>    </a:t>
            </a:r>
            <a:r>
              <a:rPr lang="tr-TR" altLang="en-US" sz="2000" dirty="0"/>
              <a:t> </a:t>
            </a:r>
            <a:r>
              <a:rPr lang="tr-TR" altLang="en-US" sz="2000" dirty="0" err="1"/>
              <a:t>if</a:t>
            </a:r>
            <a:r>
              <a:rPr lang="tr-TR" altLang="en-US" sz="2000" dirty="0"/>
              <a:t> (</a:t>
            </a:r>
            <a:r>
              <a:rPr lang="tr-TR" altLang="en-US" sz="2000" dirty="0" err="1"/>
              <a:t>price</a:t>
            </a:r>
            <a:r>
              <a:rPr lang="tr-TR" altLang="en-US" sz="2000" dirty="0"/>
              <a:t> &gt; </a:t>
            </a:r>
            <a:r>
              <a:rPr lang="tr-TR" altLang="en-US" sz="2000" dirty="0" err="1"/>
              <a:t>maxPrice</a:t>
            </a:r>
            <a:r>
              <a:rPr lang="tr-TR" altLang="en-US" sz="2000" dirty="0"/>
              <a:t>)</a:t>
            </a:r>
          </a:p>
          <a:p>
            <a:pPr marL="0" indent="0">
              <a:buFontTx/>
              <a:buNone/>
            </a:pPr>
            <a:r>
              <a:rPr lang="en-US" altLang="en-US" sz="2000" dirty="0"/>
              <a:t>                </a:t>
            </a:r>
            <a:r>
              <a:rPr lang="tr-TR" altLang="en-US" sz="2000" dirty="0"/>
              <a:t> </a:t>
            </a:r>
            <a:r>
              <a:rPr lang="tr-TR" altLang="en-US" sz="2000" dirty="0" err="1"/>
              <a:t>System.out.println</a:t>
            </a:r>
            <a:r>
              <a:rPr lang="tr-TR" altLang="en-US" sz="2000" dirty="0"/>
              <a:t>("</a:t>
            </a:r>
            <a:r>
              <a:rPr lang="tr-TR" altLang="en-US" sz="2000" dirty="0" err="1"/>
              <a:t>Don't</a:t>
            </a:r>
            <a:r>
              <a:rPr lang="tr-TR" altLang="en-US" sz="2000" dirty="0"/>
              <a:t> Buy! </a:t>
            </a:r>
            <a:r>
              <a:rPr lang="tr-TR" altLang="en-US" sz="2000" dirty="0" err="1"/>
              <a:t>WidgetAssembly</a:t>
            </a:r>
            <a:r>
              <a:rPr lang="tr-TR" altLang="en-US" sz="2000" dirty="0"/>
              <a:t> </a:t>
            </a:r>
            <a:r>
              <a:rPr lang="tr-TR" altLang="en-US" sz="2000" dirty="0" err="1"/>
              <a:t>price</a:t>
            </a:r>
            <a:r>
              <a:rPr lang="tr-TR" altLang="en-US" sz="2000" dirty="0"/>
              <a:t> of " +</a:t>
            </a:r>
          </a:p>
          <a:p>
            <a:pPr marL="0" indent="0">
              <a:buFontTx/>
              <a:buNone/>
            </a:pPr>
            <a:r>
              <a:rPr lang="en-US" altLang="en-US" sz="2000" dirty="0"/>
              <a:t>                </a:t>
            </a:r>
            <a:r>
              <a:rPr lang="tr-TR" altLang="en-US" sz="2000" dirty="0"/>
              <a:t> </a:t>
            </a:r>
            <a:r>
              <a:rPr lang="tr-TR" altLang="en-US" sz="2000" dirty="0" err="1"/>
              <a:t>price</a:t>
            </a:r>
            <a:r>
              <a:rPr lang="tr-TR" altLang="en-US" sz="2000" dirty="0"/>
              <a:t> + " </a:t>
            </a:r>
            <a:r>
              <a:rPr lang="tr-TR" altLang="en-US" sz="2000" dirty="0" err="1"/>
              <a:t>exceeds</a:t>
            </a:r>
            <a:r>
              <a:rPr lang="tr-TR" altLang="en-US" sz="2000" dirty="0"/>
              <a:t> </a:t>
            </a:r>
            <a:r>
              <a:rPr lang="tr-TR" altLang="en-US" sz="2000" dirty="0" err="1"/>
              <a:t>maximum</a:t>
            </a:r>
            <a:r>
              <a:rPr lang="tr-TR" altLang="en-US" sz="2000" dirty="0"/>
              <a:t> </a:t>
            </a:r>
            <a:r>
              <a:rPr lang="tr-TR" altLang="en-US" sz="2000" dirty="0" err="1"/>
              <a:t>price</a:t>
            </a:r>
            <a:r>
              <a:rPr lang="tr-TR" altLang="en-US" sz="2000" dirty="0"/>
              <a:t> (" + </a:t>
            </a:r>
            <a:r>
              <a:rPr lang="tr-TR" altLang="en-US" sz="2000" dirty="0" err="1"/>
              <a:t>maxPrice</a:t>
            </a:r>
            <a:r>
              <a:rPr lang="tr-TR" altLang="en-US" sz="2000" dirty="0"/>
              <a:t> + ").");</a:t>
            </a:r>
          </a:p>
          <a:p>
            <a:pPr marL="0" indent="0">
              <a:buFontTx/>
              <a:buNone/>
            </a:pPr>
            <a:r>
              <a:rPr lang="en-US" altLang="en-US" sz="2000" dirty="0"/>
              <a:t>    </a:t>
            </a:r>
            <a:r>
              <a:rPr lang="tr-TR" altLang="en-US" sz="2000" dirty="0"/>
              <a:t> else</a:t>
            </a:r>
          </a:p>
          <a:p>
            <a:pPr marL="0" indent="0">
              <a:buFontTx/>
              <a:buNone/>
            </a:pPr>
            <a:r>
              <a:rPr lang="en-US" altLang="en-US" sz="2000" dirty="0"/>
              <a:t>               </a:t>
            </a:r>
            <a:r>
              <a:rPr lang="tr-TR" altLang="en-US" sz="2000" dirty="0"/>
              <a:t> </a:t>
            </a:r>
            <a:r>
              <a:rPr lang="en-US" altLang="en-US" sz="2000" dirty="0"/>
              <a:t> </a:t>
            </a:r>
            <a:r>
              <a:rPr lang="tr-TR" altLang="en-US" sz="2000" dirty="0" err="1"/>
              <a:t>System.out.println</a:t>
            </a:r>
            <a:r>
              <a:rPr lang="tr-TR" altLang="en-US" sz="2000" dirty="0"/>
              <a:t>("Buy! </a:t>
            </a:r>
            <a:r>
              <a:rPr lang="tr-TR" altLang="en-US" sz="2000" dirty="0" err="1"/>
              <a:t>WidgetAssembly</a:t>
            </a:r>
            <a:r>
              <a:rPr lang="tr-TR" altLang="en-US" sz="2000" dirty="0"/>
              <a:t> </a:t>
            </a:r>
            <a:r>
              <a:rPr lang="tr-TR" altLang="en-US" sz="2000" dirty="0" err="1"/>
              <a:t>price</a:t>
            </a:r>
            <a:r>
              <a:rPr lang="tr-TR" altLang="en-US" sz="2000" dirty="0"/>
              <a:t> of " +</a:t>
            </a:r>
          </a:p>
          <a:p>
            <a:pPr marL="0" indent="0">
              <a:buFontTx/>
              <a:buNone/>
            </a:pPr>
            <a:r>
              <a:rPr lang="en-US" altLang="en-US" sz="2000" dirty="0"/>
              <a:t>                </a:t>
            </a:r>
            <a:r>
              <a:rPr lang="tr-TR" altLang="en-US" sz="2000" dirty="0"/>
              <a:t> </a:t>
            </a:r>
            <a:r>
              <a:rPr lang="tr-TR" altLang="en-US" sz="2000" dirty="0" err="1"/>
              <a:t>price</a:t>
            </a:r>
            <a:r>
              <a:rPr lang="tr-TR" altLang="en-US" sz="2000" dirty="0"/>
              <a:t> + " is </a:t>
            </a:r>
            <a:r>
              <a:rPr lang="tr-TR" altLang="en-US" sz="2000" dirty="0" err="1"/>
              <a:t>less</a:t>
            </a:r>
            <a:r>
              <a:rPr lang="tr-TR" altLang="en-US" sz="2000" dirty="0"/>
              <a:t> </a:t>
            </a:r>
            <a:r>
              <a:rPr lang="tr-TR" altLang="en-US" sz="2000" dirty="0" err="1"/>
              <a:t>than</a:t>
            </a:r>
            <a:r>
              <a:rPr lang="tr-TR" altLang="en-US" sz="2000" dirty="0"/>
              <a:t> </a:t>
            </a:r>
            <a:r>
              <a:rPr lang="tr-TR" altLang="en-US" sz="2000" dirty="0" err="1"/>
              <a:t>maximum</a:t>
            </a:r>
            <a:r>
              <a:rPr lang="tr-TR" altLang="en-US" sz="2000" dirty="0"/>
              <a:t> </a:t>
            </a:r>
            <a:r>
              <a:rPr lang="tr-TR" altLang="en-US" sz="2000" dirty="0" err="1"/>
              <a:t>price</a:t>
            </a:r>
            <a:r>
              <a:rPr lang="tr-TR" altLang="en-US" sz="2000" dirty="0"/>
              <a:t> (" + </a:t>
            </a:r>
            <a:r>
              <a:rPr lang="tr-TR" altLang="en-US" sz="2000" dirty="0" err="1"/>
              <a:t>maxPrice</a:t>
            </a:r>
            <a:r>
              <a:rPr lang="tr-TR" altLang="en-US" sz="2000" dirty="0"/>
              <a:t> + ").");</a:t>
            </a:r>
          </a:p>
          <a:p>
            <a:pPr marL="0" indent="0">
              <a:buFontTx/>
              <a:buNone/>
            </a:pPr>
            <a:r>
              <a:rPr lang="en-US" altLang="en-US" sz="2000" dirty="0"/>
              <a:t>   </a:t>
            </a:r>
            <a:r>
              <a:rPr lang="tr-TR" altLang="en-US" sz="2000" dirty="0"/>
              <a:t> }</a:t>
            </a:r>
          </a:p>
          <a:p>
            <a:pPr marL="0" indent="0">
              <a:buFontTx/>
              <a:buNone/>
            </a:pPr>
            <a:r>
              <a:rPr lang="tr-TR" altLang="en-US" sz="2000" dirty="0"/>
              <a:t> }</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8130" name="Title 1">
            <a:extLst>
              <a:ext uri="{FF2B5EF4-FFF2-40B4-BE49-F238E27FC236}">
                <a16:creationId xmlns:a16="http://schemas.microsoft.com/office/drawing/2014/main" id="{A19BA8AD-E702-F0A3-A1EC-E58178CCA267}"/>
              </a:ext>
            </a:extLst>
          </p:cNvPr>
          <p:cNvSpPr>
            <a:spLocks noGrp="1" noChangeArrowheads="1"/>
          </p:cNvSpPr>
          <p:nvPr>
            <p:ph type="title"/>
          </p:nvPr>
        </p:nvSpPr>
        <p:spPr/>
        <p:txBody>
          <a:bodyPr/>
          <a:lstStyle/>
          <a:p>
            <a:r>
              <a:rPr lang="en-US" altLang="en-US"/>
              <a:t>Some tests</a:t>
            </a:r>
            <a:endParaRPr lang="tr-TR" altLang="en-US"/>
          </a:p>
        </p:txBody>
      </p:sp>
      <p:sp>
        <p:nvSpPr>
          <p:cNvPr id="48131" name="Content Placeholder 2">
            <a:extLst>
              <a:ext uri="{FF2B5EF4-FFF2-40B4-BE49-F238E27FC236}">
                <a16:creationId xmlns:a16="http://schemas.microsoft.com/office/drawing/2014/main" id="{FF8D1382-C043-34BD-15BB-B97AF8CA3620}"/>
              </a:ext>
            </a:extLst>
          </p:cNvPr>
          <p:cNvSpPr>
            <a:spLocks noGrp="1" noChangeArrowheads="1"/>
          </p:cNvSpPr>
          <p:nvPr>
            <p:ph idx="1"/>
          </p:nvPr>
        </p:nvSpPr>
        <p:spPr/>
        <p:txBody>
          <a:bodyPr/>
          <a:lstStyle/>
          <a:p>
            <a:pPr marL="0" indent="0">
              <a:buFontTx/>
              <a:buNone/>
            </a:pPr>
            <a:r>
              <a:rPr lang="tr-TR" altLang="en-US" sz="2000"/>
              <a:t> public class VisitorTest {</a:t>
            </a:r>
          </a:p>
          <a:p>
            <a:pPr marL="0" indent="0">
              <a:buFontTx/>
              <a:buNone/>
            </a:pPr>
            <a:r>
              <a:rPr lang="tr-TR" altLang="en-US" sz="2000"/>
              <a:t> public static void main (String[] args) {</a:t>
            </a:r>
          </a:p>
          <a:p>
            <a:pPr marL="0" indent="0">
              <a:buFontTx/>
              <a:buNone/>
            </a:pPr>
            <a:r>
              <a:rPr lang="tr-TR" altLang="en-US" sz="2000"/>
              <a:t> // Create some widgets.</a:t>
            </a:r>
          </a:p>
          <a:p>
            <a:pPr marL="0" indent="0">
              <a:buFontTx/>
              <a:buNone/>
            </a:pPr>
            <a:r>
              <a:rPr lang="tr-TR" altLang="en-US" sz="2000"/>
              <a:t> Widget w1 = new Widget("Widget1", 10.00);</a:t>
            </a:r>
          </a:p>
          <a:p>
            <a:pPr marL="0" indent="0">
              <a:buFontTx/>
              <a:buNone/>
            </a:pPr>
            <a:r>
              <a:rPr lang="tr-TR" altLang="en-US" sz="2000"/>
              <a:t> Widget w2 = new Widget("Widget2", 20.00);</a:t>
            </a:r>
          </a:p>
          <a:p>
            <a:pPr marL="0" indent="0">
              <a:buFontTx/>
              <a:buNone/>
            </a:pPr>
            <a:r>
              <a:rPr lang="tr-TR" altLang="en-US" sz="2000"/>
              <a:t> Widget w3 = new Widget("Widget3", 30.00);</a:t>
            </a:r>
          </a:p>
          <a:p>
            <a:pPr marL="0" indent="0">
              <a:buFontTx/>
              <a:buNone/>
            </a:pPr>
            <a:r>
              <a:rPr lang="tr-TR" altLang="en-US" sz="2000"/>
              <a:t> // Add then to a widget assembly.</a:t>
            </a:r>
          </a:p>
          <a:p>
            <a:pPr marL="0" indent="0">
              <a:buFontTx/>
              <a:buNone/>
            </a:pPr>
            <a:r>
              <a:rPr lang="tr-TR" altLang="en-US" sz="2000"/>
              <a:t> WidgetAssembly wa = new WidgetAssembly("Chassis");</a:t>
            </a:r>
          </a:p>
          <a:p>
            <a:pPr marL="0" indent="0">
              <a:buFontTx/>
              <a:buNone/>
            </a:pPr>
            <a:r>
              <a:rPr lang="tr-TR" altLang="en-US" sz="2000"/>
              <a:t> wa.addComponent(w1);</a:t>
            </a:r>
          </a:p>
          <a:p>
            <a:pPr marL="0" indent="0">
              <a:buFontTx/>
              <a:buNone/>
            </a:pPr>
            <a:r>
              <a:rPr lang="tr-TR" altLang="en-US" sz="2000"/>
              <a:t> wa.addComponent(w2);</a:t>
            </a:r>
          </a:p>
          <a:p>
            <a:pPr marL="0" indent="0">
              <a:buFontTx/>
              <a:buNone/>
            </a:pPr>
            <a:r>
              <a:rPr lang="tr-TR" altLang="en-US" sz="2000"/>
              <a:t> wa.addComponent(w3);</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9154" name="Title 1">
            <a:extLst>
              <a:ext uri="{FF2B5EF4-FFF2-40B4-BE49-F238E27FC236}">
                <a16:creationId xmlns:a16="http://schemas.microsoft.com/office/drawing/2014/main" id="{B7D2F819-ABF2-6838-C501-3A994E024D7E}"/>
              </a:ext>
            </a:extLst>
          </p:cNvPr>
          <p:cNvSpPr>
            <a:spLocks noGrp="1" noChangeArrowheads="1"/>
          </p:cNvSpPr>
          <p:nvPr>
            <p:ph type="title"/>
          </p:nvPr>
        </p:nvSpPr>
        <p:spPr/>
        <p:txBody>
          <a:bodyPr/>
          <a:lstStyle/>
          <a:p>
            <a:endParaRPr lang="tr-TR" altLang="en-US"/>
          </a:p>
        </p:txBody>
      </p:sp>
      <p:sp>
        <p:nvSpPr>
          <p:cNvPr id="49155" name="Content Placeholder 2">
            <a:extLst>
              <a:ext uri="{FF2B5EF4-FFF2-40B4-BE49-F238E27FC236}">
                <a16:creationId xmlns:a16="http://schemas.microsoft.com/office/drawing/2014/main" id="{D92BF5C0-550D-E671-57E1-92943535FF2A}"/>
              </a:ext>
            </a:extLst>
          </p:cNvPr>
          <p:cNvSpPr>
            <a:spLocks noGrp="1" noChangeArrowheads="1"/>
          </p:cNvSpPr>
          <p:nvPr>
            <p:ph idx="1"/>
          </p:nvPr>
        </p:nvSpPr>
        <p:spPr/>
        <p:txBody>
          <a:bodyPr/>
          <a:lstStyle/>
          <a:p>
            <a:pPr marL="0" indent="0">
              <a:buFontTx/>
              <a:buNone/>
            </a:pPr>
            <a:r>
              <a:rPr lang="tr-TR" altLang="en-US" sz="1800"/>
              <a:t>// Visit some nodes with a SimpleVisitor.</a:t>
            </a:r>
          </a:p>
          <a:p>
            <a:pPr marL="0" indent="0">
              <a:buFontTx/>
              <a:buNone/>
            </a:pPr>
            <a:r>
              <a:rPr lang="tr-TR" altLang="en-US" sz="1800"/>
              <a:t> SimpleVisitor sv = new SimpleVisitor();</a:t>
            </a:r>
          </a:p>
          <a:p>
            <a:pPr marL="0" indent="0">
              <a:buFontTx/>
              <a:buNone/>
            </a:pPr>
            <a:r>
              <a:rPr lang="tr-TR" altLang="en-US" sz="1800"/>
              <a:t> w1.accept(sv);</a:t>
            </a:r>
          </a:p>
          <a:p>
            <a:pPr marL="0" indent="0">
              <a:buFontTx/>
              <a:buNone/>
            </a:pPr>
            <a:r>
              <a:rPr lang="tr-TR" altLang="en-US" sz="1800"/>
              <a:t> w2.accept(sv);</a:t>
            </a:r>
          </a:p>
          <a:p>
            <a:pPr marL="0" indent="0">
              <a:buFontTx/>
              <a:buNone/>
            </a:pPr>
            <a:r>
              <a:rPr lang="tr-TR" altLang="en-US" sz="1800"/>
              <a:t> w3.accept(sv);</a:t>
            </a:r>
          </a:p>
          <a:p>
            <a:pPr marL="0" indent="0">
              <a:buFontTx/>
              <a:buNone/>
            </a:pPr>
            <a:r>
              <a:rPr lang="tr-TR" altLang="en-US" sz="1800"/>
              <a:t> wa.accept(sv);</a:t>
            </a:r>
          </a:p>
          <a:p>
            <a:pPr marL="0" indent="0">
              <a:buFontTx/>
              <a:buNone/>
            </a:pPr>
            <a:r>
              <a:rPr lang="tr-TR" altLang="en-US" sz="1800"/>
              <a:t> // Visit some nodes with a PriceVisitor.</a:t>
            </a:r>
          </a:p>
          <a:p>
            <a:pPr marL="0" indent="0">
              <a:buFontTx/>
              <a:buNone/>
            </a:pPr>
            <a:r>
              <a:rPr lang="tr-TR" altLang="en-US" sz="1800"/>
              <a:t> PriceVisitor pv = new PriceVisitor(25.00);</a:t>
            </a:r>
          </a:p>
          <a:p>
            <a:pPr marL="0" indent="0">
              <a:buFontTx/>
              <a:buNone/>
            </a:pPr>
            <a:r>
              <a:rPr lang="tr-TR" altLang="en-US" sz="1800"/>
              <a:t> w1.accept(pv);</a:t>
            </a:r>
          </a:p>
          <a:p>
            <a:pPr marL="0" indent="0">
              <a:buFontTx/>
              <a:buNone/>
            </a:pPr>
            <a:r>
              <a:rPr lang="tr-TR" altLang="en-US" sz="1800"/>
              <a:t> w2.accept(pv);</a:t>
            </a:r>
          </a:p>
          <a:p>
            <a:pPr marL="0" indent="0">
              <a:buFontTx/>
              <a:buNone/>
            </a:pPr>
            <a:r>
              <a:rPr lang="tr-TR" altLang="en-US" sz="1800"/>
              <a:t> w3.accept(pv);</a:t>
            </a:r>
          </a:p>
          <a:p>
            <a:pPr marL="0" indent="0">
              <a:buFontTx/>
              <a:buNone/>
            </a:pPr>
            <a:r>
              <a:rPr lang="tr-TR" altLang="en-US" sz="1800"/>
              <a:t> wa.accept(pv);</a:t>
            </a:r>
          </a:p>
          <a:p>
            <a:pPr marL="0" indent="0">
              <a:buFontTx/>
              <a:buNone/>
            </a:pPr>
            <a:r>
              <a:rPr lang="tr-TR" altLang="en-US" sz="1800"/>
              <a:t> }</a:t>
            </a:r>
          </a:p>
          <a:p>
            <a:pPr marL="0" indent="0">
              <a:buFontTx/>
              <a:buNone/>
            </a:pPr>
            <a:r>
              <a:rPr lang="tr-TR" altLang="en-US" sz="1800"/>
              <a:t> }</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0178" name="Title 1">
            <a:extLst>
              <a:ext uri="{FF2B5EF4-FFF2-40B4-BE49-F238E27FC236}">
                <a16:creationId xmlns:a16="http://schemas.microsoft.com/office/drawing/2014/main" id="{4AFD2EB5-40C5-0F60-3426-A7E47A456DF3}"/>
              </a:ext>
            </a:extLst>
          </p:cNvPr>
          <p:cNvSpPr>
            <a:spLocks noGrp="1" noChangeArrowheads="1"/>
          </p:cNvSpPr>
          <p:nvPr>
            <p:ph type="title"/>
          </p:nvPr>
        </p:nvSpPr>
        <p:spPr/>
        <p:txBody>
          <a:bodyPr/>
          <a:lstStyle/>
          <a:p>
            <a:r>
              <a:rPr lang="en-US" altLang="en-US"/>
              <a:t>output</a:t>
            </a:r>
            <a:endParaRPr lang="tr-TR" altLang="en-US"/>
          </a:p>
        </p:txBody>
      </p:sp>
      <p:sp>
        <p:nvSpPr>
          <p:cNvPr id="50179" name="Content Placeholder 2">
            <a:extLst>
              <a:ext uri="{FF2B5EF4-FFF2-40B4-BE49-F238E27FC236}">
                <a16:creationId xmlns:a16="http://schemas.microsoft.com/office/drawing/2014/main" id="{CEDC1B4C-E09B-F2CE-82FC-56666748E495}"/>
              </a:ext>
            </a:extLst>
          </p:cNvPr>
          <p:cNvSpPr>
            <a:spLocks noGrp="1" noChangeArrowheads="1"/>
          </p:cNvSpPr>
          <p:nvPr>
            <p:ph idx="1"/>
          </p:nvPr>
        </p:nvSpPr>
        <p:spPr/>
        <p:txBody>
          <a:bodyPr/>
          <a:lstStyle/>
          <a:p>
            <a:pPr marL="0" indent="0">
              <a:buFontTx/>
              <a:buNone/>
            </a:pPr>
            <a:r>
              <a:rPr lang="en-US" altLang="en-US" sz="2000"/>
              <a:t>Visiting a Widget</a:t>
            </a:r>
          </a:p>
          <a:p>
            <a:pPr marL="0" indent="0">
              <a:buFontTx/>
              <a:buNone/>
            </a:pPr>
            <a:r>
              <a:rPr lang="en-US" altLang="en-US" sz="2000"/>
              <a:t> Visiting a Widget</a:t>
            </a:r>
          </a:p>
          <a:p>
            <a:pPr marL="0" indent="0">
              <a:buFontTx/>
              <a:buNone/>
            </a:pPr>
            <a:r>
              <a:rPr lang="en-US" altLang="en-US" sz="2000"/>
              <a:t> Visiting a Widget</a:t>
            </a:r>
          </a:p>
          <a:p>
            <a:pPr marL="0" indent="0">
              <a:buFontTx/>
              <a:buNone/>
            </a:pPr>
            <a:r>
              <a:rPr lang="en-US" altLang="en-US" sz="2000"/>
              <a:t> Visiting a WidgetAssembly</a:t>
            </a:r>
          </a:p>
          <a:p>
            <a:pPr marL="0" indent="0">
              <a:buFontTx/>
              <a:buNone/>
            </a:pPr>
            <a:r>
              <a:rPr lang="en-US" altLang="en-US" sz="2000"/>
              <a:t> Buy! Widget price of 10.0 is less than maximum price (25.0).</a:t>
            </a:r>
          </a:p>
          <a:p>
            <a:pPr marL="0" indent="0">
              <a:buFontTx/>
              <a:buNone/>
            </a:pPr>
            <a:r>
              <a:rPr lang="en-US" altLang="en-US" sz="2000"/>
              <a:t> Buy! Widget price of 20.0 is less than maximum price (25.0).</a:t>
            </a:r>
          </a:p>
          <a:p>
            <a:pPr marL="0" indent="0">
              <a:buFontTx/>
              <a:buNone/>
            </a:pPr>
            <a:r>
              <a:rPr lang="en-US" altLang="en-US" sz="2000"/>
              <a:t> Don't Buy! Widget price of 30.0 exceeds maximum price (25.0).</a:t>
            </a:r>
          </a:p>
          <a:p>
            <a:pPr marL="0" indent="0">
              <a:buFontTx/>
              <a:buNone/>
            </a:pPr>
            <a:r>
              <a:rPr lang="en-US" altLang="en-US" sz="2000"/>
              <a:t> Don't Buy! WidgetAssembly price of 60.0 exceeds maximum price</a:t>
            </a:r>
          </a:p>
          <a:p>
            <a:pPr marL="0" indent="0">
              <a:buFontTx/>
              <a:buNone/>
            </a:pPr>
            <a:r>
              <a:rPr lang="en-US" altLang="en-US" sz="2000"/>
              <a:t>(25.0).</a:t>
            </a:r>
            <a:endParaRPr lang="tr-TR" altLang="en-US" sz="2000"/>
          </a:p>
        </p:txBody>
      </p:sp>
    </p:spTree>
  </p:cSld>
  <p:clrMapOvr>
    <a:masterClrMapping/>
  </p:clrMapOvr>
</p:sld>
</file>

<file path=ppt/theme/theme1.xml><?xml version="1.0" encoding="utf-8"?>
<a:theme xmlns:a="http://schemas.openxmlformats.org/drawingml/2006/main" name="Theme1">
  <a:themeElements>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fontScheme name="Pixe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triangl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triangl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Pixel 1">
        <a:dk1>
          <a:srgbClr val="0066FF"/>
        </a:dk1>
        <a:lt1>
          <a:srgbClr val="FFFFFF"/>
        </a:lt1>
        <a:dk2>
          <a:srgbClr val="000066"/>
        </a:dk2>
        <a:lt2>
          <a:srgbClr val="FFFFFF"/>
        </a:lt2>
        <a:accent1>
          <a:srgbClr val="6699FF"/>
        </a:accent1>
        <a:accent2>
          <a:srgbClr val="3333FF"/>
        </a:accent2>
        <a:accent3>
          <a:srgbClr val="AAAAB8"/>
        </a:accent3>
        <a:accent4>
          <a:srgbClr val="DADADA"/>
        </a:accent4>
        <a:accent5>
          <a:srgbClr val="B8CAFF"/>
        </a:accent5>
        <a:accent6>
          <a:srgbClr val="2D2DE7"/>
        </a:accent6>
        <a:hlink>
          <a:srgbClr val="FFCC00"/>
        </a:hlink>
        <a:folHlink>
          <a:srgbClr val="0000CC"/>
        </a:folHlink>
      </a:clrScheme>
      <a:clrMap bg1="dk2" tx1="lt1" bg2="dk1" tx2="lt2" accent1="accent1" accent2="accent2" accent3="accent3" accent4="accent4" accent5="accent5" accent6="accent6" hlink="hlink" folHlink="folHlink"/>
    </a:extraClrScheme>
    <a:extraClrScheme>
      <a:clrScheme name="Pixel 2">
        <a:dk1>
          <a:srgbClr val="009999"/>
        </a:dk1>
        <a:lt1>
          <a:srgbClr val="FFFFFF"/>
        </a:lt1>
        <a:dk2>
          <a:srgbClr val="334B49"/>
        </a:dk2>
        <a:lt2>
          <a:srgbClr val="FFFFFF"/>
        </a:lt2>
        <a:accent1>
          <a:srgbClr val="33CCCC"/>
        </a:accent1>
        <a:accent2>
          <a:srgbClr val="008080"/>
        </a:accent2>
        <a:accent3>
          <a:srgbClr val="ADB1B1"/>
        </a:accent3>
        <a:accent4>
          <a:srgbClr val="DADADA"/>
        </a:accent4>
        <a:accent5>
          <a:srgbClr val="ADE2E2"/>
        </a:accent5>
        <a:accent6>
          <a:srgbClr val="007373"/>
        </a:accent6>
        <a:hlink>
          <a:srgbClr val="FFCC00"/>
        </a:hlink>
        <a:folHlink>
          <a:srgbClr val="006666"/>
        </a:folHlink>
      </a:clrScheme>
      <a:clrMap bg1="dk2" tx1="lt1" bg2="dk1" tx2="lt2" accent1="accent1" accent2="accent2" accent3="accent3" accent4="accent4" accent5="accent5" accent6="accent6" hlink="hlink" folHlink="folHlink"/>
    </a:extraClrScheme>
    <a:extraClrScheme>
      <a:clrScheme name="Pixel 3">
        <a:dk1>
          <a:srgbClr val="006699"/>
        </a:dk1>
        <a:lt1>
          <a:srgbClr val="FFFFFF"/>
        </a:lt1>
        <a:dk2>
          <a:srgbClr val="333399"/>
        </a:dk2>
        <a:lt2>
          <a:srgbClr val="FFFFFF"/>
        </a:lt2>
        <a:accent1>
          <a:srgbClr val="0099CC"/>
        </a:accent1>
        <a:accent2>
          <a:srgbClr val="0386AF"/>
        </a:accent2>
        <a:accent3>
          <a:srgbClr val="ADADCA"/>
        </a:accent3>
        <a:accent4>
          <a:srgbClr val="DADADA"/>
        </a:accent4>
        <a:accent5>
          <a:srgbClr val="AACAE2"/>
        </a:accent5>
        <a:accent6>
          <a:srgbClr val="02799E"/>
        </a:accent6>
        <a:hlink>
          <a:srgbClr val="FFCC00"/>
        </a:hlink>
        <a:folHlink>
          <a:srgbClr val="6699FF"/>
        </a:folHlink>
      </a:clrScheme>
      <a:clrMap bg1="dk2" tx1="lt1" bg2="dk1" tx2="lt2" accent1="accent1" accent2="accent2" accent3="accent3" accent4="accent4" accent5="accent5" accent6="accent6" hlink="hlink" folHlink="folHlink"/>
    </a:extraClrScheme>
    <a:extraClrScheme>
      <a:clrScheme name="Pixel 4">
        <a:dk1>
          <a:srgbClr val="008080"/>
        </a:dk1>
        <a:lt1>
          <a:srgbClr val="FFFFFF"/>
        </a:lt1>
        <a:dk2>
          <a:srgbClr val="2F978D"/>
        </a:dk2>
        <a:lt2>
          <a:srgbClr val="FFFFFF"/>
        </a:lt2>
        <a:accent1>
          <a:srgbClr val="0099FF"/>
        </a:accent1>
        <a:accent2>
          <a:srgbClr val="009999"/>
        </a:accent2>
        <a:accent3>
          <a:srgbClr val="ADC9C5"/>
        </a:accent3>
        <a:accent4>
          <a:srgbClr val="DADADA"/>
        </a:accent4>
        <a:accent5>
          <a:srgbClr val="AACAFF"/>
        </a:accent5>
        <a:accent6>
          <a:srgbClr val="008A8A"/>
        </a:accent6>
        <a:hlink>
          <a:srgbClr val="FFFFCC"/>
        </a:hlink>
        <a:folHlink>
          <a:srgbClr val="70CAC6"/>
        </a:folHlink>
      </a:clrScheme>
      <a:clrMap bg1="dk2" tx1="lt1" bg2="dk1" tx2="lt2" accent1="accent1" accent2="accent2" accent3="accent3" accent4="accent4" accent5="accent5" accent6="accent6" hlink="hlink" folHlink="folHlink"/>
    </a:extraClrScheme>
    <a:extraClrScheme>
      <a:clrScheme name="Pixel 5">
        <a:dk1>
          <a:srgbClr val="822504"/>
        </a:dk1>
        <a:lt1>
          <a:srgbClr val="FFFFFF"/>
        </a:lt1>
        <a:dk2>
          <a:srgbClr val="330000"/>
        </a:dk2>
        <a:lt2>
          <a:srgbClr val="FFFFFF"/>
        </a:lt2>
        <a:accent1>
          <a:srgbClr val="FF9900"/>
        </a:accent1>
        <a:accent2>
          <a:srgbClr val="9E2A06"/>
        </a:accent2>
        <a:accent3>
          <a:srgbClr val="ADAAAA"/>
        </a:accent3>
        <a:accent4>
          <a:srgbClr val="DADADA"/>
        </a:accent4>
        <a:accent5>
          <a:srgbClr val="FFCAAA"/>
        </a:accent5>
        <a:accent6>
          <a:srgbClr val="8F2505"/>
        </a:accent6>
        <a:hlink>
          <a:srgbClr val="FF3300"/>
        </a:hlink>
        <a:folHlink>
          <a:srgbClr val="7C0704"/>
        </a:folHlink>
      </a:clrScheme>
      <a:clrMap bg1="dk2" tx1="lt1" bg2="dk1" tx2="lt2" accent1="accent1" accent2="accent2" accent3="accent3" accent4="accent4" accent5="accent5" accent6="accent6" hlink="hlink" folHlink="folHlink"/>
    </a:extraClrScheme>
    <a:extraClrScheme>
      <a:clrScheme name="Pixel 6">
        <a:dk1>
          <a:srgbClr val="336600"/>
        </a:dk1>
        <a:lt1>
          <a:srgbClr val="FFFFFF"/>
        </a:lt1>
        <a:dk2>
          <a:srgbClr val="4A7911"/>
        </a:dk2>
        <a:lt2>
          <a:srgbClr val="FFFFFF"/>
        </a:lt2>
        <a:accent1>
          <a:srgbClr val="666633"/>
        </a:accent1>
        <a:accent2>
          <a:srgbClr val="669900"/>
        </a:accent2>
        <a:accent3>
          <a:srgbClr val="B1BEAA"/>
        </a:accent3>
        <a:accent4>
          <a:srgbClr val="DADADA"/>
        </a:accent4>
        <a:accent5>
          <a:srgbClr val="B8B8AD"/>
        </a:accent5>
        <a:accent6>
          <a:srgbClr val="5C8A00"/>
        </a:accent6>
        <a:hlink>
          <a:srgbClr val="FFCC00"/>
        </a:hlink>
        <a:folHlink>
          <a:srgbClr val="99CC00"/>
        </a:folHlink>
      </a:clrScheme>
      <a:clrMap bg1="dk2" tx1="lt1" bg2="dk1" tx2="lt2" accent1="accent1" accent2="accent2" accent3="accent3" accent4="accent4" accent5="accent5" accent6="accent6" hlink="hlink" folHlink="folHlink"/>
    </a:extraClrScheme>
    <a:extraClrScheme>
      <a:clrScheme name="Pixel 7">
        <a:dk1>
          <a:srgbClr val="000000"/>
        </a:dk1>
        <a:lt1>
          <a:srgbClr val="FFFFFF"/>
        </a:lt1>
        <a:dk2>
          <a:srgbClr val="000000"/>
        </a:dk2>
        <a:lt2>
          <a:srgbClr val="CC3300"/>
        </a:lt2>
        <a:accent1>
          <a:srgbClr val="FFCC00"/>
        </a:accent1>
        <a:accent2>
          <a:srgbClr val="CC6600"/>
        </a:accent2>
        <a:accent3>
          <a:srgbClr val="FFFFFF"/>
        </a:accent3>
        <a:accent4>
          <a:srgbClr val="000000"/>
        </a:accent4>
        <a:accent5>
          <a:srgbClr val="FFE2AA"/>
        </a:accent5>
        <a:accent6>
          <a:srgbClr val="B95C00"/>
        </a:accent6>
        <a:hlink>
          <a:srgbClr val="663300"/>
        </a:hlink>
        <a:folHlink>
          <a:srgbClr val="CC9900"/>
        </a:folHlink>
      </a:clrScheme>
      <a:clrMap bg1="lt1" tx1="dk1" bg2="lt2" tx2="dk2" accent1="accent1" accent2="accent2" accent3="accent3" accent4="accent4" accent5="accent5" accent6="accent6" hlink="hlink" folHlink="folHlink"/>
    </a:extraClrScheme>
    <a:extraClrScheme>
      <a:clrScheme name="Pixel 8">
        <a:dk1>
          <a:srgbClr val="003300"/>
        </a:dk1>
        <a:lt1>
          <a:srgbClr val="FFFFFF"/>
        </a:lt1>
        <a:dk2>
          <a:srgbClr val="000000"/>
        </a:dk2>
        <a:lt2>
          <a:srgbClr val="336600"/>
        </a:lt2>
        <a:accent1>
          <a:srgbClr val="CCCC00"/>
        </a:accent1>
        <a:accent2>
          <a:srgbClr val="669900"/>
        </a:accent2>
        <a:accent3>
          <a:srgbClr val="FFFFFF"/>
        </a:accent3>
        <a:accent4>
          <a:srgbClr val="002A00"/>
        </a:accent4>
        <a:accent5>
          <a:srgbClr val="E2E2AA"/>
        </a:accent5>
        <a:accent6>
          <a:srgbClr val="5C8A00"/>
        </a:accent6>
        <a:hlink>
          <a:srgbClr val="333300"/>
        </a:hlink>
        <a:folHlink>
          <a:srgbClr val="99CC00"/>
        </a:folHlink>
      </a:clrScheme>
      <a:clrMap bg1="lt1" tx1="dk1" bg2="lt2" tx2="dk2" accent1="accent1" accent2="accent2" accent3="accent3" accent4="accent4" accent5="accent5" accent6="accent6" hlink="hlink" folHlink="folHlink"/>
    </a:extraClrScheme>
    <a:extraClrScheme>
      <a:clrScheme name="Pixel 9">
        <a:dk1>
          <a:srgbClr val="000000"/>
        </a:dk1>
        <a:lt1>
          <a:srgbClr val="FFFFFF"/>
        </a:lt1>
        <a:dk2>
          <a:srgbClr val="000000"/>
        </a:dk2>
        <a:lt2>
          <a:srgbClr val="440044"/>
        </a:lt2>
        <a:accent1>
          <a:srgbClr val="FFCCCC"/>
        </a:accent1>
        <a:accent2>
          <a:srgbClr val="790571"/>
        </a:accent2>
        <a:accent3>
          <a:srgbClr val="FFFFFF"/>
        </a:accent3>
        <a:accent4>
          <a:srgbClr val="000000"/>
        </a:accent4>
        <a:accent5>
          <a:srgbClr val="FFE2E2"/>
        </a:accent5>
        <a:accent6>
          <a:srgbClr val="6D0466"/>
        </a:accent6>
        <a:hlink>
          <a:srgbClr val="993366"/>
        </a:hlink>
        <a:folHlink>
          <a:srgbClr val="9F839F"/>
        </a:folHlink>
      </a:clrScheme>
      <a:clrMap bg1="lt1" tx1="dk1" bg2="lt2" tx2="dk2" accent1="accent1" accent2="accent2" accent3="accent3" accent4="accent4" accent5="accent5" accent6="accent6" hlink="hlink" folHlink="folHlink"/>
    </a:extraClrScheme>
    <a:extraClrScheme>
      <a:clrScheme name="Pixel 10">
        <a:dk1>
          <a:srgbClr val="000000"/>
        </a:dk1>
        <a:lt1>
          <a:srgbClr val="FFFFFF"/>
        </a:lt1>
        <a:dk2>
          <a:srgbClr val="000000"/>
        </a:dk2>
        <a:lt2>
          <a:srgbClr val="FF9900"/>
        </a:lt2>
        <a:accent1>
          <a:srgbClr val="FFCC99"/>
        </a:accent1>
        <a:accent2>
          <a:srgbClr val="FBA313"/>
        </a:accent2>
        <a:accent3>
          <a:srgbClr val="FFFFFF"/>
        </a:accent3>
        <a:accent4>
          <a:srgbClr val="000000"/>
        </a:accent4>
        <a:accent5>
          <a:srgbClr val="FFE2CA"/>
        </a:accent5>
        <a:accent6>
          <a:srgbClr val="E39310"/>
        </a:accent6>
        <a:hlink>
          <a:srgbClr val="CC3300"/>
        </a:hlink>
        <a:folHlink>
          <a:srgbClr val="FCC66E"/>
        </a:folHlink>
      </a:clrScheme>
      <a:clrMap bg1="lt1" tx1="dk1" bg2="lt2" tx2="dk2" accent1="accent1" accent2="accent2" accent3="accent3" accent4="accent4" accent5="accent5" accent6="accent6" hlink="hlink" folHlink="folHlink"/>
    </a:extraClrScheme>
    <a:extraClrScheme>
      <a:clrScheme name="Pixel 11">
        <a:dk1>
          <a:srgbClr val="000000"/>
        </a:dk1>
        <a:lt1>
          <a:srgbClr val="FFFFFF"/>
        </a:lt1>
        <a:dk2>
          <a:srgbClr val="000000"/>
        </a:dk2>
        <a:lt2>
          <a:srgbClr val="779F92"/>
        </a:lt2>
        <a:accent1>
          <a:srgbClr val="33CCCC"/>
        </a:accent1>
        <a:accent2>
          <a:srgbClr val="9DC2D7"/>
        </a:accent2>
        <a:accent3>
          <a:srgbClr val="FFFFFF"/>
        </a:accent3>
        <a:accent4>
          <a:srgbClr val="000000"/>
        </a:accent4>
        <a:accent5>
          <a:srgbClr val="ADE2E2"/>
        </a:accent5>
        <a:accent6>
          <a:srgbClr val="8EB0C3"/>
        </a:accent6>
        <a:hlink>
          <a:srgbClr val="006666"/>
        </a:hlink>
        <a:folHlink>
          <a:srgbClr val="CCCCFF"/>
        </a:folHlink>
      </a:clrScheme>
      <a:clrMap bg1="lt1" tx1="dk1" bg2="lt2" tx2="dk2" accent1="accent1" accent2="accent2" accent3="accent3" accent4="accent4" accent5="accent5" accent6="accent6" hlink="hlink" folHlink="folHlink"/>
    </a:extraClrScheme>
    <a:extraClrScheme>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Theme1" id="{393727C7-4C0B-4C8A-960B-21573C88EF42}" vid="{72BF777F-C220-4904-8C2B-017C5ED9CE62}"/>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Theme1</Template>
  <TotalTime>12920</TotalTime>
  <Words>5373</Words>
  <Application>Microsoft Office PowerPoint</Application>
  <PresentationFormat>On-screen Show (4:3)</PresentationFormat>
  <Paragraphs>739</Paragraphs>
  <Slides>75</Slides>
  <Notes>13</Notes>
  <HiddenSlides>20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75</vt:i4>
      </vt:variant>
    </vt:vector>
  </HeadingPairs>
  <TitlesOfParts>
    <vt:vector size="85" baseType="lpstr">
      <vt:lpstr>-apple-system</vt:lpstr>
      <vt:lpstr>Aptos</vt:lpstr>
      <vt:lpstr>Arial</vt:lpstr>
      <vt:lpstr>Arial Black</vt:lpstr>
      <vt:lpstr>Consolas</vt:lpstr>
      <vt:lpstr>Source Code Pro</vt:lpstr>
      <vt:lpstr>Source Sans Pro</vt:lpstr>
      <vt:lpstr>Times New Roman</vt:lpstr>
      <vt:lpstr>Wingdings</vt:lpstr>
      <vt:lpstr>Theme1</vt:lpstr>
      <vt:lpstr>Behavioral Patterns</vt:lpstr>
      <vt:lpstr>PowerPoint Presentation</vt:lpstr>
      <vt:lpstr>Iterator is a GoF pattern </vt:lpstr>
      <vt:lpstr>Iterator Pattern</vt:lpstr>
      <vt:lpstr>Why talk about iterator?</vt:lpstr>
      <vt:lpstr>Structure –GoF </vt:lpstr>
      <vt:lpstr>Why iterator anyway?</vt:lpstr>
      <vt:lpstr>Iterator</vt:lpstr>
      <vt:lpstr>Different traversal</vt:lpstr>
      <vt:lpstr>Applicability</vt:lpstr>
      <vt:lpstr>More applicability…</vt:lpstr>
      <vt:lpstr>Implement to Interface</vt:lpstr>
      <vt:lpstr>Implement to Interface</vt:lpstr>
      <vt:lpstr>Implement to Interface</vt:lpstr>
      <vt:lpstr>PowerPoint Presentation</vt:lpstr>
      <vt:lpstr>Structure (polymorphic iterator)</vt:lpstr>
      <vt:lpstr>Structure (polymorphic iterator)</vt:lpstr>
      <vt:lpstr>Iterator -Consequences</vt:lpstr>
      <vt:lpstr>Language support</vt:lpstr>
      <vt:lpstr>Related patterns</vt:lpstr>
      <vt:lpstr>implementation issues</vt:lpstr>
      <vt:lpstr>implementation issues</vt:lpstr>
      <vt:lpstr>Iterator and multithreading</vt:lpstr>
      <vt:lpstr>visitor</vt:lpstr>
      <vt:lpstr>General Problem</vt:lpstr>
      <vt:lpstr>Example Scenarios</vt:lpstr>
      <vt:lpstr>Creating Table of Contents</vt:lpstr>
      <vt:lpstr>Attempt 1:</vt:lpstr>
      <vt:lpstr>Attempt 1:</vt:lpstr>
      <vt:lpstr>Constraints</vt:lpstr>
      <vt:lpstr>Attempt 1:</vt:lpstr>
      <vt:lpstr>Towards Solution 1:</vt:lpstr>
      <vt:lpstr>Towards Solution 2:</vt:lpstr>
      <vt:lpstr>Extensible Solution:</vt:lpstr>
      <vt:lpstr>Visitor Solution </vt:lpstr>
      <vt:lpstr>Visitor</vt:lpstr>
      <vt:lpstr>Visitor</vt:lpstr>
      <vt:lpstr>Visitor – not using overloading</vt:lpstr>
      <vt:lpstr>Visitor structure (overload visit)</vt:lpstr>
      <vt:lpstr>Visitor  - Collaborations</vt:lpstr>
      <vt:lpstr>Visitor -Traversals</vt:lpstr>
      <vt:lpstr>Exercise 1: </vt:lpstr>
      <vt:lpstr>Visitor -Traversals</vt:lpstr>
      <vt:lpstr>Visitable Composite</vt:lpstr>
      <vt:lpstr>Visitor- structure leads the traversal</vt:lpstr>
      <vt:lpstr>Exercise 2: make ToC</vt:lpstr>
      <vt:lpstr>Exercise 2.1: make ToC</vt:lpstr>
      <vt:lpstr>Exercise 2.2: make ToC</vt:lpstr>
      <vt:lpstr>Exercise 2: make ToC</vt:lpstr>
      <vt:lpstr>Visitor -Traversals</vt:lpstr>
      <vt:lpstr>Visitor -visitor leads the traversal</vt:lpstr>
      <vt:lpstr>Example 3: visitors for AST</vt:lpstr>
      <vt:lpstr>Exercise 3: visitor of AST</vt:lpstr>
      <vt:lpstr>When to Use Visitor</vt:lpstr>
      <vt:lpstr>Exercise: </vt:lpstr>
      <vt:lpstr>Exercise 2: </vt:lpstr>
      <vt:lpstr>Variation : extrinsic visitor</vt:lpstr>
      <vt:lpstr>Extrinsic visitor</vt:lpstr>
      <vt:lpstr>Visitor-Consequences -1</vt:lpstr>
      <vt:lpstr>Visitor-Consequences -2</vt:lpstr>
      <vt:lpstr>Consequence</vt:lpstr>
      <vt:lpstr>Known uses</vt:lpstr>
      <vt:lpstr>Related Patterns</vt:lpstr>
      <vt:lpstr>Visitors and Iterators</vt:lpstr>
      <vt:lpstr>Extra slides</vt:lpstr>
      <vt:lpstr>Another code example</vt:lpstr>
      <vt:lpstr>Leaf of composite</vt:lpstr>
      <vt:lpstr>PowerPoint Presentation</vt:lpstr>
      <vt:lpstr>Visitors</vt:lpstr>
      <vt:lpstr>Visitors</vt:lpstr>
      <vt:lpstr>Have another visitor</vt:lpstr>
      <vt:lpstr>PowerPoint Presentation</vt:lpstr>
      <vt:lpstr>Some tests</vt:lpstr>
      <vt:lpstr>PowerPoint Presentation</vt:lpstr>
      <vt:lpstr>output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Behavioral Patterns</dc:title>
  <dc:creator>Aysu Betin-Can</dc:creator>
  <cp:lastModifiedBy>Aysu Betin Can</cp:lastModifiedBy>
  <cp:revision>464</cp:revision>
  <cp:lastPrinted>2025-11-03T02:47:03Z</cp:lastPrinted>
  <dcterms:created xsi:type="dcterms:W3CDTF">2006-02-28T14:58:56Z</dcterms:created>
  <dcterms:modified xsi:type="dcterms:W3CDTF">2025-11-03T21:50:55Z</dcterms:modified>
</cp:coreProperties>
</file>